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4"/>
  </p:sldMasterIdLst>
  <p:notesMasterIdLst>
    <p:notesMasterId r:id="rId28"/>
  </p:notesMasterIdLst>
  <p:handoutMasterIdLst>
    <p:handoutMasterId r:id="rId29"/>
  </p:handoutMasterIdLst>
  <p:sldIdLst>
    <p:sldId id="763" r:id="rId5"/>
    <p:sldId id="945" r:id="rId6"/>
    <p:sldId id="958" r:id="rId7"/>
    <p:sldId id="922" r:id="rId8"/>
    <p:sldId id="924" r:id="rId9"/>
    <p:sldId id="927" r:id="rId10"/>
    <p:sldId id="946" r:id="rId11"/>
    <p:sldId id="952" r:id="rId12"/>
    <p:sldId id="947" r:id="rId13"/>
    <p:sldId id="948" r:id="rId14"/>
    <p:sldId id="949" r:id="rId15"/>
    <p:sldId id="966" r:id="rId16"/>
    <p:sldId id="967" r:id="rId17"/>
    <p:sldId id="950" r:id="rId18"/>
    <p:sldId id="951" r:id="rId19"/>
    <p:sldId id="973" r:id="rId20"/>
    <p:sldId id="963" r:id="rId21"/>
    <p:sldId id="964" r:id="rId22"/>
    <p:sldId id="965" r:id="rId23"/>
    <p:sldId id="972" r:id="rId24"/>
    <p:sldId id="971" r:id="rId25"/>
    <p:sldId id="969" r:id="rId26"/>
    <p:sldId id="960" r:id="rId27"/>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黎郎 佐橋" initials="黎郎"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BF5"/>
    <a:srgbClr val="FFFFFF"/>
    <a:srgbClr val="CFD5EA"/>
    <a:srgbClr val="7F7F7F"/>
    <a:srgbClr val="E377C2"/>
    <a:srgbClr val="D95319"/>
    <a:srgbClr val="EDB120"/>
    <a:srgbClr val="0072BD"/>
    <a:srgbClr val="9FCAE6"/>
    <a:srgbClr val="F0C0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0209" autoAdjust="0"/>
  </p:normalViewPr>
  <p:slideViewPr>
    <p:cSldViewPr snapToGrid="0">
      <p:cViewPr varScale="1">
        <p:scale>
          <a:sx n="49" d="100"/>
          <a:sy n="49" d="100"/>
        </p:scale>
        <p:origin x="2434" y="53"/>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SHIMURA Aoi" userId="8c4cc6fb-c818-4942-9c26-5aea2293432a" providerId="ADAL" clId="{45228AE5-F3FC-4AE5-B160-D02D63DA5A6D}"/>
    <pc:docChg chg="undo custSel addSld delSld modSld">
      <pc:chgData name="YOSHIMURA Aoi" userId="8c4cc6fb-c818-4942-9c26-5aea2293432a" providerId="ADAL" clId="{45228AE5-F3FC-4AE5-B160-D02D63DA5A6D}" dt="2026-07-09T11:36:09.314" v="94" actId="478"/>
      <pc:docMkLst>
        <pc:docMk/>
      </pc:docMkLst>
      <pc:sldChg chg="delSp mod delAnim">
        <pc:chgData name="YOSHIMURA Aoi" userId="8c4cc6fb-c818-4942-9c26-5aea2293432a" providerId="ADAL" clId="{45228AE5-F3FC-4AE5-B160-D02D63DA5A6D}" dt="2026-07-09T11:36:09.314" v="94" actId="478"/>
        <pc:sldMkLst>
          <pc:docMk/>
          <pc:sldMk cId="3330014005" sldId="927"/>
        </pc:sldMkLst>
        <pc:spChg chg="del">
          <ac:chgData name="YOSHIMURA Aoi" userId="8c4cc6fb-c818-4942-9c26-5aea2293432a" providerId="ADAL" clId="{45228AE5-F3FC-4AE5-B160-D02D63DA5A6D}" dt="2026-07-09T11:36:09.314" v="94" actId="478"/>
          <ac:spMkLst>
            <pc:docMk/>
            <pc:sldMk cId="3330014005" sldId="927"/>
            <ac:spMk id="15" creationId="{6D9CD51E-9BEB-7ED1-F415-A33C4DFADAF6}"/>
          </ac:spMkLst>
        </pc:spChg>
      </pc:sldChg>
      <pc:sldChg chg="addSp delSp modSp mod">
        <pc:chgData name="YOSHIMURA Aoi" userId="8c4cc6fb-c818-4942-9c26-5aea2293432a" providerId="ADAL" clId="{45228AE5-F3FC-4AE5-B160-D02D63DA5A6D}" dt="2026-07-09T11:35:47.908" v="93" actId="1076"/>
        <pc:sldMkLst>
          <pc:docMk/>
          <pc:sldMk cId="1787801163" sldId="948"/>
        </pc:sldMkLst>
        <pc:picChg chg="del">
          <ac:chgData name="YOSHIMURA Aoi" userId="8c4cc6fb-c818-4942-9c26-5aea2293432a" providerId="ADAL" clId="{45228AE5-F3FC-4AE5-B160-D02D63DA5A6D}" dt="2026-07-09T11:35:42.982" v="91" actId="478"/>
          <ac:picMkLst>
            <pc:docMk/>
            <pc:sldMk cId="1787801163" sldId="948"/>
            <ac:picMk id="48" creationId="{41CE0F2D-11F6-B373-6EEC-861EE1ACBE69}"/>
          </ac:picMkLst>
        </pc:picChg>
        <pc:picChg chg="del">
          <ac:chgData name="YOSHIMURA Aoi" userId="8c4cc6fb-c818-4942-9c26-5aea2293432a" providerId="ADAL" clId="{45228AE5-F3FC-4AE5-B160-D02D63DA5A6D}" dt="2026-07-09T11:35:33.848" v="88" actId="478"/>
          <ac:picMkLst>
            <pc:docMk/>
            <pc:sldMk cId="1787801163" sldId="948"/>
            <ac:picMk id="54" creationId="{3BF18535-C81A-DB5C-2AAE-550ADF5CC33E}"/>
          </ac:picMkLst>
        </pc:picChg>
        <pc:picChg chg="add mod">
          <ac:chgData name="YOSHIMURA Aoi" userId="8c4cc6fb-c818-4942-9c26-5aea2293432a" providerId="ADAL" clId="{45228AE5-F3FC-4AE5-B160-D02D63DA5A6D}" dt="2026-07-09T11:35:40.673" v="90" actId="1076"/>
          <ac:picMkLst>
            <pc:docMk/>
            <pc:sldMk cId="1787801163" sldId="948"/>
            <ac:picMk id="61" creationId="{37400BCA-2187-2FDC-FE9D-0487125B9DC8}"/>
          </ac:picMkLst>
        </pc:picChg>
        <pc:picChg chg="add mod">
          <ac:chgData name="YOSHIMURA Aoi" userId="8c4cc6fb-c818-4942-9c26-5aea2293432a" providerId="ADAL" clId="{45228AE5-F3FC-4AE5-B160-D02D63DA5A6D}" dt="2026-07-09T11:35:47.908" v="93" actId="1076"/>
          <ac:picMkLst>
            <pc:docMk/>
            <pc:sldMk cId="1787801163" sldId="948"/>
            <ac:picMk id="63" creationId="{21623FAA-82DD-010A-41BF-DE36B0C3C492}"/>
          </ac:picMkLst>
        </pc:picChg>
      </pc:sldChg>
      <pc:sldChg chg="addSp delSp modSp mod">
        <pc:chgData name="YOSHIMURA Aoi" userId="8c4cc6fb-c818-4942-9c26-5aea2293432a" providerId="ADAL" clId="{45228AE5-F3FC-4AE5-B160-D02D63DA5A6D}" dt="2026-07-09T11:35:29.626" v="87" actId="1076"/>
        <pc:sldMkLst>
          <pc:docMk/>
          <pc:sldMk cId="3209957253" sldId="949"/>
        </pc:sldMkLst>
        <pc:picChg chg="add mod">
          <ac:chgData name="YOSHIMURA Aoi" userId="8c4cc6fb-c818-4942-9c26-5aea2293432a" providerId="ADAL" clId="{45228AE5-F3FC-4AE5-B160-D02D63DA5A6D}" dt="2026-07-09T11:35:29.626" v="87" actId="1076"/>
          <ac:picMkLst>
            <pc:docMk/>
            <pc:sldMk cId="3209957253" sldId="949"/>
            <ac:picMk id="55" creationId="{D6ED95BA-4966-7717-9442-A5623A9DD96A}"/>
          </ac:picMkLst>
        </pc:picChg>
        <pc:picChg chg="del">
          <ac:chgData name="YOSHIMURA Aoi" userId="8c4cc6fb-c818-4942-9c26-5aea2293432a" providerId="ADAL" clId="{45228AE5-F3FC-4AE5-B160-D02D63DA5A6D}" dt="2026-07-09T11:35:26.063" v="86" actId="478"/>
          <ac:picMkLst>
            <pc:docMk/>
            <pc:sldMk cId="3209957253" sldId="949"/>
            <ac:picMk id="70" creationId="{3617105F-9CA8-94F9-C750-5237F50111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7542B7-E82A-48F9-B16F-74B548C07A0E}" type="datetimeFigureOut">
              <a:rPr kumimoji="1" lang="ja-JP" altLang="en-US" smtClean="0"/>
              <a:t>2026/7/9</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A466E8-5EBB-465F-ACF7-357688B6104D}"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94DDE-CA80-4F07-9DBC-5DF5F63DD9E2}" type="datetimeFigureOut">
              <a:rPr kumimoji="1" lang="ja-JP" altLang="en-US" smtClean="0"/>
              <a:t>2026/7/9</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9E387-7CC5-44E4-A0CE-F194BCB5B83D}"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前回の</a:t>
            </a:r>
            <a:r>
              <a:rPr lang="ja-JP" altLang="en-US" sz="1200" b="1" dirty="0"/>
              <a:t>連合学習パイプラインの動作確認に代わって、</a:t>
            </a:r>
            <a:r>
              <a:rPr lang="ja-JP" altLang="ja-JP" b="1" dirty="0"/>
              <a:t>基盤モデル更新</a:t>
            </a:r>
            <a:r>
              <a:rPr lang="ja-JP" altLang="en-US" b="1" dirty="0"/>
              <a:t>ー研究のコア部分にフォーカスしたパイプラインの作成を行ってきました</a:t>
            </a:r>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0</a:t>
            </a:fld>
            <a:endParaRPr kumimoji="1" lang="ja-JP" altLang="en-US"/>
          </a:p>
        </p:txBody>
      </p:sp>
    </p:spTree>
    <p:extLst>
      <p:ext uri="{BB962C8B-B14F-4D97-AF65-F5344CB8AC3E}">
        <p14:creationId xmlns:p14="http://schemas.microsoft.com/office/powerpoint/2010/main" val="3456374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まず初めに、研究の背景と全体的な目的について説明し</a:t>
            </a:r>
            <a:r>
              <a:rPr lang="ja-JP" altLang="en-US" dirty="0"/>
              <a:t>ていきます</a:t>
            </a:r>
            <a:r>
              <a:rPr lang="ja-JP" altLang="ja-JP" dirty="0"/>
              <a:t>。</a:t>
            </a:r>
          </a:p>
          <a:p>
            <a:r>
              <a:rPr lang="ja-JP" altLang="ja-JP" b="1" dirty="0"/>
              <a:t>背景・目的</a:t>
            </a:r>
            <a:r>
              <a:rPr kumimoji="1" lang="ja-JP" altLang="ja-JP" sz="1200" b="0" i="0" kern="1200" dirty="0">
                <a:solidFill>
                  <a:schemeClr val="tx1"/>
                </a:solidFill>
                <a:effectLst/>
                <a:latin typeface="+mn-lt"/>
                <a:ea typeface="+mn-ea"/>
                <a:cs typeface="+mn-cs"/>
              </a:rPr>
              <a:t>として、</a:t>
            </a:r>
            <a:r>
              <a:rPr kumimoji="1" lang="ja-JP" altLang="en-US" sz="1200" b="0" i="0" kern="1200" dirty="0">
                <a:solidFill>
                  <a:schemeClr val="tx1"/>
                </a:solidFill>
                <a:effectLst/>
                <a:latin typeface="+mn-lt"/>
                <a:ea typeface="+mn-ea"/>
                <a:cs typeface="+mn-cs"/>
              </a:rPr>
              <a:t>ドラレコなどの</a:t>
            </a:r>
            <a:r>
              <a:rPr kumimoji="1" lang="ja-JP" altLang="ja-JP" sz="1200" b="0" i="0" kern="1200" dirty="0">
                <a:solidFill>
                  <a:schemeClr val="tx1"/>
                </a:solidFill>
                <a:effectLst/>
                <a:latin typeface="+mn-lt"/>
                <a:ea typeface="+mn-ea"/>
                <a:cs typeface="+mn-cs"/>
              </a:rPr>
              <a:t>実世界</a:t>
            </a:r>
            <a:r>
              <a:rPr kumimoji="1" lang="en-US" altLang="ja-JP" sz="1200" b="0" i="0" kern="1200" dirty="0">
                <a:solidFill>
                  <a:schemeClr val="tx1"/>
                </a:solidFill>
                <a:effectLst/>
                <a:latin typeface="+mn-lt"/>
                <a:ea typeface="+mn-ea"/>
                <a:cs typeface="+mn-cs"/>
              </a:rPr>
              <a:t>A</a:t>
            </a:r>
            <a:r>
              <a:rPr kumimoji="1" lang="ja-JP" altLang="ja-JP" sz="1200" b="0" i="0" kern="1200" dirty="0">
                <a:solidFill>
                  <a:schemeClr val="tx1"/>
                </a:solidFill>
                <a:effectLst/>
                <a:latin typeface="+mn-lt"/>
                <a:ea typeface="+mn-ea"/>
                <a:cs typeface="+mn-cs"/>
              </a:rPr>
              <a:t>は、時間帯や天候などの変化に常に適応し続ける必要があります。</a:t>
            </a:r>
            <a:r>
              <a:rPr lang="ja-JP" altLang="ja-JP" dirty="0"/>
              <a:t>しかし、高性能な基盤モデルをエッジデバイス上で直接動かすことは、計算</a:t>
            </a:r>
            <a:r>
              <a:rPr lang="ja-JP" altLang="en-US" dirty="0"/>
              <a:t>・</a:t>
            </a:r>
            <a:r>
              <a:rPr lang="ja-JP" altLang="ja-JP" dirty="0"/>
              <a:t>通信リソースの限界から極めて困難です。 そこで本研究では、エッジ側で得られた学習の成果を、クラウド上にある基盤モデルに対して効率よく統合することを目的としています。</a:t>
            </a:r>
          </a:p>
          <a:p>
            <a:r>
              <a:rPr lang="ja-JP" altLang="ja-JP" dirty="0"/>
              <a:t>次に、本研究の</a:t>
            </a:r>
            <a:r>
              <a:rPr lang="ja-JP" altLang="en-US" dirty="0"/>
              <a:t>提案、</a:t>
            </a:r>
            <a:r>
              <a:rPr lang="ja-JP" altLang="ja-JP" dirty="0"/>
              <a:t>アプローチについてです。 従来の連合学習では、主に出力や予測結果を一致させることに終始していました。これに対し、我々は 単なる結果の一致ではなく、学習の仕方そのもの、つまり適応ダイナミクスの一致である </a:t>
            </a:r>
            <a:r>
              <a:rPr lang="ja-JP" altLang="ja-JP" b="1" dirty="0"/>
              <a:t>Adaptation Consistency</a:t>
            </a:r>
            <a:r>
              <a:rPr lang="ja-JP" altLang="ja-JP" dirty="0"/>
              <a:t> を目指すアプローチです。</a:t>
            </a:r>
          </a:p>
          <a:p>
            <a:r>
              <a:rPr lang="ja-JP" altLang="en-US" b="1" dirty="0"/>
              <a:t>ここが前回に加えた部分になるのですが、</a:t>
            </a:r>
            <a:r>
              <a:rPr lang="ja-JP" altLang="ja-JP" dirty="0"/>
              <a:t>この提案の核心は、単に</a:t>
            </a:r>
            <a:r>
              <a:rPr lang="en-US" altLang="ja-JP" sz="1200" dirty="0"/>
              <a:t>Adaptation Consistency</a:t>
            </a:r>
            <a:r>
              <a:rPr lang="ja-JP" altLang="en-US" sz="1200" dirty="0"/>
              <a:t>そのものを目的としているわけではなく</a:t>
            </a:r>
            <a:r>
              <a:rPr lang="ja-JP" altLang="ja-JP" dirty="0"/>
              <a:t>、</a:t>
            </a:r>
            <a:r>
              <a:rPr lang="ja-JP" altLang="en-US" dirty="0"/>
              <a:t>クライアント</a:t>
            </a:r>
            <a:r>
              <a:rPr lang="ja-JP" altLang="ja-JP" dirty="0"/>
              <a:t>で得られた適応情報をクラウドの基盤AIへとフィードバックし、循環的に更新していくサイクルを作ることにあります。</a:t>
            </a:r>
            <a:r>
              <a:rPr lang="ja-JP" altLang="en-US" sz="1200" dirty="0"/>
              <a:t>クライアントの適応情報の</a:t>
            </a:r>
            <a:r>
              <a:rPr lang="ja-JP" altLang="ja-JP" dirty="0"/>
              <a:t>例としては、</a:t>
            </a:r>
            <a:r>
              <a:rPr lang="ja-JP" altLang="en-US" dirty="0"/>
              <a:t>今まで用いてきた</a:t>
            </a:r>
            <a:r>
              <a:rPr lang="ja-JP" altLang="ja-JP" dirty="0"/>
              <a:t>LoRAの更新差分</a:t>
            </a:r>
            <a:r>
              <a:rPr lang="ja-JP" altLang="en-US" dirty="0"/>
              <a:t>に加え、この後説明しますが、</a:t>
            </a:r>
            <a:r>
              <a:rPr lang="ja-JP" altLang="ja-JP" dirty="0"/>
              <a:t>出力分布、勾配、1-step適応後の出力などが想定されます。</a:t>
            </a:r>
            <a:r>
              <a:rPr lang="ja-JP" altLang="en-US" dirty="0"/>
              <a:t>最後</a:t>
            </a:r>
            <a:r>
              <a:rPr lang="ja-JP" altLang="ja-JP" dirty="0"/>
              <a:t>に記載している Lpred、Lgrad、Lpost は、これを実現するための具体的な手法となります。</a:t>
            </a:r>
          </a:p>
          <a:p>
            <a:r>
              <a:rPr kumimoji="1" lang="ja-JP" altLang="ja-JP" sz="1200" b="0" i="0" kern="1200" dirty="0">
                <a:solidFill>
                  <a:schemeClr val="tx1"/>
                </a:solidFill>
                <a:effectLst/>
                <a:latin typeface="+mn-lt"/>
                <a:ea typeface="+mn-ea"/>
                <a:cs typeface="+mn-cs"/>
              </a:rPr>
              <a:t>これにより、新しい環境を走っても過去の知識を失わない</a:t>
            </a:r>
            <a:r>
              <a:rPr kumimoji="1" lang="ja-JP" altLang="ja-JP" sz="1200" b="1" i="0" kern="1200" dirty="0">
                <a:solidFill>
                  <a:schemeClr val="tx1"/>
                </a:solidFill>
                <a:effectLst/>
                <a:latin typeface="+mn-lt"/>
                <a:ea typeface="+mn-ea"/>
                <a:cs typeface="+mn-cs"/>
              </a:rPr>
              <a:t>忘却の抑制</a:t>
            </a:r>
            <a:r>
              <a:rPr kumimoji="1" lang="ja-JP"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システム全体としての精度の向上</a:t>
            </a:r>
            <a:r>
              <a:rPr kumimoji="1" lang="ja-JP" altLang="ja-JP" sz="1200" b="0" i="0" kern="1200" dirty="0">
                <a:solidFill>
                  <a:schemeClr val="tx1"/>
                </a:solidFill>
                <a:effectLst/>
                <a:latin typeface="+mn-lt"/>
                <a:ea typeface="+mn-ea"/>
                <a:cs typeface="+mn-cs"/>
              </a:rPr>
              <a:t>そして</a:t>
            </a:r>
            <a:r>
              <a:rPr kumimoji="1" lang="ja-JP" altLang="ja-JP" sz="1200" b="1" i="0" kern="1200" dirty="0">
                <a:solidFill>
                  <a:schemeClr val="tx1"/>
                </a:solidFill>
                <a:effectLst/>
                <a:latin typeface="+mn-lt"/>
                <a:ea typeface="+mn-ea"/>
                <a:cs typeface="+mn-cs"/>
              </a:rPr>
              <a:t>高い計算・通信効率</a:t>
            </a:r>
            <a:r>
              <a:rPr kumimoji="1" lang="ja-JP" altLang="ja-JP" sz="1200" b="0" i="0" kern="1200" dirty="0">
                <a:solidFill>
                  <a:schemeClr val="tx1"/>
                </a:solidFill>
                <a:effectLst/>
                <a:latin typeface="+mn-lt"/>
                <a:ea typeface="+mn-ea"/>
                <a:cs typeface="+mn-cs"/>
              </a:rPr>
              <a:t>を同時に実現します。</a:t>
            </a:r>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a:t>
            </a:fld>
            <a:endParaRPr kumimoji="1" lang="ja-JP" altLang="en-US"/>
          </a:p>
        </p:txBody>
      </p:sp>
    </p:spTree>
    <p:extLst>
      <p:ext uri="{BB962C8B-B14F-4D97-AF65-F5344CB8AC3E}">
        <p14:creationId xmlns:p14="http://schemas.microsoft.com/office/powerpoint/2010/main" val="3828351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次に、ちょっと期間があいたので</a:t>
            </a:r>
            <a:r>
              <a:rPr lang="ja-JP" altLang="ja-JP" dirty="0"/>
              <a:t>、</a:t>
            </a:r>
            <a:r>
              <a:rPr lang="ja-JP" altLang="en-US" dirty="0"/>
              <a:t>前回の</a:t>
            </a:r>
            <a:r>
              <a:rPr lang="ja-JP" altLang="ja-JP" dirty="0"/>
              <a:t>具体的な進捗状況と、現在どの段階にあるかについて</a:t>
            </a:r>
            <a:r>
              <a:rPr lang="ja-JP" altLang="en-US" dirty="0"/>
              <a:t>説明します</a:t>
            </a:r>
            <a:r>
              <a:rPr lang="ja-JP" altLang="ja-JP" dirty="0"/>
              <a:t>。</a:t>
            </a:r>
          </a:p>
          <a:p>
            <a:r>
              <a:rPr lang="ja-JP" altLang="ja-JP" dirty="0"/>
              <a:t>まず、システム全体が循環するための土台の構築を行いました。 具体的には、クライアントとサーバの間で、学習結果が正しく送受信され、サーバ側で集約して再び</a:t>
            </a:r>
            <a:r>
              <a:rPr lang="ja-JP" altLang="en-US" dirty="0"/>
              <a:t>クライアント</a:t>
            </a:r>
            <a:r>
              <a:rPr lang="ja-JP" altLang="ja-JP" dirty="0"/>
              <a:t>へ返せるか、という基本的な連合学習（FL）パイプラインの動作確認です。 ここでは単に「動く」だけでなく、メモリの使用量や処理性能、各工程にかかる時間を細分化して記録し、実用的な基盤としての安定性を確認しました。</a:t>
            </a:r>
            <a:endParaRPr lang="en-US" altLang="ja-JP" dirty="0"/>
          </a:p>
          <a:p>
            <a:endParaRPr lang="ja-JP" altLang="ja-JP" dirty="0"/>
          </a:p>
          <a:p>
            <a:r>
              <a:rPr lang="ja-JP" altLang="ja-JP" dirty="0"/>
              <a:t>この土台の上に、</a:t>
            </a:r>
            <a:r>
              <a:rPr lang="ja-JP" altLang="en-US" dirty="0"/>
              <a:t>今回</a:t>
            </a:r>
            <a:r>
              <a:rPr lang="ja-JP" altLang="ja-JP" dirty="0"/>
              <a:t>、本研究</a:t>
            </a:r>
            <a:r>
              <a:rPr lang="ja-JP" altLang="en-US" dirty="0"/>
              <a:t>のコア部分を含めたプロトタイプ</a:t>
            </a:r>
            <a:r>
              <a:rPr lang="ja-JP" altLang="ja-JP" dirty="0"/>
              <a:t>が実際に機能するかを検証しています。</a:t>
            </a:r>
            <a:r>
              <a:rPr lang="ja-JP" altLang="en-US" dirty="0"/>
              <a:t>コア部分とはどこかというと、（次スライド）</a:t>
            </a:r>
            <a:endParaRPr lang="en-US" altLang="ja-JP" dirty="0"/>
          </a:p>
          <a:p>
            <a:r>
              <a:rPr kumimoji="1" lang="ja-JP" altLang="ja-JP" sz="1200" kern="1200" dirty="0">
                <a:solidFill>
                  <a:schemeClr val="tx1"/>
                </a:solidFill>
                <a:effectLst/>
                <a:latin typeface="+mn-lt"/>
                <a:ea typeface="+mn-ea"/>
                <a:cs typeface="+mn-cs"/>
              </a:rPr>
              <a:t>サーバ側最適化手法</a:t>
            </a:r>
            <a:r>
              <a:rPr kumimoji="1" lang="ja-JP" altLang="en-US" sz="1200" kern="1200" dirty="0">
                <a:solidFill>
                  <a:schemeClr val="tx1"/>
                </a:solidFill>
                <a:effectLst/>
                <a:latin typeface="+mn-lt"/>
                <a:ea typeface="+mn-ea"/>
                <a:cs typeface="+mn-cs"/>
              </a:rPr>
              <a:t>を含めたプロトタイプがしっかり動作するかを確認しました。</a:t>
            </a:r>
            <a:endParaRPr lang="en-US" altLang="ja-JP" dirty="0"/>
          </a:p>
          <a:p>
            <a:r>
              <a:rPr lang="ja-JP" altLang="en-US" dirty="0"/>
              <a:t>クライアント</a:t>
            </a:r>
            <a:r>
              <a:rPr lang="ja-JP" altLang="ja-JP" dirty="0"/>
              <a:t>側でタスクを学習し、その情報を</a:t>
            </a:r>
            <a:r>
              <a:rPr lang="ja-JP" altLang="en-US" dirty="0"/>
              <a:t>サーバ</a:t>
            </a:r>
            <a:r>
              <a:rPr lang="ja-JP" altLang="ja-JP" dirty="0"/>
              <a:t>へ送って基盤モデルを整合・更新、そして再</a:t>
            </a:r>
            <a:r>
              <a:rPr lang="ja-JP" altLang="en-US" dirty="0"/>
              <a:t>びクライアント</a:t>
            </a:r>
            <a:r>
              <a:rPr lang="ja-JP" altLang="ja-JP" dirty="0"/>
              <a:t>へ戻す。この「2段階の循環」が1周まわるかどうかを確認している段階です。 現時点ではまだ簡略化されたモデルではありますが、本研究で最も新しく主張している部分のプロトタイプが形になってきています。</a:t>
            </a:r>
          </a:p>
          <a:p>
            <a:r>
              <a:rPr lang="ja-JP" altLang="ja-JP" dirty="0"/>
              <a:t>結論として、現在は「整合ループの実装」が完了し、一連のプロセスが途切れることなく最後まで走り切ること（完走）を確認できました。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2</a:t>
            </a:fld>
            <a:endParaRPr kumimoji="1" lang="ja-JP" altLang="en-US"/>
          </a:p>
        </p:txBody>
      </p:sp>
    </p:spTree>
    <p:extLst>
      <p:ext uri="{BB962C8B-B14F-4D97-AF65-F5344CB8AC3E}">
        <p14:creationId xmlns:p14="http://schemas.microsoft.com/office/powerpoint/2010/main" val="3162601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ja-JP" sz="1200" kern="1200" dirty="0">
                    <a:solidFill>
                      <a:schemeClr val="tx1"/>
                    </a:solidFill>
                    <a:effectLst/>
                    <a:latin typeface="+mn-lt"/>
                    <a:ea typeface="+mn-ea"/>
                    <a:cs typeface="+mn-cs"/>
                  </a:rPr>
                  <a:t>サーバ側最適化手法</a:t>
                </a:r>
                <a:endParaRPr kumimoji="1" lang="ja-JP" altLang="en-US" dirty="0"/>
              </a:p>
            </p:txBody>
          </p:sp>
        </mc:Choice>
        <mc:Fallback xmlns="">
          <p:sp>
            <p:nvSpPr>
              <p:cNvPr id="3" name="ノート プレースホルダー 2"/>
              <p:cNvSpPr>
                <a:spLocks noGrp="1"/>
              </p:cNvSpPr>
              <p:nvPr>
                <p:ph type="body" idx="1"/>
              </p:nvPr>
            </p:nvSpPr>
            <p:spPr/>
            <p:txBody>
              <a:bodyPr/>
              <a:lstStyle/>
              <a:p>
                <a:r>
                  <a:rPr kumimoji="1" lang="ja-JP" altLang="en-US" sz="1200" b="0" i="0" kern="1200">
                    <a:solidFill>
                      <a:schemeClr val="tx1"/>
                    </a:solidFill>
                    <a:effectLst/>
                    <a:latin typeface="+mn-lt"/>
                    <a:ea typeface="+mn-ea"/>
                    <a:cs typeface="+mn-cs"/>
                  </a:rPr>
                  <a:t>この</a:t>
                </a:r>
                <a:r>
                  <a:rPr kumimoji="1" lang="ja-JP" altLang="ja-JP" sz="1200" b="0" i="0" kern="1200">
                    <a:solidFill>
                      <a:schemeClr val="tx1"/>
                    </a:solidFill>
                    <a:effectLst/>
                    <a:latin typeface="+mn-lt"/>
                    <a:ea typeface="+mn-ea"/>
                    <a:cs typeface="+mn-cs"/>
                  </a:rPr>
                  <a:t>システムは、下側の**『エッジでの</a:t>
                </a:r>
                <a:r>
                  <a:rPr kumimoji="1" lang="ja-JP" altLang="en-US" sz="1200" b="0" i="0" kern="1200">
                    <a:solidFill>
                      <a:schemeClr val="tx1"/>
                    </a:solidFill>
                    <a:effectLst/>
                    <a:latin typeface="+mn-lt"/>
                    <a:ea typeface="+mn-ea"/>
                    <a:cs typeface="+mn-cs"/>
                  </a:rPr>
                  <a:t>（</a:t>
                </a:r>
                <a:r>
                  <a:rPr kumimoji="1" lang="ja-JP" altLang="ja-JP" sz="1200" b="0" i="0" kern="1200">
                    <a:solidFill>
                      <a:schemeClr val="tx1"/>
                    </a:solidFill>
                    <a:effectLst/>
                    <a:latin typeface="+mn-lt"/>
                    <a:ea typeface="+mn-ea"/>
                    <a:cs typeface="+mn-cs"/>
                  </a:rPr>
                  <a:t>継続</a:t>
                </a:r>
                <a:r>
                  <a:rPr kumimoji="1" lang="ja-JP" altLang="en-US" sz="1200" b="0" i="0" kern="1200">
                    <a:solidFill>
                      <a:schemeClr val="tx1"/>
                    </a:solidFill>
                    <a:effectLst/>
                    <a:latin typeface="+mn-lt"/>
                    <a:ea typeface="+mn-ea"/>
                    <a:cs typeface="+mn-cs"/>
                  </a:rPr>
                  <a:t>）</a:t>
                </a:r>
                <a:r>
                  <a:rPr kumimoji="1" lang="ja-JP" altLang="ja-JP" sz="1200" b="0" i="0" kern="1200">
                    <a:solidFill>
                      <a:schemeClr val="tx1"/>
                    </a:solidFill>
                    <a:effectLst/>
                    <a:latin typeface="+mn-lt"/>
                    <a:ea typeface="+mn-ea"/>
                    <a:cs typeface="+mn-cs"/>
                  </a:rPr>
                  <a:t>学習』</a:t>
                </a:r>
                <a:r>
                  <a:rPr kumimoji="1" lang="ja-JP" altLang="ja-JP" sz="1200" b="1" i="0" kern="1200">
                    <a:solidFill>
                      <a:schemeClr val="tx1"/>
                    </a:solidFill>
                    <a:effectLst/>
                    <a:latin typeface="+mn-lt"/>
                    <a:ea typeface="+mn-ea"/>
                    <a:cs typeface="+mn-cs"/>
                  </a:rPr>
                  <a:t>と、上側の</a:t>
                </a:r>
                <a:r>
                  <a:rPr kumimoji="1" lang="ja-JP" altLang="ja-JP" sz="1200" b="0" i="0" kern="1200">
                    <a:solidFill>
                      <a:schemeClr val="tx1"/>
                    </a:solidFill>
                    <a:effectLst/>
                    <a:latin typeface="+mn-lt"/>
                    <a:ea typeface="+mn-ea"/>
                    <a:cs typeface="+mn-cs"/>
                  </a:rPr>
                  <a:t>『クラウドでの統合』**の二段構成になっています。</a:t>
                </a:r>
                <a:endParaRPr kumimoji="1" lang="en-US" altLang="ja-JP"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（今週行った連合学習のぶぶんで説明します。）</a:t>
                </a:r>
                <a:endParaRPr kumimoji="1" lang="ja-JP" altLang="ja-JP" sz="1200" b="0" i="0" kern="1200">
                  <a:solidFill>
                    <a:schemeClr val="tx1"/>
                  </a:solidFill>
                  <a:effectLst/>
                  <a:latin typeface="+mn-lt"/>
                  <a:ea typeface="+mn-ea"/>
                  <a:cs typeface="+mn-cs"/>
                </a:endParaRPr>
              </a:p>
              <a:p>
                <a:r>
                  <a:rPr kumimoji="1" lang="ja-JP" altLang="ja-JP" sz="1200" b="0" i="0" kern="1200">
                    <a:solidFill>
                      <a:schemeClr val="tx1"/>
                    </a:solidFill>
                    <a:effectLst/>
                    <a:latin typeface="+mn-lt"/>
                    <a:ea typeface="+mn-ea"/>
                    <a:cs typeface="+mn-cs"/>
                  </a:rPr>
                  <a:t>まず、下側の**エッジ（自動車）**です。</a:t>
                </a:r>
                <a:br>
                  <a:rPr kumimoji="1" lang="ja-JP" altLang="ja-JP" sz="1200" b="0" i="0" kern="1200">
                    <a:solidFill>
                      <a:schemeClr val="tx1"/>
                    </a:solidFill>
                    <a:effectLst/>
                    <a:latin typeface="+mn-lt"/>
                    <a:ea typeface="+mn-ea"/>
                    <a:cs typeface="+mn-cs"/>
                  </a:rPr>
                </a:br>
                <a:r>
                  <a:rPr kumimoji="1" lang="ja-JP" altLang="ja-JP" sz="1200" b="0" i="0" kern="1200">
                    <a:solidFill>
                      <a:schemeClr val="tx1"/>
                    </a:solidFill>
                    <a:effectLst/>
                    <a:latin typeface="+mn-lt"/>
                    <a:ea typeface="+mn-ea"/>
                    <a:cs typeface="+mn-cs"/>
                  </a:rPr>
                  <a:t>各車両には、軽量な代理モデルである『Qwen-VL-3B』を配置しています。車両は時間変化（朝・夕・夜）に伴う映像データを順に『継続学習』します。この際、計算・通信リソースを抑えるため、LoRAを用いて差分の重み『</a:t>
                </a:r>
                <a:r>
                  <a:rPr kumimoji="1" lang="en-US" altLang="ja-JP" sz="1200" i="0" kern="1200">
                    <a:solidFill>
                      <a:schemeClr val="tx1"/>
                    </a:solidFill>
                    <a:latin typeface="Cambria Math" panose="02040503050406030204" pitchFamily="18" charset="0"/>
                    <a:ea typeface="+mn-ea"/>
                    <a:cs typeface="+mn-cs"/>
                  </a:rPr>
                  <a:t>Δ</a:t>
                </a:r>
                <a:r>
                  <a:rPr kumimoji="1" lang="ja-JP" altLang="en-US" sz="1200" i="0" kern="1200">
                    <a:solidFill>
                      <a:schemeClr val="tx1"/>
                    </a:solidFill>
                    <a:latin typeface="Cambria Math" panose="02040503050406030204" pitchFamily="18" charset="0"/>
                    <a:ea typeface="+mn-ea"/>
                    <a:cs typeface="+mn-cs"/>
                  </a:rPr>
                  <a:t>𝑊</a:t>
                </a:r>
                <a:r>
                  <a:rPr lang="ja-JP" altLang="ja-JP">
                    <a:effectLst/>
                  </a:rPr>
                  <a:t>』のみを更新します。</a:t>
                </a:r>
                <a:endParaRPr lang="ja-JP" altLang="ja-JP"/>
              </a:p>
              <a:p>
                <a:r>
                  <a:rPr kumimoji="1" lang="ja-JP" altLang="ja-JP" sz="1200" b="0" i="0" kern="1200">
                    <a:solidFill>
                      <a:schemeClr val="tx1"/>
                    </a:solidFill>
                    <a:effectLst/>
                    <a:latin typeface="+mn-lt"/>
                    <a:ea typeface="+mn-ea"/>
                    <a:cs typeface="+mn-cs"/>
                  </a:rPr>
                  <a:t>次に、この得られた差分パラメータ『</a:t>
                </a:r>
                <a:r>
                  <a:rPr kumimoji="1" lang="en-US" altLang="ja-JP" sz="1200" i="0" kern="1200">
                    <a:solidFill>
                      <a:schemeClr val="tx1"/>
                    </a:solidFill>
                    <a:latin typeface="Cambria Math" panose="02040503050406030204" pitchFamily="18" charset="0"/>
                    <a:ea typeface="+mn-ea"/>
                    <a:cs typeface="+mn-cs"/>
                  </a:rPr>
                  <a:t>Δ</a:t>
                </a:r>
                <a:r>
                  <a:rPr kumimoji="1" lang="ja-JP" altLang="en-US" sz="1200" i="0" kern="1200">
                    <a:solidFill>
                      <a:schemeClr val="tx1"/>
                    </a:solidFill>
                    <a:latin typeface="Cambria Math" panose="02040503050406030204" pitchFamily="18" charset="0"/>
                    <a:ea typeface="+mn-ea"/>
                    <a:cs typeface="+mn-cs"/>
                  </a:rPr>
                  <a:t>𝑊</a:t>
                </a:r>
                <a:r>
                  <a:rPr lang="ja-JP" altLang="ja-JP">
                    <a:effectLst/>
                  </a:rPr>
                  <a:t>』を</a:t>
                </a:r>
                <a:r>
                  <a:rPr lang="ja-JP" altLang="ja-JP" b="1">
                    <a:effectLst/>
                  </a:rPr>
                  <a:t>クラウドへ送信</a:t>
                </a:r>
                <a:r>
                  <a:rPr lang="ja-JP" altLang="ja-JP">
                    <a:effectLst/>
                  </a:rPr>
                  <a:t>します。</a:t>
                </a:r>
                <a:endParaRPr lang="ja-JP" altLang="ja-JP"/>
              </a:p>
              <a:p>
                <a:r>
                  <a:rPr kumimoji="1" lang="ja-JP" altLang="ja-JP" sz="1200" b="0" i="0" kern="1200">
                    <a:solidFill>
                      <a:schemeClr val="tx1"/>
                    </a:solidFill>
                    <a:effectLst/>
                    <a:latin typeface="+mn-lt"/>
                    <a:ea typeface="+mn-ea"/>
                    <a:cs typeface="+mn-cs"/>
                  </a:rPr>
                  <a:t>上側の</a:t>
                </a:r>
                <a:r>
                  <a:rPr kumimoji="1" lang="ja-JP" altLang="ja-JP" sz="1200" b="1" i="0" kern="1200">
                    <a:solidFill>
                      <a:schemeClr val="tx1"/>
                    </a:solidFill>
                    <a:effectLst/>
                    <a:latin typeface="+mn-lt"/>
                    <a:ea typeface="+mn-ea"/>
                    <a:cs typeface="+mn-cs"/>
                  </a:rPr>
                  <a:t>クラウド</a:t>
                </a:r>
                <a:r>
                  <a:rPr kumimoji="1" lang="ja-JP" altLang="ja-JP" sz="1200" b="0" i="0" kern="1200">
                    <a:solidFill>
                      <a:schemeClr val="tx1"/>
                    </a:solidFill>
                    <a:effectLst/>
                    <a:latin typeface="+mn-lt"/>
                    <a:ea typeface="+mn-ea"/>
                    <a:cs typeface="+mn-cs"/>
                  </a:rPr>
                  <a:t>では、より強力な基盤モデルである『Qwen-VL-7B』へこれらを統合します。</a:t>
                </a:r>
                <a:br>
                  <a:rPr kumimoji="1" lang="ja-JP" altLang="ja-JP" sz="1200" b="0" i="0" kern="1200">
                    <a:solidFill>
                      <a:schemeClr val="tx1"/>
                    </a:solidFill>
                    <a:effectLst/>
                    <a:latin typeface="+mn-lt"/>
                    <a:ea typeface="+mn-ea"/>
                    <a:cs typeface="+mn-cs"/>
                  </a:rPr>
                </a:br>
                <a:r>
                  <a:rPr kumimoji="1" lang="ja-JP" altLang="ja-JP" sz="1200" b="0" i="0" kern="1200">
                    <a:solidFill>
                      <a:schemeClr val="tx1"/>
                    </a:solidFill>
                    <a:effectLst/>
                    <a:latin typeface="+mn-lt"/>
                    <a:ea typeface="+mn-ea"/>
                    <a:cs typeface="+mn-cs"/>
                  </a:rPr>
                  <a:t>この統合の際、単に予測結果を合わせるだけでなく、</a:t>
                </a:r>
                <a:r>
                  <a:rPr kumimoji="1" lang="ja-JP" altLang="ja-JP" sz="1200" b="1" i="0" kern="1200">
                    <a:solidFill>
                      <a:schemeClr val="tx1"/>
                    </a:solidFill>
                    <a:effectLst/>
                    <a:latin typeface="+mn-lt"/>
                    <a:ea typeface="+mn-ea"/>
                    <a:cs typeface="+mn-cs"/>
                  </a:rPr>
                  <a:t>『学習の進み方（適応ダイナミクス）』そのものを一致させる</a:t>
                </a:r>
                <a:r>
                  <a:rPr kumimoji="1" lang="ja-JP" altLang="ja-JP" sz="1200" b="0" i="0" kern="1200">
                    <a:solidFill>
                      <a:schemeClr val="tx1"/>
                    </a:solidFill>
                    <a:effectLst/>
                    <a:latin typeface="+mn-lt"/>
                    <a:ea typeface="+mn-ea"/>
                    <a:cs typeface="+mn-cs"/>
                  </a:rPr>
                  <a:t>点が、本研究の核心です。</a:t>
                </a:r>
              </a:p>
              <a:p>
                <a:r>
                  <a:rPr kumimoji="1" lang="ja-JP" altLang="ja-JP" sz="1200" b="0" i="0" kern="1200">
                    <a:solidFill>
                      <a:schemeClr val="tx1"/>
                    </a:solidFill>
                    <a:effectLst/>
                    <a:latin typeface="+mn-lt"/>
                    <a:ea typeface="+mn-ea"/>
                    <a:cs typeface="+mn-cs"/>
                  </a:rPr>
                  <a:t>それを実現するのが、左側の赤枠に示す</a:t>
                </a:r>
                <a:r>
                  <a:rPr kumimoji="1" lang="ja-JP" altLang="ja-JP" sz="1200" b="1" i="0" kern="1200">
                    <a:solidFill>
                      <a:schemeClr val="tx1"/>
                    </a:solidFill>
                    <a:effectLst/>
                    <a:latin typeface="+mn-lt"/>
                    <a:ea typeface="+mn-ea"/>
                    <a:cs typeface="+mn-cs"/>
                  </a:rPr>
                  <a:t>独自の損失関数</a:t>
                </a:r>
                <a:r>
                  <a:rPr kumimoji="1" lang="ja-JP" altLang="ja-JP" sz="1200" b="0" i="0" kern="1200">
                    <a:solidFill>
                      <a:schemeClr val="tx1"/>
                    </a:solidFill>
                    <a:effectLst/>
                    <a:latin typeface="+mn-lt"/>
                    <a:ea typeface="+mn-ea"/>
                    <a:cs typeface="+mn-cs"/>
                  </a:rPr>
                  <a:t>です。予測の一致（</a:t>
                </a:r>
              </a:p>
              <a:p>
                <a:pPr/>
                <a:r>
                  <a:rPr kumimoji="1" lang="ja-JP" altLang="en-US" sz="1200" i="0" kern="1200">
                    <a:solidFill>
                      <a:schemeClr val="tx1"/>
                    </a:solidFill>
                    <a:latin typeface="Cambria Math" panose="02040503050406030204" pitchFamily="18" charset="0"/>
                    <a:ea typeface="+mn-ea"/>
                    <a:cs typeface="+mn-cs"/>
                  </a:rPr>
                  <a:t>𝐿_𝑝𝑟𝑒𝑑</a:t>
                </a:r>
                <a:endParaRPr kumimoji="1" lang="ja-JP" altLang="ja-JP" sz="1200" kern="1200">
                  <a:solidFill>
                    <a:schemeClr val="tx1"/>
                  </a:solidFill>
                  <a:effectLst/>
                  <a:latin typeface="+mn-lt"/>
                  <a:ea typeface="+mn-ea"/>
                  <a:cs typeface="+mn-cs"/>
                </a:endParaRPr>
              </a:p>
              <a:p>
                <a:r>
                  <a:rPr lang="ja-JP" altLang="ja-JP">
                    <a:effectLst/>
                  </a:rPr>
                  <a:t>）に加えて、勾配の一致（</a:t>
                </a:r>
                <a:endParaRPr lang="ja-JP" altLang="ja-JP"/>
              </a:p>
              <a:p>
                <a:pPr/>
                <a:r>
                  <a:rPr kumimoji="1" lang="ja-JP" altLang="en-US" sz="1200" i="0" kern="1200">
                    <a:solidFill>
                      <a:schemeClr val="tx1"/>
                    </a:solidFill>
                    <a:latin typeface="Cambria Math" panose="02040503050406030204" pitchFamily="18" charset="0"/>
                    <a:ea typeface="+mn-ea"/>
                    <a:cs typeface="+mn-cs"/>
                  </a:rPr>
                  <a:t>𝐿_𝑔𝑟𝑎𝑑</a:t>
                </a:r>
                <a:endParaRPr kumimoji="1" lang="ja-JP" altLang="ja-JP" sz="1200" kern="1200">
                  <a:solidFill>
                    <a:schemeClr val="tx1"/>
                  </a:solidFill>
                  <a:effectLst/>
                  <a:latin typeface="+mn-lt"/>
                  <a:ea typeface="+mn-ea"/>
                  <a:cs typeface="+mn-cs"/>
                </a:endParaRPr>
              </a:p>
              <a:p>
                <a:r>
                  <a:rPr lang="ja-JP" altLang="ja-JP">
                    <a:effectLst/>
                  </a:rPr>
                  <a:t>）や、更新後の挙動の一致（</a:t>
                </a:r>
                <a:endParaRPr lang="ja-JP" altLang="ja-JP"/>
              </a:p>
              <a:p>
                <a:pPr/>
                <a:r>
                  <a:rPr kumimoji="1" lang="ja-JP" altLang="en-US" sz="1200" i="0" kern="1200">
                    <a:solidFill>
                      <a:schemeClr val="tx1"/>
                    </a:solidFill>
                    <a:latin typeface="Cambria Math" panose="02040503050406030204" pitchFamily="18" charset="0"/>
                    <a:ea typeface="+mn-ea"/>
                    <a:cs typeface="+mn-cs"/>
                  </a:rPr>
                  <a:t>𝐿_𝑝𝑜𝑠𝑡</a:t>
                </a:r>
                <a:endParaRPr kumimoji="1" lang="ja-JP" altLang="ja-JP" sz="1200" kern="1200">
                  <a:solidFill>
                    <a:schemeClr val="tx1"/>
                  </a:solidFill>
                  <a:effectLst/>
                  <a:latin typeface="+mn-lt"/>
                  <a:ea typeface="+mn-ea"/>
                  <a:cs typeface="+mn-cs"/>
                </a:endParaRPr>
              </a:p>
              <a:p>
                <a:r>
                  <a:rPr lang="ja-JP" altLang="ja-JP">
                    <a:effectLst/>
                  </a:rPr>
                  <a:t>）などを組み合わせて最適化することで、小さなエッジモデルでの学習成果が、クラウドの大きな基盤モデル上でも狙い通りに有効機能することを保証します。</a:t>
                </a:r>
                <a:endParaRPr lang="en-US" altLang="ja-JP">
                  <a:effectLst/>
                </a:endParaRPr>
              </a:p>
              <a:p>
                <a:endParaRPr kumimoji="1" lang="en-US" altLang="ja-JP">
                  <a:effectLst/>
                </a:endParaRPr>
              </a:p>
              <a:p>
                <a:endParaRPr kumimoji="1" lang="en-US" altLang="ja-JP">
                  <a:effectLst/>
                </a:endParaRPr>
              </a:p>
              <a:p>
                <a:r>
                  <a:rPr kumimoji="1" lang="ja-JP" altLang="en-US">
                    <a:effectLst/>
                  </a:rPr>
                  <a:t>目的</a:t>
                </a:r>
                <a:endParaRPr kumimoji="1" lang="en-US" altLang="ja-JP">
                  <a:effectLst/>
                </a:endParaRPr>
              </a:p>
              <a:p>
                <a:r>
                  <a:rPr kumimoji="1" lang="ja-JP" altLang="en-US">
                    <a:effectLst/>
                  </a:rPr>
                  <a:t>速さとか</a:t>
                </a:r>
                <a:endParaRPr kumimoji="1" lang="en-US" altLang="ja-JP">
                  <a:effectLst/>
                </a:endParaRPr>
              </a:p>
              <a:p>
                <a:r>
                  <a:rPr kumimoji="1" lang="ja-JP" altLang="en-US">
                    <a:effectLst/>
                  </a:rPr>
                  <a:t>メモリ</a:t>
                </a:r>
                <a:endParaRPr kumimoji="1" lang="en-US" altLang="ja-JP">
                  <a:effectLst/>
                </a:endParaRPr>
              </a:p>
              <a:p>
                <a:endParaRPr kumimoji="1" lang="ja-JP" altLang="en-US"/>
              </a:p>
            </p:txBody>
          </p:sp>
        </mc:Fallback>
      </mc:AlternateContent>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3</a:t>
            </a:fld>
            <a:endParaRPr kumimoji="1" lang="ja-JP" altLang="en-US"/>
          </a:p>
        </p:txBody>
      </p:sp>
    </p:spTree>
    <p:extLst>
      <p:ext uri="{BB962C8B-B14F-4D97-AF65-F5344CB8AC3E}">
        <p14:creationId xmlns:p14="http://schemas.microsoft.com/office/powerpoint/2010/main" val="3620155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ということで、基本的には前回のパイプラインの</a:t>
            </a:r>
            <a:r>
              <a:rPr lang="ja-JP" altLang="ja-JP" b="1" dirty="0"/>
              <a:t>基盤モデル更新</a:t>
            </a:r>
            <a:r>
              <a:rPr lang="ja-JP" altLang="en-US" b="1" dirty="0"/>
              <a:t>の部分が変わっただけなので、前回の連合学習パイプライン</a:t>
            </a:r>
            <a:r>
              <a:rPr kumimoji="1" lang="ja-JP" altLang="en-US" dirty="0"/>
              <a:t>の説明に付け加える形で説明していきます</a:t>
            </a:r>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4</a:t>
            </a:fld>
            <a:endParaRPr kumimoji="1" lang="ja-JP" altLang="en-US"/>
          </a:p>
        </p:txBody>
      </p:sp>
    </p:spTree>
    <p:extLst>
      <p:ext uri="{BB962C8B-B14F-4D97-AF65-F5344CB8AC3E}">
        <p14:creationId xmlns:p14="http://schemas.microsoft.com/office/powerpoint/2010/main" val="585815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説明</a:t>
            </a:r>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5</a:t>
            </a:fld>
            <a:endParaRPr kumimoji="1" lang="ja-JP" altLang="en-US"/>
          </a:p>
        </p:txBody>
      </p:sp>
    </p:spTree>
    <p:extLst>
      <p:ext uri="{BB962C8B-B14F-4D97-AF65-F5344CB8AC3E}">
        <p14:creationId xmlns:p14="http://schemas.microsoft.com/office/powerpoint/2010/main" val="2887816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B9053-6233-7225-9408-4CAB57635E7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6D47787-054D-0D6D-0BFD-0845B33FAF8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1F9027-AB7E-273C-F2A3-C53F81767CF1}"/>
              </a:ext>
            </a:extLst>
          </p:cNvPr>
          <p:cNvSpPr>
            <a:spLocks noGrp="1"/>
          </p:cNvSpPr>
          <p:nvPr>
            <p:ph type="body" idx="1"/>
          </p:nvPr>
        </p:nvSpPr>
        <p:spPr/>
        <p:txBody>
          <a:bodyPr/>
          <a:lstStyle/>
          <a:p>
            <a:r>
              <a:rPr lang="ja-JP" altLang="en-US" dirty="0"/>
              <a:t>評価の流れも含め説明していきます。</a:t>
            </a:r>
            <a:endParaRPr lang="en-US" altLang="ja-JP" dirty="0"/>
          </a:p>
          <a:p>
            <a:r>
              <a:rPr lang="ja-JP" altLang="ja-JP" dirty="0"/>
              <a:t>まずステップ1として、サーバー</a:t>
            </a:r>
            <a:r>
              <a:rPr lang="ja-JP" altLang="en-US" dirty="0"/>
              <a:t>を起動</a:t>
            </a:r>
            <a:r>
              <a:rPr lang="ja-JP" altLang="ja-JP" dirty="0"/>
              <a:t>し、サーバー</a:t>
            </a:r>
            <a:r>
              <a:rPr lang="ja-JP" altLang="en-US" dirty="0"/>
              <a:t>側</a:t>
            </a:r>
            <a:r>
              <a:rPr lang="ja-JP" altLang="ja-JP" dirty="0"/>
              <a:t>で保持しているLoRAアダプターの重みを各クライアントへ配布します。クライアントは受け取った重みを自身のローカルモデルに適用します。</a:t>
            </a:r>
            <a:r>
              <a:rPr lang="ja-JP" altLang="en-US" dirty="0"/>
              <a:t>この時点では学習の前段階であるため、各クライアントの重みは等しくなります。</a:t>
            </a:r>
            <a:endParaRPr lang="en-US" altLang="ja-JP" dirty="0"/>
          </a:p>
          <a:p>
            <a:r>
              <a:rPr kumimoji="1" lang="ja-JP" altLang="en-US" dirty="0"/>
              <a:t>、</a:t>
            </a:r>
          </a:p>
        </p:txBody>
      </p:sp>
      <p:sp>
        <p:nvSpPr>
          <p:cNvPr id="4" name="スライド番号プレースホルダー 3">
            <a:extLst>
              <a:ext uri="{FF2B5EF4-FFF2-40B4-BE49-F238E27FC236}">
                <a16:creationId xmlns:a16="http://schemas.microsoft.com/office/drawing/2014/main" id="{370BCCED-41CA-1628-6756-54E32D867A23}"/>
              </a:ext>
            </a:extLst>
          </p:cNvPr>
          <p:cNvSpPr>
            <a:spLocks noGrp="1"/>
          </p:cNvSpPr>
          <p:nvPr>
            <p:ph type="sldNum" sz="quarter" idx="5"/>
          </p:nvPr>
        </p:nvSpPr>
        <p:spPr/>
        <p:txBody>
          <a:bodyPr/>
          <a:lstStyle/>
          <a:p>
            <a:fld id="{0BE9E387-7CC5-44E4-A0CE-F194BCB5B83D}" type="slidenum">
              <a:rPr kumimoji="1" lang="ja-JP" altLang="en-US" smtClean="0"/>
              <a:t>6</a:t>
            </a:fld>
            <a:endParaRPr kumimoji="1" lang="ja-JP" altLang="en-US"/>
          </a:p>
        </p:txBody>
      </p:sp>
    </p:spTree>
    <p:extLst>
      <p:ext uri="{BB962C8B-B14F-4D97-AF65-F5344CB8AC3E}">
        <p14:creationId xmlns:p14="http://schemas.microsoft.com/office/powerpoint/2010/main" val="1598491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E0FF8-E656-2104-70D4-9977E9FDED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3F16385-8A8A-B937-BDAF-5615F14246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0B7C644-941A-8173-2B91-A73F527AE877}"/>
              </a:ext>
            </a:extLst>
          </p:cNvPr>
          <p:cNvSpPr>
            <a:spLocks noGrp="1"/>
          </p:cNvSpPr>
          <p:nvPr>
            <p:ph type="body" idx="1"/>
          </p:nvPr>
        </p:nvSpPr>
        <p:spPr/>
        <p:txBody>
          <a:bodyPr/>
          <a:lstStyle/>
          <a:p>
            <a:r>
              <a:rPr lang="ja-JP" altLang="ja-JP"/>
              <a:t>次にステップ2として、再配布直後の評価を行います。これはローカルデータの学習を始める前に、サーバーから受け取った状態のモデルがどの程度の精度を出せるかを確認するためのフェーズです。</a:t>
            </a:r>
            <a:endParaRPr kumimoji="1" lang="ja-JP" altLang="en-US"/>
          </a:p>
        </p:txBody>
      </p:sp>
      <p:sp>
        <p:nvSpPr>
          <p:cNvPr id="4" name="スライド番号プレースホルダー 3">
            <a:extLst>
              <a:ext uri="{FF2B5EF4-FFF2-40B4-BE49-F238E27FC236}">
                <a16:creationId xmlns:a16="http://schemas.microsoft.com/office/drawing/2014/main" id="{2F789AA1-59CD-6F92-2EAB-376178B60BF5}"/>
              </a:ext>
            </a:extLst>
          </p:cNvPr>
          <p:cNvSpPr>
            <a:spLocks noGrp="1"/>
          </p:cNvSpPr>
          <p:nvPr>
            <p:ph type="sldNum" sz="quarter" idx="5"/>
          </p:nvPr>
        </p:nvSpPr>
        <p:spPr/>
        <p:txBody>
          <a:bodyPr/>
          <a:lstStyle/>
          <a:p>
            <a:fld id="{0BE9E387-7CC5-44E4-A0CE-F194BCB5B83D}" type="slidenum">
              <a:rPr kumimoji="1" lang="ja-JP" altLang="en-US" smtClean="0"/>
              <a:t>7</a:t>
            </a:fld>
            <a:endParaRPr kumimoji="1" lang="ja-JP" altLang="en-US"/>
          </a:p>
        </p:txBody>
      </p:sp>
    </p:spTree>
    <p:extLst>
      <p:ext uri="{BB962C8B-B14F-4D97-AF65-F5344CB8AC3E}">
        <p14:creationId xmlns:p14="http://schemas.microsoft.com/office/powerpoint/2010/main" val="1732917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続いてステップ3で、実際のローカル学習であるfitフェーズに入ります。ここでは各クライアントが保持しているデータセットを用いて、設定したエポック数だけモデルの</a:t>
            </a:r>
            <a:r>
              <a:rPr lang="ja-JP" altLang="en-US"/>
              <a:t>学習</a:t>
            </a:r>
            <a:r>
              <a:rPr lang="ja-JP" altLang="ja-JP"/>
              <a:t>を行います。</a:t>
            </a:r>
            <a:r>
              <a:rPr lang="ja-JP" altLang="en-US"/>
              <a:t>（ボタン押す）各クライアント</a:t>
            </a:r>
            <a:r>
              <a:rPr lang="ja-JP" altLang="ja-JP"/>
              <a:t>のデータに基づいて個別に学習を進めるため、この段階で各クライアントのLoRAアダプターの重みに違いが生じることになります。</a:t>
            </a:r>
            <a:endParaRPr kumimoji="1" lang="ja-JP" altLang="en-US"/>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8</a:t>
            </a:fld>
            <a:endParaRPr kumimoji="1" lang="ja-JP" altLang="en-US"/>
          </a:p>
        </p:txBody>
      </p:sp>
    </p:spTree>
    <p:extLst>
      <p:ext uri="{BB962C8B-B14F-4D97-AF65-F5344CB8AC3E}">
        <p14:creationId xmlns:p14="http://schemas.microsoft.com/office/powerpoint/2010/main" val="358665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ローカル学習が完了すると、ステップ4の学習後評価を実施します。先ほどのローカル学習によって精度がどう変化したか、また重みがどれだけ変動したかをここで測定し、記録します。</a:t>
            </a:r>
            <a:endParaRPr kumimoji="1" lang="ja-JP" altLang="en-US"/>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9</a:t>
            </a:fld>
            <a:endParaRPr kumimoji="1" lang="ja-JP" altLang="en-US"/>
          </a:p>
        </p:txBody>
      </p:sp>
    </p:spTree>
    <p:extLst>
      <p:ext uri="{BB962C8B-B14F-4D97-AF65-F5344CB8AC3E}">
        <p14:creationId xmlns:p14="http://schemas.microsoft.com/office/powerpoint/2010/main" val="1588424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更新されてそれぞれ異なる値となった重みがサーバーへ送信され、</a:t>
            </a:r>
            <a:r>
              <a:rPr lang="ja-JP" altLang="en-US" dirty="0"/>
              <a:t>統合を行います。この時、右に書いたような</a:t>
            </a:r>
            <a:r>
              <a:rPr lang="ja-JP" altLang="ja-JP" dirty="0"/>
              <a:t>FedAvgなどの戦略に基づいて、新しい一つのLoRAアダプターとして集約されます。</a:t>
            </a:r>
            <a:endParaRPr lang="en-US" altLang="ja-JP" dirty="0"/>
          </a:p>
          <a:p>
            <a:endParaRPr kumimoji="1" lang="en-US" altLang="ja-JP" dirty="0"/>
          </a:p>
          <a:p>
            <a:r>
              <a:rPr lang="ja-JP" altLang="ja-JP" b="1" dirty="0"/>
              <a:t>基盤モデル更新</a:t>
            </a:r>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10</a:t>
            </a:fld>
            <a:endParaRPr kumimoji="1" lang="ja-JP" altLang="en-US"/>
          </a:p>
        </p:txBody>
      </p:sp>
    </p:spTree>
    <p:extLst>
      <p:ext uri="{BB962C8B-B14F-4D97-AF65-F5344CB8AC3E}">
        <p14:creationId xmlns:p14="http://schemas.microsoft.com/office/powerpoint/2010/main" val="1799759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EC506-E386-7E90-8C3C-BFD6968DA45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7907DE-26E4-3684-94B7-0BE0C66242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172731-CAFC-1F77-170E-9056A035F743}"/>
              </a:ext>
            </a:extLst>
          </p:cNvPr>
          <p:cNvSpPr>
            <a:spLocks noGrp="1"/>
          </p:cNvSpPr>
          <p:nvPr>
            <p:ph type="body" idx="1"/>
          </p:nvPr>
        </p:nvSpPr>
        <p:spPr/>
        <p:txBody>
          <a:bodyPr/>
          <a:lstStyle/>
          <a:p>
            <a:r>
              <a:rPr lang="ja-JP" altLang="ja-JP" dirty="0"/>
              <a:t>更新されてそれぞれ異なる値となった重みがサーバーへ送信され、</a:t>
            </a:r>
            <a:r>
              <a:rPr lang="ja-JP" altLang="en-US" dirty="0"/>
              <a:t>統合を行います。この時、右に書いたような</a:t>
            </a:r>
            <a:r>
              <a:rPr lang="ja-JP" altLang="ja-JP" dirty="0"/>
              <a:t>FedAvgなどの戦略に基づいて、新しい一つのLoRAアダプターとして集約されます。</a:t>
            </a:r>
            <a:endParaRPr kumimoji="1" lang="ja-JP" altLang="en-US" dirty="0"/>
          </a:p>
        </p:txBody>
      </p:sp>
      <p:sp>
        <p:nvSpPr>
          <p:cNvPr id="4" name="スライド番号プレースホルダー 3">
            <a:extLst>
              <a:ext uri="{FF2B5EF4-FFF2-40B4-BE49-F238E27FC236}">
                <a16:creationId xmlns:a16="http://schemas.microsoft.com/office/drawing/2014/main" id="{52BCDABD-2521-7211-819B-791CF9DE22FC}"/>
              </a:ext>
            </a:extLst>
          </p:cNvPr>
          <p:cNvSpPr>
            <a:spLocks noGrp="1"/>
          </p:cNvSpPr>
          <p:nvPr>
            <p:ph type="sldNum" sz="quarter" idx="5"/>
          </p:nvPr>
        </p:nvSpPr>
        <p:spPr/>
        <p:txBody>
          <a:bodyPr/>
          <a:lstStyle/>
          <a:p>
            <a:fld id="{0BE9E387-7CC5-44E4-A0CE-F194BCB5B83D}" type="slidenum">
              <a:rPr kumimoji="1" lang="ja-JP" altLang="en-US" smtClean="0"/>
              <a:t>11</a:t>
            </a:fld>
            <a:endParaRPr kumimoji="1" lang="ja-JP" altLang="en-US"/>
          </a:p>
        </p:txBody>
      </p:sp>
    </p:spTree>
    <p:extLst>
      <p:ext uri="{BB962C8B-B14F-4D97-AF65-F5344CB8AC3E}">
        <p14:creationId xmlns:p14="http://schemas.microsoft.com/office/powerpoint/2010/main" val="3700734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8C09B-3A29-24F2-AD51-FCC48EFC70C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A115184-8348-FEC9-795C-7BDD673215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AA76FCB-14C8-1B5D-B409-CE36D5F4723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93F708-FD85-C513-9C84-B61FA88D018B}"/>
              </a:ext>
            </a:extLst>
          </p:cNvPr>
          <p:cNvSpPr>
            <a:spLocks noGrp="1"/>
          </p:cNvSpPr>
          <p:nvPr>
            <p:ph type="sldNum" sz="quarter" idx="5"/>
          </p:nvPr>
        </p:nvSpPr>
        <p:spPr/>
        <p:txBody>
          <a:bodyPr/>
          <a:lstStyle/>
          <a:p>
            <a:fld id="{0BE9E387-7CC5-44E4-A0CE-F194BCB5B83D}" type="slidenum">
              <a:rPr kumimoji="1" lang="ja-JP" altLang="en-US" smtClean="0"/>
              <a:t>12</a:t>
            </a:fld>
            <a:endParaRPr kumimoji="1" lang="ja-JP" altLang="en-US"/>
          </a:p>
        </p:txBody>
      </p:sp>
    </p:spTree>
    <p:extLst>
      <p:ext uri="{BB962C8B-B14F-4D97-AF65-F5344CB8AC3E}">
        <p14:creationId xmlns:p14="http://schemas.microsoft.com/office/powerpoint/2010/main" val="37787755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最後</a:t>
            </a:r>
            <a:r>
              <a:rPr lang="ja-JP" altLang="en-US"/>
              <a:t>に</a:t>
            </a:r>
            <a:r>
              <a:rPr lang="ja-JP" altLang="ja-JP"/>
              <a:t>、</a:t>
            </a:r>
            <a:r>
              <a:rPr lang="ja-JP" altLang="en-US"/>
              <a:t>統合</a:t>
            </a:r>
            <a:r>
              <a:rPr lang="ja-JP" altLang="ja-JP"/>
              <a:t>されたLoRAアダプターの重みを使い、各クライアント上で再度評価を行います。これにより、そのラウンド全体の統合された性能を確認します。</a:t>
            </a:r>
            <a:endParaRPr kumimoji="1" lang="ja-JP" altLang="en-US"/>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13</a:t>
            </a:fld>
            <a:endParaRPr kumimoji="1" lang="ja-JP" altLang="en-US"/>
          </a:p>
        </p:txBody>
      </p:sp>
    </p:spTree>
    <p:extLst>
      <p:ext uri="{BB962C8B-B14F-4D97-AF65-F5344CB8AC3E}">
        <p14:creationId xmlns:p14="http://schemas.microsoft.com/office/powerpoint/2010/main" val="3761439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最後に、</a:t>
            </a:r>
            <a:r>
              <a:rPr lang="ja-JP" altLang="ja-JP"/>
              <a:t>集約された最新のLoRAアダプターの重みを使い、各クライアント上で再度評価を行います。これにより、そのラウンド全体の統合された性能を確認します。</a:t>
            </a:r>
            <a:endParaRPr kumimoji="1" lang="ja-JP" altLang="en-US"/>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14</a:t>
            </a:fld>
            <a:endParaRPr kumimoji="1" lang="ja-JP" altLang="en-US"/>
          </a:p>
        </p:txBody>
      </p:sp>
    </p:spTree>
    <p:extLst>
      <p:ext uri="{BB962C8B-B14F-4D97-AF65-F5344CB8AC3E}">
        <p14:creationId xmlns:p14="http://schemas.microsoft.com/office/powerpoint/2010/main" val="24377006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1" dirty="0"/>
              <a:t>次に、</a:t>
            </a:r>
            <a:r>
              <a:rPr lang="ja-JP" altLang="ja-JP" dirty="0"/>
              <a:t>ここまでの具体的な実装状況のまとめと、今後解決すべき課題についてご説明します。</a:t>
            </a:r>
          </a:p>
          <a:p>
            <a:r>
              <a:rPr lang="ja-JP" altLang="ja-JP" b="1" dirty="0"/>
              <a:t>【1. ここまでの実装状況のまとめ】</a:t>
            </a:r>
            <a:r>
              <a:rPr lang="ja-JP" altLang="ja-JP" dirty="0"/>
              <a:t> 現状のシステムは、大きくクライアント側とサーバ側の処理に分かれています。 まずクライアント側ですが、現段階ではタスクの損失である「L_task」のみを用いて、ローカルにあるクライアントのLoRAを更新する形をとっています。 次にサーバ側では、FedAvgによって集約した後の重みを参照用として固定し、サーバ上において整合損失（Lpred、Lgrad、Lpost）を計算することで、基盤となるLoRAを更新しています。 ここまでは実装が完了し、動作を確認できています。</a:t>
            </a:r>
          </a:p>
          <a:p>
            <a:r>
              <a:rPr lang="ja-JP" altLang="en-US" dirty="0"/>
              <a:t>ただ</a:t>
            </a:r>
            <a:r>
              <a:rPr lang="ja-JP" altLang="ja-JP" dirty="0"/>
              <a:t>、この現状の実装には、本来の目的を達成する上で</a:t>
            </a:r>
            <a:r>
              <a:rPr lang="ja-JP" altLang="en-US" dirty="0"/>
              <a:t>課題点</a:t>
            </a:r>
            <a:r>
              <a:rPr lang="ja-JP" altLang="ja-JP" dirty="0"/>
              <a:t>があ</a:t>
            </a:r>
            <a:r>
              <a:rPr lang="ja-JP" altLang="en-US" dirty="0"/>
              <a:t>って</a:t>
            </a:r>
            <a:r>
              <a:rPr lang="ja-JP" altLang="ja-JP" dirty="0"/>
              <a:t>。</a:t>
            </a:r>
          </a:p>
          <a:p>
            <a:r>
              <a:rPr lang="ja-JP" altLang="en-US" dirty="0"/>
              <a:t>１つ目</a:t>
            </a:r>
            <a:r>
              <a:rPr lang="ja-JP" altLang="ja-JP" dirty="0"/>
              <a:t>に、現在のFedAvgベースの手法では、各クライアントが現場で獲得した貴重な「適応情報」が、集約の過程で平均化され破壊されてしまうという問題があります。</a:t>
            </a:r>
          </a:p>
          <a:p>
            <a:r>
              <a:rPr lang="ja-JP" altLang="ja-JP" dirty="0"/>
              <a:t>私たちが目指している本来の形は、この「クライアントの適応情報」を損なうことなく、ダイレクトに「基盤AIの循環更新」へと繋げることです。</a:t>
            </a:r>
          </a:p>
          <a:p>
            <a:r>
              <a:rPr lang="ja-JP" altLang="ja-JP" dirty="0"/>
              <a:t>現状のシステムでは、便宜上サーバ側で参照用の重みを使って計算を回していますが、本研究の真の構想では、サーバは自ら計算するのではなく、「クライアント側で得られた局所適応の情報」を直接受け取り、それを元に基盤モデルの最適化を行う必要があります。</a:t>
            </a:r>
          </a:p>
          <a:p>
            <a:r>
              <a:rPr lang="ja-JP" altLang="ja-JP" dirty="0"/>
              <a:t>今後は、この『本来の情報の流れ』をシステム上で実現し、クライアントとサーバ間の真の循環ループを構築していくことが次のステップとなります。</a:t>
            </a:r>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16</a:t>
            </a:fld>
            <a:endParaRPr kumimoji="1" lang="ja-JP" altLang="en-US"/>
          </a:p>
        </p:txBody>
      </p:sp>
    </p:spTree>
    <p:extLst>
      <p:ext uri="{BB962C8B-B14F-4D97-AF65-F5344CB8AC3E}">
        <p14:creationId xmlns:p14="http://schemas.microsoft.com/office/powerpoint/2010/main" val="3397909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先ほど説明した課題を踏まえまして、今後の具体的な実装方針について、</a:t>
            </a:r>
            <a:endParaRPr lang="en-US" altLang="ja-JP" dirty="0"/>
          </a:p>
          <a:p>
            <a:r>
              <a:rPr lang="ja-JP" altLang="en-US" b="1" dirty="0"/>
              <a:t>まず１つ目が</a:t>
            </a:r>
            <a:r>
              <a:rPr lang="ja-JP" altLang="ja-JP" b="1" dirty="0"/>
              <a:t>クライアントで何を更新・送信するか</a:t>
            </a:r>
            <a:r>
              <a:rPr lang="ja-JP" altLang="ja-JP" dirty="0"/>
              <a:t>です。 現在はタスク損失（L_task）によるLoRAの更新情報のみを扱っていますが、今後はサーバ側での計算に不可欠な「補助情報」を一緒に送信する形へ変更します。具体的には、</a:t>
            </a:r>
            <a:r>
              <a:rPr lang="ja-JP" altLang="en-US" dirty="0"/>
              <a:t>各クライアントでの</a:t>
            </a:r>
            <a:r>
              <a:rPr lang="ja-JP" altLang="ja-JP" dirty="0"/>
              <a:t>出力分布や勾配情報、1ステップ適応させた後の出力分布などを送ることで、クライアントにおける局所適応</a:t>
            </a:r>
            <a:r>
              <a:rPr lang="ja-JP" altLang="en-US" dirty="0"/>
              <a:t>の情報</a:t>
            </a:r>
            <a:r>
              <a:rPr lang="ja-JP" altLang="ja-JP" dirty="0"/>
              <a:t>をサーバへ伝達します。</a:t>
            </a:r>
          </a:p>
          <a:p>
            <a:r>
              <a:rPr lang="ja-JP" altLang="ja-JP" dirty="0"/>
              <a:t>次に2点目、</a:t>
            </a:r>
            <a:r>
              <a:rPr kumimoji="1" lang="ja-JP" altLang="en-US" dirty="0"/>
              <a:t>サーバ側でどう更新するか</a:t>
            </a:r>
            <a:r>
              <a:rPr lang="ja-JP" altLang="ja-JP" dirty="0"/>
              <a:t>です。</a:t>
            </a:r>
            <a:r>
              <a:rPr lang="ja-JP" altLang="ja-JP" b="1" dirty="0"/>
              <a:t>ここが研究における一番の新規性となります。</a:t>
            </a:r>
            <a:r>
              <a:rPr lang="ja-JP" altLang="ja-JP" dirty="0"/>
              <a:t> 従来のFedAvgのような重みの平均化は、あくまで比較・計算のための「参照用adapter」を作る処理に留め</a:t>
            </a:r>
            <a:r>
              <a:rPr lang="ja-JP" altLang="en-US" dirty="0"/>
              <a:t>、関連研究から、最適な方法を比較したいと考えています。</a:t>
            </a:r>
            <a:r>
              <a:rPr lang="ja-JP" altLang="ja-JP" dirty="0"/>
              <a:t>メインの更新については、クライアントから送られてきた先ほどの「補助情報」を活用し</a:t>
            </a:r>
            <a:r>
              <a:rPr lang="ja-JP" altLang="en-US" dirty="0"/>
              <a:t>、</a:t>
            </a:r>
            <a:r>
              <a:rPr lang="ja-JP" altLang="ja-JP" dirty="0"/>
              <a:t>この情報をもとに、Lpred、Lgrad、Lpostを合成した損失を計算し、『サーバ側最適化』という形で、クラウドの基盤LoRAを直接更新する仕組みを構築します。</a:t>
            </a:r>
          </a:p>
          <a:p>
            <a:r>
              <a:rPr lang="ja-JP" altLang="ja-JP" dirty="0"/>
              <a:t>最後に3点目は、更新された基盤モデルの知識を、次のラウンドで</a:t>
            </a:r>
            <a:r>
              <a:rPr lang="ja-JP" altLang="en-US" dirty="0"/>
              <a:t>クライアント</a:t>
            </a:r>
            <a:r>
              <a:rPr lang="ja-JP" altLang="ja-JP" dirty="0"/>
              <a:t>へどう再配布するかという課題です。 まずはクライアントとサーバが共に3B（30億パラメータ）の同サイズモデルである条件で、ここまでの動作確認を完了させます。その後、より実用的なシナリオとして、クラウド側が7B、エッジ側が3Bといったようにモデルサイズが異なる環境を想定し、射影（プロジェクション）や知識蒸留を用いた再配布手法の検討へと進んでいく予定です。</a:t>
            </a:r>
          </a:p>
          <a:p>
            <a:r>
              <a:rPr lang="ja-JP" altLang="ja-JP" dirty="0"/>
              <a:t>今後の実装計画としては以上となります。まずはこの新しい循環ループの構築に注力します。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17</a:t>
            </a:fld>
            <a:endParaRPr kumimoji="1" lang="ja-JP" altLang="en-US"/>
          </a:p>
        </p:txBody>
      </p:sp>
    </p:spTree>
    <p:extLst>
      <p:ext uri="{BB962C8B-B14F-4D97-AF65-F5344CB8AC3E}">
        <p14:creationId xmlns:p14="http://schemas.microsoft.com/office/powerpoint/2010/main" val="20989232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F2822-79F3-5155-893E-065E9D8BC1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1DD4DDD-52DF-A93B-46DF-4DE5A4C642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3F0E61-1DB8-A7B8-0548-AC84A1603F4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dirty="0">
                <a:solidFill>
                  <a:schemeClr val="tx1"/>
                </a:solidFill>
                <a:effectLst/>
                <a:latin typeface="+mn-lt"/>
                <a:ea typeface="+mn-ea"/>
                <a:cs typeface="+mn-cs"/>
              </a:rPr>
              <a:t>この一連のパイプラインを検証するために設定した実験条件がこちらです。また、いきなりデータを偏らせることはせず、まずは均等に分割するIID環境において、2つのクライアントで</a:t>
            </a:r>
            <a:r>
              <a:rPr kumimoji="1" lang="en-US" altLang="ja-JP" sz="1200" kern="1200" dirty="0">
                <a:solidFill>
                  <a:schemeClr val="tx1"/>
                </a:solidFill>
                <a:effectLst/>
                <a:latin typeface="+mn-lt"/>
                <a:ea typeface="+mn-ea"/>
                <a:cs typeface="+mn-cs"/>
              </a:rPr>
              <a:t>3</a:t>
            </a:r>
            <a:r>
              <a:rPr kumimoji="1" lang="ja-JP" altLang="ja-JP" sz="1200" kern="1200" dirty="0">
                <a:solidFill>
                  <a:schemeClr val="tx1"/>
                </a:solidFill>
                <a:effectLst/>
                <a:latin typeface="+mn-lt"/>
                <a:ea typeface="+mn-ea"/>
                <a:cs typeface="+mn-cs"/>
              </a:rPr>
              <a:t>ラウンド回すという最小構成で検証を行いました。</a:t>
            </a:r>
            <a:endParaRPr lang="ja-JP" altLang="ja-JP" dirty="0">
              <a:effectLst/>
            </a:endParaRPr>
          </a:p>
          <a:p>
            <a:endParaRPr kumimoji="1" lang="ja-JP" altLang="en-US" dirty="0"/>
          </a:p>
        </p:txBody>
      </p:sp>
      <p:sp>
        <p:nvSpPr>
          <p:cNvPr id="4" name="スライド番号プレースホルダー 3">
            <a:extLst>
              <a:ext uri="{FF2B5EF4-FFF2-40B4-BE49-F238E27FC236}">
                <a16:creationId xmlns:a16="http://schemas.microsoft.com/office/drawing/2014/main" id="{A0625F1B-0114-E641-AF17-304368D53CAC}"/>
              </a:ext>
            </a:extLst>
          </p:cNvPr>
          <p:cNvSpPr>
            <a:spLocks noGrp="1"/>
          </p:cNvSpPr>
          <p:nvPr>
            <p:ph type="sldNum" sz="quarter" idx="5"/>
          </p:nvPr>
        </p:nvSpPr>
        <p:spPr/>
        <p:txBody>
          <a:bodyPr/>
          <a:lstStyle/>
          <a:p>
            <a:fld id="{0BE9E387-7CC5-44E4-A0CE-F194BCB5B83D}" type="slidenum">
              <a:rPr kumimoji="1" lang="ja-JP" altLang="en-US" smtClean="0"/>
              <a:t>20</a:t>
            </a:fld>
            <a:endParaRPr kumimoji="1" lang="ja-JP" altLang="en-US"/>
          </a:p>
        </p:txBody>
      </p:sp>
    </p:spTree>
    <p:extLst>
      <p:ext uri="{BB962C8B-B14F-4D97-AF65-F5344CB8AC3E}">
        <p14:creationId xmlns:p14="http://schemas.microsoft.com/office/powerpoint/2010/main" val="1559513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6BEF9-33FF-C794-546C-8FEB5A7606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AE7DCA6-75BE-FFF3-4448-FD531FC57F3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3163EA-B633-0700-6657-942060CBD803}"/>
              </a:ext>
            </a:extLst>
          </p:cNvPr>
          <p:cNvSpPr>
            <a:spLocks noGrp="1"/>
          </p:cNvSpPr>
          <p:nvPr>
            <p:ph type="body" idx="1"/>
          </p:nvPr>
        </p:nvSpPr>
        <p:spPr/>
        <p:txBody>
          <a:bodyPr/>
          <a:lstStyle/>
          <a:p>
            <a:r>
              <a:rPr lang="ja-JP" altLang="ja-JP" dirty="0"/>
              <a:t>本番データ規模の主結果</a:t>
            </a:r>
            <a:r>
              <a:rPr lang="ja-JP" altLang="en-US" dirty="0"/>
              <a:t>を</a:t>
            </a:r>
            <a:r>
              <a:rPr lang="en-US" altLang="ja-JP" dirty="0" err="1"/>
              <a:t>Lpred</a:t>
            </a:r>
            <a:r>
              <a:rPr lang="ja-JP" altLang="en-US" dirty="0"/>
              <a:t>のみ準備できたので示しています</a:t>
            </a:r>
            <a:r>
              <a:rPr lang="ja-JP" altLang="ja-JP" dirty="0"/>
              <a:t>。クライアント100件、サーバ50件、eval 30件の設定です。3ラウンド完走しています。</a:t>
            </a:r>
          </a:p>
          <a:p>
            <a:r>
              <a:rPr lang="ja-JP" altLang="ja-JP" dirty="0"/>
              <a:t>クライアント側 eval accuracy は 0.67 から 0.80 へ上がり、F1 macro も 0.65 から 0.80 へ改善しています。サーバ側 eval accuracy は 0.70 で横ばいです。</a:t>
            </a:r>
          </a:p>
          <a:p>
            <a:r>
              <a:rPr lang="ja-JP" altLang="ja-JP" dirty="0"/>
              <a:t>サーバ側の loss_total は 0.57 から 0.43 へ下がっています。内訳を見ると、ほとんどが loss_task の低下で、loss_pred は 10のマイナス4乗から10のマイナス3乗程度と小さいです。これは FedAvg 後のクライアント LoRA を固定参照にしているため、両者の出力分布がもともと近く、KL 項は小さいが、非ゼロで計算されていることを示します。</a:t>
            </a:r>
          </a:p>
          <a:p>
            <a:r>
              <a:rPr lang="ja-JP" altLang="ja-JP" dirty="0"/>
              <a:t>5ラウンド想定のうち3ラウンドまで、lpred_grad と lpred_post はこれからです。</a:t>
            </a:r>
          </a:p>
          <a:p>
            <a:endParaRPr kumimoji="1" lang="ja-JP" altLang="en-US" dirty="0"/>
          </a:p>
        </p:txBody>
      </p:sp>
      <p:sp>
        <p:nvSpPr>
          <p:cNvPr id="4" name="スライド番号プレースホルダー 3">
            <a:extLst>
              <a:ext uri="{FF2B5EF4-FFF2-40B4-BE49-F238E27FC236}">
                <a16:creationId xmlns:a16="http://schemas.microsoft.com/office/drawing/2014/main" id="{C890221F-4A80-837B-09DB-FF499763ED8B}"/>
              </a:ext>
            </a:extLst>
          </p:cNvPr>
          <p:cNvSpPr>
            <a:spLocks noGrp="1"/>
          </p:cNvSpPr>
          <p:nvPr>
            <p:ph type="sldNum" sz="quarter" idx="5"/>
          </p:nvPr>
        </p:nvSpPr>
        <p:spPr/>
        <p:txBody>
          <a:bodyPr/>
          <a:lstStyle/>
          <a:p>
            <a:fld id="{0BE9E387-7CC5-44E4-A0CE-F194BCB5B83D}" type="slidenum">
              <a:rPr kumimoji="1" lang="ja-JP" altLang="en-US" smtClean="0"/>
              <a:t>21</a:t>
            </a:fld>
            <a:endParaRPr kumimoji="1" lang="ja-JP" altLang="en-US"/>
          </a:p>
        </p:txBody>
      </p:sp>
    </p:spTree>
    <p:extLst>
      <p:ext uri="{BB962C8B-B14F-4D97-AF65-F5344CB8AC3E}">
        <p14:creationId xmlns:p14="http://schemas.microsoft.com/office/powerpoint/2010/main" val="524878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ここが実装の要点です。Stage 0 では補助情報は送っていません。クライアントが L_task で更新した LoRA 重みだけがサーバに渡ります。1クライアント・1台実装なので、明示的な通信処理はありませんが、情報としては LoRA 重みのみです。</a:t>
            </a:r>
          </a:p>
          <a:p>
            <a:r>
              <a:rPr lang="ja-JP" altLang="ja-JP" dirty="0"/>
              <a:t>Lpred や Lgrad、Lpost は、クライアントが計算した logits をサーバが受け取っているわけではありません。サーバが自分の参照データ50件について、固定したクライアント LoRA と更新対象の基盤 LoRA を同時に forward し、整合損失を計算しています。lpred_grad や lpred_post を実行すれば、同じくサーバ50件上で Lgrad や Lpost も再計算されます。</a:t>
            </a:r>
          </a:p>
          <a:p>
            <a:r>
              <a:rPr lang="ja-JP" altLang="ja-JP" dirty="0"/>
              <a:t>今回の本番 run は mode=lpred なので、Lpred だけが有効で、loss_grad と loss_post は常に0です。</a:t>
            </a:r>
          </a:p>
          <a:p>
            <a:r>
              <a:rPr lang="ja-JP" altLang="ja-JP" dirty="0"/>
              <a:t>教授の指示する次段階では、クライアントのローカルデータ上で得た出力分布などをサーバに送り、FedAvg とは別のサーバ側最適化として集約する、という拡張が必要です。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22</a:t>
            </a:fld>
            <a:endParaRPr kumimoji="1" lang="ja-JP" altLang="en-US"/>
          </a:p>
        </p:txBody>
      </p:sp>
    </p:spTree>
    <p:extLst>
      <p:ext uri="{BB962C8B-B14F-4D97-AF65-F5344CB8AC3E}">
        <p14:creationId xmlns:p14="http://schemas.microsoft.com/office/powerpoint/2010/main" val="1098616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10" name="正方形/長方形 9"/>
          <p:cNvSpPr/>
          <p:nvPr userDrawn="1"/>
        </p:nvSpPr>
        <p:spPr>
          <a:xfrm>
            <a:off x="-1" y="6506936"/>
            <a:ext cx="9144000" cy="351064"/>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p:cNvSpPr/>
          <p:nvPr userDrawn="1"/>
        </p:nvSpPr>
        <p:spPr>
          <a:xfrm>
            <a:off x="465363" y="3553218"/>
            <a:ext cx="8213272" cy="14520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hasCustomPrompt="1"/>
          </p:nvPr>
        </p:nvSpPr>
        <p:spPr>
          <a:xfrm>
            <a:off x="498021" y="2355104"/>
            <a:ext cx="8147957" cy="735738"/>
          </a:xfrm>
        </p:spPr>
        <p:txBody>
          <a:bodyPr anchor="b">
            <a:normAutofit/>
          </a:bodyPr>
          <a:lstStyle>
            <a:lvl1pPr algn="ctr">
              <a:defRPr sz="4000">
                <a:solidFill>
                  <a:schemeClr val="tx1"/>
                </a:solidFill>
              </a:defRPr>
            </a:lvl1pPr>
          </a:lstStyle>
          <a:p>
            <a:r>
              <a:rPr lang="ja-JP" altLang="en-US"/>
              <a:t>マスター タイトル</a:t>
            </a:r>
            <a:endParaRPr lang="en-US"/>
          </a:p>
        </p:txBody>
      </p:sp>
      <p:sp>
        <p:nvSpPr>
          <p:cNvPr id="3" name="Subtitle 2"/>
          <p:cNvSpPr>
            <a:spLocks noGrp="1"/>
          </p:cNvSpPr>
          <p:nvPr>
            <p:ph type="subTitle" idx="1"/>
          </p:nvPr>
        </p:nvSpPr>
        <p:spPr>
          <a:xfrm>
            <a:off x="4755696" y="4531179"/>
            <a:ext cx="4204607" cy="997795"/>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11747"/>
            <a:ext cx="9144000" cy="6046253"/>
          </a:xfrm>
        </p:spPr>
        <p:txBody>
          <a:bodyPr/>
          <a:lstStyle>
            <a:lvl1pPr>
              <a:lnSpc>
                <a:spcPct val="130000"/>
              </a:lnSpc>
              <a:buFont typeface="Impact" panose="020B0806030902050204" pitchFamily="34" charset="0"/>
              <a:buChar char="I"/>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9" name="正方形/長方形 8"/>
          <p:cNvSpPr/>
          <p:nvPr userDrawn="1"/>
        </p:nvSpPr>
        <p:spPr>
          <a:xfrm flipV="1">
            <a:off x="0" y="745419"/>
            <a:ext cx="9144000" cy="66328"/>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title"/>
          </p:nvPr>
        </p:nvSpPr>
        <p:spPr>
          <a:xfrm>
            <a:off x="628650" y="88108"/>
            <a:ext cx="7886700" cy="657310"/>
          </a:xfrm>
        </p:spPr>
        <p:txBody>
          <a:bodyPr>
            <a:normAutofit/>
          </a:bodyPr>
          <a:lstStyle>
            <a:lvl1pPr>
              <a:defRPr sz="3600">
                <a:solidFill>
                  <a:schemeClr val="tx1"/>
                </a:solidFill>
              </a:defRPr>
            </a:lvl1pPr>
          </a:lstStyle>
          <a:p>
            <a:r>
              <a:rPr lang="ja-JP" altLang="en-US"/>
              <a:t>マスター タイトルの書式設定</a:t>
            </a:r>
            <a:endParaRPr lang="en-US"/>
          </a:p>
        </p:txBody>
      </p:sp>
      <p:sp>
        <p:nvSpPr>
          <p:cNvPr id="5" name="スライド番号プレースホルダー 3"/>
          <p:cNvSpPr>
            <a:spLocks noGrp="1"/>
          </p:cNvSpPr>
          <p:nvPr>
            <p:ph type="sldNum" sz="quarter" idx="4"/>
          </p:nvPr>
        </p:nvSpPr>
        <p:spPr>
          <a:xfrm>
            <a:off x="5646483" y="73989"/>
            <a:ext cx="3118757" cy="354013"/>
          </a:xfrm>
          <a:prstGeom prst="rect">
            <a:avLst/>
          </a:prstGeom>
        </p:spPr>
        <p:txBody>
          <a:bodyPr vert="horz" lIns="91440" tIns="45720" rIns="91440" bIns="45720" rtlCol="0" anchor="ctr"/>
          <a:lstStyle>
            <a:lvl1pPr algn="r">
              <a:defRPr sz="1800">
                <a:solidFill>
                  <a:schemeClr val="tx1"/>
                </a:solidFill>
              </a:defRPr>
            </a:lvl1pPr>
          </a:lstStyle>
          <a:p>
            <a:fld id="{C088C981-6885-4100-82A1-DE7074EC4480}" type="slidenum">
              <a:rPr lang="ja-JP" altLang="en-US" smtClean="0"/>
              <a:t>‹#›</a:t>
            </a:fld>
            <a:endParaRPr lang="ja-JP" altLang="en-US"/>
          </a:p>
        </p:txBody>
      </p:sp>
      <p:sp>
        <p:nvSpPr>
          <p:cNvPr id="6" name="テキスト ボックス 5"/>
          <p:cNvSpPr txBox="1"/>
          <p:nvPr userDrawn="1"/>
        </p:nvSpPr>
        <p:spPr>
          <a:xfrm>
            <a:off x="8626448" y="66330"/>
            <a:ext cx="603069" cy="369332"/>
          </a:xfrm>
          <a:prstGeom prst="rect">
            <a:avLst/>
          </a:prstGeom>
          <a:noFill/>
        </p:spPr>
        <p:txBody>
          <a:bodyPr wrap="square" rtlCol="0">
            <a:spAutoFit/>
          </a:bodyPr>
          <a:lstStyle/>
          <a:p>
            <a:r>
              <a:rPr kumimoji="1" lang="en-US" altLang="ja-JP">
                <a:solidFill>
                  <a:schemeClr val="tx1"/>
                </a:solidFill>
              </a:rPr>
              <a:t>/ 19</a:t>
            </a:r>
            <a:endParaRPr kumimoji="1" lang="ja-JP" altLang="en-US">
              <a:solidFill>
                <a:schemeClr val="tx1"/>
              </a:solidFill>
            </a:endParaRPr>
          </a:p>
        </p:txBody>
      </p:sp>
      <p:pic>
        <p:nvPicPr>
          <p:cNvPr id="7" name="グラフィックス 6" descr="散布図 単色塗りつぶし"/>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07007"/>
            <a:ext cx="657310" cy="65731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11747"/>
            <a:ext cx="9143999" cy="6046253"/>
          </a:xfrm>
        </p:spPr>
        <p:txBody>
          <a:bodyPr/>
          <a:lstStyle>
            <a:lvl1pPr>
              <a:lnSpc>
                <a:spcPct val="130000"/>
              </a:lnSpc>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9" name="正方形/長方形 8"/>
          <p:cNvSpPr/>
          <p:nvPr userDrawn="1"/>
        </p:nvSpPr>
        <p:spPr>
          <a:xfrm flipV="1">
            <a:off x="0" y="745419"/>
            <a:ext cx="9144000" cy="66328"/>
          </a:xfrm>
          <a:prstGeom prst="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title"/>
          </p:nvPr>
        </p:nvSpPr>
        <p:spPr>
          <a:xfrm>
            <a:off x="628650" y="88108"/>
            <a:ext cx="7886700" cy="657310"/>
          </a:xfrm>
        </p:spPr>
        <p:txBody>
          <a:bodyPr>
            <a:normAutofit/>
          </a:bodyPr>
          <a:lstStyle>
            <a:lvl1pPr>
              <a:defRPr sz="3600">
                <a:solidFill>
                  <a:schemeClr val="tx1"/>
                </a:solidFill>
              </a:defRPr>
            </a:lvl1pPr>
          </a:lstStyle>
          <a:p>
            <a:r>
              <a:rPr lang="ja-JP" altLang="en-US"/>
              <a:t>マスター タイトルの書式設定</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43DAFC12-12EF-DD5B-64FA-08D714DC7CBD}"/>
              </a:ext>
            </a:extLst>
          </p:cNvPr>
          <p:cNvSpPr>
            <a:spLocks noGrp="1"/>
          </p:cNvSpPr>
          <p:nvPr>
            <p:ph type="sldNum" sz="quarter" idx="10"/>
          </p:nvPr>
        </p:nvSpPr>
        <p:spPr/>
        <p:txBody>
          <a:bodyPr/>
          <a:lstStyle/>
          <a:p>
            <a:fld id="{C088C981-6885-4100-82A1-DE7074EC4480}" type="slidenum">
              <a:rPr kumimoji="1" lang="ja-JP" altLang="en-US" smtClean="0"/>
              <a:t>‹#›</a:t>
            </a:fld>
            <a:endParaRPr kumimoji="1" lang="ja-JP" altLang="en-US"/>
          </a:p>
        </p:txBody>
      </p:sp>
    </p:spTree>
    <p:extLst>
      <p:ext uri="{BB962C8B-B14F-4D97-AF65-F5344CB8AC3E}">
        <p14:creationId xmlns:p14="http://schemas.microsoft.com/office/powerpoint/2010/main" val="2125884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AEBD1633-DF08-1D3C-E2E8-763ED4DA8CAD}"/>
              </a:ext>
            </a:extLst>
          </p:cNvPr>
          <p:cNvSpPr>
            <a:spLocks noGrp="1"/>
          </p:cNvSpPr>
          <p:nvPr>
            <p:ph type="sldNum" sz="quarter" idx="10"/>
          </p:nvPr>
        </p:nvSpPr>
        <p:spPr/>
        <p:txBody>
          <a:bodyPr/>
          <a:lstStyle/>
          <a:p>
            <a:fld id="{C088C981-6885-4100-82A1-DE7074EC4480}" type="slidenum">
              <a:rPr kumimoji="1" lang="ja-JP" altLang="en-US" smtClean="0"/>
              <a:t>‹#›</a:t>
            </a:fld>
            <a:endParaRPr kumimoji="1" lang="ja-JP" altLang="en-US"/>
          </a:p>
        </p:txBody>
      </p:sp>
      <p:pic>
        <p:nvPicPr>
          <p:cNvPr id="4" name="グラフィックス 3" descr="散布図 単色塗りつぶし">
            <a:extLst>
              <a:ext uri="{FF2B5EF4-FFF2-40B4-BE49-F238E27FC236}">
                <a16:creationId xmlns:a16="http://schemas.microsoft.com/office/drawing/2014/main" id="{D1119488-F22E-A77C-F31E-6DA10DF5C71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07007"/>
            <a:ext cx="657310" cy="657310"/>
          </a:xfrm>
          <a:prstGeom prst="rect">
            <a:avLst/>
          </a:prstGeom>
        </p:spPr>
      </p:pic>
    </p:spTree>
    <p:extLst>
      <p:ext uri="{BB962C8B-B14F-4D97-AF65-F5344CB8AC3E}">
        <p14:creationId xmlns:p14="http://schemas.microsoft.com/office/powerpoint/2010/main" val="32801374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1344168"/>
            <a:ext cx="9144000" cy="5513832"/>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2" name="Title Placeholder 1"/>
          <p:cNvSpPr>
            <a:spLocks noGrp="1"/>
          </p:cNvSpPr>
          <p:nvPr>
            <p:ph type="title"/>
          </p:nvPr>
        </p:nvSpPr>
        <p:spPr>
          <a:xfrm>
            <a:off x="628650" y="190047"/>
            <a:ext cx="7886700" cy="934665"/>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4" name="スライド番号プレースホルダー 3"/>
          <p:cNvSpPr>
            <a:spLocks noGrp="1"/>
          </p:cNvSpPr>
          <p:nvPr>
            <p:ph type="sldNum" sz="quarter" idx="4"/>
          </p:nvPr>
        </p:nvSpPr>
        <p:spPr>
          <a:xfrm>
            <a:off x="5396593" y="190047"/>
            <a:ext cx="3118757" cy="354013"/>
          </a:xfrm>
          <a:prstGeom prst="rect">
            <a:avLst/>
          </a:prstGeom>
        </p:spPr>
        <p:txBody>
          <a:bodyPr vert="horz" lIns="91440" tIns="45720" rIns="91440" bIns="45720" rtlCol="0" anchor="ctr"/>
          <a:lstStyle>
            <a:lvl1pPr algn="r">
              <a:defRPr sz="1800">
                <a:solidFill>
                  <a:schemeClr val="tx1">
                    <a:tint val="75000"/>
                  </a:schemeClr>
                </a:solidFill>
              </a:defRPr>
            </a:lvl1pPr>
          </a:lstStyle>
          <a:p>
            <a:fld id="{C088C981-6885-4100-82A1-DE7074EC4480}"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2" r:id="rId5"/>
  </p:sldLayoutIdLst>
  <p:hf hdr="0" ftr="0" dt="0"/>
  <p:txStyles>
    <p:titleStyle>
      <a:lvl1pPr algn="l" defTabSz="914400" rtl="0" eaLnBrk="1" latinLnBrk="0" hangingPunct="1">
        <a:lnSpc>
          <a:spcPct val="90000"/>
        </a:lnSpc>
        <a:spcBef>
          <a:spcPct val="0"/>
        </a:spcBef>
        <a:buNone/>
        <a:defRPr kumimoji="1" sz="40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p:titleStyle>
    <p:bodyStyle>
      <a:lvl1pPr marL="228600" indent="-228600" algn="l" defTabSz="914400" rtl="0" eaLnBrk="1" latinLnBrk="0" hangingPunct="1">
        <a:lnSpc>
          <a:spcPct val="100000"/>
        </a:lnSpc>
        <a:spcBef>
          <a:spcPts val="1000"/>
        </a:spcBef>
        <a:buFont typeface="Aptos Slab Black" panose="020B0004020202020204" pitchFamily="34" charset="0"/>
        <a:buChar char="┃"/>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0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0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0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0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20.png"/><Relationship Id="rId26"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190.png"/><Relationship Id="rId7" Type="http://schemas.openxmlformats.org/officeDocument/2006/relationships/image" Target="../media/image7.jpe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3.png"/><Relationship Id="rId2" Type="http://schemas.openxmlformats.org/officeDocument/2006/relationships/notesSlide" Target="../notesSlides/notesSlide4.xml"/><Relationship Id="rId16" Type="http://schemas.openxmlformats.org/officeDocument/2006/relationships/image" Target="../media/image16.jpeg"/><Relationship Id="rId20"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jpeg"/><Relationship Id="rId24" Type="http://schemas.openxmlformats.org/officeDocument/2006/relationships/image" Target="../media/image22.png"/><Relationship Id="rId5" Type="http://schemas.openxmlformats.org/officeDocument/2006/relationships/image" Target="../media/image5.png"/><Relationship Id="rId15" Type="http://schemas.openxmlformats.org/officeDocument/2006/relationships/image" Target="../media/image15.jpeg"/><Relationship Id="rId23" Type="http://schemas.openxmlformats.org/officeDocument/2006/relationships/image" Target="../media/image21.png"/><Relationship Id="rId10" Type="http://schemas.openxmlformats.org/officeDocument/2006/relationships/image" Target="../media/image10.png"/><Relationship Id="rId19" Type="http://schemas.openxmlformats.org/officeDocument/2006/relationships/image" Target="../media/image18.svg"/><Relationship Id="rId4" Type="http://schemas.openxmlformats.org/officeDocument/2006/relationships/image" Target="../media/image4.jpeg"/><Relationship Id="rId9" Type="http://schemas.openxmlformats.org/officeDocument/2006/relationships/image" Target="../media/image9.png"/><Relationship Id="rId14" Type="http://schemas.openxmlformats.org/officeDocument/2006/relationships/image" Target="../media/image14.jpeg"/><Relationship Id="rId22" Type="http://schemas.openxmlformats.org/officeDocument/2006/relationships/image" Target="../media/image20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20.png"/><Relationship Id="rId26" Type="http://schemas.openxmlformats.org/officeDocument/2006/relationships/image" Target="../media/image24.png"/><Relationship Id="rId3" Type="http://schemas.openxmlformats.org/officeDocument/2006/relationships/image" Target="../media/image3.png"/><Relationship Id="rId21" Type="http://schemas.openxmlformats.org/officeDocument/2006/relationships/image" Target="../media/image190.png"/><Relationship Id="rId7" Type="http://schemas.openxmlformats.org/officeDocument/2006/relationships/image" Target="../media/image7.jpe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30.png"/><Relationship Id="rId2" Type="http://schemas.openxmlformats.org/officeDocument/2006/relationships/notesSlide" Target="../notesSlides/notesSlide6.xml"/><Relationship Id="rId16" Type="http://schemas.openxmlformats.org/officeDocument/2006/relationships/image" Target="../media/image16.jpeg"/><Relationship Id="rId20"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jpeg"/><Relationship Id="rId24" Type="http://schemas.openxmlformats.org/officeDocument/2006/relationships/image" Target="../media/image22.png"/><Relationship Id="rId5" Type="http://schemas.openxmlformats.org/officeDocument/2006/relationships/image" Target="../media/image5.png"/><Relationship Id="rId15" Type="http://schemas.openxmlformats.org/officeDocument/2006/relationships/image" Target="../media/image15.jpeg"/><Relationship Id="rId23" Type="http://schemas.openxmlformats.org/officeDocument/2006/relationships/image" Target="../media/image21.png"/><Relationship Id="rId10" Type="http://schemas.openxmlformats.org/officeDocument/2006/relationships/image" Target="../media/image10.png"/><Relationship Id="rId19" Type="http://schemas.openxmlformats.org/officeDocument/2006/relationships/image" Target="../media/image18.svg"/><Relationship Id="rId4" Type="http://schemas.openxmlformats.org/officeDocument/2006/relationships/image" Target="../media/image4.jpeg"/><Relationship Id="rId9" Type="http://schemas.openxmlformats.org/officeDocument/2006/relationships/image" Target="../media/image9.png"/><Relationship Id="rId14" Type="http://schemas.openxmlformats.org/officeDocument/2006/relationships/image" Target="../media/image14.jpeg"/><Relationship Id="rId22" Type="http://schemas.openxmlformats.org/officeDocument/2006/relationships/image" Target="../media/image200.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0.png"/><Relationship Id="rId1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26.png"/><Relationship Id="rId2" Type="http://schemas.openxmlformats.org/officeDocument/2006/relationships/notesSlide" Target="../notesSlides/notesSlide7.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0.png"/><Relationship Id="rId10" Type="http://schemas.openxmlformats.org/officeDocument/2006/relationships/image" Target="../media/image15.jpeg"/><Relationship Id="rId19" Type="http://schemas.openxmlformats.org/officeDocument/2006/relationships/image" Target="../media/image28.pn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0.png"/><Relationship Id="rId1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26.png"/><Relationship Id="rId2" Type="http://schemas.openxmlformats.org/officeDocument/2006/relationships/notesSlide" Target="../notesSlides/notesSlide8.xml"/><Relationship Id="rId16"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5.png"/><Relationship Id="rId10" Type="http://schemas.openxmlformats.org/officeDocument/2006/relationships/image" Target="../media/image15.jpeg"/><Relationship Id="rId19" Type="http://schemas.openxmlformats.org/officeDocument/2006/relationships/image" Target="../media/image28.pn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29.png"/><Relationship Id="rId2" Type="http://schemas.openxmlformats.org/officeDocument/2006/relationships/notesSlide" Target="../notesSlides/notesSlide9.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0.png"/><Relationship Id="rId10" Type="http://schemas.openxmlformats.org/officeDocument/2006/relationships/image" Target="../media/image15.jpe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0.png"/><Relationship Id="rId18" Type="http://schemas.openxmlformats.org/officeDocument/2006/relationships/image" Target="../media/image30.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29.png"/><Relationship Id="rId2" Type="http://schemas.openxmlformats.org/officeDocument/2006/relationships/notesSlide" Target="../notesSlides/notesSlide10.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0" Type="http://schemas.openxmlformats.org/officeDocument/2006/relationships/image" Target="../media/image15.jpe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0.png"/><Relationship Id="rId18" Type="http://schemas.openxmlformats.org/officeDocument/2006/relationships/image" Target="../media/image31.png"/><Relationship Id="rId3" Type="http://schemas.openxmlformats.org/officeDocument/2006/relationships/image" Target="../media/image3.png"/><Relationship Id="rId21" Type="http://schemas.openxmlformats.org/officeDocument/2006/relationships/image" Target="../media/image3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300.png"/><Relationship Id="rId2" Type="http://schemas.openxmlformats.org/officeDocument/2006/relationships/notesSlide" Target="../notesSlides/notesSlide11.xml"/><Relationship Id="rId16" Type="http://schemas.openxmlformats.org/officeDocument/2006/relationships/image" Target="../media/image25.png"/><Relationship Id="rId20"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0.png"/><Relationship Id="rId10" Type="http://schemas.openxmlformats.org/officeDocument/2006/relationships/image" Target="../media/image15.jpeg"/><Relationship Id="rId19" Type="http://schemas.openxmlformats.org/officeDocument/2006/relationships/image" Target="../media/image32.pn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0.png"/><Relationship Id="rId18" Type="http://schemas.openxmlformats.org/officeDocument/2006/relationships/image" Target="../media/image31.png"/><Relationship Id="rId3" Type="http://schemas.openxmlformats.org/officeDocument/2006/relationships/image" Target="../media/image3.png"/><Relationship Id="rId21" Type="http://schemas.openxmlformats.org/officeDocument/2006/relationships/image" Target="../media/image3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300.png"/><Relationship Id="rId2" Type="http://schemas.openxmlformats.org/officeDocument/2006/relationships/notesSlide" Target="../notesSlides/notesSlide12.xml"/><Relationship Id="rId16" Type="http://schemas.openxmlformats.org/officeDocument/2006/relationships/image" Target="../media/image25.png"/><Relationship Id="rId20"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0.png"/><Relationship Id="rId10" Type="http://schemas.openxmlformats.org/officeDocument/2006/relationships/image" Target="../media/image15.jpeg"/><Relationship Id="rId19" Type="http://schemas.openxmlformats.org/officeDocument/2006/relationships/image" Target="../media/image32.pn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 Id="rId22"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0.png"/><Relationship Id="rId18" Type="http://schemas.openxmlformats.org/officeDocument/2006/relationships/image" Target="../media/image20.png"/><Relationship Id="rId3" Type="http://schemas.openxmlformats.org/officeDocument/2006/relationships/image" Target="../media/image3.png"/><Relationship Id="rId21" Type="http://schemas.openxmlformats.org/officeDocument/2006/relationships/image" Target="../media/image3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31.png"/><Relationship Id="rId2" Type="http://schemas.openxmlformats.org/officeDocument/2006/relationships/notesSlide" Target="../notesSlides/notesSlide14.xml"/><Relationship Id="rId16" Type="http://schemas.openxmlformats.org/officeDocument/2006/relationships/image" Target="../media/image300.png"/><Relationship Id="rId20"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5.png"/><Relationship Id="rId10" Type="http://schemas.openxmlformats.org/officeDocument/2006/relationships/image" Target="../media/image15.jpeg"/><Relationship Id="rId19" Type="http://schemas.openxmlformats.org/officeDocument/2006/relationships/image" Target="../media/image32.pn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7.jpeg"/><Relationship Id="rId18" Type="http://schemas.openxmlformats.org/officeDocument/2006/relationships/image" Target="../media/image20.png"/><Relationship Id="rId3" Type="http://schemas.openxmlformats.org/officeDocument/2006/relationships/image" Target="../media/image340.png"/><Relationship Id="rId7" Type="http://schemas.openxmlformats.org/officeDocument/2006/relationships/image" Target="../media/image32.png"/><Relationship Id="rId12" Type="http://schemas.openxmlformats.org/officeDocument/2006/relationships/image" Target="../media/image6.png"/><Relationship Id="rId17" Type="http://schemas.openxmlformats.org/officeDocument/2006/relationships/image" Target="../media/image16.jpeg"/><Relationship Id="rId2" Type="http://schemas.openxmlformats.org/officeDocument/2006/relationships/notesSlide" Target="../notesSlides/notesSlide15.xml"/><Relationship Id="rId16" Type="http://schemas.openxmlformats.org/officeDocument/2006/relationships/image" Target="../media/image15.jpeg"/><Relationship Id="rId20"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5.png"/><Relationship Id="rId5" Type="http://schemas.openxmlformats.org/officeDocument/2006/relationships/image" Target="../media/image31.png"/><Relationship Id="rId15" Type="http://schemas.openxmlformats.org/officeDocument/2006/relationships/image" Target="../media/image13.png"/><Relationship Id="rId10" Type="http://schemas.openxmlformats.org/officeDocument/2006/relationships/image" Target="../media/image4.jpeg"/><Relationship Id="rId19" Type="http://schemas.openxmlformats.org/officeDocument/2006/relationships/image" Target="../media/image18.svg"/><Relationship Id="rId4" Type="http://schemas.openxmlformats.org/officeDocument/2006/relationships/image" Target="../media/image35.png"/><Relationship Id="rId9" Type="http://schemas.openxmlformats.org/officeDocument/2006/relationships/image" Target="../media/image3.png"/><Relationship Id="rId1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75660" y="1963067"/>
            <a:ext cx="8960071" cy="1465933"/>
          </a:xfrm>
        </p:spPr>
        <p:txBody>
          <a:bodyPr>
            <a:normAutofit fontScale="90000"/>
          </a:bodyPr>
          <a:lstStyle/>
          <a:p>
            <a:pPr>
              <a:lnSpc>
                <a:spcPct val="130000"/>
              </a:lnSpc>
            </a:pPr>
            <a:br>
              <a:rPr lang="en-US" altLang="zh-TW" dirty="0"/>
            </a:br>
            <a:r>
              <a:rPr lang="ja-JP" altLang="en-US" dirty="0"/>
              <a:t>進捗会</a:t>
            </a:r>
            <a:br>
              <a:rPr lang="en-US" altLang="ja-JP" dirty="0"/>
            </a:br>
            <a:br>
              <a:rPr lang="en-US" altLang="ja-JP" dirty="0"/>
            </a:br>
            <a:r>
              <a:rPr lang="en-US" altLang="ja-JP" sz="3600" b="1" dirty="0"/>
              <a:t>3B/3B </a:t>
            </a:r>
            <a:r>
              <a:rPr lang="ja-JP" altLang="en-US" sz="3600" b="1" dirty="0"/>
              <a:t>最小構成での学習（特に</a:t>
            </a:r>
            <a:r>
              <a:rPr lang="ja-JP" altLang="ja-JP" sz="3600" b="1" dirty="0"/>
              <a:t>基盤モデル更新</a:t>
            </a:r>
            <a:r>
              <a:rPr lang="ja-JP" altLang="en-US" sz="3600" b="1" dirty="0"/>
              <a:t>）ループ完走確認</a:t>
            </a:r>
            <a:br>
              <a:rPr lang="en-US" altLang="ja-JP" sz="3600" b="1" dirty="0"/>
            </a:br>
            <a:r>
              <a:rPr lang="en-US" altLang="ja-JP" sz="2200" dirty="0"/>
              <a:t>Surrogate</a:t>
            </a:r>
            <a:r>
              <a:rPr lang="ja-JP" altLang="en-US" sz="2200" dirty="0"/>
              <a:t>モデルによる連合継続学習</a:t>
            </a:r>
            <a:endParaRPr kumimoji="1" lang="ja-JP" altLang="en-US" dirty="0"/>
          </a:p>
        </p:txBody>
      </p:sp>
      <p:sp>
        <p:nvSpPr>
          <p:cNvPr id="3" name="字幕 2"/>
          <p:cNvSpPr>
            <a:spLocks noGrp="1"/>
          </p:cNvSpPr>
          <p:nvPr>
            <p:ph type="subTitle" idx="1"/>
          </p:nvPr>
        </p:nvSpPr>
        <p:spPr>
          <a:xfrm>
            <a:off x="4755696" y="4063043"/>
            <a:ext cx="4204607" cy="1465932"/>
          </a:xfrm>
        </p:spPr>
        <p:txBody>
          <a:bodyPr>
            <a:normAutofit fontScale="92500" lnSpcReduction="10000"/>
          </a:bodyPr>
          <a:lstStyle/>
          <a:p>
            <a:pPr algn="r"/>
            <a:r>
              <a:rPr kumimoji="1" lang="ja-JP" altLang="en-US"/>
              <a:t>名古屋大学</a:t>
            </a:r>
            <a:endParaRPr kumimoji="1" lang="en-US" altLang="ja-JP"/>
          </a:p>
          <a:p>
            <a:pPr algn="r"/>
            <a:r>
              <a:rPr kumimoji="1" lang="ja-JP" altLang="en-US"/>
              <a:t>是津研究室 </a:t>
            </a:r>
            <a:r>
              <a:rPr lang="en-US" altLang="ja-JP"/>
              <a:t>M1</a:t>
            </a:r>
            <a:endParaRPr kumimoji="1" lang="en-US" altLang="ja-JP"/>
          </a:p>
          <a:p>
            <a:pPr algn="r"/>
            <a:r>
              <a:rPr kumimoji="1" lang="ja-JP" altLang="en-US"/>
              <a:t>吉村有生</a:t>
            </a:r>
          </a:p>
        </p:txBody>
      </p:sp>
      <p:sp>
        <p:nvSpPr>
          <p:cNvPr id="4" name="タイトル 1">
            <a:extLst>
              <a:ext uri="{FF2B5EF4-FFF2-40B4-BE49-F238E27FC236}">
                <a16:creationId xmlns:a16="http://schemas.microsoft.com/office/drawing/2014/main" id="{1612D3FA-1A10-5639-0AA3-B6A8434EC3A5}"/>
              </a:ext>
            </a:extLst>
          </p:cNvPr>
          <p:cNvSpPr txBox="1">
            <a:spLocks/>
          </p:cNvSpPr>
          <p:nvPr/>
        </p:nvSpPr>
        <p:spPr>
          <a:xfrm>
            <a:off x="430306" y="3227091"/>
            <a:ext cx="8246596" cy="146593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kumimoji="1" sz="40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nSpc>
                <a:spcPct val="130000"/>
              </a:lnSpc>
            </a:pPr>
            <a:r>
              <a:rPr lang="en-US" altLang="ja-JP" sz="3200" dirty="0"/>
              <a:t>2026/07/02</a:t>
            </a:r>
            <a:endParaRPr lang="ja-JP" alt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24CD4E98-4AE5-44B3-75A7-E385BF0E48BE}"/>
              </a:ext>
            </a:extLst>
          </p:cNvPr>
          <p:cNvSpPr>
            <a:spLocks noGrp="1"/>
          </p:cNvSpPr>
          <p:nvPr>
            <p:ph type="title"/>
          </p:nvPr>
        </p:nvSpPr>
        <p:spPr/>
        <p:txBody>
          <a:bodyPr/>
          <a:lstStyle/>
          <a:p>
            <a:r>
              <a:rPr kumimoji="1" lang="ja-JP" altLang="en-US" dirty="0"/>
              <a:t>目的</a:t>
            </a:r>
          </a:p>
        </p:txBody>
      </p:sp>
      <p:sp>
        <p:nvSpPr>
          <p:cNvPr id="4" name="スライド番号プレースホルダー 3">
            <a:extLst>
              <a:ext uri="{FF2B5EF4-FFF2-40B4-BE49-F238E27FC236}">
                <a16:creationId xmlns:a16="http://schemas.microsoft.com/office/drawing/2014/main" id="{065ED72D-ACDE-3D16-927E-7478946EE4BD}"/>
              </a:ext>
            </a:extLst>
          </p:cNvPr>
          <p:cNvSpPr>
            <a:spLocks noGrp="1"/>
          </p:cNvSpPr>
          <p:nvPr>
            <p:ph type="sldNum" sz="quarter" idx="4"/>
          </p:nvPr>
        </p:nvSpPr>
        <p:spPr/>
        <p:txBody>
          <a:bodyPr/>
          <a:lstStyle/>
          <a:p>
            <a:fld id="{C088C981-6885-4100-82A1-DE7074EC4480}" type="slidenum">
              <a:rPr lang="ja-JP" altLang="en-US" smtClean="0"/>
              <a:t>1</a:t>
            </a:fld>
            <a:endParaRPr lang="ja-JP" altLang="en-US"/>
          </a:p>
        </p:txBody>
      </p:sp>
      <p:cxnSp>
        <p:nvCxnSpPr>
          <p:cNvPr id="6" name="直線コネクタ 5">
            <a:extLst>
              <a:ext uri="{FF2B5EF4-FFF2-40B4-BE49-F238E27FC236}">
                <a16:creationId xmlns:a16="http://schemas.microsoft.com/office/drawing/2014/main" id="{F01CD087-5286-752F-E691-AC5B2D6C5112}"/>
              </a:ext>
            </a:extLst>
          </p:cNvPr>
          <p:cNvCxnSpPr>
            <a:cxnSpLocks/>
          </p:cNvCxnSpPr>
          <p:nvPr/>
        </p:nvCxnSpPr>
        <p:spPr>
          <a:xfrm>
            <a:off x="0" y="3834874"/>
            <a:ext cx="914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7F5D85FB-24EF-0541-A5DF-7518C78A4C4F}"/>
              </a:ext>
            </a:extLst>
          </p:cNvPr>
          <p:cNvCxnSpPr>
            <a:cxnSpLocks/>
            <a:stCxn id="3" idx="2"/>
          </p:cNvCxnSpPr>
          <p:nvPr/>
        </p:nvCxnSpPr>
        <p:spPr>
          <a:xfrm>
            <a:off x="4572000" y="745418"/>
            <a:ext cx="0" cy="611258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コンテンツ プレースホルダー 1">
                <a:extLst>
                  <a:ext uri="{FF2B5EF4-FFF2-40B4-BE49-F238E27FC236}">
                    <a16:creationId xmlns:a16="http://schemas.microsoft.com/office/drawing/2014/main" id="{ACEF0645-369D-0877-093F-2EF5D762F25A}"/>
                  </a:ext>
                </a:extLst>
              </p:cNvPr>
              <p:cNvSpPr txBox="1">
                <a:spLocks/>
              </p:cNvSpPr>
              <p:nvPr/>
            </p:nvSpPr>
            <p:spPr>
              <a:xfrm>
                <a:off x="0" y="3834874"/>
                <a:ext cx="4571987" cy="3023126"/>
              </a:xfrm>
              <a:prstGeom prst="rect">
                <a:avLst/>
              </a:prstGeom>
            </p:spPr>
            <p:txBody>
              <a:bodyPr vert="horz" lIns="91440" tIns="45720" rIns="91440" bIns="45720" rtlCol="0">
                <a:normAutofit/>
              </a:bodyPr>
              <a:lstStyle>
                <a:lvl1pPr marL="228600" indent="-228600" algn="l" defTabSz="914400" rtl="0" eaLnBrk="1" latinLnBrk="0" hangingPunct="1">
                  <a:lnSpc>
                    <a:spcPct val="130000"/>
                  </a:lnSpc>
                  <a:spcBef>
                    <a:spcPts val="1000"/>
                  </a:spcBef>
                  <a:buFont typeface="Impact" panose="020B0806030902050204" pitchFamily="34" charset="0"/>
                  <a:buChar char="I"/>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0" indent="0">
                  <a:buNone/>
                </a:pPr>
                <a:r>
                  <a:rPr lang="ja-JP" altLang="ja-JP" sz="2400" dirty="0"/>
                  <a:t>3. 提案コンセプトの核心</a:t>
                </a:r>
                <a:endParaRPr lang="en-US" altLang="ja-JP" sz="2400" dirty="0"/>
              </a:p>
              <a:p>
                <a:r>
                  <a:rPr lang="ja-JP" altLang="en-US" sz="1600" dirty="0"/>
                  <a:t>ゴールは整合損失そのものではなく  「クライアントの適応情報 → クラウド基盤</a:t>
                </a:r>
                <a:r>
                  <a:rPr lang="en-US" altLang="ja-JP" sz="1600" dirty="0"/>
                  <a:t>AI</a:t>
                </a:r>
                <a:r>
                  <a:rPr lang="ja-JP" altLang="en-US" sz="1600" dirty="0"/>
                  <a:t>の循環更新」</a:t>
                </a:r>
                <a:endParaRPr lang="en-US" altLang="ja-JP" sz="1600" dirty="0"/>
              </a:p>
              <a:p>
                <a:r>
                  <a:rPr lang="ja-JP" altLang="en-US" sz="1600" dirty="0"/>
                  <a:t>クライアントの適応情報の例</a:t>
                </a:r>
                <a:r>
                  <a:rPr lang="en-US" altLang="ja-JP" sz="1600" dirty="0"/>
                  <a:t>:  </a:t>
                </a:r>
                <a:r>
                  <a:rPr lang="en-US" altLang="ja-JP" sz="1600" dirty="0" err="1"/>
                  <a:t>LoRA</a:t>
                </a:r>
                <a:r>
                  <a:rPr lang="ja-JP" altLang="en-US" sz="1600" dirty="0"/>
                  <a:t>更新差分 </a:t>
                </a:r>
                <a:r>
                  <a:rPr lang="en-US" altLang="ja-JP" sz="1600" dirty="0"/>
                  <a:t>/ </a:t>
                </a:r>
                <a:r>
                  <a:rPr lang="ja-JP" altLang="en-US" sz="1600" dirty="0">
                    <a:solidFill>
                      <a:srgbClr val="FF0000"/>
                    </a:solidFill>
                  </a:rPr>
                  <a:t>出力分布 </a:t>
                </a:r>
                <a:r>
                  <a:rPr lang="en-US" altLang="ja-JP" sz="1600" dirty="0">
                    <a:solidFill>
                      <a:srgbClr val="FF0000"/>
                    </a:solidFill>
                  </a:rPr>
                  <a:t>/ </a:t>
                </a:r>
                <a:r>
                  <a:rPr lang="ja-JP" altLang="en-US" sz="1600" dirty="0">
                    <a:solidFill>
                      <a:srgbClr val="FF0000"/>
                    </a:solidFill>
                  </a:rPr>
                  <a:t>勾配 </a:t>
                </a:r>
                <a:r>
                  <a:rPr lang="en-US" altLang="ja-JP" sz="1600" dirty="0">
                    <a:solidFill>
                      <a:srgbClr val="FF0000"/>
                    </a:solidFill>
                  </a:rPr>
                  <a:t>/ 1-step</a:t>
                </a:r>
                <a:r>
                  <a:rPr lang="ja-JP" altLang="en-US" sz="1600" dirty="0">
                    <a:solidFill>
                      <a:srgbClr val="FF0000"/>
                    </a:solidFill>
                  </a:rPr>
                  <a:t>適応後出力 等</a:t>
                </a:r>
                <a:endParaRPr lang="en-US" altLang="ja-JP" sz="1600" dirty="0">
                  <a:solidFill>
                    <a:srgbClr val="FF0000"/>
                  </a:solidFill>
                </a:endParaRPr>
              </a:p>
              <a:p>
                <a14:m>
                  <m:oMath xmlns:m="http://schemas.openxmlformats.org/officeDocument/2006/math">
                    <m:r>
                      <a:rPr lang="en-US" altLang="ja-JP" sz="1600" i="1">
                        <a:latin typeface="Cambria Math" panose="02040503050406030204" pitchFamily="18" charset="0"/>
                      </a:rPr>
                      <m:t>𝐿</m:t>
                    </m:r>
                    <m:r>
                      <a:rPr lang="en-US" altLang="ja-JP" sz="1600" i="1">
                        <a:latin typeface="Cambria Math" panose="02040503050406030204" pitchFamily="18" charset="0"/>
                      </a:rPr>
                      <m:t>=</m:t>
                    </m:r>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𝜆</m:t>
                        </m:r>
                      </m:e>
                      <m:sub>
                        <m:r>
                          <a:rPr lang="en-US" altLang="ja-JP" sz="1600" i="1">
                            <a:latin typeface="Cambria Math" panose="02040503050406030204" pitchFamily="18" charset="0"/>
                          </a:rPr>
                          <m:t>1</m:t>
                        </m:r>
                      </m:sub>
                    </m:sSub>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𝐿</m:t>
                        </m:r>
                      </m:e>
                      <m:sub>
                        <m:r>
                          <a:rPr lang="en-US" altLang="ja-JP" sz="1600" i="1">
                            <a:latin typeface="Cambria Math" panose="02040503050406030204" pitchFamily="18" charset="0"/>
                          </a:rPr>
                          <m:t>𝑝𝑟𝑒𝑑</m:t>
                        </m:r>
                      </m:sub>
                    </m:sSub>
                    <m:r>
                      <a:rPr lang="en-US" altLang="ja-JP" sz="1600" i="1">
                        <a:latin typeface="Cambria Math" panose="02040503050406030204" pitchFamily="18" charset="0"/>
                      </a:rPr>
                      <m:t>+</m:t>
                    </m:r>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𝜆</m:t>
                        </m:r>
                      </m:e>
                      <m:sub>
                        <m:r>
                          <a:rPr lang="en-US" altLang="ja-JP" sz="1600" i="1">
                            <a:latin typeface="Cambria Math" panose="02040503050406030204" pitchFamily="18" charset="0"/>
                          </a:rPr>
                          <m:t>2</m:t>
                        </m:r>
                      </m:sub>
                    </m:sSub>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𝐿</m:t>
                        </m:r>
                      </m:e>
                      <m:sub>
                        <m:r>
                          <a:rPr lang="en-US" altLang="ja-JP" sz="1600" i="1">
                            <a:latin typeface="Cambria Math" panose="02040503050406030204" pitchFamily="18" charset="0"/>
                          </a:rPr>
                          <m:t>𝑟𝑒𝑝𝑟</m:t>
                        </m:r>
                      </m:sub>
                    </m:sSub>
                    <m:r>
                      <a:rPr lang="en-US" altLang="ja-JP" sz="1600" i="1">
                        <a:latin typeface="Cambria Math" panose="02040503050406030204" pitchFamily="18" charset="0"/>
                      </a:rPr>
                      <m:t>+</m:t>
                    </m:r>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𝜆</m:t>
                        </m:r>
                      </m:e>
                      <m:sub>
                        <m:r>
                          <a:rPr lang="en-US" altLang="ja-JP" sz="1600" i="1">
                            <a:latin typeface="Cambria Math" panose="02040503050406030204" pitchFamily="18" charset="0"/>
                          </a:rPr>
                          <m:t>3</m:t>
                        </m:r>
                      </m:sub>
                    </m:sSub>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𝐿</m:t>
                        </m:r>
                      </m:e>
                      <m:sub>
                        <m:r>
                          <a:rPr lang="en-US" altLang="ja-JP" sz="1600" i="1">
                            <a:latin typeface="Cambria Math" panose="02040503050406030204" pitchFamily="18" charset="0"/>
                          </a:rPr>
                          <m:t>𝑔𝑟𝑎𝑑</m:t>
                        </m:r>
                      </m:sub>
                    </m:sSub>
                    <m:r>
                      <a:rPr lang="en-US" altLang="ja-JP" sz="1600" i="1">
                        <a:latin typeface="Cambria Math" panose="02040503050406030204" pitchFamily="18" charset="0"/>
                      </a:rPr>
                      <m:t>+</m:t>
                    </m:r>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𝜆</m:t>
                        </m:r>
                      </m:e>
                      <m:sub>
                        <m:r>
                          <a:rPr lang="en-US" altLang="ja-JP" sz="1600" i="1">
                            <a:latin typeface="Cambria Math" panose="02040503050406030204" pitchFamily="18" charset="0"/>
                          </a:rPr>
                          <m:t>4</m:t>
                        </m:r>
                      </m:sub>
                    </m:sSub>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𝐿</m:t>
                        </m:r>
                      </m:e>
                      <m:sub>
                        <m:r>
                          <a:rPr lang="en-US" altLang="ja-JP" sz="1600" i="1">
                            <a:latin typeface="Cambria Math" panose="02040503050406030204" pitchFamily="18" charset="0"/>
                          </a:rPr>
                          <m:t>𝑝𝑜𝑠𝑡</m:t>
                        </m:r>
                      </m:sub>
                    </m:sSub>
                  </m:oMath>
                </a14:m>
                <a:r>
                  <a:rPr lang="ja-JP" altLang="en-US" sz="1600" dirty="0"/>
                  <a:t>はそのための具体的手法</a:t>
                </a:r>
              </a:p>
            </p:txBody>
          </p:sp>
        </mc:Choice>
        <mc:Fallback xmlns="">
          <p:sp>
            <p:nvSpPr>
              <p:cNvPr id="19" name="コンテンツ プレースホルダー 1">
                <a:extLst>
                  <a:ext uri="{FF2B5EF4-FFF2-40B4-BE49-F238E27FC236}">
                    <a16:creationId xmlns:a16="http://schemas.microsoft.com/office/drawing/2014/main" id="{ACEF0645-369D-0877-093F-2EF5D762F25A}"/>
                  </a:ext>
                </a:extLst>
              </p:cNvPr>
              <p:cNvSpPr txBox="1">
                <a:spLocks noRot="1" noChangeAspect="1" noMove="1" noResize="1" noEditPoints="1" noAdjustHandles="1" noChangeArrowheads="1" noChangeShapeType="1" noTextEdit="1"/>
              </p:cNvSpPr>
              <p:nvPr/>
            </p:nvSpPr>
            <p:spPr>
              <a:xfrm>
                <a:off x="0" y="3834874"/>
                <a:ext cx="4571987" cy="3023126"/>
              </a:xfrm>
              <a:prstGeom prst="rect">
                <a:avLst/>
              </a:prstGeom>
              <a:blipFill>
                <a:blip r:embed="rId3"/>
                <a:stretch>
                  <a:fillRect l="-2000" t="-202"/>
                </a:stretch>
              </a:blipFill>
            </p:spPr>
            <p:txBody>
              <a:bodyPr/>
              <a:lstStyle/>
              <a:p>
                <a:r>
                  <a:rPr lang="ja-JP" altLang="en-US">
                    <a:noFill/>
                  </a:rPr>
                  <a:t> </a:t>
                </a:r>
              </a:p>
            </p:txBody>
          </p:sp>
        </mc:Fallback>
      </mc:AlternateContent>
      <p:sp>
        <p:nvSpPr>
          <p:cNvPr id="20" name="コンテンツ プレースホルダー 1">
            <a:extLst>
              <a:ext uri="{FF2B5EF4-FFF2-40B4-BE49-F238E27FC236}">
                <a16:creationId xmlns:a16="http://schemas.microsoft.com/office/drawing/2014/main" id="{A7FC25AB-9E54-EFA1-0EF9-869888AE2CFF}"/>
              </a:ext>
            </a:extLst>
          </p:cNvPr>
          <p:cNvSpPr txBox="1">
            <a:spLocks/>
          </p:cNvSpPr>
          <p:nvPr/>
        </p:nvSpPr>
        <p:spPr>
          <a:xfrm>
            <a:off x="-1" y="811749"/>
            <a:ext cx="4571988" cy="2989951"/>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30000"/>
              </a:lnSpc>
              <a:spcBef>
                <a:spcPts val="1000"/>
              </a:spcBef>
              <a:buFont typeface="Impact" panose="020B0806030902050204" pitchFamily="34" charset="0"/>
              <a:buChar char="I"/>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0" indent="0">
              <a:buNone/>
            </a:pPr>
            <a:r>
              <a:rPr lang="en-US" altLang="ja-JP" sz="3800" dirty="0"/>
              <a:t>1. </a:t>
            </a:r>
            <a:r>
              <a:rPr lang="ja-JP" altLang="en-US" sz="3800" dirty="0"/>
              <a:t>背景・目的</a:t>
            </a:r>
            <a:endParaRPr lang="en-US" altLang="ja-JP" sz="3800" dirty="0"/>
          </a:p>
          <a:p>
            <a:r>
              <a:rPr lang="ja-JP" altLang="ja-JP" dirty="0"/>
              <a:t>実世界は絶えず変化する</a:t>
            </a:r>
            <a:endParaRPr lang="en-US" altLang="ja-JP" dirty="0"/>
          </a:p>
          <a:p>
            <a:r>
              <a:rPr lang="ja-JP" altLang="ja-JP" dirty="0"/>
              <a:t>高性能な基盤モデルをエッジで動かすのは、計算・通信リソースの限界から極めて困難。 </a:t>
            </a:r>
            <a:endParaRPr lang="en-US" altLang="ja-JP" dirty="0"/>
          </a:p>
          <a:p>
            <a:pPr marL="0" indent="0" algn="ctr">
              <a:buNone/>
            </a:pPr>
            <a:r>
              <a:rPr lang="ja-JP" altLang="ja-JP" dirty="0"/>
              <a:t>エッジの成果をクラウドの基盤モデルに効率よく統合する。</a:t>
            </a:r>
            <a:endParaRPr lang="en-US" altLang="ja-JP" dirty="0"/>
          </a:p>
          <a:p>
            <a:endParaRPr lang="ja-JP" altLang="en-US" dirty="0"/>
          </a:p>
        </p:txBody>
      </p:sp>
      <p:sp>
        <p:nvSpPr>
          <p:cNvPr id="21" name="コンテンツ プレースホルダー 1">
            <a:extLst>
              <a:ext uri="{FF2B5EF4-FFF2-40B4-BE49-F238E27FC236}">
                <a16:creationId xmlns:a16="http://schemas.microsoft.com/office/drawing/2014/main" id="{AA70E0AF-6A36-F88C-A68F-CE35ECEA150F}"/>
              </a:ext>
            </a:extLst>
          </p:cNvPr>
          <p:cNvSpPr txBox="1">
            <a:spLocks/>
          </p:cNvSpPr>
          <p:nvPr/>
        </p:nvSpPr>
        <p:spPr>
          <a:xfrm>
            <a:off x="4571987" y="3834873"/>
            <a:ext cx="4571987" cy="305626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30000"/>
              </a:lnSpc>
              <a:spcBef>
                <a:spcPts val="1000"/>
              </a:spcBef>
              <a:buFont typeface="Impact" panose="020B0806030902050204" pitchFamily="34" charset="0"/>
              <a:buChar char="I"/>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en-US" altLang="ja-JP" sz="2400" dirty="0"/>
              <a:t>4. </a:t>
            </a:r>
            <a:r>
              <a:rPr lang="ja-JP" altLang="ja-JP" sz="2400" dirty="0"/>
              <a:t>期待される成果</a:t>
            </a:r>
            <a:endParaRPr lang="en-US" altLang="ja-JP" sz="2400" dirty="0"/>
          </a:p>
          <a:p>
            <a:pPr marL="0" indent="0">
              <a:lnSpc>
                <a:spcPct val="100000"/>
              </a:lnSpc>
              <a:buNone/>
            </a:pPr>
            <a:r>
              <a:rPr lang="ja-JP" altLang="en-US" sz="1800" dirty="0"/>
              <a:t>① </a:t>
            </a:r>
            <a:r>
              <a:rPr lang="ja-JP" altLang="en-US" sz="2000" dirty="0"/>
              <a:t>危険の早期・高精度検知</a:t>
            </a:r>
            <a:endParaRPr lang="en-US" altLang="ja-JP" sz="2000" dirty="0"/>
          </a:p>
          <a:p>
            <a:pPr marL="0" indent="0">
              <a:lnSpc>
                <a:spcPct val="100000"/>
              </a:lnSpc>
              <a:buNone/>
            </a:pPr>
            <a:r>
              <a:rPr lang="en-US" altLang="ja-JP" sz="1800" dirty="0"/>
              <a:t>    </a:t>
            </a:r>
            <a:r>
              <a:rPr lang="ja-JP" altLang="ja-JP" sz="1800" dirty="0"/>
              <a:t>（事故の数秒前に危険を察知・説明する） </a:t>
            </a:r>
            <a:endParaRPr lang="en-US" altLang="ja-JP" sz="1800" dirty="0"/>
          </a:p>
          <a:p>
            <a:pPr marL="0" indent="0">
              <a:lnSpc>
                <a:spcPct val="100000"/>
              </a:lnSpc>
              <a:buNone/>
            </a:pPr>
            <a:r>
              <a:rPr lang="ja-JP" altLang="en-US" sz="1800" dirty="0"/>
              <a:t>② </a:t>
            </a:r>
            <a:r>
              <a:rPr lang="ja-JP" altLang="ja-JP" sz="2000" dirty="0"/>
              <a:t>継続学習における忘却抑制 </a:t>
            </a:r>
            <a:endParaRPr lang="en-US" altLang="ja-JP" sz="2000" dirty="0"/>
          </a:p>
          <a:p>
            <a:pPr marL="0" indent="0">
              <a:lnSpc>
                <a:spcPct val="100000"/>
              </a:lnSpc>
              <a:buNone/>
            </a:pPr>
            <a:r>
              <a:rPr lang="en-US" altLang="ja-JP" sz="1800" dirty="0"/>
              <a:t>     </a:t>
            </a:r>
            <a:r>
              <a:rPr lang="ja-JP" altLang="ja-JP" sz="1800" dirty="0"/>
              <a:t>新しい環境を学んでも、過去の知識を忘れない）</a:t>
            </a:r>
            <a:endParaRPr lang="en-US" altLang="ja-JP" sz="1800" dirty="0"/>
          </a:p>
          <a:p>
            <a:pPr marL="0" indent="0">
              <a:lnSpc>
                <a:spcPct val="100000"/>
              </a:lnSpc>
              <a:buNone/>
            </a:pPr>
            <a:r>
              <a:rPr lang="ja-JP" altLang="en-US" sz="1800" dirty="0"/>
              <a:t>③ </a:t>
            </a:r>
            <a:r>
              <a:rPr lang="ja-JP" altLang="ja-JP" sz="2000" dirty="0"/>
              <a:t>優れた計算・通信効率 </a:t>
            </a:r>
            <a:endParaRPr lang="en-US" altLang="ja-JP" sz="2000" dirty="0"/>
          </a:p>
          <a:p>
            <a:pPr marL="0" indent="0">
              <a:lnSpc>
                <a:spcPct val="100000"/>
              </a:lnSpc>
              <a:buNone/>
            </a:pPr>
            <a:r>
              <a:rPr lang="en-US" altLang="ja-JP" sz="1800" dirty="0"/>
              <a:t>    </a:t>
            </a:r>
            <a:r>
              <a:rPr lang="ja-JP" altLang="ja-JP" sz="1800" dirty="0"/>
              <a:t>（エッジ側のリソースを最小限に抑える） </a:t>
            </a:r>
            <a:endParaRPr lang="en-US" altLang="ja-JP" sz="1800" dirty="0"/>
          </a:p>
        </p:txBody>
      </p:sp>
      <p:sp>
        <p:nvSpPr>
          <p:cNvPr id="22" name="コンテンツ プレースホルダー 1">
            <a:extLst>
              <a:ext uri="{FF2B5EF4-FFF2-40B4-BE49-F238E27FC236}">
                <a16:creationId xmlns:a16="http://schemas.microsoft.com/office/drawing/2014/main" id="{FDAE6333-90D8-CDC0-16FF-C2E1A46792CC}"/>
              </a:ext>
            </a:extLst>
          </p:cNvPr>
          <p:cNvSpPr txBox="1">
            <a:spLocks/>
          </p:cNvSpPr>
          <p:nvPr/>
        </p:nvSpPr>
        <p:spPr>
          <a:xfrm>
            <a:off x="4571988" y="811748"/>
            <a:ext cx="4571986" cy="305626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30000"/>
              </a:lnSpc>
              <a:spcBef>
                <a:spcPts val="1000"/>
              </a:spcBef>
              <a:buFont typeface="Impact" panose="020B0806030902050204" pitchFamily="34" charset="0"/>
              <a:buChar char="I"/>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0" indent="0">
              <a:buNone/>
            </a:pPr>
            <a:r>
              <a:rPr lang="en-US" altLang="ja-JP" sz="3100" dirty="0"/>
              <a:t>2. </a:t>
            </a:r>
            <a:r>
              <a:rPr lang="ja-JP" altLang="en-US" sz="3100" dirty="0"/>
              <a:t>本研究の提案</a:t>
            </a:r>
            <a:endParaRPr lang="en-US" altLang="ja-JP" sz="3100" dirty="0"/>
          </a:p>
          <a:p>
            <a:pPr marL="0" indent="0">
              <a:buNone/>
            </a:pPr>
            <a:r>
              <a:rPr lang="en-US" altLang="ja-JP" sz="2400" dirty="0"/>
              <a:t>【</a:t>
            </a:r>
            <a:r>
              <a:rPr lang="ja-JP" altLang="en-US" sz="2400" dirty="0"/>
              <a:t>従来の連合学習</a:t>
            </a:r>
            <a:r>
              <a:rPr lang="en-US" altLang="ja-JP" sz="2400" dirty="0"/>
              <a:t>】</a:t>
            </a:r>
          </a:p>
          <a:p>
            <a:r>
              <a:rPr lang="ja-JP" altLang="en-US" sz="2400" dirty="0"/>
              <a:t>「出力（予測結果）の一致」に終始していた</a:t>
            </a:r>
          </a:p>
          <a:p>
            <a:pPr marL="0" indent="0">
              <a:buNone/>
            </a:pPr>
            <a:r>
              <a:rPr lang="en-US" altLang="ja-JP" sz="2400" dirty="0"/>
              <a:t>【</a:t>
            </a:r>
            <a:r>
              <a:rPr lang="ja-JP" altLang="en-US" sz="2400" dirty="0"/>
              <a:t>提案</a:t>
            </a:r>
            <a:r>
              <a:rPr lang="en-US" altLang="ja-JP" sz="2400" dirty="0"/>
              <a:t>】</a:t>
            </a:r>
          </a:p>
          <a:p>
            <a:r>
              <a:rPr lang="ja-JP" altLang="en-US" sz="2400" dirty="0"/>
              <a:t>「学習の仕方（適応ダイナミクス）の一致」を目指す（</a:t>
            </a:r>
            <a:r>
              <a:rPr lang="en-US" altLang="ja-JP" sz="2400" dirty="0"/>
              <a:t>Adaptation Consistency</a:t>
            </a:r>
            <a:r>
              <a:rPr lang="ja-JP" altLang="en-US" sz="2400" dirty="0"/>
              <a:t>）</a:t>
            </a:r>
          </a:p>
          <a:p>
            <a:pPr marL="0" indent="0">
              <a:buNone/>
            </a:pPr>
            <a:endParaRPr lang="en-US" altLang="ja-JP" sz="2400" dirty="0"/>
          </a:p>
        </p:txBody>
      </p:sp>
      <p:sp>
        <p:nvSpPr>
          <p:cNvPr id="2" name="四角形: 角を丸くする 1">
            <a:extLst>
              <a:ext uri="{FF2B5EF4-FFF2-40B4-BE49-F238E27FC236}">
                <a16:creationId xmlns:a16="http://schemas.microsoft.com/office/drawing/2014/main" id="{5F41BFBE-F1A6-1921-0A23-5ACC0A9A74C8}"/>
              </a:ext>
            </a:extLst>
          </p:cNvPr>
          <p:cNvSpPr/>
          <p:nvPr/>
        </p:nvSpPr>
        <p:spPr>
          <a:xfrm>
            <a:off x="162046" y="2939968"/>
            <a:ext cx="4294207" cy="75912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83108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22914839-7F6C-0CD8-BB88-5A9212908840}"/>
              </a:ext>
            </a:extLst>
          </p:cNvPr>
          <p:cNvSpPr>
            <a:spLocks noGrp="1"/>
          </p:cNvSpPr>
          <p:nvPr>
            <p:ph idx="1"/>
          </p:nvPr>
        </p:nvSpPr>
        <p:spPr/>
        <p:txBody>
          <a:bodyPr>
            <a:normAutofit fontScale="92500" lnSpcReduction="10000"/>
          </a:bodyPr>
          <a:lstStyle/>
          <a:p>
            <a:r>
              <a:rPr lang="ja-JP" altLang="ja-JP" dirty="0"/>
              <a:t>循環の土台を確認。</a:t>
            </a:r>
            <a:r>
              <a:rPr lang="ja-JP" altLang="en-US" dirty="0"/>
              <a:t>クライアント</a:t>
            </a:r>
            <a:r>
              <a:rPr lang="ja-JP" altLang="ja-JP" dirty="0"/>
              <a:t>と</a:t>
            </a:r>
            <a:r>
              <a:rPr lang="ja-JP" altLang="en-US" dirty="0"/>
              <a:t>サーバ</a:t>
            </a:r>
            <a:r>
              <a:rPr lang="ja-JP" altLang="ja-JP" dirty="0"/>
              <a:t>の間で学習結果が送受信でき、集約でき、返せるか。</a:t>
            </a:r>
            <a:endParaRPr lang="en-US" altLang="ja-JP" dirty="0"/>
          </a:p>
          <a:p>
            <a:pPr lvl="1"/>
            <a:r>
              <a:rPr lang="ja-JP" altLang="ja-JP" sz="3000" dirty="0"/>
              <a:t>FL パイプラインの動作確認</a:t>
            </a:r>
            <a:r>
              <a:rPr lang="ja-JP" altLang="ja-JP" sz="3200" dirty="0"/>
              <a:t> </a:t>
            </a:r>
          </a:p>
          <a:p>
            <a:pPr lvl="2"/>
            <a:r>
              <a:rPr kumimoji="1" lang="ja-JP" altLang="en-US" dirty="0"/>
              <a:t>記録（メモリ、性能、時間の細分化）</a:t>
            </a:r>
            <a:endParaRPr kumimoji="1" lang="en-US" altLang="ja-JP" dirty="0"/>
          </a:p>
          <a:p>
            <a:pPr lvl="1"/>
            <a:endParaRPr lang="en-US" altLang="ja-JP" dirty="0"/>
          </a:p>
          <a:p>
            <a:pPr lvl="1"/>
            <a:endParaRPr kumimoji="1" lang="en-US" altLang="ja-JP" dirty="0"/>
          </a:p>
          <a:p>
            <a:r>
              <a:rPr lang="ja-JP" altLang="ja-JP" b="1" dirty="0"/>
              <a:t>提案している中身</a:t>
            </a:r>
            <a:r>
              <a:rPr lang="ja-JP" altLang="ja-JP" dirty="0"/>
              <a:t>が動くかを確認。</a:t>
            </a:r>
            <a:endParaRPr lang="en-US" altLang="ja-JP" dirty="0"/>
          </a:p>
          <a:p>
            <a:pPr lvl="1"/>
            <a:r>
              <a:rPr lang="ja-JP" altLang="ja-JP" dirty="0"/>
              <a:t>サーバ側最適化手法</a:t>
            </a:r>
            <a:r>
              <a:rPr lang="ja-JP" altLang="en-US" dirty="0"/>
              <a:t>を含めた動作確認</a:t>
            </a:r>
            <a:endParaRPr lang="ja-JP" altLang="ja-JP" dirty="0"/>
          </a:p>
          <a:p>
            <a:endParaRPr lang="en-US" altLang="ja-JP" dirty="0"/>
          </a:p>
          <a:p>
            <a:r>
              <a:rPr lang="ja-JP" altLang="ja-JP" dirty="0"/>
              <a:t>整合ループの実装・完走確認</a:t>
            </a:r>
          </a:p>
          <a:p>
            <a:pPr lvl="1"/>
            <a:endParaRPr kumimoji="1" lang="ja-JP" altLang="en-US" dirty="0"/>
          </a:p>
        </p:txBody>
      </p:sp>
      <p:sp>
        <p:nvSpPr>
          <p:cNvPr id="3" name="タイトル 2">
            <a:extLst>
              <a:ext uri="{FF2B5EF4-FFF2-40B4-BE49-F238E27FC236}">
                <a16:creationId xmlns:a16="http://schemas.microsoft.com/office/drawing/2014/main" id="{BEDDC797-7EFA-2900-05A0-5B72BBB87B2B}"/>
              </a:ext>
            </a:extLst>
          </p:cNvPr>
          <p:cNvSpPr>
            <a:spLocks noGrp="1"/>
          </p:cNvSpPr>
          <p:nvPr>
            <p:ph type="title"/>
          </p:nvPr>
        </p:nvSpPr>
        <p:spPr/>
        <p:txBody>
          <a:bodyPr>
            <a:normAutofit/>
          </a:bodyPr>
          <a:lstStyle/>
          <a:p>
            <a:r>
              <a:rPr kumimoji="1" lang="ja-JP" altLang="en-US" dirty="0"/>
              <a:t>前回</a:t>
            </a:r>
            <a:r>
              <a:rPr lang="ja-JP" altLang="en-US" dirty="0"/>
              <a:t>、</a:t>
            </a:r>
            <a:r>
              <a:rPr kumimoji="1" lang="ja-JP" altLang="en-US" dirty="0"/>
              <a:t>何をやってきたか</a:t>
            </a:r>
          </a:p>
        </p:txBody>
      </p:sp>
      <p:sp>
        <p:nvSpPr>
          <p:cNvPr id="4" name="スライド番号プレースホルダー 3">
            <a:extLst>
              <a:ext uri="{FF2B5EF4-FFF2-40B4-BE49-F238E27FC236}">
                <a16:creationId xmlns:a16="http://schemas.microsoft.com/office/drawing/2014/main" id="{E775D4D3-731D-8CC4-FBF7-6CE811EA8CAD}"/>
              </a:ext>
            </a:extLst>
          </p:cNvPr>
          <p:cNvSpPr>
            <a:spLocks noGrp="1"/>
          </p:cNvSpPr>
          <p:nvPr>
            <p:ph type="sldNum" sz="quarter" idx="4"/>
          </p:nvPr>
        </p:nvSpPr>
        <p:spPr/>
        <p:txBody>
          <a:bodyPr/>
          <a:lstStyle/>
          <a:p>
            <a:fld id="{C088C981-6885-4100-82A1-DE7074EC4480}" type="slidenum">
              <a:rPr lang="ja-JP" altLang="en-US" smtClean="0"/>
              <a:t>2</a:t>
            </a:fld>
            <a:endParaRPr lang="ja-JP" altLang="en-US"/>
          </a:p>
        </p:txBody>
      </p:sp>
      <p:sp>
        <p:nvSpPr>
          <p:cNvPr id="5" name="矢印: 下 4">
            <a:extLst>
              <a:ext uri="{FF2B5EF4-FFF2-40B4-BE49-F238E27FC236}">
                <a16:creationId xmlns:a16="http://schemas.microsoft.com/office/drawing/2014/main" id="{890299AE-F79B-9461-63C0-1BFFBA339D26}"/>
              </a:ext>
            </a:extLst>
          </p:cNvPr>
          <p:cNvSpPr/>
          <p:nvPr/>
        </p:nvSpPr>
        <p:spPr>
          <a:xfrm>
            <a:off x="4236334" y="2801073"/>
            <a:ext cx="752355" cy="7755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48112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8E49A-69DE-5B70-9908-31F41B74EB44}"/>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3AF44816-30B1-8EC6-CF27-4E904B6E64D4}"/>
              </a:ext>
            </a:extLst>
          </p:cNvPr>
          <p:cNvSpPr/>
          <p:nvPr/>
        </p:nvSpPr>
        <p:spPr>
          <a:xfrm>
            <a:off x="6251474" y="4673362"/>
            <a:ext cx="2859877" cy="214585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C8DE84CD-A651-A6A1-CB0B-41051180C20A}"/>
              </a:ext>
            </a:extLst>
          </p:cNvPr>
          <p:cNvSpPr/>
          <p:nvPr/>
        </p:nvSpPr>
        <p:spPr>
          <a:xfrm>
            <a:off x="3115987" y="4673362"/>
            <a:ext cx="2880000" cy="214585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A2ABA03F-37C7-DBBD-4F2F-8E51B1048819}"/>
              </a:ext>
            </a:extLst>
          </p:cNvPr>
          <p:cNvSpPr/>
          <p:nvPr/>
        </p:nvSpPr>
        <p:spPr>
          <a:xfrm>
            <a:off x="32649" y="4673362"/>
            <a:ext cx="2855264" cy="214585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2">
            <a:extLst>
              <a:ext uri="{FF2B5EF4-FFF2-40B4-BE49-F238E27FC236}">
                <a16:creationId xmlns:a16="http://schemas.microsoft.com/office/drawing/2014/main" id="{46761C9B-2AFD-DBC3-6306-68220A71C39E}"/>
              </a:ext>
            </a:extLst>
          </p:cNvPr>
          <p:cNvSpPr>
            <a:spLocks noGrp="1"/>
          </p:cNvSpPr>
          <p:nvPr>
            <p:ph type="title"/>
          </p:nvPr>
        </p:nvSpPr>
        <p:spPr/>
        <p:txBody>
          <a:bodyPr>
            <a:normAutofit/>
          </a:bodyPr>
          <a:lstStyle/>
          <a:p>
            <a:r>
              <a:rPr lang="ja-JP" altLang="en-US"/>
              <a:t>研究概要</a:t>
            </a:r>
            <a:endParaRPr kumimoji="1" lang="ja-JP" altLang="en-US"/>
          </a:p>
        </p:txBody>
      </p:sp>
      <p:sp>
        <p:nvSpPr>
          <p:cNvPr id="4" name="スライド番号プレースホルダー 3">
            <a:extLst>
              <a:ext uri="{FF2B5EF4-FFF2-40B4-BE49-F238E27FC236}">
                <a16:creationId xmlns:a16="http://schemas.microsoft.com/office/drawing/2014/main" id="{DC2EFA62-8622-1690-1A4A-71F00590F33A}"/>
              </a:ext>
            </a:extLst>
          </p:cNvPr>
          <p:cNvSpPr>
            <a:spLocks noGrp="1"/>
          </p:cNvSpPr>
          <p:nvPr>
            <p:ph type="sldNum" sz="quarter" idx="4"/>
          </p:nvPr>
        </p:nvSpPr>
        <p:spPr>
          <a:xfrm>
            <a:off x="5669953" y="94342"/>
            <a:ext cx="3118757" cy="354013"/>
          </a:xfrm>
        </p:spPr>
        <p:txBody>
          <a:bodyPr/>
          <a:lstStyle/>
          <a:p>
            <a:fld id="{C088C981-6885-4100-82A1-DE7074EC4480}" type="slidenum">
              <a:rPr lang="ja-JP" altLang="en-US" smtClean="0"/>
              <a:t>3</a:t>
            </a:fld>
            <a:endParaRPr lang="ja-JP" altLang="en-US"/>
          </a:p>
        </p:txBody>
      </p:sp>
      <p:cxnSp>
        <p:nvCxnSpPr>
          <p:cNvPr id="16" name="直線矢印コネクタ 15">
            <a:extLst>
              <a:ext uri="{FF2B5EF4-FFF2-40B4-BE49-F238E27FC236}">
                <a16:creationId xmlns:a16="http://schemas.microsoft.com/office/drawing/2014/main" id="{9CB66BB0-1058-9317-E78F-AD16BD56E517}"/>
              </a:ext>
            </a:extLst>
          </p:cNvPr>
          <p:cNvCxnSpPr>
            <a:cxnSpLocks/>
          </p:cNvCxnSpPr>
          <p:nvPr/>
        </p:nvCxnSpPr>
        <p:spPr>
          <a:xfrm flipV="1">
            <a:off x="1960067" y="3001169"/>
            <a:ext cx="629361" cy="7515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0" name="図 89">
            <a:extLst>
              <a:ext uri="{FF2B5EF4-FFF2-40B4-BE49-F238E27FC236}">
                <a16:creationId xmlns:a16="http://schemas.microsoft.com/office/drawing/2014/main" id="{C756F469-26D8-DA31-FBCA-59D9A77CFB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48" y="5290290"/>
            <a:ext cx="962543" cy="547830"/>
          </a:xfrm>
          <a:prstGeom prst="rect">
            <a:avLst/>
          </a:prstGeom>
        </p:spPr>
      </p:pic>
      <p:cxnSp>
        <p:nvCxnSpPr>
          <p:cNvPr id="68" name="直線矢印コネクタ 67">
            <a:extLst>
              <a:ext uri="{FF2B5EF4-FFF2-40B4-BE49-F238E27FC236}">
                <a16:creationId xmlns:a16="http://schemas.microsoft.com/office/drawing/2014/main" id="{F7D8942C-1172-CB71-6E17-C0F595D8BA68}"/>
              </a:ext>
            </a:extLst>
          </p:cNvPr>
          <p:cNvCxnSpPr>
            <a:cxnSpLocks/>
          </p:cNvCxnSpPr>
          <p:nvPr/>
        </p:nvCxnSpPr>
        <p:spPr>
          <a:xfrm flipV="1">
            <a:off x="4630513" y="2929079"/>
            <a:ext cx="0" cy="8494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図 23">
            <a:extLst>
              <a:ext uri="{FF2B5EF4-FFF2-40B4-BE49-F238E27FC236}">
                <a16:creationId xmlns:a16="http://schemas.microsoft.com/office/drawing/2014/main" id="{3E0BF86A-D9C0-C894-2B31-3E4035CFFE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6846" y="5371064"/>
            <a:ext cx="754311" cy="568402"/>
          </a:xfrm>
          <a:prstGeom prst="rect">
            <a:avLst/>
          </a:prstGeom>
          <a:ln>
            <a:solidFill>
              <a:schemeClr val="tx1"/>
            </a:solidFill>
          </a:ln>
        </p:spPr>
      </p:pic>
      <p:pic>
        <p:nvPicPr>
          <p:cNvPr id="92" name="図 91">
            <a:extLst>
              <a:ext uri="{FF2B5EF4-FFF2-40B4-BE49-F238E27FC236}">
                <a16:creationId xmlns:a16="http://schemas.microsoft.com/office/drawing/2014/main" id="{ABBD387D-F166-1293-E935-8C17AC76B7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4362" y="5280300"/>
            <a:ext cx="975035" cy="547829"/>
          </a:xfrm>
          <a:prstGeom prst="rect">
            <a:avLst/>
          </a:prstGeom>
        </p:spPr>
      </p:pic>
      <p:pic>
        <p:nvPicPr>
          <p:cNvPr id="36" name="図 35">
            <a:extLst>
              <a:ext uri="{FF2B5EF4-FFF2-40B4-BE49-F238E27FC236}">
                <a16:creationId xmlns:a16="http://schemas.microsoft.com/office/drawing/2014/main" id="{A332FEA4-3D29-556E-131D-ED0FC2B9ED4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2650" y="5364555"/>
            <a:ext cx="140465" cy="588382"/>
          </a:xfrm>
          <a:prstGeom prst="rect">
            <a:avLst/>
          </a:prstGeom>
        </p:spPr>
      </p:pic>
      <p:pic>
        <p:nvPicPr>
          <p:cNvPr id="37" name="図 36">
            <a:extLst>
              <a:ext uri="{FF2B5EF4-FFF2-40B4-BE49-F238E27FC236}">
                <a16:creationId xmlns:a16="http://schemas.microsoft.com/office/drawing/2014/main" id="{D4A1C817-B964-65E8-7C5F-75049D803FB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3323" y="5361074"/>
            <a:ext cx="140465" cy="588382"/>
          </a:xfrm>
          <a:prstGeom prst="rect">
            <a:avLst/>
          </a:prstGeom>
        </p:spPr>
      </p:pic>
      <p:pic>
        <p:nvPicPr>
          <p:cNvPr id="40" name="図 39">
            <a:extLst>
              <a:ext uri="{FF2B5EF4-FFF2-40B4-BE49-F238E27FC236}">
                <a16:creationId xmlns:a16="http://schemas.microsoft.com/office/drawing/2014/main" id="{11D33746-AF6E-8BED-6B8A-798F2785863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98033" y="5367899"/>
            <a:ext cx="809782" cy="581557"/>
          </a:xfrm>
          <a:prstGeom prst="rect">
            <a:avLst/>
          </a:prstGeom>
          <a:ln>
            <a:solidFill>
              <a:schemeClr val="tx1"/>
            </a:solidFill>
          </a:ln>
        </p:spPr>
      </p:pic>
      <p:pic>
        <p:nvPicPr>
          <p:cNvPr id="47" name="図 46">
            <a:extLst>
              <a:ext uri="{FF2B5EF4-FFF2-40B4-BE49-F238E27FC236}">
                <a16:creationId xmlns:a16="http://schemas.microsoft.com/office/drawing/2014/main" id="{14749EF0-EEBC-0A0A-FA28-ECC973EC4E6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89546" y="1293311"/>
            <a:ext cx="877191" cy="879194"/>
          </a:xfrm>
          <a:prstGeom prst="rect">
            <a:avLst/>
          </a:prstGeom>
        </p:spPr>
      </p:pic>
      <p:cxnSp>
        <p:nvCxnSpPr>
          <p:cNvPr id="50" name="直線矢印コネクタ 49">
            <a:extLst>
              <a:ext uri="{FF2B5EF4-FFF2-40B4-BE49-F238E27FC236}">
                <a16:creationId xmlns:a16="http://schemas.microsoft.com/office/drawing/2014/main" id="{C0391316-8F9E-93C7-AA44-A9C3E6B5A482}"/>
              </a:ext>
            </a:extLst>
          </p:cNvPr>
          <p:cNvCxnSpPr>
            <a:cxnSpLocks/>
          </p:cNvCxnSpPr>
          <p:nvPr/>
        </p:nvCxnSpPr>
        <p:spPr>
          <a:xfrm>
            <a:off x="227113" y="6415359"/>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タイトル 2">
            <a:extLst>
              <a:ext uri="{FF2B5EF4-FFF2-40B4-BE49-F238E27FC236}">
                <a16:creationId xmlns:a16="http://schemas.microsoft.com/office/drawing/2014/main" id="{C1D0C9BA-A741-12EA-BD7A-31228E074C05}"/>
              </a:ext>
            </a:extLst>
          </p:cNvPr>
          <p:cNvSpPr txBox="1">
            <a:spLocks/>
          </p:cNvSpPr>
          <p:nvPr/>
        </p:nvSpPr>
        <p:spPr>
          <a:xfrm>
            <a:off x="835185" y="6415359"/>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dirty="0"/>
              <a:t>継続学習</a:t>
            </a:r>
          </a:p>
        </p:txBody>
      </p:sp>
      <p:cxnSp>
        <p:nvCxnSpPr>
          <p:cNvPr id="53" name="直線矢印コネクタ 52">
            <a:extLst>
              <a:ext uri="{FF2B5EF4-FFF2-40B4-BE49-F238E27FC236}">
                <a16:creationId xmlns:a16="http://schemas.microsoft.com/office/drawing/2014/main" id="{32315297-0136-4C3F-37D7-BFC888CDE8D8}"/>
              </a:ext>
            </a:extLst>
          </p:cNvPr>
          <p:cNvCxnSpPr>
            <a:cxnSpLocks/>
          </p:cNvCxnSpPr>
          <p:nvPr/>
        </p:nvCxnSpPr>
        <p:spPr>
          <a:xfrm>
            <a:off x="1262014" y="5657469"/>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5" name="図 104">
            <a:extLst>
              <a:ext uri="{FF2B5EF4-FFF2-40B4-BE49-F238E27FC236}">
                <a16:creationId xmlns:a16="http://schemas.microsoft.com/office/drawing/2014/main" id="{E1F52C3C-4883-D177-0B9A-585A18189FE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255699" y="5290290"/>
            <a:ext cx="948847" cy="505261"/>
          </a:xfrm>
          <a:prstGeom prst="rect">
            <a:avLst/>
          </a:prstGeom>
        </p:spPr>
      </p:pic>
      <p:pic>
        <p:nvPicPr>
          <p:cNvPr id="107" name="図 106">
            <a:extLst>
              <a:ext uri="{FF2B5EF4-FFF2-40B4-BE49-F238E27FC236}">
                <a16:creationId xmlns:a16="http://schemas.microsoft.com/office/drawing/2014/main" id="{8E183B3C-349D-7CC7-CC4A-6B4C266B0CA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870672" y="5276606"/>
            <a:ext cx="1003033" cy="532628"/>
          </a:xfrm>
          <a:prstGeom prst="rect">
            <a:avLst/>
          </a:prstGeom>
        </p:spPr>
      </p:pic>
      <p:pic>
        <p:nvPicPr>
          <p:cNvPr id="60" name="図 59">
            <a:extLst>
              <a:ext uri="{FF2B5EF4-FFF2-40B4-BE49-F238E27FC236}">
                <a16:creationId xmlns:a16="http://schemas.microsoft.com/office/drawing/2014/main" id="{01E1FA9E-B497-82F5-A8C7-0F49BFE61D9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07815" y="5361074"/>
            <a:ext cx="140465" cy="588382"/>
          </a:xfrm>
          <a:prstGeom prst="rect">
            <a:avLst/>
          </a:prstGeom>
        </p:spPr>
      </p:pic>
      <p:pic>
        <p:nvPicPr>
          <p:cNvPr id="61" name="図 60">
            <a:extLst>
              <a:ext uri="{FF2B5EF4-FFF2-40B4-BE49-F238E27FC236}">
                <a16:creationId xmlns:a16="http://schemas.microsoft.com/office/drawing/2014/main" id="{C357E394-2870-2811-0A8E-85C6461AA9A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2403" y="5364486"/>
            <a:ext cx="140465" cy="588382"/>
          </a:xfrm>
          <a:prstGeom prst="rect">
            <a:avLst/>
          </a:prstGeom>
        </p:spPr>
      </p:pic>
      <p:pic>
        <p:nvPicPr>
          <p:cNvPr id="64" name="図 63">
            <a:extLst>
              <a:ext uri="{FF2B5EF4-FFF2-40B4-BE49-F238E27FC236}">
                <a16:creationId xmlns:a16="http://schemas.microsoft.com/office/drawing/2014/main" id="{FD96187A-C516-7855-2044-D8642EB0A6C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309672" y="5367509"/>
            <a:ext cx="821475" cy="568800"/>
          </a:xfrm>
          <a:prstGeom prst="rect">
            <a:avLst/>
          </a:prstGeom>
          <a:ln>
            <a:solidFill>
              <a:schemeClr val="tx1"/>
            </a:solidFill>
          </a:ln>
        </p:spPr>
      </p:pic>
      <p:pic>
        <p:nvPicPr>
          <p:cNvPr id="112" name="図 111">
            <a:extLst>
              <a:ext uri="{FF2B5EF4-FFF2-40B4-BE49-F238E27FC236}">
                <a16:creationId xmlns:a16="http://schemas.microsoft.com/office/drawing/2014/main" id="{49CE1602-D269-2271-0134-8BFDB7C8E4EE}"/>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359280" y="5299551"/>
            <a:ext cx="1059626" cy="528578"/>
          </a:xfrm>
          <a:prstGeom prst="rect">
            <a:avLst/>
          </a:prstGeom>
        </p:spPr>
      </p:pic>
      <p:pic>
        <p:nvPicPr>
          <p:cNvPr id="110" name="図 109">
            <a:extLst>
              <a:ext uri="{FF2B5EF4-FFF2-40B4-BE49-F238E27FC236}">
                <a16:creationId xmlns:a16="http://schemas.microsoft.com/office/drawing/2014/main" id="{1D85303F-0FB7-100F-E745-BBD9BEE7DF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024159" y="5316717"/>
            <a:ext cx="967909" cy="517831"/>
          </a:xfrm>
          <a:prstGeom prst="rect">
            <a:avLst/>
          </a:prstGeom>
        </p:spPr>
      </p:pic>
      <p:pic>
        <p:nvPicPr>
          <p:cNvPr id="71" name="図 70">
            <a:extLst>
              <a:ext uri="{FF2B5EF4-FFF2-40B4-BE49-F238E27FC236}">
                <a16:creationId xmlns:a16="http://schemas.microsoft.com/office/drawing/2014/main" id="{661A4C92-4A39-BE80-F022-8CE29C9C7895}"/>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961452" y="5361074"/>
            <a:ext cx="821475" cy="568800"/>
          </a:xfrm>
          <a:prstGeom prst="rect">
            <a:avLst/>
          </a:prstGeom>
          <a:ln>
            <a:solidFill>
              <a:schemeClr val="tx1"/>
            </a:solidFill>
          </a:ln>
        </p:spPr>
      </p:pic>
      <p:pic>
        <p:nvPicPr>
          <p:cNvPr id="73" name="図 72">
            <a:extLst>
              <a:ext uri="{FF2B5EF4-FFF2-40B4-BE49-F238E27FC236}">
                <a16:creationId xmlns:a16="http://schemas.microsoft.com/office/drawing/2014/main" id="{881BB834-A5B1-E8FF-7294-4469F6570FA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447979" y="5363376"/>
            <a:ext cx="895859" cy="568800"/>
          </a:xfrm>
          <a:prstGeom prst="rect">
            <a:avLst/>
          </a:prstGeom>
          <a:ln>
            <a:solidFill>
              <a:schemeClr val="tx1"/>
            </a:solidFill>
          </a:ln>
        </p:spPr>
      </p:pic>
      <p:pic>
        <p:nvPicPr>
          <p:cNvPr id="79" name="図 78">
            <a:extLst>
              <a:ext uri="{FF2B5EF4-FFF2-40B4-BE49-F238E27FC236}">
                <a16:creationId xmlns:a16="http://schemas.microsoft.com/office/drawing/2014/main" id="{23022EA7-3C22-E4D2-C2B5-DCAFAF2A0567}"/>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102787" y="5380656"/>
            <a:ext cx="814709" cy="568800"/>
          </a:xfrm>
          <a:prstGeom prst="rect">
            <a:avLst/>
          </a:prstGeom>
          <a:ln>
            <a:solidFill>
              <a:schemeClr val="tx1"/>
            </a:solidFill>
          </a:ln>
        </p:spPr>
      </p:pic>
      <p:pic>
        <p:nvPicPr>
          <p:cNvPr id="93" name="図 92">
            <a:extLst>
              <a:ext uri="{FF2B5EF4-FFF2-40B4-BE49-F238E27FC236}">
                <a16:creationId xmlns:a16="http://schemas.microsoft.com/office/drawing/2014/main" id="{37201C8B-02DA-FA44-4A9E-B451CF865A9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38168" y="5357718"/>
            <a:ext cx="140465" cy="588382"/>
          </a:xfrm>
          <a:prstGeom prst="rect">
            <a:avLst/>
          </a:prstGeom>
        </p:spPr>
      </p:pic>
      <p:pic>
        <p:nvPicPr>
          <p:cNvPr id="94" name="図 93">
            <a:extLst>
              <a:ext uri="{FF2B5EF4-FFF2-40B4-BE49-F238E27FC236}">
                <a16:creationId xmlns:a16="http://schemas.microsoft.com/office/drawing/2014/main" id="{E716A2A4-A1FA-0AB8-4CCE-39229E699E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169207" y="5357718"/>
            <a:ext cx="140465" cy="588382"/>
          </a:xfrm>
          <a:prstGeom prst="rect">
            <a:avLst/>
          </a:prstGeom>
        </p:spPr>
      </p:pic>
      <p:pic>
        <p:nvPicPr>
          <p:cNvPr id="95" name="図 94">
            <a:extLst>
              <a:ext uri="{FF2B5EF4-FFF2-40B4-BE49-F238E27FC236}">
                <a16:creationId xmlns:a16="http://schemas.microsoft.com/office/drawing/2014/main" id="{6253B408-E74F-0B66-ACA0-2F947DE03C8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90653" y="5354724"/>
            <a:ext cx="140465" cy="588382"/>
          </a:xfrm>
          <a:prstGeom prst="rect">
            <a:avLst/>
          </a:prstGeom>
        </p:spPr>
      </p:pic>
      <p:pic>
        <p:nvPicPr>
          <p:cNvPr id="96" name="図 95">
            <a:extLst>
              <a:ext uri="{FF2B5EF4-FFF2-40B4-BE49-F238E27FC236}">
                <a16:creationId xmlns:a16="http://schemas.microsoft.com/office/drawing/2014/main" id="{4286F954-3452-AF19-6F49-95147BFC7AE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4813605" y="5354552"/>
            <a:ext cx="140465" cy="588382"/>
          </a:xfrm>
          <a:prstGeom prst="rect">
            <a:avLst/>
          </a:prstGeom>
        </p:spPr>
      </p:pic>
      <p:pic>
        <p:nvPicPr>
          <p:cNvPr id="97" name="図 96">
            <a:extLst>
              <a:ext uri="{FF2B5EF4-FFF2-40B4-BE49-F238E27FC236}">
                <a16:creationId xmlns:a16="http://schemas.microsoft.com/office/drawing/2014/main" id="{E8D1FA26-87E5-3AC2-BF6F-A7E3CDA65E7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48674" y="5354553"/>
            <a:ext cx="140465" cy="588382"/>
          </a:xfrm>
          <a:prstGeom prst="rect">
            <a:avLst/>
          </a:prstGeom>
        </p:spPr>
      </p:pic>
      <p:pic>
        <p:nvPicPr>
          <p:cNvPr id="98" name="図 97">
            <a:extLst>
              <a:ext uri="{FF2B5EF4-FFF2-40B4-BE49-F238E27FC236}">
                <a16:creationId xmlns:a16="http://schemas.microsoft.com/office/drawing/2014/main" id="{B812FAF2-B4F0-FB1D-1583-70B0DA0364C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6301242" y="5348203"/>
            <a:ext cx="140465" cy="588382"/>
          </a:xfrm>
          <a:prstGeom prst="rect">
            <a:avLst/>
          </a:prstGeom>
        </p:spPr>
      </p:pic>
      <p:pic>
        <p:nvPicPr>
          <p:cNvPr id="100" name="図 99">
            <a:extLst>
              <a:ext uri="{FF2B5EF4-FFF2-40B4-BE49-F238E27FC236}">
                <a16:creationId xmlns:a16="http://schemas.microsoft.com/office/drawing/2014/main" id="{C4ED1095-014E-868B-A3FD-71AF9D3B48E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924299" y="5367983"/>
            <a:ext cx="140465" cy="588382"/>
          </a:xfrm>
          <a:prstGeom prst="rect">
            <a:avLst/>
          </a:prstGeom>
        </p:spPr>
      </p:pic>
      <p:pic>
        <p:nvPicPr>
          <p:cNvPr id="101" name="図 100">
            <a:extLst>
              <a:ext uri="{FF2B5EF4-FFF2-40B4-BE49-F238E27FC236}">
                <a16:creationId xmlns:a16="http://schemas.microsoft.com/office/drawing/2014/main" id="{D4DD1552-E152-0ABA-BE90-B33BF2EEBBA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955519" y="5367956"/>
            <a:ext cx="140465" cy="588382"/>
          </a:xfrm>
          <a:prstGeom prst="rect">
            <a:avLst/>
          </a:prstGeom>
        </p:spPr>
      </p:pic>
      <p:cxnSp>
        <p:nvCxnSpPr>
          <p:cNvPr id="102" name="直線矢印コネクタ 101">
            <a:extLst>
              <a:ext uri="{FF2B5EF4-FFF2-40B4-BE49-F238E27FC236}">
                <a16:creationId xmlns:a16="http://schemas.microsoft.com/office/drawing/2014/main" id="{7389E06C-90AB-87E4-38A4-7CB8F9376873}"/>
              </a:ext>
            </a:extLst>
          </p:cNvPr>
          <p:cNvCxnSpPr>
            <a:cxnSpLocks/>
          </p:cNvCxnSpPr>
          <p:nvPr/>
        </p:nvCxnSpPr>
        <p:spPr>
          <a:xfrm>
            <a:off x="4366776" y="5673695"/>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F4840202-8E3A-A3E2-5182-4ADFC4D92EFC}"/>
              </a:ext>
            </a:extLst>
          </p:cNvPr>
          <p:cNvCxnSpPr>
            <a:cxnSpLocks/>
          </p:cNvCxnSpPr>
          <p:nvPr/>
        </p:nvCxnSpPr>
        <p:spPr>
          <a:xfrm>
            <a:off x="7527239" y="5673695"/>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3582D405-1839-786B-9AB1-A350D23B44DA}"/>
              </a:ext>
            </a:extLst>
          </p:cNvPr>
          <p:cNvCxnSpPr/>
          <p:nvPr/>
        </p:nvCxnSpPr>
        <p:spPr>
          <a:xfrm>
            <a:off x="553219" y="6280861"/>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タイトル 2">
            <a:extLst>
              <a:ext uri="{FF2B5EF4-FFF2-40B4-BE49-F238E27FC236}">
                <a16:creationId xmlns:a16="http://schemas.microsoft.com/office/drawing/2014/main" id="{C2398628-CF56-48F0-27C7-3293F168FE40}"/>
              </a:ext>
            </a:extLst>
          </p:cNvPr>
          <p:cNvSpPr txBox="1">
            <a:spLocks/>
          </p:cNvSpPr>
          <p:nvPr/>
        </p:nvSpPr>
        <p:spPr>
          <a:xfrm>
            <a:off x="7684" y="5951606"/>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17" name="直線コネクタ 116">
            <a:extLst>
              <a:ext uri="{FF2B5EF4-FFF2-40B4-BE49-F238E27FC236}">
                <a16:creationId xmlns:a16="http://schemas.microsoft.com/office/drawing/2014/main" id="{CE834004-1477-69E8-CD77-9FD70AABBEC0}"/>
              </a:ext>
            </a:extLst>
          </p:cNvPr>
          <p:cNvCxnSpPr/>
          <p:nvPr/>
        </p:nvCxnSpPr>
        <p:spPr>
          <a:xfrm>
            <a:off x="2302924" y="6280861"/>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タイトル 2">
            <a:extLst>
              <a:ext uri="{FF2B5EF4-FFF2-40B4-BE49-F238E27FC236}">
                <a16:creationId xmlns:a16="http://schemas.microsoft.com/office/drawing/2014/main" id="{8D6C9A60-3462-D883-2B36-1FA884EBFA3C}"/>
              </a:ext>
            </a:extLst>
          </p:cNvPr>
          <p:cNvSpPr txBox="1">
            <a:spLocks/>
          </p:cNvSpPr>
          <p:nvPr/>
        </p:nvSpPr>
        <p:spPr>
          <a:xfrm>
            <a:off x="1714932" y="5927221"/>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19" name="直線矢印コネクタ 118">
            <a:extLst>
              <a:ext uri="{FF2B5EF4-FFF2-40B4-BE49-F238E27FC236}">
                <a16:creationId xmlns:a16="http://schemas.microsoft.com/office/drawing/2014/main" id="{23E8566A-4672-FAC5-4922-338948CDA670}"/>
              </a:ext>
            </a:extLst>
          </p:cNvPr>
          <p:cNvCxnSpPr>
            <a:cxnSpLocks/>
          </p:cNvCxnSpPr>
          <p:nvPr/>
        </p:nvCxnSpPr>
        <p:spPr>
          <a:xfrm>
            <a:off x="3417627" y="6415359"/>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タイトル 2">
            <a:extLst>
              <a:ext uri="{FF2B5EF4-FFF2-40B4-BE49-F238E27FC236}">
                <a16:creationId xmlns:a16="http://schemas.microsoft.com/office/drawing/2014/main" id="{69EFB781-B172-7FB2-16B3-1909ADED649B}"/>
              </a:ext>
            </a:extLst>
          </p:cNvPr>
          <p:cNvSpPr txBox="1">
            <a:spLocks/>
          </p:cNvSpPr>
          <p:nvPr/>
        </p:nvSpPr>
        <p:spPr>
          <a:xfrm>
            <a:off x="4025699" y="6415359"/>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21" name="直線コネクタ 120">
            <a:extLst>
              <a:ext uri="{FF2B5EF4-FFF2-40B4-BE49-F238E27FC236}">
                <a16:creationId xmlns:a16="http://schemas.microsoft.com/office/drawing/2014/main" id="{31044854-3E80-02BD-402E-9236DEF2C9BC}"/>
              </a:ext>
            </a:extLst>
          </p:cNvPr>
          <p:cNvCxnSpPr/>
          <p:nvPr/>
        </p:nvCxnSpPr>
        <p:spPr>
          <a:xfrm>
            <a:off x="3743733" y="6280861"/>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タイトル 2">
            <a:extLst>
              <a:ext uri="{FF2B5EF4-FFF2-40B4-BE49-F238E27FC236}">
                <a16:creationId xmlns:a16="http://schemas.microsoft.com/office/drawing/2014/main" id="{0347B75E-A208-F67A-68DD-1B0CE263B1C4}"/>
              </a:ext>
            </a:extLst>
          </p:cNvPr>
          <p:cNvSpPr txBox="1">
            <a:spLocks/>
          </p:cNvSpPr>
          <p:nvPr/>
        </p:nvSpPr>
        <p:spPr>
          <a:xfrm>
            <a:off x="3198198" y="5951606"/>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cxnSp>
        <p:nvCxnSpPr>
          <p:cNvPr id="123" name="直線コネクタ 122">
            <a:extLst>
              <a:ext uri="{FF2B5EF4-FFF2-40B4-BE49-F238E27FC236}">
                <a16:creationId xmlns:a16="http://schemas.microsoft.com/office/drawing/2014/main" id="{3C18B805-AD76-4C0E-46C1-7143BD1CFC19}"/>
              </a:ext>
            </a:extLst>
          </p:cNvPr>
          <p:cNvCxnSpPr/>
          <p:nvPr/>
        </p:nvCxnSpPr>
        <p:spPr>
          <a:xfrm>
            <a:off x="5493438" y="6280861"/>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タイトル 2">
            <a:extLst>
              <a:ext uri="{FF2B5EF4-FFF2-40B4-BE49-F238E27FC236}">
                <a16:creationId xmlns:a16="http://schemas.microsoft.com/office/drawing/2014/main" id="{AF58CEDB-B667-AD18-3D53-8F75A98C8C76}"/>
              </a:ext>
            </a:extLst>
          </p:cNvPr>
          <p:cNvSpPr txBox="1">
            <a:spLocks/>
          </p:cNvSpPr>
          <p:nvPr/>
        </p:nvSpPr>
        <p:spPr>
          <a:xfrm>
            <a:off x="4905446" y="5927221"/>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25" name="直線矢印コネクタ 124">
            <a:extLst>
              <a:ext uri="{FF2B5EF4-FFF2-40B4-BE49-F238E27FC236}">
                <a16:creationId xmlns:a16="http://schemas.microsoft.com/office/drawing/2014/main" id="{2B260D09-E0DB-80CD-4053-4E64CDF77FAD}"/>
              </a:ext>
            </a:extLst>
          </p:cNvPr>
          <p:cNvCxnSpPr>
            <a:cxnSpLocks/>
          </p:cNvCxnSpPr>
          <p:nvPr/>
        </p:nvCxnSpPr>
        <p:spPr>
          <a:xfrm>
            <a:off x="6525701" y="6423831"/>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タイトル 2">
            <a:extLst>
              <a:ext uri="{FF2B5EF4-FFF2-40B4-BE49-F238E27FC236}">
                <a16:creationId xmlns:a16="http://schemas.microsoft.com/office/drawing/2014/main" id="{75C75569-F8B6-9474-D365-4C3FB22F7F3F}"/>
              </a:ext>
            </a:extLst>
          </p:cNvPr>
          <p:cNvSpPr txBox="1">
            <a:spLocks/>
          </p:cNvSpPr>
          <p:nvPr/>
        </p:nvSpPr>
        <p:spPr>
          <a:xfrm>
            <a:off x="7133773" y="6423831"/>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27" name="直線コネクタ 126">
            <a:extLst>
              <a:ext uri="{FF2B5EF4-FFF2-40B4-BE49-F238E27FC236}">
                <a16:creationId xmlns:a16="http://schemas.microsoft.com/office/drawing/2014/main" id="{AE939DDC-BADD-4FA8-5293-F84F64314B51}"/>
              </a:ext>
            </a:extLst>
          </p:cNvPr>
          <p:cNvCxnSpPr/>
          <p:nvPr/>
        </p:nvCxnSpPr>
        <p:spPr>
          <a:xfrm>
            <a:off x="6851807" y="6289333"/>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タイトル 2">
            <a:extLst>
              <a:ext uri="{FF2B5EF4-FFF2-40B4-BE49-F238E27FC236}">
                <a16:creationId xmlns:a16="http://schemas.microsoft.com/office/drawing/2014/main" id="{0023175A-D7DB-0065-E499-3F03BF4D4D42}"/>
              </a:ext>
            </a:extLst>
          </p:cNvPr>
          <p:cNvSpPr txBox="1">
            <a:spLocks/>
          </p:cNvSpPr>
          <p:nvPr/>
        </p:nvSpPr>
        <p:spPr>
          <a:xfrm>
            <a:off x="6306272" y="59600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29" name="直線コネクタ 128">
            <a:extLst>
              <a:ext uri="{FF2B5EF4-FFF2-40B4-BE49-F238E27FC236}">
                <a16:creationId xmlns:a16="http://schemas.microsoft.com/office/drawing/2014/main" id="{84552AA0-433C-FEF4-1D94-2F9409DA9554}"/>
              </a:ext>
            </a:extLst>
          </p:cNvPr>
          <p:cNvCxnSpPr/>
          <p:nvPr/>
        </p:nvCxnSpPr>
        <p:spPr>
          <a:xfrm>
            <a:off x="8601512" y="6289333"/>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タイトル 2">
            <a:extLst>
              <a:ext uri="{FF2B5EF4-FFF2-40B4-BE49-F238E27FC236}">
                <a16:creationId xmlns:a16="http://schemas.microsoft.com/office/drawing/2014/main" id="{73B8C08E-0331-62C6-0EE3-77FE75A89F60}"/>
              </a:ext>
            </a:extLst>
          </p:cNvPr>
          <p:cNvSpPr txBox="1">
            <a:spLocks/>
          </p:cNvSpPr>
          <p:nvPr/>
        </p:nvSpPr>
        <p:spPr>
          <a:xfrm>
            <a:off x="8013520" y="593569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131" name="四角形: 角を丸くする 130">
            <a:extLst>
              <a:ext uri="{FF2B5EF4-FFF2-40B4-BE49-F238E27FC236}">
                <a16:creationId xmlns:a16="http://schemas.microsoft.com/office/drawing/2014/main" id="{97976AB3-1085-4B38-453D-A9349A906780}"/>
              </a:ext>
            </a:extLst>
          </p:cNvPr>
          <p:cNvSpPr/>
          <p:nvPr/>
        </p:nvSpPr>
        <p:spPr>
          <a:xfrm>
            <a:off x="2308132" y="877367"/>
            <a:ext cx="5530943"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四角形: 角を丸くする 145">
            <a:extLst>
              <a:ext uri="{FF2B5EF4-FFF2-40B4-BE49-F238E27FC236}">
                <a16:creationId xmlns:a16="http://schemas.microsoft.com/office/drawing/2014/main" id="{7C889775-3888-6D9A-C9CC-18E139277300}"/>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台形 146">
            <a:extLst>
              <a:ext uri="{FF2B5EF4-FFF2-40B4-BE49-F238E27FC236}">
                <a16:creationId xmlns:a16="http://schemas.microsoft.com/office/drawing/2014/main" id="{B2011F3B-E1C1-DECE-0F24-D44C9CE4F842}"/>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49" name="図 148">
            <a:extLst>
              <a:ext uri="{FF2B5EF4-FFF2-40B4-BE49-F238E27FC236}">
                <a16:creationId xmlns:a16="http://schemas.microsoft.com/office/drawing/2014/main" id="{1F2429D1-788D-3AE0-AEDB-F248672D6156}"/>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150" name="タイトル 2">
            <a:extLst>
              <a:ext uri="{FF2B5EF4-FFF2-40B4-BE49-F238E27FC236}">
                <a16:creationId xmlns:a16="http://schemas.microsoft.com/office/drawing/2014/main" id="{31DF34E5-B032-5669-9A01-C6D012DBCB96}"/>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51" name="台形 150">
            <a:extLst>
              <a:ext uri="{FF2B5EF4-FFF2-40B4-BE49-F238E27FC236}">
                <a16:creationId xmlns:a16="http://schemas.microsoft.com/office/drawing/2014/main" id="{9AB1249D-D8EF-EA5C-0071-9615669A3D79}"/>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52" name="タイトル 2">
                <a:extLst>
                  <a:ext uri="{FF2B5EF4-FFF2-40B4-BE49-F238E27FC236}">
                    <a16:creationId xmlns:a16="http://schemas.microsoft.com/office/drawing/2014/main" id="{B6E02CC1-8F1C-B627-9CC9-6696619B5FBC}"/>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52" name="タイトル 2">
                <a:extLst>
                  <a:ext uri="{FF2B5EF4-FFF2-40B4-BE49-F238E27FC236}">
                    <a16:creationId xmlns:a16="http://schemas.microsoft.com/office/drawing/2014/main" id="{B6E02CC1-8F1C-B627-9CC9-6696619B5FBC}"/>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8"/>
                <a:stretch>
                  <a:fillRect l="-625"/>
                </a:stretch>
              </a:blipFill>
            </p:spPr>
            <p:txBody>
              <a:bodyPr/>
              <a:lstStyle/>
              <a:p>
                <a:r>
                  <a:rPr lang="en-US">
                    <a:noFill/>
                  </a:rPr>
                  <a:t> </a:t>
                </a:r>
              </a:p>
            </p:txBody>
          </p:sp>
        </mc:Fallback>
      </mc:AlternateContent>
      <p:pic>
        <p:nvPicPr>
          <p:cNvPr id="10" name="グラフィックス 9" descr="車 単色塗りつぶし">
            <a:extLst>
              <a:ext uri="{FF2B5EF4-FFF2-40B4-BE49-F238E27FC236}">
                <a16:creationId xmlns:a16="http://schemas.microsoft.com/office/drawing/2014/main" id="{6704F804-41DF-F480-664B-862F59103B0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952979" y="4116186"/>
            <a:ext cx="914400" cy="914400"/>
          </a:xfrm>
          <a:prstGeom prst="rect">
            <a:avLst/>
          </a:prstGeom>
        </p:spPr>
      </p:pic>
      <p:cxnSp>
        <p:nvCxnSpPr>
          <p:cNvPr id="154" name="直線コネクタ 153">
            <a:extLst>
              <a:ext uri="{FF2B5EF4-FFF2-40B4-BE49-F238E27FC236}">
                <a16:creationId xmlns:a16="http://schemas.microsoft.com/office/drawing/2014/main" id="{04932C1F-46F9-8910-74A4-F9263AF10887}"/>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7" name="タイトル 2">
            <a:extLst>
              <a:ext uri="{FF2B5EF4-FFF2-40B4-BE49-F238E27FC236}">
                <a16:creationId xmlns:a16="http://schemas.microsoft.com/office/drawing/2014/main" id="{0934A46E-9D04-6504-F018-0269FE715634}"/>
              </a:ext>
            </a:extLst>
          </p:cNvPr>
          <p:cNvSpPr txBox="1">
            <a:spLocks/>
          </p:cNvSpPr>
          <p:nvPr/>
        </p:nvSpPr>
        <p:spPr>
          <a:xfrm>
            <a:off x="6306096" y="2161920"/>
            <a:ext cx="144409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600"/>
              <a:t>Qwen-VL-7B</a:t>
            </a:r>
            <a:endParaRPr lang="ja-JP" altLang="en-US" sz="1600"/>
          </a:p>
        </p:txBody>
      </p:sp>
      <p:sp>
        <p:nvSpPr>
          <p:cNvPr id="158" name="四角形: 角を丸くする 157">
            <a:extLst>
              <a:ext uri="{FF2B5EF4-FFF2-40B4-BE49-F238E27FC236}">
                <a16:creationId xmlns:a16="http://schemas.microsoft.com/office/drawing/2014/main" id="{E0877FC9-92B8-655B-7C33-059A4E0F88D9}"/>
              </a:ext>
            </a:extLst>
          </p:cNvPr>
          <p:cNvSpPr/>
          <p:nvPr/>
        </p:nvSpPr>
        <p:spPr>
          <a:xfrm>
            <a:off x="3148857" y="3900296"/>
            <a:ext cx="2769690" cy="1328971"/>
          </a:xfrm>
          <a:prstGeom prst="roundRect">
            <a:avLst/>
          </a:prstGeom>
          <a:solidFill>
            <a:schemeClr val="accent4">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台形 158">
            <a:extLst>
              <a:ext uri="{FF2B5EF4-FFF2-40B4-BE49-F238E27FC236}">
                <a16:creationId xmlns:a16="http://schemas.microsoft.com/office/drawing/2014/main" id="{69DA2DAF-7903-8FAA-ABBC-70BF9E2BC62F}"/>
              </a:ext>
            </a:extLst>
          </p:cNvPr>
          <p:cNvSpPr/>
          <p:nvPr/>
        </p:nvSpPr>
        <p:spPr>
          <a:xfrm rot="10800000">
            <a:off x="4356134" y="4098609"/>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60" name="図 159">
            <a:extLst>
              <a:ext uri="{FF2B5EF4-FFF2-40B4-BE49-F238E27FC236}">
                <a16:creationId xmlns:a16="http://schemas.microsoft.com/office/drawing/2014/main" id="{EFF64F2D-4EFE-9DF4-3C17-3D336CEF6847}"/>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349333" y="4019542"/>
            <a:ext cx="561592" cy="564162"/>
          </a:xfrm>
          <a:prstGeom prst="rect">
            <a:avLst/>
          </a:prstGeom>
        </p:spPr>
      </p:pic>
      <p:sp>
        <p:nvSpPr>
          <p:cNvPr id="161" name="タイトル 2">
            <a:extLst>
              <a:ext uri="{FF2B5EF4-FFF2-40B4-BE49-F238E27FC236}">
                <a16:creationId xmlns:a16="http://schemas.microsoft.com/office/drawing/2014/main" id="{D20C034F-B3DE-8C86-948C-0515DA59C22A}"/>
              </a:ext>
            </a:extLst>
          </p:cNvPr>
          <p:cNvSpPr txBox="1">
            <a:spLocks/>
          </p:cNvSpPr>
          <p:nvPr/>
        </p:nvSpPr>
        <p:spPr>
          <a:xfrm>
            <a:off x="3079615" y="4652670"/>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62" name="台形 161">
            <a:extLst>
              <a:ext uri="{FF2B5EF4-FFF2-40B4-BE49-F238E27FC236}">
                <a16:creationId xmlns:a16="http://schemas.microsoft.com/office/drawing/2014/main" id="{F011071C-7CA7-38BA-F346-DEE1339CF6C1}"/>
              </a:ext>
            </a:extLst>
          </p:cNvPr>
          <p:cNvSpPr/>
          <p:nvPr/>
        </p:nvSpPr>
        <p:spPr>
          <a:xfrm>
            <a:off x="4356134" y="4373448"/>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63" name="タイトル 2">
                <a:extLst>
                  <a:ext uri="{FF2B5EF4-FFF2-40B4-BE49-F238E27FC236}">
                    <a16:creationId xmlns:a16="http://schemas.microsoft.com/office/drawing/2014/main" id="{2CCAE0EA-35DF-234C-88ED-9BB7A6A8EA3D}"/>
                  </a:ext>
                </a:extLst>
              </p:cNvPr>
              <p:cNvSpPr txBox="1">
                <a:spLocks/>
              </p:cNvSpPr>
              <p:nvPr/>
            </p:nvSpPr>
            <p:spPr>
              <a:xfrm>
                <a:off x="4028736" y="4598093"/>
                <a:ext cx="1003033"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63" name="タイトル 2">
                <a:extLst>
                  <a:ext uri="{FF2B5EF4-FFF2-40B4-BE49-F238E27FC236}">
                    <a16:creationId xmlns:a16="http://schemas.microsoft.com/office/drawing/2014/main" id="{2CCAE0EA-35DF-234C-88ED-9BB7A6A8EA3D}"/>
                  </a:ext>
                </a:extLst>
              </p:cNvPr>
              <p:cNvSpPr txBox="1">
                <a:spLocks noRot="1" noChangeAspect="1" noMove="1" noResize="1" noEditPoints="1" noAdjustHandles="1" noChangeArrowheads="1" noChangeShapeType="1" noTextEdit="1"/>
              </p:cNvSpPr>
              <p:nvPr/>
            </p:nvSpPr>
            <p:spPr>
              <a:xfrm>
                <a:off x="4028736" y="4598093"/>
                <a:ext cx="1003033" cy="654671"/>
              </a:xfrm>
              <a:prstGeom prst="rect">
                <a:avLst/>
              </a:prstGeom>
              <a:blipFill>
                <a:blip r:embed="rId21"/>
                <a:stretch>
                  <a:fillRect/>
                </a:stretch>
              </a:blipFill>
            </p:spPr>
            <p:txBody>
              <a:bodyPr/>
              <a:lstStyle/>
              <a:p>
                <a:r>
                  <a:rPr lang="en-US">
                    <a:noFill/>
                  </a:rPr>
                  <a:t> </a:t>
                </a:r>
              </a:p>
            </p:txBody>
          </p:sp>
        </mc:Fallback>
      </mc:AlternateContent>
      <p:pic>
        <p:nvPicPr>
          <p:cNvPr id="164" name="グラフィックス 163" descr="車 単色塗りつぶし">
            <a:extLst>
              <a:ext uri="{FF2B5EF4-FFF2-40B4-BE49-F238E27FC236}">
                <a16:creationId xmlns:a16="http://schemas.microsoft.com/office/drawing/2014/main" id="{FE175608-6A0A-F3C2-9192-56FD430122D9}"/>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024681" y="4109883"/>
            <a:ext cx="914400" cy="914400"/>
          </a:xfrm>
          <a:prstGeom prst="rect">
            <a:avLst/>
          </a:prstGeom>
        </p:spPr>
      </p:pic>
      <p:cxnSp>
        <p:nvCxnSpPr>
          <p:cNvPr id="165" name="直線コネクタ 164">
            <a:extLst>
              <a:ext uri="{FF2B5EF4-FFF2-40B4-BE49-F238E27FC236}">
                <a16:creationId xmlns:a16="http://schemas.microsoft.com/office/drawing/2014/main" id="{558EF8F3-48C8-9A0C-55E9-E1E754D84E9D}"/>
              </a:ext>
            </a:extLst>
          </p:cNvPr>
          <p:cNvCxnSpPr>
            <a:cxnSpLocks/>
          </p:cNvCxnSpPr>
          <p:nvPr/>
        </p:nvCxnSpPr>
        <p:spPr>
          <a:xfrm>
            <a:off x="4976170" y="4024106"/>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6" name="四角形: 角を丸くする 165">
            <a:extLst>
              <a:ext uri="{FF2B5EF4-FFF2-40B4-BE49-F238E27FC236}">
                <a16:creationId xmlns:a16="http://schemas.microsoft.com/office/drawing/2014/main" id="{9A6FE379-CC53-C393-149A-6639AE753B10}"/>
              </a:ext>
            </a:extLst>
          </p:cNvPr>
          <p:cNvSpPr/>
          <p:nvPr/>
        </p:nvSpPr>
        <p:spPr>
          <a:xfrm>
            <a:off x="6297999" y="3903101"/>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台形 166">
            <a:extLst>
              <a:ext uri="{FF2B5EF4-FFF2-40B4-BE49-F238E27FC236}">
                <a16:creationId xmlns:a16="http://schemas.microsoft.com/office/drawing/2014/main" id="{F7E1D73C-F55E-B9FB-9517-13784EB98B5F}"/>
              </a:ext>
            </a:extLst>
          </p:cNvPr>
          <p:cNvSpPr/>
          <p:nvPr/>
        </p:nvSpPr>
        <p:spPr>
          <a:xfrm rot="10800000">
            <a:off x="7505276" y="4101414"/>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68" name="図 167">
            <a:extLst>
              <a:ext uri="{FF2B5EF4-FFF2-40B4-BE49-F238E27FC236}">
                <a16:creationId xmlns:a16="http://schemas.microsoft.com/office/drawing/2014/main" id="{9C87F18F-2C5B-7431-E372-2891BF42CCBE}"/>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6498475" y="4022347"/>
            <a:ext cx="561592" cy="564162"/>
          </a:xfrm>
          <a:prstGeom prst="rect">
            <a:avLst/>
          </a:prstGeom>
        </p:spPr>
      </p:pic>
      <p:sp>
        <p:nvSpPr>
          <p:cNvPr id="169" name="タイトル 2">
            <a:extLst>
              <a:ext uri="{FF2B5EF4-FFF2-40B4-BE49-F238E27FC236}">
                <a16:creationId xmlns:a16="http://schemas.microsoft.com/office/drawing/2014/main" id="{5A1158CE-2293-8439-1CAA-D61C31824991}"/>
              </a:ext>
            </a:extLst>
          </p:cNvPr>
          <p:cNvSpPr txBox="1">
            <a:spLocks/>
          </p:cNvSpPr>
          <p:nvPr/>
        </p:nvSpPr>
        <p:spPr>
          <a:xfrm>
            <a:off x="6228757" y="4655475"/>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70" name="台形 169">
            <a:extLst>
              <a:ext uri="{FF2B5EF4-FFF2-40B4-BE49-F238E27FC236}">
                <a16:creationId xmlns:a16="http://schemas.microsoft.com/office/drawing/2014/main" id="{3DAB1DC9-5A65-533A-363A-0C79ED9E8355}"/>
              </a:ext>
            </a:extLst>
          </p:cNvPr>
          <p:cNvSpPr/>
          <p:nvPr/>
        </p:nvSpPr>
        <p:spPr>
          <a:xfrm>
            <a:off x="7505276" y="4376253"/>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71" name="タイトル 2">
                <a:extLst>
                  <a:ext uri="{FF2B5EF4-FFF2-40B4-BE49-F238E27FC236}">
                    <a16:creationId xmlns:a16="http://schemas.microsoft.com/office/drawing/2014/main" id="{B5DC6174-1701-41DE-6327-783C87829BA2}"/>
                  </a:ext>
                </a:extLst>
              </p:cNvPr>
              <p:cNvSpPr txBox="1">
                <a:spLocks/>
              </p:cNvSpPr>
              <p:nvPr/>
            </p:nvSpPr>
            <p:spPr>
              <a:xfrm>
                <a:off x="7191022" y="4600898"/>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3</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71" name="タイトル 2">
                <a:extLst>
                  <a:ext uri="{FF2B5EF4-FFF2-40B4-BE49-F238E27FC236}">
                    <a16:creationId xmlns:a16="http://schemas.microsoft.com/office/drawing/2014/main" id="{B5DC6174-1701-41DE-6327-783C87829BA2}"/>
                  </a:ext>
                </a:extLst>
              </p:cNvPr>
              <p:cNvSpPr txBox="1">
                <a:spLocks noRot="1" noChangeAspect="1" noMove="1" noResize="1" noEditPoints="1" noAdjustHandles="1" noChangeArrowheads="1" noChangeShapeType="1" noTextEdit="1"/>
              </p:cNvSpPr>
              <p:nvPr/>
            </p:nvSpPr>
            <p:spPr>
              <a:xfrm>
                <a:off x="7191022" y="4600898"/>
                <a:ext cx="989890" cy="654671"/>
              </a:xfrm>
              <a:prstGeom prst="rect">
                <a:avLst/>
              </a:prstGeom>
              <a:blipFill>
                <a:blip r:embed="rId22"/>
                <a:stretch>
                  <a:fillRect/>
                </a:stretch>
              </a:blipFill>
            </p:spPr>
            <p:txBody>
              <a:bodyPr/>
              <a:lstStyle/>
              <a:p>
                <a:r>
                  <a:rPr lang="en-US">
                    <a:noFill/>
                  </a:rPr>
                  <a:t> </a:t>
                </a:r>
              </a:p>
            </p:txBody>
          </p:sp>
        </mc:Fallback>
      </mc:AlternateContent>
      <p:pic>
        <p:nvPicPr>
          <p:cNvPr id="172" name="グラフィックス 171" descr="車 単色塗りつぶし">
            <a:extLst>
              <a:ext uri="{FF2B5EF4-FFF2-40B4-BE49-F238E27FC236}">
                <a16:creationId xmlns:a16="http://schemas.microsoft.com/office/drawing/2014/main" id="{F785C00A-C4CB-8DE8-395C-27289E6F7DC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173823" y="4112688"/>
            <a:ext cx="914400" cy="914400"/>
          </a:xfrm>
          <a:prstGeom prst="rect">
            <a:avLst/>
          </a:prstGeom>
        </p:spPr>
      </p:pic>
      <p:cxnSp>
        <p:nvCxnSpPr>
          <p:cNvPr id="173" name="直線コネクタ 172">
            <a:extLst>
              <a:ext uri="{FF2B5EF4-FFF2-40B4-BE49-F238E27FC236}">
                <a16:creationId xmlns:a16="http://schemas.microsoft.com/office/drawing/2014/main" id="{64E71AB2-ED6C-699A-5054-F27B16CE2D86}"/>
              </a:ext>
            </a:extLst>
          </p:cNvPr>
          <p:cNvCxnSpPr>
            <a:cxnSpLocks/>
          </p:cNvCxnSpPr>
          <p:nvPr/>
        </p:nvCxnSpPr>
        <p:spPr>
          <a:xfrm>
            <a:off x="8125312" y="4026911"/>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81" name="直線矢印コネクタ 180">
            <a:extLst>
              <a:ext uri="{FF2B5EF4-FFF2-40B4-BE49-F238E27FC236}">
                <a16:creationId xmlns:a16="http://schemas.microsoft.com/office/drawing/2014/main" id="{4A36451B-D9C9-D54D-3C51-35C5D6B2B41C}"/>
              </a:ext>
            </a:extLst>
          </p:cNvPr>
          <p:cNvCxnSpPr>
            <a:cxnSpLocks/>
          </p:cNvCxnSpPr>
          <p:nvPr/>
        </p:nvCxnSpPr>
        <p:spPr>
          <a:xfrm>
            <a:off x="4516584" y="2929079"/>
            <a:ext cx="0" cy="849405"/>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2" name="直線矢印コネクタ 181">
            <a:extLst>
              <a:ext uri="{FF2B5EF4-FFF2-40B4-BE49-F238E27FC236}">
                <a16:creationId xmlns:a16="http://schemas.microsoft.com/office/drawing/2014/main" id="{D43EBD99-0CA6-3AE4-A885-95A56A345467}"/>
              </a:ext>
            </a:extLst>
          </p:cNvPr>
          <p:cNvCxnSpPr>
            <a:cxnSpLocks/>
          </p:cNvCxnSpPr>
          <p:nvPr/>
        </p:nvCxnSpPr>
        <p:spPr>
          <a:xfrm rot="10800000" flipV="1">
            <a:off x="1817582" y="2943506"/>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3" name="直線矢印コネクタ 182">
            <a:extLst>
              <a:ext uri="{FF2B5EF4-FFF2-40B4-BE49-F238E27FC236}">
                <a16:creationId xmlns:a16="http://schemas.microsoft.com/office/drawing/2014/main" id="{7D4FFFD4-99C2-7FDC-43F3-95EDE2B92591}"/>
              </a:ext>
            </a:extLst>
          </p:cNvPr>
          <p:cNvCxnSpPr>
            <a:cxnSpLocks/>
          </p:cNvCxnSpPr>
          <p:nvPr/>
        </p:nvCxnSpPr>
        <p:spPr>
          <a:xfrm rot="16200000" flipV="1">
            <a:off x="6903086" y="2951696"/>
            <a:ext cx="629361" cy="7515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線矢印コネクタ 183">
            <a:extLst>
              <a:ext uri="{FF2B5EF4-FFF2-40B4-BE49-F238E27FC236}">
                <a16:creationId xmlns:a16="http://schemas.microsoft.com/office/drawing/2014/main" id="{1335394D-5785-50F3-B6B7-5C481C9E12EC}"/>
              </a:ext>
            </a:extLst>
          </p:cNvPr>
          <p:cNvCxnSpPr>
            <a:cxnSpLocks/>
          </p:cNvCxnSpPr>
          <p:nvPr/>
        </p:nvCxnSpPr>
        <p:spPr>
          <a:xfrm rot="5400000" flipV="1">
            <a:off x="7037693" y="2866321"/>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7" name="台形 186">
            <a:extLst>
              <a:ext uri="{FF2B5EF4-FFF2-40B4-BE49-F238E27FC236}">
                <a16:creationId xmlns:a16="http://schemas.microsoft.com/office/drawing/2014/main" id="{613A055E-C016-8D4F-4460-1402C2DCED39}"/>
              </a:ext>
            </a:extLst>
          </p:cNvPr>
          <p:cNvSpPr/>
          <p:nvPr/>
        </p:nvSpPr>
        <p:spPr>
          <a:xfrm rot="10800000">
            <a:off x="2544639" y="1076520"/>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8" name="台形 187">
            <a:extLst>
              <a:ext uri="{FF2B5EF4-FFF2-40B4-BE49-F238E27FC236}">
                <a16:creationId xmlns:a16="http://schemas.microsoft.com/office/drawing/2014/main" id="{5F2830CF-E8CB-4A3C-6634-DC73F0C541D7}"/>
              </a:ext>
            </a:extLst>
          </p:cNvPr>
          <p:cNvSpPr/>
          <p:nvPr/>
        </p:nvSpPr>
        <p:spPr>
          <a:xfrm>
            <a:off x="2544639" y="1351359"/>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9" name="台形 188">
            <a:extLst>
              <a:ext uri="{FF2B5EF4-FFF2-40B4-BE49-F238E27FC236}">
                <a16:creationId xmlns:a16="http://schemas.microsoft.com/office/drawing/2014/main" id="{EB7EFF38-65F2-9992-DDA9-BF2BCD169663}"/>
              </a:ext>
            </a:extLst>
          </p:cNvPr>
          <p:cNvSpPr/>
          <p:nvPr/>
        </p:nvSpPr>
        <p:spPr>
          <a:xfrm rot="10800000">
            <a:off x="2535638" y="1666372"/>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0" name="台形 189">
            <a:extLst>
              <a:ext uri="{FF2B5EF4-FFF2-40B4-BE49-F238E27FC236}">
                <a16:creationId xmlns:a16="http://schemas.microsoft.com/office/drawing/2014/main" id="{9341255E-E4C4-E5DC-F390-67DF9AD869AD}"/>
              </a:ext>
            </a:extLst>
          </p:cNvPr>
          <p:cNvSpPr/>
          <p:nvPr/>
        </p:nvSpPr>
        <p:spPr>
          <a:xfrm>
            <a:off x="2535638" y="1941211"/>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1" name="台形 190">
            <a:extLst>
              <a:ext uri="{FF2B5EF4-FFF2-40B4-BE49-F238E27FC236}">
                <a16:creationId xmlns:a16="http://schemas.microsoft.com/office/drawing/2014/main" id="{2B322F20-8521-0CC2-836B-F8E08A734F9F}"/>
              </a:ext>
            </a:extLst>
          </p:cNvPr>
          <p:cNvSpPr/>
          <p:nvPr/>
        </p:nvSpPr>
        <p:spPr>
          <a:xfrm rot="10800000">
            <a:off x="2535638" y="2242558"/>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2" name="台形 191">
            <a:extLst>
              <a:ext uri="{FF2B5EF4-FFF2-40B4-BE49-F238E27FC236}">
                <a16:creationId xmlns:a16="http://schemas.microsoft.com/office/drawing/2014/main" id="{9F9AE831-1606-98F7-BB1B-B02D2C80BB03}"/>
              </a:ext>
            </a:extLst>
          </p:cNvPr>
          <p:cNvSpPr/>
          <p:nvPr/>
        </p:nvSpPr>
        <p:spPr>
          <a:xfrm>
            <a:off x="2535638" y="2517397"/>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98" name="テキスト ボックス 197">
                <a:extLst>
                  <a:ext uri="{FF2B5EF4-FFF2-40B4-BE49-F238E27FC236}">
                    <a16:creationId xmlns:a16="http://schemas.microsoft.com/office/drawing/2014/main" id="{47C24DD4-474D-8738-1C0C-DD28B3731734}"/>
                  </a:ext>
                </a:extLst>
              </p:cNvPr>
              <p:cNvSpPr txBox="1"/>
              <p:nvPr/>
            </p:nvSpPr>
            <p:spPr>
              <a:xfrm>
                <a:off x="2170063" y="3390528"/>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1</m:t>
                          </m:r>
                        </m:sub>
                      </m:sSub>
                    </m:oMath>
                  </m:oMathPara>
                </a14:m>
                <a:endParaRPr lang="ja-JP" altLang="en-US"/>
              </a:p>
            </p:txBody>
          </p:sp>
        </mc:Choice>
        <mc:Fallback xmlns="">
          <p:sp>
            <p:nvSpPr>
              <p:cNvPr id="198" name="テキスト ボックス 197">
                <a:extLst>
                  <a:ext uri="{FF2B5EF4-FFF2-40B4-BE49-F238E27FC236}">
                    <a16:creationId xmlns:a16="http://schemas.microsoft.com/office/drawing/2014/main" id="{47C24DD4-474D-8738-1C0C-DD28B3731734}"/>
                  </a:ext>
                </a:extLst>
              </p:cNvPr>
              <p:cNvSpPr txBox="1">
                <a:spLocks noRot="1" noChangeAspect="1" noMove="1" noResize="1" noEditPoints="1" noAdjustHandles="1" noChangeArrowheads="1" noChangeShapeType="1" noTextEdit="1"/>
              </p:cNvSpPr>
              <p:nvPr/>
            </p:nvSpPr>
            <p:spPr>
              <a:xfrm>
                <a:off x="2170063" y="3390528"/>
                <a:ext cx="838729"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9" name="テキスト ボックス 198">
                <a:extLst>
                  <a:ext uri="{FF2B5EF4-FFF2-40B4-BE49-F238E27FC236}">
                    <a16:creationId xmlns:a16="http://schemas.microsoft.com/office/drawing/2014/main" id="{689203F9-3897-05F6-11AD-AECCE7FAACD6}"/>
                  </a:ext>
                </a:extLst>
              </p:cNvPr>
              <p:cNvSpPr txBox="1"/>
              <p:nvPr/>
            </p:nvSpPr>
            <p:spPr>
              <a:xfrm>
                <a:off x="4605316" y="3320948"/>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2</m:t>
                          </m:r>
                        </m:sub>
                      </m:sSub>
                    </m:oMath>
                  </m:oMathPara>
                </a14:m>
                <a:endParaRPr lang="ja-JP" altLang="en-US"/>
              </a:p>
            </p:txBody>
          </p:sp>
        </mc:Choice>
        <mc:Fallback xmlns="">
          <p:sp>
            <p:nvSpPr>
              <p:cNvPr id="199" name="テキスト ボックス 198">
                <a:extLst>
                  <a:ext uri="{FF2B5EF4-FFF2-40B4-BE49-F238E27FC236}">
                    <a16:creationId xmlns:a16="http://schemas.microsoft.com/office/drawing/2014/main" id="{689203F9-3897-05F6-11AD-AECCE7FAACD6}"/>
                  </a:ext>
                </a:extLst>
              </p:cNvPr>
              <p:cNvSpPr txBox="1">
                <a:spLocks noRot="1" noChangeAspect="1" noMove="1" noResize="1" noEditPoints="1" noAdjustHandles="1" noChangeArrowheads="1" noChangeShapeType="1" noTextEdit="1"/>
              </p:cNvSpPr>
              <p:nvPr/>
            </p:nvSpPr>
            <p:spPr>
              <a:xfrm>
                <a:off x="4605316" y="3320948"/>
                <a:ext cx="838729"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0" name="テキスト ボックス 199">
                <a:extLst>
                  <a:ext uri="{FF2B5EF4-FFF2-40B4-BE49-F238E27FC236}">
                    <a16:creationId xmlns:a16="http://schemas.microsoft.com/office/drawing/2014/main" id="{3952DC83-7BA1-37EF-0F38-44B5BCB3FC8C}"/>
                  </a:ext>
                </a:extLst>
              </p:cNvPr>
              <p:cNvSpPr txBox="1"/>
              <p:nvPr/>
            </p:nvSpPr>
            <p:spPr>
              <a:xfrm>
                <a:off x="6473443" y="3317191"/>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3</m:t>
                          </m:r>
                        </m:sub>
                      </m:sSub>
                    </m:oMath>
                  </m:oMathPara>
                </a14:m>
                <a:endParaRPr lang="ja-JP" altLang="en-US"/>
              </a:p>
            </p:txBody>
          </p:sp>
        </mc:Choice>
        <mc:Fallback xmlns="">
          <p:sp>
            <p:nvSpPr>
              <p:cNvPr id="200" name="テキスト ボックス 199">
                <a:extLst>
                  <a:ext uri="{FF2B5EF4-FFF2-40B4-BE49-F238E27FC236}">
                    <a16:creationId xmlns:a16="http://schemas.microsoft.com/office/drawing/2014/main" id="{3952DC83-7BA1-37EF-0F38-44B5BCB3FC8C}"/>
                  </a:ext>
                </a:extLst>
              </p:cNvPr>
              <p:cNvSpPr txBox="1">
                <a:spLocks noRot="1" noChangeAspect="1" noMove="1" noResize="1" noEditPoints="1" noAdjustHandles="1" noChangeArrowheads="1" noChangeShapeType="1" noTextEdit="1"/>
              </p:cNvSpPr>
              <p:nvPr/>
            </p:nvSpPr>
            <p:spPr>
              <a:xfrm>
                <a:off x="6473443" y="3317191"/>
                <a:ext cx="838729" cy="369332"/>
              </a:xfrm>
              <a:prstGeom prst="rect">
                <a:avLst/>
              </a:prstGeom>
              <a:blipFill>
                <a:blip r:embed="rId2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4" name="吹き出し: 角を丸めた四角形 203">
                <a:extLst>
                  <a:ext uri="{FF2B5EF4-FFF2-40B4-BE49-F238E27FC236}">
                    <a16:creationId xmlns:a16="http://schemas.microsoft.com/office/drawing/2014/main" id="{27948874-8A41-5B2D-3CC7-0B4F30F54516}"/>
                  </a:ext>
                </a:extLst>
              </p:cNvPr>
              <p:cNvSpPr/>
              <p:nvPr/>
            </p:nvSpPr>
            <p:spPr>
              <a:xfrm>
                <a:off x="96126" y="2281747"/>
                <a:ext cx="2123120" cy="961044"/>
              </a:xfrm>
              <a:prstGeom prst="wedgeRoundRectCallout">
                <a:avLst>
                  <a:gd name="adj1" fmla="val 163005"/>
                  <a:gd name="adj2" fmla="val -75372"/>
                  <a:gd name="adj3" fmla="val 16667"/>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14:m>
                  <m:oMathPara xmlns:m="http://schemas.openxmlformats.org/officeDocument/2006/math">
                    <m:oMathParaPr>
                      <m:jc m:val="left"/>
                    </m:oMathParaPr>
                    <m:oMath xmlns:m="http://schemas.openxmlformats.org/officeDocument/2006/math">
                      <m:r>
                        <a:rPr lang="en-US" altLang="ja-JP" i="1">
                          <a:solidFill>
                            <a:schemeClr val="tx1"/>
                          </a:solidFill>
                          <a:latin typeface="Cambria Math" panose="02040503050406030204" pitchFamily="18" charset="0"/>
                        </a:rPr>
                        <m:t>𝐿</m:t>
                      </m:r>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1</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𝑝𝑟𝑒𝑑</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2</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𝑟𝑒𝑝𝑟</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3</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𝑔𝑟𝑎𝑑</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4</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𝑝𝑜𝑠𝑡</m:t>
                          </m:r>
                        </m:sub>
                      </m:sSub>
                    </m:oMath>
                  </m:oMathPara>
                </a14:m>
                <a:endParaRPr lang="ja-JP" altLang="en-US" dirty="0">
                  <a:solidFill>
                    <a:schemeClr val="tx1"/>
                  </a:solidFill>
                </a:endParaRPr>
              </a:p>
            </p:txBody>
          </p:sp>
        </mc:Choice>
        <mc:Fallback xmlns="">
          <p:sp>
            <p:nvSpPr>
              <p:cNvPr id="204" name="吹き出し: 角を丸めた四角形 203">
                <a:extLst>
                  <a:ext uri="{FF2B5EF4-FFF2-40B4-BE49-F238E27FC236}">
                    <a16:creationId xmlns:a16="http://schemas.microsoft.com/office/drawing/2014/main" id="{27948874-8A41-5B2D-3CC7-0B4F30F54516}"/>
                  </a:ext>
                </a:extLst>
              </p:cNvPr>
              <p:cNvSpPr>
                <a:spLocks noRot="1" noChangeAspect="1" noMove="1" noResize="1" noEditPoints="1" noAdjustHandles="1" noChangeArrowheads="1" noChangeShapeType="1" noTextEdit="1"/>
              </p:cNvSpPr>
              <p:nvPr/>
            </p:nvSpPr>
            <p:spPr>
              <a:xfrm>
                <a:off x="96126" y="2281747"/>
                <a:ext cx="2123120" cy="961044"/>
              </a:xfrm>
              <a:prstGeom prst="wedgeRoundRectCallout">
                <a:avLst>
                  <a:gd name="adj1" fmla="val 163005"/>
                  <a:gd name="adj2" fmla="val -75372"/>
                  <a:gd name="adj3" fmla="val 16667"/>
                </a:avLst>
              </a:prstGeom>
              <a:blipFill>
                <a:blip r:embed="rId26"/>
                <a:stretch>
                  <a:fillRect l="-524" b="-966"/>
                </a:stretch>
              </a:blipFill>
              <a:ln w="28575">
                <a:solidFill>
                  <a:srgbClr val="C00000"/>
                </a:solidFill>
              </a:ln>
            </p:spPr>
            <p:txBody>
              <a:bodyPr/>
              <a:lstStyle/>
              <a:p>
                <a:r>
                  <a:rPr lang="ja-JP" altLang="en-US">
                    <a:noFill/>
                  </a:rPr>
                  <a:t> </a:t>
                </a:r>
              </a:p>
            </p:txBody>
          </p:sp>
        </mc:Fallback>
      </mc:AlternateContent>
      <p:sp>
        <p:nvSpPr>
          <p:cNvPr id="205" name="矢印: 右 204">
            <a:extLst>
              <a:ext uri="{FF2B5EF4-FFF2-40B4-BE49-F238E27FC236}">
                <a16:creationId xmlns:a16="http://schemas.microsoft.com/office/drawing/2014/main" id="{4DD6A05D-8CF2-F442-D4D9-9E74B8A8E2E5}"/>
              </a:ext>
            </a:extLst>
          </p:cNvPr>
          <p:cNvSpPr/>
          <p:nvPr/>
        </p:nvSpPr>
        <p:spPr>
          <a:xfrm>
            <a:off x="5795861" y="1700503"/>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右 5">
            <a:extLst>
              <a:ext uri="{FF2B5EF4-FFF2-40B4-BE49-F238E27FC236}">
                <a16:creationId xmlns:a16="http://schemas.microsoft.com/office/drawing/2014/main" id="{B574BA7F-32B3-B743-495A-13C7D50179C1}"/>
              </a:ext>
            </a:extLst>
          </p:cNvPr>
          <p:cNvSpPr/>
          <p:nvPr/>
        </p:nvSpPr>
        <p:spPr>
          <a:xfrm rot="19283956">
            <a:off x="3111127" y="2187382"/>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C000DBCA-2049-3A1B-FFC1-E352ABEB77F8}"/>
              </a:ext>
            </a:extLst>
          </p:cNvPr>
          <p:cNvSpPr/>
          <p:nvPr/>
        </p:nvSpPr>
        <p:spPr>
          <a:xfrm>
            <a:off x="3070090" y="1752649"/>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874D7102-E8F6-5E1B-7D0B-E455F38C3D0D}"/>
              </a:ext>
            </a:extLst>
          </p:cNvPr>
          <p:cNvSpPr/>
          <p:nvPr/>
        </p:nvSpPr>
        <p:spPr>
          <a:xfrm rot="2825624">
            <a:off x="3087662" y="1304828"/>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台形 10">
            <a:extLst>
              <a:ext uri="{FF2B5EF4-FFF2-40B4-BE49-F238E27FC236}">
                <a16:creationId xmlns:a16="http://schemas.microsoft.com/office/drawing/2014/main" id="{31CEABA2-AE11-6E11-F61E-6AE6C8B89A49}"/>
              </a:ext>
            </a:extLst>
          </p:cNvPr>
          <p:cNvSpPr/>
          <p:nvPr/>
        </p:nvSpPr>
        <p:spPr>
          <a:xfrm rot="10800000">
            <a:off x="3846152" y="1628340"/>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2" name="台形 11">
            <a:extLst>
              <a:ext uri="{FF2B5EF4-FFF2-40B4-BE49-F238E27FC236}">
                <a16:creationId xmlns:a16="http://schemas.microsoft.com/office/drawing/2014/main" id="{47909CAC-C17C-18EC-AD25-B54D23B77C3C}"/>
              </a:ext>
            </a:extLst>
          </p:cNvPr>
          <p:cNvSpPr/>
          <p:nvPr/>
        </p:nvSpPr>
        <p:spPr>
          <a:xfrm>
            <a:off x="3846152" y="1903179"/>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3" name="矢印: 右 12">
            <a:extLst>
              <a:ext uri="{FF2B5EF4-FFF2-40B4-BE49-F238E27FC236}">
                <a16:creationId xmlns:a16="http://schemas.microsoft.com/office/drawing/2014/main" id="{E45559BA-C6EF-E813-2098-7BEA95A12F6C}"/>
              </a:ext>
            </a:extLst>
          </p:cNvPr>
          <p:cNvSpPr/>
          <p:nvPr/>
        </p:nvSpPr>
        <p:spPr>
          <a:xfrm>
            <a:off x="4366063" y="1683332"/>
            <a:ext cx="405953" cy="298438"/>
          </a:xfrm>
          <a:prstGeom prst="rightArrow">
            <a:avLst/>
          </a:prstGeom>
          <a:solidFill>
            <a:srgbClr val="C00000"/>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台形 13">
            <a:extLst>
              <a:ext uri="{FF2B5EF4-FFF2-40B4-BE49-F238E27FC236}">
                <a16:creationId xmlns:a16="http://schemas.microsoft.com/office/drawing/2014/main" id="{5818618B-C896-1DFD-024F-03393C23AE04}"/>
              </a:ext>
            </a:extLst>
          </p:cNvPr>
          <p:cNvSpPr/>
          <p:nvPr/>
        </p:nvSpPr>
        <p:spPr>
          <a:xfrm rot="10800000">
            <a:off x="4765212" y="1425050"/>
            <a:ext cx="966628" cy="302864"/>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7" name="台形 16">
            <a:extLst>
              <a:ext uri="{FF2B5EF4-FFF2-40B4-BE49-F238E27FC236}">
                <a16:creationId xmlns:a16="http://schemas.microsoft.com/office/drawing/2014/main" id="{97AB84BD-0EE1-6395-514E-FDEB339AF06D}"/>
              </a:ext>
            </a:extLst>
          </p:cNvPr>
          <p:cNvSpPr/>
          <p:nvPr/>
        </p:nvSpPr>
        <p:spPr>
          <a:xfrm>
            <a:off x="4784262" y="1813377"/>
            <a:ext cx="966628" cy="302864"/>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 name="吹き出し: 角を丸めた四角形 17">
            <a:extLst>
              <a:ext uri="{FF2B5EF4-FFF2-40B4-BE49-F238E27FC236}">
                <a16:creationId xmlns:a16="http://schemas.microsoft.com/office/drawing/2014/main" id="{EE7A08DE-575D-31F1-04B1-DF9B7752BACC}"/>
              </a:ext>
            </a:extLst>
          </p:cNvPr>
          <p:cNvSpPr/>
          <p:nvPr/>
        </p:nvSpPr>
        <p:spPr>
          <a:xfrm>
            <a:off x="3677311" y="2387119"/>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a:solidFill>
                  <a:schemeClr val="tx1"/>
                </a:solidFill>
              </a:rPr>
              <a:t>統合</a:t>
            </a:r>
            <a:endParaRPr lang="en-US" altLang="ja-JP">
              <a:solidFill>
                <a:schemeClr val="tx1"/>
              </a:solidFill>
            </a:endParaRPr>
          </a:p>
        </p:txBody>
      </p:sp>
      <p:sp>
        <p:nvSpPr>
          <p:cNvPr id="20" name="タイトル 2">
            <a:extLst>
              <a:ext uri="{FF2B5EF4-FFF2-40B4-BE49-F238E27FC236}">
                <a16:creationId xmlns:a16="http://schemas.microsoft.com/office/drawing/2014/main" id="{61BB7E2A-1107-5A5C-F2DD-7F52ACC974B7}"/>
              </a:ext>
            </a:extLst>
          </p:cNvPr>
          <p:cNvSpPr txBox="1">
            <a:spLocks/>
          </p:cNvSpPr>
          <p:nvPr/>
        </p:nvSpPr>
        <p:spPr>
          <a:xfrm>
            <a:off x="6274338" y="895656"/>
            <a:ext cx="144409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600"/>
              <a:t>基盤モデル</a:t>
            </a:r>
          </a:p>
        </p:txBody>
      </p:sp>
      <p:sp>
        <p:nvSpPr>
          <p:cNvPr id="21" name="吹き出し: 角を丸めた四角形 20">
            <a:extLst>
              <a:ext uri="{FF2B5EF4-FFF2-40B4-BE49-F238E27FC236}">
                <a16:creationId xmlns:a16="http://schemas.microsoft.com/office/drawing/2014/main" id="{BF9E283D-D176-F4CF-AA7C-583440083AB2}"/>
              </a:ext>
            </a:extLst>
          </p:cNvPr>
          <p:cNvSpPr/>
          <p:nvPr/>
        </p:nvSpPr>
        <p:spPr>
          <a:xfrm>
            <a:off x="4520736" y="2211352"/>
            <a:ext cx="1536261" cy="612934"/>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基盤モデル用</a:t>
            </a:r>
            <a:r>
              <a:rPr lang="en-US" altLang="ja-JP" dirty="0" err="1">
                <a:solidFill>
                  <a:schemeClr val="tx1"/>
                </a:solidFill>
              </a:rPr>
              <a:t>LoRA</a:t>
            </a:r>
            <a:r>
              <a:rPr lang="ja-JP" altLang="en-US" dirty="0">
                <a:solidFill>
                  <a:schemeClr val="tx1"/>
                </a:solidFill>
              </a:rPr>
              <a:t>の作成</a:t>
            </a:r>
            <a:endParaRPr lang="en-US" altLang="ja-JP" dirty="0">
              <a:solidFill>
                <a:schemeClr val="tx1"/>
              </a:solidFill>
            </a:endParaRPr>
          </a:p>
        </p:txBody>
      </p:sp>
      <p:sp>
        <p:nvSpPr>
          <p:cNvPr id="15" name="楕円 14">
            <a:extLst>
              <a:ext uri="{FF2B5EF4-FFF2-40B4-BE49-F238E27FC236}">
                <a16:creationId xmlns:a16="http://schemas.microsoft.com/office/drawing/2014/main" id="{E34F652F-4796-1CAD-5512-AC83B5913518}"/>
              </a:ext>
            </a:extLst>
          </p:cNvPr>
          <p:cNvSpPr/>
          <p:nvPr/>
        </p:nvSpPr>
        <p:spPr>
          <a:xfrm>
            <a:off x="2867379" y="648182"/>
            <a:ext cx="1043546" cy="220955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3541E032-AB7F-7DEE-AAC2-6F1F5F87B6D3}"/>
              </a:ext>
            </a:extLst>
          </p:cNvPr>
          <p:cNvSpPr/>
          <p:nvPr/>
        </p:nvSpPr>
        <p:spPr>
          <a:xfrm>
            <a:off x="4008479" y="1381084"/>
            <a:ext cx="1043546" cy="87919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0DD73DD4-458E-264B-C9DB-E192B1DF7FA0}"/>
              </a:ext>
            </a:extLst>
          </p:cNvPr>
          <p:cNvSpPr/>
          <p:nvPr/>
        </p:nvSpPr>
        <p:spPr>
          <a:xfrm>
            <a:off x="2466091" y="416763"/>
            <a:ext cx="2785621" cy="271072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4466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F2A128E4-8112-3AE2-0542-6340E9E3DAE8}"/>
              </a:ext>
            </a:extLst>
          </p:cNvPr>
          <p:cNvSpPr>
            <a:spLocks noGrp="1"/>
          </p:cNvSpPr>
          <p:nvPr>
            <p:ph type="title"/>
          </p:nvPr>
        </p:nvSpPr>
        <p:spPr>
          <a:xfrm>
            <a:off x="-2" y="2652013"/>
            <a:ext cx="9143999" cy="2798527"/>
          </a:xfrm>
        </p:spPr>
        <p:txBody>
          <a:bodyPr>
            <a:normAutofit fontScale="90000"/>
          </a:bodyPr>
          <a:lstStyle/>
          <a:p>
            <a:pPr algn="ctr"/>
            <a:r>
              <a:rPr lang="ja-JP" altLang="en-US" dirty="0"/>
              <a:t>実験設定の具体化と実装</a:t>
            </a:r>
            <a:br>
              <a:rPr lang="en-US" altLang="ja-JP" dirty="0"/>
            </a:br>
            <a:br>
              <a:rPr lang="en-US" altLang="ja-JP" dirty="0"/>
            </a:br>
            <a:r>
              <a:rPr lang="en-US" altLang="ja-JP" sz="3200" b="1" dirty="0"/>
              <a:t>3B/3B</a:t>
            </a:r>
            <a:r>
              <a:rPr lang="ja-JP" altLang="en-US" sz="3200" b="1" dirty="0"/>
              <a:t>の最小構成で</a:t>
            </a:r>
            <a:br>
              <a:rPr lang="en-US" altLang="ja-JP" sz="3200" b="1" dirty="0"/>
            </a:br>
            <a:r>
              <a:rPr lang="en-US" altLang="ja-JP" b="1" dirty="0"/>
              <a:t>surrogate</a:t>
            </a:r>
            <a:r>
              <a:rPr lang="ja-JP" altLang="ja-JP" b="1" dirty="0"/>
              <a:t>適応情報を用いた基盤モデル更新</a:t>
            </a:r>
            <a:br>
              <a:rPr lang="en-US" altLang="ja-JP" b="1" dirty="0"/>
            </a:br>
            <a:r>
              <a:rPr lang="ja-JP" altLang="en-US" sz="3200" b="1" dirty="0"/>
              <a:t>を含めたループ</a:t>
            </a:r>
            <a:br>
              <a:rPr lang="en-US" altLang="ja-JP" sz="3200" b="1" dirty="0"/>
            </a:br>
            <a:br>
              <a:rPr lang="ja-JP" altLang="en-US" b="1" dirty="0"/>
            </a:br>
            <a:endParaRPr kumimoji="1" lang="ja-JP" altLang="en-US" b="1" dirty="0"/>
          </a:p>
        </p:txBody>
      </p:sp>
    </p:spTree>
    <p:extLst>
      <p:ext uri="{BB962C8B-B14F-4D97-AF65-F5344CB8AC3E}">
        <p14:creationId xmlns:p14="http://schemas.microsoft.com/office/powerpoint/2010/main" val="277267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4F876B5-03F4-A517-A810-7A8F74F3F6AF}"/>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0AF9854A-A493-9C06-1273-01C8CCEC84AC}"/>
              </a:ext>
            </a:extLst>
          </p:cNvPr>
          <p:cNvSpPr/>
          <p:nvPr/>
        </p:nvSpPr>
        <p:spPr>
          <a:xfrm>
            <a:off x="6251474"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8A15F199-8DFD-F38B-346F-25ECF6D29AE2}"/>
              </a:ext>
            </a:extLst>
          </p:cNvPr>
          <p:cNvSpPr/>
          <p:nvPr/>
        </p:nvSpPr>
        <p:spPr>
          <a:xfrm>
            <a:off x="3115987"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7D2439B4-1C6B-CA03-92BB-4EDD98E50E41}"/>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2">
            <a:extLst>
              <a:ext uri="{FF2B5EF4-FFF2-40B4-BE49-F238E27FC236}">
                <a16:creationId xmlns:a16="http://schemas.microsoft.com/office/drawing/2014/main" id="{18FA3699-A0B2-99F2-3538-7C0A9595179A}"/>
              </a:ext>
            </a:extLst>
          </p:cNvPr>
          <p:cNvSpPr>
            <a:spLocks noGrp="1"/>
          </p:cNvSpPr>
          <p:nvPr>
            <p:ph type="title"/>
          </p:nvPr>
        </p:nvSpPr>
        <p:spPr/>
        <p:txBody>
          <a:bodyPr>
            <a:normAutofit/>
          </a:bodyPr>
          <a:lstStyle/>
          <a:p>
            <a:r>
              <a:rPr lang="ja-JP" altLang="en-US"/>
              <a:t>研究概要</a:t>
            </a:r>
            <a:endParaRPr kumimoji="1" lang="ja-JP" altLang="en-US"/>
          </a:p>
        </p:txBody>
      </p:sp>
      <p:sp>
        <p:nvSpPr>
          <p:cNvPr id="4" name="スライド番号プレースホルダー 3">
            <a:extLst>
              <a:ext uri="{FF2B5EF4-FFF2-40B4-BE49-F238E27FC236}">
                <a16:creationId xmlns:a16="http://schemas.microsoft.com/office/drawing/2014/main" id="{8EDEF237-D03C-665C-CBF5-B91DC15E1B4C}"/>
              </a:ext>
            </a:extLst>
          </p:cNvPr>
          <p:cNvSpPr>
            <a:spLocks noGrp="1"/>
          </p:cNvSpPr>
          <p:nvPr>
            <p:ph type="sldNum" sz="quarter" idx="4"/>
          </p:nvPr>
        </p:nvSpPr>
        <p:spPr>
          <a:xfrm>
            <a:off x="5669953" y="94342"/>
            <a:ext cx="3118757" cy="354013"/>
          </a:xfrm>
        </p:spPr>
        <p:txBody>
          <a:bodyPr/>
          <a:lstStyle/>
          <a:p>
            <a:fld id="{C088C981-6885-4100-82A1-DE7074EC4480}" type="slidenum">
              <a:rPr lang="ja-JP" altLang="en-US" smtClean="0"/>
              <a:t>5</a:t>
            </a:fld>
            <a:endParaRPr lang="ja-JP" altLang="en-US"/>
          </a:p>
        </p:txBody>
      </p:sp>
      <p:cxnSp>
        <p:nvCxnSpPr>
          <p:cNvPr id="16" name="直線矢印コネクタ 15">
            <a:extLst>
              <a:ext uri="{FF2B5EF4-FFF2-40B4-BE49-F238E27FC236}">
                <a16:creationId xmlns:a16="http://schemas.microsoft.com/office/drawing/2014/main" id="{194E4803-2D81-DEDD-E40B-D366F58FDC80}"/>
              </a:ext>
            </a:extLst>
          </p:cNvPr>
          <p:cNvCxnSpPr>
            <a:cxnSpLocks/>
          </p:cNvCxnSpPr>
          <p:nvPr/>
        </p:nvCxnSpPr>
        <p:spPr>
          <a:xfrm flipV="1">
            <a:off x="1960067" y="3001169"/>
            <a:ext cx="629361" cy="7515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0" name="図 89">
            <a:extLst>
              <a:ext uri="{FF2B5EF4-FFF2-40B4-BE49-F238E27FC236}">
                <a16:creationId xmlns:a16="http://schemas.microsoft.com/office/drawing/2014/main" id="{1A565F2E-856A-2D2F-FF1A-9D7E725588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cxnSp>
        <p:nvCxnSpPr>
          <p:cNvPr id="68" name="直線矢印コネクタ 67">
            <a:extLst>
              <a:ext uri="{FF2B5EF4-FFF2-40B4-BE49-F238E27FC236}">
                <a16:creationId xmlns:a16="http://schemas.microsoft.com/office/drawing/2014/main" id="{374FB579-E47A-FA40-85E5-D4D36F32EDBC}"/>
              </a:ext>
            </a:extLst>
          </p:cNvPr>
          <p:cNvCxnSpPr>
            <a:cxnSpLocks/>
          </p:cNvCxnSpPr>
          <p:nvPr/>
        </p:nvCxnSpPr>
        <p:spPr>
          <a:xfrm flipV="1">
            <a:off x="4630513" y="2929079"/>
            <a:ext cx="0" cy="8494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図 23">
            <a:extLst>
              <a:ext uri="{FF2B5EF4-FFF2-40B4-BE49-F238E27FC236}">
                <a16:creationId xmlns:a16="http://schemas.microsoft.com/office/drawing/2014/main" id="{EAF689E3-ECE8-976B-3187-D06A768C120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92" name="図 91">
            <a:extLst>
              <a:ext uri="{FF2B5EF4-FFF2-40B4-BE49-F238E27FC236}">
                <a16:creationId xmlns:a16="http://schemas.microsoft.com/office/drawing/2014/main" id="{3FB4E0F7-8397-8200-9C71-855E896211F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36" name="図 35">
            <a:extLst>
              <a:ext uri="{FF2B5EF4-FFF2-40B4-BE49-F238E27FC236}">
                <a16:creationId xmlns:a16="http://schemas.microsoft.com/office/drawing/2014/main" id="{7FEDC3C4-70CB-5E2C-198C-B929CA52F76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37" name="図 36">
            <a:extLst>
              <a:ext uri="{FF2B5EF4-FFF2-40B4-BE49-F238E27FC236}">
                <a16:creationId xmlns:a16="http://schemas.microsoft.com/office/drawing/2014/main" id="{068384DB-D792-C07A-E39D-EC779611946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40" name="図 39">
            <a:extLst>
              <a:ext uri="{FF2B5EF4-FFF2-40B4-BE49-F238E27FC236}">
                <a16:creationId xmlns:a16="http://schemas.microsoft.com/office/drawing/2014/main" id="{FA4DBBDF-FD24-44A7-D4D8-FD102578D0D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pic>
        <p:nvPicPr>
          <p:cNvPr id="47" name="図 46">
            <a:extLst>
              <a:ext uri="{FF2B5EF4-FFF2-40B4-BE49-F238E27FC236}">
                <a16:creationId xmlns:a16="http://schemas.microsoft.com/office/drawing/2014/main" id="{58CCD57E-04E3-8FAE-C6E3-FCE6C024E0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89546" y="1293311"/>
            <a:ext cx="877191" cy="879194"/>
          </a:xfrm>
          <a:prstGeom prst="rect">
            <a:avLst/>
          </a:prstGeom>
        </p:spPr>
      </p:pic>
      <p:cxnSp>
        <p:nvCxnSpPr>
          <p:cNvPr id="50" name="直線矢印コネクタ 49">
            <a:extLst>
              <a:ext uri="{FF2B5EF4-FFF2-40B4-BE49-F238E27FC236}">
                <a16:creationId xmlns:a16="http://schemas.microsoft.com/office/drawing/2014/main" id="{116C31DE-BF8E-B2BF-2A1B-D9EF282C006C}"/>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タイトル 2">
            <a:extLst>
              <a:ext uri="{FF2B5EF4-FFF2-40B4-BE49-F238E27FC236}">
                <a16:creationId xmlns:a16="http://schemas.microsoft.com/office/drawing/2014/main" id="{DA009671-2B33-FA97-A36B-AE6677F48E1C}"/>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53" name="直線矢印コネクタ 52">
            <a:extLst>
              <a:ext uri="{FF2B5EF4-FFF2-40B4-BE49-F238E27FC236}">
                <a16:creationId xmlns:a16="http://schemas.microsoft.com/office/drawing/2014/main" id="{BC5BC09B-50DB-F0C7-897C-0F385F904B02}"/>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5" name="図 104">
            <a:extLst>
              <a:ext uri="{FF2B5EF4-FFF2-40B4-BE49-F238E27FC236}">
                <a16:creationId xmlns:a16="http://schemas.microsoft.com/office/drawing/2014/main" id="{D896191B-8844-1BEB-45B5-589524B5DD2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260907" y="5364047"/>
            <a:ext cx="948847" cy="505261"/>
          </a:xfrm>
          <a:prstGeom prst="rect">
            <a:avLst/>
          </a:prstGeom>
        </p:spPr>
      </p:pic>
      <p:pic>
        <p:nvPicPr>
          <p:cNvPr id="107" name="図 106">
            <a:extLst>
              <a:ext uri="{FF2B5EF4-FFF2-40B4-BE49-F238E27FC236}">
                <a16:creationId xmlns:a16="http://schemas.microsoft.com/office/drawing/2014/main" id="{B9619091-9853-E177-FEA9-124C546ADB4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875880" y="5350363"/>
            <a:ext cx="1003033" cy="532628"/>
          </a:xfrm>
          <a:prstGeom prst="rect">
            <a:avLst/>
          </a:prstGeom>
        </p:spPr>
      </p:pic>
      <p:pic>
        <p:nvPicPr>
          <p:cNvPr id="60" name="図 59">
            <a:extLst>
              <a:ext uri="{FF2B5EF4-FFF2-40B4-BE49-F238E27FC236}">
                <a16:creationId xmlns:a16="http://schemas.microsoft.com/office/drawing/2014/main" id="{3C384143-EA3B-E390-74DC-CF678F59B3F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61" name="図 60">
            <a:extLst>
              <a:ext uri="{FF2B5EF4-FFF2-40B4-BE49-F238E27FC236}">
                <a16:creationId xmlns:a16="http://schemas.microsoft.com/office/drawing/2014/main" id="{42D26528-5E2A-A608-040E-EB83263958F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64" name="図 63">
            <a:extLst>
              <a:ext uri="{FF2B5EF4-FFF2-40B4-BE49-F238E27FC236}">
                <a16:creationId xmlns:a16="http://schemas.microsoft.com/office/drawing/2014/main" id="{AA34F8A4-F228-DBA8-3049-EECE0E2B9E7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314880" y="5441266"/>
            <a:ext cx="821475" cy="568800"/>
          </a:xfrm>
          <a:prstGeom prst="rect">
            <a:avLst/>
          </a:prstGeom>
          <a:ln>
            <a:solidFill>
              <a:schemeClr val="tx1"/>
            </a:solidFill>
          </a:ln>
        </p:spPr>
      </p:pic>
      <p:pic>
        <p:nvPicPr>
          <p:cNvPr id="112" name="図 111">
            <a:extLst>
              <a:ext uri="{FF2B5EF4-FFF2-40B4-BE49-F238E27FC236}">
                <a16:creationId xmlns:a16="http://schemas.microsoft.com/office/drawing/2014/main" id="{E9F5BD2F-A893-1EF0-717B-8ED00B332EB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364488" y="5373308"/>
            <a:ext cx="1059626" cy="528578"/>
          </a:xfrm>
          <a:prstGeom prst="rect">
            <a:avLst/>
          </a:prstGeom>
        </p:spPr>
      </p:pic>
      <p:pic>
        <p:nvPicPr>
          <p:cNvPr id="110" name="図 109">
            <a:extLst>
              <a:ext uri="{FF2B5EF4-FFF2-40B4-BE49-F238E27FC236}">
                <a16:creationId xmlns:a16="http://schemas.microsoft.com/office/drawing/2014/main" id="{D93B6364-91B8-F0A2-24BB-C54B86592D58}"/>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029367" y="5390474"/>
            <a:ext cx="967909" cy="517831"/>
          </a:xfrm>
          <a:prstGeom prst="rect">
            <a:avLst/>
          </a:prstGeom>
        </p:spPr>
      </p:pic>
      <p:pic>
        <p:nvPicPr>
          <p:cNvPr id="71" name="図 70">
            <a:extLst>
              <a:ext uri="{FF2B5EF4-FFF2-40B4-BE49-F238E27FC236}">
                <a16:creationId xmlns:a16="http://schemas.microsoft.com/office/drawing/2014/main" id="{31C77C8D-8DFE-B138-A837-7C2223C4BFE5}"/>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966660" y="5434831"/>
            <a:ext cx="821475" cy="568800"/>
          </a:xfrm>
          <a:prstGeom prst="rect">
            <a:avLst/>
          </a:prstGeom>
          <a:ln>
            <a:solidFill>
              <a:schemeClr val="tx1"/>
            </a:solidFill>
          </a:ln>
        </p:spPr>
      </p:pic>
      <p:pic>
        <p:nvPicPr>
          <p:cNvPr id="73" name="図 72">
            <a:extLst>
              <a:ext uri="{FF2B5EF4-FFF2-40B4-BE49-F238E27FC236}">
                <a16:creationId xmlns:a16="http://schemas.microsoft.com/office/drawing/2014/main" id="{12A6C837-D154-FE74-CAB4-29A4C9207D9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453187" y="5437133"/>
            <a:ext cx="895859" cy="568800"/>
          </a:xfrm>
          <a:prstGeom prst="rect">
            <a:avLst/>
          </a:prstGeom>
          <a:ln>
            <a:solidFill>
              <a:schemeClr val="tx1"/>
            </a:solidFill>
          </a:ln>
        </p:spPr>
      </p:pic>
      <p:pic>
        <p:nvPicPr>
          <p:cNvPr id="79" name="図 78">
            <a:extLst>
              <a:ext uri="{FF2B5EF4-FFF2-40B4-BE49-F238E27FC236}">
                <a16:creationId xmlns:a16="http://schemas.microsoft.com/office/drawing/2014/main" id="{560A1852-F2D3-02B0-83F7-2B010C66DD90}"/>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107995" y="5454413"/>
            <a:ext cx="814709" cy="568800"/>
          </a:xfrm>
          <a:prstGeom prst="rect">
            <a:avLst/>
          </a:prstGeom>
          <a:ln>
            <a:solidFill>
              <a:schemeClr val="tx1"/>
            </a:solidFill>
          </a:ln>
        </p:spPr>
      </p:pic>
      <p:pic>
        <p:nvPicPr>
          <p:cNvPr id="93" name="図 92">
            <a:extLst>
              <a:ext uri="{FF2B5EF4-FFF2-40B4-BE49-F238E27FC236}">
                <a16:creationId xmlns:a16="http://schemas.microsoft.com/office/drawing/2014/main" id="{E07B07AE-4054-013F-B564-0AE4D37C6DA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43376" y="5431475"/>
            <a:ext cx="140465" cy="588382"/>
          </a:xfrm>
          <a:prstGeom prst="rect">
            <a:avLst/>
          </a:prstGeom>
        </p:spPr>
      </p:pic>
      <p:pic>
        <p:nvPicPr>
          <p:cNvPr id="94" name="図 93">
            <a:extLst>
              <a:ext uri="{FF2B5EF4-FFF2-40B4-BE49-F238E27FC236}">
                <a16:creationId xmlns:a16="http://schemas.microsoft.com/office/drawing/2014/main" id="{87B29BC5-9AD0-E827-A61B-99EDB0B7B8A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174415" y="5431475"/>
            <a:ext cx="140465" cy="588382"/>
          </a:xfrm>
          <a:prstGeom prst="rect">
            <a:avLst/>
          </a:prstGeom>
        </p:spPr>
      </p:pic>
      <p:pic>
        <p:nvPicPr>
          <p:cNvPr id="95" name="図 94">
            <a:extLst>
              <a:ext uri="{FF2B5EF4-FFF2-40B4-BE49-F238E27FC236}">
                <a16:creationId xmlns:a16="http://schemas.microsoft.com/office/drawing/2014/main" id="{79AA368B-ADA3-1D90-B9CE-BEC69E31438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95861" y="5428481"/>
            <a:ext cx="140465" cy="588382"/>
          </a:xfrm>
          <a:prstGeom prst="rect">
            <a:avLst/>
          </a:prstGeom>
        </p:spPr>
      </p:pic>
      <p:pic>
        <p:nvPicPr>
          <p:cNvPr id="96" name="図 95">
            <a:extLst>
              <a:ext uri="{FF2B5EF4-FFF2-40B4-BE49-F238E27FC236}">
                <a16:creationId xmlns:a16="http://schemas.microsoft.com/office/drawing/2014/main" id="{B6D4B529-1F46-C72C-2C28-A0248A643C1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4818813" y="5428309"/>
            <a:ext cx="140465" cy="588382"/>
          </a:xfrm>
          <a:prstGeom prst="rect">
            <a:avLst/>
          </a:prstGeom>
        </p:spPr>
      </p:pic>
      <p:pic>
        <p:nvPicPr>
          <p:cNvPr id="97" name="図 96">
            <a:extLst>
              <a:ext uri="{FF2B5EF4-FFF2-40B4-BE49-F238E27FC236}">
                <a16:creationId xmlns:a16="http://schemas.microsoft.com/office/drawing/2014/main" id="{C17E572A-3093-809C-416B-B82EE634CA7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53882" y="5428310"/>
            <a:ext cx="140465" cy="588382"/>
          </a:xfrm>
          <a:prstGeom prst="rect">
            <a:avLst/>
          </a:prstGeom>
        </p:spPr>
      </p:pic>
      <p:pic>
        <p:nvPicPr>
          <p:cNvPr id="98" name="図 97">
            <a:extLst>
              <a:ext uri="{FF2B5EF4-FFF2-40B4-BE49-F238E27FC236}">
                <a16:creationId xmlns:a16="http://schemas.microsoft.com/office/drawing/2014/main" id="{70275EBC-9D35-2C56-A7B0-06176645826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6306450" y="5421960"/>
            <a:ext cx="140465" cy="588382"/>
          </a:xfrm>
          <a:prstGeom prst="rect">
            <a:avLst/>
          </a:prstGeom>
        </p:spPr>
      </p:pic>
      <p:pic>
        <p:nvPicPr>
          <p:cNvPr id="100" name="図 99">
            <a:extLst>
              <a:ext uri="{FF2B5EF4-FFF2-40B4-BE49-F238E27FC236}">
                <a16:creationId xmlns:a16="http://schemas.microsoft.com/office/drawing/2014/main" id="{474C207F-32B6-F995-6AB7-A6F992F931E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929507" y="5441740"/>
            <a:ext cx="140465" cy="588382"/>
          </a:xfrm>
          <a:prstGeom prst="rect">
            <a:avLst/>
          </a:prstGeom>
        </p:spPr>
      </p:pic>
      <p:pic>
        <p:nvPicPr>
          <p:cNvPr id="101" name="図 100">
            <a:extLst>
              <a:ext uri="{FF2B5EF4-FFF2-40B4-BE49-F238E27FC236}">
                <a16:creationId xmlns:a16="http://schemas.microsoft.com/office/drawing/2014/main" id="{30F4E226-2A0C-1F9F-643A-8C0E5BDDCF8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960727" y="5441713"/>
            <a:ext cx="140465" cy="588382"/>
          </a:xfrm>
          <a:prstGeom prst="rect">
            <a:avLst/>
          </a:prstGeom>
        </p:spPr>
      </p:pic>
      <p:cxnSp>
        <p:nvCxnSpPr>
          <p:cNvPr id="102" name="直線矢印コネクタ 101">
            <a:extLst>
              <a:ext uri="{FF2B5EF4-FFF2-40B4-BE49-F238E27FC236}">
                <a16:creationId xmlns:a16="http://schemas.microsoft.com/office/drawing/2014/main" id="{562390B3-33CB-34DD-73F0-85302F77035A}"/>
              </a:ext>
            </a:extLst>
          </p:cNvPr>
          <p:cNvCxnSpPr>
            <a:cxnSpLocks/>
          </p:cNvCxnSpPr>
          <p:nvPr/>
        </p:nvCxnSpPr>
        <p:spPr>
          <a:xfrm>
            <a:off x="4371984" y="5747452"/>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13F10A86-467E-3E67-7BE2-AE06F1500A1B}"/>
              </a:ext>
            </a:extLst>
          </p:cNvPr>
          <p:cNvCxnSpPr>
            <a:cxnSpLocks/>
          </p:cNvCxnSpPr>
          <p:nvPr/>
        </p:nvCxnSpPr>
        <p:spPr>
          <a:xfrm>
            <a:off x="7532447" y="5747452"/>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B2AB5DFB-9793-C386-59A4-0D07B2C4CF18}"/>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タイトル 2">
            <a:extLst>
              <a:ext uri="{FF2B5EF4-FFF2-40B4-BE49-F238E27FC236}">
                <a16:creationId xmlns:a16="http://schemas.microsoft.com/office/drawing/2014/main" id="{DF31D045-47E9-2F52-97D0-D1039B627C89}"/>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17" name="直線コネクタ 116">
            <a:extLst>
              <a:ext uri="{FF2B5EF4-FFF2-40B4-BE49-F238E27FC236}">
                <a16:creationId xmlns:a16="http://schemas.microsoft.com/office/drawing/2014/main" id="{DE1C3921-817E-A515-90D4-294E8AD835A1}"/>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タイトル 2">
            <a:extLst>
              <a:ext uri="{FF2B5EF4-FFF2-40B4-BE49-F238E27FC236}">
                <a16:creationId xmlns:a16="http://schemas.microsoft.com/office/drawing/2014/main" id="{4BECEF99-4965-5E92-DD15-2EFB1DA6E986}"/>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19" name="直線矢印コネクタ 118">
            <a:extLst>
              <a:ext uri="{FF2B5EF4-FFF2-40B4-BE49-F238E27FC236}">
                <a16:creationId xmlns:a16="http://schemas.microsoft.com/office/drawing/2014/main" id="{0C72CF14-3663-8FDE-0DCD-72D927F23030}"/>
              </a:ext>
            </a:extLst>
          </p:cNvPr>
          <p:cNvCxnSpPr>
            <a:cxnSpLocks/>
          </p:cNvCxnSpPr>
          <p:nvPr/>
        </p:nvCxnSpPr>
        <p:spPr>
          <a:xfrm>
            <a:off x="3422835"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タイトル 2">
            <a:extLst>
              <a:ext uri="{FF2B5EF4-FFF2-40B4-BE49-F238E27FC236}">
                <a16:creationId xmlns:a16="http://schemas.microsoft.com/office/drawing/2014/main" id="{8C40249B-A6A0-EDD2-312C-8F83254F6514}"/>
              </a:ext>
            </a:extLst>
          </p:cNvPr>
          <p:cNvSpPr txBox="1">
            <a:spLocks/>
          </p:cNvSpPr>
          <p:nvPr/>
        </p:nvSpPr>
        <p:spPr>
          <a:xfrm>
            <a:off x="4030907"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21" name="直線コネクタ 120">
            <a:extLst>
              <a:ext uri="{FF2B5EF4-FFF2-40B4-BE49-F238E27FC236}">
                <a16:creationId xmlns:a16="http://schemas.microsoft.com/office/drawing/2014/main" id="{E99519D0-20BB-0A3A-B967-A2943BFB8259}"/>
              </a:ext>
            </a:extLst>
          </p:cNvPr>
          <p:cNvCxnSpPr/>
          <p:nvPr/>
        </p:nvCxnSpPr>
        <p:spPr>
          <a:xfrm>
            <a:off x="3748941"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タイトル 2">
            <a:extLst>
              <a:ext uri="{FF2B5EF4-FFF2-40B4-BE49-F238E27FC236}">
                <a16:creationId xmlns:a16="http://schemas.microsoft.com/office/drawing/2014/main" id="{123EF0CC-CCAE-F215-B0DE-D3C958445E92}"/>
              </a:ext>
            </a:extLst>
          </p:cNvPr>
          <p:cNvSpPr txBox="1">
            <a:spLocks/>
          </p:cNvSpPr>
          <p:nvPr/>
        </p:nvSpPr>
        <p:spPr>
          <a:xfrm>
            <a:off x="3203406"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cxnSp>
        <p:nvCxnSpPr>
          <p:cNvPr id="123" name="直線コネクタ 122">
            <a:extLst>
              <a:ext uri="{FF2B5EF4-FFF2-40B4-BE49-F238E27FC236}">
                <a16:creationId xmlns:a16="http://schemas.microsoft.com/office/drawing/2014/main" id="{81584ED9-C4E7-1108-76EC-B8977EDF6F50}"/>
              </a:ext>
            </a:extLst>
          </p:cNvPr>
          <p:cNvCxnSpPr/>
          <p:nvPr/>
        </p:nvCxnSpPr>
        <p:spPr>
          <a:xfrm>
            <a:off x="5498646"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タイトル 2">
            <a:extLst>
              <a:ext uri="{FF2B5EF4-FFF2-40B4-BE49-F238E27FC236}">
                <a16:creationId xmlns:a16="http://schemas.microsoft.com/office/drawing/2014/main" id="{30079629-5511-9EF2-A3BA-874A3F463DA0}"/>
              </a:ext>
            </a:extLst>
          </p:cNvPr>
          <p:cNvSpPr txBox="1">
            <a:spLocks/>
          </p:cNvSpPr>
          <p:nvPr/>
        </p:nvSpPr>
        <p:spPr>
          <a:xfrm>
            <a:off x="4910654"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25" name="直線矢印コネクタ 124">
            <a:extLst>
              <a:ext uri="{FF2B5EF4-FFF2-40B4-BE49-F238E27FC236}">
                <a16:creationId xmlns:a16="http://schemas.microsoft.com/office/drawing/2014/main" id="{FFA6BB20-A7D5-73E2-5D86-3C6CA79CD49C}"/>
              </a:ext>
            </a:extLst>
          </p:cNvPr>
          <p:cNvCxnSpPr>
            <a:cxnSpLocks/>
          </p:cNvCxnSpPr>
          <p:nvPr/>
        </p:nvCxnSpPr>
        <p:spPr>
          <a:xfrm>
            <a:off x="6530909" y="6497588"/>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タイトル 2">
            <a:extLst>
              <a:ext uri="{FF2B5EF4-FFF2-40B4-BE49-F238E27FC236}">
                <a16:creationId xmlns:a16="http://schemas.microsoft.com/office/drawing/2014/main" id="{6DBC8840-D0C0-67A5-D299-2373464A0FDD}"/>
              </a:ext>
            </a:extLst>
          </p:cNvPr>
          <p:cNvSpPr txBox="1">
            <a:spLocks/>
          </p:cNvSpPr>
          <p:nvPr/>
        </p:nvSpPr>
        <p:spPr>
          <a:xfrm>
            <a:off x="7138981" y="6497588"/>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27" name="直線コネクタ 126">
            <a:extLst>
              <a:ext uri="{FF2B5EF4-FFF2-40B4-BE49-F238E27FC236}">
                <a16:creationId xmlns:a16="http://schemas.microsoft.com/office/drawing/2014/main" id="{59771689-C8E7-FA39-1416-1BB8C0A338CB}"/>
              </a:ext>
            </a:extLst>
          </p:cNvPr>
          <p:cNvCxnSpPr/>
          <p:nvPr/>
        </p:nvCxnSpPr>
        <p:spPr>
          <a:xfrm>
            <a:off x="6857015" y="6363090"/>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タイトル 2">
            <a:extLst>
              <a:ext uri="{FF2B5EF4-FFF2-40B4-BE49-F238E27FC236}">
                <a16:creationId xmlns:a16="http://schemas.microsoft.com/office/drawing/2014/main" id="{E4DC0B4A-31C8-69DD-44CC-BA41F6DC6B3B}"/>
              </a:ext>
            </a:extLst>
          </p:cNvPr>
          <p:cNvSpPr txBox="1">
            <a:spLocks/>
          </p:cNvSpPr>
          <p:nvPr/>
        </p:nvSpPr>
        <p:spPr>
          <a:xfrm>
            <a:off x="6311480" y="6033835"/>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29" name="直線コネクタ 128">
            <a:extLst>
              <a:ext uri="{FF2B5EF4-FFF2-40B4-BE49-F238E27FC236}">
                <a16:creationId xmlns:a16="http://schemas.microsoft.com/office/drawing/2014/main" id="{DE5FFB53-B57F-C2F7-A624-DDFB380CC5FA}"/>
              </a:ext>
            </a:extLst>
          </p:cNvPr>
          <p:cNvCxnSpPr/>
          <p:nvPr/>
        </p:nvCxnSpPr>
        <p:spPr>
          <a:xfrm>
            <a:off x="8606720" y="6363090"/>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タイトル 2">
            <a:extLst>
              <a:ext uri="{FF2B5EF4-FFF2-40B4-BE49-F238E27FC236}">
                <a16:creationId xmlns:a16="http://schemas.microsoft.com/office/drawing/2014/main" id="{CB490DAF-3B4A-1F80-BCC0-C1809C623E0B}"/>
              </a:ext>
            </a:extLst>
          </p:cNvPr>
          <p:cNvSpPr txBox="1">
            <a:spLocks/>
          </p:cNvSpPr>
          <p:nvPr/>
        </p:nvSpPr>
        <p:spPr>
          <a:xfrm>
            <a:off x="8018728" y="6009450"/>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131" name="四角形: 角を丸くする 130">
            <a:extLst>
              <a:ext uri="{FF2B5EF4-FFF2-40B4-BE49-F238E27FC236}">
                <a16:creationId xmlns:a16="http://schemas.microsoft.com/office/drawing/2014/main" id="{DC6EB60F-2635-412A-E165-4A744A7BFA02}"/>
              </a:ext>
            </a:extLst>
          </p:cNvPr>
          <p:cNvSpPr/>
          <p:nvPr/>
        </p:nvSpPr>
        <p:spPr>
          <a:xfrm>
            <a:off x="2308132" y="877367"/>
            <a:ext cx="5530943"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四角形: 角を丸くする 145">
            <a:extLst>
              <a:ext uri="{FF2B5EF4-FFF2-40B4-BE49-F238E27FC236}">
                <a16:creationId xmlns:a16="http://schemas.microsoft.com/office/drawing/2014/main" id="{466731F5-AFD4-3835-1695-E3984EB783B1}"/>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台形 146">
            <a:extLst>
              <a:ext uri="{FF2B5EF4-FFF2-40B4-BE49-F238E27FC236}">
                <a16:creationId xmlns:a16="http://schemas.microsoft.com/office/drawing/2014/main" id="{81DF8436-C7DF-AF06-1E45-C2E867B41582}"/>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49" name="図 148">
            <a:extLst>
              <a:ext uri="{FF2B5EF4-FFF2-40B4-BE49-F238E27FC236}">
                <a16:creationId xmlns:a16="http://schemas.microsoft.com/office/drawing/2014/main" id="{C959B4E8-1B8A-A29F-2075-6B39C980C019}"/>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150" name="タイトル 2">
            <a:extLst>
              <a:ext uri="{FF2B5EF4-FFF2-40B4-BE49-F238E27FC236}">
                <a16:creationId xmlns:a16="http://schemas.microsoft.com/office/drawing/2014/main" id="{0B2765BE-2CFC-0711-B030-5C2A4B4A9F1F}"/>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51" name="台形 150">
            <a:extLst>
              <a:ext uri="{FF2B5EF4-FFF2-40B4-BE49-F238E27FC236}">
                <a16:creationId xmlns:a16="http://schemas.microsoft.com/office/drawing/2014/main" id="{1DF6E6F7-D496-14F0-386F-9C736175D97C}"/>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52" name="タイトル 2">
                <a:extLst>
                  <a:ext uri="{FF2B5EF4-FFF2-40B4-BE49-F238E27FC236}">
                    <a16:creationId xmlns:a16="http://schemas.microsoft.com/office/drawing/2014/main" id="{7925BE0A-9D95-D0F1-93F2-51A13FB86957}"/>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52" name="タイトル 2">
                <a:extLst>
                  <a:ext uri="{FF2B5EF4-FFF2-40B4-BE49-F238E27FC236}">
                    <a16:creationId xmlns:a16="http://schemas.microsoft.com/office/drawing/2014/main" id="{7925BE0A-9D95-D0F1-93F2-51A13FB86957}"/>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8"/>
                <a:stretch>
                  <a:fillRect l="-625"/>
                </a:stretch>
              </a:blipFill>
            </p:spPr>
            <p:txBody>
              <a:bodyPr/>
              <a:lstStyle/>
              <a:p>
                <a:r>
                  <a:rPr lang="en-US">
                    <a:noFill/>
                  </a:rPr>
                  <a:t> </a:t>
                </a:r>
              </a:p>
            </p:txBody>
          </p:sp>
        </mc:Fallback>
      </mc:AlternateContent>
      <p:pic>
        <p:nvPicPr>
          <p:cNvPr id="10" name="グラフィックス 9" descr="車 単色塗りつぶし">
            <a:extLst>
              <a:ext uri="{FF2B5EF4-FFF2-40B4-BE49-F238E27FC236}">
                <a16:creationId xmlns:a16="http://schemas.microsoft.com/office/drawing/2014/main" id="{2DABCE37-98E8-7FC5-2E97-CEA962215EC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952979" y="4116186"/>
            <a:ext cx="914400" cy="914400"/>
          </a:xfrm>
          <a:prstGeom prst="rect">
            <a:avLst/>
          </a:prstGeom>
        </p:spPr>
      </p:pic>
      <p:cxnSp>
        <p:nvCxnSpPr>
          <p:cNvPr id="154" name="直線コネクタ 153">
            <a:extLst>
              <a:ext uri="{FF2B5EF4-FFF2-40B4-BE49-F238E27FC236}">
                <a16:creationId xmlns:a16="http://schemas.microsoft.com/office/drawing/2014/main" id="{DAF43B75-D2F7-6D88-AA4A-72A6AD390DE0}"/>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7" name="タイトル 2">
            <a:extLst>
              <a:ext uri="{FF2B5EF4-FFF2-40B4-BE49-F238E27FC236}">
                <a16:creationId xmlns:a16="http://schemas.microsoft.com/office/drawing/2014/main" id="{4BCBC588-6EF1-C5EB-87B4-08984AB39875}"/>
              </a:ext>
            </a:extLst>
          </p:cNvPr>
          <p:cNvSpPr txBox="1">
            <a:spLocks/>
          </p:cNvSpPr>
          <p:nvPr/>
        </p:nvSpPr>
        <p:spPr>
          <a:xfrm>
            <a:off x="6306096" y="2161920"/>
            <a:ext cx="144409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600"/>
              <a:t>Qwen-VL-7B</a:t>
            </a:r>
            <a:endParaRPr lang="ja-JP" altLang="en-US" sz="1600"/>
          </a:p>
        </p:txBody>
      </p:sp>
      <p:sp>
        <p:nvSpPr>
          <p:cNvPr id="158" name="四角形: 角を丸くする 157">
            <a:extLst>
              <a:ext uri="{FF2B5EF4-FFF2-40B4-BE49-F238E27FC236}">
                <a16:creationId xmlns:a16="http://schemas.microsoft.com/office/drawing/2014/main" id="{BA6E0492-C2C1-EDAA-0771-70E673A66633}"/>
              </a:ext>
            </a:extLst>
          </p:cNvPr>
          <p:cNvSpPr/>
          <p:nvPr/>
        </p:nvSpPr>
        <p:spPr>
          <a:xfrm>
            <a:off x="3148857" y="3900296"/>
            <a:ext cx="2769690" cy="1328971"/>
          </a:xfrm>
          <a:prstGeom prst="roundRect">
            <a:avLst/>
          </a:prstGeom>
          <a:solidFill>
            <a:schemeClr val="accent4">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台形 158">
            <a:extLst>
              <a:ext uri="{FF2B5EF4-FFF2-40B4-BE49-F238E27FC236}">
                <a16:creationId xmlns:a16="http://schemas.microsoft.com/office/drawing/2014/main" id="{8209EF2C-68AB-5B39-6915-BB4D8895FE4A}"/>
              </a:ext>
            </a:extLst>
          </p:cNvPr>
          <p:cNvSpPr/>
          <p:nvPr/>
        </p:nvSpPr>
        <p:spPr>
          <a:xfrm rot="10800000">
            <a:off x="4356134" y="4098609"/>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60" name="図 159">
            <a:extLst>
              <a:ext uri="{FF2B5EF4-FFF2-40B4-BE49-F238E27FC236}">
                <a16:creationId xmlns:a16="http://schemas.microsoft.com/office/drawing/2014/main" id="{ED76EBD1-66BB-3EB2-9F04-36EA6CBFA66F}"/>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349333" y="4019542"/>
            <a:ext cx="561592" cy="564162"/>
          </a:xfrm>
          <a:prstGeom prst="rect">
            <a:avLst/>
          </a:prstGeom>
        </p:spPr>
      </p:pic>
      <p:sp>
        <p:nvSpPr>
          <p:cNvPr id="161" name="タイトル 2">
            <a:extLst>
              <a:ext uri="{FF2B5EF4-FFF2-40B4-BE49-F238E27FC236}">
                <a16:creationId xmlns:a16="http://schemas.microsoft.com/office/drawing/2014/main" id="{0CD0D4D3-9B62-0A58-E3CC-EF16B3E888D3}"/>
              </a:ext>
            </a:extLst>
          </p:cNvPr>
          <p:cNvSpPr txBox="1">
            <a:spLocks/>
          </p:cNvSpPr>
          <p:nvPr/>
        </p:nvSpPr>
        <p:spPr>
          <a:xfrm>
            <a:off x="3079615" y="4652670"/>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62" name="台形 161">
            <a:extLst>
              <a:ext uri="{FF2B5EF4-FFF2-40B4-BE49-F238E27FC236}">
                <a16:creationId xmlns:a16="http://schemas.microsoft.com/office/drawing/2014/main" id="{32AFB5A2-B68F-0C2A-10EA-C60A29DA6566}"/>
              </a:ext>
            </a:extLst>
          </p:cNvPr>
          <p:cNvSpPr/>
          <p:nvPr/>
        </p:nvSpPr>
        <p:spPr>
          <a:xfrm>
            <a:off x="4356134" y="4373448"/>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63" name="タイトル 2">
                <a:extLst>
                  <a:ext uri="{FF2B5EF4-FFF2-40B4-BE49-F238E27FC236}">
                    <a16:creationId xmlns:a16="http://schemas.microsoft.com/office/drawing/2014/main" id="{EB59189F-4D5F-E4B1-9618-01AD9311243B}"/>
                  </a:ext>
                </a:extLst>
              </p:cNvPr>
              <p:cNvSpPr txBox="1">
                <a:spLocks/>
              </p:cNvSpPr>
              <p:nvPr/>
            </p:nvSpPr>
            <p:spPr>
              <a:xfrm>
                <a:off x="4028736" y="4598093"/>
                <a:ext cx="1003033"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63" name="タイトル 2">
                <a:extLst>
                  <a:ext uri="{FF2B5EF4-FFF2-40B4-BE49-F238E27FC236}">
                    <a16:creationId xmlns:a16="http://schemas.microsoft.com/office/drawing/2014/main" id="{EB59189F-4D5F-E4B1-9618-01AD9311243B}"/>
                  </a:ext>
                </a:extLst>
              </p:cNvPr>
              <p:cNvSpPr txBox="1">
                <a:spLocks noRot="1" noChangeAspect="1" noMove="1" noResize="1" noEditPoints="1" noAdjustHandles="1" noChangeArrowheads="1" noChangeShapeType="1" noTextEdit="1"/>
              </p:cNvSpPr>
              <p:nvPr/>
            </p:nvSpPr>
            <p:spPr>
              <a:xfrm>
                <a:off x="4028736" y="4598093"/>
                <a:ext cx="1003033" cy="654671"/>
              </a:xfrm>
              <a:prstGeom prst="rect">
                <a:avLst/>
              </a:prstGeom>
              <a:blipFill>
                <a:blip r:embed="rId21"/>
                <a:stretch>
                  <a:fillRect/>
                </a:stretch>
              </a:blipFill>
            </p:spPr>
            <p:txBody>
              <a:bodyPr/>
              <a:lstStyle/>
              <a:p>
                <a:r>
                  <a:rPr lang="en-US">
                    <a:noFill/>
                  </a:rPr>
                  <a:t> </a:t>
                </a:r>
              </a:p>
            </p:txBody>
          </p:sp>
        </mc:Fallback>
      </mc:AlternateContent>
      <p:pic>
        <p:nvPicPr>
          <p:cNvPr id="164" name="グラフィックス 163" descr="車 単色塗りつぶし">
            <a:extLst>
              <a:ext uri="{FF2B5EF4-FFF2-40B4-BE49-F238E27FC236}">
                <a16:creationId xmlns:a16="http://schemas.microsoft.com/office/drawing/2014/main" id="{EFB0A8EC-5C71-C8B2-528C-5D8C35957855}"/>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024681" y="4109883"/>
            <a:ext cx="914400" cy="914400"/>
          </a:xfrm>
          <a:prstGeom prst="rect">
            <a:avLst/>
          </a:prstGeom>
        </p:spPr>
      </p:pic>
      <p:cxnSp>
        <p:nvCxnSpPr>
          <p:cNvPr id="165" name="直線コネクタ 164">
            <a:extLst>
              <a:ext uri="{FF2B5EF4-FFF2-40B4-BE49-F238E27FC236}">
                <a16:creationId xmlns:a16="http://schemas.microsoft.com/office/drawing/2014/main" id="{6A855E7E-351D-BA7C-0899-E6A21778B517}"/>
              </a:ext>
            </a:extLst>
          </p:cNvPr>
          <p:cNvCxnSpPr>
            <a:cxnSpLocks/>
          </p:cNvCxnSpPr>
          <p:nvPr/>
        </p:nvCxnSpPr>
        <p:spPr>
          <a:xfrm>
            <a:off x="4976170" y="4024106"/>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6" name="四角形: 角を丸くする 165">
            <a:extLst>
              <a:ext uri="{FF2B5EF4-FFF2-40B4-BE49-F238E27FC236}">
                <a16:creationId xmlns:a16="http://schemas.microsoft.com/office/drawing/2014/main" id="{48F558D3-A330-2347-764F-A1647D9267D2}"/>
              </a:ext>
            </a:extLst>
          </p:cNvPr>
          <p:cNvSpPr/>
          <p:nvPr/>
        </p:nvSpPr>
        <p:spPr>
          <a:xfrm>
            <a:off x="6297999" y="3903101"/>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台形 166">
            <a:extLst>
              <a:ext uri="{FF2B5EF4-FFF2-40B4-BE49-F238E27FC236}">
                <a16:creationId xmlns:a16="http://schemas.microsoft.com/office/drawing/2014/main" id="{3A44AC18-82F6-3E94-A76A-3762D4F3D390}"/>
              </a:ext>
            </a:extLst>
          </p:cNvPr>
          <p:cNvSpPr/>
          <p:nvPr/>
        </p:nvSpPr>
        <p:spPr>
          <a:xfrm rot="10800000">
            <a:off x="7505276" y="4101414"/>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68" name="図 167">
            <a:extLst>
              <a:ext uri="{FF2B5EF4-FFF2-40B4-BE49-F238E27FC236}">
                <a16:creationId xmlns:a16="http://schemas.microsoft.com/office/drawing/2014/main" id="{847F91C0-723A-2620-EABD-A455658E31B4}"/>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6498475" y="4022347"/>
            <a:ext cx="561592" cy="564162"/>
          </a:xfrm>
          <a:prstGeom prst="rect">
            <a:avLst/>
          </a:prstGeom>
        </p:spPr>
      </p:pic>
      <p:sp>
        <p:nvSpPr>
          <p:cNvPr id="169" name="タイトル 2">
            <a:extLst>
              <a:ext uri="{FF2B5EF4-FFF2-40B4-BE49-F238E27FC236}">
                <a16:creationId xmlns:a16="http://schemas.microsoft.com/office/drawing/2014/main" id="{167B4449-A91D-E736-D6E2-B92A3D70CE59}"/>
              </a:ext>
            </a:extLst>
          </p:cNvPr>
          <p:cNvSpPr txBox="1">
            <a:spLocks/>
          </p:cNvSpPr>
          <p:nvPr/>
        </p:nvSpPr>
        <p:spPr>
          <a:xfrm>
            <a:off x="6228757" y="4655475"/>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70" name="台形 169">
            <a:extLst>
              <a:ext uri="{FF2B5EF4-FFF2-40B4-BE49-F238E27FC236}">
                <a16:creationId xmlns:a16="http://schemas.microsoft.com/office/drawing/2014/main" id="{0C634EFE-9FB4-CF3C-6311-4EECF75B3896}"/>
              </a:ext>
            </a:extLst>
          </p:cNvPr>
          <p:cNvSpPr/>
          <p:nvPr/>
        </p:nvSpPr>
        <p:spPr>
          <a:xfrm>
            <a:off x="7505276" y="4376253"/>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71" name="タイトル 2">
                <a:extLst>
                  <a:ext uri="{FF2B5EF4-FFF2-40B4-BE49-F238E27FC236}">
                    <a16:creationId xmlns:a16="http://schemas.microsoft.com/office/drawing/2014/main" id="{CA77E1E9-5BCE-9338-72E1-4D19B65654E3}"/>
                  </a:ext>
                </a:extLst>
              </p:cNvPr>
              <p:cNvSpPr txBox="1">
                <a:spLocks/>
              </p:cNvSpPr>
              <p:nvPr/>
            </p:nvSpPr>
            <p:spPr>
              <a:xfrm>
                <a:off x="7191022" y="4600898"/>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3</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71" name="タイトル 2">
                <a:extLst>
                  <a:ext uri="{FF2B5EF4-FFF2-40B4-BE49-F238E27FC236}">
                    <a16:creationId xmlns:a16="http://schemas.microsoft.com/office/drawing/2014/main" id="{CA77E1E9-5BCE-9338-72E1-4D19B65654E3}"/>
                  </a:ext>
                </a:extLst>
              </p:cNvPr>
              <p:cNvSpPr txBox="1">
                <a:spLocks noRot="1" noChangeAspect="1" noMove="1" noResize="1" noEditPoints="1" noAdjustHandles="1" noChangeArrowheads="1" noChangeShapeType="1" noTextEdit="1"/>
              </p:cNvSpPr>
              <p:nvPr/>
            </p:nvSpPr>
            <p:spPr>
              <a:xfrm>
                <a:off x="7191022" y="4600898"/>
                <a:ext cx="989890" cy="654671"/>
              </a:xfrm>
              <a:prstGeom prst="rect">
                <a:avLst/>
              </a:prstGeom>
              <a:blipFill>
                <a:blip r:embed="rId22"/>
                <a:stretch>
                  <a:fillRect/>
                </a:stretch>
              </a:blipFill>
            </p:spPr>
            <p:txBody>
              <a:bodyPr/>
              <a:lstStyle/>
              <a:p>
                <a:r>
                  <a:rPr lang="en-US">
                    <a:noFill/>
                  </a:rPr>
                  <a:t> </a:t>
                </a:r>
              </a:p>
            </p:txBody>
          </p:sp>
        </mc:Fallback>
      </mc:AlternateContent>
      <p:pic>
        <p:nvPicPr>
          <p:cNvPr id="172" name="グラフィックス 171" descr="車 単色塗りつぶし">
            <a:extLst>
              <a:ext uri="{FF2B5EF4-FFF2-40B4-BE49-F238E27FC236}">
                <a16:creationId xmlns:a16="http://schemas.microsoft.com/office/drawing/2014/main" id="{CCBB5706-7382-B7D9-6E31-BEE344440882}"/>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173823" y="4112688"/>
            <a:ext cx="914400" cy="914400"/>
          </a:xfrm>
          <a:prstGeom prst="rect">
            <a:avLst/>
          </a:prstGeom>
        </p:spPr>
      </p:pic>
      <p:cxnSp>
        <p:nvCxnSpPr>
          <p:cNvPr id="173" name="直線コネクタ 172">
            <a:extLst>
              <a:ext uri="{FF2B5EF4-FFF2-40B4-BE49-F238E27FC236}">
                <a16:creationId xmlns:a16="http://schemas.microsoft.com/office/drawing/2014/main" id="{F8E6D448-1BF3-5DEE-93D7-1F99046DD2FA}"/>
              </a:ext>
            </a:extLst>
          </p:cNvPr>
          <p:cNvCxnSpPr>
            <a:cxnSpLocks/>
          </p:cNvCxnSpPr>
          <p:nvPr/>
        </p:nvCxnSpPr>
        <p:spPr>
          <a:xfrm>
            <a:off x="8125312" y="4026911"/>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81" name="直線矢印コネクタ 180">
            <a:extLst>
              <a:ext uri="{FF2B5EF4-FFF2-40B4-BE49-F238E27FC236}">
                <a16:creationId xmlns:a16="http://schemas.microsoft.com/office/drawing/2014/main" id="{0D499B90-06B1-7836-3DC6-8FD16916175F}"/>
              </a:ext>
            </a:extLst>
          </p:cNvPr>
          <p:cNvCxnSpPr>
            <a:cxnSpLocks/>
          </p:cNvCxnSpPr>
          <p:nvPr/>
        </p:nvCxnSpPr>
        <p:spPr>
          <a:xfrm>
            <a:off x="4516584" y="2929079"/>
            <a:ext cx="0" cy="849405"/>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2" name="直線矢印コネクタ 181">
            <a:extLst>
              <a:ext uri="{FF2B5EF4-FFF2-40B4-BE49-F238E27FC236}">
                <a16:creationId xmlns:a16="http://schemas.microsoft.com/office/drawing/2014/main" id="{105FDF4B-9E17-EADD-05EE-86B16C88CE7F}"/>
              </a:ext>
            </a:extLst>
          </p:cNvPr>
          <p:cNvCxnSpPr>
            <a:cxnSpLocks/>
          </p:cNvCxnSpPr>
          <p:nvPr/>
        </p:nvCxnSpPr>
        <p:spPr>
          <a:xfrm rot="10800000" flipV="1">
            <a:off x="1817582" y="2943506"/>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3" name="直線矢印コネクタ 182">
            <a:extLst>
              <a:ext uri="{FF2B5EF4-FFF2-40B4-BE49-F238E27FC236}">
                <a16:creationId xmlns:a16="http://schemas.microsoft.com/office/drawing/2014/main" id="{4920AC3D-CAEE-DCBA-660F-40E85A7090E0}"/>
              </a:ext>
            </a:extLst>
          </p:cNvPr>
          <p:cNvCxnSpPr>
            <a:cxnSpLocks/>
          </p:cNvCxnSpPr>
          <p:nvPr/>
        </p:nvCxnSpPr>
        <p:spPr>
          <a:xfrm rot="16200000" flipV="1">
            <a:off x="6903086" y="2951696"/>
            <a:ext cx="629361" cy="7515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線矢印コネクタ 183">
            <a:extLst>
              <a:ext uri="{FF2B5EF4-FFF2-40B4-BE49-F238E27FC236}">
                <a16:creationId xmlns:a16="http://schemas.microsoft.com/office/drawing/2014/main" id="{50C0A239-9271-3EC2-75BE-2EDA44C2DEAA}"/>
              </a:ext>
            </a:extLst>
          </p:cNvPr>
          <p:cNvCxnSpPr>
            <a:cxnSpLocks/>
          </p:cNvCxnSpPr>
          <p:nvPr/>
        </p:nvCxnSpPr>
        <p:spPr>
          <a:xfrm rot="5400000" flipV="1">
            <a:off x="7037693" y="2866321"/>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7" name="台形 186">
            <a:extLst>
              <a:ext uri="{FF2B5EF4-FFF2-40B4-BE49-F238E27FC236}">
                <a16:creationId xmlns:a16="http://schemas.microsoft.com/office/drawing/2014/main" id="{48BBDE04-3DE2-6D44-D6A3-B6EAE38AA2F3}"/>
              </a:ext>
            </a:extLst>
          </p:cNvPr>
          <p:cNvSpPr/>
          <p:nvPr/>
        </p:nvSpPr>
        <p:spPr>
          <a:xfrm rot="10800000">
            <a:off x="2544639" y="1076520"/>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8" name="台形 187">
            <a:extLst>
              <a:ext uri="{FF2B5EF4-FFF2-40B4-BE49-F238E27FC236}">
                <a16:creationId xmlns:a16="http://schemas.microsoft.com/office/drawing/2014/main" id="{EAA8783B-75FD-4983-35E6-2DD9C3DDD988}"/>
              </a:ext>
            </a:extLst>
          </p:cNvPr>
          <p:cNvSpPr/>
          <p:nvPr/>
        </p:nvSpPr>
        <p:spPr>
          <a:xfrm>
            <a:off x="2544639" y="1351359"/>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9" name="台形 188">
            <a:extLst>
              <a:ext uri="{FF2B5EF4-FFF2-40B4-BE49-F238E27FC236}">
                <a16:creationId xmlns:a16="http://schemas.microsoft.com/office/drawing/2014/main" id="{D130BF25-27F2-F545-90E3-E2B4839DBFB0}"/>
              </a:ext>
            </a:extLst>
          </p:cNvPr>
          <p:cNvSpPr/>
          <p:nvPr/>
        </p:nvSpPr>
        <p:spPr>
          <a:xfrm rot="10800000">
            <a:off x="2535638" y="1666372"/>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0" name="台形 189">
            <a:extLst>
              <a:ext uri="{FF2B5EF4-FFF2-40B4-BE49-F238E27FC236}">
                <a16:creationId xmlns:a16="http://schemas.microsoft.com/office/drawing/2014/main" id="{3564577B-8A85-5512-FBEF-53074D791B85}"/>
              </a:ext>
            </a:extLst>
          </p:cNvPr>
          <p:cNvSpPr/>
          <p:nvPr/>
        </p:nvSpPr>
        <p:spPr>
          <a:xfrm>
            <a:off x="2535638" y="1941211"/>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1" name="台形 190">
            <a:extLst>
              <a:ext uri="{FF2B5EF4-FFF2-40B4-BE49-F238E27FC236}">
                <a16:creationId xmlns:a16="http://schemas.microsoft.com/office/drawing/2014/main" id="{48CB374D-0BD2-1F5A-D31F-7CFDFF9645EE}"/>
              </a:ext>
            </a:extLst>
          </p:cNvPr>
          <p:cNvSpPr/>
          <p:nvPr/>
        </p:nvSpPr>
        <p:spPr>
          <a:xfrm rot="10800000">
            <a:off x="2535638" y="2242558"/>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2" name="台形 191">
            <a:extLst>
              <a:ext uri="{FF2B5EF4-FFF2-40B4-BE49-F238E27FC236}">
                <a16:creationId xmlns:a16="http://schemas.microsoft.com/office/drawing/2014/main" id="{1A4982B3-BF4C-B209-BFFF-98814ECCDD31}"/>
              </a:ext>
            </a:extLst>
          </p:cNvPr>
          <p:cNvSpPr/>
          <p:nvPr/>
        </p:nvSpPr>
        <p:spPr>
          <a:xfrm>
            <a:off x="2535638" y="2517397"/>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98" name="テキスト ボックス 197">
                <a:extLst>
                  <a:ext uri="{FF2B5EF4-FFF2-40B4-BE49-F238E27FC236}">
                    <a16:creationId xmlns:a16="http://schemas.microsoft.com/office/drawing/2014/main" id="{CC238DAF-910B-117D-FF22-6BD90F96A83B}"/>
                  </a:ext>
                </a:extLst>
              </p:cNvPr>
              <p:cNvSpPr txBox="1"/>
              <p:nvPr/>
            </p:nvSpPr>
            <p:spPr>
              <a:xfrm>
                <a:off x="2170063" y="3390528"/>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1</m:t>
                          </m:r>
                        </m:sub>
                      </m:sSub>
                    </m:oMath>
                  </m:oMathPara>
                </a14:m>
                <a:endParaRPr lang="ja-JP" altLang="en-US"/>
              </a:p>
            </p:txBody>
          </p:sp>
        </mc:Choice>
        <mc:Fallback xmlns="">
          <p:sp>
            <p:nvSpPr>
              <p:cNvPr id="198" name="テキスト ボックス 197">
                <a:extLst>
                  <a:ext uri="{FF2B5EF4-FFF2-40B4-BE49-F238E27FC236}">
                    <a16:creationId xmlns:a16="http://schemas.microsoft.com/office/drawing/2014/main" id="{CC238DAF-910B-117D-FF22-6BD90F96A83B}"/>
                  </a:ext>
                </a:extLst>
              </p:cNvPr>
              <p:cNvSpPr txBox="1">
                <a:spLocks noRot="1" noChangeAspect="1" noMove="1" noResize="1" noEditPoints="1" noAdjustHandles="1" noChangeArrowheads="1" noChangeShapeType="1" noTextEdit="1"/>
              </p:cNvSpPr>
              <p:nvPr/>
            </p:nvSpPr>
            <p:spPr>
              <a:xfrm>
                <a:off x="2170063" y="3390528"/>
                <a:ext cx="838729"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9" name="テキスト ボックス 198">
                <a:extLst>
                  <a:ext uri="{FF2B5EF4-FFF2-40B4-BE49-F238E27FC236}">
                    <a16:creationId xmlns:a16="http://schemas.microsoft.com/office/drawing/2014/main" id="{650CCF3D-0B3F-F36C-BE07-47B9D30922A2}"/>
                  </a:ext>
                </a:extLst>
              </p:cNvPr>
              <p:cNvSpPr txBox="1"/>
              <p:nvPr/>
            </p:nvSpPr>
            <p:spPr>
              <a:xfrm>
                <a:off x="4605316" y="3320948"/>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2</m:t>
                          </m:r>
                        </m:sub>
                      </m:sSub>
                    </m:oMath>
                  </m:oMathPara>
                </a14:m>
                <a:endParaRPr lang="ja-JP" altLang="en-US"/>
              </a:p>
            </p:txBody>
          </p:sp>
        </mc:Choice>
        <mc:Fallback xmlns="">
          <p:sp>
            <p:nvSpPr>
              <p:cNvPr id="199" name="テキスト ボックス 198">
                <a:extLst>
                  <a:ext uri="{FF2B5EF4-FFF2-40B4-BE49-F238E27FC236}">
                    <a16:creationId xmlns:a16="http://schemas.microsoft.com/office/drawing/2014/main" id="{650CCF3D-0B3F-F36C-BE07-47B9D30922A2}"/>
                  </a:ext>
                </a:extLst>
              </p:cNvPr>
              <p:cNvSpPr txBox="1">
                <a:spLocks noRot="1" noChangeAspect="1" noMove="1" noResize="1" noEditPoints="1" noAdjustHandles="1" noChangeArrowheads="1" noChangeShapeType="1" noTextEdit="1"/>
              </p:cNvSpPr>
              <p:nvPr/>
            </p:nvSpPr>
            <p:spPr>
              <a:xfrm>
                <a:off x="4605316" y="3320948"/>
                <a:ext cx="838729"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0" name="テキスト ボックス 199">
                <a:extLst>
                  <a:ext uri="{FF2B5EF4-FFF2-40B4-BE49-F238E27FC236}">
                    <a16:creationId xmlns:a16="http://schemas.microsoft.com/office/drawing/2014/main" id="{604B7529-6D50-8CDC-F4EF-49D60E1351FA}"/>
                  </a:ext>
                </a:extLst>
              </p:cNvPr>
              <p:cNvSpPr txBox="1"/>
              <p:nvPr/>
            </p:nvSpPr>
            <p:spPr>
              <a:xfrm>
                <a:off x="6473443" y="3317191"/>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3</m:t>
                          </m:r>
                        </m:sub>
                      </m:sSub>
                    </m:oMath>
                  </m:oMathPara>
                </a14:m>
                <a:endParaRPr lang="ja-JP" altLang="en-US"/>
              </a:p>
            </p:txBody>
          </p:sp>
        </mc:Choice>
        <mc:Fallback xmlns="">
          <p:sp>
            <p:nvSpPr>
              <p:cNvPr id="200" name="テキスト ボックス 199">
                <a:extLst>
                  <a:ext uri="{FF2B5EF4-FFF2-40B4-BE49-F238E27FC236}">
                    <a16:creationId xmlns:a16="http://schemas.microsoft.com/office/drawing/2014/main" id="{604B7529-6D50-8CDC-F4EF-49D60E1351FA}"/>
                  </a:ext>
                </a:extLst>
              </p:cNvPr>
              <p:cNvSpPr txBox="1">
                <a:spLocks noRot="1" noChangeAspect="1" noMove="1" noResize="1" noEditPoints="1" noAdjustHandles="1" noChangeArrowheads="1" noChangeShapeType="1" noTextEdit="1"/>
              </p:cNvSpPr>
              <p:nvPr/>
            </p:nvSpPr>
            <p:spPr>
              <a:xfrm>
                <a:off x="6473443" y="3317191"/>
                <a:ext cx="838729"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 name="吹き出し: 角を丸めた四角形 203">
                <a:extLst>
                  <a:ext uri="{FF2B5EF4-FFF2-40B4-BE49-F238E27FC236}">
                    <a16:creationId xmlns:a16="http://schemas.microsoft.com/office/drawing/2014/main" id="{3C841163-B7BE-BA12-005A-370240FDCAA4}"/>
                  </a:ext>
                </a:extLst>
              </p:cNvPr>
              <p:cNvSpPr/>
              <p:nvPr/>
            </p:nvSpPr>
            <p:spPr>
              <a:xfrm>
                <a:off x="43287" y="2281747"/>
                <a:ext cx="2123120" cy="961044"/>
              </a:xfrm>
              <a:prstGeom prst="wedgeRoundRectCallout">
                <a:avLst>
                  <a:gd name="adj1" fmla="val 163005"/>
                  <a:gd name="adj2" fmla="val -75372"/>
                  <a:gd name="adj3" fmla="val 16667"/>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14:m>
                  <m:oMathPara xmlns:m="http://schemas.openxmlformats.org/officeDocument/2006/math">
                    <m:oMathParaPr>
                      <m:jc m:val="left"/>
                    </m:oMathParaPr>
                    <m:oMath xmlns:m="http://schemas.openxmlformats.org/officeDocument/2006/math">
                      <m:r>
                        <a:rPr lang="en-US" altLang="ja-JP" i="1">
                          <a:solidFill>
                            <a:schemeClr val="tx1"/>
                          </a:solidFill>
                          <a:latin typeface="Cambria Math" panose="02040503050406030204" pitchFamily="18" charset="0"/>
                        </a:rPr>
                        <m:t>𝐿</m:t>
                      </m:r>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1</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𝑝𝑟𝑒𝑑</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2</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𝑟𝑒𝑝𝑟</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3</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𝑔𝑟𝑎𝑑</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4</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𝑝𝑜𝑠𝑡</m:t>
                          </m:r>
                        </m:sub>
                      </m:sSub>
                    </m:oMath>
                  </m:oMathPara>
                </a14:m>
                <a:endParaRPr lang="ja-JP" altLang="en-US">
                  <a:solidFill>
                    <a:schemeClr val="tx1"/>
                  </a:solidFill>
                </a:endParaRPr>
              </a:p>
            </p:txBody>
          </p:sp>
        </mc:Choice>
        <mc:Fallback xmlns="">
          <p:sp>
            <p:nvSpPr>
              <p:cNvPr id="204" name="吹き出し: 角を丸めた四角形 203">
                <a:extLst>
                  <a:ext uri="{FF2B5EF4-FFF2-40B4-BE49-F238E27FC236}">
                    <a16:creationId xmlns:a16="http://schemas.microsoft.com/office/drawing/2014/main" id="{3C841163-B7BE-BA12-005A-370240FDCAA4}"/>
                  </a:ext>
                </a:extLst>
              </p:cNvPr>
              <p:cNvSpPr>
                <a:spLocks noRot="1" noChangeAspect="1" noMove="1" noResize="1" noEditPoints="1" noAdjustHandles="1" noChangeArrowheads="1" noChangeShapeType="1" noTextEdit="1"/>
              </p:cNvSpPr>
              <p:nvPr/>
            </p:nvSpPr>
            <p:spPr>
              <a:xfrm>
                <a:off x="43287" y="2281747"/>
                <a:ext cx="2123120" cy="961044"/>
              </a:xfrm>
              <a:prstGeom prst="wedgeRoundRectCallout">
                <a:avLst>
                  <a:gd name="adj1" fmla="val 163005"/>
                  <a:gd name="adj2" fmla="val -75372"/>
                  <a:gd name="adj3" fmla="val 16667"/>
                </a:avLst>
              </a:prstGeom>
              <a:blipFill>
                <a:blip r:embed="rId26"/>
                <a:stretch>
                  <a:fillRect l="-524" b="-966"/>
                </a:stretch>
              </a:blipFill>
              <a:ln w="28575">
                <a:solidFill>
                  <a:srgbClr val="C00000"/>
                </a:solidFill>
              </a:ln>
            </p:spPr>
            <p:txBody>
              <a:bodyPr/>
              <a:lstStyle/>
              <a:p>
                <a:r>
                  <a:rPr lang="en-US">
                    <a:noFill/>
                  </a:rPr>
                  <a:t> </a:t>
                </a:r>
              </a:p>
            </p:txBody>
          </p:sp>
        </mc:Fallback>
      </mc:AlternateContent>
      <p:sp>
        <p:nvSpPr>
          <p:cNvPr id="205" name="矢印: 右 204">
            <a:extLst>
              <a:ext uri="{FF2B5EF4-FFF2-40B4-BE49-F238E27FC236}">
                <a16:creationId xmlns:a16="http://schemas.microsoft.com/office/drawing/2014/main" id="{45083472-2FB8-A5A1-CF97-E4D78A3F1AE7}"/>
              </a:ext>
            </a:extLst>
          </p:cNvPr>
          <p:cNvSpPr/>
          <p:nvPr/>
        </p:nvSpPr>
        <p:spPr>
          <a:xfrm>
            <a:off x="5795861" y="1700503"/>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右 5">
            <a:extLst>
              <a:ext uri="{FF2B5EF4-FFF2-40B4-BE49-F238E27FC236}">
                <a16:creationId xmlns:a16="http://schemas.microsoft.com/office/drawing/2014/main" id="{4F300F46-9287-AD00-0242-74AC9E5E7246}"/>
              </a:ext>
            </a:extLst>
          </p:cNvPr>
          <p:cNvSpPr/>
          <p:nvPr/>
        </p:nvSpPr>
        <p:spPr>
          <a:xfrm rot="19283956">
            <a:off x="3111127" y="2187382"/>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966BD338-C9C9-2009-EEEC-064130E88B9A}"/>
              </a:ext>
            </a:extLst>
          </p:cNvPr>
          <p:cNvSpPr/>
          <p:nvPr/>
        </p:nvSpPr>
        <p:spPr>
          <a:xfrm>
            <a:off x="3070090" y="1752649"/>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D3663555-8308-E23B-C952-AA7708F06474}"/>
              </a:ext>
            </a:extLst>
          </p:cNvPr>
          <p:cNvSpPr/>
          <p:nvPr/>
        </p:nvSpPr>
        <p:spPr>
          <a:xfrm rot="2825624">
            <a:off x="3087662" y="1304828"/>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台形 10">
            <a:extLst>
              <a:ext uri="{FF2B5EF4-FFF2-40B4-BE49-F238E27FC236}">
                <a16:creationId xmlns:a16="http://schemas.microsoft.com/office/drawing/2014/main" id="{8F12D64B-DE9A-B053-9D7B-AE89A908032A}"/>
              </a:ext>
            </a:extLst>
          </p:cNvPr>
          <p:cNvSpPr/>
          <p:nvPr/>
        </p:nvSpPr>
        <p:spPr>
          <a:xfrm rot="10800000">
            <a:off x="3846152" y="1628340"/>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2" name="台形 11">
            <a:extLst>
              <a:ext uri="{FF2B5EF4-FFF2-40B4-BE49-F238E27FC236}">
                <a16:creationId xmlns:a16="http://schemas.microsoft.com/office/drawing/2014/main" id="{476E893D-C70B-BD9B-FBCC-B765775F3E21}"/>
              </a:ext>
            </a:extLst>
          </p:cNvPr>
          <p:cNvSpPr/>
          <p:nvPr/>
        </p:nvSpPr>
        <p:spPr>
          <a:xfrm>
            <a:off x="3846152" y="1903179"/>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3" name="矢印: 右 12">
            <a:extLst>
              <a:ext uri="{FF2B5EF4-FFF2-40B4-BE49-F238E27FC236}">
                <a16:creationId xmlns:a16="http://schemas.microsoft.com/office/drawing/2014/main" id="{8DC0EABA-0865-FDEF-05B9-AE6D853A001A}"/>
              </a:ext>
            </a:extLst>
          </p:cNvPr>
          <p:cNvSpPr/>
          <p:nvPr/>
        </p:nvSpPr>
        <p:spPr>
          <a:xfrm>
            <a:off x="4366063" y="1683332"/>
            <a:ext cx="405953" cy="298438"/>
          </a:xfrm>
          <a:prstGeom prst="rightArrow">
            <a:avLst/>
          </a:prstGeom>
          <a:solidFill>
            <a:srgbClr val="C00000"/>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台形 13">
            <a:extLst>
              <a:ext uri="{FF2B5EF4-FFF2-40B4-BE49-F238E27FC236}">
                <a16:creationId xmlns:a16="http://schemas.microsoft.com/office/drawing/2014/main" id="{0DA0F1D3-24FD-6C53-7878-AE312D28C5F2}"/>
              </a:ext>
            </a:extLst>
          </p:cNvPr>
          <p:cNvSpPr/>
          <p:nvPr/>
        </p:nvSpPr>
        <p:spPr>
          <a:xfrm rot="10800000">
            <a:off x="4765212" y="1425050"/>
            <a:ext cx="966628" cy="302864"/>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7" name="台形 16">
            <a:extLst>
              <a:ext uri="{FF2B5EF4-FFF2-40B4-BE49-F238E27FC236}">
                <a16:creationId xmlns:a16="http://schemas.microsoft.com/office/drawing/2014/main" id="{7B9282EA-215F-7BB5-DCE1-AF81450FB5CE}"/>
              </a:ext>
            </a:extLst>
          </p:cNvPr>
          <p:cNvSpPr/>
          <p:nvPr/>
        </p:nvSpPr>
        <p:spPr>
          <a:xfrm>
            <a:off x="4784262" y="1813377"/>
            <a:ext cx="966628" cy="302864"/>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 name="吹き出し: 角を丸めた四角形 17">
            <a:extLst>
              <a:ext uri="{FF2B5EF4-FFF2-40B4-BE49-F238E27FC236}">
                <a16:creationId xmlns:a16="http://schemas.microsoft.com/office/drawing/2014/main" id="{408F3EF5-7C78-16CE-1EDF-FCC261FE48CD}"/>
              </a:ext>
            </a:extLst>
          </p:cNvPr>
          <p:cNvSpPr/>
          <p:nvPr/>
        </p:nvSpPr>
        <p:spPr>
          <a:xfrm>
            <a:off x="3677311" y="2387119"/>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a:solidFill>
                  <a:schemeClr val="tx1"/>
                </a:solidFill>
              </a:rPr>
              <a:t>統合</a:t>
            </a:r>
            <a:endParaRPr lang="en-US" altLang="ja-JP">
              <a:solidFill>
                <a:schemeClr val="tx1"/>
              </a:solidFill>
            </a:endParaRPr>
          </a:p>
        </p:txBody>
      </p:sp>
      <p:sp>
        <p:nvSpPr>
          <p:cNvPr id="20" name="タイトル 2">
            <a:extLst>
              <a:ext uri="{FF2B5EF4-FFF2-40B4-BE49-F238E27FC236}">
                <a16:creationId xmlns:a16="http://schemas.microsoft.com/office/drawing/2014/main" id="{F8B36F61-BB03-9DC8-A894-EBD658FF3EBD}"/>
              </a:ext>
            </a:extLst>
          </p:cNvPr>
          <p:cNvSpPr txBox="1">
            <a:spLocks/>
          </p:cNvSpPr>
          <p:nvPr/>
        </p:nvSpPr>
        <p:spPr>
          <a:xfrm>
            <a:off x="6274338" y="895656"/>
            <a:ext cx="144409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600"/>
              <a:t>基盤モデル</a:t>
            </a:r>
          </a:p>
        </p:txBody>
      </p:sp>
      <p:sp>
        <p:nvSpPr>
          <p:cNvPr id="21" name="吹き出し: 角を丸めた四角形 20">
            <a:extLst>
              <a:ext uri="{FF2B5EF4-FFF2-40B4-BE49-F238E27FC236}">
                <a16:creationId xmlns:a16="http://schemas.microsoft.com/office/drawing/2014/main" id="{0D223935-078A-118E-0208-BC9551561C44}"/>
              </a:ext>
            </a:extLst>
          </p:cNvPr>
          <p:cNvSpPr/>
          <p:nvPr/>
        </p:nvSpPr>
        <p:spPr>
          <a:xfrm>
            <a:off x="4520736" y="2211352"/>
            <a:ext cx="1536261" cy="612934"/>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a:solidFill>
                  <a:schemeClr val="tx1"/>
                </a:solidFill>
              </a:rPr>
              <a:t>基盤モデル用</a:t>
            </a:r>
            <a:r>
              <a:rPr lang="en-US" altLang="ja-JP" err="1">
                <a:solidFill>
                  <a:schemeClr val="tx1"/>
                </a:solidFill>
              </a:rPr>
              <a:t>LoRA</a:t>
            </a:r>
            <a:r>
              <a:rPr lang="ja-JP" altLang="en-US">
                <a:solidFill>
                  <a:schemeClr val="tx1"/>
                </a:solidFill>
              </a:rPr>
              <a:t>の作成</a:t>
            </a:r>
            <a:endParaRPr lang="en-US" altLang="ja-JP">
              <a:solidFill>
                <a:schemeClr val="tx1"/>
              </a:solidFill>
            </a:endParaRPr>
          </a:p>
        </p:txBody>
      </p:sp>
    </p:spTree>
    <p:extLst>
      <p:ext uri="{BB962C8B-B14F-4D97-AF65-F5344CB8AC3E}">
        <p14:creationId xmlns:p14="http://schemas.microsoft.com/office/powerpoint/2010/main" val="3330014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569D2-F0FE-D096-9D32-17A5110278B9}"/>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A61085EA-4F2C-457B-D8C2-2A9B77A41554}"/>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0323FD72-0404-54F1-D629-A6B2240C7FF1}"/>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2">
            <a:extLst>
              <a:ext uri="{FF2B5EF4-FFF2-40B4-BE49-F238E27FC236}">
                <a16:creationId xmlns:a16="http://schemas.microsoft.com/office/drawing/2014/main" id="{6D2ADA33-CAA6-61EB-ACA5-316A160A485C}"/>
              </a:ext>
            </a:extLst>
          </p:cNvPr>
          <p:cNvSpPr>
            <a:spLocks noGrp="1"/>
          </p:cNvSpPr>
          <p:nvPr>
            <p:ph type="title"/>
          </p:nvPr>
        </p:nvSpPr>
        <p:spPr/>
        <p:txBody>
          <a:bodyPr>
            <a:normAutofit/>
          </a:bodyPr>
          <a:lstStyle/>
          <a:p>
            <a:r>
              <a:rPr kumimoji="1" lang="en-US" altLang="ja-JP"/>
              <a:t>1.</a:t>
            </a:r>
            <a:r>
              <a:rPr kumimoji="1" lang="ja-JP" altLang="en-US"/>
              <a:t>サーバの起動と</a:t>
            </a:r>
            <a:r>
              <a:rPr kumimoji="1" lang="en-US" altLang="ja-JP" err="1"/>
              <a:t>LoRA</a:t>
            </a:r>
            <a:r>
              <a:rPr kumimoji="1" lang="ja-JP" altLang="en-US"/>
              <a:t>配布</a:t>
            </a:r>
          </a:p>
        </p:txBody>
      </p:sp>
      <p:sp>
        <p:nvSpPr>
          <p:cNvPr id="4" name="スライド番号プレースホルダー 3">
            <a:extLst>
              <a:ext uri="{FF2B5EF4-FFF2-40B4-BE49-F238E27FC236}">
                <a16:creationId xmlns:a16="http://schemas.microsoft.com/office/drawing/2014/main" id="{ECA14EF3-DBC5-482D-7255-6E88A3738347}"/>
              </a:ext>
            </a:extLst>
          </p:cNvPr>
          <p:cNvSpPr>
            <a:spLocks noGrp="1"/>
          </p:cNvSpPr>
          <p:nvPr>
            <p:ph type="sldNum" sz="quarter" idx="4"/>
          </p:nvPr>
        </p:nvSpPr>
        <p:spPr>
          <a:xfrm>
            <a:off x="5669953" y="94342"/>
            <a:ext cx="3118757" cy="354013"/>
          </a:xfrm>
        </p:spPr>
        <p:txBody>
          <a:bodyPr/>
          <a:lstStyle/>
          <a:p>
            <a:fld id="{C088C981-6885-4100-82A1-DE7074EC4480}" type="slidenum">
              <a:rPr lang="ja-JP" altLang="en-US" smtClean="0"/>
              <a:t>6</a:t>
            </a:fld>
            <a:endParaRPr lang="ja-JP" altLang="en-US"/>
          </a:p>
        </p:txBody>
      </p:sp>
      <p:pic>
        <p:nvPicPr>
          <p:cNvPr id="90" name="図 89">
            <a:extLst>
              <a:ext uri="{FF2B5EF4-FFF2-40B4-BE49-F238E27FC236}">
                <a16:creationId xmlns:a16="http://schemas.microsoft.com/office/drawing/2014/main" id="{D70F8716-242F-C3D6-6567-4943B7AC66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24" name="図 23">
            <a:extLst>
              <a:ext uri="{FF2B5EF4-FFF2-40B4-BE49-F238E27FC236}">
                <a16:creationId xmlns:a16="http://schemas.microsoft.com/office/drawing/2014/main" id="{FF2DAFEA-9E51-7ABC-5E08-AFCE8FDFD5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92" name="図 91">
            <a:extLst>
              <a:ext uri="{FF2B5EF4-FFF2-40B4-BE49-F238E27FC236}">
                <a16:creationId xmlns:a16="http://schemas.microsoft.com/office/drawing/2014/main" id="{B3E50B46-BA3C-D93C-1D19-386EF68B1C6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36" name="図 35">
            <a:extLst>
              <a:ext uri="{FF2B5EF4-FFF2-40B4-BE49-F238E27FC236}">
                <a16:creationId xmlns:a16="http://schemas.microsoft.com/office/drawing/2014/main" id="{436177CE-340E-81D8-4130-B068AA8BCA4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37" name="図 36">
            <a:extLst>
              <a:ext uri="{FF2B5EF4-FFF2-40B4-BE49-F238E27FC236}">
                <a16:creationId xmlns:a16="http://schemas.microsoft.com/office/drawing/2014/main" id="{D8948371-E5EA-0F16-CD94-131F1F3444C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40" name="図 39">
            <a:extLst>
              <a:ext uri="{FF2B5EF4-FFF2-40B4-BE49-F238E27FC236}">
                <a16:creationId xmlns:a16="http://schemas.microsoft.com/office/drawing/2014/main" id="{232E8A87-3760-9111-157F-DF4D0F4A038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50" name="直線矢印コネクタ 49">
            <a:extLst>
              <a:ext uri="{FF2B5EF4-FFF2-40B4-BE49-F238E27FC236}">
                <a16:creationId xmlns:a16="http://schemas.microsoft.com/office/drawing/2014/main" id="{B94CF0CA-829F-8AB8-AEB8-3DBB40535AE2}"/>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タイトル 2">
            <a:extLst>
              <a:ext uri="{FF2B5EF4-FFF2-40B4-BE49-F238E27FC236}">
                <a16:creationId xmlns:a16="http://schemas.microsoft.com/office/drawing/2014/main" id="{0E3F6D02-BE31-4FD9-E2CF-AEDDECE8CE75}"/>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53" name="直線矢印コネクタ 52">
            <a:extLst>
              <a:ext uri="{FF2B5EF4-FFF2-40B4-BE49-F238E27FC236}">
                <a16:creationId xmlns:a16="http://schemas.microsoft.com/office/drawing/2014/main" id="{E6773306-4F04-1D58-A074-24BA3B36BA2E}"/>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0" name="図 59">
            <a:extLst>
              <a:ext uri="{FF2B5EF4-FFF2-40B4-BE49-F238E27FC236}">
                <a16:creationId xmlns:a16="http://schemas.microsoft.com/office/drawing/2014/main" id="{EE0D3FB2-0E2C-3D71-0B08-3056A926CC4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61" name="図 60">
            <a:extLst>
              <a:ext uri="{FF2B5EF4-FFF2-40B4-BE49-F238E27FC236}">
                <a16:creationId xmlns:a16="http://schemas.microsoft.com/office/drawing/2014/main" id="{832D5AED-A23A-BFFA-B9AC-E9C5D6FF349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12" name="図 111">
            <a:extLst>
              <a:ext uri="{FF2B5EF4-FFF2-40B4-BE49-F238E27FC236}">
                <a16:creationId xmlns:a16="http://schemas.microsoft.com/office/drawing/2014/main" id="{6822D294-22A7-6478-5A0D-CC92C78C69D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110" name="図 109">
            <a:extLst>
              <a:ext uri="{FF2B5EF4-FFF2-40B4-BE49-F238E27FC236}">
                <a16:creationId xmlns:a16="http://schemas.microsoft.com/office/drawing/2014/main" id="{CB88C51F-25BB-9BE7-BD67-63AC6D75220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73" name="図 72">
            <a:extLst>
              <a:ext uri="{FF2B5EF4-FFF2-40B4-BE49-F238E27FC236}">
                <a16:creationId xmlns:a16="http://schemas.microsoft.com/office/drawing/2014/main" id="{BE809F1F-9E8E-5BAA-155E-DFD02CDFF77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79" name="図 78">
            <a:extLst>
              <a:ext uri="{FF2B5EF4-FFF2-40B4-BE49-F238E27FC236}">
                <a16:creationId xmlns:a16="http://schemas.microsoft.com/office/drawing/2014/main" id="{DB2F1519-6D21-3F81-D61E-9D6DC73704A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97" name="図 96">
            <a:extLst>
              <a:ext uri="{FF2B5EF4-FFF2-40B4-BE49-F238E27FC236}">
                <a16:creationId xmlns:a16="http://schemas.microsoft.com/office/drawing/2014/main" id="{A3EDF219-C911-3B1E-0FDC-E843C6CA877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98" name="図 97">
            <a:extLst>
              <a:ext uri="{FF2B5EF4-FFF2-40B4-BE49-F238E27FC236}">
                <a16:creationId xmlns:a16="http://schemas.microsoft.com/office/drawing/2014/main" id="{A415DC59-AC0B-2915-910D-F12C5B435D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100" name="図 99">
            <a:extLst>
              <a:ext uri="{FF2B5EF4-FFF2-40B4-BE49-F238E27FC236}">
                <a16:creationId xmlns:a16="http://schemas.microsoft.com/office/drawing/2014/main" id="{ECCA541C-6950-4D0F-51DA-FEEB933BCC4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101" name="図 100">
            <a:extLst>
              <a:ext uri="{FF2B5EF4-FFF2-40B4-BE49-F238E27FC236}">
                <a16:creationId xmlns:a16="http://schemas.microsoft.com/office/drawing/2014/main" id="{62B18CB9-B0AB-6833-453B-58215C00241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103" name="直線矢印コネクタ 102">
            <a:extLst>
              <a:ext uri="{FF2B5EF4-FFF2-40B4-BE49-F238E27FC236}">
                <a16:creationId xmlns:a16="http://schemas.microsoft.com/office/drawing/2014/main" id="{66335F55-BBBA-3BB2-25C1-6AB75EE4EA55}"/>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DC61CFFE-9229-0F57-A857-24589A0C29E5}"/>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タイトル 2">
            <a:extLst>
              <a:ext uri="{FF2B5EF4-FFF2-40B4-BE49-F238E27FC236}">
                <a16:creationId xmlns:a16="http://schemas.microsoft.com/office/drawing/2014/main" id="{643FE2D1-E234-5CAA-D498-81CEDEAF52D7}"/>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17" name="直線コネクタ 116">
            <a:extLst>
              <a:ext uri="{FF2B5EF4-FFF2-40B4-BE49-F238E27FC236}">
                <a16:creationId xmlns:a16="http://schemas.microsoft.com/office/drawing/2014/main" id="{9BB56E61-135B-639F-2097-439E6756B86F}"/>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タイトル 2">
            <a:extLst>
              <a:ext uri="{FF2B5EF4-FFF2-40B4-BE49-F238E27FC236}">
                <a16:creationId xmlns:a16="http://schemas.microsoft.com/office/drawing/2014/main" id="{770AA646-3E93-9C17-C67F-43C255BD3B91}"/>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25" name="直線矢印コネクタ 124">
            <a:extLst>
              <a:ext uri="{FF2B5EF4-FFF2-40B4-BE49-F238E27FC236}">
                <a16:creationId xmlns:a16="http://schemas.microsoft.com/office/drawing/2014/main" id="{14BCD2AC-B532-BFD1-5CEB-1E759FCADEA1}"/>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タイトル 2">
            <a:extLst>
              <a:ext uri="{FF2B5EF4-FFF2-40B4-BE49-F238E27FC236}">
                <a16:creationId xmlns:a16="http://schemas.microsoft.com/office/drawing/2014/main" id="{43DFCE6C-F677-D892-FE60-A31CC7639C87}"/>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27" name="直線コネクタ 126">
            <a:extLst>
              <a:ext uri="{FF2B5EF4-FFF2-40B4-BE49-F238E27FC236}">
                <a16:creationId xmlns:a16="http://schemas.microsoft.com/office/drawing/2014/main" id="{0F2519AA-CDC3-732B-BBB7-4A373D3379D8}"/>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タイトル 2">
            <a:extLst>
              <a:ext uri="{FF2B5EF4-FFF2-40B4-BE49-F238E27FC236}">
                <a16:creationId xmlns:a16="http://schemas.microsoft.com/office/drawing/2014/main" id="{B9C060AE-6E59-A1B9-D640-AAEFE687323F}"/>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29" name="直線コネクタ 128">
            <a:extLst>
              <a:ext uri="{FF2B5EF4-FFF2-40B4-BE49-F238E27FC236}">
                <a16:creationId xmlns:a16="http://schemas.microsoft.com/office/drawing/2014/main" id="{F7CB6FE7-AB02-8334-422B-340032C853CC}"/>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タイトル 2">
            <a:extLst>
              <a:ext uri="{FF2B5EF4-FFF2-40B4-BE49-F238E27FC236}">
                <a16:creationId xmlns:a16="http://schemas.microsoft.com/office/drawing/2014/main" id="{2D2B4B8D-75B3-667A-805B-3A92B7FD48C1}"/>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131" name="四角形: 角を丸くする 130">
            <a:extLst>
              <a:ext uri="{FF2B5EF4-FFF2-40B4-BE49-F238E27FC236}">
                <a16:creationId xmlns:a16="http://schemas.microsoft.com/office/drawing/2014/main" id="{DE216598-7330-1C19-3E3E-020F92C970D7}"/>
              </a:ext>
            </a:extLst>
          </p:cNvPr>
          <p:cNvSpPr/>
          <p:nvPr/>
        </p:nvSpPr>
        <p:spPr>
          <a:xfrm>
            <a:off x="1918077" y="877367"/>
            <a:ext cx="4139824"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四角形: 角を丸くする 145">
            <a:extLst>
              <a:ext uri="{FF2B5EF4-FFF2-40B4-BE49-F238E27FC236}">
                <a16:creationId xmlns:a16="http://schemas.microsoft.com/office/drawing/2014/main" id="{482902AB-BAA9-4613-E4F1-4B92805B4514}"/>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台形 146">
            <a:extLst>
              <a:ext uri="{FF2B5EF4-FFF2-40B4-BE49-F238E27FC236}">
                <a16:creationId xmlns:a16="http://schemas.microsoft.com/office/drawing/2014/main" id="{64C5BACC-AF68-8CCD-10DC-FBE37AEEE3C3}"/>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49" name="図 148">
            <a:extLst>
              <a:ext uri="{FF2B5EF4-FFF2-40B4-BE49-F238E27FC236}">
                <a16:creationId xmlns:a16="http://schemas.microsoft.com/office/drawing/2014/main" id="{13F52879-48B1-60B2-4953-DA10228D300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150" name="タイトル 2">
            <a:extLst>
              <a:ext uri="{FF2B5EF4-FFF2-40B4-BE49-F238E27FC236}">
                <a16:creationId xmlns:a16="http://schemas.microsoft.com/office/drawing/2014/main" id="{0375706E-3400-8781-9874-EB08EEDBAED8}"/>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51" name="台形 150">
            <a:extLst>
              <a:ext uri="{FF2B5EF4-FFF2-40B4-BE49-F238E27FC236}">
                <a16:creationId xmlns:a16="http://schemas.microsoft.com/office/drawing/2014/main" id="{E7327697-5710-CFCD-182E-65E74410371E}"/>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52" name="タイトル 2">
                <a:extLst>
                  <a:ext uri="{FF2B5EF4-FFF2-40B4-BE49-F238E27FC236}">
                    <a16:creationId xmlns:a16="http://schemas.microsoft.com/office/drawing/2014/main" id="{8C945ECB-D4C7-6BB8-AA86-9AAA0F2E9CE9}"/>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52" name="タイトル 2">
                <a:extLst>
                  <a:ext uri="{FF2B5EF4-FFF2-40B4-BE49-F238E27FC236}">
                    <a16:creationId xmlns:a16="http://schemas.microsoft.com/office/drawing/2014/main" id="{8C945ECB-D4C7-6BB8-AA86-9AAA0F2E9CE9}"/>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10" name="グラフィックス 9" descr="車 単色塗りつぶし">
            <a:extLst>
              <a:ext uri="{FF2B5EF4-FFF2-40B4-BE49-F238E27FC236}">
                <a16:creationId xmlns:a16="http://schemas.microsoft.com/office/drawing/2014/main" id="{5D80BCAE-1C35-186E-C965-408C3215A91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154" name="直線コネクタ 153">
            <a:extLst>
              <a:ext uri="{FF2B5EF4-FFF2-40B4-BE49-F238E27FC236}">
                <a16:creationId xmlns:a16="http://schemas.microsoft.com/office/drawing/2014/main" id="{AC403DDE-FBD1-0AAB-6BAA-7BCA966B56A1}"/>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6" name="四角形: 角を丸くする 165">
            <a:extLst>
              <a:ext uri="{FF2B5EF4-FFF2-40B4-BE49-F238E27FC236}">
                <a16:creationId xmlns:a16="http://schemas.microsoft.com/office/drawing/2014/main" id="{C5CF9740-939E-6108-03C8-CC253DB6095B}"/>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台形 166">
            <a:extLst>
              <a:ext uri="{FF2B5EF4-FFF2-40B4-BE49-F238E27FC236}">
                <a16:creationId xmlns:a16="http://schemas.microsoft.com/office/drawing/2014/main" id="{983B461A-4B7E-14AD-1EBD-3A99A200DC45}"/>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68" name="図 167">
            <a:extLst>
              <a:ext uri="{FF2B5EF4-FFF2-40B4-BE49-F238E27FC236}">
                <a16:creationId xmlns:a16="http://schemas.microsoft.com/office/drawing/2014/main" id="{F3B9CB10-AC0D-EFB5-F5F1-32254FAC091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169" name="タイトル 2">
            <a:extLst>
              <a:ext uri="{FF2B5EF4-FFF2-40B4-BE49-F238E27FC236}">
                <a16:creationId xmlns:a16="http://schemas.microsoft.com/office/drawing/2014/main" id="{C38034CB-9FE7-BDDA-7656-00EF2947335C}"/>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70" name="台形 169">
            <a:extLst>
              <a:ext uri="{FF2B5EF4-FFF2-40B4-BE49-F238E27FC236}">
                <a16:creationId xmlns:a16="http://schemas.microsoft.com/office/drawing/2014/main" id="{43B86597-AAC6-4623-5F6D-0107D6296A50}"/>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71" name="タイトル 2">
                <a:extLst>
                  <a:ext uri="{FF2B5EF4-FFF2-40B4-BE49-F238E27FC236}">
                    <a16:creationId xmlns:a16="http://schemas.microsoft.com/office/drawing/2014/main" id="{40056529-483D-04D6-EAF7-39682790BF48}"/>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71" name="タイトル 2">
                <a:extLst>
                  <a:ext uri="{FF2B5EF4-FFF2-40B4-BE49-F238E27FC236}">
                    <a16:creationId xmlns:a16="http://schemas.microsoft.com/office/drawing/2014/main" id="{40056529-483D-04D6-EAF7-39682790BF48}"/>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6"/>
                <a:stretch>
                  <a:fillRect/>
                </a:stretch>
              </a:blipFill>
            </p:spPr>
            <p:txBody>
              <a:bodyPr/>
              <a:lstStyle/>
              <a:p>
                <a:r>
                  <a:rPr lang="en-US">
                    <a:noFill/>
                  </a:rPr>
                  <a:t> </a:t>
                </a:r>
              </a:p>
            </p:txBody>
          </p:sp>
        </mc:Fallback>
      </mc:AlternateContent>
      <p:pic>
        <p:nvPicPr>
          <p:cNvPr id="172" name="グラフィックス 171" descr="車 単色塗りつぶし">
            <a:extLst>
              <a:ext uri="{FF2B5EF4-FFF2-40B4-BE49-F238E27FC236}">
                <a16:creationId xmlns:a16="http://schemas.microsoft.com/office/drawing/2014/main" id="{656E2134-678F-705D-6CEA-CBD29B8308B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173" name="直線コネクタ 172">
            <a:extLst>
              <a:ext uri="{FF2B5EF4-FFF2-40B4-BE49-F238E27FC236}">
                <a16:creationId xmlns:a16="http://schemas.microsoft.com/office/drawing/2014/main" id="{94650098-3943-85E5-7FF8-B935369A5743}"/>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9" name="図 18">
            <a:extLst>
              <a:ext uri="{FF2B5EF4-FFF2-40B4-BE49-F238E27FC236}">
                <a16:creationId xmlns:a16="http://schemas.microsoft.com/office/drawing/2014/main" id="{ED3E2EE5-2327-1B3C-EE75-FE89759F70C9}"/>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580967" y="1168701"/>
            <a:ext cx="789017" cy="792628"/>
          </a:xfrm>
          <a:prstGeom prst="rect">
            <a:avLst/>
          </a:prstGeom>
        </p:spPr>
      </p:pic>
      <p:sp>
        <p:nvSpPr>
          <p:cNvPr id="20" name="タイトル 2">
            <a:extLst>
              <a:ext uri="{FF2B5EF4-FFF2-40B4-BE49-F238E27FC236}">
                <a16:creationId xmlns:a16="http://schemas.microsoft.com/office/drawing/2014/main" id="{983800F2-FEF3-2D83-2388-F41E1FD4AD33}"/>
              </a:ext>
            </a:extLst>
          </p:cNvPr>
          <p:cNvSpPr txBox="1">
            <a:spLocks/>
          </p:cNvSpPr>
          <p:nvPr/>
        </p:nvSpPr>
        <p:spPr>
          <a:xfrm>
            <a:off x="3264142" y="2119731"/>
            <a:ext cx="140985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400"/>
              <a:t>Qwen-VL-3B</a:t>
            </a:r>
            <a:endParaRPr lang="ja-JP" altLang="en-US" sz="1400"/>
          </a:p>
        </p:txBody>
      </p:sp>
      <p:sp>
        <p:nvSpPr>
          <p:cNvPr id="5" name="正方形/長方形 4">
            <a:extLst>
              <a:ext uri="{FF2B5EF4-FFF2-40B4-BE49-F238E27FC236}">
                <a16:creationId xmlns:a16="http://schemas.microsoft.com/office/drawing/2014/main" id="{6266DE73-9169-DC22-D08F-AD4E2F37CE08}"/>
              </a:ext>
            </a:extLst>
          </p:cNvPr>
          <p:cNvSpPr/>
          <p:nvPr/>
        </p:nvSpPr>
        <p:spPr>
          <a:xfrm>
            <a:off x="6837639" y="942252"/>
            <a:ext cx="2131438" cy="54480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b="1">
                <a:solidFill>
                  <a:schemeClr val="tx1"/>
                </a:solidFill>
              </a:rPr>
              <a:t>サーバ側（基盤側）</a:t>
            </a:r>
            <a:endParaRPr kumimoji="1" lang="ja-JP" altLang="en-US"/>
          </a:p>
        </p:txBody>
      </p:sp>
      <p:cxnSp>
        <p:nvCxnSpPr>
          <p:cNvPr id="14" name="直線コネクタ 13">
            <a:extLst>
              <a:ext uri="{FF2B5EF4-FFF2-40B4-BE49-F238E27FC236}">
                <a16:creationId xmlns:a16="http://schemas.microsoft.com/office/drawing/2014/main" id="{C11A733C-7364-905C-EC62-5BAB67900379}"/>
              </a:ext>
            </a:extLst>
          </p:cNvPr>
          <p:cNvCxnSpPr>
            <a:endCxn id="5" idx="1"/>
          </p:cNvCxnSpPr>
          <p:nvPr/>
        </p:nvCxnSpPr>
        <p:spPr>
          <a:xfrm>
            <a:off x="6057901" y="1168701"/>
            <a:ext cx="779738" cy="459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ABA1F641-E3E3-0E24-5AB7-9EC06DF13398}"/>
              </a:ext>
            </a:extLst>
          </p:cNvPr>
          <p:cNvCxnSpPr>
            <a:cxnSpLocks/>
          </p:cNvCxnSpPr>
          <p:nvPr/>
        </p:nvCxnSpPr>
        <p:spPr>
          <a:xfrm rot="10800000" flipV="1">
            <a:off x="1817582" y="2943506"/>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E174EEF0-7ED8-C8AA-E477-ED0B4BB0CC27}"/>
              </a:ext>
            </a:extLst>
          </p:cNvPr>
          <p:cNvCxnSpPr>
            <a:cxnSpLocks/>
          </p:cNvCxnSpPr>
          <p:nvPr/>
        </p:nvCxnSpPr>
        <p:spPr>
          <a:xfrm rot="5400000" flipV="1">
            <a:off x="6175473" y="2857943"/>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F7C9E891-23C4-CB25-B06E-73D63652E6A7}"/>
                  </a:ext>
                </a:extLst>
              </p:cNvPr>
              <p:cNvSpPr txBox="1"/>
              <p:nvPr/>
            </p:nvSpPr>
            <p:spPr>
              <a:xfrm>
                <a:off x="3308115" y="4237929"/>
                <a:ext cx="1713059" cy="523220"/>
              </a:xfrm>
              <a:prstGeom prst="rect">
                <a:avLst/>
              </a:prstGeom>
              <a:noFill/>
              <a:ln w="28575">
                <a:solidFill>
                  <a:schemeClr val="tx1"/>
                </a:solidFill>
              </a:ln>
            </p:spPr>
            <p:txBody>
              <a:bodyPr wrap="square">
                <a:spAutoFit/>
              </a:bodyPr>
              <a:lstStyle/>
              <a:p>
                <a14:m>
                  <m:oMath xmlns:m="http://schemas.openxmlformats.org/officeDocument/2006/math">
                    <m:r>
                      <m:rPr>
                        <m:sty m:val="p"/>
                      </m:rPr>
                      <a:rPr lang="en-US" altLang="ja-JP" sz="2800" smtClean="0">
                        <a:solidFill>
                          <a:schemeClr val="tx1"/>
                        </a:solidFill>
                        <a:latin typeface="Cambria Math" panose="02040503050406030204" pitchFamily="18" charset="0"/>
                      </a:rPr>
                      <m:t>Δ</m:t>
                    </m:r>
                    <m:sSub>
                      <m:sSubPr>
                        <m:ctrlPr>
                          <a:rPr lang="en-US" altLang="ja-JP" sz="2800" b="0" i="1" smtClean="0">
                            <a:solidFill>
                              <a:schemeClr val="tx1"/>
                            </a:solidFill>
                            <a:latin typeface="Cambria Math" panose="02040503050406030204" pitchFamily="18" charset="0"/>
                          </a:rPr>
                        </m:ctrlPr>
                      </m:sSubPr>
                      <m:e>
                        <m:r>
                          <a:rPr lang="en-US" altLang="ja-JP" sz="2800" i="1">
                            <a:solidFill>
                              <a:schemeClr val="tx1"/>
                            </a:solidFill>
                            <a:latin typeface="Cambria Math" panose="02040503050406030204" pitchFamily="18" charset="0"/>
                          </a:rPr>
                          <m:t>𝑊</m:t>
                        </m:r>
                      </m:e>
                      <m:sub>
                        <m:r>
                          <a:rPr lang="en-US" altLang="ja-JP" sz="2800" b="0" i="1" smtClean="0">
                            <a:solidFill>
                              <a:schemeClr val="tx1"/>
                            </a:solidFill>
                            <a:latin typeface="Cambria Math" panose="02040503050406030204" pitchFamily="18" charset="0"/>
                          </a:rPr>
                          <m:t>1</m:t>
                        </m:r>
                      </m:sub>
                    </m:sSub>
                  </m:oMath>
                </a14:m>
                <a:r>
                  <a:rPr lang="en-US" altLang="ja-JP" sz="2800">
                    <a:solidFill>
                      <a:schemeClr val="tx1"/>
                    </a:solidFill>
                  </a:rPr>
                  <a:t>=</a:t>
                </a:r>
                <a14:m>
                  <m:oMath xmlns:m="http://schemas.openxmlformats.org/officeDocument/2006/math">
                    <m:r>
                      <m:rPr>
                        <m:sty m:val="p"/>
                      </m:rPr>
                      <a:rPr lang="en-US" altLang="ja-JP" sz="2800">
                        <a:latin typeface="Cambria Math" panose="02040503050406030204" pitchFamily="18" charset="0"/>
                      </a:rPr>
                      <m:t>Δ</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2</m:t>
                        </m:r>
                      </m:sub>
                    </m:sSub>
                  </m:oMath>
                </a14:m>
                <a:endParaRPr lang="ja-JP" altLang="en-US" sz="2800"/>
              </a:p>
            </p:txBody>
          </p:sp>
        </mc:Choice>
        <mc:Fallback xmlns="">
          <p:sp>
            <p:nvSpPr>
              <p:cNvPr id="31" name="テキスト ボックス 30">
                <a:extLst>
                  <a:ext uri="{FF2B5EF4-FFF2-40B4-BE49-F238E27FC236}">
                    <a16:creationId xmlns:a16="http://schemas.microsoft.com/office/drawing/2014/main" id="{F7C9E891-23C4-CB25-B06E-73D63652E6A7}"/>
                  </a:ext>
                </a:extLst>
              </p:cNvPr>
              <p:cNvSpPr txBox="1">
                <a:spLocks noRot="1" noChangeAspect="1" noMove="1" noResize="1" noEditPoints="1" noAdjustHandles="1" noChangeArrowheads="1" noChangeShapeType="1" noTextEdit="1"/>
              </p:cNvSpPr>
              <p:nvPr/>
            </p:nvSpPr>
            <p:spPr>
              <a:xfrm>
                <a:off x="3308115" y="4237929"/>
                <a:ext cx="1713059" cy="523220"/>
              </a:xfrm>
              <a:prstGeom prst="rect">
                <a:avLst/>
              </a:prstGeom>
              <a:blipFill>
                <a:blip r:embed="rId17"/>
                <a:stretch>
                  <a:fillRect t="-7692" b="-27473"/>
                </a:stretch>
              </a:blipFill>
              <a:ln w="28575">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36CF355E-2C8B-6F02-5A1B-D389C898FBEB}"/>
                  </a:ext>
                </a:extLst>
              </p:cNvPr>
              <p:cNvSpPr txBox="1"/>
              <p:nvPr/>
            </p:nvSpPr>
            <p:spPr>
              <a:xfrm>
                <a:off x="4921106" y="2984105"/>
                <a:ext cx="461645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800" smtClean="0">
                          <a:solidFill>
                            <a:schemeClr val="tx1"/>
                          </a:solidFill>
                          <a:latin typeface="Cambria Math" panose="02040503050406030204" pitchFamily="18" charset="0"/>
                        </a:rPr>
                        <m:t>Δ</m:t>
                      </m:r>
                      <m:sSub>
                        <m:sSubPr>
                          <m:ctrlPr>
                            <a:rPr lang="en-US" altLang="ja-JP" sz="2800" b="0" i="1" smtClean="0">
                              <a:solidFill>
                                <a:schemeClr val="tx1"/>
                              </a:solidFill>
                              <a:latin typeface="Cambria Math" panose="02040503050406030204" pitchFamily="18" charset="0"/>
                            </a:rPr>
                          </m:ctrlPr>
                        </m:sSubPr>
                        <m:e>
                          <m:r>
                            <a:rPr lang="en-US" altLang="ja-JP" sz="2800" i="1">
                              <a:solidFill>
                                <a:schemeClr val="tx1"/>
                              </a:solidFill>
                              <a:latin typeface="Cambria Math" panose="02040503050406030204" pitchFamily="18" charset="0"/>
                            </a:rPr>
                            <m:t>𝑊</m:t>
                          </m:r>
                        </m:e>
                        <m:sub>
                          <m:r>
                            <a:rPr lang="en-US" altLang="ja-JP" sz="2800" b="0" i="1" smtClean="0">
                              <a:solidFill>
                                <a:schemeClr val="tx1"/>
                              </a:solidFill>
                              <a:latin typeface="Cambria Math" panose="02040503050406030204" pitchFamily="18" charset="0"/>
                            </a:rPr>
                            <m:t>2</m:t>
                          </m:r>
                        </m:sub>
                      </m:sSub>
                    </m:oMath>
                  </m:oMathPara>
                </a14:m>
                <a:endParaRPr lang="ja-JP" altLang="en-US" sz="2000">
                  <a:solidFill>
                    <a:schemeClr val="tx1"/>
                  </a:solidFill>
                </a:endParaRPr>
              </a:p>
            </p:txBody>
          </p:sp>
        </mc:Choice>
        <mc:Fallback xmlns="">
          <p:sp>
            <p:nvSpPr>
              <p:cNvPr id="33" name="テキスト ボックス 32">
                <a:extLst>
                  <a:ext uri="{FF2B5EF4-FFF2-40B4-BE49-F238E27FC236}">
                    <a16:creationId xmlns:a16="http://schemas.microsoft.com/office/drawing/2014/main" id="{36CF355E-2C8B-6F02-5A1B-D389C898FBEB}"/>
                  </a:ext>
                </a:extLst>
              </p:cNvPr>
              <p:cNvSpPr txBox="1">
                <a:spLocks noRot="1" noChangeAspect="1" noMove="1" noResize="1" noEditPoints="1" noAdjustHandles="1" noChangeArrowheads="1" noChangeShapeType="1" noTextEdit="1"/>
              </p:cNvSpPr>
              <p:nvPr/>
            </p:nvSpPr>
            <p:spPr>
              <a:xfrm>
                <a:off x="4921106" y="2984105"/>
                <a:ext cx="4616450" cy="52322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5CC28DAF-8746-2D4B-DB74-AA5F95E06FA8}"/>
                  </a:ext>
                </a:extLst>
              </p:cNvPr>
              <p:cNvSpPr txBox="1"/>
              <p:nvPr/>
            </p:nvSpPr>
            <p:spPr>
              <a:xfrm>
                <a:off x="1039699" y="3034481"/>
                <a:ext cx="92369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800" b="0" i="0" u="none" strike="noStrike" kern="1200" cap="none" spc="0" normalizeH="0" baseline="0" noProof="0" smtClean="0">
                          <a:ln>
                            <a:noFill/>
                          </a:ln>
                          <a:solidFill>
                            <a:prstClr val="black"/>
                          </a:solidFill>
                          <a:effectLst/>
                          <a:uLnTx/>
                          <a:uFillTx/>
                          <a:latin typeface="Cambria Math" panose="02040503050406030204" pitchFamily="18" charset="0"/>
                          <a:cs typeface="+mn-cs"/>
                        </a:rPr>
                        <m:t>Δ</m:t>
                      </m:r>
                      <m:sSub>
                        <m:sSubPr>
                          <m:ctrlPr>
                            <a:rPr kumimoji="1" lang="en-US" altLang="ja-JP"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2800" b="0" i="1" u="none" strike="noStrike" kern="1200" cap="none" spc="0" normalizeH="0" baseline="0" noProof="0">
                              <a:ln>
                                <a:noFill/>
                              </a:ln>
                              <a:solidFill>
                                <a:prstClr val="black"/>
                              </a:solidFill>
                              <a:effectLst/>
                              <a:uLnTx/>
                              <a:uFillTx/>
                              <a:latin typeface="Cambria Math" panose="02040503050406030204" pitchFamily="18" charset="0"/>
                              <a:cs typeface="+mn-cs"/>
                            </a:rPr>
                            <m:t>𝑊</m:t>
                          </m:r>
                        </m:e>
                        <m:sub>
                          <m:r>
                            <a:rPr kumimoji="1" lang="en-US" altLang="ja-JP"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oMath>
                  </m:oMathPara>
                </a14:m>
                <a:endParaRPr lang="ja-JP" altLang="en-US"/>
              </a:p>
            </p:txBody>
          </p:sp>
        </mc:Choice>
        <mc:Fallback xmlns="">
          <p:sp>
            <p:nvSpPr>
              <p:cNvPr id="39" name="テキスト ボックス 38">
                <a:extLst>
                  <a:ext uri="{FF2B5EF4-FFF2-40B4-BE49-F238E27FC236}">
                    <a16:creationId xmlns:a16="http://schemas.microsoft.com/office/drawing/2014/main" id="{5CC28DAF-8746-2D4B-DB74-AA5F95E06FA8}"/>
                  </a:ext>
                </a:extLst>
              </p:cNvPr>
              <p:cNvSpPr txBox="1">
                <a:spLocks noRot="1" noChangeAspect="1" noMove="1" noResize="1" noEditPoints="1" noAdjustHandles="1" noChangeArrowheads="1" noChangeShapeType="1" noTextEdit="1"/>
              </p:cNvSpPr>
              <p:nvPr/>
            </p:nvSpPr>
            <p:spPr>
              <a:xfrm>
                <a:off x="1039699" y="3034481"/>
                <a:ext cx="923690" cy="523220"/>
              </a:xfrm>
              <a:prstGeom prst="rect">
                <a:avLst/>
              </a:prstGeom>
              <a:blipFill>
                <a:blip r:embed="rId1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94192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3D4F1-4312-8C6F-D863-E1BFBDB16846}"/>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82062D3C-8406-128A-F9A9-0016C66AC1A9}"/>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FEECF9DD-D01E-69B4-B914-89E2A05AB2D7}"/>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2">
            <a:extLst>
              <a:ext uri="{FF2B5EF4-FFF2-40B4-BE49-F238E27FC236}">
                <a16:creationId xmlns:a16="http://schemas.microsoft.com/office/drawing/2014/main" id="{EA16F562-FA46-C20E-A975-1F80F9CE63F6}"/>
              </a:ext>
            </a:extLst>
          </p:cNvPr>
          <p:cNvSpPr>
            <a:spLocks noGrp="1"/>
          </p:cNvSpPr>
          <p:nvPr>
            <p:ph type="title"/>
          </p:nvPr>
        </p:nvSpPr>
        <p:spPr/>
        <p:txBody>
          <a:bodyPr>
            <a:normAutofit/>
          </a:bodyPr>
          <a:lstStyle/>
          <a:p>
            <a:r>
              <a:rPr lang="ja-JP" altLang="ja-JP" dirty="0"/>
              <a:t>2. </a:t>
            </a:r>
            <a:r>
              <a:rPr lang="ja-JP" altLang="en-US" dirty="0"/>
              <a:t>（</a:t>
            </a:r>
            <a:r>
              <a:rPr lang="ja-JP" altLang="ja-JP" dirty="0"/>
              <a:t>再</a:t>
            </a:r>
            <a:r>
              <a:rPr lang="ja-JP" altLang="en-US" dirty="0"/>
              <a:t>）</a:t>
            </a:r>
            <a:r>
              <a:rPr lang="ja-JP" altLang="ja-JP" dirty="0"/>
              <a:t>配布後評価</a:t>
            </a:r>
            <a:endParaRPr kumimoji="1" lang="ja-JP" altLang="en-US" dirty="0"/>
          </a:p>
        </p:txBody>
      </p:sp>
      <p:sp>
        <p:nvSpPr>
          <p:cNvPr id="4" name="スライド番号プレースホルダー 3">
            <a:extLst>
              <a:ext uri="{FF2B5EF4-FFF2-40B4-BE49-F238E27FC236}">
                <a16:creationId xmlns:a16="http://schemas.microsoft.com/office/drawing/2014/main" id="{23D39B47-4BAF-51F6-9688-E431E2066E4B}"/>
              </a:ext>
            </a:extLst>
          </p:cNvPr>
          <p:cNvSpPr>
            <a:spLocks noGrp="1"/>
          </p:cNvSpPr>
          <p:nvPr>
            <p:ph type="sldNum" sz="quarter" idx="4"/>
          </p:nvPr>
        </p:nvSpPr>
        <p:spPr>
          <a:xfrm>
            <a:off x="5669953" y="94342"/>
            <a:ext cx="3118757" cy="354013"/>
          </a:xfrm>
        </p:spPr>
        <p:txBody>
          <a:bodyPr/>
          <a:lstStyle/>
          <a:p>
            <a:fld id="{C088C981-6885-4100-82A1-DE7074EC4480}" type="slidenum">
              <a:rPr lang="ja-JP" altLang="en-US" smtClean="0"/>
              <a:t>7</a:t>
            </a:fld>
            <a:endParaRPr lang="ja-JP" altLang="en-US"/>
          </a:p>
        </p:txBody>
      </p:sp>
      <p:pic>
        <p:nvPicPr>
          <p:cNvPr id="90" name="図 89">
            <a:extLst>
              <a:ext uri="{FF2B5EF4-FFF2-40B4-BE49-F238E27FC236}">
                <a16:creationId xmlns:a16="http://schemas.microsoft.com/office/drawing/2014/main" id="{12369F81-7D17-A10E-5FB1-8C231BF0C2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24" name="図 23">
            <a:extLst>
              <a:ext uri="{FF2B5EF4-FFF2-40B4-BE49-F238E27FC236}">
                <a16:creationId xmlns:a16="http://schemas.microsoft.com/office/drawing/2014/main" id="{86534A98-7BC1-D100-0F30-B7376E1D0D6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92" name="図 91">
            <a:extLst>
              <a:ext uri="{FF2B5EF4-FFF2-40B4-BE49-F238E27FC236}">
                <a16:creationId xmlns:a16="http://schemas.microsoft.com/office/drawing/2014/main" id="{A750B795-0812-3BD0-16EF-0CDE4E5DF44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36" name="図 35">
            <a:extLst>
              <a:ext uri="{FF2B5EF4-FFF2-40B4-BE49-F238E27FC236}">
                <a16:creationId xmlns:a16="http://schemas.microsoft.com/office/drawing/2014/main" id="{99040504-351A-AFF5-95D0-F8486C4C40C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37" name="図 36">
            <a:extLst>
              <a:ext uri="{FF2B5EF4-FFF2-40B4-BE49-F238E27FC236}">
                <a16:creationId xmlns:a16="http://schemas.microsoft.com/office/drawing/2014/main" id="{00A09356-7807-9B91-8396-39E8449A745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40" name="図 39">
            <a:extLst>
              <a:ext uri="{FF2B5EF4-FFF2-40B4-BE49-F238E27FC236}">
                <a16:creationId xmlns:a16="http://schemas.microsoft.com/office/drawing/2014/main" id="{9E9FE238-372D-5D9F-A29C-D7CE787DA65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50" name="直線矢印コネクタ 49">
            <a:extLst>
              <a:ext uri="{FF2B5EF4-FFF2-40B4-BE49-F238E27FC236}">
                <a16:creationId xmlns:a16="http://schemas.microsoft.com/office/drawing/2014/main" id="{971B9ACD-6FA2-BB53-A547-0B774DA20C01}"/>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タイトル 2">
            <a:extLst>
              <a:ext uri="{FF2B5EF4-FFF2-40B4-BE49-F238E27FC236}">
                <a16:creationId xmlns:a16="http://schemas.microsoft.com/office/drawing/2014/main" id="{3A83B0B9-E052-2FCF-09F3-35D263625E91}"/>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53" name="直線矢印コネクタ 52">
            <a:extLst>
              <a:ext uri="{FF2B5EF4-FFF2-40B4-BE49-F238E27FC236}">
                <a16:creationId xmlns:a16="http://schemas.microsoft.com/office/drawing/2014/main" id="{12C00D0E-F5D6-D996-528C-99FB16BD0CA0}"/>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0" name="図 59">
            <a:extLst>
              <a:ext uri="{FF2B5EF4-FFF2-40B4-BE49-F238E27FC236}">
                <a16:creationId xmlns:a16="http://schemas.microsoft.com/office/drawing/2014/main" id="{46FE1F8E-503B-076F-6F7E-9AE4C384FD0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61" name="図 60">
            <a:extLst>
              <a:ext uri="{FF2B5EF4-FFF2-40B4-BE49-F238E27FC236}">
                <a16:creationId xmlns:a16="http://schemas.microsoft.com/office/drawing/2014/main" id="{439C50F9-C48A-2A51-DEBA-EC89A1B2F3E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12" name="図 111">
            <a:extLst>
              <a:ext uri="{FF2B5EF4-FFF2-40B4-BE49-F238E27FC236}">
                <a16:creationId xmlns:a16="http://schemas.microsoft.com/office/drawing/2014/main" id="{F3F5D349-11BE-C233-DC56-497DD412DA7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110" name="図 109">
            <a:extLst>
              <a:ext uri="{FF2B5EF4-FFF2-40B4-BE49-F238E27FC236}">
                <a16:creationId xmlns:a16="http://schemas.microsoft.com/office/drawing/2014/main" id="{8C68F0A4-20A8-9C61-928E-54538F6F638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73" name="図 72">
            <a:extLst>
              <a:ext uri="{FF2B5EF4-FFF2-40B4-BE49-F238E27FC236}">
                <a16:creationId xmlns:a16="http://schemas.microsoft.com/office/drawing/2014/main" id="{D88C5DE0-09D4-C905-281C-13C10A37003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79" name="図 78">
            <a:extLst>
              <a:ext uri="{FF2B5EF4-FFF2-40B4-BE49-F238E27FC236}">
                <a16:creationId xmlns:a16="http://schemas.microsoft.com/office/drawing/2014/main" id="{DA8928B7-1452-F2D9-EA73-3CD75BD65EA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97" name="図 96">
            <a:extLst>
              <a:ext uri="{FF2B5EF4-FFF2-40B4-BE49-F238E27FC236}">
                <a16:creationId xmlns:a16="http://schemas.microsoft.com/office/drawing/2014/main" id="{E89A927B-A31D-4B6B-A849-20C28092EFC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98" name="図 97">
            <a:extLst>
              <a:ext uri="{FF2B5EF4-FFF2-40B4-BE49-F238E27FC236}">
                <a16:creationId xmlns:a16="http://schemas.microsoft.com/office/drawing/2014/main" id="{F85DD31A-39CE-0606-48D6-3758103272C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100" name="図 99">
            <a:extLst>
              <a:ext uri="{FF2B5EF4-FFF2-40B4-BE49-F238E27FC236}">
                <a16:creationId xmlns:a16="http://schemas.microsoft.com/office/drawing/2014/main" id="{C7AC36F7-C14E-07D5-24A7-AAFFFDE7A4D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101" name="図 100">
            <a:extLst>
              <a:ext uri="{FF2B5EF4-FFF2-40B4-BE49-F238E27FC236}">
                <a16:creationId xmlns:a16="http://schemas.microsoft.com/office/drawing/2014/main" id="{3A0D825A-400B-1968-84F6-924334CB1CA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103" name="直線矢印コネクタ 102">
            <a:extLst>
              <a:ext uri="{FF2B5EF4-FFF2-40B4-BE49-F238E27FC236}">
                <a16:creationId xmlns:a16="http://schemas.microsoft.com/office/drawing/2014/main" id="{0193BDC0-A48C-52D8-DBC9-37CD9A60545F}"/>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B500A0AE-8374-27F4-8AE4-3E8994630EC3}"/>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タイトル 2">
            <a:extLst>
              <a:ext uri="{FF2B5EF4-FFF2-40B4-BE49-F238E27FC236}">
                <a16:creationId xmlns:a16="http://schemas.microsoft.com/office/drawing/2014/main" id="{4462EBC3-38F5-1CF2-055A-3129E3943346}"/>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17" name="直線コネクタ 116">
            <a:extLst>
              <a:ext uri="{FF2B5EF4-FFF2-40B4-BE49-F238E27FC236}">
                <a16:creationId xmlns:a16="http://schemas.microsoft.com/office/drawing/2014/main" id="{FCAF1D3D-7328-1861-B9E4-E9CC9ED2F815}"/>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タイトル 2">
            <a:extLst>
              <a:ext uri="{FF2B5EF4-FFF2-40B4-BE49-F238E27FC236}">
                <a16:creationId xmlns:a16="http://schemas.microsoft.com/office/drawing/2014/main" id="{5275A0A4-2032-324C-AE84-122C81571DA7}"/>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25" name="直線矢印コネクタ 124">
            <a:extLst>
              <a:ext uri="{FF2B5EF4-FFF2-40B4-BE49-F238E27FC236}">
                <a16:creationId xmlns:a16="http://schemas.microsoft.com/office/drawing/2014/main" id="{BD6B51D9-50D2-8B37-E154-CE6FDF7B76DC}"/>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タイトル 2">
            <a:extLst>
              <a:ext uri="{FF2B5EF4-FFF2-40B4-BE49-F238E27FC236}">
                <a16:creationId xmlns:a16="http://schemas.microsoft.com/office/drawing/2014/main" id="{19C151F1-9C78-F827-CCEB-0D313469CE51}"/>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27" name="直線コネクタ 126">
            <a:extLst>
              <a:ext uri="{FF2B5EF4-FFF2-40B4-BE49-F238E27FC236}">
                <a16:creationId xmlns:a16="http://schemas.microsoft.com/office/drawing/2014/main" id="{0686A31D-FFB3-859B-DF06-23AB327A8A65}"/>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タイトル 2">
            <a:extLst>
              <a:ext uri="{FF2B5EF4-FFF2-40B4-BE49-F238E27FC236}">
                <a16:creationId xmlns:a16="http://schemas.microsoft.com/office/drawing/2014/main" id="{C75E73DB-A3C8-A412-A3A0-1B81BB3BAE0B}"/>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29" name="直線コネクタ 128">
            <a:extLst>
              <a:ext uri="{FF2B5EF4-FFF2-40B4-BE49-F238E27FC236}">
                <a16:creationId xmlns:a16="http://schemas.microsoft.com/office/drawing/2014/main" id="{DA421E24-ED3D-76F3-BFA7-8D8EC2F17015}"/>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タイトル 2">
            <a:extLst>
              <a:ext uri="{FF2B5EF4-FFF2-40B4-BE49-F238E27FC236}">
                <a16:creationId xmlns:a16="http://schemas.microsoft.com/office/drawing/2014/main" id="{C749E396-99BB-694A-8A59-35D623C62E3C}"/>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131" name="四角形: 角を丸くする 130">
            <a:extLst>
              <a:ext uri="{FF2B5EF4-FFF2-40B4-BE49-F238E27FC236}">
                <a16:creationId xmlns:a16="http://schemas.microsoft.com/office/drawing/2014/main" id="{C14C1E27-ECB1-086D-2706-360FC80271A7}"/>
              </a:ext>
            </a:extLst>
          </p:cNvPr>
          <p:cNvSpPr/>
          <p:nvPr/>
        </p:nvSpPr>
        <p:spPr>
          <a:xfrm>
            <a:off x="1918077" y="877367"/>
            <a:ext cx="4139824"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四角形: 角を丸くする 145">
            <a:extLst>
              <a:ext uri="{FF2B5EF4-FFF2-40B4-BE49-F238E27FC236}">
                <a16:creationId xmlns:a16="http://schemas.microsoft.com/office/drawing/2014/main" id="{929A0BE8-A481-4019-5BAE-24070F08479E}"/>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台形 146">
            <a:extLst>
              <a:ext uri="{FF2B5EF4-FFF2-40B4-BE49-F238E27FC236}">
                <a16:creationId xmlns:a16="http://schemas.microsoft.com/office/drawing/2014/main" id="{F03753AA-C911-D0E2-8E8F-D2EEAB061B66}"/>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49" name="図 148">
            <a:extLst>
              <a:ext uri="{FF2B5EF4-FFF2-40B4-BE49-F238E27FC236}">
                <a16:creationId xmlns:a16="http://schemas.microsoft.com/office/drawing/2014/main" id="{4E1C7E69-FD5C-82F3-C736-31A5422B147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150" name="タイトル 2">
            <a:extLst>
              <a:ext uri="{FF2B5EF4-FFF2-40B4-BE49-F238E27FC236}">
                <a16:creationId xmlns:a16="http://schemas.microsoft.com/office/drawing/2014/main" id="{300A6C7F-E4DB-1126-2106-05601307EB62}"/>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51" name="台形 150">
            <a:extLst>
              <a:ext uri="{FF2B5EF4-FFF2-40B4-BE49-F238E27FC236}">
                <a16:creationId xmlns:a16="http://schemas.microsoft.com/office/drawing/2014/main" id="{821E67FF-6BB5-56AA-03A0-E885FBF4C04F}"/>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52" name="タイトル 2">
                <a:extLst>
                  <a:ext uri="{FF2B5EF4-FFF2-40B4-BE49-F238E27FC236}">
                    <a16:creationId xmlns:a16="http://schemas.microsoft.com/office/drawing/2014/main" id="{F9D9A6AB-3F10-A423-E9C5-407AE8515107}"/>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52" name="タイトル 2">
                <a:extLst>
                  <a:ext uri="{FF2B5EF4-FFF2-40B4-BE49-F238E27FC236}">
                    <a16:creationId xmlns:a16="http://schemas.microsoft.com/office/drawing/2014/main" id="{F9D9A6AB-3F10-A423-E9C5-407AE8515107}"/>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10" name="グラフィックス 9" descr="車 単色塗りつぶし">
            <a:extLst>
              <a:ext uri="{FF2B5EF4-FFF2-40B4-BE49-F238E27FC236}">
                <a16:creationId xmlns:a16="http://schemas.microsoft.com/office/drawing/2014/main" id="{A4FBCBD4-1A25-A0E0-73AD-69C0B537CBC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154" name="直線コネクタ 153">
            <a:extLst>
              <a:ext uri="{FF2B5EF4-FFF2-40B4-BE49-F238E27FC236}">
                <a16:creationId xmlns:a16="http://schemas.microsoft.com/office/drawing/2014/main" id="{3F1A6C3D-95A8-AA15-B292-D5B6209F7EB8}"/>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6" name="四角形: 角を丸くする 165">
            <a:extLst>
              <a:ext uri="{FF2B5EF4-FFF2-40B4-BE49-F238E27FC236}">
                <a16:creationId xmlns:a16="http://schemas.microsoft.com/office/drawing/2014/main" id="{3DDD3C5A-2982-91E0-A8CC-5BD6B57BCEFD}"/>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台形 166">
            <a:extLst>
              <a:ext uri="{FF2B5EF4-FFF2-40B4-BE49-F238E27FC236}">
                <a16:creationId xmlns:a16="http://schemas.microsoft.com/office/drawing/2014/main" id="{25B4969D-3BCE-FDF7-A68A-6FA9DA7712AA}"/>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68" name="図 167">
            <a:extLst>
              <a:ext uri="{FF2B5EF4-FFF2-40B4-BE49-F238E27FC236}">
                <a16:creationId xmlns:a16="http://schemas.microsoft.com/office/drawing/2014/main" id="{705962FF-75BD-3B28-C846-71F645AE1B8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169" name="タイトル 2">
            <a:extLst>
              <a:ext uri="{FF2B5EF4-FFF2-40B4-BE49-F238E27FC236}">
                <a16:creationId xmlns:a16="http://schemas.microsoft.com/office/drawing/2014/main" id="{C43CDB80-6B73-2273-23CF-B143E8EADBB5}"/>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70" name="台形 169">
            <a:extLst>
              <a:ext uri="{FF2B5EF4-FFF2-40B4-BE49-F238E27FC236}">
                <a16:creationId xmlns:a16="http://schemas.microsoft.com/office/drawing/2014/main" id="{8DAAE18C-3019-523C-67F6-5CAB71E7EA05}"/>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71" name="タイトル 2">
                <a:extLst>
                  <a:ext uri="{FF2B5EF4-FFF2-40B4-BE49-F238E27FC236}">
                    <a16:creationId xmlns:a16="http://schemas.microsoft.com/office/drawing/2014/main" id="{9B886DDC-5DCF-4524-3C52-65A912D6F290}"/>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71" name="タイトル 2">
                <a:extLst>
                  <a:ext uri="{FF2B5EF4-FFF2-40B4-BE49-F238E27FC236}">
                    <a16:creationId xmlns:a16="http://schemas.microsoft.com/office/drawing/2014/main" id="{9B886DDC-5DCF-4524-3C52-65A912D6F290}"/>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5"/>
                <a:stretch>
                  <a:fillRect/>
                </a:stretch>
              </a:blipFill>
            </p:spPr>
            <p:txBody>
              <a:bodyPr/>
              <a:lstStyle/>
              <a:p>
                <a:r>
                  <a:rPr lang="en-US">
                    <a:noFill/>
                  </a:rPr>
                  <a:t> </a:t>
                </a:r>
              </a:p>
            </p:txBody>
          </p:sp>
        </mc:Fallback>
      </mc:AlternateContent>
      <p:pic>
        <p:nvPicPr>
          <p:cNvPr id="172" name="グラフィックス 171" descr="車 単色塗りつぶし">
            <a:extLst>
              <a:ext uri="{FF2B5EF4-FFF2-40B4-BE49-F238E27FC236}">
                <a16:creationId xmlns:a16="http://schemas.microsoft.com/office/drawing/2014/main" id="{92D1B3E8-F423-AE12-5D91-E0C00461C61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173" name="直線コネクタ 172">
            <a:extLst>
              <a:ext uri="{FF2B5EF4-FFF2-40B4-BE49-F238E27FC236}">
                <a16:creationId xmlns:a16="http://schemas.microsoft.com/office/drawing/2014/main" id="{7A431F03-B6DD-EEA0-54BD-79A560D02145}"/>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9" name="図 18">
            <a:extLst>
              <a:ext uri="{FF2B5EF4-FFF2-40B4-BE49-F238E27FC236}">
                <a16:creationId xmlns:a16="http://schemas.microsoft.com/office/drawing/2014/main" id="{E6704EE8-F541-5CDD-6A8E-B8D5E3C7DCF7}"/>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580967" y="1168701"/>
            <a:ext cx="789017" cy="792628"/>
          </a:xfrm>
          <a:prstGeom prst="rect">
            <a:avLst/>
          </a:prstGeom>
        </p:spPr>
      </p:pic>
      <p:sp>
        <p:nvSpPr>
          <p:cNvPr id="20" name="タイトル 2">
            <a:extLst>
              <a:ext uri="{FF2B5EF4-FFF2-40B4-BE49-F238E27FC236}">
                <a16:creationId xmlns:a16="http://schemas.microsoft.com/office/drawing/2014/main" id="{CC1A5245-2E25-FDF9-DC81-F307CC3AE3E3}"/>
              </a:ext>
            </a:extLst>
          </p:cNvPr>
          <p:cNvSpPr txBox="1">
            <a:spLocks/>
          </p:cNvSpPr>
          <p:nvPr/>
        </p:nvSpPr>
        <p:spPr>
          <a:xfrm>
            <a:off x="3264142" y="2119731"/>
            <a:ext cx="140985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400"/>
              <a:t>Qwen-VL-3B</a:t>
            </a:r>
            <a:endParaRPr lang="ja-JP" altLang="en-US" sz="1400"/>
          </a:p>
        </p:txBody>
      </p:sp>
      <p:sp>
        <p:nvSpPr>
          <p:cNvPr id="5" name="正方形/長方形 4">
            <a:extLst>
              <a:ext uri="{FF2B5EF4-FFF2-40B4-BE49-F238E27FC236}">
                <a16:creationId xmlns:a16="http://schemas.microsoft.com/office/drawing/2014/main" id="{D986043B-2099-EC33-BC2B-6113E4B3DA8B}"/>
              </a:ext>
            </a:extLst>
          </p:cNvPr>
          <p:cNvSpPr/>
          <p:nvPr/>
        </p:nvSpPr>
        <p:spPr>
          <a:xfrm>
            <a:off x="6837639" y="942252"/>
            <a:ext cx="2131438" cy="54480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b="1">
                <a:solidFill>
                  <a:schemeClr val="tx1"/>
                </a:solidFill>
              </a:rPr>
              <a:t>サーバ側（基盤側）</a:t>
            </a:r>
            <a:endParaRPr kumimoji="1" lang="ja-JP" altLang="en-US"/>
          </a:p>
        </p:txBody>
      </p:sp>
      <p:cxnSp>
        <p:nvCxnSpPr>
          <p:cNvPr id="14" name="直線コネクタ 13">
            <a:extLst>
              <a:ext uri="{FF2B5EF4-FFF2-40B4-BE49-F238E27FC236}">
                <a16:creationId xmlns:a16="http://schemas.microsoft.com/office/drawing/2014/main" id="{1077602A-E9D2-4812-6C73-C2660990D22B}"/>
              </a:ext>
            </a:extLst>
          </p:cNvPr>
          <p:cNvCxnSpPr>
            <a:endCxn id="5" idx="1"/>
          </p:cNvCxnSpPr>
          <p:nvPr/>
        </p:nvCxnSpPr>
        <p:spPr>
          <a:xfrm>
            <a:off x="6057901" y="1168701"/>
            <a:ext cx="779738" cy="459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78FD488F-E6CC-EB10-04F9-28B9081733CE}"/>
              </a:ext>
            </a:extLst>
          </p:cNvPr>
          <p:cNvCxnSpPr>
            <a:cxnSpLocks/>
          </p:cNvCxnSpPr>
          <p:nvPr/>
        </p:nvCxnSpPr>
        <p:spPr>
          <a:xfrm rot="10800000" flipV="1">
            <a:off x="1817582" y="2943506"/>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BA77BB29-436C-79EC-E4C4-F66B60301147}"/>
              </a:ext>
            </a:extLst>
          </p:cNvPr>
          <p:cNvCxnSpPr>
            <a:cxnSpLocks/>
          </p:cNvCxnSpPr>
          <p:nvPr/>
        </p:nvCxnSpPr>
        <p:spPr>
          <a:xfrm rot="5400000" flipV="1">
            <a:off x="6175473" y="2857943"/>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73B2C023-FC26-C428-F4ED-BF7FFD60EE2C}"/>
                  </a:ext>
                </a:extLst>
              </p:cNvPr>
              <p:cNvSpPr txBox="1"/>
              <p:nvPr/>
            </p:nvSpPr>
            <p:spPr>
              <a:xfrm>
                <a:off x="3308115" y="4237929"/>
                <a:ext cx="1713059" cy="523220"/>
              </a:xfrm>
              <a:prstGeom prst="rect">
                <a:avLst/>
              </a:prstGeom>
              <a:noFill/>
              <a:ln w="28575">
                <a:solidFill>
                  <a:schemeClr val="tx1"/>
                </a:solidFill>
              </a:ln>
            </p:spPr>
            <p:txBody>
              <a:bodyPr wrap="square">
                <a:spAutoFit/>
              </a:bodyPr>
              <a:lstStyle/>
              <a:p>
                <a14:m>
                  <m:oMath xmlns:m="http://schemas.openxmlformats.org/officeDocument/2006/math">
                    <m:r>
                      <m:rPr>
                        <m:sty m:val="p"/>
                      </m:rPr>
                      <a:rPr lang="en-US" altLang="ja-JP" sz="2800" smtClean="0">
                        <a:solidFill>
                          <a:schemeClr val="tx1"/>
                        </a:solidFill>
                        <a:latin typeface="Cambria Math" panose="02040503050406030204" pitchFamily="18" charset="0"/>
                      </a:rPr>
                      <m:t>Δ</m:t>
                    </m:r>
                    <m:sSub>
                      <m:sSubPr>
                        <m:ctrlPr>
                          <a:rPr lang="en-US" altLang="ja-JP" sz="2800" b="0" i="1" smtClean="0">
                            <a:solidFill>
                              <a:schemeClr val="tx1"/>
                            </a:solidFill>
                            <a:latin typeface="Cambria Math" panose="02040503050406030204" pitchFamily="18" charset="0"/>
                          </a:rPr>
                        </m:ctrlPr>
                      </m:sSubPr>
                      <m:e>
                        <m:r>
                          <a:rPr lang="en-US" altLang="ja-JP" sz="2800" i="1">
                            <a:solidFill>
                              <a:schemeClr val="tx1"/>
                            </a:solidFill>
                            <a:latin typeface="Cambria Math" panose="02040503050406030204" pitchFamily="18" charset="0"/>
                          </a:rPr>
                          <m:t>𝑊</m:t>
                        </m:r>
                      </m:e>
                      <m:sub>
                        <m:r>
                          <a:rPr lang="en-US" altLang="ja-JP" sz="2800" b="0" i="1" smtClean="0">
                            <a:solidFill>
                              <a:schemeClr val="tx1"/>
                            </a:solidFill>
                            <a:latin typeface="Cambria Math" panose="02040503050406030204" pitchFamily="18" charset="0"/>
                          </a:rPr>
                          <m:t>1</m:t>
                        </m:r>
                      </m:sub>
                    </m:sSub>
                  </m:oMath>
                </a14:m>
                <a:r>
                  <a:rPr lang="en-US" altLang="ja-JP" sz="2800">
                    <a:solidFill>
                      <a:schemeClr val="tx1"/>
                    </a:solidFill>
                  </a:rPr>
                  <a:t>=</a:t>
                </a:r>
                <a14:m>
                  <m:oMath xmlns:m="http://schemas.openxmlformats.org/officeDocument/2006/math">
                    <m:r>
                      <m:rPr>
                        <m:sty m:val="p"/>
                      </m:rPr>
                      <a:rPr lang="en-US" altLang="ja-JP" sz="2800">
                        <a:latin typeface="Cambria Math" panose="02040503050406030204" pitchFamily="18" charset="0"/>
                      </a:rPr>
                      <m:t>Δ</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2</m:t>
                        </m:r>
                      </m:sub>
                    </m:sSub>
                  </m:oMath>
                </a14:m>
                <a:endParaRPr lang="ja-JP" altLang="en-US" sz="2800"/>
              </a:p>
            </p:txBody>
          </p:sp>
        </mc:Choice>
        <mc:Fallback xmlns="">
          <p:sp>
            <p:nvSpPr>
              <p:cNvPr id="31" name="テキスト ボックス 30">
                <a:extLst>
                  <a:ext uri="{FF2B5EF4-FFF2-40B4-BE49-F238E27FC236}">
                    <a16:creationId xmlns:a16="http://schemas.microsoft.com/office/drawing/2014/main" id="{73B2C023-FC26-C428-F4ED-BF7FFD60EE2C}"/>
                  </a:ext>
                </a:extLst>
              </p:cNvPr>
              <p:cNvSpPr txBox="1">
                <a:spLocks noRot="1" noChangeAspect="1" noMove="1" noResize="1" noEditPoints="1" noAdjustHandles="1" noChangeArrowheads="1" noChangeShapeType="1" noTextEdit="1"/>
              </p:cNvSpPr>
              <p:nvPr/>
            </p:nvSpPr>
            <p:spPr>
              <a:xfrm>
                <a:off x="3308115" y="4237929"/>
                <a:ext cx="1713059" cy="523220"/>
              </a:xfrm>
              <a:prstGeom prst="rect">
                <a:avLst/>
              </a:prstGeom>
              <a:blipFill>
                <a:blip r:embed="rId17"/>
                <a:stretch>
                  <a:fillRect t="-7692" b="-27473"/>
                </a:stretch>
              </a:blipFill>
              <a:ln w="28575">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0EF2D067-811B-A15F-57B1-B4D4407116B7}"/>
                  </a:ext>
                </a:extLst>
              </p:cNvPr>
              <p:cNvSpPr txBox="1"/>
              <p:nvPr/>
            </p:nvSpPr>
            <p:spPr>
              <a:xfrm>
                <a:off x="4921106" y="2984105"/>
                <a:ext cx="461645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800" smtClean="0">
                          <a:solidFill>
                            <a:schemeClr val="tx1"/>
                          </a:solidFill>
                          <a:latin typeface="Cambria Math" panose="02040503050406030204" pitchFamily="18" charset="0"/>
                        </a:rPr>
                        <m:t>Δ</m:t>
                      </m:r>
                      <m:sSub>
                        <m:sSubPr>
                          <m:ctrlPr>
                            <a:rPr lang="en-US" altLang="ja-JP" sz="2800" b="0" i="1" smtClean="0">
                              <a:solidFill>
                                <a:schemeClr val="tx1"/>
                              </a:solidFill>
                              <a:latin typeface="Cambria Math" panose="02040503050406030204" pitchFamily="18" charset="0"/>
                            </a:rPr>
                          </m:ctrlPr>
                        </m:sSubPr>
                        <m:e>
                          <m:r>
                            <a:rPr lang="en-US" altLang="ja-JP" sz="2800" i="1">
                              <a:solidFill>
                                <a:schemeClr val="tx1"/>
                              </a:solidFill>
                              <a:latin typeface="Cambria Math" panose="02040503050406030204" pitchFamily="18" charset="0"/>
                            </a:rPr>
                            <m:t>𝑊</m:t>
                          </m:r>
                        </m:e>
                        <m:sub>
                          <m:r>
                            <a:rPr lang="en-US" altLang="ja-JP" sz="2800" b="0" i="1" smtClean="0">
                              <a:solidFill>
                                <a:schemeClr val="tx1"/>
                              </a:solidFill>
                              <a:latin typeface="Cambria Math" panose="02040503050406030204" pitchFamily="18" charset="0"/>
                            </a:rPr>
                            <m:t>2</m:t>
                          </m:r>
                        </m:sub>
                      </m:sSub>
                    </m:oMath>
                  </m:oMathPara>
                </a14:m>
                <a:endParaRPr lang="ja-JP" altLang="en-US" sz="2000">
                  <a:solidFill>
                    <a:schemeClr val="tx1"/>
                  </a:solidFill>
                </a:endParaRPr>
              </a:p>
            </p:txBody>
          </p:sp>
        </mc:Choice>
        <mc:Fallback xmlns="">
          <p:sp>
            <p:nvSpPr>
              <p:cNvPr id="33" name="テキスト ボックス 32">
                <a:extLst>
                  <a:ext uri="{FF2B5EF4-FFF2-40B4-BE49-F238E27FC236}">
                    <a16:creationId xmlns:a16="http://schemas.microsoft.com/office/drawing/2014/main" id="{0EF2D067-811B-A15F-57B1-B4D4407116B7}"/>
                  </a:ext>
                </a:extLst>
              </p:cNvPr>
              <p:cNvSpPr txBox="1">
                <a:spLocks noRot="1" noChangeAspect="1" noMove="1" noResize="1" noEditPoints="1" noAdjustHandles="1" noChangeArrowheads="1" noChangeShapeType="1" noTextEdit="1"/>
              </p:cNvSpPr>
              <p:nvPr/>
            </p:nvSpPr>
            <p:spPr>
              <a:xfrm>
                <a:off x="4921106" y="2984105"/>
                <a:ext cx="4616450" cy="52322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91AE2542-3B43-9B29-26BE-BE7C65CBA110}"/>
                  </a:ext>
                </a:extLst>
              </p:cNvPr>
              <p:cNvSpPr txBox="1"/>
              <p:nvPr/>
            </p:nvSpPr>
            <p:spPr>
              <a:xfrm>
                <a:off x="1039699" y="3034481"/>
                <a:ext cx="92369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800" b="0" i="0" u="none" strike="noStrike" kern="1200" cap="none" spc="0" normalizeH="0" baseline="0" noProof="0" smtClean="0">
                          <a:ln>
                            <a:noFill/>
                          </a:ln>
                          <a:solidFill>
                            <a:prstClr val="black"/>
                          </a:solidFill>
                          <a:effectLst/>
                          <a:uLnTx/>
                          <a:uFillTx/>
                          <a:latin typeface="Cambria Math" panose="02040503050406030204" pitchFamily="18" charset="0"/>
                          <a:cs typeface="+mn-cs"/>
                        </a:rPr>
                        <m:t>Δ</m:t>
                      </m:r>
                      <m:sSub>
                        <m:sSubPr>
                          <m:ctrlPr>
                            <a:rPr kumimoji="1" lang="en-US" altLang="ja-JP"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2800" b="0" i="1" u="none" strike="noStrike" kern="1200" cap="none" spc="0" normalizeH="0" baseline="0" noProof="0">
                              <a:ln>
                                <a:noFill/>
                              </a:ln>
                              <a:solidFill>
                                <a:prstClr val="black"/>
                              </a:solidFill>
                              <a:effectLst/>
                              <a:uLnTx/>
                              <a:uFillTx/>
                              <a:latin typeface="Cambria Math" panose="02040503050406030204" pitchFamily="18" charset="0"/>
                              <a:cs typeface="+mn-cs"/>
                            </a:rPr>
                            <m:t>𝑊</m:t>
                          </m:r>
                        </m:e>
                        <m:sub>
                          <m:r>
                            <a:rPr kumimoji="1" lang="en-US" altLang="ja-JP"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oMath>
                  </m:oMathPara>
                </a14:m>
                <a:endParaRPr lang="ja-JP" altLang="en-US"/>
              </a:p>
            </p:txBody>
          </p:sp>
        </mc:Choice>
        <mc:Fallback xmlns="">
          <p:sp>
            <p:nvSpPr>
              <p:cNvPr id="39" name="テキスト ボックス 38">
                <a:extLst>
                  <a:ext uri="{FF2B5EF4-FFF2-40B4-BE49-F238E27FC236}">
                    <a16:creationId xmlns:a16="http://schemas.microsoft.com/office/drawing/2014/main" id="{91AE2542-3B43-9B29-26BE-BE7C65CBA110}"/>
                  </a:ext>
                </a:extLst>
              </p:cNvPr>
              <p:cNvSpPr txBox="1">
                <a:spLocks noRot="1" noChangeAspect="1" noMove="1" noResize="1" noEditPoints="1" noAdjustHandles="1" noChangeArrowheads="1" noChangeShapeType="1" noTextEdit="1"/>
              </p:cNvSpPr>
              <p:nvPr/>
            </p:nvSpPr>
            <p:spPr>
              <a:xfrm>
                <a:off x="1039699" y="3034481"/>
                <a:ext cx="923690" cy="523220"/>
              </a:xfrm>
              <a:prstGeom prst="rect">
                <a:avLst/>
              </a:prstGeom>
              <a:blipFill>
                <a:blip r:embed="rId1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20988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3380CF75-BCD4-E593-2369-8F4E63742CA8}"/>
              </a:ext>
            </a:extLst>
          </p:cNvPr>
          <p:cNvSpPr>
            <a:spLocks noGrp="1"/>
          </p:cNvSpPr>
          <p:nvPr>
            <p:ph type="title"/>
          </p:nvPr>
        </p:nvSpPr>
        <p:spPr/>
        <p:txBody>
          <a:bodyPr/>
          <a:lstStyle/>
          <a:p>
            <a:r>
              <a:rPr lang="en-US" altLang="ja-JP"/>
              <a:t>3</a:t>
            </a:r>
            <a:r>
              <a:rPr kumimoji="1" lang="ja-JP" altLang="en-US"/>
              <a:t>．学習（</a:t>
            </a:r>
            <a:r>
              <a:rPr kumimoji="1" lang="en-US" altLang="ja-JP"/>
              <a:t>fit</a:t>
            </a:r>
            <a:r>
              <a:rPr kumimoji="1" lang="ja-JP" altLang="en-US"/>
              <a:t>フェーズ）</a:t>
            </a:r>
          </a:p>
        </p:txBody>
      </p:sp>
      <p:sp>
        <p:nvSpPr>
          <p:cNvPr id="4" name="スライド番号プレースホルダー 3">
            <a:extLst>
              <a:ext uri="{FF2B5EF4-FFF2-40B4-BE49-F238E27FC236}">
                <a16:creationId xmlns:a16="http://schemas.microsoft.com/office/drawing/2014/main" id="{77399B84-2A5C-8AC2-42D4-5FBFFA0F196B}"/>
              </a:ext>
            </a:extLst>
          </p:cNvPr>
          <p:cNvSpPr>
            <a:spLocks noGrp="1"/>
          </p:cNvSpPr>
          <p:nvPr>
            <p:ph type="sldNum" sz="quarter" idx="4"/>
          </p:nvPr>
        </p:nvSpPr>
        <p:spPr/>
        <p:txBody>
          <a:bodyPr/>
          <a:lstStyle/>
          <a:p>
            <a:fld id="{C088C981-6885-4100-82A1-DE7074EC4480}" type="slidenum">
              <a:rPr lang="ja-JP" altLang="en-US" smtClean="0"/>
              <a:t>8</a:t>
            </a:fld>
            <a:endParaRPr lang="ja-JP" altLang="en-US"/>
          </a:p>
        </p:txBody>
      </p:sp>
      <p:sp>
        <p:nvSpPr>
          <p:cNvPr id="5" name="四角形: 角を丸くする 4">
            <a:extLst>
              <a:ext uri="{FF2B5EF4-FFF2-40B4-BE49-F238E27FC236}">
                <a16:creationId xmlns:a16="http://schemas.microsoft.com/office/drawing/2014/main" id="{0E680B06-6E14-91D0-64CF-10D47750DEB2}"/>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817189A2-D228-EA54-C712-105E3B2197A0}"/>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FD6511FF-7761-6D93-1A37-258817F33C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8" name="図 7">
            <a:extLst>
              <a:ext uri="{FF2B5EF4-FFF2-40B4-BE49-F238E27FC236}">
                <a16:creationId xmlns:a16="http://schemas.microsoft.com/office/drawing/2014/main" id="{6C9C8EC4-D3B3-FABD-671F-A9BC05C3EFB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9" name="図 8">
            <a:extLst>
              <a:ext uri="{FF2B5EF4-FFF2-40B4-BE49-F238E27FC236}">
                <a16:creationId xmlns:a16="http://schemas.microsoft.com/office/drawing/2014/main" id="{CFD59534-BC55-473A-8232-6F36313F93E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0" name="図 9">
            <a:extLst>
              <a:ext uri="{FF2B5EF4-FFF2-40B4-BE49-F238E27FC236}">
                <a16:creationId xmlns:a16="http://schemas.microsoft.com/office/drawing/2014/main" id="{79931E93-8A0F-53BE-2494-283DDEEEBEA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1" name="図 10">
            <a:extLst>
              <a:ext uri="{FF2B5EF4-FFF2-40B4-BE49-F238E27FC236}">
                <a16:creationId xmlns:a16="http://schemas.microsoft.com/office/drawing/2014/main" id="{32550438-47BF-C8E2-F37F-19652E61A91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2" name="図 11">
            <a:extLst>
              <a:ext uri="{FF2B5EF4-FFF2-40B4-BE49-F238E27FC236}">
                <a16:creationId xmlns:a16="http://schemas.microsoft.com/office/drawing/2014/main" id="{070E7BF0-626A-BFE8-4DE9-622E09AC055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3" name="直線矢印コネクタ 12">
            <a:extLst>
              <a:ext uri="{FF2B5EF4-FFF2-40B4-BE49-F238E27FC236}">
                <a16:creationId xmlns:a16="http://schemas.microsoft.com/office/drawing/2014/main" id="{F4189EEB-4EDA-6544-BD8A-87F06EB518F0}"/>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タイトル 2">
            <a:extLst>
              <a:ext uri="{FF2B5EF4-FFF2-40B4-BE49-F238E27FC236}">
                <a16:creationId xmlns:a16="http://schemas.microsoft.com/office/drawing/2014/main" id="{6E36C3FB-1F02-F402-88BD-21B7E12664DC}"/>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5" name="直線矢印コネクタ 14">
            <a:extLst>
              <a:ext uri="{FF2B5EF4-FFF2-40B4-BE49-F238E27FC236}">
                <a16:creationId xmlns:a16="http://schemas.microsoft.com/office/drawing/2014/main" id="{6CF76A75-7137-EA1A-9B71-2F4D3D4DEA2C}"/>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図 15">
            <a:extLst>
              <a:ext uri="{FF2B5EF4-FFF2-40B4-BE49-F238E27FC236}">
                <a16:creationId xmlns:a16="http://schemas.microsoft.com/office/drawing/2014/main" id="{664556D3-B119-2156-1466-A27A792A3EE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7" name="図 16">
            <a:extLst>
              <a:ext uri="{FF2B5EF4-FFF2-40B4-BE49-F238E27FC236}">
                <a16:creationId xmlns:a16="http://schemas.microsoft.com/office/drawing/2014/main" id="{0C727720-4F1F-AC22-8CE3-9D2AEE4815A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8" name="図 17">
            <a:extLst>
              <a:ext uri="{FF2B5EF4-FFF2-40B4-BE49-F238E27FC236}">
                <a16:creationId xmlns:a16="http://schemas.microsoft.com/office/drawing/2014/main" id="{DC550B37-4932-4533-451B-7D77A602373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19" name="図 18">
            <a:extLst>
              <a:ext uri="{FF2B5EF4-FFF2-40B4-BE49-F238E27FC236}">
                <a16:creationId xmlns:a16="http://schemas.microsoft.com/office/drawing/2014/main" id="{235B9F80-CF90-3D67-518C-013ADE09BD6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0" name="図 19">
            <a:extLst>
              <a:ext uri="{FF2B5EF4-FFF2-40B4-BE49-F238E27FC236}">
                <a16:creationId xmlns:a16="http://schemas.microsoft.com/office/drawing/2014/main" id="{849317BB-7CA3-9CE8-5310-63F276954851}"/>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1" name="図 20">
            <a:extLst>
              <a:ext uri="{FF2B5EF4-FFF2-40B4-BE49-F238E27FC236}">
                <a16:creationId xmlns:a16="http://schemas.microsoft.com/office/drawing/2014/main" id="{D7A7BCBA-4373-52C7-B683-1CD458CD10E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2" name="図 21">
            <a:extLst>
              <a:ext uri="{FF2B5EF4-FFF2-40B4-BE49-F238E27FC236}">
                <a16:creationId xmlns:a16="http://schemas.microsoft.com/office/drawing/2014/main" id="{CC1614DB-4FBD-D8D7-6B46-63F106526B5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3" name="図 22">
            <a:extLst>
              <a:ext uri="{FF2B5EF4-FFF2-40B4-BE49-F238E27FC236}">
                <a16:creationId xmlns:a16="http://schemas.microsoft.com/office/drawing/2014/main" id="{2E6BE7B5-3C0E-F1E3-F8C0-7E68FA1E6E5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4" name="図 23">
            <a:extLst>
              <a:ext uri="{FF2B5EF4-FFF2-40B4-BE49-F238E27FC236}">
                <a16:creationId xmlns:a16="http://schemas.microsoft.com/office/drawing/2014/main" id="{30C16DD2-0FF8-61CA-B9AA-110C2DF85E5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5" name="図 24">
            <a:extLst>
              <a:ext uri="{FF2B5EF4-FFF2-40B4-BE49-F238E27FC236}">
                <a16:creationId xmlns:a16="http://schemas.microsoft.com/office/drawing/2014/main" id="{8112A7D4-3998-6129-676C-2A8898953D1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6" name="直線矢印コネクタ 25">
            <a:extLst>
              <a:ext uri="{FF2B5EF4-FFF2-40B4-BE49-F238E27FC236}">
                <a16:creationId xmlns:a16="http://schemas.microsoft.com/office/drawing/2014/main" id="{2DD2B498-CD9E-CF9E-603D-7D377804E603}"/>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E3D6688A-C72F-F9BC-CE7C-3802C213F699}"/>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タイトル 2">
            <a:extLst>
              <a:ext uri="{FF2B5EF4-FFF2-40B4-BE49-F238E27FC236}">
                <a16:creationId xmlns:a16="http://schemas.microsoft.com/office/drawing/2014/main" id="{AB06D6F4-9DAF-8F14-8BC4-F96BFE293F06}"/>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29" name="直線コネクタ 28">
            <a:extLst>
              <a:ext uri="{FF2B5EF4-FFF2-40B4-BE49-F238E27FC236}">
                <a16:creationId xmlns:a16="http://schemas.microsoft.com/office/drawing/2014/main" id="{9E39A3A1-29ED-ECDA-46DB-A4E9A0F9EA83}"/>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タイトル 2">
            <a:extLst>
              <a:ext uri="{FF2B5EF4-FFF2-40B4-BE49-F238E27FC236}">
                <a16:creationId xmlns:a16="http://schemas.microsoft.com/office/drawing/2014/main" id="{80C44A9A-D59D-0106-E02D-9DAB894044CB}"/>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1" name="直線矢印コネクタ 30">
            <a:extLst>
              <a:ext uri="{FF2B5EF4-FFF2-40B4-BE49-F238E27FC236}">
                <a16:creationId xmlns:a16="http://schemas.microsoft.com/office/drawing/2014/main" id="{9CFB05E6-9CD1-51BD-61C9-D4F1D420B471}"/>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タイトル 2">
            <a:extLst>
              <a:ext uri="{FF2B5EF4-FFF2-40B4-BE49-F238E27FC236}">
                <a16:creationId xmlns:a16="http://schemas.microsoft.com/office/drawing/2014/main" id="{0984437D-4C51-38B1-434E-B02FDB9D01E2}"/>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33" name="直線コネクタ 32">
            <a:extLst>
              <a:ext uri="{FF2B5EF4-FFF2-40B4-BE49-F238E27FC236}">
                <a16:creationId xmlns:a16="http://schemas.microsoft.com/office/drawing/2014/main" id="{E932C3C0-E42E-2A52-0759-349496C5120A}"/>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タイトル 2">
            <a:extLst>
              <a:ext uri="{FF2B5EF4-FFF2-40B4-BE49-F238E27FC236}">
                <a16:creationId xmlns:a16="http://schemas.microsoft.com/office/drawing/2014/main" id="{79E1B9FF-8A6B-5370-3F1C-954F7326814C}"/>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5" name="直線コネクタ 34">
            <a:extLst>
              <a:ext uri="{FF2B5EF4-FFF2-40B4-BE49-F238E27FC236}">
                <a16:creationId xmlns:a16="http://schemas.microsoft.com/office/drawing/2014/main" id="{14955930-1123-83B7-5FBF-80C371D513E7}"/>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タイトル 2">
            <a:extLst>
              <a:ext uri="{FF2B5EF4-FFF2-40B4-BE49-F238E27FC236}">
                <a16:creationId xmlns:a16="http://schemas.microsoft.com/office/drawing/2014/main" id="{4A005715-B01E-3024-848B-798706685CFE}"/>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7" name="四角形: 角を丸くする 36">
            <a:extLst>
              <a:ext uri="{FF2B5EF4-FFF2-40B4-BE49-F238E27FC236}">
                <a16:creationId xmlns:a16="http://schemas.microsoft.com/office/drawing/2014/main" id="{F0848323-8748-E2FA-CC2F-EB5C8F413E41}"/>
              </a:ext>
            </a:extLst>
          </p:cNvPr>
          <p:cNvSpPr/>
          <p:nvPr/>
        </p:nvSpPr>
        <p:spPr>
          <a:xfrm>
            <a:off x="1918077" y="877367"/>
            <a:ext cx="4139824"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四角形: 角を丸くする 37">
            <a:extLst>
              <a:ext uri="{FF2B5EF4-FFF2-40B4-BE49-F238E27FC236}">
                <a16:creationId xmlns:a16="http://schemas.microsoft.com/office/drawing/2014/main" id="{15256847-F1D7-5C8A-F5C6-7E5F09CDC05F}"/>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台形 38">
            <a:extLst>
              <a:ext uri="{FF2B5EF4-FFF2-40B4-BE49-F238E27FC236}">
                <a16:creationId xmlns:a16="http://schemas.microsoft.com/office/drawing/2014/main" id="{068E3E68-6E3D-E703-B4BB-4D8D0B00D9F4}"/>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0" name="図 39">
            <a:extLst>
              <a:ext uri="{FF2B5EF4-FFF2-40B4-BE49-F238E27FC236}">
                <a16:creationId xmlns:a16="http://schemas.microsoft.com/office/drawing/2014/main" id="{EC1765D5-FD4F-5656-C07E-8B01A7E18C93}"/>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1" name="タイトル 2">
            <a:extLst>
              <a:ext uri="{FF2B5EF4-FFF2-40B4-BE49-F238E27FC236}">
                <a16:creationId xmlns:a16="http://schemas.microsoft.com/office/drawing/2014/main" id="{634950AB-0B05-8564-CFFB-6FDC2378A745}"/>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2" name="台形 41">
            <a:extLst>
              <a:ext uri="{FF2B5EF4-FFF2-40B4-BE49-F238E27FC236}">
                <a16:creationId xmlns:a16="http://schemas.microsoft.com/office/drawing/2014/main" id="{CA27B118-425B-6D28-40B3-D15CEAE3232B}"/>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3" name="タイトル 2">
                <a:extLst>
                  <a:ext uri="{FF2B5EF4-FFF2-40B4-BE49-F238E27FC236}">
                    <a16:creationId xmlns:a16="http://schemas.microsoft.com/office/drawing/2014/main" id="{7EB0D735-FA07-C4E2-7927-94F31A3B73DC}"/>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3" name="タイトル 2">
                <a:extLst>
                  <a:ext uri="{FF2B5EF4-FFF2-40B4-BE49-F238E27FC236}">
                    <a16:creationId xmlns:a16="http://schemas.microsoft.com/office/drawing/2014/main" id="{7EB0D735-FA07-C4E2-7927-94F31A3B73DC}"/>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4" name="グラフィックス 43" descr="車 単色塗りつぶし">
            <a:extLst>
              <a:ext uri="{FF2B5EF4-FFF2-40B4-BE49-F238E27FC236}">
                <a16:creationId xmlns:a16="http://schemas.microsoft.com/office/drawing/2014/main" id="{1AB91973-0673-D7D0-2500-8B4AB8CDE31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5" name="直線コネクタ 44">
            <a:extLst>
              <a:ext uri="{FF2B5EF4-FFF2-40B4-BE49-F238E27FC236}">
                <a16:creationId xmlns:a16="http://schemas.microsoft.com/office/drawing/2014/main" id="{44EA0BE1-EC71-BA9D-719D-4CD59873DBBD}"/>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四角形: 角を丸くする 45">
            <a:extLst>
              <a:ext uri="{FF2B5EF4-FFF2-40B4-BE49-F238E27FC236}">
                <a16:creationId xmlns:a16="http://schemas.microsoft.com/office/drawing/2014/main" id="{F74B1192-CA0B-2425-6C68-00A9B14ECC4C}"/>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台形 46">
            <a:extLst>
              <a:ext uri="{FF2B5EF4-FFF2-40B4-BE49-F238E27FC236}">
                <a16:creationId xmlns:a16="http://schemas.microsoft.com/office/drawing/2014/main" id="{9C070B80-7D20-0480-7113-9F385148BEBC}"/>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8" name="図 47">
            <a:extLst>
              <a:ext uri="{FF2B5EF4-FFF2-40B4-BE49-F238E27FC236}">
                <a16:creationId xmlns:a16="http://schemas.microsoft.com/office/drawing/2014/main" id="{CBF9C925-DE6B-F554-7977-29D5EFB981F9}"/>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49" name="タイトル 2">
            <a:extLst>
              <a:ext uri="{FF2B5EF4-FFF2-40B4-BE49-F238E27FC236}">
                <a16:creationId xmlns:a16="http://schemas.microsoft.com/office/drawing/2014/main" id="{B6E7E39D-91FF-25B6-4BD7-ED6B1E6FE93A}"/>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0" name="台形 49">
            <a:extLst>
              <a:ext uri="{FF2B5EF4-FFF2-40B4-BE49-F238E27FC236}">
                <a16:creationId xmlns:a16="http://schemas.microsoft.com/office/drawing/2014/main" id="{C13A34EC-C139-9F26-4825-3E1C1DC0E658}"/>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1" name="タイトル 2">
                <a:extLst>
                  <a:ext uri="{FF2B5EF4-FFF2-40B4-BE49-F238E27FC236}">
                    <a16:creationId xmlns:a16="http://schemas.microsoft.com/office/drawing/2014/main" id="{95B5BD38-5BFC-9217-C2F1-9F8EB332DA1A}"/>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dirty="0" err="1"/>
                  <a:t>LoRA</a:t>
                </a:r>
                <a:r>
                  <a:rPr lang="en-US" altLang="ja-JP" sz="1300" dirty="0"/>
                  <a:t>(</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dirty="0"/>
                  <a:t>)</a:t>
                </a:r>
              </a:p>
              <a:p>
                <a:pPr algn="ctr"/>
                <a:r>
                  <a:rPr lang="en-US" altLang="ja-JP" sz="900" dirty="0"/>
                  <a:t>r=8,</a:t>
                </a:r>
              </a:p>
              <a:p>
                <a:pPr algn="ctr"/>
                <a:r>
                  <a:rPr lang="en-US" altLang="ja-JP" sz="900" dirty="0" err="1"/>
                  <a:t>target_modules</a:t>
                </a:r>
                <a:r>
                  <a:rPr lang="en-US" altLang="ja-JP" sz="900" dirty="0"/>
                  <a:t>=[</a:t>
                </a:r>
                <a:r>
                  <a:rPr lang="pl-PL" altLang="ja-JP" sz="900" dirty="0"/>
                  <a:t>q_proj,</a:t>
                </a:r>
                <a:r>
                  <a:rPr lang="en-US" altLang="ja-JP" sz="900" dirty="0"/>
                  <a:t> </a:t>
                </a:r>
                <a:r>
                  <a:rPr lang="pl-PL" altLang="ja-JP" sz="900" dirty="0"/>
                  <a:t>v_proj</a:t>
                </a:r>
                <a:r>
                  <a:rPr lang="en-US" altLang="ja-JP" sz="900" dirty="0"/>
                  <a:t>]</a:t>
                </a:r>
                <a:r>
                  <a:rPr lang="pl-PL" altLang="ja-JP" sz="900" dirty="0"/>
                  <a:t> </a:t>
                </a:r>
                <a:endParaRPr lang="en-US" altLang="ja-JP" sz="900" dirty="0"/>
              </a:p>
            </p:txBody>
          </p:sp>
        </mc:Choice>
        <mc:Fallback xmlns="">
          <p:sp>
            <p:nvSpPr>
              <p:cNvPr id="51" name="タイトル 2">
                <a:extLst>
                  <a:ext uri="{FF2B5EF4-FFF2-40B4-BE49-F238E27FC236}">
                    <a16:creationId xmlns:a16="http://schemas.microsoft.com/office/drawing/2014/main" id="{95B5BD38-5BFC-9217-C2F1-9F8EB332DA1A}"/>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6"/>
                <a:stretch>
                  <a:fillRect/>
                </a:stretch>
              </a:blipFill>
            </p:spPr>
            <p:txBody>
              <a:bodyPr/>
              <a:lstStyle/>
              <a:p>
                <a:r>
                  <a:rPr lang="en-US">
                    <a:noFill/>
                  </a:rPr>
                  <a:t> </a:t>
                </a:r>
              </a:p>
            </p:txBody>
          </p:sp>
        </mc:Fallback>
      </mc:AlternateContent>
      <p:pic>
        <p:nvPicPr>
          <p:cNvPr id="52" name="グラフィックス 51" descr="車 単色塗りつぶし">
            <a:extLst>
              <a:ext uri="{FF2B5EF4-FFF2-40B4-BE49-F238E27FC236}">
                <a16:creationId xmlns:a16="http://schemas.microsoft.com/office/drawing/2014/main" id="{9B691FD8-4BFA-E26D-6F49-D1966C24D41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3" name="直線コネクタ 52">
            <a:extLst>
              <a:ext uri="{FF2B5EF4-FFF2-40B4-BE49-F238E27FC236}">
                <a16:creationId xmlns:a16="http://schemas.microsoft.com/office/drawing/2014/main" id="{39E2820B-3786-0118-07CD-9EE273D007A6}"/>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54" name="図 53">
            <a:extLst>
              <a:ext uri="{FF2B5EF4-FFF2-40B4-BE49-F238E27FC236}">
                <a16:creationId xmlns:a16="http://schemas.microsoft.com/office/drawing/2014/main" id="{DF8C20B8-88AD-675E-1115-B7E9A369CD29}"/>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580967" y="1168701"/>
            <a:ext cx="789017" cy="792628"/>
          </a:xfrm>
          <a:prstGeom prst="rect">
            <a:avLst/>
          </a:prstGeom>
        </p:spPr>
      </p:pic>
      <p:sp>
        <p:nvSpPr>
          <p:cNvPr id="55" name="タイトル 2">
            <a:extLst>
              <a:ext uri="{FF2B5EF4-FFF2-40B4-BE49-F238E27FC236}">
                <a16:creationId xmlns:a16="http://schemas.microsoft.com/office/drawing/2014/main" id="{EA74FB6C-DBB5-61CA-F27F-64778041B07A}"/>
              </a:ext>
            </a:extLst>
          </p:cNvPr>
          <p:cNvSpPr txBox="1">
            <a:spLocks/>
          </p:cNvSpPr>
          <p:nvPr/>
        </p:nvSpPr>
        <p:spPr>
          <a:xfrm>
            <a:off x="3264142" y="2119731"/>
            <a:ext cx="140985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400"/>
              <a:t>Qwen-VL-3B</a:t>
            </a:r>
            <a:endParaRPr lang="ja-JP" altLang="en-US" sz="1400"/>
          </a:p>
        </p:txBody>
      </p:sp>
      <p:sp>
        <p:nvSpPr>
          <p:cNvPr id="56" name="正方形/長方形 55">
            <a:extLst>
              <a:ext uri="{FF2B5EF4-FFF2-40B4-BE49-F238E27FC236}">
                <a16:creationId xmlns:a16="http://schemas.microsoft.com/office/drawing/2014/main" id="{88D8199D-B5E5-8843-4EB3-8FC2EECCDE17}"/>
              </a:ext>
            </a:extLst>
          </p:cNvPr>
          <p:cNvSpPr/>
          <p:nvPr/>
        </p:nvSpPr>
        <p:spPr>
          <a:xfrm>
            <a:off x="6884349" y="2831275"/>
            <a:ext cx="2131438" cy="54480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ja-JP" altLang="en-US" b="1">
                <a:solidFill>
                  <a:schemeClr val="tx1"/>
                </a:solidFill>
              </a:rPr>
              <a:t>クライアント側</a:t>
            </a:r>
            <a:endParaRPr kumimoji="1" lang="ja-JP" altLang="en-US"/>
          </a:p>
        </p:txBody>
      </p:sp>
      <p:cxnSp>
        <p:nvCxnSpPr>
          <p:cNvPr id="57" name="直線コネクタ 56">
            <a:extLst>
              <a:ext uri="{FF2B5EF4-FFF2-40B4-BE49-F238E27FC236}">
                <a16:creationId xmlns:a16="http://schemas.microsoft.com/office/drawing/2014/main" id="{F83C6876-1ECC-8A12-5D0E-C02D1EEBA0A6}"/>
              </a:ext>
            </a:extLst>
          </p:cNvPr>
          <p:cNvCxnSpPr>
            <a:cxnSpLocks/>
          </p:cNvCxnSpPr>
          <p:nvPr/>
        </p:nvCxnSpPr>
        <p:spPr>
          <a:xfrm flipV="1">
            <a:off x="7505700" y="3350501"/>
            <a:ext cx="238800" cy="5464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テキスト ボックス 59">
                <a:extLst>
                  <a:ext uri="{FF2B5EF4-FFF2-40B4-BE49-F238E27FC236}">
                    <a16:creationId xmlns:a16="http://schemas.microsoft.com/office/drawing/2014/main" id="{44BB61F1-E2C3-F96D-36AC-77EA0B7C5E13}"/>
                  </a:ext>
                </a:extLst>
              </p:cNvPr>
              <p:cNvSpPr txBox="1"/>
              <p:nvPr/>
            </p:nvSpPr>
            <p:spPr>
              <a:xfrm>
                <a:off x="3168490" y="4237367"/>
                <a:ext cx="2058422" cy="523220"/>
              </a:xfrm>
              <a:prstGeom prst="rect">
                <a:avLst/>
              </a:prstGeom>
              <a:noFill/>
              <a:ln w="28575">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800" smtClean="0">
                          <a:solidFill>
                            <a:schemeClr val="tx1"/>
                          </a:solidFill>
                          <a:latin typeface="Cambria Math" panose="02040503050406030204" pitchFamily="18" charset="0"/>
                        </a:rPr>
                        <m:t>Δ</m:t>
                      </m:r>
                      <m:sSub>
                        <m:sSubPr>
                          <m:ctrlPr>
                            <a:rPr lang="en-US" altLang="ja-JP" sz="2800" b="0" i="1" smtClean="0">
                              <a:solidFill>
                                <a:schemeClr val="tx1"/>
                              </a:solidFill>
                              <a:latin typeface="Cambria Math" panose="02040503050406030204" pitchFamily="18" charset="0"/>
                            </a:rPr>
                          </m:ctrlPr>
                        </m:sSubPr>
                        <m:e>
                          <m:r>
                            <a:rPr lang="en-US" altLang="ja-JP" sz="2800" i="1">
                              <a:solidFill>
                                <a:schemeClr val="tx1"/>
                              </a:solidFill>
                              <a:latin typeface="Cambria Math" panose="02040503050406030204" pitchFamily="18" charset="0"/>
                            </a:rPr>
                            <m:t>𝑊</m:t>
                          </m:r>
                        </m:e>
                        <m:sub>
                          <m:r>
                            <a:rPr lang="en-US" altLang="ja-JP" sz="2800" b="0" i="1" smtClean="0">
                              <a:solidFill>
                                <a:schemeClr val="tx1"/>
                              </a:solidFill>
                              <a:latin typeface="Cambria Math" panose="02040503050406030204" pitchFamily="18" charset="0"/>
                            </a:rPr>
                            <m:t>1</m:t>
                          </m:r>
                        </m:sub>
                      </m:sSub>
                      <m:r>
                        <a:rPr lang="en-US" altLang="ja-JP" sz="2800" b="0" i="1" smtClean="0">
                          <a:solidFill>
                            <a:schemeClr val="tx1"/>
                          </a:solidFill>
                          <a:latin typeface="Cambria Math" panose="02040503050406030204" pitchFamily="18" charset="0"/>
                          <a:ea typeface="Cambria Math" panose="02040503050406030204" pitchFamily="18" charset="0"/>
                        </a:rPr>
                        <m:t>≠</m:t>
                      </m:r>
                      <m:r>
                        <m:rPr>
                          <m:sty m:val="p"/>
                        </m:rPr>
                        <a:rPr lang="en-US" altLang="ja-JP" sz="2800">
                          <a:latin typeface="Cambria Math" panose="02040503050406030204" pitchFamily="18" charset="0"/>
                        </a:rPr>
                        <m:t>Δ</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2</m:t>
                          </m:r>
                        </m:sub>
                      </m:sSub>
                    </m:oMath>
                  </m:oMathPara>
                </a14:m>
                <a:endParaRPr lang="ja-JP" altLang="en-US" sz="2800"/>
              </a:p>
            </p:txBody>
          </p:sp>
        </mc:Choice>
        <mc:Fallback xmlns="">
          <p:sp>
            <p:nvSpPr>
              <p:cNvPr id="60" name="テキスト ボックス 59">
                <a:extLst>
                  <a:ext uri="{FF2B5EF4-FFF2-40B4-BE49-F238E27FC236}">
                    <a16:creationId xmlns:a16="http://schemas.microsoft.com/office/drawing/2014/main" id="{44BB61F1-E2C3-F96D-36AC-77EA0B7C5E13}"/>
                  </a:ext>
                </a:extLst>
              </p:cNvPr>
              <p:cNvSpPr txBox="1">
                <a:spLocks noRot="1" noChangeAspect="1" noMove="1" noResize="1" noEditPoints="1" noAdjustHandles="1" noChangeArrowheads="1" noChangeShapeType="1" noTextEdit="1"/>
              </p:cNvSpPr>
              <p:nvPr/>
            </p:nvSpPr>
            <p:spPr>
              <a:xfrm>
                <a:off x="3168490" y="4237367"/>
                <a:ext cx="2058422" cy="523220"/>
              </a:xfrm>
              <a:prstGeom prst="rect">
                <a:avLst/>
              </a:prstGeom>
              <a:blipFill>
                <a:blip r:embed="rId17"/>
                <a:stretch>
                  <a:fillRect/>
                </a:stretch>
              </a:blipFill>
              <a:ln w="28575">
                <a:solidFill>
                  <a:schemeClr val="tx1"/>
                </a:solidFill>
              </a:ln>
            </p:spPr>
            <p:txBody>
              <a:bodyPr/>
              <a:lstStyle/>
              <a:p>
                <a:r>
                  <a:rPr lang="en-US">
                    <a:noFill/>
                  </a:rPr>
                  <a:t> </a:t>
                </a:r>
              </a:p>
            </p:txBody>
          </p:sp>
        </mc:Fallback>
      </mc:AlternateContent>
      <p:sp>
        <p:nvSpPr>
          <p:cNvPr id="65" name="正方形/長方形 64">
            <a:extLst>
              <a:ext uri="{FF2B5EF4-FFF2-40B4-BE49-F238E27FC236}">
                <a16:creationId xmlns:a16="http://schemas.microsoft.com/office/drawing/2014/main" id="{CAD8E0BD-0928-F288-0F09-FC8D0A3D98B8}"/>
              </a:ext>
            </a:extLst>
          </p:cNvPr>
          <p:cNvSpPr/>
          <p:nvPr/>
        </p:nvSpPr>
        <p:spPr>
          <a:xfrm>
            <a:off x="0" y="2844412"/>
            <a:ext cx="2131438" cy="54480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ja-JP" altLang="en-US" b="1">
                <a:solidFill>
                  <a:schemeClr val="tx1"/>
                </a:solidFill>
              </a:rPr>
              <a:t>クライアント側</a:t>
            </a:r>
            <a:endParaRPr kumimoji="1" lang="ja-JP" altLang="en-US"/>
          </a:p>
        </p:txBody>
      </p:sp>
      <p:cxnSp>
        <p:nvCxnSpPr>
          <p:cNvPr id="66" name="直線コネクタ 65">
            <a:extLst>
              <a:ext uri="{FF2B5EF4-FFF2-40B4-BE49-F238E27FC236}">
                <a16:creationId xmlns:a16="http://schemas.microsoft.com/office/drawing/2014/main" id="{F156AC6F-6225-9ADD-65B1-346380D1A94E}"/>
              </a:ext>
            </a:extLst>
          </p:cNvPr>
          <p:cNvCxnSpPr>
            <a:cxnSpLocks/>
          </p:cNvCxnSpPr>
          <p:nvPr/>
        </p:nvCxnSpPr>
        <p:spPr>
          <a:xfrm flipH="1" flipV="1">
            <a:off x="860151" y="3363638"/>
            <a:ext cx="424281" cy="532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584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A165842C-6086-D661-05D7-660DE8B4BC08}"/>
              </a:ext>
            </a:extLst>
          </p:cNvPr>
          <p:cNvSpPr>
            <a:spLocks noGrp="1"/>
          </p:cNvSpPr>
          <p:nvPr>
            <p:ph type="title"/>
          </p:nvPr>
        </p:nvSpPr>
        <p:spPr/>
        <p:txBody>
          <a:bodyPr/>
          <a:lstStyle/>
          <a:p>
            <a:r>
              <a:rPr lang="en-US" altLang="ja-JP"/>
              <a:t>4.</a:t>
            </a:r>
            <a:r>
              <a:rPr lang="ja-JP" altLang="ja-JP"/>
              <a:t>学習後評価（学習後 eval）</a:t>
            </a:r>
            <a:endParaRPr kumimoji="1" lang="ja-JP" altLang="en-US"/>
          </a:p>
        </p:txBody>
      </p:sp>
      <p:sp>
        <p:nvSpPr>
          <p:cNvPr id="4" name="スライド番号プレースホルダー 3">
            <a:extLst>
              <a:ext uri="{FF2B5EF4-FFF2-40B4-BE49-F238E27FC236}">
                <a16:creationId xmlns:a16="http://schemas.microsoft.com/office/drawing/2014/main" id="{29A0F1E0-E25B-4820-BA18-F0C3BCE5D0FD}"/>
              </a:ext>
            </a:extLst>
          </p:cNvPr>
          <p:cNvSpPr>
            <a:spLocks noGrp="1"/>
          </p:cNvSpPr>
          <p:nvPr>
            <p:ph type="sldNum" sz="quarter" idx="4"/>
          </p:nvPr>
        </p:nvSpPr>
        <p:spPr/>
        <p:txBody>
          <a:bodyPr/>
          <a:lstStyle/>
          <a:p>
            <a:fld id="{C088C981-6885-4100-82A1-DE7074EC4480}" type="slidenum">
              <a:rPr lang="ja-JP" altLang="en-US" smtClean="0"/>
              <a:t>9</a:t>
            </a:fld>
            <a:endParaRPr lang="ja-JP" altLang="en-US"/>
          </a:p>
        </p:txBody>
      </p:sp>
      <p:sp>
        <p:nvSpPr>
          <p:cNvPr id="5" name="四角形: 角を丸くする 4">
            <a:extLst>
              <a:ext uri="{FF2B5EF4-FFF2-40B4-BE49-F238E27FC236}">
                <a16:creationId xmlns:a16="http://schemas.microsoft.com/office/drawing/2014/main" id="{14154DC3-BFD0-2210-9DD2-5EC9235BF70C}"/>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0607E739-DED7-9E37-BC79-F20677EA788D}"/>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DBCE0481-7665-85B8-9779-E0E8E856E1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8" name="図 7">
            <a:extLst>
              <a:ext uri="{FF2B5EF4-FFF2-40B4-BE49-F238E27FC236}">
                <a16:creationId xmlns:a16="http://schemas.microsoft.com/office/drawing/2014/main" id="{46BE04F9-3A25-0352-36AC-40251F66BF7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9" name="図 8">
            <a:extLst>
              <a:ext uri="{FF2B5EF4-FFF2-40B4-BE49-F238E27FC236}">
                <a16:creationId xmlns:a16="http://schemas.microsoft.com/office/drawing/2014/main" id="{87C340C6-BE23-282D-1A67-F704DE1AABD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0" name="図 9">
            <a:extLst>
              <a:ext uri="{FF2B5EF4-FFF2-40B4-BE49-F238E27FC236}">
                <a16:creationId xmlns:a16="http://schemas.microsoft.com/office/drawing/2014/main" id="{AAC1AEE2-8006-02DE-F8E0-A536ED55C4A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1" name="図 10">
            <a:extLst>
              <a:ext uri="{FF2B5EF4-FFF2-40B4-BE49-F238E27FC236}">
                <a16:creationId xmlns:a16="http://schemas.microsoft.com/office/drawing/2014/main" id="{7E2A46F1-D352-BD7B-A9D1-87421DADF54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2" name="図 11">
            <a:extLst>
              <a:ext uri="{FF2B5EF4-FFF2-40B4-BE49-F238E27FC236}">
                <a16:creationId xmlns:a16="http://schemas.microsoft.com/office/drawing/2014/main" id="{B80F4407-A8F2-393E-144B-A2428F4FE4E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3" name="直線矢印コネクタ 12">
            <a:extLst>
              <a:ext uri="{FF2B5EF4-FFF2-40B4-BE49-F238E27FC236}">
                <a16:creationId xmlns:a16="http://schemas.microsoft.com/office/drawing/2014/main" id="{49CCCE27-3E35-16A7-4A40-808899C214B4}"/>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タイトル 2">
            <a:extLst>
              <a:ext uri="{FF2B5EF4-FFF2-40B4-BE49-F238E27FC236}">
                <a16:creationId xmlns:a16="http://schemas.microsoft.com/office/drawing/2014/main" id="{1ED59EF8-053A-3C0C-E389-A5C723381295}"/>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5" name="直線矢印コネクタ 14">
            <a:extLst>
              <a:ext uri="{FF2B5EF4-FFF2-40B4-BE49-F238E27FC236}">
                <a16:creationId xmlns:a16="http://schemas.microsoft.com/office/drawing/2014/main" id="{364FC915-C7AB-8F93-BA00-2FCD55BB9864}"/>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図 15">
            <a:extLst>
              <a:ext uri="{FF2B5EF4-FFF2-40B4-BE49-F238E27FC236}">
                <a16:creationId xmlns:a16="http://schemas.microsoft.com/office/drawing/2014/main" id="{6CB6487A-155F-679D-A63E-2647521452B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7" name="図 16">
            <a:extLst>
              <a:ext uri="{FF2B5EF4-FFF2-40B4-BE49-F238E27FC236}">
                <a16:creationId xmlns:a16="http://schemas.microsoft.com/office/drawing/2014/main" id="{B845B1D3-EDF9-4A58-D37C-184C771F649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8" name="図 17">
            <a:extLst>
              <a:ext uri="{FF2B5EF4-FFF2-40B4-BE49-F238E27FC236}">
                <a16:creationId xmlns:a16="http://schemas.microsoft.com/office/drawing/2014/main" id="{821AB09D-A1B6-7026-5AB3-F0A0B8B9E8D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19" name="図 18">
            <a:extLst>
              <a:ext uri="{FF2B5EF4-FFF2-40B4-BE49-F238E27FC236}">
                <a16:creationId xmlns:a16="http://schemas.microsoft.com/office/drawing/2014/main" id="{3585A7AF-BD06-FF6C-B92A-78788949805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0" name="図 19">
            <a:extLst>
              <a:ext uri="{FF2B5EF4-FFF2-40B4-BE49-F238E27FC236}">
                <a16:creationId xmlns:a16="http://schemas.microsoft.com/office/drawing/2014/main" id="{3E4A70AE-99FE-4C2C-197D-6E1A925935E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1" name="図 20">
            <a:extLst>
              <a:ext uri="{FF2B5EF4-FFF2-40B4-BE49-F238E27FC236}">
                <a16:creationId xmlns:a16="http://schemas.microsoft.com/office/drawing/2014/main" id="{A92B2123-C3F0-8B4E-34BA-8A2A6C4321A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2" name="図 21">
            <a:extLst>
              <a:ext uri="{FF2B5EF4-FFF2-40B4-BE49-F238E27FC236}">
                <a16:creationId xmlns:a16="http://schemas.microsoft.com/office/drawing/2014/main" id="{A60A7A97-1312-2FCB-50B5-EA781FED4C3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3" name="図 22">
            <a:extLst>
              <a:ext uri="{FF2B5EF4-FFF2-40B4-BE49-F238E27FC236}">
                <a16:creationId xmlns:a16="http://schemas.microsoft.com/office/drawing/2014/main" id="{5B98DCB6-DFEC-AA2C-497E-89FAE4FCD66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4" name="図 23">
            <a:extLst>
              <a:ext uri="{FF2B5EF4-FFF2-40B4-BE49-F238E27FC236}">
                <a16:creationId xmlns:a16="http://schemas.microsoft.com/office/drawing/2014/main" id="{09482550-DEA4-8914-D81D-5ECD1514AB3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5" name="図 24">
            <a:extLst>
              <a:ext uri="{FF2B5EF4-FFF2-40B4-BE49-F238E27FC236}">
                <a16:creationId xmlns:a16="http://schemas.microsoft.com/office/drawing/2014/main" id="{7E82DAA1-7487-58F0-7AA0-F1D4531C400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6" name="直線矢印コネクタ 25">
            <a:extLst>
              <a:ext uri="{FF2B5EF4-FFF2-40B4-BE49-F238E27FC236}">
                <a16:creationId xmlns:a16="http://schemas.microsoft.com/office/drawing/2014/main" id="{B05B1DAC-2B38-4772-6B95-86ADEA4F67BE}"/>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6CA9E078-4F63-835E-D360-05D1E225202C}"/>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タイトル 2">
            <a:extLst>
              <a:ext uri="{FF2B5EF4-FFF2-40B4-BE49-F238E27FC236}">
                <a16:creationId xmlns:a16="http://schemas.microsoft.com/office/drawing/2014/main" id="{D97D0426-0CA7-C92F-B9EF-0F1460A08994}"/>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29" name="直線コネクタ 28">
            <a:extLst>
              <a:ext uri="{FF2B5EF4-FFF2-40B4-BE49-F238E27FC236}">
                <a16:creationId xmlns:a16="http://schemas.microsoft.com/office/drawing/2014/main" id="{3EC8B4FA-46B8-94D8-E761-1EEDC7210175}"/>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タイトル 2">
            <a:extLst>
              <a:ext uri="{FF2B5EF4-FFF2-40B4-BE49-F238E27FC236}">
                <a16:creationId xmlns:a16="http://schemas.microsoft.com/office/drawing/2014/main" id="{89278446-6957-4C7D-5E63-7C881234585D}"/>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1" name="直線矢印コネクタ 30">
            <a:extLst>
              <a:ext uri="{FF2B5EF4-FFF2-40B4-BE49-F238E27FC236}">
                <a16:creationId xmlns:a16="http://schemas.microsoft.com/office/drawing/2014/main" id="{5F769816-7D59-66D1-3A50-48EC8ECFE379}"/>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タイトル 2">
            <a:extLst>
              <a:ext uri="{FF2B5EF4-FFF2-40B4-BE49-F238E27FC236}">
                <a16:creationId xmlns:a16="http://schemas.microsoft.com/office/drawing/2014/main" id="{0D49C76F-E3D6-A86B-4443-EA409C08741E}"/>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33" name="直線コネクタ 32">
            <a:extLst>
              <a:ext uri="{FF2B5EF4-FFF2-40B4-BE49-F238E27FC236}">
                <a16:creationId xmlns:a16="http://schemas.microsoft.com/office/drawing/2014/main" id="{79245BC5-13B2-68BE-6156-0DE271EB767A}"/>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タイトル 2">
            <a:extLst>
              <a:ext uri="{FF2B5EF4-FFF2-40B4-BE49-F238E27FC236}">
                <a16:creationId xmlns:a16="http://schemas.microsoft.com/office/drawing/2014/main" id="{6CD4CFF3-1FCC-EEDE-6D47-58BFD3714770}"/>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5" name="直線コネクタ 34">
            <a:extLst>
              <a:ext uri="{FF2B5EF4-FFF2-40B4-BE49-F238E27FC236}">
                <a16:creationId xmlns:a16="http://schemas.microsoft.com/office/drawing/2014/main" id="{C78EDC5B-AA92-ED98-605C-2371F69C887E}"/>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タイトル 2">
            <a:extLst>
              <a:ext uri="{FF2B5EF4-FFF2-40B4-BE49-F238E27FC236}">
                <a16:creationId xmlns:a16="http://schemas.microsoft.com/office/drawing/2014/main" id="{4C14DA21-6E9F-7331-696D-95752E2343FA}"/>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7" name="四角形: 角を丸くする 36">
            <a:extLst>
              <a:ext uri="{FF2B5EF4-FFF2-40B4-BE49-F238E27FC236}">
                <a16:creationId xmlns:a16="http://schemas.microsoft.com/office/drawing/2014/main" id="{21434B77-7283-0436-AC54-CA225F62AE62}"/>
              </a:ext>
            </a:extLst>
          </p:cNvPr>
          <p:cNvSpPr/>
          <p:nvPr/>
        </p:nvSpPr>
        <p:spPr>
          <a:xfrm>
            <a:off x="1918077" y="877367"/>
            <a:ext cx="4139824"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四角形: 角を丸くする 37">
            <a:extLst>
              <a:ext uri="{FF2B5EF4-FFF2-40B4-BE49-F238E27FC236}">
                <a16:creationId xmlns:a16="http://schemas.microsoft.com/office/drawing/2014/main" id="{0CF5F473-C3C9-E650-7390-6E98D04AA3F2}"/>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台形 38">
            <a:extLst>
              <a:ext uri="{FF2B5EF4-FFF2-40B4-BE49-F238E27FC236}">
                <a16:creationId xmlns:a16="http://schemas.microsoft.com/office/drawing/2014/main" id="{687CCA6E-25AB-93A8-C8EE-64AEFAA0C054}"/>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0" name="図 39">
            <a:extLst>
              <a:ext uri="{FF2B5EF4-FFF2-40B4-BE49-F238E27FC236}">
                <a16:creationId xmlns:a16="http://schemas.microsoft.com/office/drawing/2014/main" id="{A68BF88F-B302-12BE-3DAD-01EF69D3235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1" name="タイトル 2">
            <a:extLst>
              <a:ext uri="{FF2B5EF4-FFF2-40B4-BE49-F238E27FC236}">
                <a16:creationId xmlns:a16="http://schemas.microsoft.com/office/drawing/2014/main" id="{FAEC8FDF-3D63-55A6-E3F3-E56D6ED86E35}"/>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2" name="台形 41">
            <a:extLst>
              <a:ext uri="{FF2B5EF4-FFF2-40B4-BE49-F238E27FC236}">
                <a16:creationId xmlns:a16="http://schemas.microsoft.com/office/drawing/2014/main" id="{2C02754D-BF7B-637C-4DF6-D23E4EB19BA8}"/>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3" name="タイトル 2">
                <a:extLst>
                  <a:ext uri="{FF2B5EF4-FFF2-40B4-BE49-F238E27FC236}">
                    <a16:creationId xmlns:a16="http://schemas.microsoft.com/office/drawing/2014/main" id="{05F361F0-D039-0A94-71A5-EFC2B0F5AC5F}"/>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3" name="タイトル 2">
                <a:extLst>
                  <a:ext uri="{FF2B5EF4-FFF2-40B4-BE49-F238E27FC236}">
                    <a16:creationId xmlns:a16="http://schemas.microsoft.com/office/drawing/2014/main" id="{05F361F0-D039-0A94-71A5-EFC2B0F5AC5F}"/>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4" name="グラフィックス 43" descr="車 単色塗りつぶし">
            <a:extLst>
              <a:ext uri="{FF2B5EF4-FFF2-40B4-BE49-F238E27FC236}">
                <a16:creationId xmlns:a16="http://schemas.microsoft.com/office/drawing/2014/main" id="{73259162-996A-5C95-806A-8E07E791ED9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5" name="直線コネクタ 44">
            <a:extLst>
              <a:ext uri="{FF2B5EF4-FFF2-40B4-BE49-F238E27FC236}">
                <a16:creationId xmlns:a16="http://schemas.microsoft.com/office/drawing/2014/main" id="{B825822F-AA17-933A-1EF4-1EA7BBF1F499}"/>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四角形: 角を丸くする 45">
            <a:extLst>
              <a:ext uri="{FF2B5EF4-FFF2-40B4-BE49-F238E27FC236}">
                <a16:creationId xmlns:a16="http://schemas.microsoft.com/office/drawing/2014/main" id="{9D5A1B33-17A6-220F-8BAB-47BFAD9F72C7}"/>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台形 46">
            <a:extLst>
              <a:ext uri="{FF2B5EF4-FFF2-40B4-BE49-F238E27FC236}">
                <a16:creationId xmlns:a16="http://schemas.microsoft.com/office/drawing/2014/main" id="{6D28434B-0AD3-E4DA-C045-81958983BD5C}"/>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49" name="タイトル 2">
            <a:extLst>
              <a:ext uri="{FF2B5EF4-FFF2-40B4-BE49-F238E27FC236}">
                <a16:creationId xmlns:a16="http://schemas.microsoft.com/office/drawing/2014/main" id="{FCE6DF1F-F7FB-AE0C-1580-8BB023BDEDB1}"/>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0" name="台形 49">
            <a:extLst>
              <a:ext uri="{FF2B5EF4-FFF2-40B4-BE49-F238E27FC236}">
                <a16:creationId xmlns:a16="http://schemas.microsoft.com/office/drawing/2014/main" id="{CBBEC98B-8E44-E157-8BC9-18432C7F996A}"/>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1" name="タイトル 2">
                <a:extLst>
                  <a:ext uri="{FF2B5EF4-FFF2-40B4-BE49-F238E27FC236}">
                    <a16:creationId xmlns:a16="http://schemas.microsoft.com/office/drawing/2014/main" id="{482B7D83-23BA-8C31-6D93-156EDCEBF355}"/>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51" name="タイトル 2">
                <a:extLst>
                  <a:ext uri="{FF2B5EF4-FFF2-40B4-BE49-F238E27FC236}">
                    <a16:creationId xmlns:a16="http://schemas.microsoft.com/office/drawing/2014/main" id="{482B7D83-23BA-8C31-6D93-156EDCEBF355}"/>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6"/>
                <a:stretch>
                  <a:fillRect/>
                </a:stretch>
              </a:blipFill>
            </p:spPr>
            <p:txBody>
              <a:bodyPr/>
              <a:lstStyle/>
              <a:p>
                <a:r>
                  <a:rPr lang="en-US">
                    <a:noFill/>
                  </a:rPr>
                  <a:t> </a:t>
                </a:r>
              </a:p>
            </p:txBody>
          </p:sp>
        </mc:Fallback>
      </mc:AlternateContent>
      <p:pic>
        <p:nvPicPr>
          <p:cNvPr id="52" name="グラフィックス 51" descr="車 単色塗りつぶし">
            <a:extLst>
              <a:ext uri="{FF2B5EF4-FFF2-40B4-BE49-F238E27FC236}">
                <a16:creationId xmlns:a16="http://schemas.microsoft.com/office/drawing/2014/main" id="{9C27BAB8-9958-3776-5434-AA4CF5BAF45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3" name="直線コネクタ 52">
            <a:extLst>
              <a:ext uri="{FF2B5EF4-FFF2-40B4-BE49-F238E27FC236}">
                <a16:creationId xmlns:a16="http://schemas.microsoft.com/office/drawing/2014/main" id="{886999CF-1856-97CE-70EC-30886F9341C3}"/>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5" name="タイトル 2">
            <a:extLst>
              <a:ext uri="{FF2B5EF4-FFF2-40B4-BE49-F238E27FC236}">
                <a16:creationId xmlns:a16="http://schemas.microsoft.com/office/drawing/2014/main" id="{E95F86E8-B6BB-0819-02C3-FFFF9FA1B8D1}"/>
              </a:ext>
            </a:extLst>
          </p:cNvPr>
          <p:cNvSpPr txBox="1">
            <a:spLocks/>
          </p:cNvSpPr>
          <p:nvPr/>
        </p:nvSpPr>
        <p:spPr>
          <a:xfrm>
            <a:off x="3264142" y="2119731"/>
            <a:ext cx="140985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400"/>
              <a:t>Qwen-VL-3B</a:t>
            </a:r>
            <a:endParaRPr lang="ja-JP" altLang="en-US" sz="1400"/>
          </a:p>
        </p:txBody>
      </p:sp>
      <p:sp>
        <p:nvSpPr>
          <p:cNvPr id="56" name="正方形/長方形 55">
            <a:extLst>
              <a:ext uri="{FF2B5EF4-FFF2-40B4-BE49-F238E27FC236}">
                <a16:creationId xmlns:a16="http://schemas.microsoft.com/office/drawing/2014/main" id="{70713DE9-A778-475B-948D-6960A052A4A6}"/>
              </a:ext>
            </a:extLst>
          </p:cNvPr>
          <p:cNvSpPr/>
          <p:nvPr/>
        </p:nvSpPr>
        <p:spPr>
          <a:xfrm>
            <a:off x="6884349" y="2831275"/>
            <a:ext cx="2131438" cy="54480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ja-JP" altLang="en-US" b="1">
                <a:solidFill>
                  <a:schemeClr val="tx1"/>
                </a:solidFill>
              </a:rPr>
              <a:t>クライアント側</a:t>
            </a:r>
            <a:endParaRPr kumimoji="1" lang="ja-JP" altLang="en-US"/>
          </a:p>
        </p:txBody>
      </p:sp>
      <p:cxnSp>
        <p:nvCxnSpPr>
          <p:cNvPr id="57" name="直線コネクタ 56">
            <a:extLst>
              <a:ext uri="{FF2B5EF4-FFF2-40B4-BE49-F238E27FC236}">
                <a16:creationId xmlns:a16="http://schemas.microsoft.com/office/drawing/2014/main" id="{15B5885D-5087-6376-9376-A5CE417A3746}"/>
              </a:ext>
            </a:extLst>
          </p:cNvPr>
          <p:cNvCxnSpPr>
            <a:cxnSpLocks/>
          </p:cNvCxnSpPr>
          <p:nvPr/>
        </p:nvCxnSpPr>
        <p:spPr>
          <a:xfrm flipV="1">
            <a:off x="7505700" y="3350501"/>
            <a:ext cx="238800" cy="5464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EE8183BE-25CE-BF38-1C54-BDDF876E507A}"/>
                  </a:ext>
                </a:extLst>
              </p:cNvPr>
              <p:cNvSpPr txBox="1"/>
              <p:nvPr/>
            </p:nvSpPr>
            <p:spPr>
              <a:xfrm>
                <a:off x="3168490" y="4237367"/>
                <a:ext cx="2058422" cy="523220"/>
              </a:xfrm>
              <a:prstGeom prst="rect">
                <a:avLst/>
              </a:prstGeom>
              <a:noFill/>
              <a:ln w="28575">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800" smtClean="0">
                          <a:solidFill>
                            <a:schemeClr val="tx1"/>
                          </a:solidFill>
                          <a:latin typeface="Cambria Math" panose="02040503050406030204" pitchFamily="18" charset="0"/>
                        </a:rPr>
                        <m:t>Δ</m:t>
                      </m:r>
                      <m:sSub>
                        <m:sSubPr>
                          <m:ctrlPr>
                            <a:rPr lang="en-US" altLang="ja-JP" sz="2800" b="0" i="1" smtClean="0">
                              <a:solidFill>
                                <a:schemeClr val="tx1"/>
                              </a:solidFill>
                              <a:latin typeface="Cambria Math" panose="02040503050406030204" pitchFamily="18" charset="0"/>
                            </a:rPr>
                          </m:ctrlPr>
                        </m:sSubPr>
                        <m:e>
                          <m:r>
                            <a:rPr lang="en-US" altLang="ja-JP" sz="2800" i="1">
                              <a:solidFill>
                                <a:schemeClr val="tx1"/>
                              </a:solidFill>
                              <a:latin typeface="Cambria Math" panose="02040503050406030204" pitchFamily="18" charset="0"/>
                            </a:rPr>
                            <m:t>𝑊</m:t>
                          </m:r>
                        </m:e>
                        <m:sub>
                          <m:r>
                            <a:rPr lang="en-US" altLang="ja-JP" sz="2800" b="0" i="1" smtClean="0">
                              <a:solidFill>
                                <a:schemeClr val="tx1"/>
                              </a:solidFill>
                              <a:latin typeface="Cambria Math" panose="02040503050406030204" pitchFamily="18" charset="0"/>
                            </a:rPr>
                            <m:t>1</m:t>
                          </m:r>
                        </m:sub>
                      </m:sSub>
                      <m:r>
                        <a:rPr lang="en-US" altLang="ja-JP" sz="2800" b="0" i="1" smtClean="0">
                          <a:solidFill>
                            <a:schemeClr val="tx1"/>
                          </a:solidFill>
                          <a:latin typeface="Cambria Math" panose="02040503050406030204" pitchFamily="18" charset="0"/>
                          <a:ea typeface="Cambria Math" panose="02040503050406030204" pitchFamily="18" charset="0"/>
                        </a:rPr>
                        <m:t>≠</m:t>
                      </m:r>
                      <m:r>
                        <m:rPr>
                          <m:sty m:val="p"/>
                        </m:rPr>
                        <a:rPr lang="en-US" altLang="ja-JP" sz="2800">
                          <a:latin typeface="Cambria Math" panose="02040503050406030204" pitchFamily="18" charset="0"/>
                        </a:rPr>
                        <m:t>Δ</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2</m:t>
                          </m:r>
                        </m:sub>
                      </m:sSub>
                    </m:oMath>
                  </m:oMathPara>
                </a14:m>
                <a:endParaRPr lang="ja-JP" altLang="en-US" sz="2800"/>
              </a:p>
            </p:txBody>
          </p:sp>
        </mc:Choice>
        <mc:Fallback xmlns="">
          <p:sp>
            <p:nvSpPr>
              <p:cNvPr id="58" name="テキスト ボックス 57">
                <a:extLst>
                  <a:ext uri="{FF2B5EF4-FFF2-40B4-BE49-F238E27FC236}">
                    <a16:creationId xmlns:a16="http://schemas.microsoft.com/office/drawing/2014/main" id="{EE8183BE-25CE-BF38-1C54-BDDF876E507A}"/>
                  </a:ext>
                </a:extLst>
              </p:cNvPr>
              <p:cNvSpPr txBox="1">
                <a:spLocks noRot="1" noChangeAspect="1" noMove="1" noResize="1" noEditPoints="1" noAdjustHandles="1" noChangeArrowheads="1" noChangeShapeType="1" noTextEdit="1"/>
              </p:cNvSpPr>
              <p:nvPr/>
            </p:nvSpPr>
            <p:spPr>
              <a:xfrm>
                <a:off x="3168490" y="4237367"/>
                <a:ext cx="2058422" cy="523220"/>
              </a:xfrm>
              <a:prstGeom prst="rect">
                <a:avLst/>
              </a:prstGeom>
              <a:blipFill>
                <a:blip r:embed="rId17"/>
                <a:stretch>
                  <a:fillRect/>
                </a:stretch>
              </a:blipFill>
              <a:ln w="28575">
                <a:solidFill>
                  <a:schemeClr val="tx1"/>
                </a:solidFill>
              </a:ln>
            </p:spPr>
            <p:txBody>
              <a:bodyPr/>
              <a:lstStyle/>
              <a:p>
                <a:r>
                  <a:rPr lang="en-US">
                    <a:noFill/>
                  </a:rPr>
                  <a:t> </a:t>
                </a:r>
              </a:p>
            </p:txBody>
          </p:sp>
        </mc:Fallback>
      </mc:AlternateContent>
      <p:sp>
        <p:nvSpPr>
          <p:cNvPr id="59" name="正方形/長方形 58">
            <a:extLst>
              <a:ext uri="{FF2B5EF4-FFF2-40B4-BE49-F238E27FC236}">
                <a16:creationId xmlns:a16="http://schemas.microsoft.com/office/drawing/2014/main" id="{BC177C71-4A38-9F1A-8D1B-6A9AACC21516}"/>
              </a:ext>
            </a:extLst>
          </p:cNvPr>
          <p:cNvSpPr/>
          <p:nvPr/>
        </p:nvSpPr>
        <p:spPr>
          <a:xfrm>
            <a:off x="0" y="2844412"/>
            <a:ext cx="2131438" cy="54480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ja-JP" altLang="en-US" b="1">
                <a:solidFill>
                  <a:schemeClr val="tx1"/>
                </a:solidFill>
              </a:rPr>
              <a:t>クライアント側</a:t>
            </a:r>
            <a:endParaRPr kumimoji="1" lang="ja-JP" altLang="en-US"/>
          </a:p>
        </p:txBody>
      </p:sp>
      <p:cxnSp>
        <p:nvCxnSpPr>
          <p:cNvPr id="60" name="直線コネクタ 59">
            <a:extLst>
              <a:ext uri="{FF2B5EF4-FFF2-40B4-BE49-F238E27FC236}">
                <a16:creationId xmlns:a16="http://schemas.microsoft.com/office/drawing/2014/main" id="{F0CD7913-17CF-38E7-9CE9-7D40BDABC9DF}"/>
              </a:ext>
            </a:extLst>
          </p:cNvPr>
          <p:cNvCxnSpPr>
            <a:cxnSpLocks/>
          </p:cNvCxnSpPr>
          <p:nvPr/>
        </p:nvCxnSpPr>
        <p:spPr>
          <a:xfrm flipH="1" flipV="1">
            <a:off x="860151" y="3363638"/>
            <a:ext cx="424281" cy="532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1" name="図 60">
            <a:extLst>
              <a:ext uri="{FF2B5EF4-FFF2-40B4-BE49-F238E27FC236}">
                <a16:creationId xmlns:a16="http://schemas.microsoft.com/office/drawing/2014/main" id="{37400BCA-2187-2FDC-FE9D-0487125B9DC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707193" y="1380379"/>
            <a:ext cx="561592" cy="564162"/>
          </a:xfrm>
          <a:prstGeom prst="rect">
            <a:avLst/>
          </a:prstGeom>
        </p:spPr>
      </p:pic>
      <p:pic>
        <p:nvPicPr>
          <p:cNvPr id="63" name="図 62">
            <a:extLst>
              <a:ext uri="{FF2B5EF4-FFF2-40B4-BE49-F238E27FC236}">
                <a16:creationId xmlns:a16="http://schemas.microsoft.com/office/drawing/2014/main" id="{21623FAA-82DD-010A-41BF-DE36B0C3C492}"/>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646483" y="4095693"/>
            <a:ext cx="561592" cy="564162"/>
          </a:xfrm>
          <a:prstGeom prst="rect">
            <a:avLst/>
          </a:prstGeom>
        </p:spPr>
      </p:pic>
    </p:spTree>
    <p:extLst>
      <p:ext uri="{BB962C8B-B14F-4D97-AF65-F5344CB8AC3E}">
        <p14:creationId xmlns:p14="http://schemas.microsoft.com/office/powerpoint/2010/main" val="1787801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A8EE627-450F-0A5B-2061-C3BCA2B39B40}"/>
              </a:ext>
            </a:extLst>
          </p:cNvPr>
          <p:cNvSpPr>
            <a:spLocks noGrp="1"/>
          </p:cNvSpPr>
          <p:nvPr>
            <p:ph type="title"/>
          </p:nvPr>
        </p:nvSpPr>
        <p:spPr/>
        <p:txBody>
          <a:bodyPr>
            <a:normAutofit/>
          </a:bodyPr>
          <a:lstStyle/>
          <a:p>
            <a:r>
              <a:rPr lang="en-US" altLang="ja-JP" dirty="0">
                <a:solidFill>
                  <a:srgbClr val="FF0000"/>
                </a:solidFill>
              </a:rPr>
              <a:t>5</a:t>
            </a:r>
            <a:r>
              <a:rPr lang="ja-JP" altLang="ja-JP" dirty="0">
                <a:solidFill>
                  <a:srgbClr val="FF0000"/>
                </a:solidFill>
              </a:rPr>
              <a:t>. サーバーでの集約</a:t>
            </a:r>
            <a:endParaRPr kumimoji="1" lang="ja-JP" altLang="en-US" dirty="0">
              <a:solidFill>
                <a:srgbClr val="FF0000"/>
              </a:solidFill>
            </a:endParaRPr>
          </a:p>
        </p:txBody>
      </p:sp>
      <p:sp>
        <p:nvSpPr>
          <p:cNvPr id="4" name="スライド番号プレースホルダー 3">
            <a:extLst>
              <a:ext uri="{FF2B5EF4-FFF2-40B4-BE49-F238E27FC236}">
                <a16:creationId xmlns:a16="http://schemas.microsoft.com/office/drawing/2014/main" id="{174F8571-27DB-1AF7-8ABC-E45002485323}"/>
              </a:ext>
            </a:extLst>
          </p:cNvPr>
          <p:cNvSpPr>
            <a:spLocks noGrp="1"/>
          </p:cNvSpPr>
          <p:nvPr>
            <p:ph type="sldNum" sz="quarter" idx="4"/>
          </p:nvPr>
        </p:nvSpPr>
        <p:spPr/>
        <p:txBody>
          <a:bodyPr/>
          <a:lstStyle/>
          <a:p>
            <a:fld id="{C088C981-6885-4100-82A1-DE7074EC4480}" type="slidenum">
              <a:rPr lang="ja-JP" altLang="en-US" smtClean="0"/>
              <a:t>10</a:t>
            </a:fld>
            <a:endParaRPr lang="ja-JP" altLang="en-US"/>
          </a:p>
        </p:txBody>
      </p:sp>
      <p:sp>
        <p:nvSpPr>
          <p:cNvPr id="5" name="四角形: 角を丸くする 4">
            <a:extLst>
              <a:ext uri="{FF2B5EF4-FFF2-40B4-BE49-F238E27FC236}">
                <a16:creationId xmlns:a16="http://schemas.microsoft.com/office/drawing/2014/main" id="{C271571C-E57A-03B4-4A7B-A9D8E6BEF741}"/>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F536CFC1-7022-179E-13D4-446AC1CC50CD}"/>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FAB7EB7F-6F1A-34CE-A5D8-69B5ABC0A834}"/>
              </a:ext>
            </a:extLst>
          </p:cNvPr>
          <p:cNvCxnSpPr>
            <a:cxnSpLocks/>
          </p:cNvCxnSpPr>
          <p:nvPr/>
        </p:nvCxnSpPr>
        <p:spPr>
          <a:xfrm flipV="1">
            <a:off x="1960067" y="3001169"/>
            <a:ext cx="629361" cy="7515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図 7">
            <a:extLst>
              <a:ext uri="{FF2B5EF4-FFF2-40B4-BE49-F238E27FC236}">
                <a16:creationId xmlns:a16="http://schemas.microsoft.com/office/drawing/2014/main" id="{55EA95D9-2A3A-C093-012A-F5FD0F0D15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9" name="図 8">
            <a:extLst>
              <a:ext uri="{FF2B5EF4-FFF2-40B4-BE49-F238E27FC236}">
                <a16:creationId xmlns:a16="http://schemas.microsoft.com/office/drawing/2014/main" id="{E76DE2E9-00BE-8291-1007-9F25F4E8202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10" name="図 9">
            <a:extLst>
              <a:ext uri="{FF2B5EF4-FFF2-40B4-BE49-F238E27FC236}">
                <a16:creationId xmlns:a16="http://schemas.microsoft.com/office/drawing/2014/main" id="{7CA94CA5-0894-0537-28C2-42CBD955135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1" name="図 10">
            <a:extLst>
              <a:ext uri="{FF2B5EF4-FFF2-40B4-BE49-F238E27FC236}">
                <a16:creationId xmlns:a16="http://schemas.microsoft.com/office/drawing/2014/main" id="{67B0DF73-7D5D-46C2-EA75-08114FB28E5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2" name="図 11">
            <a:extLst>
              <a:ext uri="{FF2B5EF4-FFF2-40B4-BE49-F238E27FC236}">
                <a16:creationId xmlns:a16="http://schemas.microsoft.com/office/drawing/2014/main" id="{A17881DB-E1B0-8E62-CE42-D960B172EE7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3" name="図 12">
            <a:extLst>
              <a:ext uri="{FF2B5EF4-FFF2-40B4-BE49-F238E27FC236}">
                <a16:creationId xmlns:a16="http://schemas.microsoft.com/office/drawing/2014/main" id="{C443EF13-C2D1-B24B-8E11-6927B4AB2A4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4" name="直線矢印コネクタ 13">
            <a:extLst>
              <a:ext uri="{FF2B5EF4-FFF2-40B4-BE49-F238E27FC236}">
                <a16:creationId xmlns:a16="http://schemas.microsoft.com/office/drawing/2014/main" id="{CD41BED8-D0DC-816F-7B4B-25E144A48B47}"/>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2">
            <a:extLst>
              <a:ext uri="{FF2B5EF4-FFF2-40B4-BE49-F238E27FC236}">
                <a16:creationId xmlns:a16="http://schemas.microsoft.com/office/drawing/2014/main" id="{7E4572A6-13D9-271E-E5E1-804EE48ABC7E}"/>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6" name="直線矢印コネクタ 15">
            <a:extLst>
              <a:ext uri="{FF2B5EF4-FFF2-40B4-BE49-F238E27FC236}">
                <a16:creationId xmlns:a16="http://schemas.microsoft.com/office/drawing/2014/main" id="{B3716129-9A51-8D03-5298-5AB0FF9A18D5}"/>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822CA505-5A98-EBB5-E7A5-A4E7FE5576C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8" name="図 17">
            <a:extLst>
              <a:ext uri="{FF2B5EF4-FFF2-40B4-BE49-F238E27FC236}">
                <a16:creationId xmlns:a16="http://schemas.microsoft.com/office/drawing/2014/main" id="{4CDD4EA7-DF65-28EA-16EE-89AF35A7E22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9" name="図 18">
            <a:extLst>
              <a:ext uri="{FF2B5EF4-FFF2-40B4-BE49-F238E27FC236}">
                <a16:creationId xmlns:a16="http://schemas.microsoft.com/office/drawing/2014/main" id="{0F20A713-D45A-4A72-653A-857AB2323E3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20" name="図 19">
            <a:extLst>
              <a:ext uri="{FF2B5EF4-FFF2-40B4-BE49-F238E27FC236}">
                <a16:creationId xmlns:a16="http://schemas.microsoft.com/office/drawing/2014/main" id="{A18EFC16-69AC-6B8A-EAAE-AAEADC0E098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1" name="図 20">
            <a:extLst>
              <a:ext uri="{FF2B5EF4-FFF2-40B4-BE49-F238E27FC236}">
                <a16:creationId xmlns:a16="http://schemas.microsoft.com/office/drawing/2014/main" id="{09E8CC19-371F-7F0D-A934-098293C8114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2" name="図 21">
            <a:extLst>
              <a:ext uri="{FF2B5EF4-FFF2-40B4-BE49-F238E27FC236}">
                <a16:creationId xmlns:a16="http://schemas.microsoft.com/office/drawing/2014/main" id="{170DE38D-5E7F-B105-C0BC-D1CE19B619B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3" name="図 22">
            <a:extLst>
              <a:ext uri="{FF2B5EF4-FFF2-40B4-BE49-F238E27FC236}">
                <a16:creationId xmlns:a16="http://schemas.microsoft.com/office/drawing/2014/main" id="{0925F64F-B81C-A7B5-D5AD-9282BEC416D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4" name="図 23">
            <a:extLst>
              <a:ext uri="{FF2B5EF4-FFF2-40B4-BE49-F238E27FC236}">
                <a16:creationId xmlns:a16="http://schemas.microsoft.com/office/drawing/2014/main" id="{FBC20C1E-B978-5C56-C472-B42BD5FE987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5" name="図 24">
            <a:extLst>
              <a:ext uri="{FF2B5EF4-FFF2-40B4-BE49-F238E27FC236}">
                <a16:creationId xmlns:a16="http://schemas.microsoft.com/office/drawing/2014/main" id="{1ADB5FFC-432A-E625-1318-E57182F5DAF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6" name="図 25">
            <a:extLst>
              <a:ext uri="{FF2B5EF4-FFF2-40B4-BE49-F238E27FC236}">
                <a16:creationId xmlns:a16="http://schemas.microsoft.com/office/drawing/2014/main" id="{742D81CE-3359-EB3B-33A9-E9F57CFA565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7" name="直線矢印コネクタ 26">
            <a:extLst>
              <a:ext uri="{FF2B5EF4-FFF2-40B4-BE49-F238E27FC236}">
                <a16:creationId xmlns:a16="http://schemas.microsoft.com/office/drawing/2014/main" id="{00E33037-3889-D0F5-4C40-73EAB7C7B9CF}"/>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04D456B9-2E89-CB81-A939-BB34CB22DE68}"/>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タイトル 2">
            <a:extLst>
              <a:ext uri="{FF2B5EF4-FFF2-40B4-BE49-F238E27FC236}">
                <a16:creationId xmlns:a16="http://schemas.microsoft.com/office/drawing/2014/main" id="{6DC1B98D-B71E-F621-194D-D03AC10092EA}"/>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0" name="直線コネクタ 29">
            <a:extLst>
              <a:ext uri="{FF2B5EF4-FFF2-40B4-BE49-F238E27FC236}">
                <a16:creationId xmlns:a16="http://schemas.microsoft.com/office/drawing/2014/main" id="{E3FBB393-48E6-13B4-481F-E31CD516D958}"/>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タイトル 2">
            <a:extLst>
              <a:ext uri="{FF2B5EF4-FFF2-40B4-BE49-F238E27FC236}">
                <a16:creationId xmlns:a16="http://schemas.microsoft.com/office/drawing/2014/main" id="{1D0824B1-A292-7EC9-1C85-F334AD32B65E}"/>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2" name="直線矢印コネクタ 31">
            <a:extLst>
              <a:ext uri="{FF2B5EF4-FFF2-40B4-BE49-F238E27FC236}">
                <a16:creationId xmlns:a16="http://schemas.microsoft.com/office/drawing/2014/main" id="{F72228CC-004F-14AD-206A-BD0E3E91A5F0}"/>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タイトル 2">
            <a:extLst>
              <a:ext uri="{FF2B5EF4-FFF2-40B4-BE49-F238E27FC236}">
                <a16:creationId xmlns:a16="http://schemas.microsoft.com/office/drawing/2014/main" id="{9FC73672-3C33-958B-F36F-B11CA947789C}"/>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34" name="直線コネクタ 33">
            <a:extLst>
              <a:ext uri="{FF2B5EF4-FFF2-40B4-BE49-F238E27FC236}">
                <a16:creationId xmlns:a16="http://schemas.microsoft.com/office/drawing/2014/main" id="{B81D50C3-4A7B-3F1C-FCDC-F08C3F899186}"/>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タイトル 2">
            <a:extLst>
              <a:ext uri="{FF2B5EF4-FFF2-40B4-BE49-F238E27FC236}">
                <a16:creationId xmlns:a16="http://schemas.microsoft.com/office/drawing/2014/main" id="{87873327-BFD9-E9FD-71DF-38915A897650}"/>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6" name="直線コネクタ 35">
            <a:extLst>
              <a:ext uri="{FF2B5EF4-FFF2-40B4-BE49-F238E27FC236}">
                <a16:creationId xmlns:a16="http://schemas.microsoft.com/office/drawing/2014/main" id="{E6BBBB90-3D5A-2656-66FA-302966D45730}"/>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タイトル 2">
            <a:extLst>
              <a:ext uri="{FF2B5EF4-FFF2-40B4-BE49-F238E27FC236}">
                <a16:creationId xmlns:a16="http://schemas.microsoft.com/office/drawing/2014/main" id="{5395EABC-5C95-61CC-666B-0FA2FB992601}"/>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8" name="四角形: 角を丸くする 37">
            <a:extLst>
              <a:ext uri="{FF2B5EF4-FFF2-40B4-BE49-F238E27FC236}">
                <a16:creationId xmlns:a16="http://schemas.microsoft.com/office/drawing/2014/main" id="{3D4A17F1-CE79-F535-C0EF-327B7A77F580}"/>
              </a:ext>
            </a:extLst>
          </p:cNvPr>
          <p:cNvSpPr/>
          <p:nvPr/>
        </p:nvSpPr>
        <p:spPr>
          <a:xfrm>
            <a:off x="1829570" y="877367"/>
            <a:ext cx="4228331"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D5BA5ABA-D573-2AF4-36A6-12055F1E18F7}"/>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台形 39">
            <a:extLst>
              <a:ext uri="{FF2B5EF4-FFF2-40B4-BE49-F238E27FC236}">
                <a16:creationId xmlns:a16="http://schemas.microsoft.com/office/drawing/2014/main" id="{A4F0CE69-8318-EFFF-45C8-32BBA8A20347}"/>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1" name="図 40">
            <a:extLst>
              <a:ext uri="{FF2B5EF4-FFF2-40B4-BE49-F238E27FC236}">
                <a16:creationId xmlns:a16="http://schemas.microsoft.com/office/drawing/2014/main" id="{5F4CD28C-3F99-2BD9-8B39-FFE2EED6F66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2" name="タイトル 2">
            <a:extLst>
              <a:ext uri="{FF2B5EF4-FFF2-40B4-BE49-F238E27FC236}">
                <a16:creationId xmlns:a16="http://schemas.microsoft.com/office/drawing/2014/main" id="{B22C9BE7-19D6-46BA-A90E-B212AC8C2393}"/>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3" name="台形 42">
            <a:extLst>
              <a:ext uri="{FF2B5EF4-FFF2-40B4-BE49-F238E27FC236}">
                <a16:creationId xmlns:a16="http://schemas.microsoft.com/office/drawing/2014/main" id="{0E430E83-6C16-0560-C8F1-C8F5446E82FE}"/>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4" name="タイトル 2">
                <a:extLst>
                  <a:ext uri="{FF2B5EF4-FFF2-40B4-BE49-F238E27FC236}">
                    <a16:creationId xmlns:a16="http://schemas.microsoft.com/office/drawing/2014/main" id="{12896521-61E1-1713-8263-35E3466630EA}"/>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4" name="タイトル 2">
                <a:extLst>
                  <a:ext uri="{FF2B5EF4-FFF2-40B4-BE49-F238E27FC236}">
                    <a16:creationId xmlns:a16="http://schemas.microsoft.com/office/drawing/2014/main" id="{12896521-61E1-1713-8263-35E3466630EA}"/>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5" name="グラフィックス 44" descr="車 単色塗りつぶし">
            <a:extLst>
              <a:ext uri="{FF2B5EF4-FFF2-40B4-BE49-F238E27FC236}">
                <a16:creationId xmlns:a16="http://schemas.microsoft.com/office/drawing/2014/main" id="{1DE718B5-2E0D-B45C-6D15-C280D2EB9A6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6" name="直線コネクタ 45">
            <a:extLst>
              <a:ext uri="{FF2B5EF4-FFF2-40B4-BE49-F238E27FC236}">
                <a16:creationId xmlns:a16="http://schemas.microsoft.com/office/drawing/2014/main" id="{83B78CDA-82B8-2F33-F720-06EC7A5532F2}"/>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7" name="四角形: 角を丸くする 46">
            <a:extLst>
              <a:ext uri="{FF2B5EF4-FFF2-40B4-BE49-F238E27FC236}">
                <a16:creationId xmlns:a16="http://schemas.microsoft.com/office/drawing/2014/main" id="{E8C3584B-95AE-977C-AEE7-CD951906A03A}"/>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台形 47">
            <a:extLst>
              <a:ext uri="{FF2B5EF4-FFF2-40B4-BE49-F238E27FC236}">
                <a16:creationId xmlns:a16="http://schemas.microsoft.com/office/drawing/2014/main" id="{954E6FAE-B101-978E-2179-DC99FAF6DBA6}"/>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9" name="図 48">
            <a:extLst>
              <a:ext uri="{FF2B5EF4-FFF2-40B4-BE49-F238E27FC236}">
                <a16:creationId xmlns:a16="http://schemas.microsoft.com/office/drawing/2014/main" id="{381F0A2E-6A66-14EE-329D-6F3A9EF22709}"/>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50" name="タイトル 2">
            <a:extLst>
              <a:ext uri="{FF2B5EF4-FFF2-40B4-BE49-F238E27FC236}">
                <a16:creationId xmlns:a16="http://schemas.microsoft.com/office/drawing/2014/main" id="{E9904CFA-1494-66BA-5F7A-C20C15904D0C}"/>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1" name="台形 50">
            <a:extLst>
              <a:ext uri="{FF2B5EF4-FFF2-40B4-BE49-F238E27FC236}">
                <a16:creationId xmlns:a16="http://schemas.microsoft.com/office/drawing/2014/main" id="{D70F167D-B5FE-8175-A283-54270356B7B7}"/>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2" name="タイトル 2">
                <a:extLst>
                  <a:ext uri="{FF2B5EF4-FFF2-40B4-BE49-F238E27FC236}">
                    <a16:creationId xmlns:a16="http://schemas.microsoft.com/office/drawing/2014/main" id="{8475B556-54D0-8C3C-1547-A3C45028C176}"/>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52" name="タイトル 2">
                <a:extLst>
                  <a:ext uri="{FF2B5EF4-FFF2-40B4-BE49-F238E27FC236}">
                    <a16:creationId xmlns:a16="http://schemas.microsoft.com/office/drawing/2014/main" id="{8475B556-54D0-8C3C-1547-A3C45028C176}"/>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6"/>
                <a:stretch>
                  <a:fillRect/>
                </a:stretch>
              </a:blipFill>
            </p:spPr>
            <p:txBody>
              <a:bodyPr/>
              <a:lstStyle/>
              <a:p>
                <a:r>
                  <a:rPr lang="en-US">
                    <a:noFill/>
                  </a:rPr>
                  <a:t> </a:t>
                </a:r>
              </a:p>
            </p:txBody>
          </p:sp>
        </mc:Fallback>
      </mc:AlternateContent>
      <p:pic>
        <p:nvPicPr>
          <p:cNvPr id="53" name="グラフィックス 52" descr="車 単色塗りつぶし">
            <a:extLst>
              <a:ext uri="{FF2B5EF4-FFF2-40B4-BE49-F238E27FC236}">
                <a16:creationId xmlns:a16="http://schemas.microsoft.com/office/drawing/2014/main" id="{44407548-F9B7-8676-E8FE-296EC1A90CC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4" name="直線コネクタ 53">
            <a:extLst>
              <a:ext uri="{FF2B5EF4-FFF2-40B4-BE49-F238E27FC236}">
                <a16:creationId xmlns:a16="http://schemas.microsoft.com/office/drawing/2014/main" id="{9B07D9A5-75E3-1A43-3A2E-40B48D68FB92}"/>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0830AE75-B8C7-6EB6-83E3-2D7B31E89217}"/>
              </a:ext>
            </a:extLst>
          </p:cNvPr>
          <p:cNvCxnSpPr>
            <a:cxnSpLocks/>
          </p:cNvCxnSpPr>
          <p:nvPr/>
        </p:nvCxnSpPr>
        <p:spPr>
          <a:xfrm rot="16200000" flipV="1">
            <a:off x="6040866" y="2943318"/>
            <a:ext cx="629361" cy="7515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8" name="台形 57">
            <a:extLst>
              <a:ext uri="{FF2B5EF4-FFF2-40B4-BE49-F238E27FC236}">
                <a16:creationId xmlns:a16="http://schemas.microsoft.com/office/drawing/2014/main" id="{6D6B9EF9-C3E6-67CF-679A-771D071913DA}"/>
              </a:ext>
            </a:extLst>
          </p:cNvPr>
          <p:cNvSpPr/>
          <p:nvPr/>
        </p:nvSpPr>
        <p:spPr>
          <a:xfrm rot="10800000">
            <a:off x="2544639" y="1076520"/>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59" name="台形 58">
            <a:extLst>
              <a:ext uri="{FF2B5EF4-FFF2-40B4-BE49-F238E27FC236}">
                <a16:creationId xmlns:a16="http://schemas.microsoft.com/office/drawing/2014/main" id="{65732C85-E064-5658-618D-079D7251FF3E}"/>
              </a:ext>
            </a:extLst>
          </p:cNvPr>
          <p:cNvSpPr/>
          <p:nvPr/>
        </p:nvSpPr>
        <p:spPr>
          <a:xfrm>
            <a:off x="2544639" y="1351359"/>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0" name="台形 59">
            <a:extLst>
              <a:ext uri="{FF2B5EF4-FFF2-40B4-BE49-F238E27FC236}">
                <a16:creationId xmlns:a16="http://schemas.microsoft.com/office/drawing/2014/main" id="{52121FD4-C272-EF0E-3D4E-D890840C37AC}"/>
              </a:ext>
            </a:extLst>
          </p:cNvPr>
          <p:cNvSpPr/>
          <p:nvPr/>
        </p:nvSpPr>
        <p:spPr>
          <a:xfrm rot="10800000">
            <a:off x="2535638" y="2242558"/>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1" name="台形 60">
            <a:extLst>
              <a:ext uri="{FF2B5EF4-FFF2-40B4-BE49-F238E27FC236}">
                <a16:creationId xmlns:a16="http://schemas.microsoft.com/office/drawing/2014/main" id="{5D69D5F7-9071-3561-9994-BA2C09A79EE0}"/>
              </a:ext>
            </a:extLst>
          </p:cNvPr>
          <p:cNvSpPr/>
          <p:nvPr/>
        </p:nvSpPr>
        <p:spPr>
          <a:xfrm>
            <a:off x="2535638" y="2517397"/>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62" name="テキスト ボックス 61">
                <a:extLst>
                  <a:ext uri="{FF2B5EF4-FFF2-40B4-BE49-F238E27FC236}">
                    <a16:creationId xmlns:a16="http://schemas.microsoft.com/office/drawing/2014/main" id="{2AAD08B5-EF27-1F26-78FB-F20272FFA477}"/>
                  </a:ext>
                </a:extLst>
              </p:cNvPr>
              <p:cNvSpPr txBox="1"/>
              <p:nvPr/>
            </p:nvSpPr>
            <p:spPr>
              <a:xfrm>
                <a:off x="2170063" y="3390528"/>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smtClean="0">
                          <a:solidFill>
                            <a:schemeClr val="tx1"/>
                          </a:solidFill>
                          <a:latin typeface="Cambria Math" panose="02040503050406030204" pitchFamily="18" charset="0"/>
                        </a:rPr>
                        <m:t>Δ</m:t>
                      </m:r>
                      <m:sSub>
                        <m:sSubPr>
                          <m:ctrlPr>
                            <a:rPr lang="en-US" altLang="ja-JP" sz="2400" b="0" i="1" smtClean="0">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𝑊</m:t>
                          </m:r>
                        </m:e>
                        <m:sub>
                          <m:r>
                            <a:rPr lang="en-US" altLang="ja-JP" sz="2400" b="0" i="1" smtClean="0">
                              <a:solidFill>
                                <a:schemeClr val="tx1"/>
                              </a:solidFill>
                              <a:latin typeface="Cambria Math" panose="02040503050406030204" pitchFamily="18" charset="0"/>
                            </a:rPr>
                            <m:t>1</m:t>
                          </m:r>
                        </m:sub>
                      </m:sSub>
                    </m:oMath>
                  </m:oMathPara>
                </a14:m>
                <a:endParaRPr lang="ja-JP" altLang="en-US" sz="2400">
                  <a:solidFill>
                    <a:schemeClr val="tx1"/>
                  </a:solidFill>
                </a:endParaRPr>
              </a:p>
            </p:txBody>
          </p:sp>
        </mc:Choice>
        <mc:Fallback xmlns="">
          <p:sp>
            <p:nvSpPr>
              <p:cNvPr id="62" name="テキスト ボックス 61">
                <a:extLst>
                  <a:ext uri="{FF2B5EF4-FFF2-40B4-BE49-F238E27FC236}">
                    <a16:creationId xmlns:a16="http://schemas.microsoft.com/office/drawing/2014/main" id="{2AAD08B5-EF27-1F26-78FB-F20272FFA477}"/>
                  </a:ext>
                </a:extLst>
              </p:cNvPr>
              <p:cNvSpPr txBox="1">
                <a:spLocks noRot="1" noChangeAspect="1" noMove="1" noResize="1" noEditPoints="1" noAdjustHandles="1" noChangeArrowheads="1" noChangeShapeType="1" noTextEdit="1"/>
              </p:cNvSpPr>
              <p:nvPr/>
            </p:nvSpPr>
            <p:spPr>
              <a:xfrm>
                <a:off x="2170063" y="3390528"/>
                <a:ext cx="838729" cy="461665"/>
              </a:xfrm>
              <a:prstGeom prst="rect">
                <a:avLst/>
              </a:prstGeom>
              <a:blipFill>
                <a:blip r:embed="rId17"/>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テキスト ボックス 62">
                <a:extLst>
                  <a:ext uri="{FF2B5EF4-FFF2-40B4-BE49-F238E27FC236}">
                    <a16:creationId xmlns:a16="http://schemas.microsoft.com/office/drawing/2014/main" id="{5CD46941-05C9-ABF4-A9BC-17C51463F8BB}"/>
                  </a:ext>
                </a:extLst>
              </p:cNvPr>
              <p:cNvSpPr txBox="1"/>
              <p:nvPr/>
            </p:nvSpPr>
            <p:spPr>
              <a:xfrm>
                <a:off x="1805759" y="2266463"/>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b>
                        <m:sSubPr>
                          <m:ctrlPr>
                            <a:rPr lang="en-US" altLang="ja-JP" b="0" i="1" smtClean="0">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𝑊</m:t>
                          </m:r>
                        </m:e>
                        <m:sub>
                          <m:r>
                            <a:rPr lang="en-US" altLang="ja-JP" b="0" i="1" smtClean="0">
                              <a:solidFill>
                                <a:schemeClr val="tx1"/>
                              </a:solidFill>
                              <a:latin typeface="Cambria Math" panose="02040503050406030204" pitchFamily="18" charset="0"/>
                            </a:rPr>
                            <m:t>1</m:t>
                          </m:r>
                        </m:sub>
                      </m:sSub>
                    </m:oMath>
                  </m:oMathPara>
                </a14:m>
                <a:endParaRPr lang="ja-JP" altLang="en-US" dirty="0">
                  <a:solidFill>
                    <a:schemeClr val="tx1"/>
                  </a:solidFill>
                </a:endParaRPr>
              </a:p>
            </p:txBody>
          </p:sp>
        </mc:Choice>
        <mc:Fallback xmlns="">
          <p:sp>
            <p:nvSpPr>
              <p:cNvPr id="63" name="テキスト ボックス 62">
                <a:extLst>
                  <a:ext uri="{FF2B5EF4-FFF2-40B4-BE49-F238E27FC236}">
                    <a16:creationId xmlns:a16="http://schemas.microsoft.com/office/drawing/2014/main" id="{5CD46941-05C9-ABF4-A9BC-17C51463F8BB}"/>
                  </a:ext>
                </a:extLst>
              </p:cNvPr>
              <p:cNvSpPr txBox="1">
                <a:spLocks noRot="1" noChangeAspect="1" noMove="1" noResize="1" noEditPoints="1" noAdjustHandles="1" noChangeArrowheads="1" noChangeShapeType="1" noTextEdit="1"/>
              </p:cNvSpPr>
              <p:nvPr/>
            </p:nvSpPr>
            <p:spPr>
              <a:xfrm>
                <a:off x="1805759" y="2266463"/>
                <a:ext cx="838729" cy="369332"/>
              </a:xfrm>
              <a:prstGeom prst="rect">
                <a:avLst/>
              </a:prstGeom>
              <a:blipFill>
                <a:blip r:embed="rId18"/>
                <a:stretch>
                  <a:fillRect/>
                </a:stretch>
              </a:blipFill>
            </p:spPr>
            <p:txBody>
              <a:bodyPr/>
              <a:lstStyle/>
              <a:p>
                <a:r>
                  <a:rPr lang="ja-JP" altLang="en-US">
                    <a:noFill/>
                  </a:rPr>
                  <a:t> </a:t>
                </a:r>
              </a:p>
            </p:txBody>
          </p:sp>
        </mc:Fallback>
      </mc:AlternateContent>
      <p:sp>
        <p:nvSpPr>
          <p:cNvPr id="64" name="矢印: 右 63">
            <a:extLst>
              <a:ext uri="{FF2B5EF4-FFF2-40B4-BE49-F238E27FC236}">
                <a16:creationId xmlns:a16="http://schemas.microsoft.com/office/drawing/2014/main" id="{4C72090C-3D56-0676-0B4F-A53D78148EA9}"/>
              </a:ext>
            </a:extLst>
          </p:cNvPr>
          <p:cNvSpPr/>
          <p:nvPr/>
        </p:nvSpPr>
        <p:spPr>
          <a:xfrm rot="19283956">
            <a:off x="3111127" y="2187382"/>
            <a:ext cx="634415" cy="298438"/>
          </a:xfrm>
          <a:prstGeom prst="rightArrow">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矢印: 右 64">
            <a:extLst>
              <a:ext uri="{FF2B5EF4-FFF2-40B4-BE49-F238E27FC236}">
                <a16:creationId xmlns:a16="http://schemas.microsoft.com/office/drawing/2014/main" id="{E2FB5E8C-5DF6-B81C-9336-8071F3F845DE}"/>
              </a:ext>
            </a:extLst>
          </p:cNvPr>
          <p:cNvSpPr/>
          <p:nvPr/>
        </p:nvSpPr>
        <p:spPr>
          <a:xfrm rot="2825624">
            <a:off x="3087662" y="1304828"/>
            <a:ext cx="634415" cy="298438"/>
          </a:xfrm>
          <a:prstGeom prst="rightArrow">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台形 65">
            <a:extLst>
              <a:ext uri="{FF2B5EF4-FFF2-40B4-BE49-F238E27FC236}">
                <a16:creationId xmlns:a16="http://schemas.microsoft.com/office/drawing/2014/main" id="{1896041C-BB57-D31C-2553-88F61FE583F0}"/>
              </a:ext>
            </a:extLst>
          </p:cNvPr>
          <p:cNvSpPr/>
          <p:nvPr/>
        </p:nvSpPr>
        <p:spPr>
          <a:xfrm rot="10800000">
            <a:off x="3846152" y="1628340"/>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7" name="台形 66">
            <a:extLst>
              <a:ext uri="{FF2B5EF4-FFF2-40B4-BE49-F238E27FC236}">
                <a16:creationId xmlns:a16="http://schemas.microsoft.com/office/drawing/2014/main" id="{D2664708-F375-F60F-1FD9-717EB6A8ADA5}"/>
              </a:ext>
            </a:extLst>
          </p:cNvPr>
          <p:cNvSpPr/>
          <p:nvPr/>
        </p:nvSpPr>
        <p:spPr>
          <a:xfrm>
            <a:off x="3846152" y="1903179"/>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8" name="矢印: 右 67">
            <a:extLst>
              <a:ext uri="{FF2B5EF4-FFF2-40B4-BE49-F238E27FC236}">
                <a16:creationId xmlns:a16="http://schemas.microsoft.com/office/drawing/2014/main" id="{5A1E45C2-92F2-3132-9482-BAB24716F38F}"/>
              </a:ext>
            </a:extLst>
          </p:cNvPr>
          <p:cNvSpPr/>
          <p:nvPr/>
        </p:nvSpPr>
        <p:spPr>
          <a:xfrm>
            <a:off x="4366063" y="1683332"/>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吹き出し: 角を丸めた四角形 68">
            <a:extLst>
              <a:ext uri="{FF2B5EF4-FFF2-40B4-BE49-F238E27FC236}">
                <a16:creationId xmlns:a16="http://schemas.microsoft.com/office/drawing/2014/main" id="{61E07DF2-A583-156A-FF86-274C20838B49}"/>
              </a:ext>
            </a:extLst>
          </p:cNvPr>
          <p:cNvSpPr/>
          <p:nvPr/>
        </p:nvSpPr>
        <p:spPr>
          <a:xfrm>
            <a:off x="3677311" y="2387119"/>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a:solidFill>
                  <a:schemeClr val="tx1"/>
                </a:solidFill>
              </a:rPr>
              <a:t>統合</a:t>
            </a:r>
            <a:endParaRPr lang="en-US" altLang="ja-JP">
              <a:solidFill>
                <a:schemeClr val="tx1"/>
              </a:solidFill>
            </a:endParaRPr>
          </a:p>
        </p:txBody>
      </p:sp>
      <p:sp>
        <p:nvSpPr>
          <p:cNvPr id="71" name="タイトル 2">
            <a:extLst>
              <a:ext uri="{FF2B5EF4-FFF2-40B4-BE49-F238E27FC236}">
                <a16:creationId xmlns:a16="http://schemas.microsoft.com/office/drawing/2014/main" id="{88AAAEA5-AEDC-BFBE-E194-DB73931EAEB5}"/>
              </a:ext>
            </a:extLst>
          </p:cNvPr>
          <p:cNvSpPr txBox="1">
            <a:spLocks/>
          </p:cNvSpPr>
          <p:nvPr/>
        </p:nvSpPr>
        <p:spPr>
          <a:xfrm>
            <a:off x="4761703" y="2017729"/>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mc:AlternateContent xmlns:mc="http://schemas.openxmlformats.org/markup-compatibility/2006" xmlns:a14="http://schemas.microsoft.com/office/drawing/2010/main">
        <mc:Choice Requires="a14">
          <p:sp>
            <p:nvSpPr>
              <p:cNvPr id="72" name="テキスト ボックス 71">
                <a:extLst>
                  <a:ext uri="{FF2B5EF4-FFF2-40B4-BE49-F238E27FC236}">
                    <a16:creationId xmlns:a16="http://schemas.microsoft.com/office/drawing/2014/main" id="{B4FDD9E7-CD1C-0875-38D8-F780965B59CE}"/>
                  </a:ext>
                </a:extLst>
              </p:cNvPr>
              <p:cNvSpPr txBox="1"/>
              <p:nvPr/>
            </p:nvSpPr>
            <p:spPr>
              <a:xfrm>
                <a:off x="1782603" y="1117147"/>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b>
                        <m:sSubPr>
                          <m:ctrlPr>
                            <a:rPr lang="en-US" altLang="ja-JP" b="0" i="1" smtClean="0">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𝑊</m:t>
                          </m:r>
                        </m:e>
                        <m:sub>
                          <m:r>
                            <a:rPr lang="en-US" altLang="ja-JP" b="0" i="1" smtClean="0">
                              <a:solidFill>
                                <a:schemeClr val="tx1"/>
                              </a:solidFill>
                              <a:latin typeface="Cambria Math" panose="02040503050406030204" pitchFamily="18" charset="0"/>
                            </a:rPr>
                            <m:t>2</m:t>
                          </m:r>
                        </m:sub>
                      </m:sSub>
                    </m:oMath>
                  </m:oMathPara>
                </a14:m>
                <a:endParaRPr lang="ja-JP" altLang="en-US" dirty="0">
                  <a:solidFill>
                    <a:schemeClr val="tx1"/>
                  </a:solidFill>
                </a:endParaRPr>
              </a:p>
            </p:txBody>
          </p:sp>
        </mc:Choice>
        <mc:Fallback xmlns="">
          <p:sp>
            <p:nvSpPr>
              <p:cNvPr id="72" name="テキスト ボックス 71">
                <a:extLst>
                  <a:ext uri="{FF2B5EF4-FFF2-40B4-BE49-F238E27FC236}">
                    <a16:creationId xmlns:a16="http://schemas.microsoft.com/office/drawing/2014/main" id="{B4FDD9E7-CD1C-0875-38D8-F780965B59CE}"/>
                  </a:ext>
                </a:extLst>
              </p:cNvPr>
              <p:cNvSpPr txBox="1">
                <a:spLocks noRot="1" noChangeAspect="1" noMove="1" noResize="1" noEditPoints="1" noAdjustHandles="1" noChangeArrowheads="1" noChangeShapeType="1" noTextEdit="1"/>
              </p:cNvSpPr>
              <p:nvPr/>
            </p:nvSpPr>
            <p:spPr>
              <a:xfrm>
                <a:off x="1782603" y="1117147"/>
                <a:ext cx="838729" cy="369332"/>
              </a:xfrm>
              <a:prstGeom prst="rect">
                <a:avLst/>
              </a:prstGeom>
              <a:blipFill>
                <a:blip r:embed="rId19"/>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9DC4632C-CABA-0BCF-F812-69A68B365EAB}"/>
                  </a:ext>
                </a:extLst>
              </p:cNvPr>
              <p:cNvSpPr txBox="1"/>
              <p:nvPr/>
            </p:nvSpPr>
            <p:spPr>
              <a:xfrm>
                <a:off x="5514462" y="3244334"/>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smtClean="0">
                          <a:solidFill>
                            <a:schemeClr val="tx1"/>
                          </a:solidFill>
                          <a:latin typeface="Cambria Math" panose="02040503050406030204" pitchFamily="18" charset="0"/>
                        </a:rPr>
                        <m:t>Δ</m:t>
                      </m:r>
                      <m:sSub>
                        <m:sSubPr>
                          <m:ctrlPr>
                            <a:rPr lang="en-US" altLang="ja-JP" sz="2400" b="0" i="1" smtClean="0">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𝑊</m:t>
                          </m:r>
                        </m:e>
                        <m:sub>
                          <m:r>
                            <a:rPr lang="en-US" altLang="ja-JP" sz="2400" b="0" i="1" smtClean="0">
                              <a:solidFill>
                                <a:schemeClr val="tx1"/>
                              </a:solidFill>
                              <a:latin typeface="Cambria Math" panose="02040503050406030204" pitchFamily="18" charset="0"/>
                            </a:rPr>
                            <m:t>2</m:t>
                          </m:r>
                        </m:sub>
                      </m:sSub>
                    </m:oMath>
                  </m:oMathPara>
                </a14:m>
                <a:endParaRPr lang="ja-JP" altLang="en-US" sz="2400">
                  <a:solidFill>
                    <a:schemeClr val="tx1"/>
                  </a:solidFill>
                </a:endParaRPr>
              </a:p>
            </p:txBody>
          </p:sp>
        </mc:Choice>
        <mc:Fallback xmlns="">
          <p:sp>
            <p:nvSpPr>
              <p:cNvPr id="73" name="テキスト ボックス 72">
                <a:extLst>
                  <a:ext uri="{FF2B5EF4-FFF2-40B4-BE49-F238E27FC236}">
                    <a16:creationId xmlns:a16="http://schemas.microsoft.com/office/drawing/2014/main" id="{9DC4632C-CABA-0BCF-F812-69A68B365EAB}"/>
                  </a:ext>
                </a:extLst>
              </p:cNvPr>
              <p:cNvSpPr txBox="1">
                <a:spLocks noRot="1" noChangeAspect="1" noMove="1" noResize="1" noEditPoints="1" noAdjustHandles="1" noChangeArrowheads="1" noChangeShapeType="1" noTextEdit="1"/>
              </p:cNvSpPr>
              <p:nvPr/>
            </p:nvSpPr>
            <p:spPr>
              <a:xfrm>
                <a:off x="5514462" y="3244334"/>
                <a:ext cx="838729" cy="461665"/>
              </a:xfrm>
              <a:prstGeom prst="rect">
                <a:avLst/>
              </a:prstGeom>
              <a:blipFill>
                <a:blip r:embed="rId20"/>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テキスト ボックス 73">
                <a:extLst>
                  <a:ext uri="{FF2B5EF4-FFF2-40B4-BE49-F238E27FC236}">
                    <a16:creationId xmlns:a16="http://schemas.microsoft.com/office/drawing/2014/main" id="{F035ACC3-54AE-9EBB-E285-E9F2B06E27F0}"/>
                  </a:ext>
                </a:extLst>
              </p:cNvPr>
              <p:cNvSpPr txBox="1"/>
              <p:nvPr/>
            </p:nvSpPr>
            <p:spPr>
              <a:xfrm>
                <a:off x="3693215" y="1221286"/>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p>
                        <m:sSupPr>
                          <m:ctrlPr>
                            <a:rPr lang="en-US" altLang="ja-JP" b="0" i="1" smtClean="0">
                              <a:solidFill>
                                <a:schemeClr val="tx1"/>
                              </a:solidFill>
                              <a:latin typeface="Cambria Math" panose="02040503050406030204" pitchFamily="18" charset="0"/>
                            </a:rPr>
                          </m:ctrlPr>
                        </m:sSupPr>
                        <m:e>
                          <m:r>
                            <a:rPr lang="en-US" altLang="ja-JP" b="0" i="1" smtClean="0">
                              <a:solidFill>
                                <a:schemeClr val="tx1"/>
                              </a:solidFill>
                              <a:latin typeface="Cambria Math" panose="02040503050406030204" pitchFamily="18" charset="0"/>
                            </a:rPr>
                            <m:t>𝑊</m:t>
                          </m:r>
                        </m:e>
                        <m:sup>
                          <m:r>
                            <a:rPr lang="en-US" altLang="ja-JP" b="0" i="1" smtClean="0">
                              <a:solidFill>
                                <a:schemeClr val="tx1"/>
                              </a:solidFill>
                              <a:latin typeface="Cambria Math" panose="02040503050406030204" pitchFamily="18" charset="0"/>
                            </a:rPr>
                            <m:t>′</m:t>
                          </m:r>
                        </m:sup>
                      </m:sSup>
                    </m:oMath>
                  </m:oMathPara>
                </a14:m>
                <a:endParaRPr lang="ja-JP" altLang="en-US" i="1">
                  <a:solidFill>
                    <a:schemeClr val="tx1"/>
                  </a:solidFill>
                </a:endParaRPr>
              </a:p>
            </p:txBody>
          </p:sp>
        </mc:Choice>
        <mc:Fallback xmlns="">
          <p:sp>
            <p:nvSpPr>
              <p:cNvPr id="74" name="テキスト ボックス 73">
                <a:extLst>
                  <a:ext uri="{FF2B5EF4-FFF2-40B4-BE49-F238E27FC236}">
                    <a16:creationId xmlns:a16="http://schemas.microsoft.com/office/drawing/2014/main" id="{F035ACC3-54AE-9EBB-E285-E9F2B06E27F0}"/>
                  </a:ext>
                </a:extLst>
              </p:cNvPr>
              <p:cNvSpPr txBox="1">
                <a:spLocks noRot="1" noChangeAspect="1" noMove="1" noResize="1" noEditPoints="1" noAdjustHandles="1" noChangeArrowheads="1" noChangeShapeType="1" noTextEdit="1"/>
              </p:cNvSpPr>
              <p:nvPr/>
            </p:nvSpPr>
            <p:spPr>
              <a:xfrm>
                <a:off x="3693215" y="1221286"/>
                <a:ext cx="838729" cy="369332"/>
              </a:xfrm>
              <a:prstGeom prst="rect">
                <a:avLst/>
              </a:prstGeom>
              <a:blipFill>
                <a:blip r:embed="rId21"/>
                <a:stretch>
                  <a:fillRect/>
                </a:stretch>
              </a:blipFill>
            </p:spPr>
            <p:txBody>
              <a:bodyPr/>
              <a:lstStyle/>
              <a:p>
                <a:r>
                  <a:rPr lang="en-US">
                    <a:noFill/>
                  </a:rPr>
                  <a:t> </a:t>
                </a:r>
              </a:p>
            </p:txBody>
          </p:sp>
        </mc:Fallback>
      </mc:AlternateContent>
      <p:sp>
        <p:nvSpPr>
          <p:cNvPr id="75" name="正方形/長方形 74">
            <a:extLst>
              <a:ext uri="{FF2B5EF4-FFF2-40B4-BE49-F238E27FC236}">
                <a16:creationId xmlns:a16="http://schemas.microsoft.com/office/drawing/2014/main" id="{AF8FEBBB-D72F-6194-8D9D-9612D430D74D}"/>
              </a:ext>
            </a:extLst>
          </p:cNvPr>
          <p:cNvSpPr/>
          <p:nvPr/>
        </p:nvSpPr>
        <p:spPr>
          <a:xfrm>
            <a:off x="6139768" y="980675"/>
            <a:ext cx="3004232" cy="175432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kumimoji="1" lang="en-US" altLang="ja-JP" b="1" err="1">
                <a:solidFill>
                  <a:schemeClr val="tx1"/>
                </a:solidFill>
              </a:rPr>
              <a:t>FedAvg</a:t>
            </a:r>
            <a:r>
              <a:rPr kumimoji="1" lang="en-US" altLang="ja-JP" b="1">
                <a:solidFill>
                  <a:schemeClr val="tx1"/>
                </a:solidFill>
              </a:rPr>
              <a:t> </a:t>
            </a:r>
            <a:r>
              <a:rPr kumimoji="1" lang="en-US" altLang="ja-JP">
                <a:solidFill>
                  <a:schemeClr val="tx1"/>
                </a:solidFill>
              </a:rPr>
              <a:t>: </a:t>
            </a:r>
            <a:r>
              <a:rPr kumimoji="1" lang="ja-JP" altLang="en-US">
                <a:solidFill>
                  <a:schemeClr val="tx1"/>
                </a:solidFill>
              </a:rPr>
              <a:t>各クライアントの更新をデータ数で加重平均</a:t>
            </a:r>
            <a:endParaRPr kumimoji="1" lang="en-US" altLang="ja-JP">
              <a:solidFill>
                <a:schemeClr val="tx1"/>
              </a:solidFill>
            </a:endParaRPr>
          </a:p>
          <a:p>
            <a:pPr algn="ctr"/>
            <a:r>
              <a:rPr lang="en-US" altLang="ja-JP" b="1" err="1">
                <a:solidFill>
                  <a:schemeClr val="tx1"/>
                </a:solidFill>
              </a:rPr>
              <a:t>fedProx</a:t>
            </a:r>
            <a:r>
              <a:rPr lang="en-US" altLang="ja-JP" b="1">
                <a:solidFill>
                  <a:schemeClr val="tx1"/>
                </a:solidFill>
              </a:rPr>
              <a:t> </a:t>
            </a:r>
            <a:r>
              <a:rPr lang="en-US" altLang="ja-JP">
                <a:solidFill>
                  <a:schemeClr val="tx1"/>
                </a:solidFill>
              </a:rPr>
              <a:t>: </a:t>
            </a:r>
            <a:r>
              <a:rPr lang="ja-JP" altLang="en-US">
                <a:solidFill>
                  <a:schemeClr val="tx1"/>
                </a:solidFill>
              </a:rPr>
              <a:t>データ不均一性（</a:t>
            </a:r>
            <a:r>
              <a:rPr lang="en-US" altLang="ja-JP">
                <a:solidFill>
                  <a:schemeClr val="tx1"/>
                </a:solidFill>
              </a:rPr>
              <a:t>Non-IID</a:t>
            </a:r>
            <a:r>
              <a:rPr lang="ja-JP" altLang="en-US">
                <a:solidFill>
                  <a:schemeClr val="tx1"/>
                </a:solidFill>
              </a:rPr>
              <a:t>）や遅延クライアントへの耐性を高めた手法。</a:t>
            </a:r>
            <a:endParaRPr kumimoji="1" lang="ja-JP" altLang="en-US">
              <a:solidFill>
                <a:schemeClr val="tx1"/>
              </a:solidFill>
            </a:endParaRPr>
          </a:p>
        </p:txBody>
      </p:sp>
      <p:cxnSp>
        <p:nvCxnSpPr>
          <p:cNvPr id="76" name="直線コネクタ 75">
            <a:extLst>
              <a:ext uri="{FF2B5EF4-FFF2-40B4-BE49-F238E27FC236}">
                <a16:creationId xmlns:a16="http://schemas.microsoft.com/office/drawing/2014/main" id="{BFE81919-6001-8F75-49D5-AA31C551A1E5}"/>
              </a:ext>
            </a:extLst>
          </p:cNvPr>
          <p:cNvCxnSpPr>
            <a:cxnSpLocks/>
            <a:stCxn id="69" idx="3"/>
          </p:cNvCxnSpPr>
          <p:nvPr/>
        </p:nvCxnSpPr>
        <p:spPr>
          <a:xfrm flipV="1">
            <a:off x="4382299" y="2467387"/>
            <a:ext cx="1752911" cy="729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5" name="図 54">
            <a:extLst>
              <a:ext uri="{FF2B5EF4-FFF2-40B4-BE49-F238E27FC236}">
                <a16:creationId xmlns:a16="http://schemas.microsoft.com/office/drawing/2014/main" id="{D6ED95BA-4966-7717-9442-A5623A9DD96A}"/>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038243" y="1282205"/>
            <a:ext cx="561592" cy="564162"/>
          </a:xfrm>
          <a:prstGeom prst="rect">
            <a:avLst/>
          </a:prstGeom>
        </p:spPr>
      </p:pic>
    </p:spTree>
    <p:extLst>
      <p:ext uri="{BB962C8B-B14F-4D97-AF65-F5344CB8AC3E}">
        <p14:creationId xmlns:p14="http://schemas.microsoft.com/office/powerpoint/2010/main" val="3209957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0EBEB-3842-48DA-D857-BDA321C1233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3559052-B9F7-FF21-6D8B-A6655AE2FB5C}"/>
              </a:ext>
            </a:extLst>
          </p:cNvPr>
          <p:cNvSpPr>
            <a:spLocks noGrp="1"/>
          </p:cNvSpPr>
          <p:nvPr>
            <p:ph type="title"/>
          </p:nvPr>
        </p:nvSpPr>
        <p:spPr/>
        <p:txBody>
          <a:bodyPr>
            <a:normAutofit/>
          </a:bodyPr>
          <a:lstStyle/>
          <a:p>
            <a:r>
              <a:rPr lang="en-US" altLang="ja-JP" dirty="0">
                <a:solidFill>
                  <a:srgbClr val="FF0000"/>
                </a:solidFill>
              </a:rPr>
              <a:t>5</a:t>
            </a:r>
            <a:r>
              <a:rPr lang="ja-JP" altLang="ja-JP" dirty="0">
                <a:solidFill>
                  <a:srgbClr val="FF0000"/>
                </a:solidFill>
              </a:rPr>
              <a:t>. サーバーでの集約</a:t>
            </a:r>
            <a:endParaRPr kumimoji="1" lang="ja-JP" altLang="en-US" dirty="0">
              <a:solidFill>
                <a:srgbClr val="FF0000"/>
              </a:solidFill>
            </a:endParaRPr>
          </a:p>
        </p:txBody>
      </p:sp>
      <p:sp>
        <p:nvSpPr>
          <p:cNvPr id="4" name="スライド番号プレースホルダー 3">
            <a:extLst>
              <a:ext uri="{FF2B5EF4-FFF2-40B4-BE49-F238E27FC236}">
                <a16:creationId xmlns:a16="http://schemas.microsoft.com/office/drawing/2014/main" id="{8D212F49-A294-57BE-C76B-0089129D22B9}"/>
              </a:ext>
            </a:extLst>
          </p:cNvPr>
          <p:cNvSpPr>
            <a:spLocks noGrp="1"/>
          </p:cNvSpPr>
          <p:nvPr>
            <p:ph type="sldNum" sz="quarter" idx="4"/>
          </p:nvPr>
        </p:nvSpPr>
        <p:spPr/>
        <p:txBody>
          <a:bodyPr/>
          <a:lstStyle/>
          <a:p>
            <a:fld id="{C088C981-6885-4100-82A1-DE7074EC4480}" type="slidenum">
              <a:rPr lang="ja-JP" altLang="en-US" smtClean="0"/>
              <a:t>11</a:t>
            </a:fld>
            <a:endParaRPr lang="ja-JP" altLang="en-US"/>
          </a:p>
        </p:txBody>
      </p:sp>
      <p:sp>
        <p:nvSpPr>
          <p:cNvPr id="5" name="四角形: 角を丸くする 4">
            <a:extLst>
              <a:ext uri="{FF2B5EF4-FFF2-40B4-BE49-F238E27FC236}">
                <a16:creationId xmlns:a16="http://schemas.microsoft.com/office/drawing/2014/main" id="{DE065A99-3695-4E4C-CC95-DF08865D9610}"/>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3AD6CE52-988F-D0CF-A9A0-21CE12C5ECA4}"/>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2BAE5819-75C8-EF9A-6193-DE020582D71B}"/>
              </a:ext>
            </a:extLst>
          </p:cNvPr>
          <p:cNvCxnSpPr>
            <a:cxnSpLocks/>
          </p:cNvCxnSpPr>
          <p:nvPr/>
        </p:nvCxnSpPr>
        <p:spPr>
          <a:xfrm flipV="1">
            <a:off x="1960067" y="3001169"/>
            <a:ext cx="629361" cy="7515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図 7">
            <a:extLst>
              <a:ext uri="{FF2B5EF4-FFF2-40B4-BE49-F238E27FC236}">
                <a16:creationId xmlns:a16="http://schemas.microsoft.com/office/drawing/2014/main" id="{F636411F-DDBB-D1F3-564A-852E6272CF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9" name="図 8">
            <a:extLst>
              <a:ext uri="{FF2B5EF4-FFF2-40B4-BE49-F238E27FC236}">
                <a16:creationId xmlns:a16="http://schemas.microsoft.com/office/drawing/2014/main" id="{F57AE44F-076B-F11B-CC8B-B6D935E9EA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10" name="図 9">
            <a:extLst>
              <a:ext uri="{FF2B5EF4-FFF2-40B4-BE49-F238E27FC236}">
                <a16:creationId xmlns:a16="http://schemas.microsoft.com/office/drawing/2014/main" id="{CB076215-45B6-AE66-2174-D2E655ECB1A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1" name="図 10">
            <a:extLst>
              <a:ext uri="{FF2B5EF4-FFF2-40B4-BE49-F238E27FC236}">
                <a16:creationId xmlns:a16="http://schemas.microsoft.com/office/drawing/2014/main" id="{CE8C9C13-56B6-F58A-3493-A82E5545764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2" name="図 11">
            <a:extLst>
              <a:ext uri="{FF2B5EF4-FFF2-40B4-BE49-F238E27FC236}">
                <a16:creationId xmlns:a16="http://schemas.microsoft.com/office/drawing/2014/main" id="{C5A6E0C9-D6B0-BCFB-B91B-07EBC2E5DDB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3" name="図 12">
            <a:extLst>
              <a:ext uri="{FF2B5EF4-FFF2-40B4-BE49-F238E27FC236}">
                <a16:creationId xmlns:a16="http://schemas.microsoft.com/office/drawing/2014/main" id="{DA1209A2-07C7-1938-EB4B-397905AFBBB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4" name="直線矢印コネクタ 13">
            <a:extLst>
              <a:ext uri="{FF2B5EF4-FFF2-40B4-BE49-F238E27FC236}">
                <a16:creationId xmlns:a16="http://schemas.microsoft.com/office/drawing/2014/main" id="{D4FD31BF-65B5-B90C-1BBA-FD3A61B7BB7A}"/>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2">
            <a:extLst>
              <a:ext uri="{FF2B5EF4-FFF2-40B4-BE49-F238E27FC236}">
                <a16:creationId xmlns:a16="http://schemas.microsoft.com/office/drawing/2014/main" id="{99E0B836-EB92-0049-6A67-56C4D81EAF14}"/>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6" name="直線矢印コネクタ 15">
            <a:extLst>
              <a:ext uri="{FF2B5EF4-FFF2-40B4-BE49-F238E27FC236}">
                <a16:creationId xmlns:a16="http://schemas.microsoft.com/office/drawing/2014/main" id="{F93531B3-820F-9DBE-7D1B-B44376212AF2}"/>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EE92109F-FDBA-460A-51B4-147C5CD0E82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8" name="図 17">
            <a:extLst>
              <a:ext uri="{FF2B5EF4-FFF2-40B4-BE49-F238E27FC236}">
                <a16:creationId xmlns:a16="http://schemas.microsoft.com/office/drawing/2014/main" id="{F081A5E7-0F8D-11E4-B5E1-3241B439282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9" name="図 18">
            <a:extLst>
              <a:ext uri="{FF2B5EF4-FFF2-40B4-BE49-F238E27FC236}">
                <a16:creationId xmlns:a16="http://schemas.microsoft.com/office/drawing/2014/main" id="{7CF811C0-EB55-88E6-49DC-7F5CDF98D34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20" name="図 19">
            <a:extLst>
              <a:ext uri="{FF2B5EF4-FFF2-40B4-BE49-F238E27FC236}">
                <a16:creationId xmlns:a16="http://schemas.microsoft.com/office/drawing/2014/main" id="{09028ADE-3FA3-7269-EAC8-76D8537356E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1" name="図 20">
            <a:extLst>
              <a:ext uri="{FF2B5EF4-FFF2-40B4-BE49-F238E27FC236}">
                <a16:creationId xmlns:a16="http://schemas.microsoft.com/office/drawing/2014/main" id="{06A0EFEA-65F9-1262-5D59-B59E10A85AF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2" name="図 21">
            <a:extLst>
              <a:ext uri="{FF2B5EF4-FFF2-40B4-BE49-F238E27FC236}">
                <a16:creationId xmlns:a16="http://schemas.microsoft.com/office/drawing/2014/main" id="{4153CA18-C4E0-DA99-E5DF-353A6B9C235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3" name="図 22">
            <a:extLst>
              <a:ext uri="{FF2B5EF4-FFF2-40B4-BE49-F238E27FC236}">
                <a16:creationId xmlns:a16="http://schemas.microsoft.com/office/drawing/2014/main" id="{90F10DDD-6E45-84DD-A553-DF03BAA241D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4" name="図 23">
            <a:extLst>
              <a:ext uri="{FF2B5EF4-FFF2-40B4-BE49-F238E27FC236}">
                <a16:creationId xmlns:a16="http://schemas.microsoft.com/office/drawing/2014/main" id="{89360515-3CA2-0F54-0F9D-3F0314676C6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5" name="図 24">
            <a:extLst>
              <a:ext uri="{FF2B5EF4-FFF2-40B4-BE49-F238E27FC236}">
                <a16:creationId xmlns:a16="http://schemas.microsoft.com/office/drawing/2014/main" id="{18301C33-AC8E-C57C-1D05-854F5E69F96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6" name="図 25">
            <a:extLst>
              <a:ext uri="{FF2B5EF4-FFF2-40B4-BE49-F238E27FC236}">
                <a16:creationId xmlns:a16="http://schemas.microsoft.com/office/drawing/2014/main" id="{6EC5A68D-9702-0E8A-2F18-083F196EA14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7" name="直線矢印コネクタ 26">
            <a:extLst>
              <a:ext uri="{FF2B5EF4-FFF2-40B4-BE49-F238E27FC236}">
                <a16:creationId xmlns:a16="http://schemas.microsoft.com/office/drawing/2014/main" id="{DE069294-5CB6-1ABD-47B1-5EF492E02506}"/>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9F1F7786-AB71-3520-43A1-8936874857CC}"/>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タイトル 2">
            <a:extLst>
              <a:ext uri="{FF2B5EF4-FFF2-40B4-BE49-F238E27FC236}">
                <a16:creationId xmlns:a16="http://schemas.microsoft.com/office/drawing/2014/main" id="{BE21EB4E-DFA0-06B5-6642-1561C4D9660A}"/>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0" name="直線コネクタ 29">
            <a:extLst>
              <a:ext uri="{FF2B5EF4-FFF2-40B4-BE49-F238E27FC236}">
                <a16:creationId xmlns:a16="http://schemas.microsoft.com/office/drawing/2014/main" id="{FC3DD9EB-8FCB-8E84-B5F4-7361FBA5F94D}"/>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タイトル 2">
            <a:extLst>
              <a:ext uri="{FF2B5EF4-FFF2-40B4-BE49-F238E27FC236}">
                <a16:creationId xmlns:a16="http://schemas.microsoft.com/office/drawing/2014/main" id="{480B8438-8302-E385-E6E7-DC4E0BDC8883}"/>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2" name="直線矢印コネクタ 31">
            <a:extLst>
              <a:ext uri="{FF2B5EF4-FFF2-40B4-BE49-F238E27FC236}">
                <a16:creationId xmlns:a16="http://schemas.microsoft.com/office/drawing/2014/main" id="{9C7B919C-C7B5-A1A9-560B-4AB6F77AFD33}"/>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タイトル 2">
            <a:extLst>
              <a:ext uri="{FF2B5EF4-FFF2-40B4-BE49-F238E27FC236}">
                <a16:creationId xmlns:a16="http://schemas.microsoft.com/office/drawing/2014/main" id="{DE5C2333-A229-9A31-21AA-B0B715F91C0D}"/>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34" name="直線コネクタ 33">
            <a:extLst>
              <a:ext uri="{FF2B5EF4-FFF2-40B4-BE49-F238E27FC236}">
                <a16:creationId xmlns:a16="http://schemas.microsoft.com/office/drawing/2014/main" id="{110AD832-DEE6-0679-21BB-05AF931ED8F4}"/>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タイトル 2">
            <a:extLst>
              <a:ext uri="{FF2B5EF4-FFF2-40B4-BE49-F238E27FC236}">
                <a16:creationId xmlns:a16="http://schemas.microsoft.com/office/drawing/2014/main" id="{A1FEA79B-396F-7221-F3C1-BFEA113D5EDE}"/>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6" name="直線コネクタ 35">
            <a:extLst>
              <a:ext uri="{FF2B5EF4-FFF2-40B4-BE49-F238E27FC236}">
                <a16:creationId xmlns:a16="http://schemas.microsoft.com/office/drawing/2014/main" id="{47FEBA96-31C0-7A42-D7B4-8A92ED3C2479}"/>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タイトル 2">
            <a:extLst>
              <a:ext uri="{FF2B5EF4-FFF2-40B4-BE49-F238E27FC236}">
                <a16:creationId xmlns:a16="http://schemas.microsoft.com/office/drawing/2014/main" id="{ABC716F5-A0C1-6252-D234-C8A29836D90D}"/>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8" name="四角形: 角を丸くする 37">
            <a:extLst>
              <a:ext uri="{FF2B5EF4-FFF2-40B4-BE49-F238E27FC236}">
                <a16:creationId xmlns:a16="http://schemas.microsoft.com/office/drawing/2014/main" id="{32422382-418E-8DFD-79C7-A75B2E45DD6E}"/>
              </a:ext>
            </a:extLst>
          </p:cNvPr>
          <p:cNvSpPr/>
          <p:nvPr/>
        </p:nvSpPr>
        <p:spPr>
          <a:xfrm>
            <a:off x="1829570" y="877367"/>
            <a:ext cx="5138389"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37D1384B-1C82-100B-06F4-1AD43F6F2ED8}"/>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台形 39">
            <a:extLst>
              <a:ext uri="{FF2B5EF4-FFF2-40B4-BE49-F238E27FC236}">
                <a16:creationId xmlns:a16="http://schemas.microsoft.com/office/drawing/2014/main" id="{8774F55E-07C7-8162-57DB-5D3850966129}"/>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1" name="図 40">
            <a:extLst>
              <a:ext uri="{FF2B5EF4-FFF2-40B4-BE49-F238E27FC236}">
                <a16:creationId xmlns:a16="http://schemas.microsoft.com/office/drawing/2014/main" id="{FA75AC1F-89F3-1B7D-9974-353EE66EB944}"/>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2" name="タイトル 2">
            <a:extLst>
              <a:ext uri="{FF2B5EF4-FFF2-40B4-BE49-F238E27FC236}">
                <a16:creationId xmlns:a16="http://schemas.microsoft.com/office/drawing/2014/main" id="{78C92F33-52A7-04F7-F45C-1102411B9A3F}"/>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3" name="台形 42">
            <a:extLst>
              <a:ext uri="{FF2B5EF4-FFF2-40B4-BE49-F238E27FC236}">
                <a16:creationId xmlns:a16="http://schemas.microsoft.com/office/drawing/2014/main" id="{A1C73579-6346-046F-219F-39D559CEFCA3}"/>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4" name="タイトル 2">
                <a:extLst>
                  <a:ext uri="{FF2B5EF4-FFF2-40B4-BE49-F238E27FC236}">
                    <a16:creationId xmlns:a16="http://schemas.microsoft.com/office/drawing/2014/main" id="{DF36B462-5DE8-EB67-D5AA-D156FCD7B689}"/>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4" name="タイトル 2">
                <a:extLst>
                  <a:ext uri="{FF2B5EF4-FFF2-40B4-BE49-F238E27FC236}">
                    <a16:creationId xmlns:a16="http://schemas.microsoft.com/office/drawing/2014/main" id="{12896521-61E1-1713-8263-35E3466630EA}"/>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5" name="グラフィックス 44" descr="車 単色塗りつぶし">
            <a:extLst>
              <a:ext uri="{FF2B5EF4-FFF2-40B4-BE49-F238E27FC236}">
                <a16:creationId xmlns:a16="http://schemas.microsoft.com/office/drawing/2014/main" id="{ECE442BC-2949-07B9-CB1A-59D56CF5777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6" name="直線コネクタ 45">
            <a:extLst>
              <a:ext uri="{FF2B5EF4-FFF2-40B4-BE49-F238E27FC236}">
                <a16:creationId xmlns:a16="http://schemas.microsoft.com/office/drawing/2014/main" id="{917E90F7-0464-4B5B-D407-98B73163E117}"/>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7" name="四角形: 角を丸くする 46">
            <a:extLst>
              <a:ext uri="{FF2B5EF4-FFF2-40B4-BE49-F238E27FC236}">
                <a16:creationId xmlns:a16="http://schemas.microsoft.com/office/drawing/2014/main" id="{448B2B67-924A-EA1F-48BE-FF35534AF69E}"/>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台形 47">
            <a:extLst>
              <a:ext uri="{FF2B5EF4-FFF2-40B4-BE49-F238E27FC236}">
                <a16:creationId xmlns:a16="http://schemas.microsoft.com/office/drawing/2014/main" id="{27DA6AF8-F9A6-0BBE-B051-A7CD28EC190F}"/>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9" name="図 48">
            <a:extLst>
              <a:ext uri="{FF2B5EF4-FFF2-40B4-BE49-F238E27FC236}">
                <a16:creationId xmlns:a16="http://schemas.microsoft.com/office/drawing/2014/main" id="{DCDD1F00-A46A-BCDB-5F7D-9532A43B664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50" name="タイトル 2">
            <a:extLst>
              <a:ext uri="{FF2B5EF4-FFF2-40B4-BE49-F238E27FC236}">
                <a16:creationId xmlns:a16="http://schemas.microsoft.com/office/drawing/2014/main" id="{E55737D1-9BFA-243F-006A-B028198EA085}"/>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1" name="台形 50">
            <a:extLst>
              <a:ext uri="{FF2B5EF4-FFF2-40B4-BE49-F238E27FC236}">
                <a16:creationId xmlns:a16="http://schemas.microsoft.com/office/drawing/2014/main" id="{DD14FC1E-073B-BB78-0489-152CF2E70CAE}"/>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2" name="タイトル 2">
                <a:extLst>
                  <a:ext uri="{FF2B5EF4-FFF2-40B4-BE49-F238E27FC236}">
                    <a16:creationId xmlns:a16="http://schemas.microsoft.com/office/drawing/2014/main" id="{F8D05CD6-F53D-4B48-90E9-D05EDD24A2E9}"/>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52" name="タイトル 2">
                <a:extLst>
                  <a:ext uri="{FF2B5EF4-FFF2-40B4-BE49-F238E27FC236}">
                    <a16:creationId xmlns:a16="http://schemas.microsoft.com/office/drawing/2014/main" id="{8475B556-54D0-8C3C-1547-A3C45028C176}"/>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6"/>
                <a:stretch>
                  <a:fillRect/>
                </a:stretch>
              </a:blipFill>
            </p:spPr>
            <p:txBody>
              <a:bodyPr/>
              <a:lstStyle/>
              <a:p>
                <a:r>
                  <a:rPr lang="en-US">
                    <a:noFill/>
                  </a:rPr>
                  <a:t> </a:t>
                </a:r>
              </a:p>
            </p:txBody>
          </p:sp>
        </mc:Fallback>
      </mc:AlternateContent>
      <p:pic>
        <p:nvPicPr>
          <p:cNvPr id="53" name="グラフィックス 52" descr="車 単色塗りつぶし">
            <a:extLst>
              <a:ext uri="{FF2B5EF4-FFF2-40B4-BE49-F238E27FC236}">
                <a16:creationId xmlns:a16="http://schemas.microsoft.com/office/drawing/2014/main" id="{D97735FF-186F-6CA5-637D-F249AA20582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4" name="直線コネクタ 53">
            <a:extLst>
              <a:ext uri="{FF2B5EF4-FFF2-40B4-BE49-F238E27FC236}">
                <a16:creationId xmlns:a16="http://schemas.microsoft.com/office/drawing/2014/main" id="{0D99994D-F05E-D947-E7D4-BD8C9EEC7426}"/>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A5025E37-8493-F7F0-AC46-346F089015FA}"/>
              </a:ext>
            </a:extLst>
          </p:cNvPr>
          <p:cNvCxnSpPr>
            <a:cxnSpLocks/>
          </p:cNvCxnSpPr>
          <p:nvPr/>
        </p:nvCxnSpPr>
        <p:spPr>
          <a:xfrm rot="16200000" flipV="1">
            <a:off x="6040866" y="2943318"/>
            <a:ext cx="629361" cy="7515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8" name="台形 57">
            <a:extLst>
              <a:ext uri="{FF2B5EF4-FFF2-40B4-BE49-F238E27FC236}">
                <a16:creationId xmlns:a16="http://schemas.microsoft.com/office/drawing/2014/main" id="{743EF1EC-1D59-DB40-6530-05D7314D2CAE}"/>
              </a:ext>
            </a:extLst>
          </p:cNvPr>
          <p:cNvSpPr/>
          <p:nvPr/>
        </p:nvSpPr>
        <p:spPr>
          <a:xfrm rot="10800000">
            <a:off x="2544639" y="1076520"/>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59" name="台形 58">
            <a:extLst>
              <a:ext uri="{FF2B5EF4-FFF2-40B4-BE49-F238E27FC236}">
                <a16:creationId xmlns:a16="http://schemas.microsoft.com/office/drawing/2014/main" id="{AE51EE3B-FBC4-24E8-6C57-B16E9EA837D1}"/>
              </a:ext>
            </a:extLst>
          </p:cNvPr>
          <p:cNvSpPr/>
          <p:nvPr/>
        </p:nvSpPr>
        <p:spPr>
          <a:xfrm>
            <a:off x="2544639" y="1351359"/>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0" name="台形 59">
            <a:extLst>
              <a:ext uri="{FF2B5EF4-FFF2-40B4-BE49-F238E27FC236}">
                <a16:creationId xmlns:a16="http://schemas.microsoft.com/office/drawing/2014/main" id="{BFEE6476-59AB-4155-6FB1-6A85C78AB005}"/>
              </a:ext>
            </a:extLst>
          </p:cNvPr>
          <p:cNvSpPr/>
          <p:nvPr/>
        </p:nvSpPr>
        <p:spPr>
          <a:xfrm rot="10800000">
            <a:off x="2535638" y="2242558"/>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1" name="台形 60">
            <a:extLst>
              <a:ext uri="{FF2B5EF4-FFF2-40B4-BE49-F238E27FC236}">
                <a16:creationId xmlns:a16="http://schemas.microsoft.com/office/drawing/2014/main" id="{08D2BA38-1E00-6A6E-9EE4-550038C4CB3C}"/>
              </a:ext>
            </a:extLst>
          </p:cNvPr>
          <p:cNvSpPr/>
          <p:nvPr/>
        </p:nvSpPr>
        <p:spPr>
          <a:xfrm>
            <a:off x="2535638" y="2517397"/>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62" name="テキスト ボックス 61">
                <a:extLst>
                  <a:ext uri="{FF2B5EF4-FFF2-40B4-BE49-F238E27FC236}">
                    <a16:creationId xmlns:a16="http://schemas.microsoft.com/office/drawing/2014/main" id="{D2544DB5-5BE9-4002-2231-7335C76CBA93}"/>
                  </a:ext>
                </a:extLst>
              </p:cNvPr>
              <p:cNvSpPr txBox="1"/>
              <p:nvPr/>
            </p:nvSpPr>
            <p:spPr>
              <a:xfrm>
                <a:off x="2170063" y="3390528"/>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smtClean="0">
                          <a:solidFill>
                            <a:schemeClr val="tx1"/>
                          </a:solidFill>
                          <a:latin typeface="Cambria Math" panose="02040503050406030204" pitchFamily="18" charset="0"/>
                        </a:rPr>
                        <m:t>Δ</m:t>
                      </m:r>
                      <m:sSub>
                        <m:sSubPr>
                          <m:ctrlPr>
                            <a:rPr lang="en-US" altLang="ja-JP" sz="2400" b="0" i="1" smtClean="0">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𝑊</m:t>
                          </m:r>
                        </m:e>
                        <m:sub>
                          <m:r>
                            <a:rPr lang="en-US" altLang="ja-JP" sz="2400" b="0" i="1" smtClean="0">
                              <a:solidFill>
                                <a:schemeClr val="tx1"/>
                              </a:solidFill>
                              <a:latin typeface="Cambria Math" panose="02040503050406030204" pitchFamily="18" charset="0"/>
                            </a:rPr>
                            <m:t>1</m:t>
                          </m:r>
                        </m:sub>
                      </m:sSub>
                    </m:oMath>
                  </m:oMathPara>
                </a14:m>
                <a:endParaRPr lang="ja-JP" altLang="en-US" sz="2400" dirty="0">
                  <a:solidFill>
                    <a:schemeClr val="tx1"/>
                  </a:solidFill>
                </a:endParaRPr>
              </a:p>
            </p:txBody>
          </p:sp>
        </mc:Choice>
        <mc:Fallback xmlns="">
          <p:sp>
            <p:nvSpPr>
              <p:cNvPr id="62" name="テキスト ボックス 61">
                <a:extLst>
                  <a:ext uri="{FF2B5EF4-FFF2-40B4-BE49-F238E27FC236}">
                    <a16:creationId xmlns:a16="http://schemas.microsoft.com/office/drawing/2014/main" id="{2AAD08B5-EF27-1F26-78FB-F20272FFA477}"/>
                  </a:ext>
                </a:extLst>
              </p:cNvPr>
              <p:cNvSpPr txBox="1">
                <a:spLocks noRot="1" noChangeAspect="1" noMove="1" noResize="1" noEditPoints="1" noAdjustHandles="1" noChangeArrowheads="1" noChangeShapeType="1" noTextEdit="1"/>
              </p:cNvSpPr>
              <p:nvPr/>
            </p:nvSpPr>
            <p:spPr>
              <a:xfrm>
                <a:off x="2170063" y="3390528"/>
                <a:ext cx="838729" cy="461665"/>
              </a:xfrm>
              <a:prstGeom prst="rect">
                <a:avLst/>
              </a:prstGeom>
              <a:blipFill>
                <a:blip r:embed="rId17"/>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テキスト ボックス 62">
                <a:extLst>
                  <a:ext uri="{FF2B5EF4-FFF2-40B4-BE49-F238E27FC236}">
                    <a16:creationId xmlns:a16="http://schemas.microsoft.com/office/drawing/2014/main" id="{6E407D9C-27B7-92B6-B532-AAE17D246318}"/>
                  </a:ext>
                </a:extLst>
              </p:cNvPr>
              <p:cNvSpPr txBox="1"/>
              <p:nvPr/>
            </p:nvSpPr>
            <p:spPr>
              <a:xfrm>
                <a:off x="1805759" y="2266463"/>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b>
                        <m:sSubPr>
                          <m:ctrlPr>
                            <a:rPr lang="en-US" altLang="ja-JP" b="0" i="1" smtClean="0">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𝑊</m:t>
                          </m:r>
                        </m:e>
                        <m:sub>
                          <m:r>
                            <a:rPr lang="en-US" altLang="ja-JP" b="0" i="1" smtClean="0">
                              <a:solidFill>
                                <a:schemeClr val="tx1"/>
                              </a:solidFill>
                              <a:latin typeface="Cambria Math" panose="02040503050406030204" pitchFamily="18" charset="0"/>
                            </a:rPr>
                            <m:t>1</m:t>
                          </m:r>
                        </m:sub>
                      </m:sSub>
                    </m:oMath>
                  </m:oMathPara>
                </a14:m>
                <a:endParaRPr lang="ja-JP" altLang="en-US" dirty="0">
                  <a:solidFill>
                    <a:schemeClr val="tx1"/>
                  </a:solidFill>
                </a:endParaRPr>
              </a:p>
            </p:txBody>
          </p:sp>
        </mc:Choice>
        <mc:Fallback xmlns="">
          <p:sp>
            <p:nvSpPr>
              <p:cNvPr id="63" name="テキスト ボックス 62">
                <a:extLst>
                  <a:ext uri="{FF2B5EF4-FFF2-40B4-BE49-F238E27FC236}">
                    <a16:creationId xmlns:a16="http://schemas.microsoft.com/office/drawing/2014/main" id="{6E407D9C-27B7-92B6-B532-AAE17D246318}"/>
                  </a:ext>
                </a:extLst>
              </p:cNvPr>
              <p:cNvSpPr txBox="1">
                <a:spLocks noRot="1" noChangeAspect="1" noMove="1" noResize="1" noEditPoints="1" noAdjustHandles="1" noChangeArrowheads="1" noChangeShapeType="1" noTextEdit="1"/>
              </p:cNvSpPr>
              <p:nvPr/>
            </p:nvSpPr>
            <p:spPr>
              <a:xfrm>
                <a:off x="1805759" y="2266463"/>
                <a:ext cx="838729" cy="369332"/>
              </a:xfrm>
              <a:prstGeom prst="rect">
                <a:avLst/>
              </a:prstGeom>
              <a:blipFill>
                <a:blip r:embed="rId18"/>
                <a:stretch>
                  <a:fillRect/>
                </a:stretch>
              </a:blipFill>
            </p:spPr>
            <p:txBody>
              <a:bodyPr/>
              <a:lstStyle/>
              <a:p>
                <a:r>
                  <a:rPr lang="ja-JP" altLang="en-US">
                    <a:noFill/>
                  </a:rPr>
                  <a:t> </a:t>
                </a:r>
              </a:p>
            </p:txBody>
          </p:sp>
        </mc:Fallback>
      </mc:AlternateContent>
      <p:sp>
        <p:nvSpPr>
          <p:cNvPr id="64" name="矢印: 右 63">
            <a:extLst>
              <a:ext uri="{FF2B5EF4-FFF2-40B4-BE49-F238E27FC236}">
                <a16:creationId xmlns:a16="http://schemas.microsoft.com/office/drawing/2014/main" id="{0CC0E9F4-5EEF-6692-967E-09B13A230940}"/>
              </a:ext>
            </a:extLst>
          </p:cNvPr>
          <p:cNvSpPr/>
          <p:nvPr/>
        </p:nvSpPr>
        <p:spPr>
          <a:xfrm rot="19283956">
            <a:off x="3111127" y="2187382"/>
            <a:ext cx="634415" cy="298438"/>
          </a:xfrm>
          <a:prstGeom prst="rightArrow">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矢印: 右 64">
            <a:extLst>
              <a:ext uri="{FF2B5EF4-FFF2-40B4-BE49-F238E27FC236}">
                <a16:creationId xmlns:a16="http://schemas.microsoft.com/office/drawing/2014/main" id="{8810490F-3929-ABCC-3EDF-F0E6A90B4AE6}"/>
              </a:ext>
            </a:extLst>
          </p:cNvPr>
          <p:cNvSpPr/>
          <p:nvPr/>
        </p:nvSpPr>
        <p:spPr>
          <a:xfrm rot="2825624">
            <a:off x="3087662" y="1304828"/>
            <a:ext cx="634415" cy="298438"/>
          </a:xfrm>
          <a:prstGeom prst="rightArrow">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台形 65">
            <a:extLst>
              <a:ext uri="{FF2B5EF4-FFF2-40B4-BE49-F238E27FC236}">
                <a16:creationId xmlns:a16="http://schemas.microsoft.com/office/drawing/2014/main" id="{380763CD-75B9-5DB3-EC91-F231815DAC84}"/>
              </a:ext>
            </a:extLst>
          </p:cNvPr>
          <p:cNvSpPr/>
          <p:nvPr/>
        </p:nvSpPr>
        <p:spPr>
          <a:xfrm rot="10800000">
            <a:off x="3846152" y="1628340"/>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7" name="台形 66">
            <a:extLst>
              <a:ext uri="{FF2B5EF4-FFF2-40B4-BE49-F238E27FC236}">
                <a16:creationId xmlns:a16="http://schemas.microsoft.com/office/drawing/2014/main" id="{9CEE0A6D-4BC8-74BE-E6BB-64598897F5C9}"/>
              </a:ext>
            </a:extLst>
          </p:cNvPr>
          <p:cNvSpPr/>
          <p:nvPr/>
        </p:nvSpPr>
        <p:spPr>
          <a:xfrm>
            <a:off x="3846152" y="1903179"/>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8" name="矢印: 右 67">
            <a:extLst>
              <a:ext uri="{FF2B5EF4-FFF2-40B4-BE49-F238E27FC236}">
                <a16:creationId xmlns:a16="http://schemas.microsoft.com/office/drawing/2014/main" id="{9F849508-4252-C595-596D-CE8A1AE234D2}"/>
              </a:ext>
            </a:extLst>
          </p:cNvPr>
          <p:cNvSpPr/>
          <p:nvPr/>
        </p:nvSpPr>
        <p:spPr>
          <a:xfrm>
            <a:off x="4453854" y="1683332"/>
            <a:ext cx="405953" cy="298438"/>
          </a:xfrm>
          <a:prstGeom prst="rightArrow">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吹き出し: 角を丸めた四角形 68">
            <a:extLst>
              <a:ext uri="{FF2B5EF4-FFF2-40B4-BE49-F238E27FC236}">
                <a16:creationId xmlns:a16="http://schemas.microsoft.com/office/drawing/2014/main" id="{7E2FA230-6D06-0359-197D-8DFE8E3912E2}"/>
              </a:ext>
            </a:extLst>
          </p:cNvPr>
          <p:cNvSpPr/>
          <p:nvPr/>
        </p:nvSpPr>
        <p:spPr>
          <a:xfrm>
            <a:off x="3677311" y="2387119"/>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a:solidFill>
                  <a:schemeClr val="tx1"/>
                </a:solidFill>
              </a:rPr>
              <a:t>統合</a:t>
            </a:r>
            <a:endParaRPr lang="en-US" altLang="ja-JP">
              <a:solidFill>
                <a:schemeClr val="tx1"/>
              </a:solidFill>
            </a:endParaRPr>
          </a:p>
        </p:txBody>
      </p:sp>
      <p:pic>
        <p:nvPicPr>
          <p:cNvPr id="70" name="図 69">
            <a:extLst>
              <a:ext uri="{FF2B5EF4-FFF2-40B4-BE49-F238E27FC236}">
                <a16:creationId xmlns:a16="http://schemas.microsoft.com/office/drawing/2014/main" id="{3EBEF5D1-C61F-40CB-ACB5-EF72188D13E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880721" y="1516877"/>
            <a:ext cx="561592" cy="564162"/>
          </a:xfrm>
          <a:prstGeom prst="rect">
            <a:avLst/>
          </a:prstGeom>
        </p:spPr>
      </p:pic>
      <p:sp>
        <p:nvSpPr>
          <p:cNvPr id="71" name="タイトル 2">
            <a:extLst>
              <a:ext uri="{FF2B5EF4-FFF2-40B4-BE49-F238E27FC236}">
                <a16:creationId xmlns:a16="http://schemas.microsoft.com/office/drawing/2014/main" id="{D8FFDEF3-343C-944B-6C21-C803C9A8C895}"/>
              </a:ext>
            </a:extLst>
          </p:cNvPr>
          <p:cNvSpPr txBox="1">
            <a:spLocks/>
          </p:cNvSpPr>
          <p:nvPr/>
        </p:nvSpPr>
        <p:spPr>
          <a:xfrm>
            <a:off x="5611003" y="2150005"/>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dirty="0"/>
              <a:t>Qwen-VL-3B</a:t>
            </a:r>
            <a:endParaRPr lang="ja-JP" altLang="en-US" sz="1200" dirty="0"/>
          </a:p>
        </p:txBody>
      </p:sp>
      <mc:AlternateContent xmlns:mc="http://schemas.openxmlformats.org/markup-compatibility/2006" xmlns:a14="http://schemas.microsoft.com/office/drawing/2010/main">
        <mc:Choice Requires="a14">
          <p:sp>
            <p:nvSpPr>
              <p:cNvPr id="72" name="テキスト ボックス 71">
                <a:extLst>
                  <a:ext uri="{FF2B5EF4-FFF2-40B4-BE49-F238E27FC236}">
                    <a16:creationId xmlns:a16="http://schemas.microsoft.com/office/drawing/2014/main" id="{57716002-61CD-AAB4-B080-E175AD0F905E}"/>
                  </a:ext>
                </a:extLst>
              </p:cNvPr>
              <p:cNvSpPr txBox="1"/>
              <p:nvPr/>
            </p:nvSpPr>
            <p:spPr>
              <a:xfrm>
                <a:off x="1782603" y="1117147"/>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b>
                        <m:sSubPr>
                          <m:ctrlPr>
                            <a:rPr lang="en-US" altLang="ja-JP" b="0" i="1" smtClean="0">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𝑊</m:t>
                          </m:r>
                        </m:e>
                        <m:sub>
                          <m:r>
                            <a:rPr lang="en-US" altLang="ja-JP" b="0" i="1" smtClean="0">
                              <a:solidFill>
                                <a:schemeClr val="tx1"/>
                              </a:solidFill>
                              <a:latin typeface="Cambria Math" panose="02040503050406030204" pitchFamily="18" charset="0"/>
                            </a:rPr>
                            <m:t>2</m:t>
                          </m:r>
                        </m:sub>
                      </m:sSub>
                    </m:oMath>
                  </m:oMathPara>
                </a14:m>
                <a:endParaRPr lang="ja-JP" altLang="en-US" dirty="0">
                  <a:solidFill>
                    <a:schemeClr val="tx1"/>
                  </a:solidFill>
                </a:endParaRPr>
              </a:p>
            </p:txBody>
          </p:sp>
        </mc:Choice>
        <mc:Fallback xmlns="">
          <p:sp>
            <p:nvSpPr>
              <p:cNvPr id="72" name="テキスト ボックス 71">
                <a:extLst>
                  <a:ext uri="{FF2B5EF4-FFF2-40B4-BE49-F238E27FC236}">
                    <a16:creationId xmlns:a16="http://schemas.microsoft.com/office/drawing/2014/main" id="{57716002-61CD-AAB4-B080-E175AD0F905E}"/>
                  </a:ext>
                </a:extLst>
              </p:cNvPr>
              <p:cNvSpPr txBox="1">
                <a:spLocks noRot="1" noChangeAspect="1" noMove="1" noResize="1" noEditPoints="1" noAdjustHandles="1" noChangeArrowheads="1" noChangeShapeType="1" noTextEdit="1"/>
              </p:cNvSpPr>
              <p:nvPr/>
            </p:nvSpPr>
            <p:spPr>
              <a:xfrm>
                <a:off x="1782603" y="1117147"/>
                <a:ext cx="838729" cy="369332"/>
              </a:xfrm>
              <a:prstGeom prst="rect">
                <a:avLst/>
              </a:prstGeom>
              <a:blipFill>
                <a:blip r:embed="rId19"/>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70F83030-19BB-807C-4A7C-7928EE0C8B57}"/>
                  </a:ext>
                </a:extLst>
              </p:cNvPr>
              <p:cNvSpPr txBox="1"/>
              <p:nvPr/>
            </p:nvSpPr>
            <p:spPr>
              <a:xfrm>
                <a:off x="5514462" y="3244334"/>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smtClean="0">
                          <a:solidFill>
                            <a:schemeClr val="tx1"/>
                          </a:solidFill>
                          <a:latin typeface="Cambria Math" panose="02040503050406030204" pitchFamily="18" charset="0"/>
                        </a:rPr>
                        <m:t>Δ</m:t>
                      </m:r>
                      <m:sSub>
                        <m:sSubPr>
                          <m:ctrlPr>
                            <a:rPr lang="en-US" altLang="ja-JP" sz="2400" b="0" i="1" smtClean="0">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𝑊</m:t>
                          </m:r>
                        </m:e>
                        <m:sub>
                          <m:r>
                            <a:rPr lang="en-US" altLang="ja-JP" sz="2400" b="0" i="1" smtClean="0">
                              <a:solidFill>
                                <a:schemeClr val="tx1"/>
                              </a:solidFill>
                              <a:latin typeface="Cambria Math" panose="02040503050406030204" pitchFamily="18" charset="0"/>
                            </a:rPr>
                            <m:t>2</m:t>
                          </m:r>
                        </m:sub>
                      </m:sSub>
                    </m:oMath>
                  </m:oMathPara>
                </a14:m>
                <a:endParaRPr lang="ja-JP" altLang="en-US" sz="2400">
                  <a:solidFill>
                    <a:schemeClr val="tx1"/>
                  </a:solidFill>
                </a:endParaRPr>
              </a:p>
            </p:txBody>
          </p:sp>
        </mc:Choice>
        <mc:Fallback xmlns="">
          <p:sp>
            <p:nvSpPr>
              <p:cNvPr id="73" name="テキスト ボックス 72">
                <a:extLst>
                  <a:ext uri="{FF2B5EF4-FFF2-40B4-BE49-F238E27FC236}">
                    <a16:creationId xmlns:a16="http://schemas.microsoft.com/office/drawing/2014/main" id="{9DC4632C-CABA-0BCF-F812-69A68B365EAB}"/>
                  </a:ext>
                </a:extLst>
              </p:cNvPr>
              <p:cNvSpPr txBox="1">
                <a:spLocks noRot="1" noChangeAspect="1" noMove="1" noResize="1" noEditPoints="1" noAdjustHandles="1" noChangeArrowheads="1" noChangeShapeType="1" noTextEdit="1"/>
              </p:cNvSpPr>
              <p:nvPr/>
            </p:nvSpPr>
            <p:spPr>
              <a:xfrm>
                <a:off x="5514462" y="3244334"/>
                <a:ext cx="838729" cy="461665"/>
              </a:xfrm>
              <a:prstGeom prst="rect">
                <a:avLst/>
              </a:prstGeom>
              <a:blipFill>
                <a:blip r:embed="rId20"/>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テキスト ボックス 73">
                <a:extLst>
                  <a:ext uri="{FF2B5EF4-FFF2-40B4-BE49-F238E27FC236}">
                    <a16:creationId xmlns:a16="http://schemas.microsoft.com/office/drawing/2014/main" id="{63EC4A35-ECE0-6034-8AEB-2E44319C0BA6}"/>
                  </a:ext>
                </a:extLst>
              </p:cNvPr>
              <p:cNvSpPr txBox="1"/>
              <p:nvPr/>
            </p:nvSpPr>
            <p:spPr>
              <a:xfrm>
                <a:off x="3693215" y="1221286"/>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p>
                        <m:sSupPr>
                          <m:ctrlPr>
                            <a:rPr lang="en-US" altLang="ja-JP" b="0" i="1" smtClean="0">
                              <a:solidFill>
                                <a:schemeClr val="tx1"/>
                              </a:solidFill>
                              <a:latin typeface="Cambria Math" panose="02040503050406030204" pitchFamily="18" charset="0"/>
                            </a:rPr>
                          </m:ctrlPr>
                        </m:sSupPr>
                        <m:e>
                          <m:r>
                            <a:rPr lang="en-US" altLang="ja-JP" b="0" i="1" smtClean="0">
                              <a:solidFill>
                                <a:schemeClr val="tx1"/>
                              </a:solidFill>
                              <a:latin typeface="Cambria Math" panose="02040503050406030204" pitchFamily="18" charset="0"/>
                            </a:rPr>
                            <m:t>𝑊</m:t>
                          </m:r>
                        </m:e>
                        <m:sup>
                          <m:r>
                            <a:rPr lang="en-US" altLang="ja-JP" b="0" i="1" smtClean="0">
                              <a:solidFill>
                                <a:schemeClr val="tx1"/>
                              </a:solidFill>
                              <a:latin typeface="Cambria Math" panose="02040503050406030204" pitchFamily="18" charset="0"/>
                            </a:rPr>
                            <m:t>′</m:t>
                          </m:r>
                        </m:sup>
                      </m:sSup>
                    </m:oMath>
                  </m:oMathPara>
                </a14:m>
                <a:endParaRPr lang="ja-JP" altLang="en-US" i="1" dirty="0">
                  <a:solidFill>
                    <a:schemeClr val="tx1"/>
                  </a:solidFill>
                </a:endParaRPr>
              </a:p>
            </p:txBody>
          </p:sp>
        </mc:Choice>
        <mc:Fallback xmlns="">
          <p:sp>
            <p:nvSpPr>
              <p:cNvPr id="74" name="テキスト ボックス 73">
                <a:extLst>
                  <a:ext uri="{FF2B5EF4-FFF2-40B4-BE49-F238E27FC236}">
                    <a16:creationId xmlns:a16="http://schemas.microsoft.com/office/drawing/2014/main" id="{F035ACC3-54AE-9EBB-E285-E9F2B06E27F0}"/>
                  </a:ext>
                </a:extLst>
              </p:cNvPr>
              <p:cNvSpPr txBox="1">
                <a:spLocks noRot="1" noChangeAspect="1" noMove="1" noResize="1" noEditPoints="1" noAdjustHandles="1" noChangeArrowheads="1" noChangeShapeType="1" noTextEdit="1"/>
              </p:cNvSpPr>
              <p:nvPr/>
            </p:nvSpPr>
            <p:spPr>
              <a:xfrm>
                <a:off x="3693215" y="1221286"/>
                <a:ext cx="838729"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吹き出し: 角を丸めた四角形 54">
                <a:extLst>
                  <a:ext uri="{FF2B5EF4-FFF2-40B4-BE49-F238E27FC236}">
                    <a16:creationId xmlns:a16="http://schemas.microsoft.com/office/drawing/2014/main" id="{A6A6DF49-E434-8F8F-9801-BB9DC0D23164}"/>
                  </a:ext>
                </a:extLst>
              </p:cNvPr>
              <p:cNvSpPr/>
              <p:nvPr/>
            </p:nvSpPr>
            <p:spPr>
              <a:xfrm>
                <a:off x="61153" y="1056974"/>
                <a:ext cx="1595978" cy="2114157"/>
              </a:xfrm>
              <a:prstGeom prst="wedgeRoundRectCallout">
                <a:avLst>
                  <a:gd name="adj1" fmla="val 227551"/>
                  <a:gd name="adj2" fmla="val -11864"/>
                  <a:gd name="adj3" fmla="val 16667"/>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14:m>
                  <m:oMathPara xmlns:m="http://schemas.openxmlformats.org/officeDocument/2006/math">
                    <m:oMathParaPr>
                      <m:jc m:val="left"/>
                    </m:oMathParaPr>
                    <m:oMath xmlns:m="http://schemas.openxmlformats.org/officeDocument/2006/math">
                      <m:r>
                        <a:rPr lang="en-US" altLang="ja-JP" sz="2400" i="1" smtClean="0">
                          <a:solidFill>
                            <a:schemeClr val="tx1"/>
                          </a:solidFill>
                          <a:latin typeface="Cambria Math" panose="02040503050406030204" pitchFamily="18" charset="0"/>
                        </a:rPr>
                        <m:t>𝐿</m:t>
                      </m:r>
                      <m:r>
                        <a:rPr lang="en-US" altLang="ja-JP" sz="2400" i="1" smtClean="0">
                          <a:solidFill>
                            <a:schemeClr val="tx1"/>
                          </a:solidFill>
                          <a:latin typeface="Cambria Math" panose="02040503050406030204" pitchFamily="18" charset="0"/>
                        </a:rPr>
                        <m:t>=</m:t>
                      </m:r>
                    </m:oMath>
                  </m:oMathPara>
                </a14:m>
                <a:endParaRPr lang="en-US" altLang="ja-JP" sz="2400" i="1" dirty="0">
                  <a:solidFill>
                    <a:schemeClr val="tx1"/>
                  </a:solidFill>
                  <a:latin typeface="Cambria Math" panose="02040503050406030204" pitchFamily="18" charset="0"/>
                </a:endParaRPr>
              </a:p>
              <a:p>
                <a:pPr algn="ctr"/>
                <a14:m>
                  <m:oMathPara xmlns:m="http://schemas.openxmlformats.org/officeDocument/2006/math">
                    <m:oMathParaPr>
                      <m:jc m:val="left"/>
                    </m:oMathParaPr>
                    <m:oMath xmlns:m="http://schemas.openxmlformats.org/officeDocument/2006/math">
                      <m:sSub>
                        <m:sSubPr>
                          <m:ctrlPr>
                            <a:rPr lang="ja-JP" altLang="ja-JP" sz="2400" i="1">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𝜆</m:t>
                          </m:r>
                        </m:e>
                        <m:sub>
                          <m:r>
                            <a:rPr lang="en-US" altLang="ja-JP" sz="2400" i="1">
                              <a:solidFill>
                                <a:schemeClr val="tx1"/>
                              </a:solidFill>
                              <a:latin typeface="Cambria Math" panose="02040503050406030204" pitchFamily="18" charset="0"/>
                            </a:rPr>
                            <m:t>1</m:t>
                          </m:r>
                        </m:sub>
                      </m:sSub>
                      <m:sSub>
                        <m:sSubPr>
                          <m:ctrlPr>
                            <a:rPr lang="ja-JP" altLang="ja-JP" sz="2400" i="1">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𝐿</m:t>
                          </m:r>
                        </m:e>
                        <m:sub>
                          <m:r>
                            <a:rPr lang="en-US" altLang="ja-JP" sz="2400" i="1">
                              <a:solidFill>
                                <a:schemeClr val="tx1"/>
                              </a:solidFill>
                              <a:latin typeface="Cambria Math" panose="02040503050406030204" pitchFamily="18" charset="0"/>
                            </a:rPr>
                            <m:t>𝑝𝑟𝑒𝑑</m:t>
                          </m:r>
                        </m:sub>
                      </m:sSub>
                      <m:r>
                        <a:rPr lang="en-US" altLang="ja-JP" sz="2400" i="1">
                          <a:solidFill>
                            <a:schemeClr val="tx1"/>
                          </a:solidFill>
                          <a:latin typeface="Cambria Math" panose="02040503050406030204" pitchFamily="18" charset="0"/>
                        </a:rPr>
                        <m:t>+</m:t>
                      </m:r>
                      <m:sSub>
                        <m:sSubPr>
                          <m:ctrlPr>
                            <a:rPr lang="ja-JP" altLang="ja-JP" sz="2400" i="1">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𝜆</m:t>
                          </m:r>
                        </m:e>
                        <m:sub>
                          <m:r>
                            <a:rPr lang="en-US" altLang="ja-JP" sz="2400" i="1">
                              <a:solidFill>
                                <a:schemeClr val="tx1"/>
                              </a:solidFill>
                              <a:latin typeface="Cambria Math" panose="02040503050406030204" pitchFamily="18" charset="0"/>
                            </a:rPr>
                            <m:t>2</m:t>
                          </m:r>
                        </m:sub>
                      </m:sSub>
                      <m:sSub>
                        <m:sSubPr>
                          <m:ctrlPr>
                            <a:rPr lang="ja-JP" altLang="ja-JP" sz="2400" i="1">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𝐿</m:t>
                          </m:r>
                        </m:e>
                        <m:sub>
                          <m:r>
                            <a:rPr lang="en-US" altLang="ja-JP" sz="2400" i="1">
                              <a:solidFill>
                                <a:schemeClr val="tx1"/>
                              </a:solidFill>
                              <a:latin typeface="Cambria Math" panose="02040503050406030204" pitchFamily="18" charset="0"/>
                            </a:rPr>
                            <m:t>𝑟𝑒𝑝𝑟</m:t>
                          </m:r>
                        </m:sub>
                      </m:sSub>
                      <m:r>
                        <a:rPr lang="en-US" altLang="ja-JP" sz="2400" i="1">
                          <a:solidFill>
                            <a:schemeClr val="tx1"/>
                          </a:solidFill>
                          <a:latin typeface="Cambria Math" panose="02040503050406030204" pitchFamily="18" charset="0"/>
                        </a:rPr>
                        <m:t>+</m:t>
                      </m:r>
                      <m:sSub>
                        <m:sSubPr>
                          <m:ctrlPr>
                            <a:rPr lang="ja-JP" altLang="ja-JP" sz="2400" i="1">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𝜆</m:t>
                          </m:r>
                        </m:e>
                        <m:sub>
                          <m:r>
                            <a:rPr lang="en-US" altLang="ja-JP" sz="2400" i="1">
                              <a:solidFill>
                                <a:schemeClr val="tx1"/>
                              </a:solidFill>
                              <a:latin typeface="Cambria Math" panose="02040503050406030204" pitchFamily="18" charset="0"/>
                            </a:rPr>
                            <m:t>3</m:t>
                          </m:r>
                        </m:sub>
                      </m:sSub>
                      <m:sSub>
                        <m:sSubPr>
                          <m:ctrlPr>
                            <a:rPr lang="ja-JP" altLang="ja-JP" sz="2400" i="1">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𝐿</m:t>
                          </m:r>
                        </m:e>
                        <m:sub>
                          <m:r>
                            <a:rPr lang="en-US" altLang="ja-JP" sz="2400" i="1">
                              <a:solidFill>
                                <a:schemeClr val="tx1"/>
                              </a:solidFill>
                              <a:latin typeface="Cambria Math" panose="02040503050406030204" pitchFamily="18" charset="0"/>
                            </a:rPr>
                            <m:t>𝑔𝑟𝑎𝑑</m:t>
                          </m:r>
                        </m:sub>
                      </m:sSub>
                      <m:r>
                        <a:rPr lang="en-US" altLang="ja-JP" sz="2400" i="1">
                          <a:solidFill>
                            <a:schemeClr val="tx1"/>
                          </a:solidFill>
                          <a:latin typeface="Cambria Math" panose="02040503050406030204" pitchFamily="18" charset="0"/>
                        </a:rPr>
                        <m:t>+</m:t>
                      </m:r>
                      <m:sSub>
                        <m:sSubPr>
                          <m:ctrlPr>
                            <a:rPr lang="ja-JP" altLang="ja-JP" sz="2400" i="1">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𝜆</m:t>
                          </m:r>
                        </m:e>
                        <m:sub>
                          <m:r>
                            <a:rPr lang="en-US" altLang="ja-JP" sz="2400" i="1">
                              <a:solidFill>
                                <a:schemeClr val="tx1"/>
                              </a:solidFill>
                              <a:latin typeface="Cambria Math" panose="02040503050406030204" pitchFamily="18" charset="0"/>
                            </a:rPr>
                            <m:t>4</m:t>
                          </m:r>
                        </m:sub>
                      </m:sSub>
                      <m:sSub>
                        <m:sSubPr>
                          <m:ctrlPr>
                            <a:rPr lang="ja-JP" altLang="ja-JP" sz="2400" i="1">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𝐿</m:t>
                          </m:r>
                        </m:e>
                        <m:sub>
                          <m:r>
                            <a:rPr lang="en-US" altLang="ja-JP" sz="2400" i="1">
                              <a:solidFill>
                                <a:schemeClr val="tx1"/>
                              </a:solidFill>
                              <a:latin typeface="Cambria Math" panose="02040503050406030204" pitchFamily="18" charset="0"/>
                            </a:rPr>
                            <m:t>𝑝𝑜𝑠𝑡</m:t>
                          </m:r>
                        </m:sub>
                      </m:sSub>
                    </m:oMath>
                  </m:oMathPara>
                </a14:m>
                <a:endParaRPr lang="ja-JP" altLang="en-US" sz="2400" dirty="0">
                  <a:solidFill>
                    <a:schemeClr val="tx1"/>
                  </a:solidFill>
                </a:endParaRPr>
              </a:p>
            </p:txBody>
          </p:sp>
        </mc:Choice>
        <mc:Fallback xmlns="">
          <p:sp>
            <p:nvSpPr>
              <p:cNvPr id="55" name="吹き出し: 角を丸めた四角形 54">
                <a:extLst>
                  <a:ext uri="{FF2B5EF4-FFF2-40B4-BE49-F238E27FC236}">
                    <a16:creationId xmlns:a16="http://schemas.microsoft.com/office/drawing/2014/main" id="{A6A6DF49-E434-8F8F-9801-BB9DC0D23164}"/>
                  </a:ext>
                </a:extLst>
              </p:cNvPr>
              <p:cNvSpPr>
                <a:spLocks noRot="1" noChangeAspect="1" noMove="1" noResize="1" noEditPoints="1" noAdjustHandles="1" noChangeArrowheads="1" noChangeShapeType="1" noTextEdit="1"/>
              </p:cNvSpPr>
              <p:nvPr/>
            </p:nvSpPr>
            <p:spPr>
              <a:xfrm>
                <a:off x="61153" y="1056974"/>
                <a:ext cx="1595978" cy="2114157"/>
              </a:xfrm>
              <a:prstGeom prst="wedgeRoundRectCallout">
                <a:avLst>
                  <a:gd name="adj1" fmla="val 227551"/>
                  <a:gd name="adj2" fmla="val -11864"/>
                  <a:gd name="adj3" fmla="val 16667"/>
                </a:avLst>
              </a:prstGeom>
              <a:blipFill>
                <a:blip r:embed="rId22"/>
                <a:stretch>
                  <a:fillRect l="-400"/>
                </a:stretch>
              </a:blipFill>
              <a:ln w="28575">
                <a:solidFill>
                  <a:srgbClr val="C00000"/>
                </a:solidFill>
              </a:ln>
            </p:spPr>
            <p:txBody>
              <a:bodyPr/>
              <a:lstStyle/>
              <a:p>
                <a:r>
                  <a:rPr lang="ja-JP" altLang="en-US">
                    <a:noFill/>
                  </a:rPr>
                  <a:t> </a:t>
                </a:r>
              </a:p>
            </p:txBody>
          </p:sp>
        </mc:Fallback>
      </mc:AlternateContent>
      <p:sp>
        <p:nvSpPr>
          <p:cNvPr id="77" name="台形 76">
            <a:extLst>
              <a:ext uri="{FF2B5EF4-FFF2-40B4-BE49-F238E27FC236}">
                <a16:creationId xmlns:a16="http://schemas.microsoft.com/office/drawing/2014/main" id="{6860C3B9-A713-59CC-1933-AD2F96CBE3C4}"/>
              </a:ext>
            </a:extLst>
          </p:cNvPr>
          <p:cNvSpPr/>
          <p:nvPr/>
        </p:nvSpPr>
        <p:spPr>
          <a:xfrm rot="10800000">
            <a:off x="4936626" y="1611166"/>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79" name="台形 78">
            <a:extLst>
              <a:ext uri="{FF2B5EF4-FFF2-40B4-BE49-F238E27FC236}">
                <a16:creationId xmlns:a16="http://schemas.microsoft.com/office/drawing/2014/main" id="{E80A7D08-DA8C-5D4E-559A-71C22B70844C}"/>
              </a:ext>
            </a:extLst>
          </p:cNvPr>
          <p:cNvSpPr/>
          <p:nvPr/>
        </p:nvSpPr>
        <p:spPr>
          <a:xfrm>
            <a:off x="4936626" y="1886005"/>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81" name="吹き出し: 角を丸めた四角形 80">
            <a:extLst>
              <a:ext uri="{FF2B5EF4-FFF2-40B4-BE49-F238E27FC236}">
                <a16:creationId xmlns:a16="http://schemas.microsoft.com/office/drawing/2014/main" id="{C38D2B9B-6585-4CAD-78FC-6E3320D37299}"/>
              </a:ext>
            </a:extLst>
          </p:cNvPr>
          <p:cNvSpPr/>
          <p:nvPr/>
        </p:nvSpPr>
        <p:spPr>
          <a:xfrm>
            <a:off x="4767785" y="2369945"/>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整合</a:t>
            </a:r>
            <a:endParaRPr lang="en-US" altLang="ja-JP" dirty="0">
              <a:solidFill>
                <a:schemeClr val="tx1"/>
              </a:solidFill>
            </a:endParaRPr>
          </a:p>
        </p:txBody>
      </p:sp>
    </p:spTree>
    <p:extLst>
      <p:ext uri="{BB962C8B-B14F-4D97-AF65-F5344CB8AC3E}">
        <p14:creationId xmlns:p14="http://schemas.microsoft.com/office/powerpoint/2010/main" val="3925657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6B392-EFE1-7000-33D4-DDAADC54D739}"/>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558BE3DD-7F0B-17D6-88D2-BC9B02A1B7C4}"/>
              </a:ext>
            </a:extLst>
          </p:cNvPr>
          <p:cNvSpPr>
            <a:spLocks noGrp="1"/>
          </p:cNvSpPr>
          <p:nvPr>
            <p:ph idx="1"/>
          </p:nvPr>
        </p:nvSpPr>
        <p:spPr/>
        <p:txBody>
          <a:bodyPr>
            <a:normAutofit fontScale="85000" lnSpcReduction="20000"/>
          </a:bodyPr>
          <a:lstStyle/>
          <a:p>
            <a:r>
              <a:rPr lang="ja-JP" altLang="ja-JP" dirty="0"/>
              <a:t>循環の</a:t>
            </a:r>
            <a:r>
              <a:rPr lang="ja-JP" altLang="ja-JP" b="1" dirty="0"/>
              <a:t>土台</a:t>
            </a:r>
            <a:r>
              <a:rPr lang="ja-JP" altLang="ja-JP" dirty="0"/>
              <a:t>を確認。</a:t>
            </a:r>
            <a:r>
              <a:rPr lang="ja-JP" altLang="en-US" dirty="0"/>
              <a:t>クライアント</a:t>
            </a:r>
            <a:r>
              <a:rPr lang="ja-JP" altLang="ja-JP" dirty="0"/>
              <a:t>と</a:t>
            </a:r>
            <a:r>
              <a:rPr lang="ja-JP" altLang="en-US" dirty="0"/>
              <a:t>サーバ</a:t>
            </a:r>
            <a:r>
              <a:rPr lang="ja-JP" altLang="ja-JP" dirty="0"/>
              <a:t>の間で学習結果が送受信でき、集約でき、返せるか。</a:t>
            </a:r>
            <a:endParaRPr lang="en-US" altLang="ja-JP" dirty="0"/>
          </a:p>
          <a:p>
            <a:pPr lvl="1"/>
            <a:r>
              <a:rPr lang="ja-JP" altLang="ja-JP" sz="3000" dirty="0"/>
              <a:t>FL パイプラインの動作確認</a:t>
            </a:r>
            <a:r>
              <a:rPr lang="ja-JP" altLang="ja-JP" sz="3200" dirty="0"/>
              <a:t> </a:t>
            </a:r>
          </a:p>
          <a:p>
            <a:pPr lvl="2"/>
            <a:r>
              <a:rPr kumimoji="1" lang="ja-JP" altLang="en-US" dirty="0"/>
              <a:t>記録（メモリ、性能、時間の細分化）</a:t>
            </a:r>
            <a:endParaRPr kumimoji="1" lang="en-US" altLang="ja-JP" dirty="0"/>
          </a:p>
          <a:p>
            <a:pPr lvl="1"/>
            <a:endParaRPr lang="en-US" altLang="ja-JP" dirty="0"/>
          </a:p>
          <a:p>
            <a:pPr lvl="1"/>
            <a:endParaRPr kumimoji="1" lang="en-US" altLang="ja-JP" dirty="0"/>
          </a:p>
          <a:p>
            <a:r>
              <a:rPr lang="ja-JP" altLang="ja-JP" b="1" dirty="0"/>
              <a:t>提案している中身</a:t>
            </a:r>
            <a:r>
              <a:rPr lang="ja-JP" altLang="ja-JP" dirty="0"/>
              <a:t>が動くかを確認しています。エッジでタスク学習し、クラウドで基盤モデルを整合して更新し、それを返す、という2段階の循環が1周回るか。まだ簡略版ですが、『この研究で新しく言っている部分』のプロトタイプです。</a:t>
            </a:r>
          </a:p>
          <a:p>
            <a:endParaRPr lang="en-US" altLang="ja-JP" dirty="0"/>
          </a:p>
          <a:p>
            <a:r>
              <a:rPr lang="ja-JP" altLang="ja-JP" dirty="0"/>
              <a:t>整合ループの実装・完走確認</a:t>
            </a:r>
          </a:p>
          <a:p>
            <a:pPr lvl="1"/>
            <a:endParaRPr kumimoji="1" lang="ja-JP" altLang="en-US" dirty="0"/>
          </a:p>
        </p:txBody>
      </p:sp>
      <p:sp>
        <p:nvSpPr>
          <p:cNvPr id="3" name="タイトル 2">
            <a:extLst>
              <a:ext uri="{FF2B5EF4-FFF2-40B4-BE49-F238E27FC236}">
                <a16:creationId xmlns:a16="http://schemas.microsoft.com/office/drawing/2014/main" id="{7D2A3C52-11CB-44A1-46D1-8B706A86C925}"/>
              </a:ext>
            </a:extLst>
          </p:cNvPr>
          <p:cNvSpPr>
            <a:spLocks noGrp="1"/>
          </p:cNvSpPr>
          <p:nvPr>
            <p:ph type="title"/>
          </p:nvPr>
        </p:nvSpPr>
        <p:spPr/>
        <p:txBody>
          <a:bodyPr>
            <a:normAutofit/>
          </a:bodyPr>
          <a:lstStyle/>
          <a:p>
            <a:r>
              <a:rPr kumimoji="1" lang="ja-JP" altLang="en-US" dirty="0"/>
              <a:t>前回まで何をやってきたか</a:t>
            </a:r>
          </a:p>
        </p:txBody>
      </p:sp>
      <p:sp>
        <p:nvSpPr>
          <p:cNvPr id="4" name="スライド番号プレースホルダー 3">
            <a:extLst>
              <a:ext uri="{FF2B5EF4-FFF2-40B4-BE49-F238E27FC236}">
                <a16:creationId xmlns:a16="http://schemas.microsoft.com/office/drawing/2014/main" id="{9B1E568F-073F-E32E-FA62-F4EA0C3D9DB0}"/>
              </a:ext>
            </a:extLst>
          </p:cNvPr>
          <p:cNvSpPr>
            <a:spLocks noGrp="1"/>
          </p:cNvSpPr>
          <p:nvPr>
            <p:ph type="sldNum" sz="quarter" idx="4"/>
          </p:nvPr>
        </p:nvSpPr>
        <p:spPr/>
        <p:txBody>
          <a:bodyPr/>
          <a:lstStyle/>
          <a:p>
            <a:fld id="{C088C981-6885-4100-82A1-DE7074EC4480}" type="slidenum">
              <a:rPr lang="ja-JP" altLang="en-US" smtClean="0"/>
              <a:t>12</a:t>
            </a:fld>
            <a:endParaRPr lang="ja-JP" altLang="en-US"/>
          </a:p>
        </p:txBody>
      </p:sp>
      <p:sp>
        <p:nvSpPr>
          <p:cNvPr id="5" name="矢印: 下 4">
            <a:extLst>
              <a:ext uri="{FF2B5EF4-FFF2-40B4-BE49-F238E27FC236}">
                <a16:creationId xmlns:a16="http://schemas.microsoft.com/office/drawing/2014/main" id="{D47FD526-58D2-D678-9017-9C7C97F37EA9}"/>
              </a:ext>
            </a:extLst>
          </p:cNvPr>
          <p:cNvSpPr/>
          <p:nvPr/>
        </p:nvSpPr>
        <p:spPr>
          <a:xfrm>
            <a:off x="4236334" y="2801073"/>
            <a:ext cx="752355" cy="7755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03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45D6077E-718B-F327-8DCD-A3E5A3E42646}"/>
              </a:ext>
            </a:extLst>
          </p:cNvPr>
          <p:cNvSpPr>
            <a:spLocks noGrp="1"/>
          </p:cNvSpPr>
          <p:nvPr>
            <p:ph type="title"/>
          </p:nvPr>
        </p:nvSpPr>
        <p:spPr/>
        <p:txBody>
          <a:bodyPr/>
          <a:lstStyle/>
          <a:p>
            <a:r>
              <a:rPr lang="en-US" altLang="ja-JP"/>
              <a:t>6</a:t>
            </a:r>
            <a:r>
              <a:rPr lang="ja-JP" altLang="ja-JP"/>
              <a:t>. 連合評価（Flower eval）</a:t>
            </a:r>
            <a:endParaRPr kumimoji="1" lang="ja-JP" altLang="en-US"/>
          </a:p>
        </p:txBody>
      </p:sp>
      <p:sp>
        <p:nvSpPr>
          <p:cNvPr id="4" name="スライド番号プレースホルダー 3">
            <a:extLst>
              <a:ext uri="{FF2B5EF4-FFF2-40B4-BE49-F238E27FC236}">
                <a16:creationId xmlns:a16="http://schemas.microsoft.com/office/drawing/2014/main" id="{E01D4859-F76A-3DE2-9572-291C6B514F9E}"/>
              </a:ext>
            </a:extLst>
          </p:cNvPr>
          <p:cNvSpPr>
            <a:spLocks noGrp="1"/>
          </p:cNvSpPr>
          <p:nvPr>
            <p:ph type="sldNum" sz="quarter" idx="4"/>
          </p:nvPr>
        </p:nvSpPr>
        <p:spPr/>
        <p:txBody>
          <a:bodyPr/>
          <a:lstStyle/>
          <a:p>
            <a:fld id="{C088C981-6885-4100-82A1-DE7074EC4480}" type="slidenum">
              <a:rPr lang="ja-JP" altLang="en-US" smtClean="0"/>
              <a:t>13</a:t>
            </a:fld>
            <a:endParaRPr lang="ja-JP" altLang="en-US"/>
          </a:p>
        </p:txBody>
      </p:sp>
      <p:sp>
        <p:nvSpPr>
          <p:cNvPr id="5" name="四角形: 角を丸くする 4">
            <a:extLst>
              <a:ext uri="{FF2B5EF4-FFF2-40B4-BE49-F238E27FC236}">
                <a16:creationId xmlns:a16="http://schemas.microsoft.com/office/drawing/2014/main" id="{F44D3DBE-CA1C-64DF-9AE9-1C5106199A3A}"/>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3CE6A9F4-3AB7-330D-B3A6-1EDA5BA7D2F8}"/>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E2ABEC2F-9CA2-0303-11D4-83A99D9F9853}"/>
              </a:ext>
            </a:extLst>
          </p:cNvPr>
          <p:cNvCxnSpPr>
            <a:cxnSpLocks/>
          </p:cNvCxnSpPr>
          <p:nvPr/>
        </p:nvCxnSpPr>
        <p:spPr>
          <a:xfrm flipV="1">
            <a:off x="1960067" y="3001169"/>
            <a:ext cx="629361" cy="7515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図 7">
            <a:extLst>
              <a:ext uri="{FF2B5EF4-FFF2-40B4-BE49-F238E27FC236}">
                <a16:creationId xmlns:a16="http://schemas.microsoft.com/office/drawing/2014/main" id="{0F3F9669-6E84-332E-3BB6-24DC3F5749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9" name="図 8">
            <a:extLst>
              <a:ext uri="{FF2B5EF4-FFF2-40B4-BE49-F238E27FC236}">
                <a16:creationId xmlns:a16="http://schemas.microsoft.com/office/drawing/2014/main" id="{86E4D895-1020-EEF3-4498-1FE4476E937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10" name="図 9">
            <a:extLst>
              <a:ext uri="{FF2B5EF4-FFF2-40B4-BE49-F238E27FC236}">
                <a16:creationId xmlns:a16="http://schemas.microsoft.com/office/drawing/2014/main" id="{DDDC95B9-B309-E976-1401-D8E52A3FAD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1" name="図 10">
            <a:extLst>
              <a:ext uri="{FF2B5EF4-FFF2-40B4-BE49-F238E27FC236}">
                <a16:creationId xmlns:a16="http://schemas.microsoft.com/office/drawing/2014/main" id="{CD1A7D85-2538-21CF-A82D-4AADC593F7C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2" name="図 11">
            <a:extLst>
              <a:ext uri="{FF2B5EF4-FFF2-40B4-BE49-F238E27FC236}">
                <a16:creationId xmlns:a16="http://schemas.microsoft.com/office/drawing/2014/main" id="{A3A051A4-FE84-2BEE-3AA1-D0D07E86F9A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3" name="図 12">
            <a:extLst>
              <a:ext uri="{FF2B5EF4-FFF2-40B4-BE49-F238E27FC236}">
                <a16:creationId xmlns:a16="http://schemas.microsoft.com/office/drawing/2014/main" id="{9E3B7D00-B33D-D0F0-9B82-58935609AC0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4" name="直線矢印コネクタ 13">
            <a:extLst>
              <a:ext uri="{FF2B5EF4-FFF2-40B4-BE49-F238E27FC236}">
                <a16:creationId xmlns:a16="http://schemas.microsoft.com/office/drawing/2014/main" id="{2C497932-9798-298D-92C4-4B195C318547}"/>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87A70C82-73B0-8101-3EC0-7B3C8C51F581}"/>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図 15">
            <a:extLst>
              <a:ext uri="{FF2B5EF4-FFF2-40B4-BE49-F238E27FC236}">
                <a16:creationId xmlns:a16="http://schemas.microsoft.com/office/drawing/2014/main" id="{CFF8321A-C379-9712-5FCE-D0637B4657A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7" name="図 16">
            <a:extLst>
              <a:ext uri="{FF2B5EF4-FFF2-40B4-BE49-F238E27FC236}">
                <a16:creationId xmlns:a16="http://schemas.microsoft.com/office/drawing/2014/main" id="{48DB9132-73E5-6BFE-8687-2837AFCB543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8" name="図 17">
            <a:extLst>
              <a:ext uri="{FF2B5EF4-FFF2-40B4-BE49-F238E27FC236}">
                <a16:creationId xmlns:a16="http://schemas.microsoft.com/office/drawing/2014/main" id="{2ADA1F0F-2751-949F-8181-9754B0B7AAB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19" name="図 18">
            <a:extLst>
              <a:ext uri="{FF2B5EF4-FFF2-40B4-BE49-F238E27FC236}">
                <a16:creationId xmlns:a16="http://schemas.microsoft.com/office/drawing/2014/main" id="{19312990-0E6A-3293-BA56-D8CD12DED56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0" name="図 19">
            <a:extLst>
              <a:ext uri="{FF2B5EF4-FFF2-40B4-BE49-F238E27FC236}">
                <a16:creationId xmlns:a16="http://schemas.microsoft.com/office/drawing/2014/main" id="{56D1A4B0-8289-6265-B3BB-5AE47BAC240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1" name="図 20">
            <a:extLst>
              <a:ext uri="{FF2B5EF4-FFF2-40B4-BE49-F238E27FC236}">
                <a16:creationId xmlns:a16="http://schemas.microsoft.com/office/drawing/2014/main" id="{F04D9372-AFF8-8A0F-A825-68BD1518819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2" name="図 21">
            <a:extLst>
              <a:ext uri="{FF2B5EF4-FFF2-40B4-BE49-F238E27FC236}">
                <a16:creationId xmlns:a16="http://schemas.microsoft.com/office/drawing/2014/main" id="{07299967-4104-D802-2646-2C3F413AE0C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3" name="図 22">
            <a:extLst>
              <a:ext uri="{FF2B5EF4-FFF2-40B4-BE49-F238E27FC236}">
                <a16:creationId xmlns:a16="http://schemas.microsoft.com/office/drawing/2014/main" id="{DB15173D-9B4A-6A50-A4E2-B736AA3DDFC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4" name="図 23">
            <a:extLst>
              <a:ext uri="{FF2B5EF4-FFF2-40B4-BE49-F238E27FC236}">
                <a16:creationId xmlns:a16="http://schemas.microsoft.com/office/drawing/2014/main" id="{D5D4B7DB-75A1-C5F1-9D78-C726A6E390B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5" name="図 24">
            <a:extLst>
              <a:ext uri="{FF2B5EF4-FFF2-40B4-BE49-F238E27FC236}">
                <a16:creationId xmlns:a16="http://schemas.microsoft.com/office/drawing/2014/main" id="{6F38EC13-1A95-6A21-72F4-B2BDDF8D2A3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6" name="直線矢印コネクタ 25">
            <a:extLst>
              <a:ext uri="{FF2B5EF4-FFF2-40B4-BE49-F238E27FC236}">
                <a16:creationId xmlns:a16="http://schemas.microsoft.com/office/drawing/2014/main" id="{E2E21D49-3B5F-E850-6B0B-6C0A25EBB7AC}"/>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178D2B2A-43F6-2AA4-45BB-289226B56F08}"/>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タイトル 2">
            <a:extLst>
              <a:ext uri="{FF2B5EF4-FFF2-40B4-BE49-F238E27FC236}">
                <a16:creationId xmlns:a16="http://schemas.microsoft.com/office/drawing/2014/main" id="{9AF330F6-7D5E-BB11-2F4D-37F9E5138CB4}"/>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29" name="直線コネクタ 28">
            <a:extLst>
              <a:ext uri="{FF2B5EF4-FFF2-40B4-BE49-F238E27FC236}">
                <a16:creationId xmlns:a16="http://schemas.microsoft.com/office/drawing/2014/main" id="{6E596C29-CF3F-A2DB-24FE-7A0073CB3A20}"/>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タイトル 2">
            <a:extLst>
              <a:ext uri="{FF2B5EF4-FFF2-40B4-BE49-F238E27FC236}">
                <a16:creationId xmlns:a16="http://schemas.microsoft.com/office/drawing/2014/main" id="{83ACE4E7-9A08-B4D0-8F1D-F9CA313C9854}"/>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1" name="直線矢印コネクタ 30">
            <a:extLst>
              <a:ext uri="{FF2B5EF4-FFF2-40B4-BE49-F238E27FC236}">
                <a16:creationId xmlns:a16="http://schemas.microsoft.com/office/drawing/2014/main" id="{371491A1-4B25-AD0D-838E-245E2855F543}"/>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EF27C50F-8611-5BE6-9A46-60564E19282B}"/>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タイトル 2">
            <a:extLst>
              <a:ext uri="{FF2B5EF4-FFF2-40B4-BE49-F238E27FC236}">
                <a16:creationId xmlns:a16="http://schemas.microsoft.com/office/drawing/2014/main" id="{5C3D2FB5-51AC-4DB6-B2B3-B6D19AAE7D3F}"/>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4" name="直線コネクタ 33">
            <a:extLst>
              <a:ext uri="{FF2B5EF4-FFF2-40B4-BE49-F238E27FC236}">
                <a16:creationId xmlns:a16="http://schemas.microsoft.com/office/drawing/2014/main" id="{799DFF00-5EAB-5CEE-7326-331711AAFB13}"/>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タイトル 2">
            <a:extLst>
              <a:ext uri="{FF2B5EF4-FFF2-40B4-BE49-F238E27FC236}">
                <a16:creationId xmlns:a16="http://schemas.microsoft.com/office/drawing/2014/main" id="{DADE9753-ABC4-B140-162E-5BBAA4A5DCAA}"/>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6" name="四角形: 角を丸くする 35">
            <a:extLst>
              <a:ext uri="{FF2B5EF4-FFF2-40B4-BE49-F238E27FC236}">
                <a16:creationId xmlns:a16="http://schemas.microsoft.com/office/drawing/2014/main" id="{F9F40D82-F323-AC3F-8A6C-2D1A9FAF1947}"/>
              </a:ext>
            </a:extLst>
          </p:cNvPr>
          <p:cNvSpPr/>
          <p:nvPr/>
        </p:nvSpPr>
        <p:spPr>
          <a:xfrm>
            <a:off x="1829570" y="877367"/>
            <a:ext cx="4228331"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四角形: 角を丸くする 36">
            <a:extLst>
              <a:ext uri="{FF2B5EF4-FFF2-40B4-BE49-F238E27FC236}">
                <a16:creationId xmlns:a16="http://schemas.microsoft.com/office/drawing/2014/main" id="{6D92A6A6-4227-2B51-D9A6-BDF2253FE6BF}"/>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台形 37">
            <a:extLst>
              <a:ext uri="{FF2B5EF4-FFF2-40B4-BE49-F238E27FC236}">
                <a16:creationId xmlns:a16="http://schemas.microsoft.com/office/drawing/2014/main" id="{2C1724AD-B619-D8A8-DB21-6FB6943972E0}"/>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39" name="図 38">
            <a:extLst>
              <a:ext uri="{FF2B5EF4-FFF2-40B4-BE49-F238E27FC236}">
                <a16:creationId xmlns:a16="http://schemas.microsoft.com/office/drawing/2014/main" id="{641CC488-D12A-53D7-17D1-CAF3AB04EEF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0" name="タイトル 2">
            <a:extLst>
              <a:ext uri="{FF2B5EF4-FFF2-40B4-BE49-F238E27FC236}">
                <a16:creationId xmlns:a16="http://schemas.microsoft.com/office/drawing/2014/main" id="{22623500-D7C6-9726-C6F0-239DF32B7247}"/>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1" name="台形 40">
            <a:extLst>
              <a:ext uri="{FF2B5EF4-FFF2-40B4-BE49-F238E27FC236}">
                <a16:creationId xmlns:a16="http://schemas.microsoft.com/office/drawing/2014/main" id="{6DBB9F5D-EA8D-53E5-917F-3F07C0CB7303}"/>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2" name="タイトル 2">
                <a:extLst>
                  <a:ext uri="{FF2B5EF4-FFF2-40B4-BE49-F238E27FC236}">
                    <a16:creationId xmlns:a16="http://schemas.microsoft.com/office/drawing/2014/main" id="{74DA7031-22E2-1EC3-122E-E3234AAE4175}"/>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2" name="タイトル 2">
                <a:extLst>
                  <a:ext uri="{FF2B5EF4-FFF2-40B4-BE49-F238E27FC236}">
                    <a16:creationId xmlns:a16="http://schemas.microsoft.com/office/drawing/2014/main" id="{74DA7031-22E2-1EC3-122E-E3234AAE4175}"/>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3" name="グラフィックス 42" descr="車 単色塗りつぶし">
            <a:extLst>
              <a:ext uri="{FF2B5EF4-FFF2-40B4-BE49-F238E27FC236}">
                <a16:creationId xmlns:a16="http://schemas.microsoft.com/office/drawing/2014/main" id="{88938B79-7460-1A24-363C-778EEF394F6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4" name="直線コネクタ 43">
            <a:extLst>
              <a:ext uri="{FF2B5EF4-FFF2-40B4-BE49-F238E27FC236}">
                <a16:creationId xmlns:a16="http://schemas.microsoft.com/office/drawing/2014/main" id="{2CADB052-51BE-CD97-3BC4-8007A4A6D494}"/>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5" name="四角形: 角を丸くする 44">
            <a:extLst>
              <a:ext uri="{FF2B5EF4-FFF2-40B4-BE49-F238E27FC236}">
                <a16:creationId xmlns:a16="http://schemas.microsoft.com/office/drawing/2014/main" id="{9FC3E826-0D0C-8E7D-DE39-062A11F85199}"/>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台形 45">
            <a:extLst>
              <a:ext uri="{FF2B5EF4-FFF2-40B4-BE49-F238E27FC236}">
                <a16:creationId xmlns:a16="http://schemas.microsoft.com/office/drawing/2014/main" id="{AEFBAEC9-0EE8-2D1B-6B25-382DC9540D13}"/>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7" name="図 46">
            <a:extLst>
              <a:ext uri="{FF2B5EF4-FFF2-40B4-BE49-F238E27FC236}">
                <a16:creationId xmlns:a16="http://schemas.microsoft.com/office/drawing/2014/main" id="{8F627638-FBEC-1FC0-BE65-50013F314449}"/>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48" name="タイトル 2">
            <a:extLst>
              <a:ext uri="{FF2B5EF4-FFF2-40B4-BE49-F238E27FC236}">
                <a16:creationId xmlns:a16="http://schemas.microsoft.com/office/drawing/2014/main" id="{8DDF5325-5A2E-B3CA-6D57-53A14CE5C7FB}"/>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9" name="台形 48">
            <a:extLst>
              <a:ext uri="{FF2B5EF4-FFF2-40B4-BE49-F238E27FC236}">
                <a16:creationId xmlns:a16="http://schemas.microsoft.com/office/drawing/2014/main" id="{ECA98787-0150-141F-6A28-C72B23F9EE75}"/>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0" name="タイトル 2">
                <a:extLst>
                  <a:ext uri="{FF2B5EF4-FFF2-40B4-BE49-F238E27FC236}">
                    <a16:creationId xmlns:a16="http://schemas.microsoft.com/office/drawing/2014/main" id="{0BDE8250-16E7-5236-955B-87A0D41D7EA3}"/>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50" name="タイトル 2">
                <a:extLst>
                  <a:ext uri="{FF2B5EF4-FFF2-40B4-BE49-F238E27FC236}">
                    <a16:creationId xmlns:a16="http://schemas.microsoft.com/office/drawing/2014/main" id="{0BDE8250-16E7-5236-955B-87A0D41D7EA3}"/>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5"/>
                <a:stretch>
                  <a:fillRect/>
                </a:stretch>
              </a:blipFill>
            </p:spPr>
            <p:txBody>
              <a:bodyPr/>
              <a:lstStyle/>
              <a:p>
                <a:r>
                  <a:rPr lang="en-US">
                    <a:noFill/>
                  </a:rPr>
                  <a:t> </a:t>
                </a:r>
              </a:p>
            </p:txBody>
          </p:sp>
        </mc:Fallback>
      </mc:AlternateContent>
      <p:pic>
        <p:nvPicPr>
          <p:cNvPr id="51" name="グラフィックス 50" descr="車 単色塗りつぶし">
            <a:extLst>
              <a:ext uri="{FF2B5EF4-FFF2-40B4-BE49-F238E27FC236}">
                <a16:creationId xmlns:a16="http://schemas.microsoft.com/office/drawing/2014/main" id="{B051392F-26A4-8A9F-0927-F374474D8FC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2" name="直線コネクタ 51">
            <a:extLst>
              <a:ext uri="{FF2B5EF4-FFF2-40B4-BE49-F238E27FC236}">
                <a16:creationId xmlns:a16="http://schemas.microsoft.com/office/drawing/2014/main" id="{BEF89FC7-13A8-3821-DF4E-6AC17E9A8AAC}"/>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矢印コネクタ 52">
            <a:extLst>
              <a:ext uri="{FF2B5EF4-FFF2-40B4-BE49-F238E27FC236}">
                <a16:creationId xmlns:a16="http://schemas.microsoft.com/office/drawing/2014/main" id="{E73B5F2D-97DD-F85B-7EBF-F8E86114FED8}"/>
              </a:ext>
            </a:extLst>
          </p:cNvPr>
          <p:cNvCxnSpPr>
            <a:cxnSpLocks/>
          </p:cNvCxnSpPr>
          <p:nvPr/>
        </p:nvCxnSpPr>
        <p:spPr>
          <a:xfrm rot="16200000" flipV="1">
            <a:off x="6040866" y="2943318"/>
            <a:ext cx="629361" cy="7515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4" name="台形 53">
            <a:extLst>
              <a:ext uri="{FF2B5EF4-FFF2-40B4-BE49-F238E27FC236}">
                <a16:creationId xmlns:a16="http://schemas.microsoft.com/office/drawing/2014/main" id="{300F486A-5048-6C98-D596-424364375A3C}"/>
              </a:ext>
            </a:extLst>
          </p:cNvPr>
          <p:cNvSpPr/>
          <p:nvPr/>
        </p:nvSpPr>
        <p:spPr>
          <a:xfrm rot="10800000">
            <a:off x="2544639" y="1076520"/>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55" name="台形 54">
            <a:extLst>
              <a:ext uri="{FF2B5EF4-FFF2-40B4-BE49-F238E27FC236}">
                <a16:creationId xmlns:a16="http://schemas.microsoft.com/office/drawing/2014/main" id="{A1C87F64-0652-DB0C-D0DD-59FDCD2046CA}"/>
              </a:ext>
            </a:extLst>
          </p:cNvPr>
          <p:cNvSpPr/>
          <p:nvPr/>
        </p:nvSpPr>
        <p:spPr>
          <a:xfrm>
            <a:off x="2544639" y="1351359"/>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56" name="台形 55">
            <a:extLst>
              <a:ext uri="{FF2B5EF4-FFF2-40B4-BE49-F238E27FC236}">
                <a16:creationId xmlns:a16="http://schemas.microsoft.com/office/drawing/2014/main" id="{EACCBFB6-6371-20B8-A654-F3506C808A7C}"/>
              </a:ext>
            </a:extLst>
          </p:cNvPr>
          <p:cNvSpPr/>
          <p:nvPr/>
        </p:nvSpPr>
        <p:spPr>
          <a:xfrm rot="10800000">
            <a:off x="2535638" y="2242558"/>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57" name="台形 56">
            <a:extLst>
              <a:ext uri="{FF2B5EF4-FFF2-40B4-BE49-F238E27FC236}">
                <a16:creationId xmlns:a16="http://schemas.microsoft.com/office/drawing/2014/main" id="{8300964A-E7E4-7AD4-FCB4-19F6BD1E9EE4}"/>
              </a:ext>
            </a:extLst>
          </p:cNvPr>
          <p:cNvSpPr/>
          <p:nvPr/>
        </p:nvSpPr>
        <p:spPr>
          <a:xfrm>
            <a:off x="2535638" y="2517397"/>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55C584B0-C8F6-EC44-256D-E8AD90B8549B}"/>
                  </a:ext>
                </a:extLst>
              </p:cNvPr>
              <p:cNvSpPr txBox="1"/>
              <p:nvPr/>
            </p:nvSpPr>
            <p:spPr>
              <a:xfrm>
                <a:off x="2170063" y="3390528"/>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smtClean="0">
                          <a:solidFill>
                            <a:schemeClr val="tx1"/>
                          </a:solidFill>
                          <a:latin typeface="Cambria Math" panose="02040503050406030204" pitchFamily="18" charset="0"/>
                        </a:rPr>
                        <m:t>Δ</m:t>
                      </m:r>
                      <m:sSub>
                        <m:sSubPr>
                          <m:ctrlPr>
                            <a:rPr lang="en-US" altLang="ja-JP" sz="2400" b="0" i="1" smtClean="0">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𝑊</m:t>
                          </m:r>
                        </m:e>
                        <m:sub>
                          <m:r>
                            <a:rPr lang="en-US" altLang="ja-JP" sz="2400" b="0" i="1" smtClean="0">
                              <a:solidFill>
                                <a:schemeClr val="tx1"/>
                              </a:solidFill>
                              <a:latin typeface="Cambria Math" panose="02040503050406030204" pitchFamily="18" charset="0"/>
                            </a:rPr>
                            <m:t>1</m:t>
                          </m:r>
                        </m:sub>
                      </m:sSub>
                    </m:oMath>
                  </m:oMathPara>
                </a14:m>
                <a:endParaRPr lang="ja-JP" altLang="en-US" sz="2400">
                  <a:solidFill>
                    <a:schemeClr val="tx1"/>
                  </a:solidFill>
                </a:endParaRPr>
              </a:p>
            </p:txBody>
          </p:sp>
        </mc:Choice>
        <mc:Fallback xmlns="">
          <p:sp>
            <p:nvSpPr>
              <p:cNvPr id="58" name="テキスト ボックス 57">
                <a:extLst>
                  <a:ext uri="{FF2B5EF4-FFF2-40B4-BE49-F238E27FC236}">
                    <a16:creationId xmlns:a16="http://schemas.microsoft.com/office/drawing/2014/main" id="{55C584B0-C8F6-EC44-256D-E8AD90B8549B}"/>
                  </a:ext>
                </a:extLst>
              </p:cNvPr>
              <p:cNvSpPr txBox="1">
                <a:spLocks noRot="1" noChangeAspect="1" noMove="1" noResize="1" noEditPoints="1" noAdjustHandles="1" noChangeArrowheads="1" noChangeShapeType="1" noTextEdit="1"/>
              </p:cNvSpPr>
              <p:nvPr/>
            </p:nvSpPr>
            <p:spPr>
              <a:xfrm>
                <a:off x="2170063" y="3390528"/>
                <a:ext cx="838729" cy="461665"/>
              </a:xfrm>
              <a:prstGeom prst="rect">
                <a:avLst/>
              </a:prstGeom>
              <a:blipFill>
                <a:blip r:embed="rId16"/>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テキスト ボックス 58">
                <a:extLst>
                  <a:ext uri="{FF2B5EF4-FFF2-40B4-BE49-F238E27FC236}">
                    <a16:creationId xmlns:a16="http://schemas.microsoft.com/office/drawing/2014/main" id="{25B4315D-5537-6095-FE43-A8FE3A476EA3}"/>
                  </a:ext>
                </a:extLst>
              </p:cNvPr>
              <p:cNvSpPr txBox="1"/>
              <p:nvPr/>
            </p:nvSpPr>
            <p:spPr>
              <a:xfrm>
                <a:off x="1805759" y="2266463"/>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b>
                        <m:sSubPr>
                          <m:ctrlPr>
                            <a:rPr lang="en-US" altLang="ja-JP" b="0" i="1" smtClean="0">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𝑊</m:t>
                          </m:r>
                        </m:e>
                        <m:sub>
                          <m:r>
                            <a:rPr lang="en-US" altLang="ja-JP" b="0" i="1" smtClean="0">
                              <a:solidFill>
                                <a:schemeClr val="tx1"/>
                              </a:solidFill>
                              <a:latin typeface="Cambria Math" panose="02040503050406030204" pitchFamily="18" charset="0"/>
                            </a:rPr>
                            <m:t>1</m:t>
                          </m:r>
                        </m:sub>
                      </m:sSub>
                    </m:oMath>
                  </m:oMathPara>
                </a14:m>
                <a:endParaRPr lang="ja-JP" altLang="en-US" dirty="0">
                  <a:solidFill>
                    <a:schemeClr val="tx1"/>
                  </a:solidFill>
                </a:endParaRPr>
              </a:p>
            </p:txBody>
          </p:sp>
        </mc:Choice>
        <mc:Fallback xmlns="">
          <p:sp>
            <p:nvSpPr>
              <p:cNvPr id="59" name="テキスト ボックス 58">
                <a:extLst>
                  <a:ext uri="{FF2B5EF4-FFF2-40B4-BE49-F238E27FC236}">
                    <a16:creationId xmlns:a16="http://schemas.microsoft.com/office/drawing/2014/main" id="{25B4315D-5537-6095-FE43-A8FE3A476EA3}"/>
                  </a:ext>
                </a:extLst>
              </p:cNvPr>
              <p:cNvSpPr txBox="1">
                <a:spLocks noRot="1" noChangeAspect="1" noMove="1" noResize="1" noEditPoints="1" noAdjustHandles="1" noChangeArrowheads="1" noChangeShapeType="1" noTextEdit="1"/>
              </p:cNvSpPr>
              <p:nvPr/>
            </p:nvSpPr>
            <p:spPr>
              <a:xfrm>
                <a:off x="1805759" y="2266463"/>
                <a:ext cx="838729" cy="369332"/>
              </a:xfrm>
              <a:prstGeom prst="rect">
                <a:avLst/>
              </a:prstGeom>
              <a:blipFill>
                <a:blip r:embed="rId17"/>
                <a:stretch>
                  <a:fillRect/>
                </a:stretch>
              </a:blipFill>
            </p:spPr>
            <p:txBody>
              <a:bodyPr/>
              <a:lstStyle/>
              <a:p>
                <a:r>
                  <a:rPr lang="ja-JP" altLang="en-US">
                    <a:noFill/>
                  </a:rPr>
                  <a:t> </a:t>
                </a:r>
              </a:p>
            </p:txBody>
          </p:sp>
        </mc:Fallback>
      </mc:AlternateContent>
      <p:sp>
        <p:nvSpPr>
          <p:cNvPr id="60" name="矢印: 右 59">
            <a:extLst>
              <a:ext uri="{FF2B5EF4-FFF2-40B4-BE49-F238E27FC236}">
                <a16:creationId xmlns:a16="http://schemas.microsoft.com/office/drawing/2014/main" id="{1DF13114-4494-623D-7F3E-E44651657B1B}"/>
              </a:ext>
            </a:extLst>
          </p:cNvPr>
          <p:cNvSpPr/>
          <p:nvPr/>
        </p:nvSpPr>
        <p:spPr>
          <a:xfrm rot="19283956">
            <a:off x="3111127" y="2187382"/>
            <a:ext cx="634415" cy="298438"/>
          </a:xfrm>
          <a:prstGeom prst="rightArrow">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右 60">
            <a:extLst>
              <a:ext uri="{FF2B5EF4-FFF2-40B4-BE49-F238E27FC236}">
                <a16:creationId xmlns:a16="http://schemas.microsoft.com/office/drawing/2014/main" id="{2770277D-472A-4DE5-A690-0C34F1E9C43E}"/>
              </a:ext>
            </a:extLst>
          </p:cNvPr>
          <p:cNvSpPr/>
          <p:nvPr/>
        </p:nvSpPr>
        <p:spPr>
          <a:xfrm rot="2825624">
            <a:off x="3087662" y="1304828"/>
            <a:ext cx="634415" cy="298438"/>
          </a:xfrm>
          <a:prstGeom prst="rightArrow">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台形 61">
            <a:extLst>
              <a:ext uri="{FF2B5EF4-FFF2-40B4-BE49-F238E27FC236}">
                <a16:creationId xmlns:a16="http://schemas.microsoft.com/office/drawing/2014/main" id="{56D018BA-9517-CF06-5EE7-39F4B9C7674D}"/>
              </a:ext>
            </a:extLst>
          </p:cNvPr>
          <p:cNvSpPr/>
          <p:nvPr/>
        </p:nvSpPr>
        <p:spPr>
          <a:xfrm rot="10800000">
            <a:off x="3846152" y="1628340"/>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3" name="台形 62">
            <a:extLst>
              <a:ext uri="{FF2B5EF4-FFF2-40B4-BE49-F238E27FC236}">
                <a16:creationId xmlns:a16="http://schemas.microsoft.com/office/drawing/2014/main" id="{76DBCF82-F23A-AA4D-D415-1B5C67E19852}"/>
              </a:ext>
            </a:extLst>
          </p:cNvPr>
          <p:cNvSpPr/>
          <p:nvPr/>
        </p:nvSpPr>
        <p:spPr>
          <a:xfrm>
            <a:off x="3846152" y="1903179"/>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4" name="矢印: 右 63">
            <a:extLst>
              <a:ext uri="{FF2B5EF4-FFF2-40B4-BE49-F238E27FC236}">
                <a16:creationId xmlns:a16="http://schemas.microsoft.com/office/drawing/2014/main" id="{C709453D-927A-4445-A6F7-9EEB19988609}"/>
              </a:ext>
            </a:extLst>
          </p:cNvPr>
          <p:cNvSpPr/>
          <p:nvPr/>
        </p:nvSpPr>
        <p:spPr>
          <a:xfrm>
            <a:off x="4366063" y="1683332"/>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吹き出し: 角を丸めた四角形 64">
            <a:extLst>
              <a:ext uri="{FF2B5EF4-FFF2-40B4-BE49-F238E27FC236}">
                <a16:creationId xmlns:a16="http://schemas.microsoft.com/office/drawing/2014/main" id="{B55BDC83-D27D-8CA1-C94D-5138CA6B823E}"/>
              </a:ext>
            </a:extLst>
          </p:cNvPr>
          <p:cNvSpPr/>
          <p:nvPr/>
        </p:nvSpPr>
        <p:spPr>
          <a:xfrm>
            <a:off x="3677311" y="2387119"/>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a:solidFill>
                  <a:schemeClr val="tx1"/>
                </a:solidFill>
              </a:rPr>
              <a:t>統合</a:t>
            </a:r>
            <a:endParaRPr lang="en-US" altLang="ja-JP">
              <a:solidFill>
                <a:schemeClr val="tx1"/>
              </a:solidFill>
            </a:endParaRPr>
          </a:p>
        </p:txBody>
      </p:sp>
      <p:pic>
        <p:nvPicPr>
          <p:cNvPr id="66" name="図 65">
            <a:extLst>
              <a:ext uri="{FF2B5EF4-FFF2-40B4-BE49-F238E27FC236}">
                <a16:creationId xmlns:a16="http://schemas.microsoft.com/office/drawing/2014/main" id="{94DB3CB1-76CB-4CE5-F734-AB0F80D75F5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031421" y="1384601"/>
            <a:ext cx="561592" cy="564162"/>
          </a:xfrm>
          <a:prstGeom prst="rect">
            <a:avLst/>
          </a:prstGeom>
        </p:spPr>
      </p:pic>
      <p:sp>
        <p:nvSpPr>
          <p:cNvPr id="67" name="タイトル 2">
            <a:extLst>
              <a:ext uri="{FF2B5EF4-FFF2-40B4-BE49-F238E27FC236}">
                <a16:creationId xmlns:a16="http://schemas.microsoft.com/office/drawing/2014/main" id="{79DFBED9-F4C5-ECAB-2005-77F97C38FF3E}"/>
              </a:ext>
            </a:extLst>
          </p:cNvPr>
          <p:cNvSpPr txBox="1">
            <a:spLocks/>
          </p:cNvSpPr>
          <p:nvPr/>
        </p:nvSpPr>
        <p:spPr>
          <a:xfrm>
            <a:off x="4761703" y="2017729"/>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mc:AlternateContent xmlns:mc="http://schemas.openxmlformats.org/markup-compatibility/2006" xmlns:a14="http://schemas.microsoft.com/office/drawing/2010/main">
        <mc:Choice Requires="a14">
          <p:sp>
            <p:nvSpPr>
              <p:cNvPr id="68" name="テキスト ボックス 67">
                <a:extLst>
                  <a:ext uri="{FF2B5EF4-FFF2-40B4-BE49-F238E27FC236}">
                    <a16:creationId xmlns:a16="http://schemas.microsoft.com/office/drawing/2014/main" id="{6544C0FE-88D0-8A20-9912-67002AA3F99E}"/>
                  </a:ext>
                </a:extLst>
              </p:cNvPr>
              <p:cNvSpPr txBox="1"/>
              <p:nvPr/>
            </p:nvSpPr>
            <p:spPr>
              <a:xfrm>
                <a:off x="1782603" y="1117147"/>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b>
                        <m:sSubPr>
                          <m:ctrlPr>
                            <a:rPr lang="en-US" altLang="ja-JP" b="0" i="1" smtClean="0">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𝑊</m:t>
                          </m:r>
                        </m:e>
                        <m:sub>
                          <m:r>
                            <a:rPr lang="en-US" altLang="ja-JP" b="0" i="1" smtClean="0">
                              <a:solidFill>
                                <a:schemeClr val="tx1"/>
                              </a:solidFill>
                              <a:latin typeface="Cambria Math" panose="02040503050406030204" pitchFamily="18" charset="0"/>
                            </a:rPr>
                            <m:t>2</m:t>
                          </m:r>
                        </m:sub>
                      </m:sSub>
                    </m:oMath>
                  </m:oMathPara>
                </a14:m>
                <a:endParaRPr lang="ja-JP" altLang="en-US" dirty="0">
                  <a:solidFill>
                    <a:schemeClr val="tx1"/>
                  </a:solidFill>
                </a:endParaRPr>
              </a:p>
            </p:txBody>
          </p:sp>
        </mc:Choice>
        <mc:Fallback xmlns="">
          <p:sp>
            <p:nvSpPr>
              <p:cNvPr id="68" name="テキスト ボックス 67">
                <a:extLst>
                  <a:ext uri="{FF2B5EF4-FFF2-40B4-BE49-F238E27FC236}">
                    <a16:creationId xmlns:a16="http://schemas.microsoft.com/office/drawing/2014/main" id="{6544C0FE-88D0-8A20-9912-67002AA3F99E}"/>
                  </a:ext>
                </a:extLst>
              </p:cNvPr>
              <p:cNvSpPr txBox="1">
                <a:spLocks noRot="1" noChangeAspect="1" noMove="1" noResize="1" noEditPoints="1" noAdjustHandles="1" noChangeArrowheads="1" noChangeShapeType="1" noTextEdit="1"/>
              </p:cNvSpPr>
              <p:nvPr/>
            </p:nvSpPr>
            <p:spPr>
              <a:xfrm>
                <a:off x="1782603" y="1117147"/>
                <a:ext cx="838729" cy="369332"/>
              </a:xfrm>
              <a:prstGeom prst="rect">
                <a:avLst/>
              </a:prstGeom>
              <a:blipFill>
                <a:blip r:embed="rId19"/>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9" name="テキスト ボックス 68">
                <a:extLst>
                  <a:ext uri="{FF2B5EF4-FFF2-40B4-BE49-F238E27FC236}">
                    <a16:creationId xmlns:a16="http://schemas.microsoft.com/office/drawing/2014/main" id="{8F9ABEE4-526C-CE91-27FB-4A45A4799299}"/>
                  </a:ext>
                </a:extLst>
              </p:cNvPr>
              <p:cNvSpPr txBox="1"/>
              <p:nvPr/>
            </p:nvSpPr>
            <p:spPr>
              <a:xfrm>
                <a:off x="5514462" y="3244334"/>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smtClean="0">
                          <a:solidFill>
                            <a:schemeClr val="tx1"/>
                          </a:solidFill>
                          <a:latin typeface="Cambria Math" panose="02040503050406030204" pitchFamily="18" charset="0"/>
                        </a:rPr>
                        <m:t>Δ</m:t>
                      </m:r>
                      <m:sSub>
                        <m:sSubPr>
                          <m:ctrlPr>
                            <a:rPr lang="en-US" altLang="ja-JP" sz="2400" b="0" i="1" smtClean="0">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𝑊</m:t>
                          </m:r>
                        </m:e>
                        <m:sub>
                          <m:r>
                            <a:rPr lang="en-US" altLang="ja-JP" sz="2400" b="0" i="1" smtClean="0">
                              <a:solidFill>
                                <a:schemeClr val="tx1"/>
                              </a:solidFill>
                              <a:latin typeface="Cambria Math" panose="02040503050406030204" pitchFamily="18" charset="0"/>
                            </a:rPr>
                            <m:t>2</m:t>
                          </m:r>
                        </m:sub>
                      </m:sSub>
                    </m:oMath>
                  </m:oMathPara>
                </a14:m>
                <a:endParaRPr lang="ja-JP" altLang="en-US" sz="2400">
                  <a:solidFill>
                    <a:schemeClr val="tx1"/>
                  </a:solidFill>
                </a:endParaRPr>
              </a:p>
            </p:txBody>
          </p:sp>
        </mc:Choice>
        <mc:Fallback xmlns="">
          <p:sp>
            <p:nvSpPr>
              <p:cNvPr id="69" name="テキスト ボックス 68">
                <a:extLst>
                  <a:ext uri="{FF2B5EF4-FFF2-40B4-BE49-F238E27FC236}">
                    <a16:creationId xmlns:a16="http://schemas.microsoft.com/office/drawing/2014/main" id="{8F9ABEE4-526C-CE91-27FB-4A45A4799299}"/>
                  </a:ext>
                </a:extLst>
              </p:cNvPr>
              <p:cNvSpPr txBox="1">
                <a:spLocks noRot="1" noChangeAspect="1" noMove="1" noResize="1" noEditPoints="1" noAdjustHandles="1" noChangeArrowheads="1" noChangeShapeType="1" noTextEdit="1"/>
              </p:cNvSpPr>
              <p:nvPr/>
            </p:nvSpPr>
            <p:spPr>
              <a:xfrm>
                <a:off x="5514462" y="3244334"/>
                <a:ext cx="838729" cy="461665"/>
              </a:xfrm>
              <a:prstGeom prst="rect">
                <a:avLst/>
              </a:prstGeom>
              <a:blipFill>
                <a:blip r:embed="rId20"/>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テキスト ボックス 69">
                <a:extLst>
                  <a:ext uri="{FF2B5EF4-FFF2-40B4-BE49-F238E27FC236}">
                    <a16:creationId xmlns:a16="http://schemas.microsoft.com/office/drawing/2014/main" id="{5777584D-7F61-3047-5570-3D55BB4A8A05}"/>
                  </a:ext>
                </a:extLst>
              </p:cNvPr>
              <p:cNvSpPr txBox="1"/>
              <p:nvPr/>
            </p:nvSpPr>
            <p:spPr>
              <a:xfrm>
                <a:off x="3693215" y="1221286"/>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p>
                        <m:sSupPr>
                          <m:ctrlPr>
                            <a:rPr lang="en-US" altLang="ja-JP" b="0" i="1" smtClean="0">
                              <a:solidFill>
                                <a:schemeClr val="tx1"/>
                              </a:solidFill>
                              <a:latin typeface="Cambria Math" panose="02040503050406030204" pitchFamily="18" charset="0"/>
                            </a:rPr>
                          </m:ctrlPr>
                        </m:sSupPr>
                        <m:e>
                          <m:r>
                            <a:rPr lang="en-US" altLang="ja-JP" b="0" i="1" smtClean="0">
                              <a:solidFill>
                                <a:schemeClr val="tx1"/>
                              </a:solidFill>
                              <a:latin typeface="Cambria Math" panose="02040503050406030204" pitchFamily="18" charset="0"/>
                            </a:rPr>
                            <m:t>𝑊</m:t>
                          </m:r>
                        </m:e>
                        <m:sup>
                          <m:r>
                            <a:rPr lang="en-US" altLang="ja-JP" b="0" i="1" smtClean="0">
                              <a:solidFill>
                                <a:schemeClr val="tx1"/>
                              </a:solidFill>
                              <a:latin typeface="Cambria Math" panose="02040503050406030204" pitchFamily="18" charset="0"/>
                            </a:rPr>
                            <m:t>′</m:t>
                          </m:r>
                        </m:sup>
                      </m:sSup>
                    </m:oMath>
                  </m:oMathPara>
                </a14:m>
                <a:endParaRPr lang="ja-JP" altLang="en-US" i="1">
                  <a:solidFill>
                    <a:schemeClr val="tx1"/>
                  </a:solidFill>
                </a:endParaRPr>
              </a:p>
            </p:txBody>
          </p:sp>
        </mc:Choice>
        <mc:Fallback xmlns="">
          <p:sp>
            <p:nvSpPr>
              <p:cNvPr id="70" name="テキスト ボックス 69">
                <a:extLst>
                  <a:ext uri="{FF2B5EF4-FFF2-40B4-BE49-F238E27FC236}">
                    <a16:creationId xmlns:a16="http://schemas.microsoft.com/office/drawing/2014/main" id="{5777584D-7F61-3047-5570-3D55BB4A8A05}"/>
                  </a:ext>
                </a:extLst>
              </p:cNvPr>
              <p:cNvSpPr txBox="1">
                <a:spLocks noRot="1" noChangeAspect="1" noMove="1" noResize="1" noEditPoints="1" noAdjustHandles="1" noChangeArrowheads="1" noChangeShapeType="1" noTextEdit="1"/>
              </p:cNvSpPr>
              <p:nvPr/>
            </p:nvSpPr>
            <p:spPr>
              <a:xfrm>
                <a:off x="3693215" y="1221286"/>
                <a:ext cx="838729" cy="369332"/>
              </a:xfrm>
              <a:prstGeom prst="rect">
                <a:avLst/>
              </a:prstGeom>
              <a:blipFill>
                <a:blip r:embed="rId21"/>
                <a:stretch>
                  <a:fillRect/>
                </a:stretch>
              </a:blipFill>
            </p:spPr>
            <p:txBody>
              <a:bodyPr/>
              <a:lstStyle/>
              <a:p>
                <a:r>
                  <a:rPr lang="en-US">
                    <a:noFill/>
                  </a:rPr>
                  <a:t> </a:t>
                </a:r>
              </a:p>
            </p:txBody>
          </p:sp>
        </mc:Fallback>
      </mc:AlternateContent>
      <p:sp>
        <p:nvSpPr>
          <p:cNvPr id="71" name="正方形/長方形 70">
            <a:extLst>
              <a:ext uri="{FF2B5EF4-FFF2-40B4-BE49-F238E27FC236}">
                <a16:creationId xmlns:a16="http://schemas.microsoft.com/office/drawing/2014/main" id="{CCC099AF-D4D4-DA49-3131-CB2AFBC762C6}"/>
              </a:ext>
            </a:extLst>
          </p:cNvPr>
          <p:cNvSpPr/>
          <p:nvPr/>
        </p:nvSpPr>
        <p:spPr>
          <a:xfrm>
            <a:off x="6139768" y="980675"/>
            <a:ext cx="3004232" cy="175432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kumimoji="1" lang="en-US" altLang="ja-JP" b="1" err="1">
                <a:solidFill>
                  <a:schemeClr val="tx1"/>
                </a:solidFill>
              </a:rPr>
              <a:t>FedAvg</a:t>
            </a:r>
            <a:r>
              <a:rPr kumimoji="1" lang="en-US" altLang="ja-JP" b="1">
                <a:solidFill>
                  <a:schemeClr val="tx1"/>
                </a:solidFill>
              </a:rPr>
              <a:t> </a:t>
            </a:r>
            <a:r>
              <a:rPr kumimoji="1" lang="en-US" altLang="ja-JP">
                <a:solidFill>
                  <a:schemeClr val="tx1"/>
                </a:solidFill>
              </a:rPr>
              <a:t>: </a:t>
            </a:r>
            <a:r>
              <a:rPr kumimoji="1" lang="ja-JP" altLang="en-US">
                <a:solidFill>
                  <a:schemeClr val="tx1"/>
                </a:solidFill>
              </a:rPr>
              <a:t>各クライアントの更新をデータ数で加重平均</a:t>
            </a:r>
            <a:endParaRPr kumimoji="1" lang="en-US" altLang="ja-JP">
              <a:solidFill>
                <a:schemeClr val="tx1"/>
              </a:solidFill>
            </a:endParaRPr>
          </a:p>
          <a:p>
            <a:pPr algn="ctr"/>
            <a:r>
              <a:rPr lang="en-US" altLang="ja-JP" b="1" err="1">
                <a:solidFill>
                  <a:schemeClr val="tx1"/>
                </a:solidFill>
              </a:rPr>
              <a:t>fedProx</a:t>
            </a:r>
            <a:r>
              <a:rPr lang="en-US" altLang="ja-JP" b="1">
                <a:solidFill>
                  <a:schemeClr val="tx1"/>
                </a:solidFill>
              </a:rPr>
              <a:t> </a:t>
            </a:r>
            <a:r>
              <a:rPr lang="en-US" altLang="ja-JP">
                <a:solidFill>
                  <a:schemeClr val="tx1"/>
                </a:solidFill>
              </a:rPr>
              <a:t>: </a:t>
            </a:r>
            <a:r>
              <a:rPr lang="ja-JP" altLang="en-US">
                <a:solidFill>
                  <a:schemeClr val="tx1"/>
                </a:solidFill>
              </a:rPr>
              <a:t>データ不均一性（</a:t>
            </a:r>
            <a:r>
              <a:rPr lang="en-US" altLang="ja-JP">
                <a:solidFill>
                  <a:schemeClr val="tx1"/>
                </a:solidFill>
              </a:rPr>
              <a:t>Non-IID</a:t>
            </a:r>
            <a:r>
              <a:rPr lang="ja-JP" altLang="en-US">
                <a:solidFill>
                  <a:schemeClr val="tx1"/>
                </a:solidFill>
              </a:rPr>
              <a:t>）や遅延クライアントへの耐性を高めた手法。</a:t>
            </a:r>
            <a:endParaRPr kumimoji="1" lang="ja-JP" altLang="en-US">
              <a:solidFill>
                <a:schemeClr val="tx1"/>
              </a:solidFill>
            </a:endParaRPr>
          </a:p>
        </p:txBody>
      </p:sp>
    </p:spTree>
    <p:extLst>
      <p:ext uri="{BB962C8B-B14F-4D97-AF65-F5344CB8AC3E}">
        <p14:creationId xmlns:p14="http://schemas.microsoft.com/office/powerpoint/2010/main" val="2834816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BE974F4-E82D-C447-B74A-AE5BDA075538}"/>
              </a:ext>
            </a:extLst>
          </p:cNvPr>
          <p:cNvSpPr>
            <a:spLocks noGrp="1"/>
          </p:cNvSpPr>
          <p:nvPr>
            <p:ph type="title"/>
          </p:nvPr>
        </p:nvSpPr>
        <p:spPr/>
        <p:txBody>
          <a:bodyPr>
            <a:normAutofit/>
          </a:bodyPr>
          <a:lstStyle/>
          <a:p>
            <a:r>
              <a:rPr lang="en-US" altLang="ja-JP"/>
              <a:t>7.</a:t>
            </a:r>
            <a:r>
              <a:rPr lang="ja-JP" altLang="ja-JP"/>
              <a:t>次ラウンドへのループ</a:t>
            </a:r>
            <a:r>
              <a:rPr lang="en-US" altLang="ja-JP"/>
              <a:t>(</a:t>
            </a:r>
            <a:r>
              <a:rPr lang="ja-JP" altLang="en-US"/>
              <a:t>再配布</a:t>
            </a:r>
            <a:r>
              <a:rPr lang="en-US" altLang="ja-JP"/>
              <a:t>)</a:t>
            </a:r>
            <a:endParaRPr kumimoji="1" lang="ja-JP" altLang="en-US"/>
          </a:p>
        </p:txBody>
      </p:sp>
      <p:sp>
        <p:nvSpPr>
          <p:cNvPr id="4" name="スライド番号プレースホルダー 3">
            <a:extLst>
              <a:ext uri="{FF2B5EF4-FFF2-40B4-BE49-F238E27FC236}">
                <a16:creationId xmlns:a16="http://schemas.microsoft.com/office/drawing/2014/main" id="{5115697F-D976-7E32-A0E9-4F785F517F21}"/>
              </a:ext>
            </a:extLst>
          </p:cNvPr>
          <p:cNvSpPr>
            <a:spLocks noGrp="1"/>
          </p:cNvSpPr>
          <p:nvPr>
            <p:ph type="sldNum" sz="quarter" idx="4"/>
          </p:nvPr>
        </p:nvSpPr>
        <p:spPr/>
        <p:txBody>
          <a:bodyPr/>
          <a:lstStyle/>
          <a:p>
            <a:fld id="{C088C981-6885-4100-82A1-DE7074EC4480}" type="slidenum">
              <a:rPr lang="ja-JP" altLang="en-US" smtClean="0"/>
              <a:t>14</a:t>
            </a:fld>
            <a:endParaRPr lang="ja-JP" altLang="en-US"/>
          </a:p>
        </p:txBody>
      </p:sp>
      <p:cxnSp>
        <p:nvCxnSpPr>
          <p:cNvPr id="6" name="直線矢印コネクタ 5">
            <a:extLst>
              <a:ext uri="{FF2B5EF4-FFF2-40B4-BE49-F238E27FC236}">
                <a16:creationId xmlns:a16="http://schemas.microsoft.com/office/drawing/2014/main" id="{59A2A49D-EF7B-E46E-668B-84064CE12568}"/>
              </a:ext>
            </a:extLst>
          </p:cNvPr>
          <p:cNvCxnSpPr>
            <a:cxnSpLocks/>
          </p:cNvCxnSpPr>
          <p:nvPr/>
        </p:nvCxnSpPr>
        <p:spPr>
          <a:xfrm rot="10800000" flipV="1">
            <a:off x="1817582" y="2943506"/>
            <a:ext cx="629361" cy="751553"/>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07D055F9-EB1B-4CF5-FCF6-89FD7436D418}"/>
              </a:ext>
            </a:extLst>
          </p:cNvPr>
          <p:cNvCxnSpPr>
            <a:cxnSpLocks/>
          </p:cNvCxnSpPr>
          <p:nvPr/>
        </p:nvCxnSpPr>
        <p:spPr>
          <a:xfrm rot="5400000" flipV="1">
            <a:off x="6175473" y="2857943"/>
            <a:ext cx="629361" cy="751553"/>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D920A30C-DA4B-4F50-6CC4-D6DF13DD5621}"/>
                  </a:ext>
                </a:extLst>
              </p:cNvPr>
              <p:cNvSpPr txBox="1"/>
              <p:nvPr/>
            </p:nvSpPr>
            <p:spPr>
              <a:xfrm>
                <a:off x="1440626" y="2980022"/>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smtClean="0">
                          <a:solidFill>
                            <a:srgbClr val="FF0000"/>
                          </a:solidFill>
                          <a:latin typeface="Cambria Math" panose="02040503050406030204" pitchFamily="18" charset="0"/>
                        </a:rPr>
                        <m:t>Δ</m:t>
                      </m:r>
                      <m:sSubSup>
                        <m:sSubSupPr>
                          <m:ctrlPr>
                            <a:rPr lang="en-US" altLang="ja-JP" sz="2400" b="0" i="1" smtClean="0">
                              <a:solidFill>
                                <a:srgbClr val="FF0000"/>
                              </a:solidFill>
                              <a:latin typeface="Cambria Math" panose="02040503050406030204" pitchFamily="18" charset="0"/>
                            </a:rPr>
                          </m:ctrlPr>
                        </m:sSubSupPr>
                        <m:e>
                          <m:r>
                            <a:rPr lang="en-US" altLang="ja-JP" sz="2400" b="0" i="1" smtClean="0">
                              <a:solidFill>
                                <a:srgbClr val="FF0000"/>
                              </a:solidFill>
                              <a:latin typeface="Cambria Math" panose="02040503050406030204" pitchFamily="18" charset="0"/>
                            </a:rPr>
                            <m:t>𝑊</m:t>
                          </m:r>
                        </m:e>
                        <m:sub>
                          <m:r>
                            <a:rPr lang="en-US" altLang="ja-JP" sz="2400" b="0" i="1" smtClean="0">
                              <a:solidFill>
                                <a:srgbClr val="FF0000"/>
                              </a:solidFill>
                              <a:latin typeface="Cambria Math" panose="02040503050406030204" pitchFamily="18" charset="0"/>
                            </a:rPr>
                            <m:t>1</m:t>
                          </m:r>
                        </m:sub>
                        <m:sup>
                          <m:r>
                            <a:rPr lang="en-US" altLang="ja-JP" sz="2400" b="0" i="1" smtClean="0">
                              <a:solidFill>
                                <a:srgbClr val="FF0000"/>
                              </a:solidFill>
                              <a:latin typeface="Cambria Math" panose="02040503050406030204" pitchFamily="18" charset="0"/>
                            </a:rPr>
                            <m:t>′</m:t>
                          </m:r>
                        </m:sup>
                      </m:sSubSup>
                    </m:oMath>
                  </m:oMathPara>
                </a14:m>
                <a:endParaRPr lang="ja-JP" altLang="en-US" sz="2400" i="1">
                  <a:solidFill>
                    <a:schemeClr val="tx1"/>
                  </a:solidFill>
                </a:endParaRPr>
              </a:p>
            </p:txBody>
          </p:sp>
        </mc:Choice>
        <mc:Fallback xmlns="">
          <p:sp>
            <p:nvSpPr>
              <p:cNvPr id="11" name="テキスト ボックス 10">
                <a:extLst>
                  <a:ext uri="{FF2B5EF4-FFF2-40B4-BE49-F238E27FC236}">
                    <a16:creationId xmlns:a16="http://schemas.microsoft.com/office/drawing/2014/main" id="{D920A30C-DA4B-4F50-6CC4-D6DF13DD5621}"/>
                  </a:ext>
                </a:extLst>
              </p:cNvPr>
              <p:cNvSpPr txBox="1">
                <a:spLocks noRot="1" noChangeAspect="1" noMove="1" noResize="1" noEditPoints="1" noAdjustHandles="1" noChangeArrowheads="1" noChangeShapeType="1" noTextEdit="1"/>
              </p:cNvSpPr>
              <p:nvPr/>
            </p:nvSpPr>
            <p:spPr>
              <a:xfrm>
                <a:off x="1440626" y="2980022"/>
                <a:ext cx="838729" cy="461665"/>
              </a:xfrm>
              <a:prstGeom prst="rect">
                <a:avLst/>
              </a:prstGeom>
              <a:blipFill>
                <a:blip r:embed="rId3"/>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7F705141-DAF1-3F74-D520-E9BFA48D89B4}"/>
                  </a:ext>
                </a:extLst>
              </p:cNvPr>
              <p:cNvSpPr txBox="1"/>
              <p:nvPr/>
            </p:nvSpPr>
            <p:spPr>
              <a:xfrm>
                <a:off x="6397509" y="2878082"/>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smtClean="0">
                          <a:solidFill>
                            <a:srgbClr val="FF0000"/>
                          </a:solidFill>
                          <a:latin typeface="Cambria Math" panose="02040503050406030204" pitchFamily="18" charset="0"/>
                        </a:rPr>
                        <m:t>Δ</m:t>
                      </m:r>
                      <m:sSubSup>
                        <m:sSubSupPr>
                          <m:ctrlPr>
                            <a:rPr lang="en-US" altLang="ja-JP" sz="2400" b="0" i="1" smtClean="0">
                              <a:solidFill>
                                <a:srgbClr val="FF0000"/>
                              </a:solidFill>
                              <a:latin typeface="Cambria Math" panose="02040503050406030204" pitchFamily="18" charset="0"/>
                            </a:rPr>
                          </m:ctrlPr>
                        </m:sSubSupPr>
                        <m:e>
                          <m:r>
                            <a:rPr lang="en-US" altLang="ja-JP" sz="2400" b="0" i="1" smtClean="0">
                              <a:solidFill>
                                <a:srgbClr val="FF0000"/>
                              </a:solidFill>
                              <a:latin typeface="Cambria Math" panose="02040503050406030204" pitchFamily="18" charset="0"/>
                            </a:rPr>
                            <m:t>𝑊</m:t>
                          </m:r>
                        </m:e>
                        <m:sub>
                          <m:r>
                            <a:rPr lang="en-US" altLang="ja-JP" sz="2400" b="0" i="1" smtClean="0">
                              <a:solidFill>
                                <a:srgbClr val="FF0000"/>
                              </a:solidFill>
                              <a:latin typeface="Cambria Math" panose="02040503050406030204" pitchFamily="18" charset="0"/>
                            </a:rPr>
                            <m:t>2</m:t>
                          </m:r>
                        </m:sub>
                        <m:sup>
                          <m:r>
                            <a:rPr lang="en-US" altLang="ja-JP" sz="2400" b="0" i="1" smtClean="0">
                              <a:solidFill>
                                <a:srgbClr val="FF0000"/>
                              </a:solidFill>
                              <a:latin typeface="Cambria Math" panose="02040503050406030204" pitchFamily="18" charset="0"/>
                            </a:rPr>
                            <m:t>′</m:t>
                          </m:r>
                        </m:sup>
                      </m:sSubSup>
                    </m:oMath>
                  </m:oMathPara>
                </a14:m>
                <a:endParaRPr lang="ja-JP" altLang="en-US" sz="2400" i="1">
                  <a:solidFill>
                    <a:srgbClr val="FF0000"/>
                  </a:solidFill>
                </a:endParaRPr>
              </a:p>
            </p:txBody>
          </p:sp>
        </mc:Choice>
        <mc:Fallback xmlns="">
          <p:sp>
            <p:nvSpPr>
              <p:cNvPr id="12" name="テキスト ボックス 11">
                <a:extLst>
                  <a:ext uri="{FF2B5EF4-FFF2-40B4-BE49-F238E27FC236}">
                    <a16:creationId xmlns:a16="http://schemas.microsoft.com/office/drawing/2014/main" id="{7F705141-DAF1-3F74-D520-E9BFA48D89B4}"/>
                  </a:ext>
                </a:extLst>
              </p:cNvPr>
              <p:cNvSpPr txBox="1">
                <a:spLocks noRot="1" noChangeAspect="1" noMove="1" noResize="1" noEditPoints="1" noAdjustHandles="1" noChangeArrowheads="1" noChangeShapeType="1" noTextEdit="1"/>
              </p:cNvSpPr>
              <p:nvPr/>
            </p:nvSpPr>
            <p:spPr>
              <a:xfrm>
                <a:off x="6397509" y="2878082"/>
                <a:ext cx="838729" cy="461665"/>
              </a:xfrm>
              <a:prstGeom prst="rect">
                <a:avLst/>
              </a:prstGeom>
              <a:blipFill>
                <a:blip r:embed="rId4"/>
                <a:stretch>
                  <a:fillRect b="-2632"/>
                </a:stretch>
              </a:blipFill>
            </p:spPr>
            <p:txBody>
              <a:bodyPr/>
              <a:lstStyle/>
              <a:p>
                <a:r>
                  <a:rPr lang="en-US">
                    <a:noFill/>
                  </a:rPr>
                  <a:t> </a:t>
                </a:r>
              </a:p>
            </p:txBody>
          </p:sp>
        </mc:Fallback>
      </mc:AlternateContent>
      <p:sp>
        <p:nvSpPr>
          <p:cNvPr id="14" name="四角形: 角を丸くする 13">
            <a:extLst>
              <a:ext uri="{FF2B5EF4-FFF2-40B4-BE49-F238E27FC236}">
                <a16:creationId xmlns:a16="http://schemas.microsoft.com/office/drawing/2014/main" id="{86D46822-7E3C-B6F0-A39D-B29615A50BEB}"/>
              </a:ext>
            </a:extLst>
          </p:cNvPr>
          <p:cNvSpPr/>
          <p:nvPr/>
        </p:nvSpPr>
        <p:spPr>
          <a:xfrm>
            <a:off x="1829570" y="877367"/>
            <a:ext cx="4228331"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台形 15">
            <a:extLst>
              <a:ext uri="{FF2B5EF4-FFF2-40B4-BE49-F238E27FC236}">
                <a16:creationId xmlns:a16="http://schemas.microsoft.com/office/drawing/2014/main" id="{7E3B2977-DF85-E1C5-9759-054C62B5F093}"/>
              </a:ext>
            </a:extLst>
          </p:cNvPr>
          <p:cNvSpPr/>
          <p:nvPr/>
        </p:nvSpPr>
        <p:spPr>
          <a:xfrm rot="10800000">
            <a:off x="2544639" y="1076520"/>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 name="台形 17">
            <a:extLst>
              <a:ext uri="{FF2B5EF4-FFF2-40B4-BE49-F238E27FC236}">
                <a16:creationId xmlns:a16="http://schemas.microsoft.com/office/drawing/2014/main" id="{E7BD4768-DA2B-F7C9-473F-1CEA2FF027BA}"/>
              </a:ext>
            </a:extLst>
          </p:cNvPr>
          <p:cNvSpPr/>
          <p:nvPr/>
        </p:nvSpPr>
        <p:spPr>
          <a:xfrm>
            <a:off x="2544639" y="1351359"/>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20" name="台形 19">
            <a:extLst>
              <a:ext uri="{FF2B5EF4-FFF2-40B4-BE49-F238E27FC236}">
                <a16:creationId xmlns:a16="http://schemas.microsoft.com/office/drawing/2014/main" id="{FDA22489-A9AB-3AFB-9797-2CDF9E370125}"/>
              </a:ext>
            </a:extLst>
          </p:cNvPr>
          <p:cNvSpPr/>
          <p:nvPr/>
        </p:nvSpPr>
        <p:spPr>
          <a:xfrm rot="10800000">
            <a:off x="2535638" y="2242558"/>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22" name="台形 21">
            <a:extLst>
              <a:ext uri="{FF2B5EF4-FFF2-40B4-BE49-F238E27FC236}">
                <a16:creationId xmlns:a16="http://schemas.microsoft.com/office/drawing/2014/main" id="{78E3F483-905A-01D4-3575-B64A75B46DEE}"/>
              </a:ext>
            </a:extLst>
          </p:cNvPr>
          <p:cNvSpPr/>
          <p:nvPr/>
        </p:nvSpPr>
        <p:spPr>
          <a:xfrm>
            <a:off x="2535638" y="2517397"/>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D8DACA82-4CB0-A0BF-6B3D-17BE23F27247}"/>
                  </a:ext>
                </a:extLst>
              </p:cNvPr>
              <p:cNvSpPr txBox="1"/>
              <p:nvPr/>
            </p:nvSpPr>
            <p:spPr>
              <a:xfrm>
                <a:off x="1805759" y="2266463"/>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b>
                        <m:sSubPr>
                          <m:ctrlPr>
                            <a:rPr lang="en-US" altLang="ja-JP" b="0" i="1" smtClean="0">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𝑊</m:t>
                          </m:r>
                        </m:e>
                        <m:sub>
                          <m:r>
                            <a:rPr lang="en-US" altLang="ja-JP" b="0" i="1" smtClean="0">
                              <a:solidFill>
                                <a:schemeClr val="tx1"/>
                              </a:solidFill>
                              <a:latin typeface="Cambria Math" panose="02040503050406030204" pitchFamily="18" charset="0"/>
                            </a:rPr>
                            <m:t>1</m:t>
                          </m:r>
                        </m:sub>
                      </m:sSub>
                    </m:oMath>
                  </m:oMathPara>
                </a14:m>
                <a:endParaRPr lang="ja-JP" altLang="en-US" dirty="0">
                  <a:solidFill>
                    <a:schemeClr val="tx1"/>
                  </a:solidFill>
                </a:endParaRPr>
              </a:p>
            </p:txBody>
          </p:sp>
        </mc:Choice>
        <mc:Fallback xmlns="">
          <p:sp>
            <p:nvSpPr>
              <p:cNvPr id="24" name="テキスト ボックス 23">
                <a:extLst>
                  <a:ext uri="{FF2B5EF4-FFF2-40B4-BE49-F238E27FC236}">
                    <a16:creationId xmlns:a16="http://schemas.microsoft.com/office/drawing/2014/main" id="{D8DACA82-4CB0-A0BF-6B3D-17BE23F27247}"/>
                  </a:ext>
                </a:extLst>
              </p:cNvPr>
              <p:cNvSpPr txBox="1">
                <a:spLocks noRot="1" noChangeAspect="1" noMove="1" noResize="1" noEditPoints="1" noAdjustHandles="1" noChangeArrowheads="1" noChangeShapeType="1" noTextEdit="1"/>
              </p:cNvSpPr>
              <p:nvPr/>
            </p:nvSpPr>
            <p:spPr>
              <a:xfrm>
                <a:off x="1805759" y="2266463"/>
                <a:ext cx="838729" cy="369332"/>
              </a:xfrm>
              <a:prstGeom prst="rect">
                <a:avLst/>
              </a:prstGeom>
              <a:blipFill>
                <a:blip r:embed="rId5"/>
                <a:stretch>
                  <a:fillRect/>
                </a:stretch>
              </a:blipFill>
            </p:spPr>
            <p:txBody>
              <a:bodyPr/>
              <a:lstStyle/>
              <a:p>
                <a:r>
                  <a:rPr lang="ja-JP" altLang="en-US">
                    <a:noFill/>
                  </a:rPr>
                  <a:t> </a:t>
                </a:r>
              </a:p>
            </p:txBody>
          </p:sp>
        </mc:Fallback>
      </mc:AlternateContent>
      <p:sp>
        <p:nvSpPr>
          <p:cNvPr id="26" name="矢印: 右 25">
            <a:extLst>
              <a:ext uri="{FF2B5EF4-FFF2-40B4-BE49-F238E27FC236}">
                <a16:creationId xmlns:a16="http://schemas.microsoft.com/office/drawing/2014/main" id="{578CA346-E366-75DB-7272-016A1FD26A18}"/>
              </a:ext>
            </a:extLst>
          </p:cNvPr>
          <p:cNvSpPr/>
          <p:nvPr/>
        </p:nvSpPr>
        <p:spPr>
          <a:xfrm rot="19283956">
            <a:off x="3111127" y="2187382"/>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8" name="矢印: 右 27">
            <a:extLst>
              <a:ext uri="{FF2B5EF4-FFF2-40B4-BE49-F238E27FC236}">
                <a16:creationId xmlns:a16="http://schemas.microsoft.com/office/drawing/2014/main" id="{F58120DF-827F-9115-AE68-6117E0266074}"/>
              </a:ext>
            </a:extLst>
          </p:cNvPr>
          <p:cNvSpPr/>
          <p:nvPr/>
        </p:nvSpPr>
        <p:spPr>
          <a:xfrm rot="2825624">
            <a:off x="3087662" y="1304828"/>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台形 29">
            <a:extLst>
              <a:ext uri="{FF2B5EF4-FFF2-40B4-BE49-F238E27FC236}">
                <a16:creationId xmlns:a16="http://schemas.microsoft.com/office/drawing/2014/main" id="{5EC8F1B1-825B-A6C9-D582-A977530370E4}"/>
              </a:ext>
            </a:extLst>
          </p:cNvPr>
          <p:cNvSpPr/>
          <p:nvPr/>
        </p:nvSpPr>
        <p:spPr>
          <a:xfrm rot="10800000">
            <a:off x="3846152" y="1628340"/>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32" name="台形 31">
            <a:extLst>
              <a:ext uri="{FF2B5EF4-FFF2-40B4-BE49-F238E27FC236}">
                <a16:creationId xmlns:a16="http://schemas.microsoft.com/office/drawing/2014/main" id="{1710C64E-E9A3-DF80-8ED4-52161FB8404F}"/>
              </a:ext>
            </a:extLst>
          </p:cNvPr>
          <p:cNvSpPr/>
          <p:nvPr/>
        </p:nvSpPr>
        <p:spPr>
          <a:xfrm>
            <a:off x="3846152" y="1903179"/>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34" name="矢印: 右 33">
            <a:extLst>
              <a:ext uri="{FF2B5EF4-FFF2-40B4-BE49-F238E27FC236}">
                <a16:creationId xmlns:a16="http://schemas.microsoft.com/office/drawing/2014/main" id="{80467468-0A2A-C507-0FA3-DE0F2B6F1EFC}"/>
              </a:ext>
            </a:extLst>
          </p:cNvPr>
          <p:cNvSpPr/>
          <p:nvPr/>
        </p:nvSpPr>
        <p:spPr>
          <a:xfrm>
            <a:off x="4366063" y="1683332"/>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吹き出し: 角を丸めた四角形 35">
            <a:extLst>
              <a:ext uri="{FF2B5EF4-FFF2-40B4-BE49-F238E27FC236}">
                <a16:creationId xmlns:a16="http://schemas.microsoft.com/office/drawing/2014/main" id="{1E9FF54C-0CC0-AF19-29FA-85D8E64EE635}"/>
              </a:ext>
            </a:extLst>
          </p:cNvPr>
          <p:cNvSpPr/>
          <p:nvPr/>
        </p:nvSpPr>
        <p:spPr>
          <a:xfrm>
            <a:off x="3677311" y="2387119"/>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a:solidFill>
                  <a:schemeClr val="tx1"/>
                </a:solidFill>
              </a:rPr>
              <a:t>統合</a:t>
            </a:r>
            <a:endParaRPr lang="en-US" altLang="ja-JP">
              <a:solidFill>
                <a:schemeClr val="tx1"/>
              </a:solidFill>
            </a:endParaRPr>
          </a:p>
        </p:txBody>
      </p:sp>
      <p:pic>
        <p:nvPicPr>
          <p:cNvPr id="38" name="図 37">
            <a:extLst>
              <a:ext uri="{FF2B5EF4-FFF2-40B4-BE49-F238E27FC236}">
                <a16:creationId xmlns:a16="http://schemas.microsoft.com/office/drawing/2014/main" id="{EAA6779C-50A8-193E-6A05-28EBA335C91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031421" y="1384601"/>
            <a:ext cx="561592" cy="564162"/>
          </a:xfrm>
          <a:prstGeom prst="rect">
            <a:avLst/>
          </a:prstGeom>
        </p:spPr>
      </p:pic>
      <p:sp>
        <p:nvSpPr>
          <p:cNvPr id="40" name="タイトル 2">
            <a:extLst>
              <a:ext uri="{FF2B5EF4-FFF2-40B4-BE49-F238E27FC236}">
                <a16:creationId xmlns:a16="http://schemas.microsoft.com/office/drawing/2014/main" id="{80035665-3B73-C323-29DC-70880084EACC}"/>
              </a:ext>
            </a:extLst>
          </p:cNvPr>
          <p:cNvSpPr txBox="1">
            <a:spLocks/>
          </p:cNvSpPr>
          <p:nvPr/>
        </p:nvSpPr>
        <p:spPr>
          <a:xfrm>
            <a:off x="4761703" y="2017729"/>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B10577B7-A607-E38F-2136-B0BF99990934}"/>
                  </a:ext>
                </a:extLst>
              </p:cNvPr>
              <p:cNvSpPr txBox="1"/>
              <p:nvPr/>
            </p:nvSpPr>
            <p:spPr>
              <a:xfrm>
                <a:off x="1782603" y="1117147"/>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b>
                        <m:sSubPr>
                          <m:ctrlPr>
                            <a:rPr lang="en-US" altLang="ja-JP" b="0" i="1" smtClean="0">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𝑊</m:t>
                          </m:r>
                        </m:e>
                        <m:sub>
                          <m:r>
                            <a:rPr lang="en-US" altLang="ja-JP" b="0" i="1" smtClean="0">
                              <a:solidFill>
                                <a:schemeClr val="tx1"/>
                              </a:solidFill>
                              <a:latin typeface="Cambria Math" panose="02040503050406030204" pitchFamily="18" charset="0"/>
                            </a:rPr>
                            <m:t>2</m:t>
                          </m:r>
                        </m:sub>
                      </m:sSub>
                    </m:oMath>
                  </m:oMathPara>
                </a14:m>
                <a:endParaRPr lang="ja-JP" altLang="en-US" dirty="0">
                  <a:solidFill>
                    <a:schemeClr val="tx1"/>
                  </a:solidFill>
                </a:endParaRPr>
              </a:p>
            </p:txBody>
          </p:sp>
        </mc:Choice>
        <mc:Fallback xmlns="">
          <p:sp>
            <p:nvSpPr>
              <p:cNvPr id="42" name="テキスト ボックス 41">
                <a:extLst>
                  <a:ext uri="{FF2B5EF4-FFF2-40B4-BE49-F238E27FC236}">
                    <a16:creationId xmlns:a16="http://schemas.microsoft.com/office/drawing/2014/main" id="{B10577B7-A607-E38F-2136-B0BF99990934}"/>
                  </a:ext>
                </a:extLst>
              </p:cNvPr>
              <p:cNvSpPr txBox="1">
                <a:spLocks noRot="1" noChangeAspect="1" noMove="1" noResize="1" noEditPoints="1" noAdjustHandles="1" noChangeArrowheads="1" noChangeShapeType="1" noTextEdit="1"/>
              </p:cNvSpPr>
              <p:nvPr/>
            </p:nvSpPr>
            <p:spPr>
              <a:xfrm>
                <a:off x="1782603" y="1117147"/>
                <a:ext cx="838729" cy="369332"/>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FDD2E83E-342F-FEFE-140B-2A4AC4CFC67C}"/>
                  </a:ext>
                </a:extLst>
              </p:cNvPr>
              <p:cNvSpPr txBox="1"/>
              <p:nvPr/>
            </p:nvSpPr>
            <p:spPr>
              <a:xfrm>
                <a:off x="3693215" y="1221286"/>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p>
                        <m:sSupPr>
                          <m:ctrlPr>
                            <a:rPr lang="en-US" altLang="ja-JP" b="0" i="1" smtClean="0">
                              <a:solidFill>
                                <a:schemeClr val="tx1"/>
                              </a:solidFill>
                              <a:latin typeface="Cambria Math" panose="02040503050406030204" pitchFamily="18" charset="0"/>
                            </a:rPr>
                          </m:ctrlPr>
                        </m:sSupPr>
                        <m:e>
                          <m:r>
                            <a:rPr lang="en-US" altLang="ja-JP" b="0" i="1" smtClean="0">
                              <a:solidFill>
                                <a:schemeClr val="tx1"/>
                              </a:solidFill>
                              <a:latin typeface="Cambria Math" panose="02040503050406030204" pitchFamily="18" charset="0"/>
                            </a:rPr>
                            <m:t>𝑊</m:t>
                          </m:r>
                        </m:e>
                        <m:sup>
                          <m:r>
                            <a:rPr lang="en-US" altLang="ja-JP" b="0" i="1" smtClean="0">
                              <a:solidFill>
                                <a:schemeClr val="tx1"/>
                              </a:solidFill>
                              <a:latin typeface="Cambria Math" panose="02040503050406030204" pitchFamily="18" charset="0"/>
                            </a:rPr>
                            <m:t>′</m:t>
                          </m:r>
                        </m:sup>
                      </m:sSup>
                    </m:oMath>
                  </m:oMathPara>
                </a14:m>
                <a:endParaRPr lang="ja-JP" altLang="en-US" i="1">
                  <a:solidFill>
                    <a:schemeClr val="tx1"/>
                  </a:solidFill>
                </a:endParaRPr>
              </a:p>
            </p:txBody>
          </p:sp>
        </mc:Choice>
        <mc:Fallback xmlns="">
          <p:sp>
            <p:nvSpPr>
              <p:cNvPr id="44" name="テキスト ボックス 43">
                <a:extLst>
                  <a:ext uri="{FF2B5EF4-FFF2-40B4-BE49-F238E27FC236}">
                    <a16:creationId xmlns:a16="http://schemas.microsoft.com/office/drawing/2014/main" id="{FDD2E83E-342F-FEFE-140B-2A4AC4CFC67C}"/>
                  </a:ext>
                </a:extLst>
              </p:cNvPr>
              <p:cNvSpPr txBox="1">
                <a:spLocks noRot="1" noChangeAspect="1" noMove="1" noResize="1" noEditPoints="1" noAdjustHandles="1" noChangeArrowheads="1" noChangeShapeType="1" noTextEdit="1"/>
              </p:cNvSpPr>
              <p:nvPr/>
            </p:nvSpPr>
            <p:spPr>
              <a:xfrm>
                <a:off x="3693215" y="1221286"/>
                <a:ext cx="838729" cy="369332"/>
              </a:xfrm>
              <a:prstGeom prst="rect">
                <a:avLst/>
              </a:prstGeom>
              <a:blipFill>
                <a:blip r:embed="rId8"/>
                <a:stretch>
                  <a:fillRect/>
                </a:stretch>
              </a:blipFill>
            </p:spPr>
            <p:txBody>
              <a:bodyPr/>
              <a:lstStyle/>
              <a:p>
                <a:r>
                  <a:rPr lang="en-US">
                    <a:noFill/>
                  </a:rPr>
                  <a:t> </a:t>
                </a:r>
              </a:p>
            </p:txBody>
          </p:sp>
        </mc:Fallback>
      </mc:AlternateContent>
      <p:sp>
        <p:nvSpPr>
          <p:cNvPr id="89" name="四角形: 角を丸くする 88">
            <a:extLst>
              <a:ext uri="{FF2B5EF4-FFF2-40B4-BE49-F238E27FC236}">
                <a16:creationId xmlns:a16="http://schemas.microsoft.com/office/drawing/2014/main" id="{D1301B81-F8E1-EAC4-8B17-4E4D09617104}"/>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四角形: 角を丸くする 89">
            <a:extLst>
              <a:ext uri="{FF2B5EF4-FFF2-40B4-BE49-F238E27FC236}">
                <a16:creationId xmlns:a16="http://schemas.microsoft.com/office/drawing/2014/main" id="{CB448ADD-7876-4778-2767-EBE551C9DF50}"/>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1" name="図 90">
            <a:extLst>
              <a:ext uri="{FF2B5EF4-FFF2-40B4-BE49-F238E27FC236}">
                <a16:creationId xmlns:a16="http://schemas.microsoft.com/office/drawing/2014/main" id="{F8FBCC7A-C435-28C6-A0EA-F50967B9038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92" name="図 91">
            <a:extLst>
              <a:ext uri="{FF2B5EF4-FFF2-40B4-BE49-F238E27FC236}">
                <a16:creationId xmlns:a16="http://schemas.microsoft.com/office/drawing/2014/main" id="{163689FA-350C-31E0-8B5D-B54B5B47D28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93" name="図 92">
            <a:extLst>
              <a:ext uri="{FF2B5EF4-FFF2-40B4-BE49-F238E27FC236}">
                <a16:creationId xmlns:a16="http://schemas.microsoft.com/office/drawing/2014/main" id="{05C3D040-58B0-294E-192B-668F0E1E34C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94" name="図 93">
            <a:extLst>
              <a:ext uri="{FF2B5EF4-FFF2-40B4-BE49-F238E27FC236}">
                <a16:creationId xmlns:a16="http://schemas.microsoft.com/office/drawing/2014/main" id="{1584BCAA-0DC2-133D-7ABA-153B78B4EFD3}"/>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95" name="図 94">
            <a:extLst>
              <a:ext uri="{FF2B5EF4-FFF2-40B4-BE49-F238E27FC236}">
                <a16:creationId xmlns:a16="http://schemas.microsoft.com/office/drawing/2014/main" id="{96F35DEC-E7AC-5D33-CFF2-B4CD28BCEA6B}"/>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96" name="図 95">
            <a:extLst>
              <a:ext uri="{FF2B5EF4-FFF2-40B4-BE49-F238E27FC236}">
                <a16:creationId xmlns:a16="http://schemas.microsoft.com/office/drawing/2014/main" id="{FAE153AB-4618-7898-03FD-7DFFDFA0773B}"/>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97" name="直線矢印コネクタ 96">
            <a:extLst>
              <a:ext uri="{FF2B5EF4-FFF2-40B4-BE49-F238E27FC236}">
                <a16:creationId xmlns:a16="http://schemas.microsoft.com/office/drawing/2014/main" id="{44DD2869-81F9-DF4F-3592-591A0EDA7C00}"/>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F9834C7D-5C31-5825-9018-17CF19CF4500}"/>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9" name="図 98">
            <a:extLst>
              <a:ext uri="{FF2B5EF4-FFF2-40B4-BE49-F238E27FC236}">
                <a16:creationId xmlns:a16="http://schemas.microsoft.com/office/drawing/2014/main" id="{8585E491-C290-1B2B-834D-395F3D32429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00" name="図 99">
            <a:extLst>
              <a:ext uri="{FF2B5EF4-FFF2-40B4-BE49-F238E27FC236}">
                <a16:creationId xmlns:a16="http://schemas.microsoft.com/office/drawing/2014/main" id="{8B6A2BF1-F39C-67FE-C544-18701C08ACC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01" name="図 100">
            <a:extLst>
              <a:ext uri="{FF2B5EF4-FFF2-40B4-BE49-F238E27FC236}">
                <a16:creationId xmlns:a16="http://schemas.microsoft.com/office/drawing/2014/main" id="{EF948010-C946-20DA-744B-E34A0BC89E6F}"/>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102" name="図 101">
            <a:extLst>
              <a:ext uri="{FF2B5EF4-FFF2-40B4-BE49-F238E27FC236}">
                <a16:creationId xmlns:a16="http://schemas.microsoft.com/office/drawing/2014/main" id="{322A9D10-32F2-2C19-8715-BD030C3E9A25}"/>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103" name="図 102">
            <a:extLst>
              <a:ext uri="{FF2B5EF4-FFF2-40B4-BE49-F238E27FC236}">
                <a16:creationId xmlns:a16="http://schemas.microsoft.com/office/drawing/2014/main" id="{E5F747E6-3BC8-D9AB-157F-8E75E943D0A8}"/>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104" name="図 103">
            <a:extLst>
              <a:ext uri="{FF2B5EF4-FFF2-40B4-BE49-F238E27FC236}">
                <a16:creationId xmlns:a16="http://schemas.microsoft.com/office/drawing/2014/main" id="{4A3EB4AE-36FB-59D6-9308-861F2831980D}"/>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105" name="図 104">
            <a:extLst>
              <a:ext uri="{FF2B5EF4-FFF2-40B4-BE49-F238E27FC236}">
                <a16:creationId xmlns:a16="http://schemas.microsoft.com/office/drawing/2014/main" id="{1DC8775A-AB17-BFBF-C50C-ECE8CD7ECFA5}"/>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106" name="図 105">
            <a:extLst>
              <a:ext uri="{FF2B5EF4-FFF2-40B4-BE49-F238E27FC236}">
                <a16:creationId xmlns:a16="http://schemas.microsoft.com/office/drawing/2014/main" id="{8EDC328A-E31E-8532-C712-7CE704FCF75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107" name="図 106">
            <a:extLst>
              <a:ext uri="{FF2B5EF4-FFF2-40B4-BE49-F238E27FC236}">
                <a16:creationId xmlns:a16="http://schemas.microsoft.com/office/drawing/2014/main" id="{5AB24CAE-485A-7E81-08F6-A4CA58A31AD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108" name="図 107">
            <a:extLst>
              <a:ext uri="{FF2B5EF4-FFF2-40B4-BE49-F238E27FC236}">
                <a16:creationId xmlns:a16="http://schemas.microsoft.com/office/drawing/2014/main" id="{543C384B-A897-9594-17D5-A56E5FBECDC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109" name="直線矢印コネクタ 108">
            <a:extLst>
              <a:ext uri="{FF2B5EF4-FFF2-40B4-BE49-F238E27FC236}">
                <a16:creationId xmlns:a16="http://schemas.microsoft.com/office/drawing/2014/main" id="{3D27D716-31AD-2C0B-EFDE-259CC022FF88}"/>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コネクタ 109">
            <a:extLst>
              <a:ext uri="{FF2B5EF4-FFF2-40B4-BE49-F238E27FC236}">
                <a16:creationId xmlns:a16="http://schemas.microsoft.com/office/drawing/2014/main" id="{B36EFECB-2039-204D-34EC-70612CE21FFF}"/>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タイトル 2">
            <a:extLst>
              <a:ext uri="{FF2B5EF4-FFF2-40B4-BE49-F238E27FC236}">
                <a16:creationId xmlns:a16="http://schemas.microsoft.com/office/drawing/2014/main" id="{6D1B26AD-80B3-03A8-1E45-D031B77EFE8F}"/>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12" name="直線コネクタ 111">
            <a:extLst>
              <a:ext uri="{FF2B5EF4-FFF2-40B4-BE49-F238E27FC236}">
                <a16:creationId xmlns:a16="http://schemas.microsoft.com/office/drawing/2014/main" id="{742D68E2-DFD5-5383-2DBC-9464560D0AE8}"/>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タイトル 2">
            <a:extLst>
              <a:ext uri="{FF2B5EF4-FFF2-40B4-BE49-F238E27FC236}">
                <a16:creationId xmlns:a16="http://schemas.microsoft.com/office/drawing/2014/main" id="{D26281B5-FC3B-B109-F4BA-2277B8183215}"/>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14" name="直線矢印コネクタ 113">
            <a:extLst>
              <a:ext uri="{FF2B5EF4-FFF2-40B4-BE49-F238E27FC236}">
                <a16:creationId xmlns:a16="http://schemas.microsoft.com/office/drawing/2014/main" id="{35B0FC31-9EB9-4611-F4A1-D00D45880061}"/>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コネクタ 114">
            <a:extLst>
              <a:ext uri="{FF2B5EF4-FFF2-40B4-BE49-F238E27FC236}">
                <a16:creationId xmlns:a16="http://schemas.microsoft.com/office/drawing/2014/main" id="{15CAB8C5-C60F-94DD-8708-7C5B6FD8BAAA}"/>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タイトル 2">
            <a:extLst>
              <a:ext uri="{FF2B5EF4-FFF2-40B4-BE49-F238E27FC236}">
                <a16:creationId xmlns:a16="http://schemas.microsoft.com/office/drawing/2014/main" id="{CF467883-5920-D10C-F3E2-916588ABE8BF}"/>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17" name="直線コネクタ 116">
            <a:extLst>
              <a:ext uri="{FF2B5EF4-FFF2-40B4-BE49-F238E27FC236}">
                <a16:creationId xmlns:a16="http://schemas.microsoft.com/office/drawing/2014/main" id="{A6681D5A-4B80-B927-F29A-61517BCAB316}"/>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タイトル 2">
            <a:extLst>
              <a:ext uri="{FF2B5EF4-FFF2-40B4-BE49-F238E27FC236}">
                <a16:creationId xmlns:a16="http://schemas.microsoft.com/office/drawing/2014/main" id="{30210B16-2F3B-27E0-6939-CBC0F0F3883C}"/>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119" name="四角形: 角を丸くする 118">
            <a:extLst>
              <a:ext uri="{FF2B5EF4-FFF2-40B4-BE49-F238E27FC236}">
                <a16:creationId xmlns:a16="http://schemas.microsoft.com/office/drawing/2014/main" id="{EC8D2B3B-9AD0-EDEA-E827-A826739C6BF5}"/>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台形 119">
            <a:extLst>
              <a:ext uri="{FF2B5EF4-FFF2-40B4-BE49-F238E27FC236}">
                <a16:creationId xmlns:a16="http://schemas.microsoft.com/office/drawing/2014/main" id="{CBB516DF-3D20-C558-0D64-4F61F3C20B01}"/>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21" name="図 120">
            <a:extLst>
              <a:ext uri="{FF2B5EF4-FFF2-40B4-BE49-F238E27FC236}">
                <a16:creationId xmlns:a16="http://schemas.microsoft.com/office/drawing/2014/main" id="{819ED7E7-A3E6-768B-B59E-6EB3DBEC2E6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122" name="タイトル 2">
            <a:extLst>
              <a:ext uri="{FF2B5EF4-FFF2-40B4-BE49-F238E27FC236}">
                <a16:creationId xmlns:a16="http://schemas.microsoft.com/office/drawing/2014/main" id="{D145DA3F-4C09-1172-CC7E-BB05E62CE16A}"/>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23" name="台形 122">
            <a:extLst>
              <a:ext uri="{FF2B5EF4-FFF2-40B4-BE49-F238E27FC236}">
                <a16:creationId xmlns:a16="http://schemas.microsoft.com/office/drawing/2014/main" id="{2A94C43C-897F-2F87-49BF-31EBC70A1313}"/>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24" name="タイトル 2">
                <a:extLst>
                  <a:ext uri="{FF2B5EF4-FFF2-40B4-BE49-F238E27FC236}">
                    <a16:creationId xmlns:a16="http://schemas.microsoft.com/office/drawing/2014/main" id="{C934E973-4534-F532-10C7-82041423F524}"/>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24" name="タイトル 2">
                <a:extLst>
                  <a:ext uri="{FF2B5EF4-FFF2-40B4-BE49-F238E27FC236}">
                    <a16:creationId xmlns:a16="http://schemas.microsoft.com/office/drawing/2014/main" id="{C934E973-4534-F532-10C7-82041423F524}"/>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8"/>
                <a:stretch>
                  <a:fillRect l="-625"/>
                </a:stretch>
              </a:blipFill>
            </p:spPr>
            <p:txBody>
              <a:bodyPr/>
              <a:lstStyle/>
              <a:p>
                <a:r>
                  <a:rPr lang="en-US">
                    <a:noFill/>
                  </a:rPr>
                  <a:t> </a:t>
                </a:r>
              </a:p>
            </p:txBody>
          </p:sp>
        </mc:Fallback>
      </mc:AlternateContent>
      <p:pic>
        <p:nvPicPr>
          <p:cNvPr id="125" name="グラフィックス 124" descr="車 単色塗りつぶし">
            <a:extLst>
              <a:ext uri="{FF2B5EF4-FFF2-40B4-BE49-F238E27FC236}">
                <a16:creationId xmlns:a16="http://schemas.microsoft.com/office/drawing/2014/main" id="{0A2F0D4E-0BE0-37CF-9EC7-80FF0656F7E6}"/>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952979" y="4116186"/>
            <a:ext cx="914400" cy="914400"/>
          </a:xfrm>
          <a:prstGeom prst="rect">
            <a:avLst/>
          </a:prstGeom>
        </p:spPr>
      </p:pic>
      <p:cxnSp>
        <p:nvCxnSpPr>
          <p:cNvPr id="126" name="直線コネクタ 125">
            <a:extLst>
              <a:ext uri="{FF2B5EF4-FFF2-40B4-BE49-F238E27FC236}">
                <a16:creationId xmlns:a16="http://schemas.microsoft.com/office/drawing/2014/main" id="{DD3CFC02-EBAB-D721-B647-8D75F530C030}"/>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7" name="四角形: 角を丸くする 126">
            <a:extLst>
              <a:ext uri="{FF2B5EF4-FFF2-40B4-BE49-F238E27FC236}">
                <a16:creationId xmlns:a16="http://schemas.microsoft.com/office/drawing/2014/main" id="{F5E25BAD-7412-A770-655C-9930C737AB50}"/>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8" name="台形 127">
            <a:extLst>
              <a:ext uri="{FF2B5EF4-FFF2-40B4-BE49-F238E27FC236}">
                <a16:creationId xmlns:a16="http://schemas.microsoft.com/office/drawing/2014/main" id="{04D05E52-ADDD-9D93-76C1-FBC326EE087A}"/>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29" name="図 128">
            <a:extLst>
              <a:ext uri="{FF2B5EF4-FFF2-40B4-BE49-F238E27FC236}">
                <a16:creationId xmlns:a16="http://schemas.microsoft.com/office/drawing/2014/main" id="{63A9D937-A41A-6F2E-3420-25F81F8F78E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130" name="タイトル 2">
            <a:extLst>
              <a:ext uri="{FF2B5EF4-FFF2-40B4-BE49-F238E27FC236}">
                <a16:creationId xmlns:a16="http://schemas.microsoft.com/office/drawing/2014/main" id="{BAF648DB-BC82-4406-54B2-F6C4E5B034CD}"/>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31" name="台形 130">
            <a:extLst>
              <a:ext uri="{FF2B5EF4-FFF2-40B4-BE49-F238E27FC236}">
                <a16:creationId xmlns:a16="http://schemas.microsoft.com/office/drawing/2014/main" id="{92D02E17-FEE6-495A-7958-E8526A97CE6D}"/>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32" name="タイトル 2">
                <a:extLst>
                  <a:ext uri="{FF2B5EF4-FFF2-40B4-BE49-F238E27FC236}">
                    <a16:creationId xmlns:a16="http://schemas.microsoft.com/office/drawing/2014/main" id="{3731363E-182F-27E6-0ABA-3794D7F6025F}"/>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32" name="タイトル 2">
                <a:extLst>
                  <a:ext uri="{FF2B5EF4-FFF2-40B4-BE49-F238E27FC236}">
                    <a16:creationId xmlns:a16="http://schemas.microsoft.com/office/drawing/2014/main" id="{3731363E-182F-27E6-0ABA-3794D7F6025F}"/>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20"/>
                <a:stretch>
                  <a:fillRect/>
                </a:stretch>
              </a:blipFill>
            </p:spPr>
            <p:txBody>
              <a:bodyPr/>
              <a:lstStyle/>
              <a:p>
                <a:r>
                  <a:rPr lang="en-US">
                    <a:noFill/>
                  </a:rPr>
                  <a:t> </a:t>
                </a:r>
              </a:p>
            </p:txBody>
          </p:sp>
        </mc:Fallback>
      </mc:AlternateContent>
      <p:pic>
        <p:nvPicPr>
          <p:cNvPr id="133" name="グラフィックス 132" descr="車 単色塗りつぶし">
            <a:extLst>
              <a:ext uri="{FF2B5EF4-FFF2-40B4-BE49-F238E27FC236}">
                <a16:creationId xmlns:a16="http://schemas.microsoft.com/office/drawing/2014/main" id="{F6710986-1F84-1074-E467-0D4D4E5F415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311603" y="4104310"/>
            <a:ext cx="914400" cy="914400"/>
          </a:xfrm>
          <a:prstGeom prst="rect">
            <a:avLst/>
          </a:prstGeom>
        </p:spPr>
      </p:pic>
      <p:cxnSp>
        <p:nvCxnSpPr>
          <p:cNvPr id="134" name="直線コネクタ 133">
            <a:extLst>
              <a:ext uri="{FF2B5EF4-FFF2-40B4-BE49-F238E27FC236}">
                <a16:creationId xmlns:a16="http://schemas.microsoft.com/office/drawing/2014/main" id="{D348B9BE-D76C-1EE4-55E0-7A02AE45DE73}"/>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198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D85D50E3-DA4D-6F4D-6307-64F3BBD2F7C9}"/>
              </a:ext>
            </a:extLst>
          </p:cNvPr>
          <p:cNvSpPr>
            <a:spLocks noGrp="1"/>
          </p:cNvSpPr>
          <p:nvPr>
            <p:ph idx="1"/>
          </p:nvPr>
        </p:nvSpPr>
        <p:spPr/>
        <p:txBody>
          <a:bodyPr/>
          <a:lstStyle/>
          <a:p>
            <a:endParaRPr kumimoji="1" lang="ja-JP" altLang="en-US"/>
          </a:p>
        </p:txBody>
      </p:sp>
      <p:sp>
        <p:nvSpPr>
          <p:cNvPr id="3" name="タイトル 2">
            <a:extLst>
              <a:ext uri="{FF2B5EF4-FFF2-40B4-BE49-F238E27FC236}">
                <a16:creationId xmlns:a16="http://schemas.microsoft.com/office/drawing/2014/main" id="{ABCE7747-FA07-3A39-9A56-C51FDB4C3B4D}"/>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95AA92-6132-9A81-DE75-428910F0C3B9}"/>
              </a:ext>
            </a:extLst>
          </p:cNvPr>
          <p:cNvSpPr>
            <a:spLocks noGrp="1"/>
          </p:cNvSpPr>
          <p:nvPr>
            <p:ph type="sldNum" sz="quarter" idx="4"/>
          </p:nvPr>
        </p:nvSpPr>
        <p:spPr/>
        <p:txBody>
          <a:bodyPr/>
          <a:lstStyle/>
          <a:p>
            <a:fld id="{C088C981-6885-4100-82A1-DE7074EC4480}" type="slidenum">
              <a:rPr lang="ja-JP" altLang="en-US" smtClean="0"/>
              <a:t>15</a:t>
            </a:fld>
            <a:endParaRPr lang="ja-JP" altLang="en-US"/>
          </a:p>
        </p:txBody>
      </p:sp>
    </p:spTree>
    <p:extLst>
      <p:ext uri="{BB962C8B-B14F-4D97-AF65-F5344CB8AC3E}">
        <p14:creationId xmlns:p14="http://schemas.microsoft.com/office/powerpoint/2010/main" val="707841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366A738B-8917-F65B-1954-CFF72F393FDF}"/>
              </a:ext>
            </a:extLst>
          </p:cNvPr>
          <p:cNvSpPr>
            <a:spLocks noGrp="1"/>
          </p:cNvSpPr>
          <p:nvPr>
            <p:ph idx="1"/>
          </p:nvPr>
        </p:nvSpPr>
        <p:spPr/>
        <p:txBody>
          <a:bodyPr>
            <a:normAutofit fontScale="92500" lnSpcReduction="20000"/>
          </a:bodyPr>
          <a:lstStyle/>
          <a:p>
            <a:r>
              <a:rPr lang="ja-JP" altLang="en-US" b="1" dirty="0"/>
              <a:t>ここまで</a:t>
            </a:r>
            <a:r>
              <a:rPr lang="ja-JP" altLang="ja-JP" b="1" dirty="0"/>
              <a:t>の実装状況の</a:t>
            </a:r>
            <a:r>
              <a:rPr lang="ja-JP" altLang="en-US" b="1" dirty="0"/>
              <a:t>まとめ</a:t>
            </a:r>
            <a:r>
              <a:rPr lang="ja-JP" altLang="ja-JP" b="1" dirty="0"/>
              <a:t>：</a:t>
            </a:r>
            <a:endParaRPr lang="ja-JP" altLang="ja-JP" dirty="0"/>
          </a:p>
          <a:p>
            <a:pPr lvl="1"/>
            <a:r>
              <a:rPr lang="ja-JP" altLang="ja-JP" dirty="0"/>
              <a:t>クライアント側：L_task のみでローカルのクライアントLoRAを更新</a:t>
            </a:r>
          </a:p>
          <a:p>
            <a:pPr lvl="1"/>
            <a:r>
              <a:rPr lang="ja-JP" altLang="ja-JP" dirty="0"/>
              <a:t>サーバ側：FedAvg後の重みを</a:t>
            </a:r>
            <a:r>
              <a:rPr lang="ja-JP" altLang="ja-JP" dirty="0">
                <a:solidFill>
                  <a:srgbClr val="FF0000"/>
                </a:solidFill>
              </a:rPr>
              <a:t>参照として固定</a:t>
            </a:r>
            <a:r>
              <a:rPr lang="ja-JP" altLang="ja-JP" dirty="0"/>
              <a:t>し、サーバ上で整合損失（Lpred, Lgrad, Lpost）を計算して基盤LoRAを更新</a:t>
            </a:r>
          </a:p>
          <a:p>
            <a:r>
              <a:rPr lang="ja-JP" altLang="ja-JP" b="1" dirty="0"/>
              <a:t>課題（次のステップへの接続）：</a:t>
            </a:r>
            <a:endParaRPr lang="ja-JP" altLang="ja-JP" dirty="0"/>
          </a:p>
          <a:p>
            <a:pPr lvl="1"/>
            <a:r>
              <a:rPr lang="ja-JP" altLang="ja-JP" dirty="0"/>
              <a:t>クライアントごと</a:t>
            </a:r>
            <a:r>
              <a:rPr lang="ja-JP" altLang="en-US" dirty="0"/>
              <a:t>の適応情報を破壊</a:t>
            </a:r>
            <a:endParaRPr lang="en-US" altLang="ja-JP" dirty="0"/>
          </a:p>
          <a:p>
            <a:pPr lvl="1"/>
            <a:r>
              <a:rPr lang="ja-JP" altLang="ja-JP" dirty="0"/>
              <a:t>クライアント</a:t>
            </a:r>
            <a:r>
              <a:rPr lang="ja-JP" altLang="en-US" dirty="0"/>
              <a:t>の適応情報 → 基盤</a:t>
            </a:r>
            <a:r>
              <a:rPr lang="en-US" altLang="ja-JP" dirty="0"/>
              <a:t>AI</a:t>
            </a:r>
            <a:r>
              <a:rPr lang="ja-JP" altLang="en-US" dirty="0"/>
              <a:t>の循環更新</a:t>
            </a:r>
            <a:endParaRPr lang="en-US" altLang="ja-JP" dirty="0"/>
          </a:p>
          <a:p>
            <a:pPr lvl="1"/>
            <a:r>
              <a:rPr lang="ja-JP" altLang="ja-JP" dirty="0"/>
              <a:t>現状はサーバ側で参照用重みを使って計算しているが、本来は「クライアントでの局所適応の情報」をサーバが受け取り、それを元に最適化する必要がある</a:t>
            </a:r>
          </a:p>
          <a:p>
            <a:endParaRPr kumimoji="1" lang="ja-JP" altLang="en-US" dirty="0"/>
          </a:p>
        </p:txBody>
      </p:sp>
      <p:sp>
        <p:nvSpPr>
          <p:cNvPr id="3" name="タイトル 2">
            <a:extLst>
              <a:ext uri="{FF2B5EF4-FFF2-40B4-BE49-F238E27FC236}">
                <a16:creationId xmlns:a16="http://schemas.microsoft.com/office/drawing/2014/main" id="{CA856547-E150-C26B-8707-DEDE0B1DEC85}"/>
              </a:ext>
            </a:extLst>
          </p:cNvPr>
          <p:cNvSpPr>
            <a:spLocks noGrp="1"/>
          </p:cNvSpPr>
          <p:nvPr>
            <p:ph type="title"/>
          </p:nvPr>
        </p:nvSpPr>
        <p:spPr/>
        <p:txBody>
          <a:bodyPr/>
          <a:lstStyle/>
          <a:p>
            <a:r>
              <a:rPr lang="ja-JP" altLang="ja-JP" dirty="0"/>
              <a:t>現在の実装</a:t>
            </a:r>
            <a:r>
              <a:rPr lang="ja-JP" altLang="en-US" dirty="0"/>
              <a:t>と課題</a:t>
            </a:r>
            <a:endParaRPr kumimoji="1" lang="ja-JP" altLang="en-US" dirty="0"/>
          </a:p>
        </p:txBody>
      </p:sp>
      <p:sp>
        <p:nvSpPr>
          <p:cNvPr id="4" name="スライド番号プレースホルダー 3">
            <a:extLst>
              <a:ext uri="{FF2B5EF4-FFF2-40B4-BE49-F238E27FC236}">
                <a16:creationId xmlns:a16="http://schemas.microsoft.com/office/drawing/2014/main" id="{E444E173-386C-D422-1483-432033D90012}"/>
              </a:ext>
            </a:extLst>
          </p:cNvPr>
          <p:cNvSpPr>
            <a:spLocks noGrp="1"/>
          </p:cNvSpPr>
          <p:nvPr>
            <p:ph type="sldNum" sz="quarter" idx="4"/>
          </p:nvPr>
        </p:nvSpPr>
        <p:spPr/>
        <p:txBody>
          <a:bodyPr/>
          <a:lstStyle/>
          <a:p>
            <a:fld id="{C088C981-6885-4100-82A1-DE7074EC4480}" type="slidenum">
              <a:rPr lang="ja-JP" altLang="en-US" smtClean="0"/>
              <a:t>16</a:t>
            </a:fld>
            <a:endParaRPr lang="ja-JP" altLang="en-US"/>
          </a:p>
        </p:txBody>
      </p:sp>
    </p:spTree>
    <p:extLst>
      <p:ext uri="{BB962C8B-B14F-4D97-AF65-F5344CB8AC3E}">
        <p14:creationId xmlns:p14="http://schemas.microsoft.com/office/powerpoint/2010/main" val="2642546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F84ECC1D-5224-E133-A4FD-8C74B1C9B574}"/>
              </a:ext>
            </a:extLst>
          </p:cNvPr>
          <p:cNvSpPr>
            <a:spLocks noGrp="1"/>
          </p:cNvSpPr>
          <p:nvPr>
            <p:ph idx="1"/>
          </p:nvPr>
        </p:nvSpPr>
        <p:spPr/>
        <p:txBody>
          <a:bodyPr>
            <a:normAutofit fontScale="92500" lnSpcReduction="20000"/>
          </a:bodyPr>
          <a:lstStyle/>
          <a:p>
            <a:pPr marL="0" indent="0">
              <a:buNone/>
            </a:pPr>
            <a:r>
              <a:rPr kumimoji="1" lang="ja-JP" altLang="en-US" dirty="0"/>
              <a:t>① クライアントで何を更新・送信するか：</a:t>
            </a:r>
            <a:endParaRPr kumimoji="1" lang="en-US" altLang="ja-JP" dirty="0"/>
          </a:p>
          <a:p>
            <a:pPr lvl="1"/>
            <a:r>
              <a:rPr kumimoji="1" lang="en-US" altLang="ja-JP" dirty="0" err="1"/>
              <a:t>L_task</a:t>
            </a:r>
            <a:r>
              <a:rPr kumimoji="1" lang="ja-JP" altLang="en-US" dirty="0"/>
              <a:t>による</a:t>
            </a:r>
            <a:r>
              <a:rPr kumimoji="1" lang="en-US" altLang="ja-JP" dirty="0" err="1"/>
              <a:t>LoRA</a:t>
            </a:r>
            <a:r>
              <a:rPr kumimoji="1" lang="ja-JP" altLang="en-US" dirty="0"/>
              <a:t>更新に加え、サーバ側の計算に必要な「補助情報」（出力分布、勾配情報、</a:t>
            </a:r>
            <a:r>
              <a:rPr kumimoji="1" lang="en-US" altLang="ja-JP" dirty="0"/>
              <a:t>1</a:t>
            </a:r>
            <a:r>
              <a:rPr kumimoji="1" lang="ja-JP" altLang="en-US" dirty="0"/>
              <a:t>ステップ適応後の出力分布など）を送信する設計へ変更。</a:t>
            </a:r>
            <a:endParaRPr kumimoji="1" lang="en-US" altLang="ja-JP" dirty="0"/>
          </a:p>
          <a:p>
            <a:pPr marL="0" indent="0">
              <a:buNone/>
            </a:pPr>
            <a:r>
              <a:rPr kumimoji="1" lang="ja-JP" altLang="en-US" dirty="0"/>
              <a:t>② サーバ側でどう更新するか（ここが新規性）：</a:t>
            </a:r>
            <a:endParaRPr kumimoji="1" lang="en-US" altLang="ja-JP" dirty="0"/>
          </a:p>
          <a:p>
            <a:pPr lvl="1"/>
            <a:r>
              <a:rPr kumimoji="1" lang="en-US" altLang="ja-JP" dirty="0" err="1"/>
              <a:t>FedAvg</a:t>
            </a:r>
            <a:r>
              <a:rPr kumimoji="1" lang="ja-JP" altLang="en-US" dirty="0"/>
              <a:t>はあくまで参照</a:t>
            </a:r>
            <a:r>
              <a:rPr kumimoji="1" lang="en-US" altLang="ja-JP" dirty="0"/>
              <a:t>adapter</a:t>
            </a:r>
            <a:r>
              <a:rPr kumimoji="1" lang="ja-JP" altLang="en-US" dirty="0"/>
              <a:t>。</a:t>
            </a:r>
            <a:r>
              <a:rPr lang="ja-JP" altLang="ja-JP" dirty="0"/>
              <a:t>関連研究</a:t>
            </a:r>
            <a:r>
              <a:rPr lang="ja-JP" altLang="en-US" dirty="0"/>
              <a:t>で最適な手法を</a:t>
            </a:r>
            <a:endParaRPr kumimoji="1" lang="en-US" altLang="ja-JP" dirty="0"/>
          </a:p>
          <a:p>
            <a:pPr lvl="1"/>
            <a:r>
              <a:rPr kumimoji="1" lang="ja-JP" altLang="en-US" dirty="0"/>
              <a:t>送られてきた補助情報を元に、</a:t>
            </a:r>
            <a:r>
              <a:rPr kumimoji="1" lang="en-US" altLang="ja-JP" dirty="0" err="1"/>
              <a:t>Lpred</a:t>
            </a:r>
            <a:r>
              <a:rPr kumimoji="1" lang="en-US" altLang="ja-JP" dirty="0"/>
              <a:t>/</a:t>
            </a:r>
            <a:r>
              <a:rPr kumimoji="1" lang="en-US" altLang="ja-JP" dirty="0" err="1"/>
              <a:t>Lgrad</a:t>
            </a:r>
            <a:r>
              <a:rPr kumimoji="1" lang="en-US" altLang="ja-JP" dirty="0"/>
              <a:t>/</a:t>
            </a:r>
            <a:r>
              <a:rPr kumimoji="1" lang="en-US" altLang="ja-JP" dirty="0" err="1"/>
              <a:t>Lpost</a:t>
            </a:r>
            <a:r>
              <a:rPr kumimoji="1" lang="ja-JP" altLang="en-US" dirty="0"/>
              <a:t>を合成した損失で</a:t>
            </a:r>
            <a:r>
              <a:rPr kumimoji="1" lang="ja-JP" altLang="en-US" dirty="0">
                <a:solidFill>
                  <a:srgbClr val="FF0000"/>
                </a:solidFill>
              </a:rPr>
              <a:t>サーバ側最適化</a:t>
            </a:r>
            <a:r>
              <a:rPr kumimoji="1" lang="ja-JP" altLang="en-US" dirty="0"/>
              <a:t>として基盤</a:t>
            </a:r>
            <a:r>
              <a:rPr kumimoji="1" lang="en-US" altLang="ja-JP" dirty="0" err="1"/>
              <a:t>LoRA</a:t>
            </a:r>
            <a:r>
              <a:rPr kumimoji="1" lang="ja-JP" altLang="en-US" dirty="0"/>
              <a:t>を直接更新する。</a:t>
            </a:r>
            <a:endParaRPr kumimoji="1" lang="en-US" altLang="ja-JP" dirty="0"/>
          </a:p>
          <a:p>
            <a:pPr marL="0" indent="0">
              <a:buNone/>
            </a:pPr>
            <a:r>
              <a:rPr kumimoji="1" lang="ja-JP" altLang="en-US" dirty="0"/>
              <a:t>③ 次ラウンドへの再配布：</a:t>
            </a:r>
            <a:endParaRPr kumimoji="1" lang="en-US" altLang="ja-JP" dirty="0"/>
          </a:p>
          <a:p>
            <a:pPr lvl="1"/>
            <a:r>
              <a:rPr kumimoji="1" lang="en-US" altLang="ja-JP" dirty="0"/>
              <a:t>3B/3B</a:t>
            </a:r>
            <a:r>
              <a:rPr kumimoji="1" lang="ja-JP" altLang="en-US" dirty="0"/>
              <a:t>で動作確認後、サイズが異なる場合（</a:t>
            </a:r>
            <a:r>
              <a:rPr kumimoji="1" lang="en-US" altLang="ja-JP" dirty="0"/>
              <a:t>7B/3B</a:t>
            </a:r>
            <a:r>
              <a:rPr kumimoji="1" lang="ja-JP" altLang="en-US" dirty="0"/>
              <a:t>など）の射影や知識蒸留による再配布手法を検討。</a:t>
            </a:r>
          </a:p>
        </p:txBody>
      </p:sp>
      <p:sp>
        <p:nvSpPr>
          <p:cNvPr id="3" name="タイトル 2">
            <a:extLst>
              <a:ext uri="{FF2B5EF4-FFF2-40B4-BE49-F238E27FC236}">
                <a16:creationId xmlns:a16="http://schemas.microsoft.com/office/drawing/2014/main" id="{E1AA2564-CABF-4E24-46F7-587AA19A3495}"/>
              </a:ext>
            </a:extLst>
          </p:cNvPr>
          <p:cNvSpPr>
            <a:spLocks noGrp="1"/>
          </p:cNvSpPr>
          <p:nvPr>
            <p:ph type="title"/>
          </p:nvPr>
        </p:nvSpPr>
        <p:spPr/>
        <p:txBody>
          <a:bodyPr/>
          <a:lstStyle/>
          <a:p>
            <a:r>
              <a:rPr lang="ja-JP" altLang="ja-JP" dirty="0"/>
              <a:t>今後</a:t>
            </a:r>
            <a:endParaRPr kumimoji="1" lang="ja-JP" altLang="en-US" dirty="0"/>
          </a:p>
        </p:txBody>
      </p:sp>
      <p:sp>
        <p:nvSpPr>
          <p:cNvPr id="4" name="スライド番号プレースホルダー 3">
            <a:extLst>
              <a:ext uri="{FF2B5EF4-FFF2-40B4-BE49-F238E27FC236}">
                <a16:creationId xmlns:a16="http://schemas.microsoft.com/office/drawing/2014/main" id="{A025F43D-347C-BA2C-D2F0-13E438FFE560}"/>
              </a:ext>
            </a:extLst>
          </p:cNvPr>
          <p:cNvSpPr>
            <a:spLocks noGrp="1"/>
          </p:cNvSpPr>
          <p:nvPr>
            <p:ph type="sldNum" sz="quarter" idx="4"/>
          </p:nvPr>
        </p:nvSpPr>
        <p:spPr/>
        <p:txBody>
          <a:bodyPr/>
          <a:lstStyle/>
          <a:p>
            <a:fld id="{C088C981-6885-4100-82A1-DE7074EC4480}" type="slidenum">
              <a:rPr lang="ja-JP" altLang="en-US" smtClean="0"/>
              <a:t>17</a:t>
            </a:fld>
            <a:endParaRPr lang="ja-JP" altLang="en-US"/>
          </a:p>
        </p:txBody>
      </p:sp>
    </p:spTree>
    <p:extLst>
      <p:ext uri="{BB962C8B-B14F-4D97-AF65-F5344CB8AC3E}">
        <p14:creationId xmlns:p14="http://schemas.microsoft.com/office/powerpoint/2010/main" val="2353379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DB8E758D-F008-BD99-2240-A6DECCA3A3FA}"/>
              </a:ext>
            </a:extLst>
          </p:cNvPr>
          <p:cNvSpPr>
            <a:spLocks noGrp="1"/>
          </p:cNvSpPr>
          <p:nvPr>
            <p:ph idx="1"/>
          </p:nvPr>
        </p:nvSpPr>
        <p:spPr/>
        <p:txBody>
          <a:bodyPr/>
          <a:lstStyle/>
          <a:p>
            <a:endParaRPr kumimoji="1" lang="ja-JP" altLang="en-US"/>
          </a:p>
        </p:txBody>
      </p:sp>
      <p:sp>
        <p:nvSpPr>
          <p:cNvPr id="3" name="タイトル 2">
            <a:extLst>
              <a:ext uri="{FF2B5EF4-FFF2-40B4-BE49-F238E27FC236}">
                <a16:creationId xmlns:a16="http://schemas.microsoft.com/office/drawing/2014/main" id="{105B70CD-3384-D4D6-2B9A-12473B0E1F36}"/>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152AAE-2CA8-1307-BD3E-AC2EB21AD015}"/>
              </a:ext>
            </a:extLst>
          </p:cNvPr>
          <p:cNvSpPr>
            <a:spLocks noGrp="1"/>
          </p:cNvSpPr>
          <p:nvPr>
            <p:ph type="sldNum" sz="quarter" idx="4"/>
          </p:nvPr>
        </p:nvSpPr>
        <p:spPr/>
        <p:txBody>
          <a:bodyPr/>
          <a:lstStyle/>
          <a:p>
            <a:fld id="{C088C981-6885-4100-82A1-DE7074EC4480}" type="slidenum">
              <a:rPr lang="ja-JP" altLang="en-US" smtClean="0"/>
              <a:t>18</a:t>
            </a:fld>
            <a:endParaRPr lang="ja-JP" altLang="en-US"/>
          </a:p>
        </p:txBody>
      </p:sp>
    </p:spTree>
    <p:extLst>
      <p:ext uri="{BB962C8B-B14F-4D97-AF65-F5344CB8AC3E}">
        <p14:creationId xmlns:p14="http://schemas.microsoft.com/office/powerpoint/2010/main" val="3060315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コンテンツ プレースホルダー 4">
            <a:extLst>
              <a:ext uri="{FF2B5EF4-FFF2-40B4-BE49-F238E27FC236}">
                <a16:creationId xmlns:a16="http://schemas.microsoft.com/office/drawing/2014/main" id="{7CCA79C2-CB9E-00BF-8CB4-8D63C162298F}"/>
              </a:ext>
            </a:extLst>
          </p:cNvPr>
          <p:cNvGraphicFramePr>
            <a:graphicFrameLocks noGrp="1"/>
          </p:cNvGraphicFramePr>
          <p:nvPr>
            <p:ph idx="1"/>
            <p:extLst>
              <p:ext uri="{D42A27DB-BD31-4B8C-83A1-F6EECF244321}">
                <p14:modId xmlns:p14="http://schemas.microsoft.com/office/powerpoint/2010/main" val="2569164230"/>
              </p:ext>
            </p:extLst>
          </p:nvPr>
        </p:nvGraphicFramePr>
        <p:xfrm>
          <a:off x="80962" y="1691640"/>
          <a:ext cx="8982075" cy="3474720"/>
        </p:xfrm>
        <a:graphic>
          <a:graphicData uri="http://schemas.openxmlformats.org/drawingml/2006/table">
            <a:tbl>
              <a:tblPr firstRow="1" bandRow="1">
                <a:tableStyleId>{5C22544A-7EE6-4342-B048-85BDC9FD1C3A}</a:tableStyleId>
              </a:tblPr>
              <a:tblGrid>
                <a:gridCol w="2866853">
                  <a:extLst>
                    <a:ext uri="{9D8B030D-6E8A-4147-A177-3AD203B41FA5}">
                      <a16:colId xmlns:a16="http://schemas.microsoft.com/office/drawing/2014/main" val="2095240577"/>
                    </a:ext>
                  </a:extLst>
                </a:gridCol>
                <a:gridCol w="3057611">
                  <a:extLst>
                    <a:ext uri="{9D8B030D-6E8A-4147-A177-3AD203B41FA5}">
                      <a16:colId xmlns:a16="http://schemas.microsoft.com/office/drawing/2014/main" val="1744216221"/>
                    </a:ext>
                  </a:extLst>
                </a:gridCol>
                <a:gridCol w="3057611">
                  <a:extLst>
                    <a:ext uri="{9D8B030D-6E8A-4147-A177-3AD203B41FA5}">
                      <a16:colId xmlns:a16="http://schemas.microsoft.com/office/drawing/2014/main" val="1641432424"/>
                    </a:ext>
                  </a:extLst>
                </a:gridCol>
              </a:tblGrid>
              <a:tr h="285897">
                <a:tc>
                  <a:txBody>
                    <a:bodyPr/>
                    <a:lstStyle/>
                    <a:p>
                      <a:pPr algn="ctr"/>
                      <a:r>
                        <a:rPr kumimoji="1" lang="ja-JP" altLang="en-US" b="1" dirty="0">
                          <a:latin typeface="ＭＳ ゴシック" panose="020B0609070205080204" pitchFamily="49" charset="-128"/>
                          <a:ea typeface="ＭＳ ゴシック" panose="020B0609070205080204" pitchFamily="49" charset="-128"/>
                        </a:rPr>
                        <a:t>カテゴリ</a:t>
                      </a:r>
                    </a:p>
                  </a:txBody>
                  <a:tcPr/>
                </a:tc>
                <a:tc>
                  <a:txBody>
                    <a:bodyPr/>
                    <a:lstStyle/>
                    <a:p>
                      <a:pPr algn="ctr"/>
                      <a:r>
                        <a:rPr kumimoji="1" lang="ja-JP" altLang="en-US" dirty="0">
                          <a:latin typeface="ＭＳ Ｐゴシック" panose="020B0600070205080204" pitchFamily="50" charset="-128"/>
                          <a:ea typeface="ＭＳ Ｐゴシック" panose="020B0600070205080204" pitchFamily="50" charset="-128"/>
                        </a:rPr>
                        <a:t>設定項目</a:t>
                      </a:r>
                    </a:p>
                  </a:txBody>
                  <a:tcPr/>
                </a:tc>
                <a:tc>
                  <a:txBody>
                    <a:bodyPr/>
                    <a:lstStyle/>
                    <a:p>
                      <a:pPr algn="ctr"/>
                      <a:r>
                        <a:rPr kumimoji="1" lang="ja-JP" altLang="en-US" dirty="0">
                          <a:latin typeface="ＭＳ ゴシック" panose="020B0609070205080204" pitchFamily="49" charset="-128"/>
                          <a:ea typeface="ＭＳ ゴシック" panose="020B0609070205080204" pitchFamily="49" charset="-128"/>
                        </a:rPr>
                        <a:t>設定例</a:t>
                      </a:r>
                    </a:p>
                  </a:txBody>
                  <a:tcPr/>
                </a:tc>
                <a:extLst>
                  <a:ext uri="{0D108BD9-81ED-4DB2-BD59-A6C34878D82A}">
                    <a16:rowId xmlns:a16="http://schemas.microsoft.com/office/drawing/2014/main" val="2710469583"/>
                  </a:ext>
                </a:extLst>
              </a:tr>
              <a:tr h="285897">
                <a:tc rowSpan="3">
                  <a:txBody>
                    <a:bodyPr/>
                    <a:lstStyle/>
                    <a:p>
                      <a:pPr algn="ctr"/>
                      <a:r>
                        <a:rPr lang="ja-JP" altLang="ja-JP" b="1" dirty="0"/>
                        <a:t>モデル</a:t>
                      </a:r>
                      <a:r>
                        <a:rPr lang="ja-JP" altLang="en-US" b="1" dirty="0"/>
                        <a:t>の構造・軽量化設定</a:t>
                      </a:r>
                      <a:endParaRPr kumimoji="1" lang="ja-JP" altLang="en-US" b="1" dirty="0">
                        <a:latin typeface="ＭＳ ゴシック" panose="020B0609070205080204" pitchFamily="49" charset="-128"/>
                        <a:ea typeface="ＭＳ ゴシック" panose="020B0609070205080204" pitchFamily="49" charset="-128"/>
                      </a:endParaRPr>
                    </a:p>
                  </a:txBody>
                  <a:tcPr/>
                </a:tc>
                <a:tc>
                  <a:txBody>
                    <a:bodyPr/>
                    <a:lstStyle/>
                    <a:p>
                      <a:pPr algn="l"/>
                      <a:r>
                        <a:rPr lang="ja-JP" altLang="ja-JP" dirty="0">
                          <a:latin typeface="ＭＳ Ｐゴシック" panose="020B0600070205080204" pitchFamily="50" charset="-128"/>
                          <a:ea typeface="ＭＳ Ｐゴシック" panose="020B0600070205080204" pitchFamily="50" charset="-128"/>
                        </a:rPr>
                        <a:t>集約アルゴリズム</a:t>
                      </a:r>
                    </a:p>
                  </a:txBody>
                  <a:tcPr/>
                </a:tc>
                <a:tc>
                  <a:txBody>
                    <a:bodyPr/>
                    <a:lstStyle/>
                    <a:p>
                      <a:pPr algn="ctr"/>
                      <a:r>
                        <a:rPr kumimoji="1" lang="en-US" altLang="ja-JP" dirty="0" err="1">
                          <a:latin typeface="ＭＳ Ｐゴシック" panose="020B0600070205080204" pitchFamily="50" charset="-128"/>
                          <a:ea typeface="ＭＳ Ｐゴシック" panose="020B0600070205080204" pitchFamily="50" charset="-128"/>
                        </a:rPr>
                        <a:t>FedAvg</a:t>
                      </a:r>
                      <a:endParaRPr kumimoji="1" lang="ja-JP" altLang="en-US" dirty="0">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3034554542"/>
                  </a:ext>
                </a:extLst>
              </a:tr>
              <a:tr h="500320">
                <a:tc vMerge="1">
                  <a:txBody>
                    <a:bodyPr/>
                    <a:lstStyle/>
                    <a:p>
                      <a:endParaRPr kumimoji="1" lang="ja-JP" altLang="en-US"/>
                    </a:p>
                  </a:txBody>
                  <a:tcPr/>
                </a:tc>
                <a:tc>
                  <a:txBody>
                    <a:bodyPr/>
                    <a:lstStyle/>
                    <a:p>
                      <a:pPr algn="l"/>
                      <a:r>
                        <a:rPr lang="ja-JP" altLang="ja-JP" dirty="0">
                          <a:latin typeface="ＭＳ Ｐゴシック" panose="020B0600070205080204" pitchFamily="50" charset="-128"/>
                          <a:ea typeface="ＭＳ Ｐゴシック" panose="020B0600070205080204" pitchFamily="50" charset="-128"/>
                        </a:rPr>
                        <a:t>LoRA設定（r，alpha，target modules</a:t>
                      </a:r>
                      <a:r>
                        <a:rPr lang="ja-JP" altLang="en-US" dirty="0">
                          <a:latin typeface="ＭＳ Ｐゴシック" panose="020B0600070205080204" pitchFamily="50" charset="-128"/>
                          <a:ea typeface="ＭＳ Ｐゴシック" panose="020B0600070205080204" pitchFamily="50" charset="-128"/>
                        </a:rPr>
                        <a:t>など</a:t>
                      </a:r>
                      <a:r>
                        <a:rPr lang="ja-JP" altLang="ja-JP" dirty="0">
                          <a:latin typeface="ＭＳ Ｐゴシック" panose="020B0600070205080204" pitchFamily="50" charset="-128"/>
                          <a:ea typeface="ＭＳ Ｐゴシック" panose="020B0600070205080204" pitchFamily="50" charset="-128"/>
                        </a:rPr>
                        <a:t>）</a:t>
                      </a:r>
                    </a:p>
                  </a:txBody>
                  <a:tcPr/>
                </a:tc>
                <a:tc>
                  <a:txBody>
                    <a:bodyPr/>
                    <a:lstStyle/>
                    <a:p>
                      <a:pPr algn="ctr"/>
                      <a:r>
                        <a:rPr kumimoji="1" lang="ja-JP" altLang="en-US" dirty="0">
                          <a:latin typeface="ＭＳ Ｐゴシック" panose="020B0600070205080204" pitchFamily="50" charset="-128"/>
                          <a:ea typeface="ＭＳ Ｐゴシック" panose="020B0600070205080204" pitchFamily="50" charset="-128"/>
                        </a:rPr>
                        <a:t>以前と同様</a:t>
                      </a:r>
                    </a:p>
                  </a:txBody>
                  <a:tcPr/>
                </a:tc>
                <a:extLst>
                  <a:ext uri="{0D108BD9-81ED-4DB2-BD59-A6C34878D82A}">
                    <a16:rowId xmlns:a16="http://schemas.microsoft.com/office/drawing/2014/main" val="1006607358"/>
                  </a:ext>
                </a:extLst>
              </a:tr>
              <a:tr h="285897">
                <a:tc vMerge="1">
                  <a:txBody>
                    <a:bodyPr/>
                    <a:lstStyle/>
                    <a:p>
                      <a:pPr algn="ctr"/>
                      <a:endParaRPr kumimoji="1" lang="ja-JP" altLang="en-US" b="1">
                        <a:latin typeface="ＭＳ ゴシック" panose="020B0609070205080204" pitchFamily="49" charset="-128"/>
                        <a:ea typeface="ＭＳ ゴシック" panose="020B0609070205080204" pitchFamily="49" charset="-128"/>
                      </a:endParaRPr>
                    </a:p>
                  </a:txBody>
                  <a:tcPr/>
                </a:tc>
                <a:tc>
                  <a:txBody>
                    <a:bodyPr/>
                    <a:lstStyle/>
                    <a:p>
                      <a:pPr algn="l"/>
                      <a:r>
                        <a:rPr lang="ja-JP" altLang="ja-JP" dirty="0">
                          <a:latin typeface="ＭＳ Ｐゴシック" panose="020B0600070205080204" pitchFamily="50" charset="-128"/>
                          <a:ea typeface="ＭＳ Ｐゴシック" panose="020B0600070205080204" pitchFamily="50" charset="-128"/>
                        </a:rPr>
                        <a:t>量子化有無</a:t>
                      </a:r>
                    </a:p>
                  </a:txBody>
                  <a:tcPr/>
                </a:tc>
                <a:tc>
                  <a:txBody>
                    <a:bodyPr/>
                    <a:lstStyle/>
                    <a:p>
                      <a:pPr algn="ctr"/>
                      <a:r>
                        <a:rPr kumimoji="1" lang="ja-JP" altLang="en-US" dirty="0">
                          <a:latin typeface="ＭＳ Ｐゴシック" panose="020B0600070205080204" pitchFamily="50" charset="-128"/>
                          <a:ea typeface="ＭＳ Ｐゴシック" panose="020B0600070205080204" pitchFamily="50" charset="-128"/>
                        </a:rPr>
                        <a:t>無し</a:t>
                      </a:r>
                    </a:p>
                  </a:txBody>
                  <a:tcPr/>
                </a:tc>
                <a:extLst>
                  <a:ext uri="{0D108BD9-81ED-4DB2-BD59-A6C34878D82A}">
                    <a16:rowId xmlns:a16="http://schemas.microsoft.com/office/drawing/2014/main" val="3401273769"/>
                  </a:ext>
                </a:extLst>
              </a:tr>
              <a:tr h="285897">
                <a:tc rowSpan="4">
                  <a:txBody>
                    <a:bodyPr/>
                    <a:lstStyle/>
                    <a:p>
                      <a:pPr algn="ctr"/>
                      <a:r>
                        <a:rPr lang="ja-JP" altLang="ja-JP" b="1"/>
                        <a:t>ローカル学習</a:t>
                      </a:r>
                      <a:endParaRPr kumimoji="1" lang="ja-JP" altLang="en-US" b="1">
                        <a:latin typeface="ＭＳ ゴシック" panose="020B0609070205080204" pitchFamily="49" charset="-128"/>
                        <a:ea typeface="ＭＳ ゴシック" panose="020B0609070205080204" pitchFamily="49" charset="-128"/>
                      </a:endParaRPr>
                    </a:p>
                  </a:txBody>
                  <a:tcPr/>
                </a:tc>
                <a:tc>
                  <a:txBody>
                    <a:bodyPr/>
                    <a:lstStyle/>
                    <a:p>
                      <a:pPr algn="l"/>
                      <a:r>
                        <a:rPr kumimoji="1" lang="ja-JP" altLang="en-US" dirty="0">
                          <a:latin typeface="ＭＳ Ｐゴシック" panose="020B0600070205080204" pitchFamily="50" charset="-128"/>
                          <a:ea typeface="ＭＳ Ｐゴシック" panose="020B0600070205080204" pitchFamily="50" charset="-128"/>
                        </a:rPr>
                        <a:t>ローカルエポック数</a:t>
                      </a:r>
                    </a:p>
                  </a:txBody>
                  <a:tcPr/>
                </a:tc>
                <a:tc>
                  <a:txBody>
                    <a:bodyPr/>
                    <a:lstStyle/>
                    <a:p>
                      <a:pPr algn="ctr"/>
                      <a:r>
                        <a:rPr kumimoji="1" lang="en-US" altLang="ja-JP" dirty="0">
                          <a:latin typeface="ＭＳ Ｐゴシック" panose="020B0600070205080204" pitchFamily="50" charset="-128"/>
                          <a:ea typeface="ＭＳ Ｐゴシック" panose="020B0600070205080204" pitchFamily="50" charset="-128"/>
                        </a:rPr>
                        <a:t>2</a:t>
                      </a:r>
                      <a:endParaRPr kumimoji="1" lang="ja-JP" altLang="en-US" dirty="0">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1492703663"/>
                  </a:ext>
                </a:extLst>
              </a:tr>
              <a:tr h="285897">
                <a:tc vMerge="1">
                  <a:txBody>
                    <a:bodyPr/>
                    <a:lstStyle/>
                    <a:p>
                      <a:pPr algn="ctr"/>
                      <a:endParaRPr kumimoji="1" lang="ja-JP" altLang="en-US" b="1">
                        <a:latin typeface="ＭＳ ゴシック" panose="020B0609070205080204" pitchFamily="49" charset="-128"/>
                        <a:ea typeface="ＭＳ ゴシック" panose="020B0609070205080204" pitchFamily="49" charset="-128"/>
                      </a:endParaRPr>
                    </a:p>
                  </a:txBody>
                  <a:tcPr/>
                </a:tc>
                <a:tc>
                  <a:txBody>
                    <a:bodyPr/>
                    <a:lstStyle/>
                    <a:p>
                      <a:pPr algn="l"/>
                      <a:r>
                        <a:rPr lang="ja-JP" altLang="ja-JP" dirty="0">
                          <a:latin typeface="ＭＳ Ｐゴシック" panose="020B0600070205080204" pitchFamily="50" charset="-128"/>
                          <a:ea typeface="ＭＳ Ｐゴシック" panose="020B0600070205080204" pitchFamily="50" charset="-128"/>
                        </a:rPr>
                        <a:t>batch_size</a:t>
                      </a:r>
                      <a:endParaRPr kumimoji="1" lang="ja-JP" altLang="en-US" dirty="0">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dirty="0">
                          <a:latin typeface="ＭＳ Ｐゴシック" panose="020B0600070205080204" pitchFamily="50" charset="-128"/>
                          <a:ea typeface="ＭＳ Ｐゴシック" panose="020B0600070205080204" pitchFamily="50" charset="-128"/>
                        </a:rPr>
                        <a:t>1</a:t>
                      </a:r>
                      <a:endParaRPr kumimoji="1" lang="ja-JP" altLang="en-US" dirty="0">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1655075862"/>
                  </a:ext>
                </a:extLst>
              </a:tr>
              <a:tr h="285897">
                <a:tc vMerge="1">
                  <a:txBody>
                    <a:bodyPr/>
                    <a:lstStyle/>
                    <a:p>
                      <a:pPr algn="ctr"/>
                      <a:endParaRPr kumimoji="1" lang="ja-JP" altLang="en-US" b="1">
                        <a:latin typeface="ＭＳ ゴシック" panose="020B0609070205080204" pitchFamily="49" charset="-128"/>
                        <a:ea typeface="ＭＳ ゴシック" panose="020B0609070205080204" pitchFamily="49" charset="-128"/>
                      </a:endParaRPr>
                    </a:p>
                  </a:txBody>
                  <a:tcPr/>
                </a:tc>
                <a:tc>
                  <a:txBody>
                    <a:bodyPr/>
                    <a:lstStyle/>
                    <a:p>
                      <a:pPr algn="l"/>
                      <a:r>
                        <a:rPr lang="ja-JP" altLang="ja-JP" dirty="0">
                          <a:latin typeface="ＭＳ Ｐゴシック" panose="020B0600070205080204" pitchFamily="50" charset="-128"/>
                          <a:ea typeface="ＭＳ Ｐゴシック" panose="020B0600070205080204" pitchFamily="50" charset="-128"/>
                        </a:rPr>
                        <a:t>学習率</a:t>
                      </a:r>
                      <a:endParaRPr kumimoji="1" lang="ja-JP" altLang="en-US" dirty="0">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dirty="0">
                          <a:latin typeface="ＭＳ Ｐゴシック" panose="020B0600070205080204" pitchFamily="50" charset="-128"/>
                          <a:ea typeface="ＭＳ Ｐゴシック" panose="020B0600070205080204" pitchFamily="50" charset="-128"/>
                        </a:rPr>
                        <a:t>0.0001</a:t>
                      </a:r>
                      <a:endParaRPr kumimoji="1" lang="ja-JP" altLang="en-US" dirty="0">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245938642"/>
                  </a:ext>
                </a:extLst>
              </a:tr>
              <a:tr h="500320">
                <a:tc vMerge="1">
                  <a:txBody>
                    <a:bodyPr/>
                    <a:lstStyle/>
                    <a:p>
                      <a:pPr algn="ctr"/>
                      <a:endParaRPr kumimoji="1" lang="ja-JP" altLang="en-US" b="1">
                        <a:latin typeface="ＭＳ ゴシック" panose="020B0609070205080204" pitchFamily="49" charset="-128"/>
                        <a:ea typeface="ＭＳ ゴシック" panose="020B0609070205080204" pitchFamily="49" charset="-128"/>
                      </a:endParaRPr>
                    </a:p>
                  </a:txBody>
                  <a:tcPr/>
                </a:tc>
                <a:tc>
                  <a:txBody>
                    <a:bodyPr/>
                    <a:lstStyle/>
                    <a:p>
                      <a:pPr algn="l"/>
                      <a:r>
                        <a:rPr lang="ja-JP" altLang="ja-JP">
                          <a:latin typeface="ＭＳ Ｐゴシック" panose="020B0600070205080204" pitchFamily="50" charset="-128"/>
                          <a:ea typeface="ＭＳ Ｐゴシック" panose="020B0600070205080204" pitchFamily="50" charset="-128"/>
                        </a:rPr>
                        <a:t>AMPやgradient checkpointingの有無</a:t>
                      </a:r>
                      <a:endParaRPr kumimoji="1" lang="ja-JP" altLang="en-US">
                        <a:latin typeface="ＭＳ Ｐゴシック" panose="020B0600070205080204" pitchFamily="50" charset="-128"/>
                        <a:ea typeface="ＭＳ Ｐゴシック" panose="020B0600070205080204" pitchFamily="50" charset="-128"/>
                      </a:endParaRPr>
                    </a:p>
                  </a:txBody>
                  <a:tcPr/>
                </a:tc>
                <a:tc>
                  <a:txBody>
                    <a:bodyPr/>
                    <a:lstStyle/>
                    <a:p>
                      <a:pPr algn="ctr"/>
                      <a:r>
                        <a:rPr kumimoji="1" lang="ja-JP" altLang="en-US" dirty="0">
                          <a:latin typeface="ＭＳ Ｐゴシック" panose="020B0600070205080204" pitchFamily="50" charset="-128"/>
                          <a:ea typeface="ＭＳ Ｐゴシック" panose="020B0600070205080204" pitchFamily="50" charset="-128"/>
                        </a:rPr>
                        <a:t>有（</a:t>
                      </a:r>
                      <a:r>
                        <a:rPr kumimoji="1" lang="en-US" altLang="ja-JP" dirty="0">
                          <a:latin typeface="ＭＳ Ｐゴシック" panose="020B0600070205080204" pitchFamily="50" charset="-128"/>
                          <a:ea typeface="ＭＳ Ｐゴシック" panose="020B0600070205080204" pitchFamily="50" charset="-128"/>
                        </a:rPr>
                        <a:t>run</a:t>
                      </a:r>
                      <a:r>
                        <a:rPr kumimoji="1" lang="ja-JP" altLang="en-US" dirty="0">
                          <a:latin typeface="ＭＳ Ｐゴシック" panose="020B0600070205080204" pitchFamily="50" charset="-128"/>
                          <a:ea typeface="ＭＳ Ｐゴシック" panose="020B0600070205080204" pitchFamily="50" charset="-128"/>
                        </a:rPr>
                        <a:t>のみ</a:t>
                      </a:r>
                      <a:r>
                        <a:rPr kumimoji="1" lang="en-US" altLang="ja-JP" dirty="0">
                          <a:latin typeface="ＭＳ Ｐゴシック" panose="020B0600070205080204" pitchFamily="50" charset="-128"/>
                          <a:ea typeface="ＭＳ Ｐゴシック" panose="020B0600070205080204" pitchFamily="50" charset="-128"/>
                        </a:rPr>
                        <a:t>bfloat16</a:t>
                      </a:r>
                      <a:r>
                        <a:rPr kumimoji="1" lang="ja-JP" altLang="en-US" dirty="0">
                          <a:latin typeface="ＭＳ Ｐゴシック" panose="020B0600070205080204" pitchFamily="50" charset="-128"/>
                          <a:ea typeface="ＭＳ Ｐゴシック" panose="020B0600070205080204" pitchFamily="50" charset="-128"/>
                        </a:rPr>
                        <a:t>）</a:t>
                      </a:r>
                    </a:p>
                  </a:txBody>
                  <a:tcPr/>
                </a:tc>
                <a:extLst>
                  <a:ext uri="{0D108BD9-81ED-4DB2-BD59-A6C34878D82A}">
                    <a16:rowId xmlns:a16="http://schemas.microsoft.com/office/drawing/2014/main" val="2000511991"/>
                  </a:ext>
                </a:extLst>
              </a:tr>
            </a:tbl>
          </a:graphicData>
        </a:graphic>
      </p:graphicFrame>
      <p:sp>
        <p:nvSpPr>
          <p:cNvPr id="3" name="タイトル 2">
            <a:extLst>
              <a:ext uri="{FF2B5EF4-FFF2-40B4-BE49-F238E27FC236}">
                <a16:creationId xmlns:a16="http://schemas.microsoft.com/office/drawing/2014/main" id="{AF1AAD5F-D1FA-1507-9925-44951A3AF36D}"/>
              </a:ext>
            </a:extLst>
          </p:cNvPr>
          <p:cNvSpPr>
            <a:spLocks noGrp="1"/>
          </p:cNvSpPr>
          <p:nvPr>
            <p:ph type="title"/>
          </p:nvPr>
        </p:nvSpPr>
        <p:spPr/>
        <p:txBody>
          <a:bodyPr/>
          <a:lstStyle/>
          <a:p>
            <a:r>
              <a:rPr lang="ja-JP" altLang="en-US" dirty="0"/>
              <a:t>連合学習</a:t>
            </a:r>
            <a:r>
              <a:rPr lang="ja-JP" altLang="ja-JP" dirty="0"/>
              <a:t>パイプライン</a:t>
            </a:r>
            <a:r>
              <a:rPr lang="ja-JP" altLang="en-US" dirty="0"/>
              <a:t>の設定</a:t>
            </a:r>
            <a:endParaRPr kumimoji="1" lang="ja-JP" altLang="en-US" dirty="0"/>
          </a:p>
        </p:txBody>
      </p:sp>
      <p:sp>
        <p:nvSpPr>
          <p:cNvPr id="4" name="スライド番号プレースホルダー 3">
            <a:extLst>
              <a:ext uri="{FF2B5EF4-FFF2-40B4-BE49-F238E27FC236}">
                <a16:creationId xmlns:a16="http://schemas.microsoft.com/office/drawing/2014/main" id="{2BAA180D-0BFE-1959-E946-EF279C096FCB}"/>
              </a:ext>
            </a:extLst>
          </p:cNvPr>
          <p:cNvSpPr>
            <a:spLocks noGrp="1"/>
          </p:cNvSpPr>
          <p:nvPr>
            <p:ph type="sldNum" sz="quarter" idx="4"/>
          </p:nvPr>
        </p:nvSpPr>
        <p:spPr/>
        <p:txBody>
          <a:bodyPr/>
          <a:lstStyle/>
          <a:p>
            <a:fld id="{C088C981-6885-4100-82A1-DE7074EC4480}" type="slidenum">
              <a:rPr lang="ja-JP" altLang="en-US" smtClean="0"/>
              <a:t>19</a:t>
            </a:fld>
            <a:endParaRPr lang="ja-JP" altLang="en-US"/>
          </a:p>
        </p:txBody>
      </p:sp>
    </p:spTree>
    <p:extLst>
      <p:ext uri="{BB962C8B-B14F-4D97-AF65-F5344CB8AC3E}">
        <p14:creationId xmlns:p14="http://schemas.microsoft.com/office/powerpoint/2010/main" val="1903105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8415E-62AC-0B66-C397-50F229AF9B25}"/>
            </a:ext>
          </a:extLst>
        </p:cNvPr>
        <p:cNvGrpSpPr/>
        <p:nvPr/>
      </p:nvGrpSpPr>
      <p:grpSpPr>
        <a:xfrm>
          <a:off x="0" y="0"/>
          <a:ext cx="0" cy="0"/>
          <a:chOff x="0" y="0"/>
          <a:chExt cx="0" cy="0"/>
        </a:xfrm>
      </p:grpSpPr>
      <p:graphicFrame>
        <p:nvGraphicFramePr>
          <p:cNvPr id="5" name="コンテンツ プレースホルダー 4">
            <a:extLst>
              <a:ext uri="{FF2B5EF4-FFF2-40B4-BE49-F238E27FC236}">
                <a16:creationId xmlns:a16="http://schemas.microsoft.com/office/drawing/2014/main" id="{8DA86715-3A22-1E16-9AC5-4E5160A66720}"/>
              </a:ext>
            </a:extLst>
          </p:cNvPr>
          <p:cNvGraphicFramePr>
            <a:graphicFrameLocks noGrp="1"/>
          </p:cNvGraphicFramePr>
          <p:nvPr>
            <p:ph idx="1"/>
            <p:extLst>
              <p:ext uri="{D42A27DB-BD31-4B8C-83A1-F6EECF244321}">
                <p14:modId xmlns:p14="http://schemas.microsoft.com/office/powerpoint/2010/main" val="2740852943"/>
              </p:ext>
            </p:extLst>
          </p:nvPr>
        </p:nvGraphicFramePr>
        <p:xfrm>
          <a:off x="80962" y="1417320"/>
          <a:ext cx="8982075" cy="4023360"/>
        </p:xfrm>
        <a:graphic>
          <a:graphicData uri="http://schemas.openxmlformats.org/drawingml/2006/table">
            <a:tbl>
              <a:tblPr firstRow="1" bandRow="1">
                <a:tableStyleId>{5C22544A-7EE6-4342-B048-85BDC9FD1C3A}</a:tableStyleId>
              </a:tblPr>
              <a:tblGrid>
                <a:gridCol w="2866853">
                  <a:extLst>
                    <a:ext uri="{9D8B030D-6E8A-4147-A177-3AD203B41FA5}">
                      <a16:colId xmlns:a16="http://schemas.microsoft.com/office/drawing/2014/main" val="2360704675"/>
                    </a:ext>
                  </a:extLst>
                </a:gridCol>
                <a:gridCol w="3057611">
                  <a:extLst>
                    <a:ext uri="{9D8B030D-6E8A-4147-A177-3AD203B41FA5}">
                      <a16:colId xmlns:a16="http://schemas.microsoft.com/office/drawing/2014/main" val="678603841"/>
                    </a:ext>
                  </a:extLst>
                </a:gridCol>
                <a:gridCol w="3057611">
                  <a:extLst>
                    <a:ext uri="{9D8B030D-6E8A-4147-A177-3AD203B41FA5}">
                      <a16:colId xmlns:a16="http://schemas.microsoft.com/office/drawing/2014/main" val="2701589013"/>
                    </a:ext>
                  </a:extLst>
                </a:gridCol>
              </a:tblGrid>
              <a:tr h="285897">
                <a:tc>
                  <a:txBody>
                    <a:bodyPr/>
                    <a:lstStyle/>
                    <a:p>
                      <a:pPr algn="ctr"/>
                      <a:r>
                        <a:rPr kumimoji="1" lang="ja-JP" altLang="en-US" b="1" dirty="0">
                          <a:latin typeface="ＭＳ ゴシック" panose="020B0609070205080204" pitchFamily="49" charset="-128"/>
                          <a:ea typeface="ＭＳ ゴシック" panose="020B0609070205080204" pitchFamily="49" charset="-128"/>
                        </a:rPr>
                        <a:t>カテゴリ</a:t>
                      </a:r>
                    </a:p>
                  </a:txBody>
                  <a:tcPr/>
                </a:tc>
                <a:tc>
                  <a:txBody>
                    <a:bodyPr/>
                    <a:lstStyle/>
                    <a:p>
                      <a:pPr algn="ctr"/>
                      <a:r>
                        <a:rPr kumimoji="1" lang="ja-JP" altLang="en-US" dirty="0">
                          <a:latin typeface="ＭＳ Ｐゴシック" panose="020B0600070205080204" pitchFamily="50" charset="-128"/>
                          <a:ea typeface="ＭＳ Ｐゴシック" panose="020B0600070205080204" pitchFamily="50" charset="-128"/>
                        </a:rPr>
                        <a:t>設定項目</a:t>
                      </a:r>
                    </a:p>
                  </a:txBody>
                  <a:tcPr/>
                </a:tc>
                <a:tc>
                  <a:txBody>
                    <a:bodyPr/>
                    <a:lstStyle/>
                    <a:p>
                      <a:pPr algn="ctr"/>
                      <a:r>
                        <a:rPr kumimoji="1" lang="ja-JP" altLang="en-US" dirty="0">
                          <a:latin typeface="ＭＳ ゴシック" panose="020B0609070205080204" pitchFamily="49" charset="-128"/>
                          <a:ea typeface="ＭＳ ゴシック" panose="020B0609070205080204" pitchFamily="49" charset="-128"/>
                        </a:rPr>
                        <a:t>設定例</a:t>
                      </a:r>
                    </a:p>
                  </a:txBody>
                  <a:tcPr/>
                </a:tc>
                <a:extLst>
                  <a:ext uri="{0D108BD9-81ED-4DB2-BD59-A6C34878D82A}">
                    <a16:rowId xmlns:a16="http://schemas.microsoft.com/office/drawing/2014/main" val="3269995526"/>
                  </a:ext>
                </a:extLst>
              </a:tr>
              <a:tr h="285897">
                <a:tc rowSpan="4">
                  <a:txBody>
                    <a:bodyPr/>
                    <a:lstStyle/>
                    <a:p>
                      <a:pPr algn="ctr"/>
                      <a:r>
                        <a:rPr kumimoji="1" lang="ja-JP" altLang="en-US" b="1">
                          <a:latin typeface="ＭＳ ゴシック" panose="020B0609070205080204" pitchFamily="49" charset="-128"/>
                          <a:ea typeface="ＭＳ ゴシック" panose="020B0609070205080204" pitchFamily="49" charset="-128"/>
                        </a:rPr>
                        <a:t>連合学習の全体設定</a:t>
                      </a:r>
                    </a:p>
                  </a:txBody>
                  <a:tcPr>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latin typeface="ＭＳ Ｐゴシック" panose="020B0600070205080204" pitchFamily="50" charset="-128"/>
                          <a:ea typeface="ＭＳ Ｐゴシック" panose="020B0600070205080204" pitchFamily="50" charset="-128"/>
                        </a:rPr>
                        <a:t>集約アルゴリズム</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err="1">
                          <a:latin typeface="ＭＳ Ｐゴシック" panose="020B0600070205080204" pitchFamily="50" charset="-128"/>
                          <a:ea typeface="ＭＳ Ｐゴシック" panose="020B0600070205080204" pitchFamily="50" charset="-128"/>
                        </a:rPr>
                        <a:t>FedAvg</a:t>
                      </a:r>
                      <a:endParaRPr kumimoji="1" lang="ja-JP" altLang="en-US">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1683049980"/>
                  </a:ext>
                </a:extLst>
              </a:tr>
              <a:tr h="285897">
                <a:tc vMerge="1">
                  <a:txBody>
                    <a:bodyPr/>
                    <a:lstStyle/>
                    <a:p>
                      <a:endParaRPr kumimoji="1" lang="ja-JP" altLang="en-US"/>
                    </a:p>
                  </a:txBody>
                  <a:tcPr/>
                </a:tc>
                <a:tc>
                  <a:txBody>
                    <a:bodyPr/>
                    <a:lstStyle/>
                    <a:p>
                      <a:pPr algn="l"/>
                      <a:r>
                        <a:rPr kumimoji="1" lang="ja-JP" altLang="en-US" dirty="0">
                          <a:latin typeface="ＭＳ Ｐゴシック" panose="020B0600070205080204" pitchFamily="50" charset="-128"/>
                          <a:ea typeface="ＭＳ Ｐゴシック" panose="020B0600070205080204" pitchFamily="50" charset="-128"/>
                        </a:rPr>
                        <a:t>クライアント数</a:t>
                      </a:r>
                    </a:p>
                  </a:txBody>
                  <a:tcPr/>
                </a:tc>
                <a:tc>
                  <a:txBody>
                    <a:bodyPr/>
                    <a:lstStyle/>
                    <a:p>
                      <a:pPr algn="ctr"/>
                      <a:r>
                        <a:rPr kumimoji="1" lang="en-US" altLang="ja-JP" dirty="0">
                          <a:latin typeface="ＭＳ Ｐゴシック" panose="020B0600070205080204" pitchFamily="50" charset="-128"/>
                          <a:ea typeface="ＭＳ Ｐゴシック" panose="020B0600070205080204" pitchFamily="50" charset="-128"/>
                        </a:rPr>
                        <a:t>1</a:t>
                      </a:r>
                      <a:endParaRPr kumimoji="1" lang="ja-JP" altLang="en-US" dirty="0">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26158626"/>
                  </a:ext>
                </a:extLst>
              </a:tr>
              <a:tr h="285897">
                <a:tc vMerge="1">
                  <a:txBody>
                    <a:bodyPr/>
                    <a:lstStyle/>
                    <a:p>
                      <a:endParaRPr kumimoji="1" lang="ja-JP" altLang="en-US"/>
                    </a:p>
                  </a:txBody>
                  <a:tcPr/>
                </a:tc>
                <a:tc>
                  <a:txBody>
                    <a:bodyPr/>
                    <a:lstStyle/>
                    <a:p>
                      <a:pPr algn="l"/>
                      <a:r>
                        <a:rPr lang="ja-JP" altLang="ja-JP" b="0" dirty="0">
                          <a:solidFill>
                            <a:schemeClr val="tx1"/>
                          </a:solidFill>
                          <a:latin typeface="ＭＳ Ｐゴシック" panose="020B0600070205080204" pitchFamily="50" charset="-128"/>
                          <a:ea typeface="ＭＳ Ｐゴシック" panose="020B0600070205080204" pitchFamily="50" charset="-128"/>
                        </a:rPr>
                        <a:t>通信ラウンド数</a:t>
                      </a:r>
                    </a:p>
                  </a:txBody>
                  <a:tcPr/>
                </a:tc>
                <a:tc>
                  <a:txBody>
                    <a:bodyPr/>
                    <a:lstStyle/>
                    <a:p>
                      <a:pPr algn="ctr"/>
                      <a:r>
                        <a:rPr kumimoji="1" lang="en-US" altLang="ja-JP" b="0" dirty="0">
                          <a:solidFill>
                            <a:schemeClr val="tx1"/>
                          </a:solidFill>
                          <a:latin typeface="ＭＳ Ｐゴシック" panose="020B0600070205080204" pitchFamily="50" charset="-128"/>
                          <a:ea typeface="ＭＳ Ｐゴシック" panose="020B0600070205080204" pitchFamily="50" charset="-128"/>
                        </a:rPr>
                        <a:t>3</a:t>
                      </a:r>
                      <a:endParaRPr kumimoji="1" lang="ja-JP" altLang="en-US" b="0" dirty="0">
                        <a:solidFill>
                          <a:schemeClr val="tx1"/>
                        </a:solidFill>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2253150288"/>
                  </a:ext>
                </a:extLst>
              </a:tr>
              <a:tr h="285897">
                <a:tc vMerge="1">
                  <a:txBody>
                    <a:bodyPr/>
                    <a:lstStyle/>
                    <a:p>
                      <a:endParaRPr kumimoji="1" lang="ja-JP" altLang="en-US"/>
                    </a:p>
                  </a:txBody>
                  <a:tcPr/>
                </a:tc>
                <a:tc>
                  <a:txBody>
                    <a:bodyPr/>
                    <a:lstStyle/>
                    <a:p>
                      <a:pPr algn="l"/>
                      <a:r>
                        <a:rPr lang="ja-JP" altLang="ja-JP" b="0">
                          <a:solidFill>
                            <a:schemeClr val="tx1"/>
                          </a:solidFill>
                          <a:latin typeface="ＭＳ Ｐゴシック" panose="020B0600070205080204" pitchFamily="50" charset="-128"/>
                          <a:ea typeface="ＭＳ Ｐゴシック" panose="020B0600070205080204" pitchFamily="50" charset="-128"/>
                        </a:rPr>
                        <a:t>1ラウンドの参加数</a:t>
                      </a:r>
                      <a:endParaRPr kumimoji="1" lang="ja-JP" altLang="en-US" b="0" dirty="0">
                        <a:solidFill>
                          <a:schemeClr val="tx1"/>
                        </a:solidFill>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b="0" dirty="0">
                          <a:solidFill>
                            <a:schemeClr val="tx1"/>
                          </a:solidFill>
                          <a:latin typeface="ＭＳ Ｐゴシック" panose="020B0600070205080204" pitchFamily="50" charset="-128"/>
                          <a:ea typeface="ＭＳ Ｐゴシック" panose="020B0600070205080204" pitchFamily="50" charset="-128"/>
                        </a:rPr>
                        <a:t>1</a:t>
                      </a:r>
                      <a:endParaRPr kumimoji="1" lang="ja-JP" altLang="en-US" b="0" dirty="0">
                        <a:solidFill>
                          <a:schemeClr val="tx1"/>
                        </a:solidFill>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3281532902"/>
                  </a:ext>
                </a:extLst>
              </a:tr>
              <a:tr h="285897">
                <a:tc rowSpan="6">
                  <a:txBody>
                    <a:bodyPr/>
                    <a:lstStyle/>
                    <a:p>
                      <a:pPr algn="ctr"/>
                      <a:r>
                        <a:rPr kumimoji="1" lang="ja-JP" altLang="en-US" b="1"/>
                        <a:t>データと入力の仕様</a:t>
                      </a:r>
                      <a:endParaRPr kumimoji="1" lang="ja-JP" altLang="en-US" b="1">
                        <a:latin typeface="ＭＳ ゴシック" panose="020B0609070205080204" pitchFamily="49" charset="-128"/>
                        <a:ea typeface="ＭＳ ゴシック" panose="020B0609070205080204" pitchFamily="49" charset="-128"/>
                      </a:endParaRPr>
                    </a:p>
                  </a:txBody>
                  <a:tcPr/>
                </a:tc>
                <a:tc>
                  <a:txBody>
                    <a:bodyPr/>
                    <a:lstStyle/>
                    <a:p>
                      <a:pPr algn="l"/>
                      <a:r>
                        <a:rPr lang="ja-JP" altLang="ja-JP" dirty="0">
                          <a:latin typeface="ＭＳ Ｐゴシック" panose="020B0600070205080204" pitchFamily="50" charset="-128"/>
                          <a:ea typeface="ＭＳ Ｐゴシック" panose="020B0600070205080204" pitchFamily="50" charset="-128"/>
                        </a:rPr>
                        <a:t>データ分割方式</a:t>
                      </a:r>
                      <a:endParaRPr kumimoji="1" lang="ja-JP" altLang="en-US" dirty="0">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dirty="0" err="1">
                          <a:latin typeface="ＭＳ Ｐゴシック" panose="020B0600070205080204" pitchFamily="50" charset="-128"/>
                          <a:ea typeface="ＭＳ Ｐゴシック" panose="020B0600070205080204" pitchFamily="50" charset="-128"/>
                        </a:rPr>
                        <a:t>Iid</a:t>
                      </a:r>
                      <a:endParaRPr kumimoji="1" lang="ja-JP" altLang="en-US" dirty="0">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3812477755"/>
                  </a:ext>
                </a:extLst>
              </a:tr>
              <a:tr h="285897">
                <a:tc vMerge="1">
                  <a:txBody>
                    <a:bodyPr/>
                    <a:lstStyle/>
                    <a:p>
                      <a:endParaRPr kumimoji="1" lang="ja-JP" altLang="en-US"/>
                    </a:p>
                  </a:txBody>
                  <a:tcPr/>
                </a:tc>
                <a:tc>
                  <a:txBody>
                    <a:bodyPr/>
                    <a:lstStyle/>
                    <a:p>
                      <a:pPr algn="l"/>
                      <a:r>
                        <a:rPr kumimoji="1" lang="ja-JP" altLang="en-US" dirty="0">
                          <a:latin typeface="ＭＳ Ｐゴシック" panose="020B0600070205080204" pitchFamily="50" charset="-128"/>
                          <a:ea typeface="ＭＳ Ｐゴシック" panose="020B0600070205080204" pitchFamily="50" charset="-128"/>
                        </a:rPr>
                        <a:t>フレーム数</a:t>
                      </a:r>
                    </a:p>
                  </a:txBody>
                  <a:tcPr/>
                </a:tc>
                <a:tc>
                  <a:txBody>
                    <a:bodyPr/>
                    <a:lstStyle/>
                    <a:p>
                      <a:pPr algn="ctr"/>
                      <a:r>
                        <a:rPr kumimoji="1" lang="en-US" altLang="ja-JP" dirty="0">
                          <a:latin typeface="ＭＳ Ｐゴシック" panose="020B0600070205080204" pitchFamily="50" charset="-128"/>
                          <a:ea typeface="ＭＳ Ｐゴシック" panose="020B0600070205080204" pitchFamily="50" charset="-128"/>
                        </a:rPr>
                        <a:t>4</a:t>
                      </a:r>
                      <a:endParaRPr kumimoji="1" lang="ja-JP" altLang="en-US" dirty="0">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2519447216"/>
                  </a:ext>
                </a:extLst>
              </a:tr>
              <a:tr h="0">
                <a:tc vMerge="1">
                  <a:txBody>
                    <a:bodyPr/>
                    <a:lstStyle/>
                    <a:p>
                      <a:endParaRPr kumimoji="1" lang="ja-JP" altLang="en-US"/>
                    </a:p>
                  </a:txBody>
                  <a:tcPr/>
                </a:tc>
                <a:tc>
                  <a:txBody>
                    <a:bodyPr/>
                    <a:lstStyle/>
                    <a:p>
                      <a:pPr algn="l"/>
                      <a:r>
                        <a:rPr lang="ja-JP" altLang="en-US" dirty="0">
                          <a:latin typeface="ＭＳ Ｐゴシック" panose="020B0600070205080204" pitchFamily="50" charset="-128"/>
                          <a:ea typeface="ＭＳ Ｐゴシック" panose="020B0600070205080204" pitchFamily="50" charset="-128"/>
                        </a:rPr>
                        <a:t>クライアント学習 </a:t>
                      </a:r>
                      <a:endParaRPr kumimoji="1" lang="ja-JP" altLang="en-US" dirty="0">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dirty="0">
                          <a:latin typeface="ＭＳ Ｐゴシック" panose="020B0600070205080204" pitchFamily="50" charset="-128"/>
                          <a:ea typeface="ＭＳ Ｐゴシック" panose="020B0600070205080204" pitchFamily="50" charset="-128"/>
                        </a:rPr>
                        <a:t>100</a:t>
                      </a:r>
                      <a:endParaRPr kumimoji="1" lang="ja-JP" altLang="en-US" dirty="0">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3051676866"/>
                  </a:ext>
                </a:extLst>
              </a:tr>
              <a:tr h="274320">
                <a:tc vMerge="1">
                  <a:txBody>
                    <a:bodyPr/>
                    <a:lstStyle/>
                    <a:p>
                      <a:endParaRPr kumimoji="1" lang="ja-JP" altLang="en-US"/>
                    </a:p>
                  </a:txBody>
                  <a:tcPr/>
                </a:tc>
                <a:tc>
                  <a:txBody>
                    <a:bodyPr/>
                    <a:lstStyle/>
                    <a:p>
                      <a:pPr algn="l"/>
                      <a:r>
                        <a:rPr lang="ja-JP" altLang="en-US" dirty="0">
                          <a:latin typeface="ＭＳ Ｐゴシック" panose="020B0600070205080204" pitchFamily="50" charset="-128"/>
                          <a:ea typeface="ＭＳ Ｐゴシック" panose="020B0600070205080204" pitchFamily="50" charset="-128"/>
                        </a:rPr>
                        <a:t>クライアント評価</a:t>
                      </a:r>
                      <a:endParaRPr kumimoji="1" lang="ja-JP" altLang="en-US" dirty="0">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dirty="0">
                          <a:latin typeface="ＭＳ Ｐゴシック" panose="020B0600070205080204" pitchFamily="50" charset="-128"/>
                          <a:ea typeface="ＭＳ Ｐゴシック" panose="020B0600070205080204" pitchFamily="50" charset="-128"/>
                        </a:rPr>
                        <a:t>30</a:t>
                      </a:r>
                      <a:endParaRPr kumimoji="1" lang="ja-JP" altLang="en-US" dirty="0">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1431904154"/>
                  </a:ext>
                </a:extLst>
              </a:tr>
              <a:tr h="182880">
                <a:tc vMerge="1">
                  <a:txBody>
                    <a:bodyPr/>
                    <a:lstStyle/>
                    <a:p>
                      <a:endParaRPr kumimoji="1" lang="ja-JP" altLang="en-US"/>
                    </a:p>
                  </a:txBody>
                  <a:tcPr/>
                </a:tc>
                <a:tc>
                  <a:txBody>
                    <a:bodyPr/>
                    <a:lstStyle/>
                    <a:p>
                      <a:pPr algn="l"/>
                      <a:r>
                        <a:rPr lang="ja-JP" altLang="en-US" dirty="0">
                          <a:latin typeface="ＭＳ Ｐゴシック" panose="020B0600070205080204" pitchFamily="50" charset="-128"/>
                          <a:ea typeface="ＭＳ Ｐゴシック" panose="020B0600070205080204" pitchFamily="50" charset="-128"/>
                        </a:rPr>
                        <a:t>サーバ学習</a:t>
                      </a:r>
                      <a:endParaRPr kumimoji="1" lang="ja-JP" altLang="en-US" dirty="0">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dirty="0">
                          <a:latin typeface="ＭＳ Ｐゴシック" panose="020B0600070205080204" pitchFamily="50" charset="-128"/>
                          <a:ea typeface="ＭＳ Ｐゴシック" panose="020B0600070205080204" pitchFamily="50" charset="-128"/>
                        </a:rPr>
                        <a:t>50</a:t>
                      </a:r>
                      <a:endParaRPr kumimoji="1" lang="ja-JP" altLang="en-US" dirty="0">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545504254"/>
                  </a:ext>
                </a:extLst>
              </a:tr>
              <a:tr h="0">
                <a:tc vMerge="1">
                  <a:txBody>
                    <a:bodyPr/>
                    <a:lstStyle/>
                    <a:p>
                      <a:endParaRPr kumimoji="1" lang="ja-JP" altLang="en-US"/>
                    </a:p>
                  </a:txBody>
                  <a:tcPr/>
                </a:tc>
                <a:tc>
                  <a:txBody>
                    <a:bodyPr/>
                    <a:lstStyle/>
                    <a:p>
                      <a:pPr algn="l"/>
                      <a:r>
                        <a:rPr lang="ja-JP" altLang="en-US" dirty="0">
                          <a:latin typeface="ＭＳ Ｐゴシック" panose="020B0600070205080204" pitchFamily="50" charset="-128"/>
                          <a:ea typeface="ＭＳ Ｐゴシック" panose="020B0600070205080204" pitchFamily="50" charset="-128"/>
                        </a:rPr>
                        <a:t>サーバ評価</a:t>
                      </a:r>
                      <a:endParaRPr kumimoji="1" lang="ja-JP" altLang="en-US" dirty="0">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dirty="0">
                          <a:latin typeface="ＭＳ Ｐゴシック" panose="020B0600070205080204" pitchFamily="50" charset="-128"/>
                          <a:ea typeface="ＭＳ Ｐゴシック" panose="020B0600070205080204" pitchFamily="50" charset="-128"/>
                        </a:rPr>
                        <a:t>30</a:t>
                      </a:r>
                      <a:endParaRPr kumimoji="1" lang="ja-JP" altLang="en-US" dirty="0">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3855567946"/>
                  </a:ext>
                </a:extLst>
              </a:tr>
            </a:tbl>
          </a:graphicData>
        </a:graphic>
      </p:graphicFrame>
      <p:sp>
        <p:nvSpPr>
          <p:cNvPr id="3" name="タイトル 2">
            <a:extLst>
              <a:ext uri="{FF2B5EF4-FFF2-40B4-BE49-F238E27FC236}">
                <a16:creationId xmlns:a16="http://schemas.microsoft.com/office/drawing/2014/main" id="{C5315603-A6EE-D371-8E60-CEA7FFD077F5}"/>
              </a:ext>
            </a:extLst>
          </p:cNvPr>
          <p:cNvSpPr>
            <a:spLocks noGrp="1"/>
          </p:cNvSpPr>
          <p:nvPr>
            <p:ph type="title"/>
          </p:nvPr>
        </p:nvSpPr>
        <p:spPr/>
        <p:txBody>
          <a:bodyPr/>
          <a:lstStyle/>
          <a:p>
            <a:r>
              <a:rPr lang="ja-JP" altLang="en-US" dirty="0"/>
              <a:t>連合学習</a:t>
            </a:r>
            <a:r>
              <a:rPr lang="ja-JP" altLang="ja-JP" dirty="0"/>
              <a:t>パイプライン</a:t>
            </a:r>
            <a:r>
              <a:rPr lang="ja-JP" altLang="en-US" dirty="0"/>
              <a:t>の設定</a:t>
            </a:r>
            <a:endParaRPr kumimoji="1" lang="ja-JP" altLang="en-US" dirty="0"/>
          </a:p>
        </p:txBody>
      </p:sp>
      <p:sp>
        <p:nvSpPr>
          <p:cNvPr id="4" name="スライド番号プレースホルダー 3">
            <a:extLst>
              <a:ext uri="{FF2B5EF4-FFF2-40B4-BE49-F238E27FC236}">
                <a16:creationId xmlns:a16="http://schemas.microsoft.com/office/drawing/2014/main" id="{7C7B8FB2-5347-89C0-4C66-971266CC639D}"/>
              </a:ext>
            </a:extLst>
          </p:cNvPr>
          <p:cNvSpPr>
            <a:spLocks noGrp="1"/>
          </p:cNvSpPr>
          <p:nvPr>
            <p:ph type="sldNum" sz="quarter" idx="4"/>
          </p:nvPr>
        </p:nvSpPr>
        <p:spPr/>
        <p:txBody>
          <a:bodyPr/>
          <a:lstStyle/>
          <a:p>
            <a:fld id="{C088C981-6885-4100-82A1-DE7074EC4480}" type="slidenum">
              <a:rPr lang="ja-JP" altLang="en-US" smtClean="0"/>
              <a:t>20</a:t>
            </a:fld>
            <a:endParaRPr lang="ja-JP" altLang="en-US"/>
          </a:p>
        </p:txBody>
      </p:sp>
    </p:spTree>
    <p:extLst>
      <p:ext uri="{BB962C8B-B14F-4D97-AF65-F5344CB8AC3E}">
        <p14:creationId xmlns:p14="http://schemas.microsoft.com/office/powerpoint/2010/main" val="22440526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83583-C502-8C2F-8106-05C46570E567}"/>
            </a:ext>
          </a:extLst>
        </p:cNvPr>
        <p:cNvGrpSpPr/>
        <p:nvPr/>
      </p:nvGrpSpPr>
      <p:grpSpPr>
        <a:xfrm>
          <a:off x="0" y="0"/>
          <a:ext cx="0" cy="0"/>
          <a:chOff x="0" y="0"/>
          <a:chExt cx="0" cy="0"/>
        </a:xfrm>
      </p:grpSpPr>
      <p:graphicFrame>
        <p:nvGraphicFramePr>
          <p:cNvPr id="8" name="コンテンツ プレースホルダー 7">
            <a:extLst>
              <a:ext uri="{FF2B5EF4-FFF2-40B4-BE49-F238E27FC236}">
                <a16:creationId xmlns:a16="http://schemas.microsoft.com/office/drawing/2014/main" id="{49D6D717-E6FC-286C-E1EA-C9A606A979A4}"/>
              </a:ext>
            </a:extLst>
          </p:cNvPr>
          <p:cNvGraphicFramePr>
            <a:graphicFrameLocks noGrp="1"/>
          </p:cNvGraphicFramePr>
          <p:nvPr>
            <p:ph idx="1"/>
            <p:extLst>
              <p:ext uri="{D42A27DB-BD31-4B8C-83A1-F6EECF244321}">
                <p14:modId xmlns:p14="http://schemas.microsoft.com/office/powerpoint/2010/main" val="2424399339"/>
              </p:ext>
            </p:extLst>
          </p:nvPr>
        </p:nvGraphicFramePr>
        <p:xfrm>
          <a:off x="1260469" y="2101287"/>
          <a:ext cx="6623062" cy="1666080"/>
        </p:xfrm>
        <a:graphic>
          <a:graphicData uri="http://schemas.openxmlformats.org/drawingml/2006/table">
            <a:tbl>
              <a:tblPr firstRow="1" firstCol="1" bandRow="1">
                <a:tableStyleId>{5C22544A-7EE6-4342-B048-85BDC9FD1C3A}</a:tableStyleId>
              </a:tblPr>
              <a:tblGrid>
                <a:gridCol w="409555">
                  <a:extLst>
                    <a:ext uri="{9D8B030D-6E8A-4147-A177-3AD203B41FA5}">
                      <a16:colId xmlns:a16="http://schemas.microsoft.com/office/drawing/2014/main" val="1598768619"/>
                    </a:ext>
                  </a:extLst>
                </a:gridCol>
                <a:gridCol w="1552656">
                  <a:extLst>
                    <a:ext uri="{9D8B030D-6E8A-4147-A177-3AD203B41FA5}">
                      <a16:colId xmlns:a16="http://schemas.microsoft.com/office/drawing/2014/main" val="1517561440"/>
                    </a:ext>
                  </a:extLst>
                </a:gridCol>
                <a:gridCol w="1553617">
                  <a:extLst>
                    <a:ext uri="{9D8B030D-6E8A-4147-A177-3AD203B41FA5}">
                      <a16:colId xmlns:a16="http://schemas.microsoft.com/office/drawing/2014/main" val="2915673569"/>
                    </a:ext>
                  </a:extLst>
                </a:gridCol>
                <a:gridCol w="1553617">
                  <a:extLst>
                    <a:ext uri="{9D8B030D-6E8A-4147-A177-3AD203B41FA5}">
                      <a16:colId xmlns:a16="http://schemas.microsoft.com/office/drawing/2014/main" val="3706188884"/>
                    </a:ext>
                  </a:extLst>
                </a:gridCol>
                <a:gridCol w="1553617">
                  <a:extLst>
                    <a:ext uri="{9D8B030D-6E8A-4147-A177-3AD203B41FA5}">
                      <a16:colId xmlns:a16="http://schemas.microsoft.com/office/drawing/2014/main" val="2837739366"/>
                    </a:ext>
                  </a:extLst>
                </a:gridCol>
              </a:tblGrid>
              <a:tr h="666432">
                <a:tc>
                  <a:txBody>
                    <a:bodyPr/>
                    <a:lstStyle/>
                    <a:p>
                      <a:pPr>
                        <a:buNone/>
                      </a:pPr>
                      <a:r>
                        <a:rPr lang="en-US" sz="2000" kern="100" dirty="0">
                          <a:effectLst/>
                        </a:rPr>
                        <a:t>R</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en-US" altLang="ja-JP" sz="2000" kern="100" dirty="0" err="1">
                          <a:effectLst/>
                        </a:rPr>
                        <a:t>C</a:t>
                      </a:r>
                      <a:r>
                        <a:rPr lang="en-US" sz="2000" kern="100" dirty="0" err="1">
                          <a:effectLst/>
                        </a:rPr>
                        <a:t>_acc</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en-US" sz="2000" kern="100" dirty="0" err="1">
                          <a:effectLst/>
                        </a:rPr>
                        <a:t>S_acc</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en-US" sz="2000" kern="100" dirty="0">
                          <a:effectLst/>
                        </a:rPr>
                        <a:t>s_f1</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en-US" sz="2000" kern="100" dirty="0" err="1">
                          <a:effectLst/>
                        </a:rPr>
                        <a:t>Lpred</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3781947735"/>
                  </a:ext>
                </a:extLst>
              </a:tr>
              <a:tr h="333216">
                <a:tc>
                  <a:txBody>
                    <a:bodyPr/>
                    <a:lstStyle/>
                    <a:p>
                      <a:pPr>
                        <a:buNone/>
                      </a:pPr>
                      <a:r>
                        <a:rPr lang="en-US" sz="2000" kern="100" cap="all" dirty="0">
                          <a:effectLst/>
                        </a:rPr>
                        <a:t>1</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en-US" sz="2000" kern="100" dirty="0">
                          <a:effectLst/>
                        </a:rPr>
                        <a:t>0.</a:t>
                      </a:r>
                      <a:r>
                        <a:rPr lang="en-US" altLang="ja-JP" sz="2000" kern="100" dirty="0">
                          <a:effectLst/>
                        </a:rPr>
                        <a:t>667</a:t>
                      </a:r>
                    </a:p>
                  </a:txBody>
                  <a:tcPr marL="68580" marR="68580" marT="0" marB="0"/>
                </a:tc>
                <a:tc>
                  <a:txBody>
                    <a:bodyPr/>
                    <a:lstStyle/>
                    <a:p>
                      <a:pPr>
                        <a:buNone/>
                      </a:pPr>
                      <a:r>
                        <a:rPr lang="en-US" sz="2000" kern="100" dirty="0">
                          <a:effectLst/>
                        </a:rPr>
                        <a:t>0.533</a:t>
                      </a:r>
                      <a:endParaRPr lang="en-US" altLang="ja-JP" sz="2000" kern="100" dirty="0">
                        <a:effectLst/>
                      </a:endParaRPr>
                    </a:p>
                  </a:txBody>
                  <a:tcPr marL="68580" marR="68580" marT="0" marB="0"/>
                </a:tc>
                <a:tc>
                  <a:txBody>
                    <a:bodyPr/>
                    <a:lstStyle/>
                    <a:p>
                      <a:pPr>
                        <a:buNone/>
                      </a:pPr>
                      <a:r>
                        <a:rPr lang="en-US" sz="2000" kern="100" dirty="0">
                          <a:effectLst/>
                        </a:rPr>
                        <a:t>0.574</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r>
                        <a:rPr kumimoji="1" lang="ja-JP" altLang="ja-JP" sz="1800" kern="1200" dirty="0">
                          <a:solidFill>
                            <a:schemeClr val="dk1"/>
                          </a:solidFill>
                          <a:latin typeface="+mn-lt"/>
                          <a:ea typeface="+mn-ea"/>
                          <a:cs typeface="+mn-cs"/>
                        </a:rPr>
                        <a:t>1.54e-4</a:t>
                      </a:r>
                    </a:p>
                  </a:txBody>
                  <a:tcPr marL="68580" marR="68580" marT="0" marB="0"/>
                </a:tc>
                <a:extLst>
                  <a:ext uri="{0D108BD9-81ED-4DB2-BD59-A6C34878D82A}">
                    <a16:rowId xmlns:a16="http://schemas.microsoft.com/office/drawing/2014/main" val="4090492979"/>
                  </a:ext>
                </a:extLst>
              </a:tr>
              <a:tr h="333216">
                <a:tc>
                  <a:txBody>
                    <a:bodyPr/>
                    <a:lstStyle/>
                    <a:p>
                      <a:pPr>
                        <a:buNone/>
                      </a:pPr>
                      <a:r>
                        <a:rPr lang="en-US" sz="2000" kern="100" cap="all">
                          <a:effectLst/>
                        </a:rPr>
                        <a:t>2</a:t>
                      </a:r>
                      <a:endParaRPr lang="ja-JP" sz="20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en-US" sz="2000" kern="100" dirty="0">
                          <a:effectLst/>
                        </a:rPr>
                        <a:t>0.700</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en-US" sz="2000" kern="100" dirty="0">
                          <a:effectLst/>
                        </a:rPr>
                        <a:t>0.533</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en-US" sz="2000" kern="100" dirty="0">
                          <a:effectLst/>
                        </a:rPr>
                        <a:t>0.591</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r>
                        <a:rPr kumimoji="1" lang="ja-JP" altLang="ja-JP" sz="1800" kern="1200" dirty="0">
                          <a:solidFill>
                            <a:schemeClr val="dk1"/>
                          </a:solidFill>
                          <a:latin typeface="+mn-lt"/>
                          <a:ea typeface="+mn-ea"/>
                          <a:cs typeface="+mn-cs"/>
                        </a:rPr>
                        <a:t>1.90e-3</a:t>
                      </a:r>
                    </a:p>
                  </a:txBody>
                  <a:tcPr marL="68580" marR="68580" marT="0" marB="0"/>
                </a:tc>
                <a:extLst>
                  <a:ext uri="{0D108BD9-81ED-4DB2-BD59-A6C34878D82A}">
                    <a16:rowId xmlns:a16="http://schemas.microsoft.com/office/drawing/2014/main" val="936111106"/>
                  </a:ext>
                </a:extLst>
              </a:tr>
              <a:tr h="333216">
                <a:tc>
                  <a:txBody>
                    <a:bodyPr/>
                    <a:lstStyle/>
                    <a:p>
                      <a:pPr>
                        <a:buNone/>
                      </a:pPr>
                      <a:r>
                        <a:rPr lang="en-US" sz="2000" kern="100" cap="all">
                          <a:effectLst/>
                        </a:rPr>
                        <a:t>3</a:t>
                      </a:r>
                      <a:endParaRPr lang="ja-JP" sz="20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en-US" sz="2000" kern="100" dirty="0">
                          <a:effectLst/>
                        </a:rPr>
                        <a:t>0.700</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en-US" sz="2000" kern="100" dirty="0">
                          <a:effectLst/>
                        </a:rPr>
                        <a:t>0.6</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en-US" sz="2000" kern="100" dirty="0">
                          <a:effectLst/>
                        </a:rPr>
                        <a:t>0.597</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r>
                        <a:rPr kumimoji="1" lang="ja-JP" altLang="ja-JP" sz="1800" kern="1200" dirty="0">
                          <a:solidFill>
                            <a:schemeClr val="dk1"/>
                          </a:solidFill>
                          <a:latin typeface="+mn-lt"/>
                          <a:ea typeface="+mn-ea"/>
                          <a:cs typeface="+mn-cs"/>
                        </a:rPr>
                        <a:t>2.85e-3</a:t>
                      </a:r>
                    </a:p>
                  </a:txBody>
                  <a:tcPr marL="68580" marR="68580" marT="0" marB="0"/>
                </a:tc>
                <a:extLst>
                  <a:ext uri="{0D108BD9-81ED-4DB2-BD59-A6C34878D82A}">
                    <a16:rowId xmlns:a16="http://schemas.microsoft.com/office/drawing/2014/main" val="2659702056"/>
                  </a:ext>
                </a:extLst>
              </a:tr>
            </a:tbl>
          </a:graphicData>
        </a:graphic>
      </p:graphicFrame>
      <p:sp>
        <p:nvSpPr>
          <p:cNvPr id="3" name="タイトル 2">
            <a:extLst>
              <a:ext uri="{FF2B5EF4-FFF2-40B4-BE49-F238E27FC236}">
                <a16:creationId xmlns:a16="http://schemas.microsoft.com/office/drawing/2014/main" id="{D1BCF550-82EF-1BF0-E6DA-5F6AB6F143E6}"/>
              </a:ext>
            </a:extLst>
          </p:cNvPr>
          <p:cNvSpPr>
            <a:spLocks noGrp="1"/>
          </p:cNvSpPr>
          <p:nvPr>
            <p:ph type="title"/>
          </p:nvPr>
        </p:nvSpPr>
        <p:spPr/>
        <p:txBody>
          <a:bodyPr/>
          <a:lstStyle/>
          <a:p>
            <a:r>
              <a:rPr kumimoji="1" lang="ja-JP" altLang="en-US" dirty="0"/>
              <a:t>実験結果（ラウンド別ー</a:t>
            </a:r>
            <a:r>
              <a:rPr kumimoji="1" lang="en-US" altLang="ja-JP" dirty="0" err="1"/>
              <a:t>Lpred</a:t>
            </a:r>
            <a:r>
              <a:rPr kumimoji="1" lang="ja-JP" altLang="en-US" dirty="0"/>
              <a:t> ）</a:t>
            </a:r>
          </a:p>
        </p:txBody>
      </p:sp>
      <p:sp>
        <p:nvSpPr>
          <p:cNvPr id="4" name="スライド番号プレースホルダー 3">
            <a:extLst>
              <a:ext uri="{FF2B5EF4-FFF2-40B4-BE49-F238E27FC236}">
                <a16:creationId xmlns:a16="http://schemas.microsoft.com/office/drawing/2014/main" id="{8BBB4646-8979-4B37-0190-468920CC3667}"/>
              </a:ext>
            </a:extLst>
          </p:cNvPr>
          <p:cNvSpPr>
            <a:spLocks noGrp="1"/>
          </p:cNvSpPr>
          <p:nvPr>
            <p:ph type="sldNum" sz="quarter" idx="4"/>
          </p:nvPr>
        </p:nvSpPr>
        <p:spPr/>
        <p:txBody>
          <a:bodyPr/>
          <a:lstStyle/>
          <a:p>
            <a:fld id="{C088C981-6885-4100-82A1-DE7074EC4480}" type="slidenum">
              <a:rPr lang="ja-JP" altLang="en-US" smtClean="0"/>
              <a:t>21</a:t>
            </a:fld>
            <a:endParaRPr lang="ja-JP" altLang="en-US"/>
          </a:p>
        </p:txBody>
      </p:sp>
    </p:spTree>
    <p:extLst>
      <p:ext uri="{BB962C8B-B14F-4D97-AF65-F5344CB8AC3E}">
        <p14:creationId xmlns:p14="http://schemas.microsoft.com/office/powerpoint/2010/main" val="1735374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380F4E8-B5AC-D3F4-49E1-52506036373B}"/>
              </a:ext>
            </a:extLst>
          </p:cNvPr>
          <p:cNvSpPr>
            <a:spLocks noGrp="1"/>
          </p:cNvSpPr>
          <p:nvPr>
            <p:ph idx="1"/>
          </p:nvPr>
        </p:nvSpPr>
        <p:spPr/>
        <p:txBody>
          <a:bodyPr>
            <a:normAutofit fontScale="62500" lnSpcReduction="20000"/>
          </a:bodyPr>
          <a:lstStyle/>
          <a:p>
            <a:pPr marL="0" indent="0">
              <a:buNone/>
            </a:pPr>
            <a:r>
              <a:rPr lang="ja-JP" altLang="ja-JP" dirty="0"/>
              <a:t>【クライアント → サーバ】</a:t>
            </a:r>
          </a:p>
          <a:p>
            <a:r>
              <a:rPr lang="ja-JP" altLang="ja-JP" dirty="0"/>
              <a:t>  送っているもの: 更新後クライアント LoRA 重み（+ ヘッド）</a:t>
            </a:r>
          </a:p>
          <a:p>
            <a:r>
              <a:rPr lang="ja-JP" altLang="ja-JP" dirty="0"/>
              <a:t>  送っていないもの:</a:t>
            </a:r>
          </a:p>
          <a:p>
            <a:pPr lvl="1"/>
            <a:r>
              <a:rPr lang="ja-JP" altLang="ja-JP" dirty="0"/>
              <a:t>    logits / 出力分布</a:t>
            </a:r>
            <a:r>
              <a:rPr lang="ja-JP" altLang="en-US" dirty="0"/>
              <a:t>　・　</a:t>
            </a:r>
            <a:r>
              <a:rPr lang="ja-JP" altLang="ja-JP" dirty="0"/>
              <a:t>勾配ベクトル</a:t>
            </a:r>
            <a:r>
              <a:rPr lang="ja-JP" altLang="en-US" dirty="0"/>
              <a:t>　・　</a:t>
            </a:r>
            <a:r>
              <a:rPr lang="ja-JP" altLang="ja-JP" dirty="0"/>
              <a:t>1-step 適応後の出力</a:t>
            </a:r>
          </a:p>
          <a:p>
            <a:endParaRPr lang="ja-JP" altLang="ja-JP" dirty="0"/>
          </a:p>
          <a:p>
            <a:pPr marL="0" indent="0">
              <a:buNone/>
            </a:pPr>
            <a:r>
              <a:rPr lang="ja-JP" altLang="ja-JP" dirty="0"/>
              <a:t>【サーバでの Lpred / Lgrad / Lpost の求め方】</a:t>
            </a:r>
          </a:p>
          <a:p>
            <a:r>
              <a:rPr lang="ja-JP" altLang="ja-JP" dirty="0"/>
              <a:t>   サーバ整合50件の各サンプル</a:t>
            </a:r>
            <a:r>
              <a:rPr lang="ja-JP" altLang="en-US" dirty="0"/>
              <a:t>で</a:t>
            </a:r>
            <a:r>
              <a:rPr lang="ja-JP" altLang="ja-JP" dirty="0"/>
              <a:t>同一モデル</a:t>
            </a:r>
            <a:r>
              <a:rPr lang="ja-JP" altLang="en-US" dirty="0"/>
              <a:t>（</a:t>
            </a:r>
            <a:r>
              <a:rPr lang="en-US" altLang="ja-JP" dirty="0"/>
              <a:t>3B/3B</a:t>
            </a:r>
            <a:r>
              <a:rPr lang="ja-JP" altLang="en-US" dirty="0"/>
              <a:t>）</a:t>
            </a:r>
            <a:r>
              <a:rPr lang="ja-JP" altLang="ja-JP" dirty="0"/>
              <a:t>上</a:t>
            </a:r>
            <a:r>
              <a:rPr lang="ja-JP" altLang="en-US" dirty="0"/>
              <a:t>で</a:t>
            </a:r>
            <a:r>
              <a:rPr lang="ja-JP" altLang="ja-JP" dirty="0"/>
              <a:t>再計算</a:t>
            </a:r>
          </a:p>
          <a:p>
            <a:r>
              <a:rPr lang="ja-JP" altLang="ja-JP" dirty="0"/>
              <a:t>   参照側 = FedAvg 後クライアント LoRA（固定）</a:t>
            </a:r>
            <a:r>
              <a:rPr lang="ja-JP" altLang="en-US" dirty="0"/>
              <a:t>　・　</a:t>
            </a:r>
            <a:r>
              <a:rPr lang="ja-JP" altLang="ja-JP" dirty="0"/>
              <a:t>更新側 = 基盤 LoRA</a:t>
            </a:r>
            <a:endParaRPr lang="en-US" altLang="ja-JP" dirty="0"/>
          </a:p>
          <a:p>
            <a:pPr marL="0" indent="0">
              <a:buNone/>
            </a:pPr>
            <a:endParaRPr lang="ja-JP" altLang="ja-JP" dirty="0"/>
          </a:p>
          <a:p>
            <a:pPr marL="0" indent="0">
              <a:buNone/>
            </a:pPr>
            <a:r>
              <a:rPr lang="ja-JP" altLang="ja-JP" dirty="0"/>
              <a:t>【次段階</a:t>
            </a:r>
            <a:r>
              <a:rPr lang="ja-JP" altLang="en-US" dirty="0"/>
              <a:t> </a:t>
            </a:r>
            <a:r>
              <a:rPr lang="ja-JP" altLang="ja-JP" dirty="0"/>
              <a:t>】</a:t>
            </a:r>
          </a:p>
          <a:p>
            <a:r>
              <a:rPr lang="ja-JP" altLang="ja-JP" dirty="0"/>
              <a:t>  クライアントのローカル100件上で得た  logits / 勾配 / 1-step 出力をサーバへ送り、  集約して基盤 LoRA 更新に使う</a:t>
            </a:r>
          </a:p>
          <a:p>
            <a:pPr marL="0" indent="0">
              <a:buNone/>
            </a:pPr>
            <a:r>
              <a:rPr lang="ja-JP" altLang="ja-JP" dirty="0"/>
              <a:t>（FedDistillation 系を参考）</a:t>
            </a:r>
          </a:p>
          <a:p>
            <a:endParaRPr kumimoji="1" lang="ja-JP" altLang="en-US" dirty="0"/>
          </a:p>
        </p:txBody>
      </p:sp>
      <p:sp>
        <p:nvSpPr>
          <p:cNvPr id="3" name="タイトル 2">
            <a:extLst>
              <a:ext uri="{FF2B5EF4-FFF2-40B4-BE49-F238E27FC236}">
                <a16:creationId xmlns:a16="http://schemas.microsoft.com/office/drawing/2014/main" id="{2542B207-DF5F-28F2-8013-673F6FAEDBE2}"/>
              </a:ext>
            </a:extLst>
          </p:cNvPr>
          <p:cNvSpPr>
            <a:spLocks noGrp="1"/>
          </p:cNvSpPr>
          <p:nvPr>
            <p:ph type="title"/>
          </p:nvPr>
        </p:nvSpPr>
        <p:spPr/>
        <p:txBody>
          <a:bodyPr/>
          <a:lstStyle/>
          <a:p>
            <a:r>
              <a:rPr lang="ja-JP" altLang="en-US" dirty="0"/>
              <a:t>現</a:t>
            </a:r>
            <a:r>
              <a:rPr kumimoji="1" lang="ja-JP" altLang="en-US" dirty="0"/>
              <a:t>実験での計算の仕方</a:t>
            </a:r>
          </a:p>
        </p:txBody>
      </p:sp>
      <p:sp>
        <p:nvSpPr>
          <p:cNvPr id="4" name="スライド番号プレースホルダー 3">
            <a:extLst>
              <a:ext uri="{FF2B5EF4-FFF2-40B4-BE49-F238E27FC236}">
                <a16:creationId xmlns:a16="http://schemas.microsoft.com/office/drawing/2014/main" id="{ED615360-F29E-3F96-940C-D2FDEC1895B5}"/>
              </a:ext>
            </a:extLst>
          </p:cNvPr>
          <p:cNvSpPr>
            <a:spLocks noGrp="1"/>
          </p:cNvSpPr>
          <p:nvPr>
            <p:ph type="sldNum" sz="quarter" idx="4"/>
          </p:nvPr>
        </p:nvSpPr>
        <p:spPr/>
        <p:txBody>
          <a:bodyPr/>
          <a:lstStyle/>
          <a:p>
            <a:fld id="{C088C981-6885-4100-82A1-DE7074EC4480}" type="slidenum">
              <a:rPr lang="ja-JP" altLang="en-US" smtClean="0"/>
              <a:t>22</a:t>
            </a:fld>
            <a:endParaRPr lang="ja-JP" altLang="en-US"/>
          </a:p>
        </p:txBody>
      </p:sp>
    </p:spTree>
    <p:extLst>
      <p:ext uri="{BB962C8B-B14F-4D97-AF65-F5344CB8AC3E}">
        <p14:creationId xmlns:p14="http://schemas.microsoft.com/office/powerpoint/2010/main" val="1189397324"/>
      </p:ext>
    </p:extLst>
  </p:cSld>
  <p:clrMapOvr>
    <a:masterClrMapping/>
  </p:clrMapOvr>
</p:sld>
</file>

<file path=ppt/theme/theme1.xml><?xml version="1.0" encoding="utf-8"?>
<a:theme xmlns:a="http://schemas.openxmlformats.org/drawingml/2006/main" name="2_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3B0447BF5C9DC84BAAF4FC87463999BE" ma:contentTypeVersion="11" ma:contentTypeDescription="新しいドキュメントを作成します。" ma:contentTypeScope="" ma:versionID="3b851bf36d27a7d78bdeef644de25d58">
  <xsd:schema xmlns:xsd="http://www.w3.org/2001/XMLSchema" xmlns:xs="http://www.w3.org/2001/XMLSchema" xmlns:p="http://schemas.microsoft.com/office/2006/metadata/properties" xmlns:ns3="e997c5d7-e5d3-4c5f-8539-ab6f48639008" targetNamespace="http://schemas.microsoft.com/office/2006/metadata/properties" ma:root="true" ma:fieldsID="3ea3743e0cf24c55f9ee43adcfb1c194" ns3:_="">
    <xsd:import namespace="e997c5d7-e5d3-4c5f-8539-ab6f4863900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GenerationTime" minOccurs="0"/>
                <xsd:element ref="ns3:MediaServiceEventHashCode" minOccurs="0"/>
                <xsd:element ref="ns3:MediaServiceSystemTags" minOccurs="0"/>
                <xsd:element ref="ns3:MediaServiceOCR"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97c5d7-e5d3-4c5f-8539-ab6f4863900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LengthInSeconds" ma:index="16" nillable="true" ma:displayName="MediaLengthInSeconds" ma:hidden="true" ma:internalName="MediaLengthInSeconds" ma:readOnly="true">
      <xsd:simpleType>
        <xsd:restriction base="dms:Unknown"/>
      </xsd:simpleType>
    </xsd:element>
    <xsd:element name="MediaServiceLocation" ma:index="17" nillable="true" ma:displayName="Location" ma:description="" ma:indexed="true" ma:internalName="MediaServiceLocation" ma:readOnly="true">
      <xsd:simpleType>
        <xsd:restriction base="dms:Text"/>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997c5d7-e5d3-4c5f-8539-ab6f48639008" xsi:nil="true"/>
  </documentManagement>
</p:properties>
</file>

<file path=customXml/itemProps1.xml><?xml version="1.0" encoding="utf-8"?>
<ds:datastoreItem xmlns:ds="http://schemas.openxmlformats.org/officeDocument/2006/customXml" ds:itemID="{0A1FFCD7-B9C4-4C8A-A8B8-D7D05FAD11B0}">
  <ds:schemaRefs>
    <ds:schemaRef ds:uri="http://schemas.microsoft.com/sharepoint/v3/contenttype/forms"/>
  </ds:schemaRefs>
</ds:datastoreItem>
</file>

<file path=customXml/itemProps2.xml><?xml version="1.0" encoding="utf-8"?>
<ds:datastoreItem xmlns:ds="http://schemas.openxmlformats.org/officeDocument/2006/customXml" ds:itemID="{49CEEB87-ECCB-4BF4-8C3B-9DD829CCF5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97c5d7-e5d3-4c5f-8539-ab6f4863900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00D3286-6851-43FB-A58F-914ED819AE0A}">
  <ds:schemaRefs>
    <ds:schemaRef ds:uri="http://www.w3.org/XML/1998/namespace"/>
    <ds:schemaRef ds:uri="http://purl.org/dc/elements/1.1/"/>
    <ds:schemaRef ds:uri="http://purl.org/dc/dcmitype/"/>
    <ds:schemaRef ds:uri="e997c5d7-e5d3-4c5f-8539-ab6f48639008"/>
    <ds:schemaRef ds:uri="http://schemas.microsoft.com/office/2006/metadata/properties"/>
    <ds:schemaRef ds:uri="http://schemas.microsoft.com/office/2006/documentManagement/types"/>
    <ds:schemaRef ds:uri="http://purl.org/dc/terms/"/>
    <ds:schemaRef ds:uri="http://schemas.microsoft.com/office/infopath/2007/PartnerControls"/>
    <ds:schemaRef ds:uri="http://schemas.openxmlformats.org/package/2006/metadata/core-properties"/>
  </ds:schemaRefs>
</ds:datastoreItem>
</file>

<file path=docMetadata/LabelInfo.xml><?xml version="1.0" encoding="utf-8"?>
<clbl:labelList xmlns:clbl="http://schemas.microsoft.com/office/2020/mipLabelMetadata">
  <clbl:label id="{41e161d0-5b65-430f-b842-a438aa5f1fd2}" enabled="0" method="" siteId="{41e161d0-5b65-430f-b842-a438aa5f1fd2}" removed="1"/>
</clbl:labelList>
</file>

<file path=docProps/app.xml><?xml version="1.0" encoding="utf-8"?>
<Properties xmlns="http://schemas.openxmlformats.org/officeDocument/2006/extended-properties" xmlns:vt="http://schemas.openxmlformats.org/officeDocument/2006/docPropsVTypes">
  <TotalTime>543</TotalTime>
  <Words>4266</Words>
  <Application>Microsoft Office PowerPoint</Application>
  <PresentationFormat>画面に合わせる (4:3)</PresentationFormat>
  <Paragraphs>461</Paragraphs>
  <Slides>23</Slides>
  <Notes>20</Notes>
  <HiddenSlides>3</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23</vt:i4>
      </vt:variant>
    </vt:vector>
  </HeadingPairs>
  <TitlesOfParts>
    <vt:vector size="34" baseType="lpstr">
      <vt:lpstr>ＭＳ Ｐゴシック</vt:lpstr>
      <vt:lpstr>ＭＳ ゴシック</vt:lpstr>
      <vt:lpstr>游ゴシック</vt:lpstr>
      <vt:lpstr>游明朝</vt:lpstr>
      <vt:lpstr>Aptos Slab Black</vt:lpstr>
      <vt:lpstr>Arial</vt:lpstr>
      <vt:lpstr>Calibri</vt:lpstr>
      <vt:lpstr>Cambria Math</vt:lpstr>
      <vt:lpstr>Impact</vt:lpstr>
      <vt:lpstr>Wingdings</vt:lpstr>
      <vt:lpstr>2_Office テーマ</vt:lpstr>
      <vt:lpstr> 進捗会  3B/3B 最小構成での学習（特に基盤モデル更新）ループ完走確認 Surrogateモデルによる連合継続学習</vt:lpstr>
      <vt:lpstr>目的</vt:lpstr>
      <vt:lpstr>前回、何をやってきたか</vt:lpstr>
      <vt:lpstr>研究概要</vt:lpstr>
      <vt:lpstr>実験設定の具体化と実装  3B/3Bの最小構成で surrogate適応情報を用いた基盤モデル更新 を含めたループ  </vt:lpstr>
      <vt:lpstr>研究概要</vt:lpstr>
      <vt:lpstr>1.サーバの起動とLoRA配布</vt:lpstr>
      <vt:lpstr>2. （再）配布後評価</vt:lpstr>
      <vt:lpstr>3．学習（fitフェーズ）</vt:lpstr>
      <vt:lpstr>4.学習後評価（学習後 eval）</vt:lpstr>
      <vt:lpstr>5. サーバーでの集約</vt:lpstr>
      <vt:lpstr>5. サーバーでの集約</vt:lpstr>
      <vt:lpstr>前回まで何をやってきたか</vt:lpstr>
      <vt:lpstr>6. 連合評価（Flower eval）</vt:lpstr>
      <vt:lpstr>7.次ラウンドへのループ(再配布)</vt:lpstr>
      <vt:lpstr>PowerPoint プレゼンテーション</vt:lpstr>
      <vt:lpstr>現在の実装と課題</vt:lpstr>
      <vt:lpstr>今後</vt:lpstr>
      <vt:lpstr>PowerPoint プレゼンテーション</vt:lpstr>
      <vt:lpstr>連合学習パイプラインの設定</vt:lpstr>
      <vt:lpstr>連合学習パイプラインの設定</vt:lpstr>
      <vt:lpstr>実験結果（ラウンド別ーLpred ）</vt:lpstr>
      <vt:lpstr>現実験での計算の仕方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脳波を用いた最適なメガネレンズ選択システムの乱視に関する基礎的検討</dc:title>
  <dc:creator>黎郎 佐橋</dc:creator>
  <cp:lastModifiedBy>YOSHIMURA Aoi</cp:lastModifiedBy>
  <cp:revision>3</cp:revision>
  <dcterms:created xsi:type="dcterms:W3CDTF">2025-07-10T09:13:17Z</dcterms:created>
  <dcterms:modified xsi:type="dcterms:W3CDTF">2026-07-09T11:36:12Z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0x0101003B0447BF5C9DC84BAAF4FC87463999BE</vt:lpwstr>
  </property>
  <property fmtid="{D5CDD505-2E9C-101B-9397-08002B2CF9AE}" pid="3" name="MediaServiceImageTags">
    <vt:lpwstr/>
  </property>
  <property fmtid="{D5CDD505-2E9C-101B-9397-08002B2CF9AE}" pid="4" name="ICV">
    <vt:lpwstr/>
  </property>
  <property fmtid="{D5CDD505-2E9C-101B-9397-08002B2CF9AE}" pid="5" name="KSOProductBuildVer">
    <vt:lpwstr>1033-11.1.0.11723</vt:lpwstr>
  </property>
</Properties>
</file>