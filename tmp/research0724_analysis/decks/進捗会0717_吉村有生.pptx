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17"/>
  </p:notesMasterIdLst>
  <p:handoutMasterIdLst>
    <p:handoutMasterId r:id="rId18"/>
  </p:handoutMasterIdLst>
  <p:sldIdLst>
    <p:sldId id="256" r:id="rId2"/>
    <p:sldId id="257" r:id="rId3"/>
    <p:sldId id="276" r:id="rId4"/>
    <p:sldId id="275" r:id="rId5"/>
    <p:sldId id="297" r:id="rId6"/>
    <p:sldId id="298" r:id="rId7"/>
    <p:sldId id="299" r:id="rId8"/>
    <p:sldId id="282" r:id="rId9"/>
    <p:sldId id="290" r:id="rId10"/>
    <p:sldId id="278" r:id="rId11"/>
    <p:sldId id="296" r:id="rId12"/>
    <p:sldId id="288" r:id="rId13"/>
    <p:sldId id="280" r:id="rId14"/>
    <p:sldId id="283" r:id="rId15"/>
    <p:sldId id="294"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黎郎 佐橋" initials="黎郎"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6C4A"/>
    <a:srgbClr val="FFEBEB"/>
    <a:srgbClr val="FDF3ED"/>
    <a:srgbClr val="F1F8F9"/>
    <a:srgbClr val="FDF0E7"/>
    <a:srgbClr val="EAF5F7"/>
    <a:srgbClr val="203864"/>
    <a:srgbClr val="F8F9FA"/>
    <a:srgbClr val="20645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E31D0B-791C-4D48-9DFF-349DD2D19AA0}" v="26" dt="2026-07-21T12:29:57.25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25E5076-3810-47DD-B79F-674D7AD40C01}" styleName="濃色スタイル 1 - アクセント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49" autoAdjust="0"/>
    <p:restoredTop sz="90026" autoAdjust="0"/>
  </p:normalViewPr>
  <p:slideViewPr>
    <p:cSldViewPr snapToGrid="0">
      <p:cViewPr>
        <p:scale>
          <a:sx n="75" d="100"/>
          <a:sy n="75" d="100"/>
        </p:scale>
        <p:origin x="560" y="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SHIMURA Aoi" userId="8c4cc6fb-c818-4942-9c26-5aea2293432a" providerId="ADAL" clId="{45228AE5-F3FC-4AE5-B160-D02D63DA5A6D}"/>
    <pc:docChg chg="custSel delSld modSld">
      <pc:chgData name="YOSHIMURA Aoi" userId="8c4cc6fb-c818-4942-9c26-5aea2293432a" providerId="ADAL" clId="{45228AE5-F3FC-4AE5-B160-D02D63DA5A6D}" dt="2026-07-17T00:47:12.143" v="9" actId="478"/>
      <pc:docMkLst>
        <pc:docMk/>
      </pc:docMkLst>
      <pc:sldChg chg="delSp mod">
        <pc:chgData name="YOSHIMURA Aoi" userId="8c4cc6fb-c818-4942-9c26-5aea2293432a" providerId="ADAL" clId="{45228AE5-F3FC-4AE5-B160-D02D63DA5A6D}" dt="2026-07-17T00:47:12.143" v="9" actId="478"/>
        <pc:sldMkLst>
          <pc:docMk/>
          <pc:sldMk cId="3777666741" sldId="296"/>
        </pc:sldMkLst>
      </pc:sldChg>
    </pc:docChg>
  </pc:docChgLst>
  <pc:docChgLst>
    <pc:chgData name="YOSHIMURA Aoi" userId="8c4cc6fb-c818-4942-9c26-5aea2293432a" providerId="ADAL" clId="{66C03A21-114D-439D-872D-15D2125D0F19}"/>
    <pc:docChg chg="undo custSel addSld modSld">
      <pc:chgData name="YOSHIMURA Aoi" userId="8c4cc6fb-c818-4942-9c26-5aea2293432a" providerId="ADAL" clId="{66C03A21-114D-439D-872D-15D2125D0F19}" dt="2026-07-21T12:36:04.603" v="539" actId="20577"/>
      <pc:docMkLst>
        <pc:docMk/>
      </pc:docMkLst>
      <pc:sldChg chg="addSp delSp modSp new mod">
        <pc:chgData name="YOSHIMURA Aoi" userId="8c4cc6fb-c818-4942-9c26-5aea2293432a" providerId="ADAL" clId="{66C03A21-114D-439D-872D-15D2125D0F19}" dt="2026-07-21T12:30:12.305" v="222" actId="1076"/>
        <pc:sldMkLst>
          <pc:docMk/>
          <pc:sldMk cId="1928530929" sldId="297"/>
        </pc:sldMkLst>
        <pc:spChg chg="del mod">
          <ac:chgData name="YOSHIMURA Aoi" userId="8c4cc6fb-c818-4942-9c26-5aea2293432a" providerId="ADAL" clId="{66C03A21-114D-439D-872D-15D2125D0F19}" dt="2026-07-21T11:51:19.102" v="5" actId="478"/>
          <ac:spMkLst>
            <pc:docMk/>
            <pc:sldMk cId="1928530929" sldId="297"/>
            <ac:spMk id="4" creationId="{0C8D76F1-5FFD-010F-E35B-2BF7B7B1D33F}"/>
          </ac:spMkLst>
        </pc:spChg>
        <pc:spChg chg="add mod">
          <ac:chgData name="YOSHIMURA Aoi" userId="8c4cc6fb-c818-4942-9c26-5aea2293432a" providerId="ADAL" clId="{66C03A21-114D-439D-872D-15D2125D0F19}" dt="2026-07-21T12:12:57.731" v="185" actId="122"/>
          <ac:spMkLst>
            <pc:docMk/>
            <pc:sldMk cId="1928530929" sldId="297"/>
            <ac:spMk id="6" creationId="{85A82646-2AA3-8E09-5771-E1962DECA259}"/>
          </ac:spMkLst>
        </pc:spChg>
        <pc:spChg chg="add mod">
          <ac:chgData name="YOSHIMURA Aoi" userId="8c4cc6fb-c818-4942-9c26-5aea2293432a" providerId="ADAL" clId="{66C03A21-114D-439D-872D-15D2125D0F19}" dt="2026-07-21T12:22:06.167" v="198" actId="1076"/>
          <ac:spMkLst>
            <pc:docMk/>
            <pc:sldMk cId="1928530929" sldId="297"/>
            <ac:spMk id="8" creationId="{229BAF54-EA05-5E23-4404-04B2DD40B4D9}"/>
          </ac:spMkLst>
        </pc:spChg>
        <pc:spChg chg="add mod">
          <ac:chgData name="YOSHIMURA Aoi" userId="8c4cc6fb-c818-4942-9c26-5aea2293432a" providerId="ADAL" clId="{66C03A21-114D-439D-872D-15D2125D0F19}" dt="2026-07-21T12:22:08.869" v="199" actId="1076"/>
          <ac:spMkLst>
            <pc:docMk/>
            <pc:sldMk cId="1928530929" sldId="297"/>
            <ac:spMk id="10" creationId="{F5868CA2-204C-8053-AAFB-72538082911F}"/>
          </ac:spMkLst>
        </pc:spChg>
        <pc:spChg chg="add mod">
          <ac:chgData name="YOSHIMURA Aoi" userId="8c4cc6fb-c818-4942-9c26-5aea2293432a" providerId="ADAL" clId="{66C03A21-114D-439D-872D-15D2125D0F19}" dt="2026-07-21T12:30:04.083" v="221" actId="114"/>
          <ac:spMkLst>
            <pc:docMk/>
            <pc:sldMk cId="1928530929" sldId="297"/>
            <ac:spMk id="12" creationId="{13F7BA83-5789-DFE6-3509-30C761979FF1}"/>
          </ac:spMkLst>
        </pc:spChg>
        <pc:spChg chg="add mod">
          <ac:chgData name="YOSHIMURA Aoi" userId="8c4cc6fb-c818-4942-9c26-5aea2293432a" providerId="ADAL" clId="{66C03A21-114D-439D-872D-15D2125D0F19}" dt="2026-07-21T12:18:34.722" v="190" actId="255"/>
          <ac:spMkLst>
            <pc:docMk/>
            <pc:sldMk cId="1928530929" sldId="297"/>
            <ac:spMk id="14" creationId="{08CF3965-B50C-0DFE-AA58-EAB591A9DCEB}"/>
          </ac:spMkLst>
        </pc:spChg>
        <pc:spChg chg="add mod">
          <ac:chgData name="YOSHIMURA Aoi" userId="8c4cc6fb-c818-4942-9c26-5aea2293432a" providerId="ADAL" clId="{66C03A21-114D-439D-872D-15D2125D0F19}" dt="2026-07-21T12:29:09.972" v="200" actId="14100"/>
          <ac:spMkLst>
            <pc:docMk/>
            <pc:sldMk cId="1928530929" sldId="297"/>
            <ac:spMk id="16" creationId="{7791BFCD-C4B7-978E-7DE8-048E488D17A2}"/>
          </ac:spMkLst>
        </pc:spChg>
        <pc:spChg chg="add mod">
          <ac:chgData name="YOSHIMURA Aoi" userId="8c4cc6fb-c818-4942-9c26-5aea2293432a" providerId="ADAL" clId="{66C03A21-114D-439D-872D-15D2125D0F19}" dt="2026-07-21T12:30:12.305" v="222" actId="1076"/>
          <ac:spMkLst>
            <pc:docMk/>
            <pc:sldMk cId="1928530929" sldId="297"/>
            <ac:spMk id="18" creationId="{F29842FE-DE2F-E1F8-6DAB-B5EF7CC238D4}"/>
          </ac:spMkLst>
        </pc:spChg>
        <pc:spChg chg="add mod">
          <ac:chgData name="YOSHIMURA Aoi" userId="8c4cc6fb-c818-4942-9c26-5aea2293432a" providerId="ADAL" clId="{66C03A21-114D-439D-872D-15D2125D0F19}" dt="2026-07-21T12:18:37.623" v="191" actId="1076"/>
          <ac:spMkLst>
            <pc:docMk/>
            <pc:sldMk cId="1928530929" sldId="297"/>
            <ac:spMk id="20" creationId="{C7FE5E40-BA93-BAC9-D525-D25C6C961A7D}"/>
          </ac:spMkLst>
        </pc:spChg>
        <pc:spChg chg="add mod">
          <ac:chgData name="YOSHIMURA Aoi" userId="8c4cc6fb-c818-4942-9c26-5aea2293432a" providerId="ADAL" clId="{66C03A21-114D-439D-872D-15D2125D0F19}" dt="2026-07-21T12:29:26.110" v="201" actId="1076"/>
          <ac:spMkLst>
            <pc:docMk/>
            <pc:sldMk cId="1928530929" sldId="297"/>
            <ac:spMk id="22" creationId="{FB27C1EB-5193-39A4-717B-ECB278C71B30}"/>
          </ac:spMkLst>
        </pc:spChg>
        <pc:spChg chg="add del mod">
          <ac:chgData name="YOSHIMURA Aoi" userId="8c4cc6fb-c818-4942-9c26-5aea2293432a" providerId="ADAL" clId="{66C03A21-114D-439D-872D-15D2125D0F19}" dt="2026-07-21T12:11:45.757" v="106" actId="478"/>
          <ac:spMkLst>
            <pc:docMk/>
            <pc:sldMk cId="1928530929" sldId="297"/>
            <ac:spMk id="24" creationId="{132608C8-919B-2198-CF9E-ED2A84359EBA}"/>
          </ac:spMkLst>
        </pc:spChg>
        <pc:spChg chg="add del mod">
          <ac:chgData name="YOSHIMURA Aoi" userId="8c4cc6fb-c818-4942-9c26-5aea2293432a" providerId="ADAL" clId="{66C03A21-114D-439D-872D-15D2125D0F19}" dt="2026-07-21T12:11:49.449" v="107" actId="478"/>
          <ac:spMkLst>
            <pc:docMk/>
            <pc:sldMk cId="1928530929" sldId="297"/>
            <ac:spMk id="26" creationId="{F469FFBD-1AE7-D54D-DEFB-788653E852E3}"/>
          </ac:spMkLst>
        </pc:spChg>
      </pc:sldChg>
      <pc:sldChg chg="modSp new mod">
        <pc:chgData name="YOSHIMURA Aoi" userId="8c4cc6fb-c818-4942-9c26-5aea2293432a" providerId="ADAL" clId="{66C03A21-114D-439D-872D-15D2125D0F19}" dt="2026-07-21T12:33:37.545" v="246" actId="20577"/>
        <pc:sldMkLst>
          <pc:docMk/>
          <pc:sldMk cId="2217247516" sldId="298"/>
        </pc:sldMkLst>
        <pc:spChg chg="mod">
          <ac:chgData name="YOSHIMURA Aoi" userId="8c4cc6fb-c818-4942-9c26-5aea2293432a" providerId="ADAL" clId="{66C03A21-114D-439D-872D-15D2125D0F19}" dt="2026-07-21T12:33:37.545" v="246" actId="20577"/>
          <ac:spMkLst>
            <pc:docMk/>
            <pc:sldMk cId="2217247516" sldId="298"/>
            <ac:spMk id="2" creationId="{0CFB99AB-81F2-B2F2-8FEA-5B775E86AE77}"/>
          </ac:spMkLst>
        </pc:spChg>
      </pc:sldChg>
      <pc:sldChg chg="modSp new mod">
        <pc:chgData name="YOSHIMURA Aoi" userId="8c4cc6fb-c818-4942-9c26-5aea2293432a" providerId="ADAL" clId="{66C03A21-114D-439D-872D-15D2125D0F19}" dt="2026-07-21T12:36:04.603" v="539" actId="20577"/>
        <pc:sldMkLst>
          <pc:docMk/>
          <pc:sldMk cId="3016829091" sldId="299"/>
        </pc:sldMkLst>
        <pc:spChg chg="mod">
          <ac:chgData name="YOSHIMURA Aoi" userId="8c4cc6fb-c818-4942-9c26-5aea2293432a" providerId="ADAL" clId="{66C03A21-114D-439D-872D-15D2125D0F19}" dt="2026-07-21T12:36:04.603" v="539" actId="20577"/>
          <ac:spMkLst>
            <pc:docMk/>
            <pc:sldMk cId="3016829091" sldId="299"/>
            <ac:spMk id="4" creationId="{B68129D8-66E6-FC24-B75D-2C3717A823E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7542B7-E82A-48F9-B16F-74B548C07A0E}"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A466E8-5EBB-465F-ACF7-357688B6104D}"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94DDE-CA80-4F07-9DBC-5DF5F63DD9E2}"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9E387-7CC5-44E4-A0CE-F194BCB5B83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0</a:t>
            </a:fld>
            <a:endParaRPr kumimoji="1" lang="ja-JP" altLang="en-US"/>
          </a:p>
        </p:txBody>
      </p:sp>
    </p:spTree>
    <p:extLst>
      <p:ext uri="{BB962C8B-B14F-4D97-AF65-F5344CB8AC3E}">
        <p14:creationId xmlns:p14="http://schemas.microsoft.com/office/powerpoint/2010/main" val="2814662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3</a:t>
            </a:fld>
            <a:endParaRPr kumimoji="1" lang="ja-JP" altLang="en-US"/>
          </a:p>
        </p:txBody>
      </p:sp>
    </p:spTree>
    <p:extLst>
      <p:ext uri="{BB962C8B-B14F-4D97-AF65-F5344CB8AC3E}">
        <p14:creationId xmlns:p14="http://schemas.microsoft.com/office/powerpoint/2010/main" val="992813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23D40-84CA-69FD-0393-5CDA1864A5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770C25-CB31-47EE-21E3-A4A818F9A15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5DD9D0-A712-3770-7558-A41BE6D761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AA28626-43D5-CEEC-89C1-49ECCB571910}"/>
              </a:ext>
            </a:extLst>
          </p:cNvPr>
          <p:cNvSpPr>
            <a:spLocks noGrp="1"/>
          </p:cNvSpPr>
          <p:nvPr>
            <p:ph type="sldNum" sz="quarter" idx="5"/>
          </p:nvPr>
        </p:nvSpPr>
        <p:spPr/>
        <p:txBody>
          <a:bodyPr/>
          <a:lstStyle/>
          <a:p>
            <a:fld id="{0BE9E387-7CC5-44E4-A0CE-F194BCB5B83D}" type="slidenum">
              <a:rPr kumimoji="1" lang="ja-JP" altLang="en-US" smtClean="0"/>
              <a:t>10</a:t>
            </a:fld>
            <a:endParaRPr kumimoji="1" lang="ja-JP" altLang="en-US"/>
          </a:p>
        </p:txBody>
      </p:sp>
    </p:spTree>
    <p:extLst>
      <p:ext uri="{BB962C8B-B14F-4D97-AF65-F5344CB8AC3E}">
        <p14:creationId xmlns:p14="http://schemas.microsoft.com/office/powerpoint/2010/main" val="2144694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0" name="正方形/長方形 9"/>
          <p:cNvSpPr/>
          <p:nvPr userDrawn="1"/>
        </p:nvSpPr>
        <p:spPr>
          <a:xfrm>
            <a:off x="-1" y="6506936"/>
            <a:ext cx="12192000" cy="351064"/>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7" name="正方形/長方形 6"/>
          <p:cNvSpPr/>
          <p:nvPr userDrawn="1"/>
        </p:nvSpPr>
        <p:spPr>
          <a:xfrm>
            <a:off x="620484" y="3553218"/>
            <a:ext cx="10951029" cy="145204"/>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Title 1"/>
          <p:cNvSpPr>
            <a:spLocks noGrp="1"/>
          </p:cNvSpPr>
          <p:nvPr>
            <p:ph type="ctrTitle"/>
          </p:nvPr>
        </p:nvSpPr>
        <p:spPr>
          <a:xfrm>
            <a:off x="664029" y="2355104"/>
            <a:ext cx="10863943" cy="735738"/>
          </a:xfrm>
        </p:spPr>
        <p:txBody>
          <a:bodyPr anchor="b">
            <a:normAutofit/>
          </a:bodyPr>
          <a:lstStyle>
            <a:lvl1pPr algn="ctr">
              <a:defRPr sz="4000" baseline="0">
                <a:solidFill>
                  <a:srgbClr val="203864"/>
                </a:solidFill>
                <a:latin typeface="Arial" panose="020B0604020202020204" pitchFamily="34" charset="0"/>
                <a:cs typeface="Arial" panose="020B0604020202020204" pitchFamily="34" charset="0"/>
              </a:defRPr>
            </a:lvl1pPr>
          </a:lstStyle>
          <a:p>
            <a:r>
              <a:rPr lang="ja-JP" altLang="en-US" dirty="0"/>
              <a:t>マスター タイトル</a:t>
            </a:r>
            <a:endParaRPr lang="en-US" dirty="0"/>
          </a:p>
        </p:txBody>
      </p:sp>
      <p:sp>
        <p:nvSpPr>
          <p:cNvPr id="3" name="Subtitle 2"/>
          <p:cNvSpPr>
            <a:spLocks noGrp="1"/>
          </p:cNvSpPr>
          <p:nvPr>
            <p:ph type="subTitle" idx="1"/>
          </p:nvPr>
        </p:nvSpPr>
        <p:spPr>
          <a:xfrm>
            <a:off x="6340929" y="4531180"/>
            <a:ext cx="5606143" cy="997795"/>
          </a:xfrm>
        </p:spPr>
        <p:txBody>
          <a:bodyPr>
            <a:normAutofit/>
          </a:bodyPr>
          <a:lstStyle>
            <a:lvl1pPr marL="0" indent="0" algn="ctr">
              <a:buNone/>
              <a:defRPr sz="2800" baseline="0">
                <a:solidFill>
                  <a:srgbClr val="20386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899430FE-7148-562D-2697-FE50FB06EB22}"/>
              </a:ext>
            </a:extLst>
          </p:cNvPr>
          <p:cNvSpPr/>
          <p:nvPr userDrawn="1"/>
        </p:nvSpPr>
        <p:spPr>
          <a:xfrm>
            <a:off x="11353800" y="0"/>
            <a:ext cx="333187" cy="657310"/>
          </a:xfrm>
          <a:prstGeom prst="roundRect">
            <a:avLst>
              <a:gd name="adj" fmla="val 0"/>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Title 1"/>
          <p:cNvSpPr>
            <a:spLocks noGrp="1"/>
          </p:cNvSpPr>
          <p:nvPr>
            <p:ph type="title"/>
          </p:nvPr>
        </p:nvSpPr>
        <p:spPr>
          <a:xfrm>
            <a:off x="838200" y="88108"/>
            <a:ext cx="10515600" cy="657310"/>
          </a:xfrm>
        </p:spPr>
        <p:txBody>
          <a:bodyPr>
            <a:normAutofit/>
          </a:bodyPr>
          <a:lstStyle>
            <a:lvl1pPr>
              <a:defRPr sz="3600" baseline="0">
                <a:solidFill>
                  <a:srgbClr val="203864"/>
                </a:solidFill>
                <a:latin typeface="Arial" panose="020B0604020202020204" pitchFamily="34" charset="0"/>
                <a:cs typeface="Arial" panose="020B0604020202020204" pitchFamily="34" charset="0"/>
              </a:defRPr>
            </a:lvl1pPr>
          </a:lstStyle>
          <a:p>
            <a:r>
              <a:rPr lang="ja-JP" altLang="en-US" dirty="0"/>
              <a:t>マスター タイトルの書式設定</a:t>
            </a:r>
            <a:endParaRPr lang="en-US" dirty="0"/>
          </a:p>
        </p:txBody>
      </p:sp>
      <p:sp>
        <p:nvSpPr>
          <p:cNvPr id="5" name="スライド番号プレースホルダー 3"/>
          <p:cNvSpPr>
            <a:spLocks noGrp="1"/>
          </p:cNvSpPr>
          <p:nvPr>
            <p:ph type="sldNum" sz="quarter" idx="4"/>
          </p:nvPr>
        </p:nvSpPr>
        <p:spPr>
          <a:xfrm>
            <a:off x="7602533" y="73989"/>
            <a:ext cx="4158343" cy="354013"/>
          </a:xfrm>
          <a:prstGeom prst="rect">
            <a:avLst/>
          </a:prstGeom>
        </p:spPr>
        <p:txBody>
          <a:bodyPr vert="horz" lIns="91440" tIns="45720" rIns="91440" bIns="45720" rtlCol="0" anchor="ctr"/>
          <a:lstStyle>
            <a:lvl1pPr algn="r">
              <a:defRPr sz="1800" baseline="0">
                <a:solidFill>
                  <a:schemeClr val="bg1"/>
                </a:solidFill>
                <a:latin typeface="Arial" panose="020B0604020202020204" pitchFamily="34" charset="0"/>
              </a:defRPr>
            </a:lvl1pPr>
          </a:lstStyle>
          <a:p>
            <a:fld id="{C088C981-6885-4100-82A1-DE7074EC4480}" type="slidenum">
              <a:rPr lang="ja-JP" altLang="en-US" smtClean="0"/>
              <a:pPr/>
              <a:t>‹#›</a:t>
            </a:fld>
            <a:endParaRPr lang="ja-JP" altLang="en-US" dirty="0">
              <a:latin typeface="Arial" panose="020B0604020202020204" pitchFamily="34" charset="0"/>
            </a:endParaRPr>
          </a:p>
        </p:txBody>
      </p:sp>
      <p:pic>
        <p:nvPicPr>
          <p:cNvPr id="7" name="グラフィックス 6" descr="散布図 単色塗りつぶし"/>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417" y="125479"/>
            <a:ext cx="581890" cy="550303"/>
          </a:xfrm>
          <a:prstGeom prst="rect">
            <a:avLst/>
          </a:prstGeom>
        </p:spPr>
      </p:pic>
      <p:sp>
        <p:nvSpPr>
          <p:cNvPr id="6" name="Content Placeholder 2">
            <a:extLst>
              <a:ext uri="{FF2B5EF4-FFF2-40B4-BE49-F238E27FC236}">
                <a16:creationId xmlns:a16="http://schemas.microsoft.com/office/drawing/2014/main" id="{AED491BE-1262-0E08-893E-2C20EC2083AC}"/>
              </a:ext>
            </a:extLst>
          </p:cNvPr>
          <p:cNvSpPr>
            <a:spLocks noGrp="1"/>
          </p:cNvSpPr>
          <p:nvPr>
            <p:ph idx="1"/>
          </p:nvPr>
        </p:nvSpPr>
        <p:spPr>
          <a:xfrm>
            <a:off x="-1" y="811748"/>
            <a:ext cx="12191999" cy="6046253"/>
          </a:xfrm>
        </p:spPr>
        <p:txBody>
          <a:bodyPr/>
          <a:lstStyle>
            <a:lvl1pPr>
              <a:lnSpc>
                <a:spcPct val="130000"/>
              </a:lnSpc>
              <a:defRPr baseline="0">
                <a:solidFill>
                  <a:srgbClr val="203864"/>
                </a:solidFill>
                <a:latin typeface="Arial" panose="020B0604020202020204" pitchFamily="34" charset="0"/>
              </a:defRPr>
            </a:lvl1pPr>
            <a:lvl2pPr>
              <a:lnSpc>
                <a:spcPct val="130000"/>
              </a:lnSpc>
              <a:defRPr baseline="0">
                <a:solidFill>
                  <a:srgbClr val="203864"/>
                </a:solidFill>
                <a:latin typeface="Arial" panose="020B0604020202020204" pitchFamily="34" charset="0"/>
              </a:defRPr>
            </a:lvl2pPr>
            <a:lvl3pPr>
              <a:lnSpc>
                <a:spcPct val="130000"/>
              </a:lnSpc>
              <a:defRPr baseline="0">
                <a:solidFill>
                  <a:srgbClr val="203864"/>
                </a:solidFill>
                <a:latin typeface="Arial" panose="020B0604020202020204" pitchFamily="34" charset="0"/>
              </a:defRPr>
            </a:lvl3pPr>
            <a:lvl4pPr>
              <a:lnSpc>
                <a:spcPct val="130000"/>
              </a:lnSpc>
              <a:defRPr baseline="0">
                <a:solidFill>
                  <a:srgbClr val="203864"/>
                </a:solidFill>
                <a:latin typeface="Arial" panose="020B0604020202020204" pitchFamily="34" charset="0"/>
              </a:defRPr>
            </a:lvl4pPr>
            <a:lvl5pPr>
              <a:lnSpc>
                <a:spcPct val="130000"/>
              </a:lnSpc>
              <a:defRPr baseline="0">
                <a:solidFill>
                  <a:srgbClr val="203864"/>
                </a:solidFill>
                <a:latin typeface="Arial" panose="020B0604020202020204" pitchFamily="34" charset="0"/>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508869A-893E-8D07-C56D-9DE9664AF6DE}"/>
              </a:ext>
            </a:extLst>
          </p:cNvPr>
          <p:cNvSpPr/>
          <p:nvPr userDrawn="1"/>
        </p:nvSpPr>
        <p:spPr>
          <a:xfrm>
            <a:off x="0" y="0"/>
            <a:ext cx="12192000" cy="494251"/>
          </a:xfrm>
          <a:prstGeom prst="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Content Placeholder 2"/>
          <p:cNvSpPr>
            <a:spLocks noGrp="1"/>
          </p:cNvSpPr>
          <p:nvPr>
            <p:ph idx="1"/>
          </p:nvPr>
        </p:nvSpPr>
        <p:spPr>
          <a:xfrm>
            <a:off x="838200" y="1394085"/>
            <a:ext cx="10515600" cy="4782878"/>
          </a:xfrm>
        </p:spPr>
        <p:txBody>
          <a:bodyPr/>
          <a:lstStyle>
            <a:lvl1pPr>
              <a:defRPr>
                <a:solidFill>
                  <a:schemeClr val="accent1">
                    <a:lumMod val="50000"/>
                  </a:schemeClr>
                </a:solidFill>
              </a:defRPr>
            </a:lvl1pPr>
            <a:lvl2pPr>
              <a:buFont typeface="Calibri" panose="020F0502020204030204" pitchFamily="34" charset="0"/>
              <a:buChar char="◦"/>
              <a:defRPr>
                <a:solidFill>
                  <a:schemeClr val="accent1">
                    <a:lumMod val="50000"/>
                  </a:schemeClr>
                </a:solidFill>
              </a:defRPr>
            </a:lvl2pPr>
            <a:lvl3pPr>
              <a:buFont typeface="Calibri" panose="020F0502020204030204" pitchFamily="34" charset="0"/>
              <a:buChar cha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7/21/2026</a:t>
            </a:fld>
            <a:endParaRPr lang="en-US"/>
          </a:p>
        </p:txBody>
      </p:sp>
      <p:sp>
        <p:nvSpPr>
          <p:cNvPr id="5" name="Footer Placeholder 4"/>
          <p:cNvSpPr>
            <a:spLocks noGrp="1"/>
          </p:cNvSpPr>
          <p:nvPr>
            <p:ph type="ftr" sz="quarter" idx="11"/>
          </p:nvPr>
        </p:nvSpPr>
        <p:spPr/>
        <p:txBody>
          <a:bodyPr/>
          <a:lstStyle/>
          <a:p>
            <a:endParaRPr lang="en-US" dirty="0"/>
          </a:p>
        </p:txBody>
      </p:sp>
      <p:sp>
        <p:nvSpPr>
          <p:cNvPr id="9" name="スライド番号プレースホルダー 3">
            <a:extLst>
              <a:ext uri="{FF2B5EF4-FFF2-40B4-BE49-F238E27FC236}">
                <a16:creationId xmlns:a16="http://schemas.microsoft.com/office/drawing/2014/main" id="{88A4D114-24C7-EB2D-7D8F-DB859C5523D2}"/>
              </a:ext>
            </a:extLst>
          </p:cNvPr>
          <p:cNvSpPr txBox="1">
            <a:spLocks/>
          </p:cNvSpPr>
          <p:nvPr userDrawn="1"/>
        </p:nvSpPr>
        <p:spPr>
          <a:xfrm>
            <a:off x="7528645" y="73989"/>
            <a:ext cx="4158343" cy="354013"/>
          </a:xfrm>
          <a:prstGeom prst="rect">
            <a:avLst/>
          </a:prstGeom>
        </p:spPr>
        <p:txBody>
          <a:bodyPr vert="horz" lIns="91440" tIns="45720" rIns="91440" bIns="45720" rtlCol="0" anchor="ctr"/>
          <a:lstStyle>
            <a:defPPr>
              <a:defRPr lang="ja-JP"/>
            </a:defPPr>
            <a:lvl1pPr marL="0" algn="r" defTabSz="914400" rtl="0" eaLnBrk="1" latinLnBrk="0" hangingPunct="1">
              <a:defRPr kumimoji="1" sz="1800" kern="1200" baseline="0">
                <a:solidFill>
                  <a:schemeClr val="bg1"/>
                </a:solidFill>
                <a:latin typeface="Arial" panose="020B0604020202020204" pitchFamily="34" charset="0"/>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C088C981-6885-4100-82A1-DE7074EC4480}" type="slidenum">
              <a:rPr lang="ja-JP" altLang="en-US" smtClean="0"/>
              <a:pPr/>
              <a:t>‹#›</a:t>
            </a:fld>
            <a:endParaRPr lang="ja-JP" altLang="en-US" dirty="0"/>
          </a:p>
        </p:txBody>
      </p:sp>
      <p:sp>
        <p:nvSpPr>
          <p:cNvPr id="2" name="Title 1"/>
          <p:cNvSpPr>
            <a:spLocks noGrp="1"/>
          </p:cNvSpPr>
          <p:nvPr>
            <p:ph type="title"/>
          </p:nvPr>
        </p:nvSpPr>
        <p:spPr>
          <a:xfrm>
            <a:off x="838200" y="-44536"/>
            <a:ext cx="10283608" cy="657311"/>
          </a:xfrm>
        </p:spPr>
        <p:txBody>
          <a:bodyPr>
            <a:noAutofit/>
          </a:bodyPr>
          <a:lstStyle>
            <a:lvl1pPr>
              <a:defRPr sz="2000">
                <a:solidFill>
                  <a:schemeClr val="bg1"/>
                </a:solidFill>
              </a:defRPr>
            </a:lvl1pPr>
          </a:lstStyle>
          <a:p>
            <a:r>
              <a:rPr lang="ja-JP" altLang="en-US" dirty="0"/>
              <a:t>マスター タイトルの書式設定</a:t>
            </a:r>
            <a:endParaRPr lang="en-US" dirty="0"/>
          </a:p>
        </p:txBody>
      </p:sp>
      <p:pic>
        <p:nvPicPr>
          <p:cNvPr id="8" name="グラフィックス 7" descr="散布図 単色塗りつぶし">
            <a:extLst>
              <a:ext uri="{FF2B5EF4-FFF2-40B4-BE49-F238E27FC236}">
                <a16:creationId xmlns:a16="http://schemas.microsoft.com/office/drawing/2014/main" id="{98A0EDF7-3B94-3B6C-C533-355E0E0C2C5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970" y="73989"/>
            <a:ext cx="460042" cy="420262"/>
          </a:xfrm>
          <a:prstGeom prst="rect">
            <a:avLst/>
          </a:prstGeom>
        </p:spPr>
      </p:pic>
      <p:sp>
        <p:nvSpPr>
          <p:cNvPr id="14" name="Text Placeholder 2">
            <a:extLst>
              <a:ext uri="{FF2B5EF4-FFF2-40B4-BE49-F238E27FC236}">
                <a16:creationId xmlns:a16="http://schemas.microsoft.com/office/drawing/2014/main" id="{486913E7-33F0-3790-A912-CD535369743E}"/>
              </a:ext>
            </a:extLst>
          </p:cNvPr>
          <p:cNvSpPr>
            <a:spLocks noGrp="1"/>
          </p:cNvSpPr>
          <p:nvPr>
            <p:ph type="body" idx="13"/>
          </p:nvPr>
        </p:nvSpPr>
        <p:spPr>
          <a:xfrm>
            <a:off x="822218" y="480480"/>
            <a:ext cx="7331182" cy="823912"/>
          </a:xfrm>
        </p:spPr>
        <p:txBody>
          <a:bodyPr anchor="b">
            <a:normAutofit/>
          </a:bodyPr>
          <a:lstStyle>
            <a:lvl1pPr marL="0" indent="0">
              <a:buNone/>
              <a:defRPr sz="3200" b="1">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Tree>
    <p:extLst>
      <p:ext uri="{BB962C8B-B14F-4D97-AF65-F5344CB8AC3E}">
        <p14:creationId xmlns:p14="http://schemas.microsoft.com/office/powerpoint/2010/main" val="29974544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1344168"/>
            <a:ext cx="12192000" cy="5513832"/>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2" name="Title Placeholder 1"/>
          <p:cNvSpPr>
            <a:spLocks noGrp="1"/>
          </p:cNvSpPr>
          <p:nvPr>
            <p:ph type="title"/>
          </p:nvPr>
        </p:nvSpPr>
        <p:spPr>
          <a:xfrm>
            <a:off x="838200" y="190048"/>
            <a:ext cx="10515600" cy="934665"/>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4" name="スライド番号プレースホルダー 3"/>
          <p:cNvSpPr>
            <a:spLocks noGrp="1"/>
          </p:cNvSpPr>
          <p:nvPr>
            <p:ph type="sldNum" sz="quarter" idx="4"/>
          </p:nvPr>
        </p:nvSpPr>
        <p:spPr>
          <a:xfrm>
            <a:off x="7195458" y="190048"/>
            <a:ext cx="4158343" cy="354013"/>
          </a:xfrm>
          <a:prstGeom prst="rect">
            <a:avLst/>
          </a:prstGeom>
        </p:spPr>
        <p:txBody>
          <a:bodyPr vert="horz" lIns="91440" tIns="45720" rIns="91440" bIns="45720" rtlCol="0" anchor="ctr"/>
          <a:lstStyle>
            <a:lvl1pPr algn="r">
              <a:defRPr sz="1800">
                <a:solidFill>
                  <a:schemeClr val="tx1">
                    <a:tint val="75000"/>
                  </a:schemeClr>
                </a:solidFill>
              </a:defRPr>
            </a:lvl1pPr>
          </a:lstStyle>
          <a:p>
            <a:fld id="{C088C981-6885-4100-82A1-DE7074EC4480}"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hdr="0" ftr="0" dt="0"/>
  <p:txStyles>
    <p:titleStyle>
      <a:lvl1pPr algn="l" defTabSz="914400" rtl="0" eaLnBrk="1" latinLnBrk="0" hangingPunct="1">
        <a:lnSpc>
          <a:spcPct val="90000"/>
        </a:lnSpc>
        <a:spcBef>
          <a:spcPct val="0"/>
        </a:spcBef>
        <a:buNone/>
        <a:defRPr kumimoji="1" sz="4000" kern="1200" baseline="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p:titleStyle>
    <p:bodyStyle>
      <a:lvl1pPr marL="228600" indent="-228600" algn="l" defTabSz="914400" rtl="0" eaLnBrk="1" latinLnBrk="0" hangingPunct="1">
        <a:lnSpc>
          <a:spcPct val="100000"/>
        </a:lnSpc>
        <a:spcBef>
          <a:spcPts val="1000"/>
        </a:spcBef>
        <a:buFont typeface="Aptos Slab Black" panose="020B0004020202020204" pitchFamily="34" charset="0"/>
        <a:buChar char="┃"/>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0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0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0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0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5.png"/><Relationship Id="rId26" Type="http://schemas.openxmlformats.org/officeDocument/2006/relationships/image" Target="../media/image26.png"/><Relationship Id="rId3" Type="http://schemas.openxmlformats.org/officeDocument/2006/relationships/image" Target="../media/image5.png"/><Relationship Id="rId21" Type="http://schemas.openxmlformats.org/officeDocument/2006/relationships/image" Target="../media/image21.png"/><Relationship Id="rId7" Type="http://schemas.openxmlformats.org/officeDocument/2006/relationships/image" Target="../media/image70.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3.png"/><Relationship Id="rId2" Type="http://schemas.openxmlformats.org/officeDocument/2006/relationships/notesSlide" Target="../notesSlides/notesSlide2.xml"/><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4.svg"/><Relationship Id="rId24" Type="http://schemas.openxmlformats.org/officeDocument/2006/relationships/image" Target="../media/image22.png"/><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210.png"/><Relationship Id="rId28" Type="http://schemas.openxmlformats.org/officeDocument/2006/relationships/image" Target="../media/image2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3.sv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00.png"/><Relationship Id="rId27" Type="http://schemas.openxmlformats.org/officeDocument/2006/relationships/image" Target="../media/image24.png"/><Relationship Id="rId30" Type="http://schemas.openxmlformats.org/officeDocument/2006/relationships/image" Target="../media/image30.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8.png"/><Relationship Id="rId7" Type="http://schemas.openxmlformats.org/officeDocument/2006/relationships/image" Target="../media/image3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90.png"/><Relationship Id="rId18" Type="http://schemas.openxmlformats.org/officeDocument/2006/relationships/image" Target="../media/image11.png"/><Relationship Id="rId26" Type="http://schemas.openxmlformats.org/officeDocument/2006/relationships/image" Target="../media/image26.png"/><Relationship Id="rId3" Type="http://schemas.openxmlformats.org/officeDocument/2006/relationships/image" Target="../media/image5.png"/><Relationship Id="rId21" Type="http://schemas.openxmlformats.org/officeDocument/2006/relationships/image" Target="../media/image15.png"/><Relationship Id="rId34" Type="http://schemas.openxmlformats.org/officeDocument/2006/relationships/image" Target="../media/image40.png"/><Relationship Id="rId7" Type="http://schemas.openxmlformats.org/officeDocument/2006/relationships/image" Target="../media/image70.png"/><Relationship Id="rId12" Type="http://schemas.openxmlformats.org/officeDocument/2006/relationships/image" Target="../media/image280.png"/><Relationship Id="rId17" Type="http://schemas.openxmlformats.org/officeDocument/2006/relationships/image" Target="../media/image330.png"/><Relationship Id="rId25" Type="http://schemas.openxmlformats.org/officeDocument/2006/relationships/image" Target="../media/image23.png"/><Relationship Id="rId33" Type="http://schemas.openxmlformats.org/officeDocument/2006/relationships/image" Target="../media/image39.png"/><Relationship Id="rId2" Type="http://schemas.openxmlformats.org/officeDocument/2006/relationships/notesSlide" Target="../notesSlides/notesSlide3.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4.svg"/><Relationship Id="rId24" Type="http://schemas.openxmlformats.org/officeDocument/2006/relationships/image" Target="../media/image35.png"/><Relationship Id="rId32" Type="http://schemas.openxmlformats.org/officeDocument/2006/relationships/image" Target="../media/image38.png"/><Relationship Id="rId5" Type="http://schemas.openxmlformats.org/officeDocument/2006/relationships/image" Target="../media/image6.png"/><Relationship Id="rId15" Type="http://schemas.openxmlformats.org/officeDocument/2006/relationships/image" Target="../media/image320.png"/><Relationship Id="rId23" Type="http://schemas.openxmlformats.org/officeDocument/2006/relationships/image" Target="../media/image340.png"/><Relationship Id="rId10" Type="http://schemas.openxmlformats.org/officeDocument/2006/relationships/image" Target="../media/image10.png"/><Relationship Id="rId19" Type="http://schemas.openxmlformats.org/officeDocument/2006/relationships/image" Target="../media/image16.png"/><Relationship Id="rId4" Type="http://schemas.openxmlformats.org/officeDocument/2006/relationships/image" Target="../media/image3.svg"/><Relationship Id="rId9" Type="http://schemas.openxmlformats.org/officeDocument/2006/relationships/image" Target="../media/image9.png"/><Relationship Id="rId14" Type="http://schemas.openxmlformats.org/officeDocument/2006/relationships/image" Target="../media/image310.png"/><Relationship Id="rId22" Type="http://schemas.openxmlformats.org/officeDocument/2006/relationships/image" Target="../media/image19.png"/><Relationship Id="rId27" Type="http://schemas.openxmlformats.org/officeDocument/2006/relationships/image" Target="../media/image36.png"/><Relationship Id="rId30" Type="http://schemas.openxmlformats.org/officeDocument/2006/relationships/image" Target="../media/image30.png"/><Relationship Id="rId35"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7.sv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3.svg"/><Relationship Id="rId16"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35.svg"/><Relationship Id="rId11" Type="http://schemas.openxmlformats.org/officeDocument/2006/relationships/image" Target="../media/image36.svg"/><Relationship Id="rId5" Type="http://schemas.openxmlformats.org/officeDocument/2006/relationships/image" Target="../media/image11.png"/><Relationship Id="rId15" Type="http://schemas.openxmlformats.org/officeDocument/2006/relationships/image" Target="../media/image38.sv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65950" y="1963066"/>
            <a:ext cx="11650199" cy="1465934"/>
          </a:xfrm>
        </p:spPr>
        <p:txBody>
          <a:bodyPr>
            <a:noAutofit/>
          </a:bodyPr>
          <a:lstStyle/>
          <a:p>
            <a:pPr>
              <a:lnSpc>
                <a:spcPct val="130000"/>
              </a:lnSpc>
            </a:pPr>
            <a:r>
              <a:rPr lang="ja-JP" altLang="en-US" sz="3600" dirty="0"/>
              <a:t>クラウド側・基盤 </a:t>
            </a:r>
            <a:r>
              <a:rPr lang="en-US" altLang="ja-JP" sz="3600" dirty="0" err="1"/>
              <a:t>LoRA</a:t>
            </a:r>
            <a:r>
              <a:rPr lang="en-US" altLang="ja-JP" sz="3600" dirty="0"/>
              <a:t> </a:t>
            </a:r>
            <a:r>
              <a:rPr lang="ja-JP" altLang="en-US" sz="3600" dirty="0"/>
              <a:t>更新方式の比較（</a:t>
            </a:r>
            <a:r>
              <a:rPr lang="en-US" altLang="ja-JP" sz="3600" dirty="0" err="1"/>
              <a:t>Lpred</a:t>
            </a:r>
            <a:r>
              <a:rPr lang="en-US" altLang="ja-JP" sz="3600" dirty="0"/>
              <a:t> </a:t>
            </a:r>
            <a:r>
              <a:rPr lang="ja-JP" altLang="en-US" sz="3600" dirty="0"/>
              <a:t>段階）</a:t>
            </a:r>
            <a:br>
              <a:rPr lang="en-US" altLang="ja-JP" sz="4400" dirty="0"/>
            </a:br>
            <a:r>
              <a:rPr lang="ja-JP" altLang="ja-JP" sz="2000" b="1" dirty="0"/>
              <a:t>surrogate適応情報を用いた基盤モデル更新</a:t>
            </a:r>
            <a:endParaRPr kumimoji="1" lang="ja-JP" altLang="en-US" sz="2000" dirty="0"/>
          </a:p>
        </p:txBody>
      </p:sp>
      <p:sp>
        <p:nvSpPr>
          <p:cNvPr id="3" name="字幕 2"/>
          <p:cNvSpPr>
            <a:spLocks noGrp="1"/>
          </p:cNvSpPr>
          <p:nvPr>
            <p:ph type="subTitle" idx="1"/>
          </p:nvPr>
        </p:nvSpPr>
        <p:spPr>
          <a:xfrm>
            <a:off x="3078656" y="5150533"/>
            <a:ext cx="8681629" cy="1465932"/>
          </a:xfrm>
        </p:spPr>
        <p:txBody>
          <a:bodyPr>
            <a:normAutofit/>
          </a:bodyPr>
          <a:lstStyle/>
          <a:p>
            <a:pPr algn="r"/>
            <a:r>
              <a:rPr lang="ja-JP" altLang="en-US" sz="2000" dirty="0">
                <a:solidFill>
                  <a:schemeClr val="tx1">
                    <a:lumMod val="85000"/>
                    <a:lumOff val="15000"/>
                  </a:schemeClr>
                </a:solidFill>
              </a:rPr>
              <a:t>名古屋大学</a:t>
            </a:r>
            <a:endParaRPr lang="en-US" altLang="ja-JP" sz="2000" dirty="0">
              <a:solidFill>
                <a:schemeClr val="tx1">
                  <a:lumMod val="85000"/>
                  <a:lumOff val="15000"/>
                </a:schemeClr>
              </a:solidFill>
            </a:endParaRPr>
          </a:p>
          <a:p>
            <a:pPr algn="r"/>
            <a:r>
              <a:rPr lang="ja-JP" altLang="en-US" sz="2000" dirty="0">
                <a:solidFill>
                  <a:schemeClr val="tx1">
                    <a:lumMod val="85000"/>
                    <a:lumOff val="15000"/>
                  </a:schemeClr>
                </a:solidFill>
              </a:rPr>
              <a:t>情報学研究科</a:t>
            </a:r>
            <a:endParaRPr lang="en-US" altLang="ja-JP" sz="2000" dirty="0">
              <a:solidFill>
                <a:schemeClr val="tx1">
                  <a:lumMod val="85000"/>
                  <a:lumOff val="15000"/>
                </a:schemeClr>
              </a:solidFill>
            </a:endParaRPr>
          </a:p>
          <a:p>
            <a:pPr algn="r"/>
            <a:r>
              <a:rPr lang="ja-JP" altLang="en-US" sz="2000" dirty="0">
                <a:solidFill>
                  <a:schemeClr val="tx1">
                    <a:lumMod val="85000"/>
                    <a:lumOff val="15000"/>
                  </a:schemeClr>
                </a:solidFill>
              </a:rPr>
              <a:t>知能システム学専攻　</a:t>
            </a:r>
            <a:r>
              <a:rPr lang="en-US" altLang="ja-JP" sz="2000" dirty="0">
                <a:solidFill>
                  <a:schemeClr val="tx1">
                    <a:lumMod val="85000"/>
                    <a:lumOff val="15000"/>
                  </a:schemeClr>
                </a:solidFill>
              </a:rPr>
              <a:t>1</a:t>
            </a:r>
            <a:r>
              <a:rPr lang="ja-JP" altLang="en-US" sz="2000" dirty="0">
                <a:solidFill>
                  <a:schemeClr val="tx1">
                    <a:lumMod val="85000"/>
                    <a:lumOff val="15000"/>
                  </a:schemeClr>
                </a:solidFill>
              </a:rPr>
              <a:t>年</a:t>
            </a:r>
          </a:p>
        </p:txBody>
      </p:sp>
      <p:sp>
        <p:nvSpPr>
          <p:cNvPr id="4" name="タイトル 1">
            <a:extLst>
              <a:ext uri="{FF2B5EF4-FFF2-40B4-BE49-F238E27FC236}">
                <a16:creationId xmlns:a16="http://schemas.microsoft.com/office/drawing/2014/main" id="{1612D3FA-1A10-5639-0AA3-B6A8434EC3A5}"/>
              </a:ext>
            </a:extLst>
          </p:cNvPr>
          <p:cNvSpPr txBox="1">
            <a:spLocks/>
          </p:cNvSpPr>
          <p:nvPr/>
        </p:nvSpPr>
        <p:spPr>
          <a:xfrm>
            <a:off x="1954304" y="3923283"/>
            <a:ext cx="8273488" cy="14659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nSpc>
                <a:spcPct val="130000"/>
              </a:lnSpc>
            </a:pPr>
            <a:r>
              <a:rPr lang="ja-JP" altLang="en-US" sz="2800" dirty="0">
                <a:solidFill>
                  <a:schemeClr val="accent1">
                    <a:lumMod val="50000"/>
                  </a:schemeClr>
                </a:solidFill>
                <a:latin typeface="+mn-lt"/>
                <a:cs typeface="Times New Roman" panose="02020603050405020304" pitchFamily="18" charset="0"/>
              </a:rPr>
              <a:t>吉村　有生</a:t>
            </a:r>
          </a:p>
        </p:txBody>
      </p:sp>
      <p:sp>
        <p:nvSpPr>
          <p:cNvPr id="6" name="タイトル 1">
            <a:extLst>
              <a:ext uri="{FF2B5EF4-FFF2-40B4-BE49-F238E27FC236}">
                <a16:creationId xmlns:a16="http://schemas.microsoft.com/office/drawing/2014/main" id="{CCE0640E-73E9-D3BD-0989-8E8E4C3592FF}"/>
              </a:ext>
            </a:extLst>
          </p:cNvPr>
          <p:cNvSpPr txBox="1">
            <a:spLocks/>
          </p:cNvSpPr>
          <p:nvPr/>
        </p:nvSpPr>
        <p:spPr>
          <a:xfrm>
            <a:off x="1852269" y="3273443"/>
            <a:ext cx="8477558" cy="14659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nSpc>
                <a:spcPct val="130000"/>
              </a:lnSpc>
            </a:pPr>
            <a:r>
              <a:rPr lang="en-US" altLang="ja-JP" sz="2800" dirty="0">
                <a:solidFill>
                  <a:schemeClr val="accent1">
                    <a:lumMod val="50000"/>
                  </a:schemeClr>
                </a:solidFill>
                <a:latin typeface="+mn-lt"/>
                <a:cs typeface="Times New Roman" panose="02020603050405020304" pitchFamily="18" charset="0"/>
              </a:rPr>
              <a:t>7</a:t>
            </a:r>
            <a:r>
              <a:rPr lang="ja-JP" altLang="en-US" sz="2800" dirty="0">
                <a:solidFill>
                  <a:schemeClr val="accent1">
                    <a:lumMod val="50000"/>
                  </a:schemeClr>
                </a:solidFill>
                <a:latin typeface="+mn-lt"/>
                <a:cs typeface="Times New Roman" panose="02020603050405020304" pitchFamily="18" charset="0"/>
              </a:rPr>
              <a:t>月</a:t>
            </a:r>
            <a:r>
              <a:rPr lang="en-US" altLang="ja-JP" sz="2800" dirty="0">
                <a:solidFill>
                  <a:schemeClr val="accent1">
                    <a:lumMod val="50000"/>
                  </a:schemeClr>
                </a:solidFill>
                <a:latin typeface="+mn-lt"/>
                <a:cs typeface="Times New Roman" panose="02020603050405020304" pitchFamily="18" charset="0"/>
              </a:rPr>
              <a:t>17</a:t>
            </a:r>
            <a:r>
              <a:rPr lang="ja-JP" altLang="en-US" sz="2800" dirty="0">
                <a:solidFill>
                  <a:schemeClr val="accent1">
                    <a:lumMod val="50000"/>
                  </a:schemeClr>
                </a:solidFill>
                <a:latin typeface="+mn-lt"/>
                <a:cs typeface="Times New Roman" panose="02020603050405020304" pitchFamily="18" charset="0"/>
              </a:rPr>
              <a:t>日報告会</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1">
            <a:extLst>
              <a:ext uri="{FF2B5EF4-FFF2-40B4-BE49-F238E27FC236}">
                <a16:creationId xmlns:a16="http://schemas.microsoft.com/office/drawing/2014/main" id="{1FC73945-F90F-B99C-D67D-8CBCFDA145B5}"/>
              </a:ext>
            </a:extLst>
          </p:cNvPr>
          <p:cNvSpPr txBox="1">
            <a:spLocks noGrp="1"/>
          </p:cNvSpPr>
          <p:nvPr>
            <p:ph idx="1"/>
          </p:nvPr>
        </p:nvSpPr>
        <p:spPr>
          <a:xfrm>
            <a:off x="45720" y="581891"/>
            <a:ext cx="5958840" cy="2949532"/>
          </a:xfrm>
          <a:prstGeom prst="rect">
            <a:avLst/>
          </a:prstGeom>
          <a:ln>
            <a:solidFill>
              <a:schemeClr val="bg2">
                <a:lumMod val="50000"/>
              </a:schemeClr>
            </a:solidFill>
          </a:ln>
        </p:spPr>
        <p:txBody>
          <a:bodyPr vert="horz" lIns="91440" tIns="45720" rIns="91440" bIns="45720" rtlCol="0">
            <a:normAutofit fontScale="700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en-US" altLang="ja-JP" sz="3800" dirty="0"/>
              <a:t>1. </a:t>
            </a:r>
            <a:r>
              <a:rPr lang="ja-JP" altLang="en-US" sz="3800" dirty="0"/>
              <a:t>背景・目的</a:t>
            </a:r>
            <a:endParaRPr lang="en-US" altLang="ja-JP" sz="3800" dirty="0"/>
          </a:p>
          <a:p>
            <a:r>
              <a:rPr lang="ja-JP" altLang="ja-JP" dirty="0"/>
              <a:t>実世界は絶えず変化する</a:t>
            </a:r>
            <a:endParaRPr lang="en-US" altLang="ja-JP" dirty="0"/>
          </a:p>
          <a:p>
            <a:r>
              <a:rPr lang="ja-JP" altLang="ja-JP" dirty="0"/>
              <a:t>高性能な基盤モデルをエッジで動かすのは、計算・通信リソースの限界から極めて困難。 </a:t>
            </a:r>
            <a:endParaRPr lang="en-US" altLang="ja-JP" dirty="0"/>
          </a:p>
          <a:p>
            <a:pPr marL="0" indent="0" algn="ctr">
              <a:buNone/>
            </a:pPr>
            <a:r>
              <a:rPr lang="ja-JP" altLang="ja-JP" dirty="0"/>
              <a:t>エッジの成果をクラウドの基盤モデルに効率よく統合する。</a:t>
            </a:r>
            <a:endParaRPr lang="en-US" altLang="ja-JP" dirty="0"/>
          </a:p>
          <a:p>
            <a:endParaRPr lang="ja-JP" altLang="en-US" dirty="0"/>
          </a:p>
        </p:txBody>
      </p:sp>
      <p:sp>
        <p:nvSpPr>
          <p:cNvPr id="11" name="コンテンツ プレースホルダー 1">
            <a:extLst>
              <a:ext uri="{FF2B5EF4-FFF2-40B4-BE49-F238E27FC236}">
                <a16:creationId xmlns:a16="http://schemas.microsoft.com/office/drawing/2014/main" id="{EE365047-4A64-D02E-0501-3FF5B929060D}"/>
              </a:ext>
            </a:extLst>
          </p:cNvPr>
          <p:cNvSpPr txBox="1">
            <a:spLocks/>
          </p:cNvSpPr>
          <p:nvPr/>
        </p:nvSpPr>
        <p:spPr>
          <a:xfrm>
            <a:off x="6187440" y="581890"/>
            <a:ext cx="5958840" cy="2949532"/>
          </a:xfrm>
          <a:prstGeom prst="rect">
            <a:avLst/>
          </a:prstGeom>
          <a:ln>
            <a:solidFill>
              <a:schemeClr val="bg2">
                <a:lumMod val="50000"/>
              </a:schemeClr>
            </a:solidFill>
          </a:ln>
        </p:spPr>
        <p:txBody>
          <a:bodyPr vert="horz" lIns="91440" tIns="45720" rIns="91440" bIns="45720" rtlCol="0">
            <a:normAutofit fontScale="550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en-US" altLang="ja-JP" sz="4800" dirty="0"/>
              <a:t>2. </a:t>
            </a:r>
            <a:r>
              <a:rPr lang="ja-JP" altLang="en-US" sz="4800" dirty="0"/>
              <a:t>本研究の提案</a:t>
            </a:r>
            <a:endParaRPr lang="en-US" altLang="ja-JP" sz="4800" dirty="0"/>
          </a:p>
          <a:p>
            <a:pPr marL="0" indent="0">
              <a:buNone/>
            </a:pPr>
            <a:r>
              <a:rPr lang="en-US" altLang="ja-JP" sz="4000" dirty="0"/>
              <a:t>【</a:t>
            </a:r>
            <a:r>
              <a:rPr lang="ja-JP" altLang="en-US" sz="4000" dirty="0"/>
              <a:t>従来の連合学習</a:t>
            </a:r>
            <a:r>
              <a:rPr lang="en-US" altLang="ja-JP" sz="4000" dirty="0"/>
              <a:t>】</a:t>
            </a:r>
          </a:p>
          <a:p>
            <a:r>
              <a:rPr lang="ja-JP" altLang="en-US" sz="4000" dirty="0"/>
              <a:t>「出力（予測結果）の一致」に終始していた</a:t>
            </a:r>
          </a:p>
          <a:p>
            <a:pPr marL="0" indent="0">
              <a:buNone/>
            </a:pPr>
            <a:r>
              <a:rPr lang="en-US" altLang="ja-JP" sz="4000" dirty="0"/>
              <a:t>【</a:t>
            </a:r>
            <a:r>
              <a:rPr lang="ja-JP" altLang="en-US" sz="4000" dirty="0"/>
              <a:t>提案</a:t>
            </a:r>
            <a:r>
              <a:rPr lang="en-US" altLang="ja-JP" sz="4000" dirty="0"/>
              <a:t>】</a:t>
            </a:r>
          </a:p>
          <a:p>
            <a:r>
              <a:rPr lang="ja-JP" altLang="en-US" sz="4000" dirty="0"/>
              <a:t>「学習の仕方（適応ダイナミクス）の一致」を目指す（</a:t>
            </a:r>
            <a:r>
              <a:rPr lang="en-US" altLang="ja-JP" sz="4000" dirty="0"/>
              <a:t>Adaptation Consistency</a:t>
            </a:r>
            <a:r>
              <a:rPr lang="ja-JP" altLang="en-US" sz="4000" dirty="0"/>
              <a:t>）</a:t>
            </a:r>
          </a:p>
          <a:p>
            <a:pPr marL="0" indent="0">
              <a:buNone/>
            </a:pPr>
            <a:endParaRPr lang="en-US" altLang="ja-JP" sz="4000" dirty="0"/>
          </a:p>
        </p:txBody>
      </p:sp>
      <mc:AlternateContent xmlns:mc="http://schemas.openxmlformats.org/markup-compatibility/2006" xmlns:a14="http://schemas.microsoft.com/office/drawing/2010/main">
        <mc:Choice Requires="a14">
          <p:sp>
            <p:nvSpPr>
              <p:cNvPr id="12" name="コンテンツ プレースホルダー 1">
                <a:extLst>
                  <a:ext uri="{FF2B5EF4-FFF2-40B4-BE49-F238E27FC236}">
                    <a16:creationId xmlns:a16="http://schemas.microsoft.com/office/drawing/2014/main" id="{97DE844B-E943-331C-3987-204A6CF20E2B}"/>
                  </a:ext>
                </a:extLst>
              </p:cNvPr>
              <p:cNvSpPr txBox="1">
                <a:spLocks/>
              </p:cNvSpPr>
              <p:nvPr/>
            </p:nvSpPr>
            <p:spPr>
              <a:xfrm>
                <a:off x="45720" y="3642727"/>
                <a:ext cx="5958840" cy="3184793"/>
              </a:xfrm>
              <a:prstGeom prst="rect">
                <a:avLst/>
              </a:prstGeom>
              <a:ln>
                <a:solidFill>
                  <a:schemeClr val="bg2">
                    <a:lumMod val="50000"/>
                  </a:schemeClr>
                </a:solidFill>
              </a:ln>
            </p:spPr>
            <p:txBody>
              <a:bodyPr vert="horz" lIns="91440" tIns="45720" rIns="91440" bIns="45720" rtlCol="0">
                <a:normAutofit fontScale="475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ja-JP" altLang="ja-JP" sz="5400" dirty="0"/>
                  <a:t>3. 提案コンセプトの核心</a:t>
                </a:r>
                <a:endParaRPr lang="en-US" altLang="ja-JP" sz="5400" dirty="0"/>
              </a:p>
              <a:p>
                <a:r>
                  <a:rPr lang="ja-JP" altLang="en-US" sz="4000" dirty="0"/>
                  <a:t>ゴールは整合損失そのものではなく  「クライアントの適応情報 → クラウド基盤</a:t>
                </a:r>
                <a:r>
                  <a:rPr lang="en-US" altLang="ja-JP" sz="4000" dirty="0"/>
                  <a:t>AI</a:t>
                </a:r>
                <a:r>
                  <a:rPr lang="ja-JP" altLang="en-US" sz="4000" dirty="0"/>
                  <a:t>の循環更新」</a:t>
                </a:r>
                <a:endParaRPr lang="en-US" altLang="ja-JP" sz="4000" dirty="0"/>
              </a:p>
              <a:p>
                <a:r>
                  <a:rPr lang="ja-JP" altLang="en-US" sz="4000" dirty="0"/>
                  <a:t>クライアントの適応情報の例</a:t>
                </a:r>
                <a:r>
                  <a:rPr lang="en-US" altLang="ja-JP" sz="4000" dirty="0"/>
                  <a:t>:  </a:t>
                </a:r>
                <a:r>
                  <a:rPr lang="en-US" altLang="ja-JP" sz="4000" dirty="0" err="1"/>
                  <a:t>LoRA</a:t>
                </a:r>
                <a:r>
                  <a:rPr lang="ja-JP" altLang="en-US" sz="4000" dirty="0"/>
                  <a:t>更新差分 </a:t>
                </a:r>
                <a:r>
                  <a:rPr lang="en-US" altLang="ja-JP" sz="4000" dirty="0"/>
                  <a:t>/ </a:t>
                </a:r>
                <a:r>
                  <a:rPr lang="ja-JP" altLang="en-US" sz="4000" dirty="0">
                    <a:solidFill>
                      <a:srgbClr val="FF0000"/>
                    </a:solidFill>
                  </a:rPr>
                  <a:t>出力分布 </a:t>
                </a:r>
                <a:r>
                  <a:rPr lang="en-US" altLang="ja-JP" sz="4000" dirty="0">
                    <a:solidFill>
                      <a:srgbClr val="FF0000"/>
                    </a:solidFill>
                  </a:rPr>
                  <a:t>/ </a:t>
                </a:r>
                <a:r>
                  <a:rPr lang="ja-JP" altLang="en-US" sz="4000" dirty="0">
                    <a:solidFill>
                      <a:srgbClr val="FF0000"/>
                    </a:solidFill>
                  </a:rPr>
                  <a:t>勾配 </a:t>
                </a:r>
                <a:r>
                  <a:rPr lang="en-US" altLang="ja-JP" sz="4000" dirty="0">
                    <a:solidFill>
                      <a:srgbClr val="FF0000"/>
                    </a:solidFill>
                  </a:rPr>
                  <a:t>/ 1-step</a:t>
                </a:r>
                <a:r>
                  <a:rPr lang="ja-JP" altLang="en-US" sz="4000" dirty="0">
                    <a:solidFill>
                      <a:srgbClr val="FF0000"/>
                    </a:solidFill>
                  </a:rPr>
                  <a:t>適応後出力 等</a:t>
                </a:r>
                <a:endParaRPr lang="en-US" altLang="ja-JP" sz="4000" dirty="0">
                  <a:solidFill>
                    <a:srgbClr val="FF0000"/>
                  </a:solidFill>
                </a:endParaRPr>
              </a:p>
              <a:p>
                <a14:m>
                  <m:oMath xmlns:m="http://schemas.openxmlformats.org/officeDocument/2006/math">
                    <m:r>
                      <a:rPr lang="en-US" altLang="ja-JP" sz="4000" i="1">
                        <a:latin typeface="Cambria Math" panose="02040503050406030204" pitchFamily="18" charset="0"/>
                      </a:rPr>
                      <m:t>𝐿</m:t>
                    </m:r>
                    <m:r>
                      <a:rPr lang="en-US" altLang="ja-JP" sz="4000" i="1">
                        <a:latin typeface="Cambria Math" panose="02040503050406030204" pitchFamily="18" charset="0"/>
                      </a:rPr>
                      <m:t>=</m:t>
                    </m:r>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𝜆</m:t>
                        </m:r>
                      </m:e>
                      <m:sub>
                        <m:r>
                          <a:rPr lang="en-US" altLang="ja-JP" sz="4000" i="1">
                            <a:latin typeface="Cambria Math" panose="02040503050406030204" pitchFamily="18" charset="0"/>
                          </a:rPr>
                          <m:t>1</m:t>
                        </m:r>
                      </m:sub>
                    </m:sSub>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𝐿</m:t>
                        </m:r>
                      </m:e>
                      <m:sub>
                        <m:r>
                          <a:rPr lang="en-US" altLang="ja-JP" sz="4000" i="1">
                            <a:latin typeface="Cambria Math" panose="02040503050406030204" pitchFamily="18" charset="0"/>
                          </a:rPr>
                          <m:t>𝑝𝑟𝑒𝑑</m:t>
                        </m:r>
                      </m:sub>
                    </m:sSub>
                    <m:r>
                      <a:rPr lang="en-US" altLang="ja-JP" sz="4000" i="1">
                        <a:latin typeface="Cambria Math" panose="02040503050406030204" pitchFamily="18" charset="0"/>
                      </a:rPr>
                      <m:t>+</m:t>
                    </m:r>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𝜆</m:t>
                        </m:r>
                      </m:e>
                      <m:sub>
                        <m:r>
                          <a:rPr lang="en-US" altLang="ja-JP" sz="4000" i="1">
                            <a:latin typeface="Cambria Math" panose="02040503050406030204" pitchFamily="18" charset="0"/>
                          </a:rPr>
                          <m:t>2</m:t>
                        </m:r>
                      </m:sub>
                    </m:sSub>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𝐿</m:t>
                        </m:r>
                      </m:e>
                      <m:sub>
                        <m:r>
                          <a:rPr lang="en-US" altLang="ja-JP" sz="4000" i="1">
                            <a:latin typeface="Cambria Math" panose="02040503050406030204" pitchFamily="18" charset="0"/>
                          </a:rPr>
                          <m:t>𝑟𝑒𝑝𝑟</m:t>
                        </m:r>
                      </m:sub>
                    </m:sSub>
                    <m:r>
                      <a:rPr lang="en-US" altLang="ja-JP" sz="4000" i="1">
                        <a:latin typeface="Cambria Math" panose="02040503050406030204" pitchFamily="18" charset="0"/>
                      </a:rPr>
                      <m:t>+</m:t>
                    </m:r>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𝜆</m:t>
                        </m:r>
                      </m:e>
                      <m:sub>
                        <m:r>
                          <a:rPr lang="en-US" altLang="ja-JP" sz="4000" i="1">
                            <a:latin typeface="Cambria Math" panose="02040503050406030204" pitchFamily="18" charset="0"/>
                          </a:rPr>
                          <m:t>3</m:t>
                        </m:r>
                      </m:sub>
                    </m:sSub>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𝐿</m:t>
                        </m:r>
                      </m:e>
                      <m:sub>
                        <m:r>
                          <a:rPr lang="en-US" altLang="ja-JP" sz="4000" i="1">
                            <a:latin typeface="Cambria Math" panose="02040503050406030204" pitchFamily="18" charset="0"/>
                          </a:rPr>
                          <m:t>𝑔𝑟𝑎𝑑</m:t>
                        </m:r>
                      </m:sub>
                    </m:sSub>
                    <m:r>
                      <a:rPr lang="en-US" altLang="ja-JP" sz="4000" i="1">
                        <a:latin typeface="Cambria Math" panose="02040503050406030204" pitchFamily="18" charset="0"/>
                      </a:rPr>
                      <m:t>+</m:t>
                    </m:r>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𝜆</m:t>
                        </m:r>
                      </m:e>
                      <m:sub>
                        <m:r>
                          <a:rPr lang="en-US" altLang="ja-JP" sz="4000" i="1">
                            <a:latin typeface="Cambria Math" panose="02040503050406030204" pitchFamily="18" charset="0"/>
                          </a:rPr>
                          <m:t>4</m:t>
                        </m:r>
                      </m:sub>
                    </m:sSub>
                    <m:sSub>
                      <m:sSubPr>
                        <m:ctrlPr>
                          <a:rPr lang="ja-JP" altLang="ja-JP" sz="4000" i="1">
                            <a:latin typeface="Cambria Math" panose="02040503050406030204" pitchFamily="18" charset="0"/>
                          </a:rPr>
                        </m:ctrlPr>
                      </m:sSubPr>
                      <m:e>
                        <m:r>
                          <a:rPr lang="en-US" altLang="ja-JP" sz="4000" i="1">
                            <a:latin typeface="Cambria Math" panose="02040503050406030204" pitchFamily="18" charset="0"/>
                          </a:rPr>
                          <m:t>𝐿</m:t>
                        </m:r>
                      </m:e>
                      <m:sub>
                        <m:r>
                          <a:rPr lang="en-US" altLang="ja-JP" sz="4000" i="1">
                            <a:latin typeface="Cambria Math" panose="02040503050406030204" pitchFamily="18" charset="0"/>
                          </a:rPr>
                          <m:t>𝑝𝑜𝑠𝑡</m:t>
                        </m:r>
                      </m:sub>
                    </m:sSub>
                  </m:oMath>
                </a14:m>
                <a:r>
                  <a:rPr lang="ja-JP" altLang="en-US" sz="4000" dirty="0"/>
                  <a:t>はそのための具体的手法</a:t>
                </a:r>
              </a:p>
            </p:txBody>
          </p:sp>
        </mc:Choice>
        <mc:Fallback xmlns="">
          <p:sp>
            <p:nvSpPr>
              <p:cNvPr id="12" name="コンテンツ プレースホルダー 1">
                <a:extLst>
                  <a:ext uri="{FF2B5EF4-FFF2-40B4-BE49-F238E27FC236}">
                    <a16:creationId xmlns:a16="http://schemas.microsoft.com/office/drawing/2014/main" id="{97DE844B-E943-331C-3987-204A6CF20E2B}"/>
                  </a:ext>
                </a:extLst>
              </p:cNvPr>
              <p:cNvSpPr txBox="1">
                <a:spLocks noRot="1" noChangeAspect="1" noMove="1" noResize="1" noEditPoints="1" noAdjustHandles="1" noChangeArrowheads="1" noChangeShapeType="1" noTextEdit="1"/>
              </p:cNvSpPr>
              <p:nvPr/>
            </p:nvSpPr>
            <p:spPr>
              <a:xfrm>
                <a:off x="45720" y="3642727"/>
                <a:ext cx="5958840" cy="3184793"/>
              </a:xfrm>
              <a:prstGeom prst="rect">
                <a:avLst/>
              </a:prstGeom>
              <a:blipFill>
                <a:blip r:embed="rId2"/>
                <a:stretch>
                  <a:fillRect l="-1736" t="-1908" r="-102"/>
                </a:stretch>
              </a:blipFill>
              <a:ln>
                <a:solidFill>
                  <a:schemeClr val="bg2">
                    <a:lumMod val="50000"/>
                  </a:schemeClr>
                </a:solidFill>
              </a:ln>
            </p:spPr>
            <p:txBody>
              <a:bodyPr/>
              <a:lstStyle/>
              <a:p>
                <a:r>
                  <a:rPr lang="ja-JP" altLang="en-US">
                    <a:noFill/>
                  </a:rPr>
                  <a:t> </a:t>
                </a:r>
              </a:p>
            </p:txBody>
          </p:sp>
        </mc:Fallback>
      </mc:AlternateContent>
      <p:sp>
        <p:nvSpPr>
          <p:cNvPr id="14" name="コンテンツ プレースホルダー 1">
            <a:extLst>
              <a:ext uri="{FF2B5EF4-FFF2-40B4-BE49-F238E27FC236}">
                <a16:creationId xmlns:a16="http://schemas.microsoft.com/office/drawing/2014/main" id="{B9E08A0E-0928-DB6F-9CD8-A8F9E0487261}"/>
              </a:ext>
            </a:extLst>
          </p:cNvPr>
          <p:cNvSpPr txBox="1">
            <a:spLocks/>
          </p:cNvSpPr>
          <p:nvPr/>
        </p:nvSpPr>
        <p:spPr>
          <a:xfrm>
            <a:off x="6187440" y="3642726"/>
            <a:ext cx="5958840" cy="3184794"/>
          </a:xfrm>
          <a:prstGeom prst="rect">
            <a:avLst/>
          </a:prstGeom>
          <a:ln>
            <a:solidFill>
              <a:schemeClr val="bg2">
                <a:lumMod val="50000"/>
              </a:schemeClr>
            </a:solidFill>
          </a:ln>
        </p:spPr>
        <p:txBody>
          <a:bodyPr vert="horz" lIns="91440" tIns="45720" rIns="91440" bIns="45720" rtlCol="0">
            <a:normAutofit fontScale="400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en-US" altLang="ja-JP" sz="6600" dirty="0"/>
              <a:t>4. </a:t>
            </a:r>
            <a:r>
              <a:rPr lang="ja-JP" altLang="ja-JP" sz="6600" dirty="0"/>
              <a:t>期待される成果</a:t>
            </a:r>
            <a:endParaRPr lang="en-US" altLang="ja-JP" sz="6600" dirty="0"/>
          </a:p>
          <a:p>
            <a:pPr marL="0" indent="0">
              <a:lnSpc>
                <a:spcPct val="100000"/>
              </a:lnSpc>
              <a:buNone/>
            </a:pPr>
            <a:r>
              <a:rPr lang="ja-JP" altLang="en-US" sz="5400" dirty="0"/>
              <a:t>① </a:t>
            </a:r>
            <a:r>
              <a:rPr lang="ja-JP" altLang="en-US" sz="6000" dirty="0"/>
              <a:t>危険の早期・高精度検知</a:t>
            </a:r>
            <a:endParaRPr lang="en-US" altLang="ja-JP" sz="6000" dirty="0"/>
          </a:p>
          <a:p>
            <a:pPr marL="0" indent="0">
              <a:lnSpc>
                <a:spcPct val="100000"/>
              </a:lnSpc>
              <a:buNone/>
            </a:pPr>
            <a:r>
              <a:rPr lang="en-US" altLang="ja-JP" sz="5400" dirty="0"/>
              <a:t>    </a:t>
            </a:r>
            <a:r>
              <a:rPr lang="ja-JP" altLang="ja-JP" sz="5400" dirty="0"/>
              <a:t>（事故の数秒前に危険を察知・説明する） </a:t>
            </a:r>
            <a:endParaRPr lang="en-US" altLang="ja-JP" sz="5400" dirty="0"/>
          </a:p>
          <a:p>
            <a:pPr marL="0" indent="0">
              <a:lnSpc>
                <a:spcPct val="100000"/>
              </a:lnSpc>
              <a:buNone/>
            </a:pPr>
            <a:r>
              <a:rPr lang="ja-JP" altLang="en-US" sz="5400" dirty="0"/>
              <a:t>② </a:t>
            </a:r>
            <a:r>
              <a:rPr lang="ja-JP" altLang="ja-JP" sz="6000" dirty="0"/>
              <a:t>継続学習における忘却抑制 </a:t>
            </a:r>
            <a:endParaRPr lang="en-US" altLang="ja-JP" sz="6000" dirty="0"/>
          </a:p>
          <a:p>
            <a:pPr marL="0" indent="0">
              <a:lnSpc>
                <a:spcPct val="100000"/>
              </a:lnSpc>
              <a:buNone/>
            </a:pPr>
            <a:r>
              <a:rPr lang="en-US" altLang="ja-JP" sz="5400" dirty="0"/>
              <a:t>     </a:t>
            </a:r>
            <a:r>
              <a:rPr lang="ja-JP" altLang="ja-JP" sz="5400" dirty="0"/>
              <a:t>新しい環境を学んでも、過去の知識を忘れない）</a:t>
            </a:r>
            <a:endParaRPr lang="en-US" altLang="ja-JP" sz="5400" dirty="0"/>
          </a:p>
          <a:p>
            <a:pPr marL="0" indent="0">
              <a:lnSpc>
                <a:spcPct val="100000"/>
              </a:lnSpc>
              <a:buNone/>
            </a:pPr>
            <a:r>
              <a:rPr lang="ja-JP" altLang="en-US" sz="5400" dirty="0"/>
              <a:t>③ </a:t>
            </a:r>
            <a:r>
              <a:rPr lang="ja-JP" altLang="ja-JP" sz="6000" dirty="0"/>
              <a:t>優れた計算・通信効率 </a:t>
            </a:r>
            <a:endParaRPr lang="en-US" altLang="ja-JP" sz="6000" dirty="0"/>
          </a:p>
          <a:p>
            <a:pPr marL="0" indent="0">
              <a:lnSpc>
                <a:spcPct val="100000"/>
              </a:lnSpc>
              <a:buNone/>
            </a:pPr>
            <a:r>
              <a:rPr lang="en-US" altLang="ja-JP" sz="5400" dirty="0"/>
              <a:t>    </a:t>
            </a:r>
            <a:r>
              <a:rPr lang="ja-JP" altLang="ja-JP" sz="5400" dirty="0"/>
              <a:t>（エッジ側のリソースを最小限に抑える） </a:t>
            </a:r>
            <a:endParaRPr lang="en-US" altLang="ja-JP" sz="5400" dirty="0"/>
          </a:p>
        </p:txBody>
      </p:sp>
    </p:spTree>
    <p:extLst>
      <p:ext uri="{BB962C8B-B14F-4D97-AF65-F5344CB8AC3E}">
        <p14:creationId xmlns:p14="http://schemas.microsoft.com/office/powerpoint/2010/main" val="560412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8293C7-F7B5-D26E-48A2-4EE636CB4ECB}"/>
              </a:ext>
            </a:extLst>
          </p:cNvPr>
          <p:cNvSpPr>
            <a:spLocks noGrp="1"/>
          </p:cNvSpPr>
          <p:nvPr>
            <p:ph type="title"/>
          </p:nvPr>
        </p:nvSpPr>
        <p:spPr/>
        <p:txBody>
          <a:bodyPr/>
          <a:lstStyle/>
          <a:p>
            <a:r>
              <a:rPr kumimoji="1" lang="ja-JP" altLang="en-US" dirty="0"/>
              <a:t>変数</a:t>
            </a:r>
          </a:p>
        </p:txBody>
      </p:sp>
      <p:sp>
        <p:nvSpPr>
          <p:cNvPr id="3" name="スライド番号プレースホルダー 2">
            <a:extLst>
              <a:ext uri="{FF2B5EF4-FFF2-40B4-BE49-F238E27FC236}">
                <a16:creationId xmlns:a16="http://schemas.microsoft.com/office/drawing/2014/main" id="{D182F586-E85A-B66D-372F-D64D1A666384}"/>
              </a:ext>
            </a:extLst>
          </p:cNvPr>
          <p:cNvSpPr>
            <a:spLocks noGrp="1"/>
          </p:cNvSpPr>
          <p:nvPr>
            <p:ph type="sldNum" sz="quarter" idx="4"/>
          </p:nvPr>
        </p:nvSpPr>
        <p:spPr/>
        <p:txBody>
          <a:bodyPr/>
          <a:lstStyle/>
          <a:p>
            <a:fld id="{C088C981-6885-4100-82A1-DE7074EC4480}" type="slidenum">
              <a:rPr lang="ja-JP" altLang="en-US" smtClean="0"/>
              <a:pPr/>
              <a:t>2</a:t>
            </a:fld>
            <a:endParaRPr lang="ja-JP" altLang="en-US" dirty="0">
              <a:latin typeface="Arial" panose="020B0604020202020204" pitchFamily="34" charset="0"/>
            </a:endParaRPr>
          </a:p>
        </p:txBody>
      </p:sp>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036454D0-E239-AD87-800A-869D24712CC0}"/>
                  </a:ext>
                </a:extLst>
              </p:cNvPr>
              <p:cNvSpPr>
                <a:spLocks noGrp="1"/>
              </p:cNvSpPr>
              <p:nvPr>
                <p:ph idx="1"/>
              </p:nvPr>
            </p:nvSpPr>
            <p:spPr/>
            <p:txBody>
              <a:bodyPr>
                <a:normAutofit fontScale="55000" lnSpcReduction="20000"/>
              </a:bodyPr>
              <a:lstStyle/>
              <a:p>
                <a14:m>
                  <m:oMath xmlns:m="http://schemas.openxmlformats.org/officeDocument/2006/math">
                    <m:r>
                      <a:rPr lang="en-US" altLang="ja-JP" b="0" i="1" smtClean="0">
                        <a:latin typeface="Cambria Math" panose="02040503050406030204" pitchFamily="18" charset="0"/>
                      </a:rPr>
                      <m:t>𝐾</m:t>
                    </m:r>
                  </m:oMath>
                </a14:m>
                <a:r>
                  <a:rPr lang="en-US" altLang="ja-JP" dirty="0"/>
                  <a:t>:</a:t>
                </a:r>
                <a:r>
                  <a:rPr lang="ja-JP" altLang="ja-JP" dirty="0"/>
                  <a:t>参加端末数、</a:t>
                </a:r>
                <a:r>
                  <a:rPr lang="en-US" altLang="ja-JP" dirty="0"/>
                  <a:t> </a:t>
                </a:r>
                <a14:m>
                  <m:oMath xmlns:m="http://schemas.openxmlformats.org/officeDocument/2006/math">
                    <m:r>
                      <a:rPr lang="en-US" altLang="ja-JP" b="0" i="1" smtClean="0">
                        <a:latin typeface="Cambria Math" panose="02040503050406030204" pitchFamily="18" charset="0"/>
                      </a:rPr>
                      <m:t>𝑘</m:t>
                    </m:r>
                    <m:r>
                      <a:rPr lang="en-US" altLang="ja-JP" b="0" i="1" smtClean="0">
                        <a:latin typeface="Cambria Math" panose="02040503050406030204" pitchFamily="18" charset="0"/>
                        <a:ea typeface="Cambria Math" panose="02040503050406030204" pitchFamily="18" charset="0"/>
                      </a:rPr>
                      <m:t>∈{1,…,</m:t>
                    </m:r>
                    <m:r>
                      <a:rPr lang="en-US" altLang="ja-JP" i="1">
                        <a:latin typeface="Cambria Math" panose="02040503050406030204" pitchFamily="18" charset="0"/>
                      </a:rPr>
                      <m:t>𝐾</m:t>
                    </m:r>
                    <m:r>
                      <a:rPr lang="en-US" altLang="ja-JP" b="0" i="1" smtClean="0">
                        <a:latin typeface="Cambria Math" panose="02040503050406030204" pitchFamily="18" charset="0"/>
                      </a:rPr>
                      <m:t>}</m:t>
                    </m:r>
                  </m:oMath>
                </a14:m>
                <a:r>
                  <a:rPr lang="en-US" altLang="ja-JP" dirty="0"/>
                  <a:t>:</a:t>
                </a:r>
                <a:r>
                  <a:rPr lang="ja-JP" altLang="en-US" dirty="0"/>
                  <a:t>端末番号</a:t>
                </a:r>
                <a:endParaRPr lang="en-US" altLang="ja-JP" dirty="0"/>
              </a:p>
              <a:p>
                <a14:m>
                  <m:oMath xmlns:m="http://schemas.openxmlformats.org/officeDocument/2006/math">
                    <m:r>
                      <a:rPr lang="en-US" altLang="ja-JP" b="0" i="1" smtClean="0">
                        <a:latin typeface="Cambria Math" panose="02040503050406030204" pitchFamily="18" charset="0"/>
                      </a:rPr>
                      <m:t>𝑟</m:t>
                    </m:r>
                  </m:oMath>
                </a14:m>
                <a:r>
                  <a:rPr lang="ja-JP" altLang="ja-JP" dirty="0"/>
                  <a:t> : 現在のラウンド番号。</a:t>
                </a:r>
                <a14:m>
                  <m:oMath xmlns:m="http://schemas.openxmlformats.org/officeDocument/2006/math">
                    <m:r>
                      <a:rPr lang="ja-JP" altLang="en-US" i="1">
                        <a:latin typeface="Cambria Math" panose="02040503050406030204" pitchFamily="18" charset="0"/>
                      </a:rPr>
                      <m:t>𝑟</m:t>
                    </m:r>
                    <m:r>
                      <a:rPr lang="ja-JP" altLang="en-US">
                        <a:latin typeface="Cambria Math" panose="02040503050406030204" pitchFamily="18" charset="0"/>
                      </a:rPr>
                      <m:t>−</m:t>
                    </m:r>
                    <m:r>
                      <a:rPr lang="en-US" altLang="ja-JP">
                        <a:latin typeface="Cambria Math" panose="02040503050406030204" pitchFamily="18" charset="0"/>
                      </a:rPr>
                      <m:t>1</m:t>
                    </m:r>
                  </m:oMath>
                </a14:m>
                <a:r>
                  <a:rPr lang="ja-JP" altLang="ja-JP" dirty="0"/>
                  <a:t> は前ラウンド</a:t>
                </a:r>
                <a:endParaRPr lang="en-US" altLang="ja-JP" i="1" dirty="0"/>
              </a:p>
              <a:p>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𝒟</m:t>
                        </m:r>
                      </m:e>
                      <m:sub>
                        <m:r>
                          <a:rPr lang="en-US" altLang="ja-JP" b="0" i="1" smtClean="0">
                            <a:latin typeface="Cambria Math" panose="02040503050406030204" pitchFamily="18" charset="0"/>
                          </a:rPr>
                          <m:t>𝑘</m:t>
                        </m:r>
                      </m:sub>
                    </m:sSub>
                  </m:oMath>
                </a14:m>
                <a:r>
                  <a:rPr lang="ja-JP" altLang="ja-JP" dirty="0"/>
                  <a:t>端末 </a:t>
                </a:r>
                <a14:m>
                  <m:oMath xmlns:m="http://schemas.openxmlformats.org/officeDocument/2006/math">
                    <m:r>
                      <a:rPr lang="ja-JP" altLang="en-US" i="1">
                        <a:latin typeface="Cambria Math" panose="02040503050406030204" pitchFamily="18" charset="0"/>
                      </a:rPr>
                      <m:t>𝑘</m:t>
                    </m:r>
                  </m:oMath>
                </a14:m>
                <a:r>
                  <a:rPr lang="ja-JP" altLang="ja-JP" dirty="0"/>
                  <a:t> だけが持つ学習データ</a:t>
                </a:r>
                <a:endParaRPr lang="en-US" altLang="ja-JP" i="1" dirty="0"/>
              </a:p>
              <a:p>
                <a14:m>
                  <m:oMath xmlns:m="http://schemas.openxmlformats.org/officeDocument/2006/math">
                    <m:sSub>
                      <m:sSubPr>
                        <m:ctrlPr>
                          <a:rPr lang="ja-JP" altLang="en-US" i="1" smtClean="0">
                            <a:latin typeface="Cambria Math" panose="02040503050406030204" pitchFamily="18" charset="0"/>
                          </a:rPr>
                        </m:ctrlPr>
                      </m:sSubPr>
                      <m:e>
                        <m:r>
                          <a:rPr lang="ja-JP" altLang="en-US" i="1">
                            <a:latin typeface="Cambria Math" panose="02040503050406030204" pitchFamily="18" charset="0"/>
                          </a:rPr>
                          <m:t>𝒟</m:t>
                        </m:r>
                      </m:e>
                      <m:sub>
                        <m:r>
                          <a:rPr lang="ja-JP" altLang="en-US" i="1">
                            <a:latin typeface="Cambria Math" panose="02040503050406030204" pitchFamily="18" charset="0"/>
                          </a:rPr>
                          <m:t>𝑎𝑙𝑖𝑔𝑛</m:t>
                        </m:r>
                      </m:sub>
                    </m:sSub>
                    <m:r>
                      <a:rPr lang="ja-JP" altLang="en-US" i="1">
                        <a:latin typeface="Cambria Math" panose="02040503050406030204" pitchFamily="18" charset="0"/>
                      </a:rPr>
                      <m:t>：</m:t>
                    </m:r>
                  </m:oMath>
                </a14:m>
                <a:r>
                  <a:rPr lang="ja-JP" altLang="ja-JP" dirty="0"/>
                  <a:t>公開整合セット（現在の共通問題集）</a:t>
                </a:r>
                <a:endParaRPr lang="en-US" altLang="ja-JP" dirty="0"/>
              </a:p>
              <a:p>
                <a14:m>
                  <m:oMath xmlns:m="http://schemas.openxmlformats.org/officeDocument/2006/math">
                    <m:sSub>
                      <m:sSubPr>
                        <m:ctrlPr>
                          <a:rPr lang="ja-JP" altLang="en-US" i="1">
                            <a:latin typeface="Cambria Math" panose="02040503050406030204" pitchFamily="18" charset="0"/>
                          </a:rPr>
                        </m:ctrlPr>
                      </m:sSubPr>
                      <m:e>
                        <m:r>
                          <a:rPr lang="en-US" altLang="ja-JP" i="1" smtClean="0">
                            <a:latin typeface="Cambria Math" panose="02040503050406030204" pitchFamily="18" charset="0"/>
                          </a:rPr>
                          <m:t>𝜃</m:t>
                        </m:r>
                      </m:e>
                      <m:sub>
                        <m:r>
                          <a:rPr lang="en-US" altLang="ja-JP" b="0" i="1" smtClean="0">
                            <a:latin typeface="Cambria Math" panose="02040503050406030204" pitchFamily="18" charset="0"/>
                          </a:rPr>
                          <m:t>𝑘</m:t>
                        </m:r>
                      </m:sub>
                    </m:sSub>
                  </m:oMath>
                </a14:m>
                <a:r>
                  <a:rPr lang="ja-JP" altLang="ja-JP" dirty="0"/>
                  <a:t> : 端末 </a:t>
                </a:r>
                <a14:m>
                  <m:oMath xmlns:m="http://schemas.openxmlformats.org/officeDocument/2006/math">
                    <m:r>
                      <a:rPr lang="ja-JP" altLang="en-US" i="1">
                        <a:latin typeface="Cambria Math" panose="02040503050406030204" pitchFamily="18" charset="0"/>
                      </a:rPr>
                      <m:t>𝑘</m:t>
                    </m:r>
                  </m:oMath>
                </a14:m>
                <a:r>
                  <a:rPr lang="ja-JP" altLang="ja-JP" dirty="0"/>
                  <a:t> の クライアント LoRA + 分類ヘッド</a:t>
                </a:r>
                <a:endParaRPr lang="en-US" altLang="ja-JP" dirty="0"/>
              </a:p>
              <a:p>
                <a14:m>
                  <m:oMath xmlns:m="http://schemas.openxmlformats.org/officeDocument/2006/math">
                    <m:sSub>
                      <m:sSubPr>
                        <m:ctrlPr>
                          <a:rPr lang="ja-JP" altLang="en-US" i="1">
                            <a:latin typeface="Cambria Math" panose="02040503050406030204" pitchFamily="18" charset="0"/>
                          </a:rPr>
                        </m:ctrlPr>
                      </m:sSubPr>
                      <m:e>
                        <m:r>
                          <a:rPr lang="en-US" altLang="ja-JP" i="1">
                            <a:latin typeface="Cambria Math" panose="02040503050406030204" pitchFamily="18" charset="0"/>
                          </a:rPr>
                          <m:t>𝜃</m:t>
                        </m:r>
                      </m:e>
                      <m:sub>
                        <m:r>
                          <a:rPr lang="en-US" altLang="ja-JP" b="0" i="1" smtClean="0">
                            <a:latin typeface="Cambria Math" panose="02040503050406030204" pitchFamily="18" charset="0"/>
                          </a:rPr>
                          <m:t>𝑏𝑎𝑠𝑒</m:t>
                        </m:r>
                      </m:sub>
                    </m:sSub>
                  </m:oMath>
                </a14:m>
                <a:r>
                  <a:rPr lang="ja-JP" altLang="en-US" dirty="0"/>
                  <a:t> </a:t>
                </a:r>
                <a:r>
                  <a:rPr lang="en-US" altLang="ja-JP" dirty="0"/>
                  <a:t>: </a:t>
                </a:r>
                <a:r>
                  <a:rPr lang="ja-JP" altLang="en-US" dirty="0"/>
                  <a:t>クラウドの 基盤 </a:t>
                </a:r>
                <a:r>
                  <a:rPr lang="en-US" altLang="ja-JP" dirty="0"/>
                  <a:t>LoRA</a:t>
                </a:r>
              </a:p>
              <a:p>
                <a14:m>
                  <m:oMath xmlns:m="http://schemas.openxmlformats.org/officeDocument/2006/math">
                    <m:sSub>
                      <m:sSubPr>
                        <m:ctrlPr>
                          <a:rPr lang="ja-JP" altLang="en-US" i="1">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i="1">
                            <a:latin typeface="Cambria Math" panose="02040503050406030204" pitchFamily="18" charset="0"/>
                          </a:rPr>
                          <m:t>𝑘</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sSub>
                      <m:sSubPr>
                        <m:ctrlPr>
                          <a:rPr lang="ja-JP" altLang="en-US" i="1">
                            <a:latin typeface="Cambria Math" panose="02040503050406030204" pitchFamily="18" charset="0"/>
                          </a:rPr>
                        </m:ctrlPr>
                      </m:sSubPr>
                      <m:e>
                        <m:r>
                          <a:rPr lang="en-US" altLang="ja-JP" i="1">
                            <a:latin typeface="Cambria Math" panose="02040503050406030204" pitchFamily="18" charset="0"/>
                          </a:rPr>
                          <m:t>𝜃</m:t>
                        </m:r>
                      </m:e>
                      <m:sub>
                        <m:r>
                          <a:rPr lang="en-US" altLang="ja-JP" i="1">
                            <a:latin typeface="Cambria Math" panose="02040503050406030204" pitchFamily="18" charset="0"/>
                          </a:rPr>
                          <m:t>𝑘</m:t>
                        </m:r>
                      </m:sub>
                    </m:sSub>
                    <m:r>
                      <a:rPr lang="en-US" altLang="ja-JP" b="0" i="1" smtClean="0">
                        <a:latin typeface="Cambria Math" panose="02040503050406030204" pitchFamily="18" charset="0"/>
                      </a:rPr>
                      <m:t>)</m:t>
                    </m:r>
                  </m:oMath>
                </a14:m>
                <a:r>
                  <a:rPr lang="ja-JP" altLang="ja-JP" dirty="0"/>
                  <a:t> : 端末 </a:t>
                </a:r>
                <a14:m>
                  <m:oMath xmlns:m="http://schemas.openxmlformats.org/officeDocument/2006/math">
                    <m:r>
                      <a:rPr lang="ja-JP" altLang="en-US" i="1">
                        <a:latin typeface="Cambria Math" panose="02040503050406030204" pitchFamily="18" charset="0"/>
                      </a:rPr>
                      <m:t>𝑘</m:t>
                    </m:r>
                  </m:oMath>
                </a14:m>
                <a:r>
                  <a:rPr lang="ja-JP" altLang="ja-JP" dirty="0"/>
                  <a:t> が入力 </a:t>
                </a:r>
                <a14:m>
                  <m:oMath xmlns:m="http://schemas.openxmlformats.org/officeDocument/2006/math">
                    <m:r>
                      <a:rPr lang="ja-JP" altLang="en-US" i="1">
                        <a:latin typeface="Cambria Math" panose="02040503050406030204" pitchFamily="18" charset="0"/>
                      </a:rPr>
                      <m:t>𝑥</m:t>
                    </m:r>
                  </m:oMath>
                </a14:m>
                <a:r>
                  <a:rPr lang="ja-JP" altLang="ja-JP" dirty="0"/>
                  <a:t> に出す logits </a:t>
                </a:r>
                <a:endParaRPr lang="en-US" altLang="ja-JP" dirty="0"/>
              </a:p>
              <a:p>
                <a14:m>
                  <m:oMath xmlns:m="http://schemas.openxmlformats.org/officeDocument/2006/math">
                    <m:sSub>
                      <m:sSubPr>
                        <m:ctrlPr>
                          <a:rPr lang="ja-JP" altLang="en-US" i="1">
                            <a:latin typeface="Cambria Math" panose="02040503050406030204" pitchFamily="18" charset="0"/>
                          </a:rPr>
                        </m:ctrlPr>
                      </m:sSubPr>
                      <m:e>
                        <m:r>
                          <a:rPr lang="en-US" altLang="ja-JP" i="1">
                            <a:latin typeface="Cambria Math" panose="02040503050406030204" pitchFamily="18" charset="0"/>
                          </a:rPr>
                          <m:t>𝑓</m:t>
                        </m:r>
                      </m:e>
                      <m:sub>
                        <m:r>
                          <a:rPr lang="en-US" altLang="ja-JP" b="0" i="1" smtClean="0">
                            <a:latin typeface="Cambria Math" panose="02040503050406030204" pitchFamily="18" charset="0"/>
                          </a:rPr>
                          <m:t>𝑏𝑎𝑠𝑒</m:t>
                        </m:r>
                      </m:sub>
                    </m:sSub>
                    <m:r>
                      <a:rPr lang="en-US" altLang="ja-JP" i="1">
                        <a:latin typeface="Cambria Math" panose="02040503050406030204" pitchFamily="18" charset="0"/>
                      </a:rPr>
                      <m:t>(</m:t>
                    </m:r>
                    <m:r>
                      <a:rPr lang="en-US" altLang="ja-JP" i="1">
                        <a:latin typeface="Cambria Math" panose="02040503050406030204" pitchFamily="18" charset="0"/>
                      </a:rPr>
                      <m:t>𝑥</m:t>
                    </m:r>
                    <m:r>
                      <a:rPr lang="en-US" altLang="ja-JP" i="1">
                        <a:latin typeface="Cambria Math" panose="02040503050406030204" pitchFamily="18" charset="0"/>
                      </a:rPr>
                      <m:t>;</m:t>
                    </m:r>
                    <m:sSub>
                      <m:sSubPr>
                        <m:ctrlPr>
                          <a:rPr lang="ja-JP" altLang="en-US" i="1">
                            <a:latin typeface="Cambria Math" panose="02040503050406030204" pitchFamily="18" charset="0"/>
                          </a:rPr>
                        </m:ctrlPr>
                      </m:sSubPr>
                      <m:e>
                        <m:r>
                          <a:rPr lang="en-US" altLang="ja-JP" i="1">
                            <a:latin typeface="Cambria Math" panose="02040503050406030204" pitchFamily="18" charset="0"/>
                          </a:rPr>
                          <m:t>𝜃</m:t>
                        </m:r>
                      </m:e>
                      <m:sub>
                        <m:r>
                          <a:rPr lang="en-US" altLang="ja-JP" b="0" i="1" smtClean="0">
                            <a:latin typeface="Cambria Math" panose="02040503050406030204" pitchFamily="18" charset="0"/>
                          </a:rPr>
                          <m:t>𝑏𝑎𝑠𝑒</m:t>
                        </m:r>
                      </m:sub>
                    </m:sSub>
                    <m:r>
                      <a:rPr lang="en-US" altLang="ja-JP" i="1">
                        <a:latin typeface="Cambria Math" panose="02040503050406030204" pitchFamily="18" charset="0"/>
                      </a:rPr>
                      <m:t>)</m:t>
                    </m:r>
                  </m:oMath>
                </a14:m>
                <a:r>
                  <a:rPr lang="ja-JP" altLang="ja-JP" dirty="0"/>
                  <a:t> : 基盤モデルが入力 </a:t>
                </a:r>
                <a14:m>
                  <m:oMath xmlns:m="http://schemas.openxmlformats.org/officeDocument/2006/math">
                    <m:r>
                      <a:rPr lang="ja-JP" altLang="en-US" i="1">
                        <a:latin typeface="Cambria Math" panose="02040503050406030204" pitchFamily="18" charset="0"/>
                      </a:rPr>
                      <m:t>𝑥</m:t>
                    </m:r>
                  </m:oMath>
                </a14:m>
                <a:r>
                  <a:rPr lang="ja-JP" altLang="ja-JP" dirty="0"/>
                  <a:t> に出す logits </a:t>
                </a:r>
                <a:endParaRPr lang="en-US" altLang="ja-JP" dirty="0"/>
              </a:p>
              <a:p>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𝑧</m:t>
                        </m:r>
                      </m:e>
                      <m:sub>
                        <m:r>
                          <a:rPr lang="en-US" altLang="ja-JP" b="0" i="1" smtClean="0">
                            <a:latin typeface="Cambria Math" panose="02040503050406030204" pitchFamily="18" charset="0"/>
                          </a:rPr>
                          <m:t>𝑘</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𝑥</m:t>
                        </m:r>
                      </m:e>
                    </m:d>
                    <m:r>
                      <a:rPr lang="en-US" altLang="ja-JP" b="0" i="1" smtClean="0">
                        <a:latin typeface="Cambria Math" panose="02040503050406030204" pitchFamily="18" charset="0"/>
                      </a:rPr>
                      <m:t> /</m:t>
                    </m:r>
                    <m:sSub>
                      <m:sSubPr>
                        <m:ctrlPr>
                          <a:rPr lang="ja-JP" altLang="en-US" i="1">
                            <a:latin typeface="Cambria Math" panose="02040503050406030204" pitchFamily="18" charset="0"/>
                          </a:rPr>
                        </m:ctrlPr>
                      </m:sSubPr>
                      <m:e>
                        <m:r>
                          <a:rPr lang="en-US" altLang="ja-JP" b="0" i="1" smtClean="0">
                            <a:latin typeface="Cambria Math" panose="02040503050406030204" pitchFamily="18" charset="0"/>
                          </a:rPr>
                          <m:t> </m:t>
                        </m:r>
                        <m:r>
                          <a:rPr lang="en-US" altLang="ja-JP" b="0" i="1" smtClean="0">
                            <a:latin typeface="Cambria Math" panose="02040503050406030204" pitchFamily="18" charset="0"/>
                          </a:rPr>
                          <m:t>𝑧</m:t>
                        </m:r>
                      </m:e>
                      <m:sub>
                        <m:r>
                          <a:rPr lang="en-US" altLang="ja-JP" b="0" i="1" smtClean="0">
                            <a:latin typeface="Cambria Math" panose="02040503050406030204" pitchFamily="18" charset="0"/>
                          </a:rPr>
                          <m:t>𝑏𝑎𝑠𝑒</m:t>
                        </m:r>
                      </m:sub>
                    </m:sSub>
                    <m:r>
                      <a:rPr lang="en-US" altLang="ja-JP" i="1">
                        <a:latin typeface="Cambria Math" panose="02040503050406030204" pitchFamily="18" charset="0"/>
                      </a:rPr>
                      <m:t>(</m:t>
                    </m:r>
                    <m:r>
                      <a:rPr lang="en-US" altLang="ja-JP" i="1">
                        <a:latin typeface="Cambria Math" panose="02040503050406030204" pitchFamily="18" charset="0"/>
                      </a:rPr>
                      <m:t>𝑥</m:t>
                    </m:r>
                    <m:r>
                      <a:rPr lang="en-US" altLang="ja-JP" i="1">
                        <a:latin typeface="Cambria Math" panose="02040503050406030204" pitchFamily="18" charset="0"/>
                      </a:rPr>
                      <m:t>)</m:t>
                    </m:r>
                  </m:oMath>
                </a14:m>
                <a:r>
                  <a:rPr lang="ja-JP" altLang="ja-JP" dirty="0"/>
                  <a:t> : 端末 / 基盤モデルが実際に出した logits </a:t>
                </a:r>
                <a:endParaRPr lang="en-US" altLang="ja-JP" dirty="0"/>
              </a:p>
              <a:p>
                <a14:m>
                  <m:oMath xmlns:m="http://schemas.openxmlformats.org/officeDocument/2006/math">
                    <m:r>
                      <a:rPr lang="en-US" altLang="ja-JP" b="0" i="1" smtClean="0">
                        <a:latin typeface="Cambria Math" panose="02040503050406030204" pitchFamily="18" charset="0"/>
                      </a:rPr>
                      <m:t>𝑇</m:t>
                    </m:r>
                  </m:oMath>
                </a14:m>
                <a:r>
                  <a:rPr lang="ja-JP" altLang="ja-JP" dirty="0"/>
                  <a:t> : softmax の温度。現在は </a:t>
                </a:r>
                <a14:m>
                  <m:oMath xmlns:m="http://schemas.openxmlformats.org/officeDocument/2006/math">
                    <m:r>
                      <a:rPr lang="ja-JP" altLang="en-US" i="1">
                        <a:latin typeface="Cambria Math" panose="02040503050406030204" pitchFamily="18" charset="0"/>
                      </a:rPr>
                      <m:t>𝑇</m:t>
                    </m:r>
                    <m:r>
                      <a:rPr lang="en-US" altLang="ja-JP">
                        <a:latin typeface="Cambria Math" panose="02040503050406030204" pitchFamily="18" charset="0"/>
                      </a:rPr>
                      <m:t>=2.0</m:t>
                    </m:r>
                    <m:r>
                      <a:rPr lang="en-US" altLang="ja-JP" i="1">
                        <a:latin typeface="Cambria Math" panose="02040503050406030204" pitchFamily="18" charset="0"/>
                      </a:rPr>
                      <m:t> </m:t>
                    </m:r>
                  </m:oMath>
                </a14:m>
                <a:endParaRPr lang="en-US" altLang="ja-JP" i="1" dirty="0"/>
              </a:p>
              <a:p>
                <a14:m>
                  <m:oMath xmlns:m="http://schemas.openxmlformats.org/officeDocument/2006/math">
                    <m:sSub>
                      <m:sSubPr>
                        <m:ctrlPr>
                          <a:rPr lang="ja-JP" altLang="en-US" i="1">
                            <a:latin typeface="Cambria Math" panose="02040503050406030204" pitchFamily="18" charset="0"/>
                          </a:rPr>
                        </m:ctrlPr>
                      </m:sSubPr>
                      <m:e>
                        <m:r>
                          <a:rPr lang="en-US" altLang="ja-JP" b="0" i="1" smtClean="0">
                            <a:latin typeface="Cambria Math" panose="02040503050406030204" pitchFamily="18" charset="0"/>
                          </a:rPr>
                          <m:t>𝑛</m:t>
                        </m:r>
                      </m:e>
                      <m:sub>
                        <m:r>
                          <a:rPr lang="en-US" altLang="ja-JP" i="1">
                            <a:latin typeface="Cambria Math" panose="02040503050406030204" pitchFamily="18" charset="0"/>
                          </a:rPr>
                          <m:t>𝑘</m:t>
                        </m:r>
                      </m:sub>
                    </m:sSub>
                  </m:oMath>
                </a14:m>
                <a:r>
                  <a:rPr lang="ja-JP" altLang="ja-JP" dirty="0"/>
                  <a:t> ​: 端末 </a:t>
                </a:r>
                <a14:m>
                  <m:oMath xmlns:m="http://schemas.openxmlformats.org/officeDocument/2006/math">
                    <m:r>
                      <a:rPr lang="ja-JP" altLang="en-US" i="1">
                        <a:latin typeface="Cambria Math" panose="02040503050406030204" pitchFamily="18" charset="0"/>
                      </a:rPr>
                      <m:t>𝑘</m:t>
                    </m:r>
                  </m:oMath>
                </a14:m>
                <a:r>
                  <a:rPr lang="ja-JP" altLang="ja-JP" dirty="0"/>
                  <a:t> の学習サンプル数</a:t>
                </a:r>
                <a:endParaRPr lang="en-US" altLang="ja-JP" dirty="0"/>
              </a:p>
              <a:p>
                <a14:m>
                  <m:oMath xmlns:m="http://schemas.openxmlformats.org/officeDocument/2006/math">
                    <m:sSub>
                      <m:sSubPr>
                        <m:ctrlPr>
                          <a:rPr lang="ja-JP" altLang="en-US" i="1">
                            <a:latin typeface="Cambria Math" panose="02040503050406030204" pitchFamily="18" charset="0"/>
                          </a:rPr>
                        </m:ctrlPr>
                      </m:sSubPr>
                      <m:e>
                        <m:r>
                          <m:rPr>
                            <m:sty m:val="p"/>
                          </m:rPr>
                          <a:rPr lang="en-US" altLang="ja-JP" i="1" smtClean="0">
                            <a:latin typeface="Cambria Math" panose="02040503050406030204" pitchFamily="18" charset="0"/>
                          </a:rPr>
                          <m:t>α</m:t>
                        </m:r>
                      </m:e>
                      <m:sub>
                        <m:r>
                          <a:rPr lang="en-US" altLang="ja-JP" i="1">
                            <a:latin typeface="Cambria Math" panose="02040503050406030204" pitchFamily="18" charset="0"/>
                          </a:rPr>
                          <m:t>𝑘</m:t>
                        </m:r>
                      </m:sub>
                    </m:sSub>
                  </m:oMath>
                </a14:m>
                <a:r>
                  <a:rPr lang="ja-JP" altLang="ja-JP" dirty="0"/>
                  <a:t> : 端末 </a:t>
                </a:r>
                <a14:m>
                  <m:oMath xmlns:m="http://schemas.openxmlformats.org/officeDocument/2006/math">
                    <m:r>
                      <a:rPr lang="ja-JP" altLang="en-US" i="1">
                        <a:latin typeface="Cambria Math" panose="02040503050406030204" pitchFamily="18" charset="0"/>
                      </a:rPr>
                      <m:t>𝑘</m:t>
                    </m:r>
                  </m:oMath>
                </a14:m>
                <a:r>
                  <a:rPr lang="ja-JP" altLang="ja-JP" dirty="0"/>
                  <a:t> の集約重み。現在は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𝛼</m:t>
                        </m:r>
                      </m:e>
                      <m:sub>
                        <m:r>
                          <a:rPr lang="ja-JP" altLang="en-US" i="1">
                            <a:latin typeface="Cambria Math" panose="02040503050406030204" pitchFamily="18" charset="0"/>
                          </a:rPr>
                          <m:t>𝑘</m:t>
                        </m:r>
                      </m:sub>
                    </m:sSub>
                    <m:r>
                      <a:rPr lang="en-US" altLang="ja-JP">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𝑛</m:t>
                        </m:r>
                      </m:e>
                      <m:sub>
                        <m:r>
                          <a:rPr lang="ja-JP" altLang="en-US" i="1">
                            <a:latin typeface="Cambria Math" panose="02040503050406030204" pitchFamily="18" charset="0"/>
                          </a:rPr>
                          <m:t>𝑘</m:t>
                        </m:r>
                      </m:sub>
                    </m:sSub>
                    <m:r>
                      <a:rPr lang="en-US" altLang="ja-JP">
                        <a:latin typeface="Cambria Math" panose="02040503050406030204" pitchFamily="18" charset="0"/>
                      </a:rPr>
                      <m:t>/</m:t>
                    </m:r>
                    <m:nary>
                      <m:naryPr>
                        <m:chr m:val="∑"/>
                        <m:limLoc m:val="subSup"/>
                        <m:grow m:val="on"/>
                        <m:ctrlPr>
                          <a:rPr lang="ja-JP" altLang="en-US" i="1">
                            <a:latin typeface="Cambria Math" panose="02040503050406030204" pitchFamily="18" charset="0"/>
                          </a:rPr>
                        </m:ctrlPr>
                      </m:naryPr>
                      <m:sub>
                        <m:r>
                          <a:rPr lang="ja-JP" altLang="en-US" i="1">
                            <a:latin typeface="Cambria Math" panose="02040503050406030204" pitchFamily="18" charset="0"/>
                          </a:rPr>
                          <m:t>𝑗</m:t>
                        </m:r>
                        <m:r>
                          <a:rPr lang="en-US" altLang="ja-JP">
                            <a:latin typeface="Cambria Math" panose="02040503050406030204" pitchFamily="18" charset="0"/>
                          </a:rPr>
                          <m:t>=1</m:t>
                        </m:r>
                      </m:sub>
                      <m:sup>
                        <m:r>
                          <a:rPr lang="ja-JP" altLang="en-US" i="1">
                            <a:latin typeface="Cambria Math" panose="02040503050406030204" pitchFamily="18" charset="0"/>
                          </a:rPr>
                          <m:t>𝐾</m:t>
                        </m:r>
                      </m:sup>
                      <m:e>
                        <m:sSub>
                          <m:sSubPr>
                            <m:ctrlPr>
                              <a:rPr lang="ja-JP" altLang="en-US" i="1">
                                <a:latin typeface="Cambria Math" panose="02040503050406030204" pitchFamily="18" charset="0"/>
                              </a:rPr>
                            </m:ctrlPr>
                          </m:sSubPr>
                          <m:e>
                            <m:r>
                              <a:rPr lang="ja-JP" altLang="en-US" i="1">
                                <a:latin typeface="Cambria Math" panose="02040503050406030204" pitchFamily="18" charset="0"/>
                              </a:rPr>
                              <m:t>𝑛</m:t>
                            </m:r>
                          </m:e>
                          <m:sub>
                            <m:r>
                              <a:rPr lang="ja-JP" altLang="en-US" i="1">
                                <a:latin typeface="Cambria Math" panose="02040503050406030204" pitchFamily="18" charset="0"/>
                              </a:rPr>
                              <m:t>𝑗</m:t>
                            </m:r>
                          </m:sub>
                        </m:sSub>
                      </m:e>
                    </m:nary>
                  </m:oMath>
                </a14:m>
                <a:endParaRPr lang="en-US" altLang="ja-JP" dirty="0"/>
              </a:p>
              <a:p>
                <a14:m>
                  <m:oMath xmlns:m="http://schemas.openxmlformats.org/officeDocument/2006/math">
                    <m:sSub>
                      <m:sSubPr>
                        <m:ctrlPr>
                          <a:rPr lang="ja-JP" altLang="en-US" i="1" smtClean="0">
                            <a:latin typeface="Cambria Math" panose="02040503050406030204" pitchFamily="18" charset="0"/>
                          </a:rPr>
                        </m:ctrlPr>
                      </m:sSubPr>
                      <m:e>
                        <m:r>
                          <m:rPr>
                            <m:sty m:val="p"/>
                          </m:rPr>
                          <a:rPr lang="en-US" altLang="ja-JP" i="1">
                            <a:latin typeface="Cambria Math" panose="02040503050406030204" pitchFamily="18" charset="0"/>
                          </a:rPr>
                          <m:t>η</m:t>
                        </m:r>
                      </m:e>
                      <m:sub>
                        <m:r>
                          <a:rPr lang="en-US" altLang="ja-JP" b="0" i="1" smtClean="0">
                            <a:latin typeface="Cambria Math" panose="02040503050406030204" pitchFamily="18" charset="0"/>
                          </a:rPr>
                          <m:t>𝑑𝑖𝑠𝑡</m:t>
                        </m:r>
                      </m:sub>
                    </m:sSub>
                    <m:r>
                      <a:rPr lang="en-US" altLang="ja-JP" b="0" i="1" smtClean="0">
                        <a:latin typeface="Cambria Math" panose="02040503050406030204" pitchFamily="18" charset="0"/>
                      </a:rPr>
                      <m:t>/</m:t>
                    </m:r>
                  </m:oMath>
                </a14:m>
                <a:r>
                  <a:rPr lang="en-US" altLang="ja-JP" dirty="0"/>
                  <a:t> </a:t>
                </a:r>
                <a14:m>
                  <m:oMath xmlns:m="http://schemas.openxmlformats.org/officeDocument/2006/math">
                    <m:sSub>
                      <m:sSubPr>
                        <m:ctrlPr>
                          <a:rPr lang="ja-JP" altLang="en-US" i="1">
                            <a:latin typeface="Cambria Math" panose="02040503050406030204" pitchFamily="18" charset="0"/>
                          </a:rPr>
                        </m:ctrlPr>
                      </m:sSubPr>
                      <m:e>
                        <m:r>
                          <m:rPr>
                            <m:sty m:val="p"/>
                          </m:rPr>
                          <a:rPr lang="en-US" altLang="ja-JP" i="1">
                            <a:latin typeface="Cambria Math" panose="02040503050406030204" pitchFamily="18" charset="0"/>
                          </a:rPr>
                          <m:t>η</m:t>
                        </m:r>
                      </m:e>
                      <m:sub>
                        <m:r>
                          <a:rPr lang="en-US" altLang="ja-JP" b="0" i="1" smtClean="0">
                            <a:latin typeface="Cambria Math" panose="02040503050406030204" pitchFamily="18" charset="0"/>
                          </a:rPr>
                          <m:t>𝑡𝑎𝑠𝑘</m:t>
                        </m:r>
                      </m:sub>
                    </m:sSub>
                    <m:r>
                      <a:rPr lang="en-US" altLang="ja-JP" b="0" i="1" smtClean="0">
                        <a:latin typeface="Cambria Math" panose="02040503050406030204" pitchFamily="18" charset="0"/>
                      </a:rPr>
                      <m:t> /</m:t>
                    </m:r>
                  </m:oMath>
                </a14:m>
                <a:r>
                  <a:rPr lang="en-US" altLang="ja-JP" dirty="0"/>
                  <a:t> </a:t>
                </a:r>
                <a14:m>
                  <m:oMath xmlns:m="http://schemas.openxmlformats.org/officeDocument/2006/math">
                    <m:sSub>
                      <m:sSubPr>
                        <m:ctrlPr>
                          <a:rPr lang="ja-JP" altLang="en-US" i="1">
                            <a:latin typeface="Cambria Math" panose="02040503050406030204" pitchFamily="18" charset="0"/>
                          </a:rPr>
                        </m:ctrlPr>
                      </m:sSubPr>
                      <m:e>
                        <m:r>
                          <m:rPr>
                            <m:sty m:val="p"/>
                          </m:rPr>
                          <a:rPr lang="en-US" altLang="ja-JP" i="1">
                            <a:latin typeface="Cambria Math" panose="02040503050406030204" pitchFamily="18" charset="0"/>
                          </a:rPr>
                          <m:t>η</m:t>
                        </m:r>
                      </m:e>
                      <m:sub>
                        <m:r>
                          <a:rPr lang="en-US" altLang="ja-JP" b="0" i="1" smtClean="0">
                            <a:latin typeface="Cambria Math" panose="02040503050406030204" pitchFamily="18" charset="0"/>
                          </a:rPr>
                          <m:t>𝑏𝑎𝑠𝑒</m:t>
                        </m:r>
                      </m:sub>
                    </m:sSub>
                  </m:oMath>
                </a14:m>
                <a:r>
                  <a:rPr lang="ja-JP" altLang="ja-JP" dirty="0"/>
                  <a:t> : 蒸留配布 / L_task / 基盤整合の学習率</a:t>
                </a:r>
                <a:endParaRPr lang="en-US" altLang="ja-JP" dirty="0"/>
              </a:p>
              <a:p>
                <a:endParaRPr lang="en-US" altLang="ja-JP" dirty="0"/>
              </a:p>
              <a:p>
                <a:endParaRPr lang="en-US" altLang="ja-JP" dirty="0"/>
              </a:p>
              <a:p>
                <a:endParaRPr lang="en-US" altLang="ja-JP" dirty="0"/>
              </a:p>
              <a:p>
                <a:endParaRPr kumimoji="1" lang="ja-JP" altLang="en-US" dirty="0"/>
              </a:p>
            </p:txBody>
          </p:sp>
        </mc:Choice>
        <mc:Fallback xmlns="">
          <p:sp>
            <p:nvSpPr>
              <p:cNvPr id="4" name="コンテンツ プレースホルダー 3">
                <a:extLst>
                  <a:ext uri="{FF2B5EF4-FFF2-40B4-BE49-F238E27FC236}">
                    <a16:creationId xmlns:a16="http://schemas.microsoft.com/office/drawing/2014/main" id="{036454D0-E239-AD87-800A-869D24712CC0}"/>
                  </a:ext>
                </a:extLst>
              </p:cNvPr>
              <p:cNvSpPr>
                <a:spLocks noGrp="1" noRot="1" noChangeAspect="1" noMove="1" noResize="1" noEditPoints="1" noAdjustHandles="1" noChangeArrowheads="1" noChangeShapeType="1" noTextEdit="1"/>
              </p:cNvSpPr>
              <p:nvPr>
                <p:ph idx="1"/>
              </p:nvPr>
            </p:nvSpPr>
            <p:spPr>
              <a:blipFill>
                <a:blip r:embed="rId2"/>
                <a:stretch>
                  <a:fillRect l="-200" t="-70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05909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0BAD-7B9F-4B61-8544-1885603F2750}"/>
            </a:ext>
          </a:extLst>
        </p:cNvPr>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31BD9B69-1B22-2259-A7A9-C5383F54429D}"/>
              </a:ext>
            </a:extLst>
          </p:cNvPr>
          <p:cNvSpPr/>
          <p:nvPr/>
        </p:nvSpPr>
        <p:spPr>
          <a:xfrm>
            <a:off x="706120" y="3807562"/>
            <a:ext cx="7503688" cy="2998542"/>
          </a:xfrm>
          <a:prstGeom prst="roundRect">
            <a:avLst>
              <a:gd name="adj" fmla="val 4469"/>
            </a:avLst>
          </a:prstGeom>
          <a:solidFill>
            <a:srgbClr val="FDF0E7"/>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dirty="0"/>
          </a:p>
        </p:txBody>
      </p:sp>
      <p:sp>
        <p:nvSpPr>
          <p:cNvPr id="9" name="四角形: 角を丸くする 8">
            <a:extLst>
              <a:ext uri="{FF2B5EF4-FFF2-40B4-BE49-F238E27FC236}">
                <a16:creationId xmlns:a16="http://schemas.microsoft.com/office/drawing/2014/main" id="{A5FEE221-1B11-CFC2-B298-BEE23986ABA8}"/>
              </a:ext>
            </a:extLst>
          </p:cNvPr>
          <p:cNvSpPr/>
          <p:nvPr/>
        </p:nvSpPr>
        <p:spPr>
          <a:xfrm>
            <a:off x="736599" y="696640"/>
            <a:ext cx="11262360" cy="2998542"/>
          </a:xfrm>
          <a:prstGeom prst="roundRect">
            <a:avLst>
              <a:gd name="adj" fmla="val 4469"/>
            </a:avLst>
          </a:prstGeom>
          <a:solidFill>
            <a:srgbClr val="EAF5F7"/>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dirty="0"/>
          </a:p>
        </p:txBody>
      </p:sp>
      <p:sp>
        <p:nvSpPr>
          <p:cNvPr id="19" name="四角形: 角を丸くする 18">
            <a:extLst>
              <a:ext uri="{FF2B5EF4-FFF2-40B4-BE49-F238E27FC236}">
                <a16:creationId xmlns:a16="http://schemas.microsoft.com/office/drawing/2014/main" id="{3762682F-E310-E7F3-17CA-3200BCD20186}"/>
              </a:ext>
            </a:extLst>
          </p:cNvPr>
          <p:cNvSpPr/>
          <p:nvPr/>
        </p:nvSpPr>
        <p:spPr>
          <a:xfrm>
            <a:off x="873759" y="4194212"/>
            <a:ext cx="3652113" cy="2554692"/>
          </a:xfrm>
          <a:prstGeom prst="roundRect">
            <a:avLst>
              <a:gd name="adj" fmla="val 1563"/>
            </a:avLst>
          </a:prstGeom>
          <a:solidFill>
            <a:srgbClr val="FDF3ED"/>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sz="1600" dirty="0">
              <a:solidFill>
                <a:schemeClr val="tx1"/>
              </a:solidFill>
            </a:endParaRPr>
          </a:p>
        </p:txBody>
      </p:sp>
      <p:sp>
        <p:nvSpPr>
          <p:cNvPr id="2" name="タイトル 1">
            <a:extLst>
              <a:ext uri="{FF2B5EF4-FFF2-40B4-BE49-F238E27FC236}">
                <a16:creationId xmlns:a16="http://schemas.microsoft.com/office/drawing/2014/main" id="{F581C33D-3420-F33D-44FC-969026C57C63}"/>
              </a:ext>
            </a:extLst>
          </p:cNvPr>
          <p:cNvSpPr>
            <a:spLocks noGrp="1"/>
          </p:cNvSpPr>
          <p:nvPr>
            <p:ph type="title"/>
          </p:nvPr>
        </p:nvSpPr>
        <p:spPr/>
        <p:txBody>
          <a:bodyPr/>
          <a:lstStyle/>
          <a:p>
            <a:r>
              <a:rPr lang="ja-JP" altLang="en-US" dirty="0"/>
              <a:t>現在の基本処理フロー</a:t>
            </a:r>
            <a:endParaRPr kumimoji="1" lang="ja-JP" altLang="en-US" dirty="0"/>
          </a:p>
        </p:txBody>
      </p:sp>
      <p:sp>
        <p:nvSpPr>
          <p:cNvPr id="3" name="スライド番号プレースホルダー 2">
            <a:extLst>
              <a:ext uri="{FF2B5EF4-FFF2-40B4-BE49-F238E27FC236}">
                <a16:creationId xmlns:a16="http://schemas.microsoft.com/office/drawing/2014/main" id="{15E16042-6F0C-9326-D90D-1D713476E6DB}"/>
              </a:ext>
            </a:extLst>
          </p:cNvPr>
          <p:cNvSpPr>
            <a:spLocks noGrp="1"/>
          </p:cNvSpPr>
          <p:nvPr>
            <p:ph type="sldNum" sz="quarter" idx="4"/>
          </p:nvPr>
        </p:nvSpPr>
        <p:spPr/>
        <p:txBody>
          <a:bodyPr/>
          <a:lstStyle/>
          <a:p>
            <a:fld id="{C088C981-6885-4100-82A1-DE7074EC4480}" type="slidenum">
              <a:rPr lang="ja-JP" altLang="en-US" smtClean="0"/>
              <a:pPr/>
              <a:t>3</a:t>
            </a:fld>
            <a:endParaRPr lang="ja-JP" altLang="en-US"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AA86AE2D-DB90-59A6-27F5-BC35D9B68054}"/>
              </a:ext>
            </a:extLst>
          </p:cNvPr>
          <p:cNvSpPr/>
          <p:nvPr/>
        </p:nvSpPr>
        <p:spPr>
          <a:xfrm>
            <a:off x="203200" y="683337"/>
            <a:ext cx="467360" cy="2998542"/>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dirty="0"/>
              <a:t>基盤</a:t>
            </a:r>
          </a:p>
        </p:txBody>
      </p:sp>
      <p:sp>
        <p:nvSpPr>
          <p:cNvPr id="15" name="四角形: 角を丸くする 14">
            <a:extLst>
              <a:ext uri="{FF2B5EF4-FFF2-40B4-BE49-F238E27FC236}">
                <a16:creationId xmlns:a16="http://schemas.microsoft.com/office/drawing/2014/main" id="{FCE71867-F43B-E732-68D3-81E100D8FF38}"/>
              </a:ext>
            </a:extLst>
          </p:cNvPr>
          <p:cNvSpPr/>
          <p:nvPr/>
        </p:nvSpPr>
        <p:spPr>
          <a:xfrm>
            <a:off x="795019" y="1256547"/>
            <a:ext cx="3263901" cy="2121999"/>
          </a:xfrm>
          <a:prstGeom prst="roundRect">
            <a:avLst>
              <a:gd name="adj" fmla="val 1187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285750" indent="-285750" algn="ctr">
              <a:buFont typeface="Arial" panose="020B0604020202020204" pitchFamily="34" charset="0"/>
              <a:buChar char="•"/>
            </a:pPr>
            <a:endParaRPr kumimoji="1" lang="ja-JP" altLang="en-US" sz="1400" dirty="0">
              <a:solidFill>
                <a:schemeClr val="tx1"/>
              </a:solidFill>
            </a:endParaRPr>
          </a:p>
        </p:txBody>
      </p:sp>
      <mc:AlternateContent xmlns:mc="http://schemas.openxmlformats.org/markup-compatibility/2006" xmlns:a14="http://schemas.microsoft.com/office/drawing/2010/main">
        <mc:Choice Requires="a14">
          <p:sp>
            <p:nvSpPr>
              <p:cNvPr id="7" name="四角形: 角を丸くする 6">
                <a:extLst>
                  <a:ext uri="{FF2B5EF4-FFF2-40B4-BE49-F238E27FC236}">
                    <a16:creationId xmlns:a16="http://schemas.microsoft.com/office/drawing/2014/main" id="{205B55C4-C027-BA46-2CB8-50F34B6DD2F0}"/>
                  </a:ext>
                </a:extLst>
              </p:cNvPr>
              <p:cNvSpPr/>
              <p:nvPr/>
            </p:nvSpPr>
            <p:spPr>
              <a:xfrm>
                <a:off x="203200" y="3764280"/>
                <a:ext cx="467360" cy="3002280"/>
              </a:xfrm>
              <a:prstGeom prst="roundRect">
                <a:avLst/>
              </a:prstGeom>
              <a:solidFill>
                <a:srgbClr val="D96C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dirty="0"/>
                  <a:t>クライアント</a:t>
                </a:r>
                <a:endParaRPr kumimoji="1" lang="en-US" altLang="ja-JP" dirty="0"/>
              </a:p>
              <a:p>
                <a:pPr algn="ct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𝑘</m:t>
                      </m:r>
                    </m:oMath>
                  </m:oMathPara>
                </a14:m>
                <a:endParaRPr kumimoji="1" lang="ja-JP" altLang="en-US" dirty="0"/>
              </a:p>
            </p:txBody>
          </p:sp>
        </mc:Choice>
        <mc:Fallback xmlns="">
          <p:sp>
            <p:nvSpPr>
              <p:cNvPr id="7" name="四角形: 角を丸くする 6">
                <a:extLst>
                  <a:ext uri="{FF2B5EF4-FFF2-40B4-BE49-F238E27FC236}">
                    <a16:creationId xmlns:a16="http://schemas.microsoft.com/office/drawing/2014/main" id="{205B55C4-C027-BA46-2CB8-50F34B6DD2F0}"/>
                  </a:ext>
                </a:extLst>
              </p:cNvPr>
              <p:cNvSpPr>
                <a:spLocks noRot="1" noChangeAspect="1" noMove="1" noResize="1" noEditPoints="1" noAdjustHandles="1" noChangeArrowheads="1" noChangeShapeType="1" noTextEdit="1"/>
              </p:cNvSpPr>
              <p:nvPr/>
            </p:nvSpPr>
            <p:spPr>
              <a:xfrm>
                <a:off x="203200" y="3764280"/>
                <a:ext cx="467360" cy="3002280"/>
              </a:xfrm>
              <a:prstGeom prst="roundRect">
                <a:avLst/>
              </a:prstGeom>
              <a:blipFill>
                <a:blip r:embed="rId3"/>
                <a:stretch>
                  <a:fillRect l="-5195" r="-3896"/>
                </a:stretch>
              </a:blipFill>
              <a:ln>
                <a:noFill/>
              </a:ln>
            </p:spPr>
            <p:txBody>
              <a:bodyPr/>
              <a:lstStyle/>
              <a:p>
                <a:r>
                  <a:rPr lang="ja-JP" altLang="en-US">
                    <a:noFill/>
                  </a:rPr>
                  <a:t> </a:t>
                </a:r>
              </a:p>
            </p:txBody>
          </p:sp>
        </mc:Fallback>
      </mc:AlternateContent>
      <p:sp>
        <p:nvSpPr>
          <p:cNvPr id="17" name="四角形: 角を丸くする 16">
            <a:extLst>
              <a:ext uri="{FF2B5EF4-FFF2-40B4-BE49-F238E27FC236}">
                <a16:creationId xmlns:a16="http://schemas.microsoft.com/office/drawing/2014/main" id="{6910F507-1735-959E-ECBD-931428B97E5E}"/>
              </a:ext>
            </a:extLst>
          </p:cNvPr>
          <p:cNvSpPr/>
          <p:nvPr/>
        </p:nvSpPr>
        <p:spPr>
          <a:xfrm>
            <a:off x="840232" y="3874249"/>
            <a:ext cx="1362634"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dirty="0"/>
              <a:t>2.</a:t>
            </a:r>
            <a:r>
              <a:rPr kumimoji="1" lang="ja-JP" altLang="en-US" dirty="0"/>
              <a:t>蒸留配布</a:t>
            </a:r>
          </a:p>
        </p:txBody>
      </p:sp>
      <p:sp>
        <p:nvSpPr>
          <p:cNvPr id="27" name="四角形: 角を丸くする 26">
            <a:extLst>
              <a:ext uri="{FF2B5EF4-FFF2-40B4-BE49-F238E27FC236}">
                <a16:creationId xmlns:a16="http://schemas.microsoft.com/office/drawing/2014/main" id="{A50B7521-A39C-0A9D-88DF-BEF5CE92F53C}"/>
              </a:ext>
            </a:extLst>
          </p:cNvPr>
          <p:cNvSpPr/>
          <p:nvPr/>
        </p:nvSpPr>
        <p:spPr>
          <a:xfrm>
            <a:off x="7482840" y="936585"/>
            <a:ext cx="4427220" cy="3193586"/>
          </a:xfrm>
          <a:prstGeom prst="roundRect">
            <a:avLst>
              <a:gd name="adj" fmla="val 689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p:sp>
        <p:nvSpPr>
          <p:cNvPr id="13" name="四角形: 角を丸くする 12">
            <a:extLst>
              <a:ext uri="{FF2B5EF4-FFF2-40B4-BE49-F238E27FC236}">
                <a16:creationId xmlns:a16="http://schemas.microsoft.com/office/drawing/2014/main" id="{23BDE4A7-0D7C-E668-5186-46F1156E803B}"/>
              </a:ext>
            </a:extLst>
          </p:cNvPr>
          <p:cNvSpPr/>
          <p:nvPr/>
        </p:nvSpPr>
        <p:spPr>
          <a:xfrm>
            <a:off x="795020" y="936585"/>
            <a:ext cx="252476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1.</a:t>
            </a:r>
            <a:r>
              <a:rPr lang="ja-JP" altLang="en-US" dirty="0"/>
              <a:t>還元用の知識を保存</a:t>
            </a:r>
            <a:endParaRPr kumimoji="1" lang="ja-JP" altLang="en-US" dirty="0"/>
          </a:p>
        </p:txBody>
      </p:sp>
      <p:sp>
        <p:nvSpPr>
          <p:cNvPr id="31" name="四角形: 角を丸くする 30">
            <a:extLst>
              <a:ext uri="{FF2B5EF4-FFF2-40B4-BE49-F238E27FC236}">
                <a16:creationId xmlns:a16="http://schemas.microsoft.com/office/drawing/2014/main" id="{C466D6FC-5F23-D90E-08DB-99C70B9C0FC6}"/>
              </a:ext>
            </a:extLst>
          </p:cNvPr>
          <p:cNvSpPr/>
          <p:nvPr/>
        </p:nvSpPr>
        <p:spPr>
          <a:xfrm>
            <a:off x="4176731" y="940202"/>
            <a:ext cx="2919872" cy="2678606"/>
          </a:xfrm>
          <a:prstGeom prst="roundRect">
            <a:avLst>
              <a:gd name="adj" fmla="val 5974"/>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200" dirty="0">
              <a:solidFill>
                <a:schemeClr val="tx1"/>
              </a:solidFill>
            </a:endParaRPr>
          </a:p>
        </p:txBody>
      </p:sp>
      <p:sp>
        <p:nvSpPr>
          <p:cNvPr id="25" name="四角形: 角を丸くする 24">
            <a:extLst>
              <a:ext uri="{FF2B5EF4-FFF2-40B4-BE49-F238E27FC236}">
                <a16:creationId xmlns:a16="http://schemas.microsoft.com/office/drawing/2014/main" id="{DA6CFF0F-2C6C-8338-F1B6-8E6260C57A02}"/>
              </a:ext>
            </a:extLst>
          </p:cNvPr>
          <p:cNvSpPr/>
          <p:nvPr/>
        </p:nvSpPr>
        <p:spPr>
          <a:xfrm>
            <a:off x="7487030" y="745418"/>
            <a:ext cx="207264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6.</a:t>
            </a:r>
            <a:r>
              <a:rPr lang="ja-JP" altLang="en-US" dirty="0"/>
              <a:t>クラウド基盤整合</a:t>
            </a:r>
            <a:endParaRPr kumimoji="1" lang="ja-JP" altLang="en-US" dirty="0"/>
          </a:p>
        </p:txBody>
      </p:sp>
      <p:sp>
        <p:nvSpPr>
          <p:cNvPr id="29" name="四角形: 角を丸くする 28">
            <a:extLst>
              <a:ext uri="{FF2B5EF4-FFF2-40B4-BE49-F238E27FC236}">
                <a16:creationId xmlns:a16="http://schemas.microsoft.com/office/drawing/2014/main" id="{E00F4351-B2FD-3132-2FC1-8C534B55BE4A}"/>
              </a:ext>
            </a:extLst>
          </p:cNvPr>
          <p:cNvSpPr/>
          <p:nvPr/>
        </p:nvSpPr>
        <p:spPr>
          <a:xfrm>
            <a:off x="4154077" y="672141"/>
            <a:ext cx="92456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5</a:t>
            </a:r>
            <a:r>
              <a:rPr kumimoji="1" lang="en-US" altLang="ja-JP" dirty="0"/>
              <a:t>.</a:t>
            </a:r>
            <a:r>
              <a:rPr kumimoji="1" lang="ja-JP" altLang="en-US" dirty="0"/>
              <a:t>集約</a:t>
            </a:r>
          </a:p>
        </p:txBody>
      </p:sp>
      <p:sp>
        <p:nvSpPr>
          <p:cNvPr id="6" name="四角形: 角を丸くする 5">
            <a:extLst>
              <a:ext uri="{FF2B5EF4-FFF2-40B4-BE49-F238E27FC236}">
                <a16:creationId xmlns:a16="http://schemas.microsoft.com/office/drawing/2014/main" id="{8B13D7AC-8B98-5461-7D06-D2A42BAF41F8}"/>
              </a:ext>
            </a:extLst>
          </p:cNvPr>
          <p:cNvSpPr/>
          <p:nvPr/>
        </p:nvSpPr>
        <p:spPr>
          <a:xfrm>
            <a:off x="8680635" y="4504165"/>
            <a:ext cx="207264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7.</a:t>
            </a:r>
            <a:r>
              <a:rPr lang="ja-JP" altLang="en-US" dirty="0"/>
              <a:t>次ラウンドへ</a:t>
            </a:r>
            <a:endParaRPr kumimoji="1" lang="ja-JP" altLang="en-US" dirty="0"/>
          </a:p>
        </p:txBody>
      </p:sp>
      <p:sp>
        <p:nvSpPr>
          <p:cNvPr id="16" name="テキスト ボックス 15">
            <a:extLst>
              <a:ext uri="{FF2B5EF4-FFF2-40B4-BE49-F238E27FC236}">
                <a16:creationId xmlns:a16="http://schemas.microsoft.com/office/drawing/2014/main" id="{8C830FBC-D1D9-4B17-4FF8-76F87B41241B}"/>
              </a:ext>
            </a:extLst>
          </p:cNvPr>
          <p:cNvSpPr txBox="1"/>
          <p:nvPr/>
        </p:nvSpPr>
        <p:spPr>
          <a:xfrm>
            <a:off x="736599" y="1910748"/>
            <a:ext cx="1097280" cy="600164"/>
          </a:xfrm>
          <a:prstGeom prst="rect">
            <a:avLst/>
          </a:prstGeom>
          <a:noFill/>
        </p:spPr>
        <p:txBody>
          <a:bodyPr wrap="square" rtlCol="0">
            <a:spAutoFit/>
          </a:bodyPr>
          <a:lstStyle/>
          <a:p>
            <a:pPr algn="ctr"/>
            <a:r>
              <a:rPr kumimoji="1" lang="ja-JP" altLang="en-US" sz="1100" dirty="0"/>
              <a:t>更新済み</a:t>
            </a:r>
            <a:endParaRPr kumimoji="1" lang="en-US" altLang="ja-JP" sz="1100" dirty="0"/>
          </a:p>
          <a:p>
            <a:pPr algn="ctr"/>
            <a:r>
              <a:rPr lang="ja-JP" altLang="en-US" sz="1100" dirty="0"/>
              <a:t>基盤モデル</a:t>
            </a:r>
            <a:endParaRPr lang="en-US" altLang="ja-JP" sz="1100" dirty="0"/>
          </a:p>
          <a:p>
            <a:pPr algn="ctr"/>
            <a:r>
              <a:rPr lang="ja-JP" altLang="en-US" sz="1100" dirty="0"/>
              <a:t>＋基盤</a:t>
            </a:r>
            <a:r>
              <a:rPr lang="en-US" altLang="ja-JP" sz="1100" dirty="0" err="1"/>
              <a:t>LoRA</a:t>
            </a:r>
            <a:endParaRPr kumimoji="1" lang="ja-JP" altLang="en-US" sz="1600" dirty="0"/>
          </a:p>
        </p:txBody>
      </p:sp>
      <p:sp>
        <p:nvSpPr>
          <p:cNvPr id="18" name="矢印: 右 17">
            <a:extLst>
              <a:ext uri="{FF2B5EF4-FFF2-40B4-BE49-F238E27FC236}">
                <a16:creationId xmlns:a16="http://schemas.microsoft.com/office/drawing/2014/main" id="{B00646EA-B546-C2A4-003F-728CD2D105E9}"/>
              </a:ext>
            </a:extLst>
          </p:cNvPr>
          <p:cNvSpPr/>
          <p:nvPr/>
        </p:nvSpPr>
        <p:spPr>
          <a:xfrm>
            <a:off x="1711959" y="1555875"/>
            <a:ext cx="1060174" cy="9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38F8D218-76CB-8950-504D-445432E7DAD8}"/>
              </a:ext>
            </a:extLst>
          </p:cNvPr>
          <p:cNvSpPr txBox="1"/>
          <p:nvPr/>
        </p:nvSpPr>
        <p:spPr>
          <a:xfrm>
            <a:off x="1711959" y="1312666"/>
            <a:ext cx="1097280" cy="261610"/>
          </a:xfrm>
          <a:prstGeom prst="rect">
            <a:avLst/>
          </a:prstGeom>
          <a:noFill/>
        </p:spPr>
        <p:txBody>
          <a:bodyPr wrap="square" rtlCol="0">
            <a:spAutoFit/>
          </a:bodyPr>
          <a:lstStyle/>
          <a:p>
            <a:pPr algn="ctr"/>
            <a:r>
              <a:rPr kumimoji="1" lang="ja-JP" altLang="en-US" sz="1100" dirty="0"/>
              <a:t>前向き推論</a:t>
            </a:r>
            <a:endParaRPr kumimoji="1" lang="ja-JP" altLang="en-US" sz="1600" dirty="0"/>
          </a:p>
        </p:txBody>
      </p:sp>
      <p:pic>
        <p:nvPicPr>
          <p:cNvPr id="14" name="グラフィックス 13" descr="データベース 枠線">
            <a:extLst>
              <a:ext uri="{FF2B5EF4-FFF2-40B4-BE49-F238E27FC236}">
                <a16:creationId xmlns:a16="http://schemas.microsoft.com/office/drawing/2014/main" id="{BAA8B4D3-62A8-880D-6450-A2CCAA6A9F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633" y="1649261"/>
            <a:ext cx="436942" cy="436942"/>
          </a:xfrm>
          <a:prstGeom prst="rect">
            <a:avLst/>
          </a:prstGeom>
        </p:spPr>
      </p:pic>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8F733332-F9B7-A26C-D3AA-8A0C39684EBA}"/>
                  </a:ext>
                </a:extLst>
              </p:cNvPr>
              <p:cNvSpPr txBox="1"/>
              <p:nvPr/>
            </p:nvSpPr>
            <p:spPr>
              <a:xfrm>
                <a:off x="2634951" y="1608191"/>
                <a:ext cx="1541779" cy="645177"/>
              </a:xfrm>
              <a:prstGeom prst="rect">
                <a:avLst/>
              </a:prstGeom>
              <a:noFill/>
            </p:spPr>
            <p:txBody>
              <a:bodyPr wrap="square" rtlCol="0">
                <a:spAutoFit/>
              </a:bodyPr>
              <a:lstStyle/>
              <a:p>
                <a:pPr algn="ctr"/>
                <a:r>
                  <a:rPr kumimoji="1" lang="ja-JP" altLang="en-US" sz="1100" dirty="0"/>
                  <a:t>サンプル </a:t>
                </a:r>
                <a:r>
                  <a:rPr kumimoji="1" lang="en-US" altLang="ja-JP" sz="1100" dirty="0"/>
                  <a:t>ID </a:t>
                </a:r>
                <a:r>
                  <a:rPr kumimoji="1" lang="ja-JP" altLang="en-US" sz="1100" dirty="0"/>
                  <a:t>と</a:t>
                </a:r>
                <a:endParaRPr kumimoji="1" lang="en-US" altLang="ja-JP" sz="1100" dirty="0"/>
              </a:p>
              <a:p>
                <a:pPr algn="ctr"/>
                <a:r>
                  <a:rPr kumimoji="1" lang="ja-JP" altLang="en-US" sz="1100" dirty="0"/>
                  <a:t> 基盤 </a:t>
                </a:r>
                <a:r>
                  <a:rPr kumimoji="1" lang="en-US" altLang="ja-JP" sz="1100" dirty="0"/>
                  <a:t>logits</a:t>
                </a:r>
                <a:r>
                  <a:rPr lang="ja-JP" altLang="en-US" sz="1100" dirty="0"/>
                  <a:t> </a:t>
                </a:r>
                <a14:m>
                  <m:oMath xmlns:m="http://schemas.openxmlformats.org/officeDocument/2006/math">
                    <m:sSubSup>
                      <m:sSubSupPr>
                        <m:ctrlPr>
                          <a:rPr lang="en-US" altLang="ja-JP" sz="1100" b="0" i="1" smtClean="0">
                            <a:latin typeface="Cambria Math" panose="02040503050406030204" pitchFamily="18" charset="0"/>
                          </a:rPr>
                        </m:ctrlPr>
                      </m:sSubSupPr>
                      <m:e>
                        <m:r>
                          <a:rPr lang="en-US" altLang="ja-JP" sz="1100" i="1">
                            <a:latin typeface="Cambria Math" panose="02040503050406030204" pitchFamily="18" charset="0"/>
                          </a:rPr>
                          <m:t> </m:t>
                        </m:r>
                        <m:r>
                          <a:rPr lang="en-US" altLang="ja-JP" sz="1100" i="1">
                            <a:latin typeface="Cambria Math" panose="02040503050406030204" pitchFamily="18" charset="0"/>
                          </a:rPr>
                          <m:t>𝑧</m:t>
                        </m:r>
                      </m:e>
                      <m:sub>
                        <m:r>
                          <a:rPr lang="en-US" altLang="ja-JP" sz="1100" i="1">
                            <a:latin typeface="Cambria Math" panose="02040503050406030204" pitchFamily="18" charset="0"/>
                          </a:rPr>
                          <m:t>𝑏𝑎𝑠𝑒</m:t>
                        </m:r>
                      </m:sub>
                      <m:sup>
                        <m:r>
                          <a:rPr lang="en-US" altLang="ja-JP" sz="1100" b="0" i="1" smtClean="0">
                            <a:latin typeface="Cambria Math" panose="02040503050406030204" pitchFamily="18" charset="0"/>
                          </a:rPr>
                          <m:t>(</m:t>
                        </m:r>
                        <m:r>
                          <a:rPr lang="en-US" altLang="ja-JP" sz="1100" b="0" i="1" smtClean="0">
                            <a:latin typeface="Cambria Math" panose="02040503050406030204" pitchFamily="18" charset="0"/>
                          </a:rPr>
                          <m:t>𝑟</m:t>
                        </m:r>
                        <m:r>
                          <a:rPr lang="en-US" altLang="ja-JP" sz="1100" b="0" i="1" smtClean="0">
                            <a:latin typeface="Cambria Math" panose="02040503050406030204" pitchFamily="18" charset="0"/>
                          </a:rPr>
                          <m:t>−1)</m:t>
                        </m:r>
                      </m:sup>
                    </m:sSubSup>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r>
                  <a:rPr kumimoji="1" lang="ja-JP" altLang="en-US" sz="1100" dirty="0"/>
                  <a:t>を保存</a:t>
                </a:r>
                <a:endParaRPr kumimoji="1" lang="ja-JP" altLang="en-US" sz="1600" dirty="0"/>
              </a:p>
            </p:txBody>
          </p:sp>
        </mc:Choice>
        <mc:Fallback xmlns="">
          <p:sp>
            <p:nvSpPr>
              <p:cNvPr id="26" name="テキスト ボックス 25">
                <a:extLst>
                  <a:ext uri="{FF2B5EF4-FFF2-40B4-BE49-F238E27FC236}">
                    <a16:creationId xmlns:a16="http://schemas.microsoft.com/office/drawing/2014/main" id="{8F733332-F9B7-A26C-D3AA-8A0C39684EBA}"/>
                  </a:ext>
                </a:extLst>
              </p:cNvPr>
              <p:cNvSpPr txBox="1">
                <a:spLocks noRot="1" noChangeAspect="1" noMove="1" noResize="1" noEditPoints="1" noAdjustHandles="1" noChangeArrowheads="1" noChangeShapeType="1" noTextEdit="1"/>
              </p:cNvSpPr>
              <p:nvPr/>
            </p:nvSpPr>
            <p:spPr>
              <a:xfrm>
                <a:off x="2634951" y="1608191"/>
                <a:ext cx="1541779" cy="645177"/>
              </a:xfrm>
              <a:prstGeom prst="rect">
                <a:avLst/>
              </a:prstGeom>
              <a:blipFill>
                <a:blip r:embed="rId5"/>
                <a:stretch>
                  <a:fillRect t="-1887" b="-3774"/>
                </a:stretch>
              </a:blipFill>
            </p:spPr>
            <p:txBody>
              <a:bodyPr/>
              <a:lstStyle/>
              <a:p>
                <a:r>
                  <a:rPr lang="ja-JP" altLang="en-US">
                    <a:noFill/>
                  </a:rPr>
                  <a:t> </a:t>
                </a:r>
              </a:p>
            </p:txBody>
          </p:sp>
        </mc:Fallback>
      </mc:AlternateContent>
      <p:sp>
        <p:nvSpPr>
          <p:cNvPr id="46" name="四角形: 角を丸くする 45">
            <a:extLst>
              <a:ext uri="{FF2B5EF4-FFF2-40B4-BE49-F238E27FC236}">
                <a16:creationId xmlns:a16="http://schemas.microsoft.com/office/drawing/2014/main" id="{E3DB7ABE-1C03-1810-8689-5ED0FC242B7D}"/>
              </a:ext>
            </a:extLst>
          </p:cNvPr>
          <p:cNvSpPr/>
          <p:nvPr/>
        </p:nvSpPr>
        <p:spPr>
          <a:xfrm>
            <a:off x="5258201" y="3983044"/>
            <a:ext cx="2798820" cy="1646361"/>
          </a:xfrm>
          <a:prstGeom prst="roundRect">
            <a:avLst>
              <a:gd name="adj" fmla="val 3482"/>
            </a:avLst>
          </a:prstGeom>
          <a:solidFill>
            <a:srgbClr val="FDF3ED"/>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200" dirty="0">
              <a:solidFill>
                <a:schemeClr val="tx1"/>
              </a:solidFill>
            </a:endParaRPr>
          </a:p>
          <a:p>
            <a:pPr algn="ctr"/>
            <a:endParaRPr lang="en-US" altLang="ja-JP" sz="1200" dirty="0">
              <a:solidFill>
                <a:schemeClr val="tx1"/>
              </a:solidFill>
            </a:endParaRPr>
          </a:p>
          <a:p>
            <a:pPr algn="ctr"/>
            <a:endParaRPr kumimoji="1" lang="en-US" altLang="ja-JP" sz="1200" dirty="0">
              <a:solidFill>
                <a:schemeClr val="tx1"/>
              </a:solidFill>
            </a:endParaRPr>
          </a:p>
          <a:p>
            <a:pPr algn="ctr"/>
            <a:endParaRPr lang="en-US" altLang="ja-JP" sz="1200" dirty="0">
              <a:solidFill>
                <a:schemeClr val="tx1"/>
              </a:solidFill>
            </a:endParaRPr>
          </a:p>
          <a:p>
            <a:pPr algn="ctr"/>
            <a:endParaRPr kumimoji="1" lang="en-US" altLang="ja-JP" sz="1200" dirty="0">
              <a:solidFill>
                <a:schemeClr val="tx1"/>
              </a:solidFill>
            </a:endParaRPr>
          </a:p>
        </p:txBody>
      </p:sp>
      <p:sp>
        <p:nvSpPr>
          <p:cNvPr id="30" name="矢印: 右 29">
            <a:extLst>
              <a:ext uri="{FF2B5EF4-FFF2-40B4-BE49-F238E27FC236}">
                <a16:creationId xmlns:a16="http://schemas.microsoft.com/office/drawing/2014/main" id="{47AB6AC5-BD45-1910-CC3C-32AA5CBCE460}"/>
              </a:ext>
            </a:extLst>
          </p:cNvPr>
          <p:cNvSpPr/>
          <p:nvPr/>
        </p:nvSpPr>
        <p:spPr>
          <a:xfrm rot="5400000">
            <a:off x="2036740" y="3707331"/>
            <a:ext cx="601055" cy="1453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A04EA4A6-3184-206C-B6A0-ABBA1462227D}"/>
                  </a:ext>
                </a:extLst>
              </p:cNvPr>
              <p:cNvSpPr txBox="1"/>
              <p:nvPr/>
            </p:nvSpPr>
            <p:spPr>
              <a:xfrm>
                <a:off x="1319054" y="2682122"/>
                <a:ext cx="2253042" cy="323743"/>
              </a:xfrm>
              <a:prstGeom prst="rect">
                <a:avLst/>
              </a:prstGeom>
              <a:noFill/>
            </p:spPr>
            <p:txBody>
              <a:bodyPr wrap="square">
                <a:spAutoFit/>
              </a:bodyPr>
              <a:lstStyle/>
              <a:p>
                <a:r>
                  <a:rPr kumimoji="1" lang="ja-JP" altLang="en-US" sz="1200" dirty="0"/>
                  <a:t>サンプル </a:t>
                </a:r>
                <a:r>
                  <a:rPr kumimoji="1" lang="en-US" altLang="ja-JP" sz="1200" dirty="0"/>
                  <a:t>ID </a:t>
                </a:r>
                <a:r>
                  <a:rPr kumimoji="1" lang="ja-JP" altLang="en-US" sz="1200" dirty="0"/>
                  <a:t>と</a:t>
                </a:r>
                <a14:m>
                  <m:oMath xmlns:m="http://schemas.openxmlformats.org/officeDocument/2006/math">
                    <m:sSubSup>
                      <m:sSubSupPr>
                        <m:ctrlPr>
                          <a:rPr lang="en-US" altLang="ja-JP" sz="1200" i="1">
                            <a:latin typeface="Cambria Math" panose="02040503050406030204" pitchFamily="18" charset="0"/>
                          </a:rPr>
                        </m:ctrlPr>
                      </m:sSubSupPr>
                      <m:e>
                        <m:r>
                          <a:rPr lang="en-US" altLang="ja-JP" sz="1200" i="1">
                            <a:latin typeface="Cambria Math" panose="02040503050406030204" pitchFamily="18" charset="0"/>
                          </a:rPr>
                          <m:t> </m:t>
                        </m:r>
                        <m:r>
                          <a:rPr lang="en-US" altLang="ja-JP" sz="1200" i="1">
                            <a:latin typeface="Cambria Math" panose="02040503050406030204" pitchFamily="18" charset="0"/>
                          </a:rPr>
                          <m:t>𝑧</m:t>
                        </m:r>
                      </m:e>
                      <m:sub>
                        <m:r>
                          <a:rPr lang="en-US" altLang="ja-JP" sz="1200" i="1">
                            <a:latin typeface="Cambria Math" panose="02040503050406030204" pitchFamily="18" charset="0"/>
                          </a:rPr>
                          <m:t>𝑏𝑎𝑠𝑒</m:t>
                        </m:r>
                      </m:sub>
                      <m:sup>
                        <m:d>
                          <m:dPr>
                            <m:ctrlPr>
                              <a:rPr lang="en-US" altLang="ja-JP" sz="1200" i="1">
                                <a:latin typeface="Cambria Math" panose="02040503050406030204" pitchFamily="18" charset="0"/>
                              </a:rPr>
                            </m:ctrlPr>
                          </m:dPr>
                          <m:e>
                            <m:r>
                              <a:rPr lang="en-US" altLang="ja-JP" sz="1200" i="1">
                                <a:latin typeface="Cambria Math" panose="02040503050406030204" pitchFamily="18" charset="0"/>
                              </a:rPr>
                              <m:t>𝑟</m:t>
                            </m:r>
                            <m:r>
                              <a:rPr lang="en-US" altLang="ja-JP" sz="1200" i="1">
                                <a:latin typeface="Cambria Math" panose="02040503050406030204" pitchFamily="18" charset="0"/>
                              </a:rPr>
                              <m:t>−1</m:t>
                            </m:r>
                          </m:e>
                        </m:d>
                      </m:sup>
                    </m:sSubSup>
                    <m:d>
                      <m:dPr>
                        <m:ctrlPr>
                          <a:rPr lang="en-US" altLang="ja-JP" sz="1200" i="1">
                            <a:latin typeface="Cambria Math" panose="02040503050406030204" pitchFamily="18" charset="0"/>
                          </a:rPr>
                        </m:ctrlPr>
                      </m:dPr>
                      <m:e>
                        <m:r>
                          <a:rPr lang="en-US" altLang="ja-JP" sz="1200" i="1">
                            <a:latin typeface="Cambria Math" panose="02040503050406030204" pitchFamily="18" charset="0"/>
                          </a:rPr>
                          <m:t>𝑥</m:t>
                        </m:r>
                      </m:e>
                    </m:d>
                  </m:oMath>
                </a14:m>
                <a:r>
                  <a:rPr lang="ja-JP" altLang="en-US" sz="1200" dirty="0"/>
                  <a:t>を送信</a:t>
                </a:r>
              </a:p>
            </p:txBody>
          </p:sp>
        </mc:Choice>
        <mc:Fallback xmlns="">
          <p:sp>
            <p:nvSpPr>
              <p:cNvPr id="34" name="テキスト ボックス 33">
                <a:extLst>
                  <a:ext uri="{FF2B5EF4-FFF2-40B4-BE49-F238E27FC236}">
                    <a16:creationId xmlns:a16="http://schemas.microsoft.com/office/drawing/2014/main" id="{A04EA4A6-3184-206C-B6A0-ABBA1462227D}"/>
                  </a:ext>
                </a:extLst>
              </p:cNvPr>
              <p:cNvSpPr txBox="1">
                <a:spLocks noRot="1" noChangeAspect="1" noMove="1" noResize="1" noEditPoints="1" noAdjustHandles="1" noChangeArrowheads="1" noChangeShapeType="1" noTextEdit="1"/>
              </p:cNvSpPr>
              <p:nvPr/>
            </p:nvSpPr>
            <p:spPr>
              <a:xfrm>
                <a:off x="1319054" y="2682122"/>
                <a:ext cx="2253042" cy="323743"/>
              </a:xfrm>
              <a:prstGeom prst="rect">
                <a:avLst/>
              </a:prstGeom>
              <a:blipFill>
                <a:blip r:embed="rId6"/>
                <a:stretch>
                  <a:fillRect r="-270" b="-13208"/>
                </a:stretch>
              </a:blipFill>
            </p:spPr>
            <p:txBody>
              <a:bodyPr/>
              <a:lstStyle/>
              <a:p>
                <a:r>
                  <a:rPr lang="ja-JP" altLang="en-US">
                    <a:noFill/>
                  </a:rPr>
                  <a:t> </a:t>
                </a:r>
              </a:p>
            </p:txBody>
          </p:sp>
        </mc:Fallback>
      </mc:AlternateContent>
      <p:sp>
        <p:nvSpPr>
          <p:cNvPr id="38" name="四角形: 角を丸くする 37">
            <a:extLst>
              <a:ext uri="{FF2B5EF4-FFF2-40B4-BE49-F238E27FC236}">
                <a16:creationId xmlns:a16="http://schemas.microsoft.com/office/drawing/2014/main" id="{BC40298C-2D8C-99BB-0344-3828478E1E43}"/>
              </a:ext>
            </a:extLst>
          </p:cNvPr>
          <p:cNvSpPr/>
          <p:nvPr/>
        </p:nvSpPr>
        <p:spPr>
          <a:xfrm>
            <a:off x="5264288" y="3732729"/>
            <a:ext cx="1912112"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3</a:t>
            </a:r>
            <a:r>
              <a:rPr kumimoji="1" lang="en-US" altLang="ja-JP" dirty="0"/>
              <a:t>.</a:t>
            </a:r>
            <a:r>
              <a:rPr kumimoji="1" lang="ja-JP" altLang="en-US" dirty="0"/>
              <a:t>端末学習</a:t>
            </a:r>
            <a:r>
              <a:rPr kumimoji="1" lang="en-US" altLang="ja-JP" dirty="0"/>
              <a:t>(</a:t>
            </a:r>
            <a:r>
              <a:rPr kumimoji="1" lang="en-US" altLang="ja-JP" dirty="0" err="1"/>
              <a:t>L_task</a:t>
            </a:r>
            <a:r>
              <a:rPr kumimoji="1" lang="en-US" altLang="ja-JP" dirty="0"/>
              <a:t>)</a:t>
            </a:r>
            <a:endParaRPr kumimoji="1" lang="ja-JP" altLang="en-US" dirty="0"/>
          </a:p>
        </p:txBody>
      </p:sp>
      <p:sp>
        <p:nvSpPr>
          <p:cNvPr id="40" name="四角形: 角を丸くする 39">
            <a:extLst>
              <a:ext uri="{FF2B5EF4-FFF2-40B4-BE49-F238E27FC236}">
                <a16:creationId xmlns:a16="http://schemas.microsoft.com/office/drawing/2014/main" id="{4C4902FF-EB3D-A0D1-FD6C-003CCCCAEB71}"/>
              </a:ext>
            </a:extLst>
          </p:cNvPr>
          <p:cNvSpPr/>
          <p:nvPr/>
        </p:nvSpPr>
        <p:spPr>
          <a:xfrm>
            <a:off x="8341597" y="5198122"/>
            <a:ext cx="3693408" cy="1554038"/>
          </a:xfrm>
          <a:prstGeom prst="roundRect">
            <a:avLst>
              <a:gd name="adj" fmla="val 0"/>
            </a:avLst>
          </a:prstGeom>
          <a:solidFill>
            <a:srgbClr val="FFEBEB"/>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342900" indent="-342900">
              <a:buFont typeface="+mj-lt"/>
              <a:buAutoNum type="arabicPeriod"/>
            </a:pPr>
            <a:r>
              <a:rPr kumimoji="1" lang="ja-JP" altLang="en-US" sz="1600" dirty="0">
                <a:solidFill>
                  <a:schemeClr val="tx1"/>
                </a:solidFill>
              </a:rPr>
              <a:t>基盤モデルを中心とした循環更新</a:t>
            </a:r>
            <a:endParaRPr kumimoji="1" lang="en-US" altLang="ja-JP" sz="1600" dirty="0">
              <a:solidFill>
                <a:schemeClr val="tx1"/>
              </a:solidFill>
            </a:endParaRPr>
          </a:p>
          <a:p>
            <a:pPr marL="342900" indent="-342900">
              <a:buFont typeface="+mj-lt"/>
              <a:buAutoNum type="arabicPeriod"/>
            </a:pPr>
            <a:r>
              <a:rPr kumimoji="1" lang="ja-JP" altLang="en-US" sz="1600" dirty="0">
                <a:solidFill>
                  <a:schemeClr val="tx1"/>
                </a:solidFill>
              </a:rPr>
              <a:t>複数の適応情報を使った基盤 </a:t>
            </a:r>
            <a:r>
              <a:rPr kumimoji="1" lang="en-US" altLang="ja-JP" sz="1600" dirty="0" err="1">
                <a:solidFill>
                  <a:schemeClr val="tx1"/>
                </a:solidFill>
              </a:rPr>
              <a:t>LoRA</a:t>
            </a:r>
            <a:r>
              <a:rPr kumimoji="1" lang="ja-JP" altLang="en-US" sz="1600" dirty="0">
                <a:solidFill>
                  <a:schemeClr val="tx1"/>
                </a:solidFill>
              </a:rPr>
              <a:t>更新</a:t>
            </a:r>
            <a:endParaRPr kumimoji="1" lang="en-US" altLang="ja-JP" sz="1600" dirty="0">
              <a:solidFill>
                <a:schemeClr val="tx1"/>
              </a:solidFill>
            </a:endParaRPr>
          </a:p>
          <a:p>
            <a:pPr marL="342900" indent="-342900">
              <a:buFont typeface="+mj-lt"/>
              <a:buAutoNum type="arabicPeriod"/>
            </a:pPr>
            <a:r>
              <a:rPr kumimoji="1" lang="ja-JP" altLang="en-US" sz="1600" dirty="0">
                <a:solidFill>
                  <a:schemeClr val="tx1"/>
                </a:solidFill>
              </a:rPr>
              <a:t>重み平均と共有整合データへの依存除去</a:t>
            </a:r>
          </a:p>
        </p:txBody>
      </p:sp>
      <p:sp>
        <p:nvSpPr>
          <p:cNvPr id="42" name="テキスト ボックス 41">
            <a:extLst>
              <a:ext uri="{FF2B5EF4-FFF2-40B4-BE49-F238E27FC236}">
                <a16:creationId xmlns:a16="http://schemas.microsoft.com/office/drawing/2014/main" id="{3D908E35-CDC5-4A78-53A9-A1C21B4DA1A2}"/>
              </a:ext>
            </a:extLst>
          </p:cNvPr>
          <p:cNvSpPr txBox="1"/>
          <p:nvPr/>
        </p:nvSpPr>
        <p:spPr>
          <a:xfrm>
            <a:off x="785693" y="4728676"/>
            <a:ext cx="1188650" cy="577081"/>
          </a:xfrm>
          <a:prstGeom prst="rect">
            <a:avLst/>
          </a:prstGeom>
          <a:noFill/>
        </p:spPr>
        <p:txBody>
          <a:bodyPr wrap="square" rtlCol="0">
            <a:spAutoFit/>
          </a:bodyPr>
          <a:lstStyle/>
          <a:p>
            <a:pPr algn="ctr"/>
            <a:r>
              <a:rPr lang="en-US" altLang="ja-JP" sz="1050" dirty="0"/>
              <a:t>Surrogate</a:t>
            </a:r>
            <a:r>
              <a:rPr lang="ja-JP" altLang="en-US" sz="1050" dirty="0"/>
              <a:t>モデル</a:t>
            </a:r>
            <a:endParaRPr lang="en-US" altLang="ja-JP" sz="1050" dirty="0"/>
          </a:p>
          <a:p>
            <a:pPr algn="ctr"/>
            <a:r>
              <a:rPr lang="ja-JP" altLang="en-US" sz="1050" dirty="0"/>
              <a:t>＋クライアント</a:t>
            </a:r>
            <a:r>
              <a:rPr lang="en-US" altLang="ja-JP" sz="1050" dirty="0" err="1"/>
              <a:t>LoRA</a:t>
            </a:r>
            <a:endParaRPr kumimoji="1" lang="ja-JP" altLang="en-US" sz="1400" dirty="0"/>
          </a:p>
        </p:txBody>
      </p: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C6CF64CE-612F-C9C6-E2A6-5E622305408D}"/>
                  </a:ext>
                </a:extLst>
              </p:cNvPr>
              <p:cNvSpPr txBox="1"/>
              <p:nvPr/>
            </p:nvSpPr>
            <p:spPr>
              <a:xfrm>
                <a:off x="1620922" y="2045813"/>
                <a:ext cx="1238101" cy="566502"/>
              </a:xfrm>
              <a:prstGeom prst="rect">
                <a:avLst/>
              </a:prstGeom>
              <a:noFill/>
            </p:spPr>
            <p:txBody>
              <a:bodyPr wrap="square">
                <a:spAutoFit/>
              </a:bodyPr>
              <a:lstStyle/>
              <a:p>
                <a:pPr algn="ctr"/>
                <a:r>
                  <a:rPr lang="ja-JP" altLang="en-US" sz="1000" dirty="0"/>
                  <a:t>公開整合セットの各サンプル</a:t>
                </a:r>
                <a:endParaRPr lang="en-US" altLang="ja-JP" sz="1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dirty="0"/>
              </a:p>
            </p:txBody>
          </p:sp>
        </mc:Choice>
        <mc:Fallback xmlns="">
          <p:sp>
            <p:nvSpPr>
              <p:cNvPr id="44" name="テキスト ボックス 43">
                <a:extLst>
                  <a:ext uri="{FF2B5EF4-FFF2-40B4-BE49-F238E27FC236}">
                    <a16:creationId xmlns:a16="http://schemas.microsoft.com/office/drawing/2014/main" id="{C6CF64CE-612F-C9C6-E2A6-5E622305408D}"/>
                  </a:ext>
                </a:extLst>
              </p:cNvPr>
              <p:cNvSpPr txBox="1">
                <a:spLocks noRot="1" noChangeAspect="1" noMove="1" noResize="1" noEditPoints="1" noAdjustHandles="1" noChangeArrowheads="1" noChangeShapeType="1" noTextEdit="1"/>
              </p:cNvSpPr>
              <p:nvPr/>
            </p:nvSpPr>
            <p:spPr>
              <a:xfrm>
                <a:off x="1620922" y="2045813"/>
                <a:ext cx="1238101" cy="566502"/>
              </a:xfrm>
              <a:prstGeom prst="rect">
                <a:avLst/>
              </a:prstGeom>
              <a:blipFill>
                <a:blip r:embed="rId7"/>
                <a:stretch>
                  <a:fillRect/>
                </a:stretch>
              </a:blipFill>
            </p:spPr>
            <p:txBody>
              <a:bodyPr/>
              <a:lstStyle/>
              <a:p>
                <a:r>
                  <a:rPr lang="ja-JP" altLang="en-US">
                    <a:noFill/>
                  </a:rPr>
                  <a:t> </a:t>
                </a:r>
              </a:p>
            </p:txBody>
          </p:sp>
        </mc:Fallback>
      </mc:AlternateContent>
      <p:sp>
        <p:nvSpPr>
          <p:cNvPr id="48" name="矢印: 右 47">
            <a:extLst>
              <a:ext uri="{FF2B5EF4-FFF2-40B4-BE49-F238E27FC236}">
                <a16:creationId xmlns:a16="http://schemas.microsoft.com/office/drawing/2014/main" id="{E727D033-19E3-FB90-6033-EAC352C5CC01}"/>
              </a:ext>
            </a:extLst>
          </p:cNvPr>
          <p:cNvSpPr/>
          <p:nvPr/>
        </p:nvSpPr>
        <p:spPr>
          <a:xfrm>
            <a:off x="1774492" y="4444681"/>
            <a:ext cx="1730707" cy="75017"/>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0" name="テキスト ボックス 49">
            <a:extLst>
              <a:ext uri="{FF2B5EF4-FFF2-40B4-BE49-F238E27FC236}">
                <a16:creationId xmlns:a16="http://schemas.microsoft.com/office/drawing/2014/main" id="{EF07D40F-17E1-2BA7-BC8A-47BD7614532A}"/>
              </a:ext>
            </a:extLst>
          </p:cNvPr>
          <p:cNvSpPr txBox="1"/>
          <p:nvPr/>
        </p:nvSpPr>
        <p:spPr>
          <a:xfrm>
            <a:off x="2137888" y="4210248"/>
            <a:ext cx="1097280" cy="261610"/>
          </a:xfrm>
          <a:prstGeom prst="rect">
            <a:avLst/>
          </a:prstGeom>
          <a:noFill/>
        </p:spPr>
        <p:txBody>
          <a:bodyPr wrap="square" rtlCol="0">
            <a:spAutoFit/>
          </a:bodyPr>
          <a:lstStyle/>
          <a:p>
            <a:pPr algn="ctr"/>
            <a:r>
              <a:rPr kumimoji="1" lang="ja-JP" altLang="en-US" sz="1100" dirty="0"/>
              <a:t>前向き推論</a:t>
            </a:r>
            <a:endParaRPr kumimoji="1" lang="ja-JP" altLang="en-US" sz="1600" dirty="0"/>
          </a:p>
        </p:txBody>
      </p:sp>
      <p:pic>
        <p:nvPicPr>
          <p:cNvPr id="52" name="グラフィックス 51" descr="データベース 枠線">
            <a:extLst>
              <a:ext uri="{FF2B5EF4-FFF2-40B4-BE49-F238E27FC236}">
                <a16:creationId xmlns:a16="http://schemas.microsoft.com/office/drawing/2014/main" id="{A65239AC-4DAC-FFB6-63CA-D67E3987AF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95743" y="4546125"/>
            <a:ext cx="436942" cy="436942"/>
          </a:xfrm>
          <a:prstGeom prst="rect">
            <a:avLst/>
          </a:prstGeom>
        </p:spPr>
      </p:pic>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15397E5F-B26B-A196-3B21-6BDF086A137B}"/>
                  </a:ext>
                </a:extLst>
              </p:cNvPr>
              <p:cNvSpPr txBox="1"/>
              <p:nvPr/>
            </p:nvSpPr>
            <p:spPr>
              <a:xfrm>
                <a:off x="2101303" y="4933013"/>
                <a:ext cx="1238101" cy="566502"/>
              </a:xfrm>
              <a:prstGeom prst="rect">
                <a:avLst/>
              </a:prstGeom>
              <a:noFill/>
            </p:spPr>
            <p:txBody>
              <a:bodyPr wrap="square">
                <a:spAutoFit/>
              </a:bodyPr>
              <a:lstStyle/>
              <a:p>
                <a:pPr algn="ctr"/>
                <a:r>
                  <a:rPr lang="ja-JP" altLang="en-US" sz="1000" dirty="0"/>
                  <a:t>公開整合セットの</a:t>
                </a:r>
                <a:endParaRPr lang="en-US" altLang="ja-JP" sz="1000" dirty="0"/>
              </a:p>
              <a:p>
                <a:pPr algn="ctr"/>
                <a:r>
                  <a:rPr lang="ja-JP" altLang="en-US" sz="1000" dirty="0"/>
                  <a:t>各サンプル</a:t>
                </a:r>
                <a:endParaRPr lang="en-US" altLang="ja-JP" sz="1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dirty="0"/>
              </a:p>
            </p:txBody>
          </p:sp>
        </mc:Choice>
        <mc:Fallback xmlns="">
          <p:sp>
            <p:nvSpPr>
              <p:cNvPr id="54" name="テキスト ボックス 53">
                <a:extLst>
                  <a:ext uri="{FF2B5EF4-FFF2-40B4-BE49-F238E27FC236}">
                    <a16:creationId xmlns:a16="http://schemas.microsoft.com/office/drawing/2014/main" id="{15397E5F-B26B-A196-3B21-6BDF086A137B}"/>
                  </a:ext>
                </a:extLst>
              </p:cNvPr>
              <p:cNvSpPr txBox="1">
                <a:spLocks noRot="1" noChangeAspect="1" noMove="1" noResize="1" noEditPoints="1" noAdjustHandles="1" noChangeArrowheads="1" noChangeShapeType="1" noTextEdit="1"/>
              </p:cNvSpPr>
              <p:nvPr/>
            </p:nvSpPr>
            <p:spPr>
              <a:xfrm>
                <a:off x="2101303" y="4933013"/>
                <a:ext cx="1238101" cy="566502"/>
              </a:xfrm>
              <a:prstGeom prst="rect">
                <a:avLst/>
              </a:prstGeom>
              <a:blipFill>
                <a:blip r:embed="rId8"/>
                <a:stretch>
                  <a:fillRect/>
                </a:stretch>
              </a:blipFill>
            </p:spPr>
            <p:txBody>
              <a:bodyPr/>
              <a:lstStyle/>
              <a:p>
                <a:r>
                  <a:rPr lang="ja-JP" altLang="en-US">
                    <a:noFill/>
                  </a:rPr>
                  <a:t> </a:t>
                </a:r>
              </a:p>
            </p:txBody>
          </p:sp>
        </mc:Fallback>
      </mc:AlternateContent>
      <p:sp>
        <p:nvSpPr>
          <p:cNvPr id="159" name="四角形: 角を丸くする 158">
            <a:extLst>
              <a:ext uri="{FF2B5EF4-FFF2-40B4-BE49-F238E27FC236}">
                <a16:creationId xmlns:a16="http://schemas.microsoft.com/office/drawing/2014/main" id="{DA28AE9A-1350-4D7D-A82B-378CF4CF5EFB}"/>
              </a:ext>
            </a:extLst>
          </p:cNvPr>
          <p:cNvSpPr/>
          <p:nvPr/>
        </p:nvSpPr>
        <p:spPr>
          <a:xfrm>
            <a:off x="5254488" y="4490060"/>
            <a:ext cx="2801175" cy="662124"/>
          </a:xfrm>
          <a:prstGeom prst="roundRect">
            <a:avLst>
              <a:gd name="adj" fmla="val 6892"/>
            </a:avLst>
          </a:prstGeom>
          <a:solidFill>
            <a:srgbClr val="FDF3ED"/>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B1E1EE3F-938A-D492-B2D9-3C489F21C59F}"/>
                  </a:ext>
                </a:extLst>
              </p:cNvPr>
              <p:cNvSpPr txBox="1"/>
              <p:nvPr/>
            </p:nvSpPr>
            <p:spPr>
              <a:xfrm>
                <a:off x="3319418" y="4480575"/>
                <a:ext cx="1250195" cy="608436"/>
              </a:xfrm>
              <a:prstGeom prst="rect">
                <a:avLst/>
              </a:prstGeom>
              <a:noFill/>
            </p:spPr>
            <p:txBody>
              <a:bodyPr wrap="square" rtlCol="0">
                <a:spAutoFit/>
              </a:bodyPr>
              <a:lstStyle/>
              <a:p>
                <a:pPr algn="ctr"/>
                <a:r>
                  <a:rPr kumimoji="1" lang="ja-JP" altLang="en-US" sz="1100" dirty="0"/>
                  <a:t>サンプル </a:t>
                </a:r>
                <a:r>
                  <a:rPr kumimoji="1" lang="en-US" altLang="ja-JP" sz="1100" dirty="0"/>
                  <a:t>ID </a:t>
                </a:r>
                <a:r>
                  <a:rPr kumimoji="1" lang="ja-JP" altLang="en-US" sz="1100" dirty="0"/>
                  <a:t>と</a:t>
                </a:r>
                <a:endParaRPr kumimoji="1" lang="en-US" altLang="ja-JP" sz="1100" dirty="0"/>
              </a:p>
              <a:p>
                <a:pPr algn="ctr"/>
                <a:r>
                  <a:rPr kumimoji="1" lang="ja-JP" altLang="en-US" sz="1100" dirty="0"/>
                  <a:t> 基盤 </a:t>
                </a:r>
                <a:r>
                  <a:rPr kumimoji="1" lang="en-US" altLang="ja-JP" sz="1100" dirty="0"/>
                  <a:t>logits</a:t>
                </a:r>
                <a14:m>
                  <m:oMath xmlns:m="http://schemas.openxmlformats.org/officeDocument/2006/math">
                    <m:sSub>
                      <m:sSubPr>
                        <m:ctrlPr>
                          <a:rPr lang="en-US" altLang="ja-JP" sz="1100" i="1">
                            <a:latin typeface="Cambria Math" panose="02040503050406030204" pitchFamily="18" charset="0"/>
                          </a:rPr>
                        </m:ctrlPr>
                      </m:sSubPr>
                      <m:e>
                        <m:r>
                          <a:rPr lang="en-US" altLang="ja-JP" sz="1100" i="1">
                            <a:latin typeface="Cambria Math" panose="02040503050406030204" pitchFamily="18" charset="0"/>
                          </a:rPr>
                          <m:t>𝑧</m:t>
                        </m:r>
                      </m:e>
                      <m:sub>
                        <m:r>
                          <a:rPr lang="en-US" altLang="ja-JP" sz="1100" b="0" i="1" smtClean="0">
                            <a:latin typeface="Cambria Math" panose="02040503050406030204" pitchFamily="18" charset="0"/>
                          </a:rPr>
                          <m:t>𝑘</m:t>
                        </m:r>
                      </m:sub>
                    </m:sSub>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endParaRPr kumimoji="1" lang="en-US" altLang="ja-JP" sz="1100" dirty="0"/>
              </a:p>
              <a:p>
                <a:pPr algn="ctr"/>
                <a:r>
                  <a:rPr kumimoji="1" lang="ja-JP" altLang="en-US" sz="1100" dirty="0"/>
                  <a:t>を保存</a:t>
                </a:r>
                <a:endParaRPr kumimoji="1" lang="ja-JP" altLang="en-US" sz="1600" dirty="0"/>
              </a:p>
            </p:txBody>
          </p:sp>
        </mc:Choice>
        <mc:Fallback xmlns="">
          <p:sp>
            <p:nvSpPr>
              <p:cNvPr id="56" name="テキスト ボックス 55">
                <a:extLst>
                  <a:ext uri="{FF2B5EF4-FFF2-40B4-BE49-F238E27FC236}">
                    <a16:creationId xmlns:a16="http://schemas.microsoft.com/office/drawing/2014/main" id="{B1E1EE3F-938A-D492-B2D9-3C489F21C59F}"/>
                  </a:ext>
                </a:extLst>
              </p:cNvPr>
              <p:cNvSpPr txBox="1">
                <a:spLocks noRot="1" noChangeAspect="1" noMove="1" noResize="1" noEditPoints="1" noAdjustHandles="1" noChangeArrowheads="1" noChangeShapeType="1" noTextEdit="1"/>
              </p:cNvSpPr>
              <p:nvPr/>
            </p:nvSpPr>
            <p:spPr>
              <a:xfrm>
                <a:off x="3319418" y="4480575"/>
                <a:ext cx="1250195" cy="608436"/>
              </a:xfrm>
              <a:prstGeom prst="rect">
                <a:avLst/>
              </a:prstGeom>
              <a:blipFill>
                <a:blip r:embed="rId9"/>
                <a:stretch>
                  <a:fillRect t="-2000" b="-3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662C8F5D-20CC-43A7-5097-C112D78E8FE9}"/>
                  </a:ext>
                </a:extLst>
              </p:cNvPr>
              <p:cNvSpPr txBox="1"/>
              <p:nvPr/>
            </p:nvSpPr>
            <p:spPr>
              <a:xfrm>
                <a:off x="1297491" y="6202239"/>
                <a:ext cx="2933700" cy="261610"/>
              </a:xfrm>
              <a:prstGeom prst="rect">
                <a:avLst/>
              </a:prstGeom>
              <a:noFill/>
            </p:spPr>
            <p:txBody>
              <a:bodyPr wrap="square">
                <a:spAutoFit/>
              </a:bodyPr>
              <a:lstStyle/>
              <a:p>
                <a:r>
                  <a:rPr lang="ja-JP" altLang="ja-JP" sz="1100" i="0" dirty="0">
                    <a:solidFill>
                      <a:schemeClr val="tx1"/>
                    </a:solidFill>
                    <a:effectLst/>
                    <a:latin typeface="-apple-system"/>
                  </a:rPr>
                  <a:t>クライアント LoRA + 分類ヘッド </a:t>
                </a:r>
                <a14:m>
                  <m:oMath xmlns:m="http://schemas.openxmlformats.org/officeDocument/2006/math">
                    <m:sSub>
                      <m:sSubPr>
                        <m:ctrlPr>
                          <a:rPr lang="ja-JP" altLang="en-US" sz="1100" i="1">
                            <a:solidFill>
                              <a:schemeClr val="tx1"/>
                            </a:solidFill>
                            <a:latin typeface="Cambria Math" panose="02040503050406030204" pitchFamily="18" charset="0"/>
                          </a:rPr>
                        </m:ctrlPr>
                      </m:sSubPr>
                      <m:e>
                        <m:r>
                          <a:rPr lang="ja-JP" altLang="en-US" sz="1100" b="0" i="1">
                            <a:solidFill>
                              <a:schemeClr val="tx1"/>
                            </a:solidFill>
                            <a:latin typeface="Cambria Math" panose="02040503050406030204" pitchFamily="18" charset="0"/>
                          </a:rPr>
                          <m:t>𝜃</m:t>
                        </m:r>
                      </m:e>
                      <m:sub>
                        <m:r>
                          <a:rPr lang="ja-JP" altLang="en-US" sz="1100" b="0" i="1">
                            <a:solidFill>
                              <a:schemeClr val="tx1"/>
                            </a:solidFill>
                            <a:latin typeface="Cambria Math" panose="02040503050406030204" pitchFamily="18" charset="0"/>
                          </a:rPr>
                          <m:t>𝑘</m:t>
                        </m:r>
                      </m:sub>
                    </m:sSub>
                    <m:r>
                      <a:rPr lang="ja-JP" altLang="en-US" sz="1100" i="1">
                        <a:latin typeface="Cambria Math" panose="02040503050406030204" pitchFamily="18" charset="0"/>
                      </a:rPr>
                      <m:t>の更新</m:t>
                    </m:r>
                  </m:oMath>
                </a14:m>
                <a:endParaRPr lang="ja-JP" altLang="en-US" sz="2400" dirty="0"/>
              </a:p>
            </p:txBody>
          </p:sp>
        </mc:Choice>
        <mc:Fallback xmlns="">
          <p:sp>
            <p:nvSpPr>
              <p:cNvPr id="58" name="テキスト ボックス 57">
                <a:extLst>
                  <a:ext uri="{FF2B5EF4-FFF2-40B4-BE49-F238E27FC236}">
                    <a16:creationId xmlns:a16="http://schemas.microsoft.com/office/drawing/2014/main" id="{662C8F5D-20CC-43A7-5097-C112D78E8FE9}"/>
                  </a:ext>
                </a:extLst>
              </p:cNvPr>
              <p:cNvSpPr txBox="1">
                <a:spLocks noRot="1" noChangeAspect="1" noMove="1" noResize="1" noEditPoints="1" noAdjustHandles="1" noChangeArrowheads="1" noChangeShapeType="1" noTextEdit="1"/>
              </p:cNvSpPr>
              <p:nvPr/>
            </p:nvSpPr>
            <p:spPr>
              <a:xfrm>
                <a:off x="1297491" y="6202239"/>
                <a:ext cx="2933700" cy="261610"/>
              </a:xfrm>
              <a:prstGeom prst="rect">
                <a:avLst/>
              </a:prstGeom>
              <a:blipFill>
                <a:blip r:embed="rId10"/>
                <a:stretch>
                  <a:fillRect t="-4651" b="-16279"/>
                </a:stretch>
              </a:blipFill>
            </p:spPr>
            <p:txBody>
              <a:bodyPr/>
              <a:lstStyle/>
              <a:p>
                <a:r>
                  <a:rPr lang="ja-JP" altLang="en-US">
                    <a:noFill/>
                  </a:rPr>
                  <a:t> </a:t>
                </a:r>
              </a:p>
            </p:txBody>
          </p:sp>
        </mc:Fallback>
      </mc:AlternateContent>
      <p:pic>
        <p:nvPicPr>
          <p:cNvPr id="62" name="グラフィックス 61" descr="データベース 枠線">
            <a:extLst>
              <a:ext uri="{FF2B5EF4-FFF2-40B4-BE49-F238E27FC236}">
                <a16:creationId xmlns:a16="http://schemas.microsoft.com/office/drawing/2014/main" id="{19F2AAE2-EFDD-6F5A-B20A-4E79A82611C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45187" y="4036949"/>
            <a:ext cx="436942" cy="436942"/>
          </a:xfrm>
          <a:prstGeom prst="rect">
            <a:avLst/>
          </a:prstGeom>
        </p:spPr>
      </p:pic>
      <mc:AlternateContent xmlns:mc="http://schemas.openxmlformats.org/markup-compatibility/2006" xmlns:a14="http://schemas.microsoft.com/office/drawing/2010/main">
        <mc:Choice Requires="a14">
          <p:sp>
            <p:nvSpPr>
              <p:cNvPr id="64" name="テキスト ボックス 63">
                <a:extLst>
                  <a:ext uri="{FF2B5EF4-FFF2-40B4-BE49-F238E27FC236}">
                    <a16:creationId xmlns:a16="http://schemas.microsoft.com/office/drawing/2014/main" id="{FDEF57F3-9DC6-2211-A32D-194FA54298F9}"/>
                  </a:ext>
                </a:extLst>
              </p:cNvPr>
              <p:cNvSpPr txBox="1"/>
              <p:nvPr/>
            </p:nvSpPr>
            <p:spPr>
              <a:xfrm>
                <a:off x="5800312" y="4125005"/>
                <a:ext cx="2409496" cy="307777"/>
              </a:xfrm>
              <a:prstGeom prst="rect">
                <a:avLst/>
              </a:prstGeom>
              <a:noFill/>
            </p:spPr>
            <p:txBody>
              <a:bodyPr wrap="square">
                <a:spAutoFit/>
              </a:bodyPr>
              <a:lstStyle/>
              <a:p>
                <a:r>
                  <a:rPr lang="ja-JP" altLang="en-US" sz="1400" b="0" dirty="0">
                    <a:solidFill>
                      <a:schemeClr val="tx1"/>
                    </a:solidFill>
                    <a:latin typeface="+mj-ea"/>
                    <a:ea typeface="+mj-ea"/>
                    <a:cs typeface="Calibri" panose="020F0502020204030204" pitchFamily="34" charset="0"/>
                  </a:rPr>
                  <a:t>端末固有データ</a:t>
                </a:r>
                <a:r>
                  <a:rPr lang="ja-JP" altLang="en-US" sz="1400" b="0" dirty="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US" altLang="ja-JP" sz="1400" b="0" i="1" smtClean="0">
                        <a:solidFill>
                          <a:schemeClr val="tx1"/>
                        </a:solidFill>
                        <a:latin typeface="Cambria Math" panose="02040503050406030204" pitchFamily="18" charset="0"/>
                        <a:ea typeface="Cambria Math" panose="02040503050406030204" pitchFamily="18" charset="0"/>
                      </a:rPr>
                      <m:t>(</m:t>
                    </m:r>
                    <m:r>
                      <a:rPr lang="en-US" altLang="ja-JP" sz="1400" b="0" i="1" smtClean="0">
                        <a:solidFill>
                          <a:schemeClr val="tx1"/>
                        </a:solidFill>
                        <a:latin typeface="Cambria Math" panose="02040503050406030204" pitchFamily="18" charset="0"/>
                        <a:ea typeface="Cambria Math" panose="02040503050406030204" pitchFamily="18" charset="0"/>
                      </a:rPr>
                      <m:t>𝑥</m:t>
                    </m:r>
                    <m:r>
                      <a:rPr lang="en-US" altLang="ja-JP" sz="1400" b="0" i="1" smtClean="0">
                        <a:solidFill>
                          <a:schemeClr val="tx1"/>
                        </a:solidFill>
                        <a:latin typeface="Cambria Math" panose="02040503050406030204" pitchFamily="18" charset="0"/>
                        <a:ea typeface="Cambria Math" panose="02040503050406030204" pitchFamily="18" charset="0"/>
                      </a:rPr>
                      <m:t>,</m:t>
                    </m:r>
                    <m:r>
                      <a:rPr lang="en-US" altLang="ja-JP" sz="1400" b="0" i="1" smtClean="0">
                        <a:solidFill>
                          <a:schemeClr val="tx1"/>
                        </a:solidFill>
                        <a:latin typeface="Cambria Math" panose="02040503050406030204" pitchFamily="18" charset="0"/>
                        <a:ea typeface="Cambria Math" panose="02040503050406030204" pitchFamily="18" charset="0"/>
                      </a:rPr>
                      <m:t>𝑦</m:t>
                    </m:r>
                    <m:r>
                      <a:rPr lang="en-US" altLang="ja-JP" sz="1400" b="0" i="1" smtClean="0">
                        <a:solidFill>
                          <a:schemeClr val="tx1"/>
                        </a:solidFill>
                        <a:latin typeface="Cambria Math" panose="02040503050406030204" pitchFamily="18" charset="0"/>
                        <a:ea typeface="Cambria Math" panose="02040503050406030204" pitchFamily="18" charset="0"/>
                      </a:rPr>
                      <m:t>)∈</m:t>
                    </m:r>
                    <m:sSub>
                      <m:sSubPr>
                        <m:ctrlPr>
                          <a:rPr lang="ja-JP" altLang="en-US" sz="1400" i="1">
                            <a:solidFill>
                              <a:schemeClr val="tx1"/>
                            </a:solidFill>
                            <a:latin typeface="Cambria Math" panose="02040503050406030204" pitchFamily="18" charset="0"/>
                          </a:rPr>
                        </m:ctrlPr>
                      </m:sSubPr>
                      <m:e>
                        <m:r>
                          <a:rPr lang="ja-JP" altLang="en-US" sz="1400" i="1">
                            <a:solidFill>
                              <a:schemeClr val="tx1"/>
                            </a:solidFill>
                            <a:latin typeface="Cambria Math" panose="02040503050406030204" pitchFamily="18" charset="0"/>
                          </a:rPr>
                          <m:t>𝒟</m:t>
                        </m:r>
                      </m:e>
                      <m:sub>
                        <m:r>
                          <a:rPr lang="en-US" altLang="ja-JP" sz="1400" b="0" i="1" smtClean="0">
                            <a:solidFill>
                              <a:schemeClr val="tx1"/>
                            </a:solidFill>
                            <a:latin typeface="Cambria Math" panose="02040503050406030204" pitchFamily="18" charset="0"/>
                          </a:rPr>
                          <m:t>𝑘</m:t>
                        </m:r>
                      </m:sub>
                    </m:sSub>
                  </m:oMath>
                </a14:m>
                <a:endParaRPr lang="ja-JP" altLang="en-US" sz="2000" dirty="0"/>
              </a:p>
            </p:txBody>
          </p:sp>
        </mc:Choice>
        <mc:Fallback xmlns="">
          <p:sp>
            <p:nvSpPr>
              <p:cNvPr id="64" name="テキスト ボックス 63">
                <a:extLst>
                  <a:ext uri="{FF2B5EF4-FFF2-40B4-BE49-F238E27FC236}">
                    <a16:creationId xmlns:a16="http://schemas.microsoft.com/office/drawing/2014/main" id="{FDEF57F3-9DC6-2211-A32D-194FA54298F9}"/>
                  </a:ext>
                </a:extLst>
              </p:cNvPr>
              <p:cNvSpPr txBox="1">
                <a:spLocks noRot="1" noChangeAspect="1" noMove="1" noResize="1" noEditPoints="1" noAdjustHandles="1" noChangeArrowheads="1" noChangeShapeType="1" noTextEdit="1"/>
              </p:cNvSpPr>
              <p:nvPr/>
            </p:nvSpPr>
            <p:spPr>
              <a:xfrm>
                <a:off x="5800312" y="4125005"/>
                <a:ext cx="2409496" cy="307777"/>
              </a:xfrm>
              <a:prstGeom prst="rect">
                <a:avLst/>
              </a:prstGeom>
              <a:blipFill>
                <a:blip r:embed="rId12"/>
                <a:stretch>
                  <a:fillRect l="-758" t="-8000" b="-16000"/>
                </a:stretch>
              </a:blipFill>
            </p:spPr>
            <p:txBody>
              <a:bodyPr/>
              <a:lstStyle/>
              <a:p>
                <a:r>
                  <a:rPr lang="ja-JP" altLang="en-US">
                    <a:noFill/>
                  </a:rPr>
                  <a:t> </a:t>
                </a:r>
              </a:p>
            </p:txBody>
          </p:sp>
        </mc:Fallback>
      </mc:AlternateContent>
      <p:sp>
        <p:nvSpPr>
          <p:cNvPr id="21" name="四角形: 角を丸くする 20">
            <a:extLst>
              <a:ext uri="{FF2B5EF4-FFF2-40B4-BE49-F238E27FC236}">
                <a16:creationId xmlns:a16="http://schemas.microsoft.com/office/drawing/2014/main" id="{6A044DDC-AF1F-E34E-D40F-320CD96DB895}"/>
              </a:ext>
            </a:extLst>
          </p:cNvPr>
          <p:cNvSpPr/>
          <p:nvPr/>
        </p:nvSpPr>
        <p:spPr>
          <a:xfrm>
            <a:off x="5428621" y="6434350"/>
            <a:ext cx="2431225"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dirty="0"/>
              <a:t>4.</a:t>
            </a:r>
            <a:r>
              <a:rPr lang="ja-JP" altLang="en-US" dirty="0"/>
              <a:t>適応情報送信</a:t>
            </a:r>
            <a:endParaRPr kumimoji="1" lang="ja-JP" altLang="en-US" dirty="0"/>
          </a:p>
        </p:txBody>
      </p:sp>
      <p:sp>
        <p:nvSpPr>
          <p:cNvPr id="33" name="四角形: 角を丸くする 32">
            <a:extLst>
              <a:ext uri="{FF2B5EF4-FFF2-40B4-BE49-F238E27FC236}">
                <a16:creationId xmlns:a16="http://schemas.microsoft.com/office/drawing/2014/main" id="{68D43F8D-9838-3A07-A7AD-497691DEA570}"/>
              </a:ext>
            </a:extLst>
          </p:cNvPr>
          <p:cNvSpPr/>
          <p:nvPr/>
        </p:nvSpPr>
        <p:spPr>
          <a:xfrm>
            <a:off x="6441750" y="6074935"/>
            <a:ext cx="549564" cy="319963"/>
          </a:xfrm>
          <a:prstGeom prst="roundRect">
            <a:avLst>
              <a:gd name="adj" fmla="val 11872"/>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400" dirty="0">
                <a:solidFill>
                  <a:schemeClr val="tx1"/>
                </a:solidFill>
              </a:rPr>
              <a:t>Logits</a:t>
            </a:r>
          </a:p>
        </p:txBody>
      </p:sp>
      <p:sp>
        <p:nvSpPr>
          <p:cNvPr id="35" name="四角形: 角を丸くする 34">
            <a:extLst>
              <a:ext uri="{FF2B5EF4-FFF2-40B4-BE49-F238E27FC236}">
                <a16:creationId xmlns:a16="http://schemas.microsoft.com/office/drawing/2014/main" id="{CE5F7FEA-3656-FE5C-A6D1-762632EA4015}"/>
              </a:ext>
            </a:extLst>
          </p:cNvPr>
          <p:cNvSpPr/>
          <p:nvPr/>
        </p:nvSpPr>
        <p:spPr>
          <a:xfrm>
            <a:off x="5428621" y="6077836"/>
            <a:ext cx="967232" cy="319963"/>
          </a:xfrm>
          <a:prstGeom prst="roundRect">
            <a:avLst>
              <a:gd name="adj" fmla="val 11872"/>
            </a:avLst>
          </a:prstGeom>
          <a:solidFill>
            <a:schemeClr val="accent4">
              <a:lumMod val="20000"/>
              <a:lumOff val="8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rPr>
              <a:t>勾配情報</a:t>
            </a:r>
            <a:endParaRPr kumimoji="1" lang="en-US" altLang="ja-JP" sz="1400" dirty="0">
              <a:solidFill>
                <a:schemeClr val="tx1"/>
              </a:solidFill>
            </a:endParaRPr>
          </a:p>
        </p:txBody>
      </p:sp>
      <p:sp>
        <p:nvSpPr>
          <p:cNvPr id="37" name="四角形: 角を丸くする 36">
            <a:extLst>
              <a:ext uri="{FF2B5EF4-FFF2-40B4-BE49-F238E27FC236}">
                <a16:creationId xmlns:a16="http://schemas.microsoft.com/office/drawing/2014/main" id="{FA13B02A-3771-6611-9905-34A17A3DB85F}"/>
              </a:ext>
            </a:extLst>
          </p:cNvPr>
          <p:cNvSpPr/>
          <p:nvPr/>
        </p:nvSpPr>
        <p:spPr>
          <a:xfrm>
            <a:off x="7032027" y="6063373"/>
            <a:ext cx="795464" cy="319963"/>
          </a:xfrm>
          <a:prstGeom prst="roundRect">
            <a:avLst>
              <a:gd name="adj" fmla="val 11872"/>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rPr>
              <a:t>差分</a:t>
            </a:r>
            <a:r>
              <a:rPr kumimoji="1" lang="en-US" altLang="ja-JP" sz="1400" dirty="0" err="1">
                <a:solidFill>
                  <a:schemeClr val="tx1"/>
                </a:solidFill>
              </a:rPr>
              <a:t>LoRA</a:t>
            </a:r>
            <a:endParaRPr kumimoji="1" lang="en-US" altLang="ja-JP" sz="1400" dirty="0">
              <a:solidFill>
                <a:schemeClr val="tx1"/>
              </a:solidFill>
            </a:endParaRPr>
          </a:p>
        </p:txBody>
      </p:sp>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117C222C-667F-86B6-8840-12B7D537EBB1}"/>
                  </a:ext>
                </a:extLst>
              </p:cNvPr>
              <p:cNvSpPr txBox="1"/>
              <p:nvPr/>
            </p:nvSpPr>
            <p:spPr>
              <a:xfrm>
                <a:off x="5220268" y="4459833"/>
                <a:ext cx="2835395" cy="253916"/>
              </a:xfrm>
              <a:prstGeom prst="rect">
                <a:avLst/>
              </a:prstGeom>
              <a:noFill/>
            </p:spPr>
            <p:txBody>
              <a:bodyPr wrap="square">
                <a:spAutoFit/>
              </a:bodyPr>
              <a:lstStyle/>
              <a:p>
                <a:pPr indent="0" algn="l">
                  <a:buFont typeface="+mj-lt"/>
                  <a:buAutoNum type="arabicPeriod"/>
                </a:pPr>
                <a:r>
                  <a:rPr lang="ja-JP" altLang="ja-JP" sz="1050" b="0" i="0" dirty="0">
                    <a:solidFill>
                      <a:schemeClr val="tx1"/>
                    </a:solidFill>
                    <a:effectLst/>
                    <a:latin typeface="-apple-system"/>
                  </a:rPr>
                  <a:t>予測と正解ラベル </a:t>
                </a:r>
                <a14:m>
                  <m:oMath xmlns:m="http://schemas.openxmlformats.org/officeDocument/2006/math">
                    <m:r>
                      <a:rPr lang="ja-JP" altLang="en-US" sz="1050" i="1">
                        <a:solidFill>
                          <a:schemeClr val="tx1"/>
                        </a:solidFill>
                        <a:latin typeface="Cambria Math" panose="02040503050406030204" pitchFamily="18" charset="0"/>
                      </a:rPr>
                      <m:t>𝑦</m:t>
                    </m:r>
                  </m:oMath>
                </a14:m>
                <a:r>
                  <a:rPr lang="ja-JP" altLang="ja-JP" sz="1050" b="0" i="0" dirty="0">
                    <a:solidFill>
                      <a:schemeClr val="tx1"/>
                    </a:solidFill>
                    <a:effectLst/>
                    <a:latin typeface="-apple-system"/>
                  </a:rPr>
                  <a:t> の差を </a:t>
                </a:r>
                <a:r>
                  <a:rPr lang="ja-JP" altLang="ja-JP" sz="1050" b="1" i="0" dirty="0">
                    <a:solidFill>
                      <a:schemeClr val="tx1"/>
                    </a:solidFill>
                    <a:effectLst/>
                    <a:latin typeface="-apple-system"/>
                  </a:rPr>
                  <a:t>L_task</a:t>
                </a:r>
                <a:r>
                  <a:rPr lang="ja-JP" altLang="ja-JP" sz="1050" b="0" i="0" dirty="0">
                    <a:solidFill>
                      <a:schemeClr val="tx1"/>
                    </a:solidFill>
                    <a:effectLst/>
                    <a:latin typeface="-apple-system"/>
                  </a:rPr>
                  <a:t> で測る。</a:t>
                </a:r>
              </a:p>
            </p:txBody>
          </p:sp>
        </mc:Choice>
        <mc:Fallback xmlns="">
          <p:sp>
            <p:nvSpPr>
              <p:cNvPr id="66" name="テキスト ボックス 65">
                <a:extLst>
                  <a:ext uri="{FF2B5EF4-FFF2-40B4-BE49-F238E27FC236}">
                    <a16:creationId xmlns:a16="http://schemas.microsoft.com/office/drawing/2014/main" id="{117C222C-667F-86B6-8840-12B7D537EBB1}"/>
                  </a:ext>
                </a:extLst>
              </p:cNvPr>
              <p:cNvSpPr txBox="1">
                <a:spLocks noRot="1" noChangeAspect="1" noMove="1" noResize="1" noEditPoints="1" noAdjustHandles="1" noChangeArrowheads="1" noChangeShapeType="1" noTextEdit="1"/>
              </p:cNvSpPr>
              <p:nvPr/>
            </p:nvSpPr>
            <p:spPr>
              <a:xfrm>
                <a:off x="5220268" y="4459833"/>
                <a:ext cx="2835395" cy="253916"/>
              </a:xfrm>
              <a:prstGeom prst="rect">
                <a:avLst/>
              </a:prstGeom>
              <a:blipFill>
                <a:blip r:embed="rId13"/>
                <a:stretch>
                  <a:fillRect t="-2439" r="-4301" b="-170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D8208859-5AD5-1360-0E77-747D18D693A1}"/>
                  </a:ext>
                </a:extLst>
              </p:cNvPr>
              <p:cNvSpPr txBox="1"/>
              <p:nvPr/>
            </p:nvSpPr>
            <p:spPr>
              <a:xfrm>
                <a:off x="5297737" y="4627232"/>
                <a:ext cx="2712299" cy="5643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en-US" sz="1200" i="1">
                              <a:latin typeface="Cambria Math" panose="02040503050406030204" pitchFamily="18" charset="0"/>
                            </a:rPr>
                          </m:ctrlPr>
                        </m:sSubSupPr>
                        <m:e>
                          <m:r>
                            <a:rPr lang="en-US" altLang="ja-JP" sz="1200" i="1">
                              <a:latin typeface="Cambria Math" panose="02040503050406030204" pitchFamily="18" charset="0"/>
                            </a:rPr>
                            <m:t>ℒ</m:t>
                          </m:r>
                        </m:e>
                        <m:sub>
                          <m:r>
                            <a:rPr lang="ja-JP" altLang="en-US" sz="1200" i="1">
                              <a:latin typeface="Cambria Math" panose="02040503050406030204" pitchFamily="18" charset="0"/>
                            </a:rPr>
                            <m:t>𝑡𝑎𝑠𝑘</m:t>
                          </m:r>
                        </m:sub>
                        <m: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𝑘</m:t>
                              </m:r>
                            </m:e>
                          </m:d>
                        </m:sup>
                      </m:sSubSup>
                      <m:r>
                        <a:rPr lang="en-US" altLang="ja-JP" sz="1200" i="1">
                          <a:latin typeface="Cambria Math" panose="02040503050406030204" pitchFamily="18" charset="0"/>
                        </a:rPr>
                        <m:t>=</m:t>
                      </m:r>
                      <m:f>
                        <m:fPr>
                          <m:ctrlPr>
                            <a:rPr lang="ja-JP" altLang="en-US" sz="1200" i="1">
                              <a:latin typeface="Cambria Math" panose="02040503050406030204" pitchFamily="18" charset="0"/>
                            </a:rPr>
                          </m:ctrlPr>
                        </m:fPr>
                        <m:num>
                          <m:r>
                            <a:rPr lang="en-US" altLang="ja-JP" sz="1200" i="1">
                              <a:latin typeface="Cambria Math" panose="02040503050406030204" pitchFamily="18" charset="0"/>
                            </a:rPr>
                            <m:t>1</m:t>
                          </m:r>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𝒟</m:t>
                                  </m:r>
                                </m:e>
                                <m:sub>
                                  <m:r>
                                    <a:rPr lang="ja-JP" altLang="en-US" sz="1200" i="1">
                                      <a:latin typeface="Cambria Math" panose="02040503050406030204" pitchFamily="18" charset="0"/>
                                    </a:rPr>
                                    <m:t>𝑘</m:t>
                                  </m:r>
                                </m:sub>
                              </m:sSub>
                            </m:e>
                          </m:d>
                        </m:den>
                      </m:f>
                      <m:nary>
                        <m:naryPr>
                          <m:chr m:val="∑"/>
                          <m:limLoc m:val="undOvr"/>
                          <m:grow m:val="on"/>
                          <m:supHide m:val="on"/>
                          <m:ctrlPr>
                            <a:rPr lang="ja-JP" altLang="en-US" sz="1200" i="1">
                              <a:latin typeface="Cambria Math" panose="02040503050406030204" pitchFamily="18" charset="0"/>
                            </a:rPr>
                          </m:ctrlPr>
                        </m:naryPr>
                        <m:sub>
                          <m:r>
                            <a:rPr lang="en-US" altLang="ja-JP" sz="1200" i="1">
                              <a:latin typeface="Cambria Math" panose="02040503050406030204" pitchFamily="18" charset="0"/>
                            </a:rPr>
                            <m:t>(</m:t>
                          </m:r>
                          <m:r>
                            <a:rPr lang="ja-JP" altLang="en-US" sz="1200" i="1">
                              <a:latin typeface="Cambria Math" panose="02040503050406030204" pitchFamily="18" charset="0"/>
                            </a:rPr>
                            <m:t>𝑥</m:t>
                          </m:r>
                          <m:r>
                            <a:rPr lang="en-US" altLang="ja-JP" sz="1200" i="1">
                              <a:latin typeface="Cambria Math" panose="02040503050406030204" pitchFamily="18" charset="0"/>
                            </a:rPr>
                            <m:t>,</m:t>
                          </m:r>
                          <m:r>
                            <a:rPr lang="ja-JP" altLang="en-US" sz="1200" i="1">
                              <a:latin typeface="Cambria Math" panose="02040503050406030204" pitchFamily="18" charset="0"/>
                            </a:rPr>
                            <m:t>𝑦</m:t>
                          </m:r>
                          <m:r>
                            <a:rPr lang="en-US" altLang="ja-JP" sz="1200" i="1">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𝒟</m:t>
                              </m:r>
                            </m:e>
                            <m:sub>
                              <m:r>
                                <a:rPr lang="ja-JP" altLang="en-US" sz="1200" i="1">
                                  <a:latin typeface="Cambria Math" panose="02040503050406030204" pitchFamily="18" charset="0"/>
                                </a:rPr>
                                <m:t>𝑘</m:t>
                              </m:r>
                            </m:sub>
                          </m:sSub>
                        </m:sub>
                        <m:sup/>
                        <m:e>
                          <m:r>
                            <a:rPr lang="ja-JP" altLang="en-US" sz="1200" i="1">
                              <a:latin typeface="Cambria Math" panose="02040503050406030204" pitchFamily="18" charset="0"/>
                            </a:rPr>
                            <m:t> </m:t>
                          </m:r>
                        </m:e>
                      </m:nary>
                      <m:r>
                        <m:rPr>
                          <m:sty m:val="p"/>
                        </m:rPr>
                        <a:rPr lang="en-US" altLang="ja-JP" sz="1200">
                          <a:latin typeface="Cambria Math" panose="02040503050406030204" pitchFamily="18" charset="0"/>
                        </a:rPr>
                        <m:t>CE</m:t>
                      </m:r>
                      <m:d>
                        <m:dPr>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𝑓</m:t>
                              </m:r>
                            </m:e>
                            <m:sub>
                              <m:r>
                                <a:rPr lang="ja-JP" altLang="en-US" sz="1200" i="1">
                                  <a:latin typeface="Cambria Math" panose="02040503050406030204" pitchFamily="18" charset="0"/>
                                </a:rPr>
                                <m:t>𝑘</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r>
                                <a:rPr lang="en-US" altLang="ja-JP" sz="1200" i="1">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𝜃</m:t>
                                  </m:r>
                                </m:e>
                                <m:sub>
                                  <m:r>
                                    <a:rPr lang="ja-JP" altLang="en-US" sz="1200" i="1">
                                      <a:latin typeface="Cambria Math" panose="02040503050406030204" pitchFamily="18" charset="0"/>
                                    </a:rPr>
                                    <m:t>𝑘</m:t>
                                  </m:r>
                                </m:sub>
                              </m:sSub>
                            </m:e>
                          </m:d>
                          <m:r>
                            <a:rPr lang="en-US" altLang="ja-JP" sz="1200" i="1">
                              <a:latin typeface="Cambria Math" panose="02040503050406030204" pitchFamily="18" charset="0"/>
                            </a:rPr>
                            <m:t>,</m:t>
                          </m:r>
                          <m:r>
                            <a:rPr lang="ja-JP" altLang="en-US" sz="1200" i="1">
                              <a:latin typeface="Cambria Math" panose="02040503050406030204" pitchFamily="18" charset="0"/>
                            </a:rPr>
                            <m:t>𝑦</m:t>
                          </m:r>
                        </m:e>
                      </m:d>
                    </m:oMath>
                  </m:oMathPara>
                </a14:m>
                <a:endParaRPr lang="ja-JP" altLang="ja-JP" sz="1200" dirty="0"/>
              </a:p>
            </p:txBody>
          </p:sp>
        </mc:Choice>
        <mc:Fallback xmlns="">
          <p:sp>
            <p:nvSpPr>
              <p:cNvPr id="68" name="テキスト ボックス 67">
                <a:extLst>
                  <a:ext uri="{FF2B5EF4-FFF2-40B4-BE49-F238E27FC236}">
                    <a16:creationId xmlns:a16="http://schemas.microsoft.com/office/drawing/2014/main" id="{D8208859-5AD5-1360-0E77-747D18D693A1}"/>
                  </a:ext>
                </a:extLst>
              </p:cNvPr>
              <p:cNvSpPr txBox="1">
                <a:spLocks noRot="1" noChangeAspect="1" noMove="1" noResize="1" noEditPoints="1" noAdjustHandles="1" noChangeArrowheads="1" noChangeShapeType="1" noTextEdit="1"/>
              </p:cNvSpPr>
              <p:nvPr/>
            </p:nvSpPr>
            <p:spPr>
              <a:xfrm>
                <a:off x="5297737" y="4627232"/>
                <a:ext cx="2712299" cy="564322"/>
              </a:xfrm>
              <a:prstGeom prst="rect">
                <a:avLst/>
              </a:prstGeom>
              <a:blipFill>
                <a:blip r:embed="rId14"/>
                <a:stretch>
                  <a:fillRect t="-110753" b="-151613"/>
                </a:stretch>
              </a:blipFill>
            </p:spPr>
            <p:txBody>
              <a:bodyPr/>
              <a:lstStyle/>
              <a:p>
                <a:r>
                  <a:rPr lang="ja-JP" altLang="en-US">
                    <a:noFill/>
                  </a:rPr>
                  <a:t> </a:t>
                </a:r>
              </a:p>
            </p:txBody>
          </p:sp>
        </mc:Fallback>
      </mc:AlternateContent>
      <p:sp>
        <p:nvSpPr>
          <p:cNvPr id="140" name="四角形: 角を丸くする 139">
            <a:extLst>
              <a:ext uri="{FF2B5EF4-FFF2-40B4-BE49-F238E27FC236}">
                <a16:creationId xmlns:a16="http://schemas.microsoft.com/office/drawing/2014/main" id="{8ECE994B-803A-1918-B067-C54410E3110F}"/>
              </a:ext>
            </a:extLst>
          </p:cNvPr>
          <p:cNvSpPr/>
          <p:nvPr/>
        </p:nvSpPr>
        <p:spPr>
          <a:xfrm>
            <a:off x="7668398" y="2363453"/>
            <a:ext cx="4081272" cy="752584"/>
          </a:xfrm>
          <a:prstGeom prst="roundRect">
            <a:avLst>
              <a:gd name="adj" fmla="val 689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p:pic>
        <p:nvPicPr>
          <p:cNvPr id="102" name="図 101">
            <a:extLst>
              <a:ext uri="{FF2B5EF4-FFF2-40B4-BE49-F238E27FC236}">
                <a16:creationId xmlns:a16="http://schemas.microsoft.com/office/drawing/2014/main" id="{812C9DE0-B49A-5506-0C2C-8CBC04C21DB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3995" y="1458815"/>
            <a:ext cx="382343" cy="383216"/>
          </a:xfrm>
          <a:prstGeom prst="rect">
            <a:avLst/>
          </a:prstGeom>
        </p:spPr>
      </p:pic>
      <p:sp>
        <p:nvSpPr>
          <p:cNvPr id="120" name="テキスト ボックス 119">
            <a:extLst>
              <a:ext uri="{FF2B5EF4-FFF2-40B4-BE49-F238E27FC236}">
                <a16:creationId xmlns:a16="http://schemas.microsoft.com/office/drawing/2014/main" id="{633DFC88-A122-50C8-962C-0C55E256DE24}"/>
              </a:ext>
            </a:extLst>
          </p:cNvPr>
          <p:cNvSpPr txBox="1"/>
          <p:nvPr/>
        </p:nvSpPr>
        <p:spPr>
          <a:xfrm>
            <a:off x="8038508" y="1654857"/>
            <a:ext cx="1097280" cy="600164"/>
          </a:xfrm>
          <a:prstGeom prst="rect">
            <a:avLst/>
          </a:prstGeom>
          <a:noFill/>
        </p:spPr>
        <p:txBody>
          <a:bodyPr wrap="square" rtlCol="0">
            <a:spAutoFit/>
          </a:bodyPr>
          <a:lstStyle/>
          <a:p>
            <a:pPr algn="ctr"/>
            <a:r>
              <a:rPr kumimoji="1" lang="ja-JP" altLang="en-US" sz="1100" dirty="0"/>
              <a:t>更新済み</a:t>
            </a:r>
            <a:endParaRPr kumimoji="1" lang="en-US" altLang="ja-JP" sz="1100" dirty="0"/>
          </a:p>
          <a:p>
            <a:pPr algn="ctr"/>
            <a:r>
              <a:rPr lang="ja-JP" altLang="en-US" sz="1100" dirty="0"/>
              <a:t>基盤モデル</a:t>
            </a:r>
            <a:endParaRPr lang="en-US" altLang="ja-JP" sz="1100" dirty="0"/>
          </a:p>
          <a:p>
            <a:pPr algn="ctr"/>
            <a:r>
              <a:rPr lang="ja-JP" altLang="en-US" sz="1100" dirty="0"/>
              <a:t>＋基盤</a:t>
            </a:r>
            <a:r>
              <a:rPr lang="en-US" altLang="ja-JP" sz="1100" dirty="0" err="1"/>
              <a:t>LoRA</a:t>
            </a:r>
            <a:endParaRPr kumimoji="1" lang="ja-JP" altLang="en-US" sz="1600" dirty="0"/>
          </a:p>
        </p:txBody>
      </p:sp>
      <p:sp>
        <p:nvSpPr>
          <p:cNvPr id="122" name="矢印: 右 121">
            <a:extLst>
              <a:ext uri="{FF2B5EF4-FFF2-40B4-BE49-F238E27FC236}">
                <a16:creationId xmlns:a16="http://schemas.microsoft.com/office/drawing/2014/main" id="{B6912E5F-2C0A-AA4B-2240-0817EB8934FA}"/>
              </a:ext>
            </a:extLst>
          </p:cNvPr>
          <p:cNvSpPr/>
          <p:nvPr/>
        </p:nvSpPr>
        <p:spPr>
          <a:xfrm>
            <a:off x="9013868" y="1299984"/>
            <a:ext cx="1060174" cy="9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4" name="テキスト ボックス 123">
            <a:extLst>
              <a:ext uri="{FF2B5EF4-FFF2-40B4-BE49-F238E27FC236}">
                <a16:creationId xmlns:a16="http://schemas.microsoft.com/office/drawing/2014/main" id="{BB58BD06-830F-5A0D-3390-89733AFE563D}"/>
              </a:ext>
            </a:extLst>
          </p:cNvPr>
          <p:cNvSpPr txBox="1"/>
          <p:nvPr/>
        </p:nvSpPr>
        <p:spPr>
          <a:xfrm>
            <a:off x="9013868" y="1056775"/>
            <a:ext cx="1097280" cy="261610"/>
          </a:xfrm>
          <a:prstGeom prst="rect">
            <a:avLst/>
          </a:prstGeom>
          <a:noFill/>
        </p:spPr>
        <p:txBody>
          <a:bodyPr wrap="square" rtlCol="0">
            <a:spAutoFit/>
          </a:bodyPr>
          <a:lstStyle/>
          <a:p>
            <a:pPr algn="ctr"/>
            <a:r>
              <a:rPr kumimoji="1" lang="ja-JP" altLang="en-US" sz="1100" dirty="0"/>
              <a:t>前向き推論</a:t>
            </a:r>
            <a:endParaRPr kumimoji="1" lang="ja-JP" altLang="en-US" sz="1600" dirty="0"/>
          </a:p>
        </p:txBody>
      </p:sp>
      <p:pic>
        <p:nvPicPr>
          <p:cNvPr id="126" name="グラフィックス 125" descr="データベース 枠線">
            <a:extLst>
              <a:ext uri="{FF2B5EF4-FFF2-40B4-BE49-F238E27FC236}">
                <a16:creationId xmlns:a16="http://schemas.microsoft.com/office/drawing/2014/main" id="{6C2D24EE-FA57-A682-3CD0-D2C2A0C596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10542" y="1393370"/>
            <a:ext cx="436942" cy="436942"/>
          </a:xfrm>
          <a:prstGeom prst="rect">
            <a:avLst/>
          </a:prstGeom>
        </p:spPr>
      </p:pic>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C62AB540-4E2D-1283-3E5D-5D728A452FCB}"/>
                  </a:ext>
                </a:extLst>
              </p:cNvPr>
              <p:cNvSpPr txBox="1"/>
              <p:nvPr/>
            </p:nvSpPr>
            <p:spPr>
              <a:xfrm>
                <a:off x="9936860" y="1352300"/>
                <a:ext cx="1541779" cy="600164"/>
              </a:xfrm>
              <a:prstGeom prst="rect">
                <a:avLst/>
              </a:prstGeom>
              <a:noFill/>
            </p:spPr>
            <p:txBody>
              <a:bodyPr wrap="square" rtlCol="0">
                <a:spAutoFit/>
              </a:bodyPr>
              <a:lstStyle/>
              <a:p>
                <a:pPr algn="ctr"/>
                <a:r>
                  <a:rPr kumimoji="1" lang="ja-JP" altLang="en-US" sz="1100" dirty="0"/>
                  <a:t>サンプル </a:t>
                </a:r>
                <a:r>
                  <a:rPr kumimoji="1" lang="en-US" altLang="ja-JP" sz="1100" dirty="0"/>
                  <a:t>ID </a:t>
                </a:r>
                <a:r>
                  <a:rPr kumimoji="1" lang="ja-JP" altLang="en-US" sz="1100" dirty="0"/>
                  <a:t>と</a:t>
                </a:r>
                <a:endParaRPr kumimoji="1" lang="en-US" altLang="ja-JP" sz="1100" dirty="0"/>
              </a:p>
              <a:p>
                <a:pPr algn="ctr"/>
                <a:r>
                  <a:rPr kumimoji="1" lang="ja-JP" altLang="en-US" sz="1100" dirty="0"/>
                  <a:t> 基盤 </a:t>
                </a:r>
                <a:r>
                  <a:rPr kumimoji="1" lang="en-US" altLang="ja-JP" sz="1100" dirty="0"/>
                  <a:t>logits</a:t>
                </a:r>
                <a:r>
                  <a:rPr lang="ja-JP" altLang="en-US" sz="1100" dirty="0"/>
                  <a:t> </a:t>
                </a:r>
                <a14:m>
                  <m:oMath xmlns:m="http://schemas.openxmlformats.org/officeDocument/2006/math">
                    <m:sSub>
                      <m:sSubPr>
                        <m:ctrlPr>
                          <a:rPr lang="en-US" altLang="ja-JP" sz="1100" b="0" i="1" smtClean="0">
                            <a:latin typeface="Cambria Math" panose="02040503050406030204" pitchFamily="18" charset="0"/>
                          </a:rPr>
                        </m:ctrlPr>
                      </m:sSubPr>
                      <m:e>
                        <m:r>
                          <a:rPr lang="en-US" altLang="ja-JP" sz="1100" b="0" i="1" smtClean="0">
                            <a:latin typeface="Cambria Math" panose="02040503050406030204" pitchFamily="18" charset="0"/>
                          </a:rPr>
                          <m:t>𝑧</m:t>
                        </m:r>
                      </m:e>
                      <m:sub>
                        <m:r>
                          <a:rPr lang="en-US" altLang="ja-JP" sz="1100" b="0" i="1" smtClean="0">
                            <a:latin typeface="Cambria Math" panose="02040503050406030204" pitchFamily="18" charset="0"/>
                          </a:rPr>
                          <m:t>𝑏𝑎𝑠𝑒</m:t>
                        </m:r>
                      </m:sub>
                    </m:sSub>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r>
                  <a:rPr kumimoji="1" lang="ja-JP" altLang="en-US" sz="1100" dirty="0"/>
                  <a:t>を保存</a:t>
                </a:r>
                <a:endParaRPr kumimoji="1" lang="ja-JP" altLang="en-US" sz="1600" dirty="0"/>
              </a:p>
            </p:txBody>
          </p:sp>
        </mc:Choice>
        <mc:Fallback xmlns="">
          <p:sp>
            <p:nvSpPr>
              <p:cNvPr id="128" name="テキスト ボックス 127">
                <a:extLst>
                  <a:ext uri="{FF2B5EF4-FFF2-40B4-BE49-F238E27FC236}">
                    <a16:creationId xmlns:a16="http://schemas.microsoft.com/office/drawing/2014/main" id="{C62AB540-4E2D-1283-3E5D-5D728A452FCB}"/>
                  </a:ext>
                </a:extLst>
              </p:cNvPr>
              <p:cNvSpPr txBox="1">
                <a:spLocks noRot="1" noChangeAspect="1" noMove="1" noResize="1" noEditPoints="1" noAdjustHandles="1" noChangeArrowheads="1" noChangeShapeType="1" noTextEdit="1"/>
              </p:cNvSpPr>
              <p:nvPr/>
            </p:nvSpPr>
            <p:spPr>
              <a:xfrm>
                <a:off x="9936860" y="1352300"/>
                <a:ext cx="1541779" cy="600164"/>
              </a:xfrm>
              <a:prstGeom prst="rect">
                <a:avLst/>
              </a:prstGeom>
              <a:blipFill>
                <a:blip r:embed="rId16"/>
                <a:stretch>
                  <a:fillRect t="-2041" b="-510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0" name="テキスト ボックス 129">
                <a:extLst>
                  <a:ext uri="{FF2B5EF4-FFF2-40B4-BE49-F238E27FC236}">
                    <a16:creationId xmlns:a16="http://schemas.microsoft.com/office/drawing/2014/main" id="{D354EBC2-9C44-B544-F207-5B2CC2A483D8}"/>
                  </a:ext>
                </a:extLst>
              </p:cNvPr>
              <p:cNvSpPr txBox="1"/>
              <p:nvPr/>
            </p:nvSpPr>
            <p:spPr>
              <a:xfrm>
                <a:off x="8922831" y="1789922"/>
                <a:ext cx="1238101" cy="566502"/>
              </a:xfrm>
              <a:prstGeom prst="rect">
                <a:avLst/>
              </a:prstGeom>
              <a:noFill/>
            </p:spPr>
            <p:txBody>
              <a:bodyPr wrap="square">
                <a:spAutoFit/>
              </a:bodyPr>
              <a:lstStyle/>
              <a:p>
                <a:pPr algn="ctr"/>
                <a:r>
                  <a:rPr lang="ja-JP" altLang="en-US" sz="1000" dirty="0"/>
                  <a:t>公開整合セットの各サンプル</a:t>
                </a:r>
                <a:endParaRPr lang="en-US" altLang="ja-JP" sz="1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dirty="0"/>
              </a:p>
            </p:txBody>
          </p:sp>
        </mc:Choice>
        <mc:Fallback xmlns="">
          <p:sp>
            <p:nvSpPr>
              <p:cNvPr id="130" name="テキスト ボックス 129">
                <a:extLst>
                  <a:ext uri="{FF2B5EF4-FFF2-40B4-BE49-F238E27FC236}">
                    <a16:creationId xmlns:a16="http://schemas.microsoft.com/office/drawing/2014/main" id="{D354EBC2-9C44-B544-F207-5B2CC2A483D8}"/>
                  </a:ext>
                </a:extLst>
              </p:cNvPr>
              <p:cNvSpPr txBox="1">
                <a:spLocks noRot="1" noChangeAspect="1" noMove="1" noResize="1" noEditPoints="1" noAdjustHandles="1" noChangeArrowheads="1" noChangeShapeType="1" noTextEdit="1"/>
              </p:cNvSpPr>
              <p:nvPr/>
            </p:nvSpPr>
            <p:spPr>
              <a:xfrm>
                <a:off x="8922831" y="1789922"/>
                <a:ext cx="1238101" cy="566502"/>
              </a:xfrm>
              <a:prstGeom prst="rect">
                <a:avLst/>
              </a:prstGeom>
              <a:blipFill>
                <a:blip r:embed="rId7"/>
                <a:stretch>
                  <a:fillRect/>
                </a:stretch>
              </a:blipFill>
            </p:spPr>
            <p:txBody>
              <a:bodyPr/>
              <a:lstStyle/>
              <a:p>
                <a:r>
                  <a:rPr lang="ja-JP" altLang="en-US">
                    <a:noFill/>
                  </a:rPr>
                  <a:t> </a:t>
                </a:r>
              </a:p>
            </p:txBody>
          </p:sp>
        </mc:Fallback>
      </mc:AlternateContent>
      <p:pic>
        <p:nvPicPr>
          <p:cNvPr id="132" name="図 131">
            <a:extLst>
              <a:ext uri="{FF2B5EF4-FFF2-40B4-BE49-F238E27FC236}">
                <a16:creationId xmlns:a16="http://schemas.microsoft.com/office/drawing/2014/main" id="{7DF569B4-ABE2-B390-E7C3-CA7170DC3D1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395904" y="1202924"/>
            <a:ext cx="382343" cy="383216"/>
          </a:xfrm>
          <a:prstGeom prst="rect">
            <a:avLst/>
          </a:prstGeom>
        </p:spPr>
      </p:pic>
      <p:sp>
        <p:nvSpPr>
          <p:cNvPr id="134" name="テキスト ボックス 133">
            <a:extLst>
              <a:ext uri="{FF2B5EF4-FFF2-40B4-BE49-F238E27FC236}">
                <a16:creationId xmlns:a16="http://schemas.microsoft.com/office/drawing/2014/main" id="{C7CF27AD-8467-1F89-5F0E-C8561363FCB5}"/>
              </a:ext>
            </a:extLst>
          </p:cNvPr>
          <p:cNvSpPr txBox="1"/>
          <p:nvPr/>
        </p:nvSpPr>
        <p:spPr>
          <a:xfrm>
            <a:off x="7502270" y="2363452"/>
            <a:ext cx="4336456" cy="276999"/>
          </a:xfrm>
          <a:prstGeom prst="rect">
            <a:avLst/>
          </a:prstGeom>
          <a:noFill/>
        </p:spPr>
        <p:txBody>
          <a:bodyPr wrap="square" rtlCol="0">
            <a:spAutoFit/>
          </a:bodyPr>
          <a:lstStyle/>
          <a:p>
            <a:pPr algn="ctr"/>
            <a:r>
              <a:rPr kumimoji="1" lang="en-US" altLang="ja-JP" sz="1200" dirty="0"/>
              <a:t>KL(teacher || </a:t>
            </a:r>
            <a:r>
              <a:rPr kumimoji="1" lang="ja-JP" altLang="en-US" sz="1200" dirty="0"/>
              <a:t>基盤モデル</a:t>
            </a:r>
            <a:r>
              <a:rPr kumimoji="1" lang="en-US" altLang="ja-JP" sz="1200" dirty="0"/>
              <a:t>) × T²</a:t>
            </a:r>
            <a:r>
              <a:rPr kumimoji="1" lang="ja-JP" altLang="en-US" sz="1200" dirty="0"/>
              <a:t>により </a:t>
            </a:r>
            <a:r>
              <a:rPr kumimoji="1" lang="en-US" altLang="ja-JP" sz="1200" dirty="0" err="1"/>
              <a:t>Lpred</a:t>
            </a:r>
            <a:r>
              <a:rPr kumimoji="1" lang="en-US" altLang="ja-JP" sz="1200" dirty="0"/>
              <a:t> </a:t>
            </a:r>
            <a:r>
              <a:rPr kumimoji="1" lang="ja-JP" altLang="en-US" sz="1200" dirty="0"/>
              <a:t>を計算する。</a:t>
            </a:r>
            <a:endParaRPr kumimoji="1" lang="ja-JP" altLang="en-US" dirty="0"/>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AEA4B0FE-87AE-69CD-4CD7-3E422FFE1BBE}"/>
                  </a:ext>
                </a:extLst>
              </p:cNvPr>
              <p:cNvSpPr txBox="1"/>
              <p:nvPr/>
            </p:nvSpPr>
            <p:spPr>
              <a:xfrm>
                <a:off x="8023576" y="2566062"/>
                <a:ext cx="3480816" cy="598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200" i="1" smtClean="0">
                              <a:latin typeface="Cambria Math" panose="02040503050406030204" pitchFamily="18" charset="0"/>
                            </a:rPr>
                          </m:ctrlPr>
                        </m:sSubPr>
                        <m:e>
                          <m:r>
                            <a:rPr lang="ja-JP" altLang="en-US" sz="1200">
                              <a:latin typeface="Cambria Math" panose="02040503050406030204" pitchFamily="18" charset="0"/>
                            </a:rPr>
                            <m:t>ℒ</m:t>
                          </m:r>
                        </m:e>
                        <m:sub>
                          <m:r>
                            <a:rPr lang="ja-JP" altLang="en-US" sz="1200" i="1">
                              <a:latin typeface="Cambria Math" panose="02040503050406030204" pitchFamily="18" charset="0"/>
                            </a:rPr>
                            <m:t>𝑝𝑟𝑒𝑑</m:t>
                          </m:r>
                        </m:sub>
                      </m:sSub>
                      <m:r>
                        <a:rPr lang="ja-JP" altLang="en-US" sz="1200" i="0">
                          <a:latin typeface="Cambria Math" panose="02040503050406030204" pitchFamily="18" charset="0"/>
                        </a:rPr>
                        <m:t>=</m:t>
                      </m:r>
                      <m:f>
                        <m:fPr>
                          <m:ctrlPr>
                            <a:rPr lang="ja-JP" altLang="en-US" sz="1200" i="1">
                              <a:latin typeface="Cambria Math" panose="02040503050406030204" pitchFamily="18" charset="0"/>
                            </a:rPr>
                          </m:ctrlPr>
                        </m:fPr>
                        <m:num>
                          <m:sSup>
                            <m:sSupPr>
                              <m:ctrlPr>
                                <a:rPr lang="ja-JP" altLang="en-US" sz="1200" i="1">
                                  <a:latin typeface="Cambria Math" panose="02040503050406030204" pitchFamily="18" charset="0"/>
                                </a:rPr>
                              </m:ctrlPr>
                            </m:sSupPr>
                            <m:e>
                              <m:r>
                                <a:rPr lang="ja-JP" altLang="en-US" sz="1200" i="1">
                                  <a:latin typeface="Cambria Math" panose="02040503050406030204" pitchFamily="18" charset="0"/>
                                </a:rPr>
                                <m:t>𝑇</m:t>
                              </m:r>
                            </m:e>
                            <m:sup>
                              <m:r>
                                <a:rPr lang="ja-JP" altLang="en-US" sz="1200" i="0">
                                  <a:latin typeface="Cambria Math" panose="02040503050406030204" pitchFamily="18" charset="0"/>
                                </a:rPr>
                                <m:t>2</m:t>
                              </m:r>
                            </m:sup>
                          </m:sSup>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e>
                          </m:d>
                        </m:den>
                      </m:f>
                      <m:nary>
                        <m:naryPr>
                          <m:chr m:val="∑"/>
                          <m:limLoc m:val="undOvr"/>
                          <m:grow m:val="on"/>
                          <m:supHide m:val="on"/>
                          <m:ctrlPr>
                            <a:rPr lang="ja-JP" altLang="en-US" sz="1200" i="1">
                              <a:latin typeface="Cambria Math" panose="02040503050406030204" pitchFamily="18" charset="0"/>
                            </a:rPr>
                          </m:ctrlPr>
                        </m:naryPr>
                        <m:sub>
                          <m:r>
                            <a:rPr lang="ja-JP" altLang="en-US" sz="1200" i="1">
                              <a:latin typeface="Cambria Math" panose="02040503050406030204" pitchFamily="18" charset="0"/>
                            </a:rPr>
                            <m:t>𝑥</m:t>
                          </m:r>
                          <m:r>
                            <a:rPr lang="ja-JP" altLang="en-US" sz="1200" i="0">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sub>
                        <m:sup/>
                        <m:e>
                          <m:r>
                            <a:rPr lang="ja-JP" altLang="en-US" sz="1200" i="0">
                              <a:latin typeface="Cambria Math" panose="02040503050406030204" pitchFamily="18" charset="0"/>
                            </a:rPr>
                            <m:t> </m:t>
                          </m:r>
                        </m:e>
                      </m:nary>
                      <m:r>
                        <m:rPr>
                          <m:sty m:val="p"/>
                        </m:rPr>
                        <a:rPr lang="ja-JP" altLang="en-US" sz="1200" i="0">
                          <a:latin typeface="Cambria Math" panose="02040503050406030204" pitchFamily="18" charset="0"/>
                        </a:rPr>
                        <m:t>KL</m:t>
                      </m:r>
                      <m:d>
                        <m:dPr>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ja-JP" altLang="en-US" sz="1200" i="1">
                                  <a:latin typeface="Cambria Math" panose="02040503050406030204" pitchFamily="18" charset="0"/>
                                </a:rPr>
                                <m:t>𝑎𝑔𝑔</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ja-JP" altLang="en-US" sz="1200" i="1">
                                      <a:latin typeface="Cambria Math" panose="02040503050406030204" pitchFamily="18" charset="0"/>
                                    </a:rPr>
                                    <m:t>𝑏𝑎𝑠𝑒</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e>
                          </m:d>
                        </m:e>
                      </m:d>
                    </m:oMath>
                  </m:oMathPara>
                </a14:m>
                <a:endParaRPr lang="ja-JP" altLang="en-US" sz="1200" dirty="0"/>
              </a:p>
            </p:txBody>
          </p:sp>
        </mc:Choice>
        <mc:Fallback xmlns="">
          <p:sp>
            <p:nvSpPr>
              <p:cNvPr id="138" name="テキスト ボックス 137">
                <a:extLst>
                  <a:ext uri="{FF2B5EF4-FFF2-40B4-BE49-F238E27FC236}">
                    <a16:creationId xmlns:a16="http://schemas.microsoft.com/office/drawing/2014/main" id="{AEA4B0FE-87AE-69CD-4CD7-3E422FFE1BBE}"/>
                  </a:ext>
                </a:extLst>
              </p:cNvPr>
              <p:cNvSpPr txBox="1">
                <a:spLocks noRot="1" noChangeAspect="1" noMove="1" noResize="1" noEditPoints="1" noAdjustHandles="1" noChangeArrowheads="1" noChangeShapeType="1" noTextEdit="1"/>
              </p:cNvSpPr>
              <p:nvPr/>
            </p:nvSpPr>
            <p:spPr>
              <a:xfrm>
                <a:off x="8023576" y="2566062"/>
                <a:ext cx="3480816" cy="598818"/>
              </a:xfrm>
              <a:prstGeom prst="rect">
                <a:avLst/>
              </a:prstGeom>
              <a:blipFill>
                <a:blip r:embed="rId17"/>
                <a:stretch>
                  <a:fillRect t="-103061" b="-140816"/>
                </a:stretch>
              </a:blipFill>
            </p:spPr>
            <p:txBody>
              <a:bodyPr/>
              <a:lstStyle/>
              <a:p>
                <a:r>
                  <a:rPr lang="ja-JP" altLang="en-US">
                    <a:noFill/>
                  </a:rPr>
                  <a:t> </a:t>
                </a:r>
              </a:p>
            </p:txBody>
          </p:sp>
        </mc:Fallback>
      </mc:AlternateContent>
      <p:pic>
        <p:nvPicPr>
          <p:cNvPr id="142" name="図 141">
            <a:extLst>
              <a:ext uri="{FF2B5EF4-FFF2-40B4-BE49-F238E27FC236}">
                <a16:creationId xmlns:a16="http://schemas.microsoft.com/office/drawing/2014/main" id="{0427A672-6B22-0A99-C547-0BC3091C865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76314" y="4290829"/>
            <a:ext cx="373625" cy="375335"/>
          </a:xfrm>
          <a:prstGeom prst="rect">
            <a:avLst/>
          </a:prstGeom>
        </p:spPr>
      </p:pic>
      <p:cxnSp>
        <p:nvCxnSpPr>
          <p:cNvPr id="143" name="直線コネクタ 142">
            <a:extLst>
              <a:ext uri="{FF2B5EF4-FFF2-40B4-BE49-F238E27FC236}">
                <a16:creationId xmlns:a16="http://schemas.microsoft.com/office/drawing/2014/main" id="{EBBF20DB-8F87-F09F-818B-264839F79AA6}"/>
              </a:ext>
            </a:extLst>
          </p:cNvPr>
          <p:cNvCxnSpPr>
            <a:cxnSpLocks/>
          </p:cNvCxnSpPr>
          <p:nvPr/>
        </p:nvCxnSpPr>
        <p:spPr>
          <a:xfrm flipV="1">
            <a:off x="809806" y="2684533"/>
            <a:ext cx="3249114" cy="10805"/>
          </a:xfrm>
          <a:prstGeom prst="line">
            <a:avLst/>
          </a:prstGeom>
          <a:ln>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146" name="四角形: 角を丸くする 145">
            <a:extLst>
              <a:ext uri="{FF2B5EF4-FFF2-40B4-BE49-F238E27FC236}">
                <a16:creationId xmlns:a16="http://schemas.microsoft.com/office/drawing/2014/main" id="{DD0F4B1F-492C-0028-CD8B-69D7DC5B3906}"/>
              </a:ext>
            </a:extLst>
          </p:cNvPr>
          <p:cNvSpPr/>
          <p:nvPr/>
        </p:nvSpPr>
        <p:spPr>
          <a:xfrm>
            <a:off x="886350" y="5441063"/>
            <a:ext cx="3622352" cy="707069"/>
          </a:xfrm>
          <a:prstGeom prst="roundRect">
            <a:avLst>
              <a:gd name="adj" fmla="val 6892"/>
            </a:avLst>
          </a:prstGeom>
          <a:solidFill>
            <a:srgbClr val="FDF3ED"/>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p:sp>
        <p:nvSpPr>
          <p:cNvPr id="148" name="テキスト ボックス 147">
            <a:extLst>
              <a:ext uri="{FF2B5EF4-FFF2-40B4-BE49-F238E27FC236}">
                <a16:creationId xmlns:a16="http://schemas.microsoft.com/office/drawing/2014/main" id="{E38E7402-BF84-D7E6-D17C-4DA8A1870F20}"/>
              </a:ext>
            </a:extLst>
          </p:cNvPr>
          <p:cNvSpPr txBox="1"/>
          <p:nvPr/>
        </p:nvSpPr>
        <p:spPr>
          <a:xfrm>
            <a:off x="837361" y="5442465"/>
            <a:ext cx="3801182" cy="261610"/>
          </a:xfrm>
          <a:prstGeom prst="rect">
            <a:avLst/>
          </a:prstGeom>
          <a:noFill/>
        </p:spPr>
        <p:txBody>
          <a:bodyPr wrap="square" rtlCol="0">
            <a:spAutoFit/>
          </a:bodyPr>
          <a:lstStyle/>
          <a:p>
            <a:pPr algn="ctr"/>
            <a:r>
              <a:rPr kumimoji="1" lang="en-US" altLang="ja-JP" sz="1100" dirty="0"/>
              <a:t>KL(</a:t>
            </a:r>
            <a:r>
              <a:rPr kumimoji="1" lang="ja-JP" altLang="en-US" sz="1100" dirty="0"/>
              <a:t>基盤モデル</a:t>
            </a:r>
            <a:r>
              <a:rPr kumimoji="1" lang="en-US" altLang="ja-JP" sz="1100" dirty="0"/>
              <a:t> || </a:t>
            </a:r>
            <a:r>
              <a:rPr kumimoji="1" lang="ja-JP" altLang="en-US" sz="1100" dirty="0"/>
              <a:t>端末モデル</a:t>
            </a:r>
            <a:r>
              <a:rPr kumimoji="1" lang="en-US" altLang="ja-JP" sz="1100" dirty="0"/>
              <a:t>) × T²</a:t>
            </a:r>
            <a:r>
              <a:rPr kumimoji="1" lang="ja-JP" altLang="en-US" sz="1100" dirty="0"/>
              <a:t>により </a:t>
            </a:r>
            <a:r>
              <a:rPr kumimoji="1" lang="en-US" altLang="ja-JP" sz="1100" dirty="0" err="1"/>
              <a:t>Ldist</a:t>
            </a:r>
            <a:r>
              <a:rPr kumimoji="1" lang="en-US" altLang="ja-JP" sz="1100" dirty="0"/>
              <a:t> </a:t>
            </a:r>
            <a:r>
              <a:rPr kumimoji="1" lang="ja-JP" altLang="en-US" sz="1100" dirty="0"/>
              <a:t>を計算する。</a:t>
            </a:r>
            <a:endParaRPr kumimoji="1" lang="ja-JP" altLang="en-US" sz="1600" dirty="0"/>
          </a:p>
        </p:txBody>
      </p:sp>
      <mc:AlternateContent xmlns:mc="http://schemas.openxmlformats.org/markup-compatibility/2006" xmlns:a14="http://schemas.microsoft.com/office/drawing/2010/main">
        <mc:Choice Requires="a14">
          <p:sp>
            <p:nvSpPr>
              <p:cNvPr id="150" name="テキスト ボックス 149">
                <a:extLst>
                  <a:ext uri="{FF2B5EF4-FFF2-40B4-BE49-F238E27FC236}">
                    <a16:creationId xmlns:a16="http://schemas.microsoft.com/office/drawing/2014/main" id="{7696D6FB-BBC9-EDA4-49CE-1F1B0359D719}"/>
                  </a:ext>
                </a:extLst>
              </p:cNvPr>
              <p:cNvSpPr txBox="1"/>
              <p:nvPr/>
            </p:nvSpPr>
            <p:spPr>
              <a:xfrm>
                <a:off x="963573" y="5594177"/>
                <a:ext cx="3480816" cy="598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ja-JP" sz="1200" b="0" i="1" smtClean="0">
                              <a:latin typeface="Cambria Math" panose="02040503050406030204" pitchFamily="18" charset="0"/>
                            </a:rPr>
                          </m:ctrlPr>
                        </m:sSubSupPr>
                        <m:e>
                          <m:r>
                            <a:rPr lang="ja-JP" altLang="en-US" sz="1200">
                              <a:latin typeface="Cambria Math" panose="02040503050406030204" pitchFamily="18" charset="0"/>
                            </a:rPr>
                            <m:t>ℒ</m:t>
                          </m:r>
                        </m:e>
                        <m:sub>
                          <m:r>
                            <a:rPr lang="en-US" altLang="ja-JP" sz="1200" b="0" i="1" smtClean="0">
                              <a:latin typeface="Cambria Math" panose="02040503050406030204" pitchFamily="18" charset="0"/>
                            </a:rPr>
                            <m:t>𝑑𝑖𝑠𝑡</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𝑘</m:t>
                          </m:r>
                          <m:r>
                            <a:rPr lang="en-US" altLang="ja-JP" sz="1200" b="0" i="1" smtClean="0">
                              <a:latin typeface="Cambria Math" panose="02040503050406030204" pitchFamily="18" charset="0"/>
                            </a:rPr>
                            <m:t>)</m:t>
                          </m:r>
                        </m:sup>
                      </m:sSubSup>
                      <m:r>
                        <a:rPr lang="ja-JP" altLang="en-US" sz="1200" i="0">
                          <a:latin typeface="Cambria Math" panose="02040503050406030204" pitchFamily="18" charset="0"/>
                        </a:rPr>
                        <m:t>=</m:t>
                      </m:r>
                      <m:f>
                        <m:fPr>
                          <m:ctrlPr>
                            <a:rPr lang="ja-JP" altLang="en-US" sz="1200" i="1">
                              <a:latin typeface="Cambria Math" panose="02040503050406030204" pitchFamily="18" charset="0"/>
                            </a:rPr>
                          </m:ctrlPr>
                        </m:fPr>
                        <m:num>
                          <m:sSup>
                            <m:sSupPr>
                              <m:ctrlPr>
                                <a:rPr lang="ja-JP" altLang="en-US" sz="1200" i="1">
                                  <a:latin typeface="Cambria Math" panose="02040503050406030204" pitchFamily="18" charset="0"/>
                                </a:rPr>
                              </m:ctrlPr>
                            </m:sSupPr>
                            <m:e>
                              <m:r>
                                <a:rPr lang="ja-JP" altLang="en-US" sz="1200" i="1">
                                  <a:latin typeface="Cambria Math" panose="02040503050406030204" pitchFamily="18" charset="0"/>
                                </a:rPr>
                                <m:t>𝑇</m:t>
                              </m:r>
                            </m:e>
                            <m:sup>
                              <m:r>
                                <a:rPr lang="ja-JP" altLang="en-US" sz="1200" i="0">
                                  <a:latin typeface="Cambria Math" panose="02040503050406030204" pitchFamily="18" charset="0"/>
                                </a:rPr>
                                <m:t>2</m:t>
                              </m:r>
                            </m:sup>
                          </m:sSup>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e>
                          </m:d>
                        </m:den>
                      </m:f>
                      <m:nary>
                        <m:naryPr>
                          <m:chr m:val="∑"/>
                          <m:limLoc m:val="undOvr"/>
                          <m:grow m:val="on"/>
                          <m:supHide m:val="on"/>
                          <m:ctrlPr>
                            <a:rPr lang="ja-JP" altLang="en-US" sz="1200" i="1">
                              <a:latin typeface="Cambria Math" panose="02040503050406030204" pitchFamily="18" charset="0"/>
                            </a:rPr>
                          </m:ctrlPr>
                        </m:naryPr>
                        <m:sub>
                          <m:r>
                            <a:rPr lang="ja-JP" altLang="en-US" sz="1200" i="1">
                              <a:latin typeface="Cambria Math" panose="02040503050406030204" pitchFamily="18" charset="0"/>
                            </a:rPr>
                            <m:t>𝑥</m:t>
                          </m:r>
                          <m:r>
                            <a:rPr lang="ja-JP" altLang="en-US" sz="1200" i="0">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sub>
                        <m:sup/>
                        <m:e>
                          <m:r>
                            <a:rPr lang="ja-JP" altLang="en-US" sz="1200" i="0">
                              <a:latin typeface="Cambria Math" panose="02040503050406030204" pitchFamily="18" charset="0"/>
                            </a:rPr>
                            <m:t> </m:t>
                          </m:r>
                        </m:e>
                      </m:nary>
                      <m:r>
                        <m:rPr>
                          <m:sty m:val="p"/>
                        </m:rPr>
                        <a:rPr lang="ja-JP" altLang="en-US" sz="1200" i="0">
                          <a:latin typeface="Cambria Math" panose="02040503050406030204" pitchFamily="18" charset="0"/>
                        </a:rPr>
                        <m:t>KL</m:t>
                      </m:r>
                      <m:d>
                        <m:dPr>
                          <m:ctrlPr>
                            <a:rPr lang="ja-JP" altLang="en-US" sz="1200" i="1">
                              <a:latin typeface="Cambria Math" panose="02040503050406030204" pitchFamily="18" charset="0"/>
                            </a:rPr>
                          </m:ctrlPr>
                        </m:dPr>
                        <m:e>
                          <m:sSubSup>
                            <m:sSubSupPr>
                              <m:ctrlPr>
                                <a:rPr lang="en-US" altLang="ja-JP" sz="1200" b="0" i="1" smtClean="0">
                                  <a:latin typeface="Cambria Math" panose="02040503050406030204" pitchFamily="18" charset="0"/>
                                </a:rPr>
                              </m:ctrlPr>
                            </m:sSubSupPr>
                            <m:e>
                              <m:r>
                                <a:rPr lang="ja-JP" altLang="en-US" sz="1200" i="1">
                                  <a:latin typeface="Cambria Math" panose="02040503050406030204" pitchFamily="18" charset="0"/>
                                </a:rPr>
                                <m:t>𝑝</m:t>
                              </m:r>
                            </m:e>
                            <m:sub>
                              <m:r>
                                <a:rPr lang="en-US" altLang="ja-JP" sz="1200" b="0" i="1" smtClean="0">
                                  <a:latin typeface="Cambria Math" panose="02040503050406030204" pitchFamily="18" charset="0"/>
                                </a:rPr>
                                <m:t>𝑏𝑎𝑠𝑒</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sup>
                          </m:sSub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en-US" altLang="ja-JP" sz="1200" b="0" i="1" smtClean="0">
                                      <a:latin typeface="Cambria Math" panose="02040503050406030204" pitchFamily="18" charset="0"/>
                                    </a:rPr>
                                    <m:t>𝑘</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e>
                          </m:d>
                        </m:e>
                      </m:d>
                    </m:oMath>
                  </m:oMathPara>
                </a14:m>
                <a:endParaRPr lang="ja-JP" altLang="en-US" sz="1200" dirty="0"/>
              </a:p>
            </p:txBody>
          </p:sp>
        </mc:Choice>
        <mc:Fallback xmlns="">
          <p:sp>
            <p:nvSpPr>
              <p:cNvPr id="150" name="テキスト ボックス 149">
                <a:extLst>
                  <a:ext uri="{FF2B5EF4-FFF2-40B4-BE49-F238E27FC236}">
                    <a16:creationId xmlns:a16="http://schemas.microsoft.com/office/drawing/2014/main" id="{7696D6FB-BBC9-EDA4-49CE-1F1B0359D719}"/>
                  </a:ext>
                </a:extLst>
              </p:cNvPr>
              <p:cNvSpPr txBox="1">
                <a:spLocks noRot="1" noChangeAspect="1" noMove="1" noResize="1" noEditPoints="1" noAdjustHandles="1" noChangeArrowheads="1" noChangeShapeType="1" noTextEdit="1"/>
              </p:cNvSpPr>
              <p:nvPr/>
            </p:nvSpPr>
            <p:spPr>
              <a:xfrm>
                <a:off x="963573" y="5594177"/>
                <a:ext cx="3480816" cy="598818"/>
              </a:xfrm>
              <a:prstGeom prst="rect">
                <a:avLst/>
              </a:prstGeom>
              <a:blipFill>
                <a:blip r:embed="rId19"/>
                <a:stretch>
                  <a:fillRect t="-103061" b="-14081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1" name="テキスト ボックス 160">
                <a:extLst>
                  <a:ext uri="{FF2B5EF4-FFF2-40B4-BE49-F238E27FC236}">
                    <a16:creationId xmlns:a16="http://schemas.microsoft.com/office/drawing/2014/main" id="{8F6CAAF6-C381-6543-6C94-FCA87F9F8A67}"/>
                  </a:ext>
                </a:extLst>
              </p:cNvPr>
              <p:cNvSpPr txBox="1"/>
              <p:nvPr/>
            </p:nvSpPr>
            <p:spPr>
              <a:xfrm>
                <a:off x="5284693" y="5389742"/>
                <a:ext cx="2933700" cy="261610"/>
              </a:xfrm>
              <a:prstGeom prst="rect">
                <a:avLst/>
              </a:prstGeom>
              <a:noFill/>
            </p:spPr>
            <p:txBody>
              <a:bodyPr wrap="square">
                <a:spAutoFit/>
              </a:bodyPr>
              <a:lstStyle/>
              <a:p>
                <a:r>
                  <a:rPr lang="ja-JP" altLang="ja-JP" sz="1100" i="0" dirty="0">
                    <a:solidFill>
                      <a:schemeClr val="tx1"/>
                    </a:solidFill>
                    <a:effectLst/>
                    <a:latin typeface="-apple-system"/>
                  </a:rPr>
                  <a:t>クライアント LoRA + 分類ヘッド </a:t>
                </a:r>
                <a14:m>
                  <m:oMath xmlns:m="http://schemas.openxmlformats.org/officeDocument/2006/math">
                    <m:sSub>
                      <m:sSubPr>
                        <m:ctrlPr>
                          <a:rPr lang="ja-JP" altLang="en-US" sz="1100" i="1">
                            <a:solidFill>
                              <a:schemeClr val="tx1"/>
                            </a:solidFill>
                            <a:latin typeface="Cambria Math" panose="02040503050406030204" pitchFamily="18" charset="0"/>
                          </a:rPr>
                        </m:ctrlPr>
                      </m:sSubPr>
                      <m:e>
                        <m:r>
                          <a:rPr lang="ja-JP" altLang="en-US" sz="1100" b="0" i="1">
                            <a:solidFill>
                              <a:schemeClr val="tx1"/>
                            </a:solidFill>
                            <a:latin typeface="Cambria Math" panose="02040503050406030204" pitchFamily="18" charset="0"/>
                          </a:rPr>
                          <m:t>𝜃</m:t>
                        </m:r>
                      </m:e>
                      <m:sub>
                        <m:r>
                          <a:rPr lang="ja-JP" altLang="en-US" sz="1100" b="0" i="1">
                            <a:solidFill>
                              <a:schemeClr val="tx1"/>
                            </a:solidFill>
                            <a:latin typeface="Cambria Math" panose="02040503050406030204" pitchFamily="18" charset="0"/>
                          </a:rPr>
                          <m:t>𝑘</m:t>
                        </m:r>
                      </m:sub>
                    </m:sSub>
                    <m:r>
                      <a:rPr lang="ja-JP" altLang="en-US" sz="1100" i="1">
                        <a:latin typeface="Cambria Math" panose="02040503050406030204" pitchFamily="18" charset="0"/>
                      </a:rPr>
                      <m:t>の更新</m:t>
                    </m:r>
                  </m:oMath>
                </a14:m>
                <a:endParaRPr lang="ja-JP" altLang="en-US" sz="2400" dirty="0"/>
              </a:p>
            </p:txBody>
          </p:sp>
        </mc:Choice>
        <mc:Fallback xmlns="">
          <p:sp>
            <p:nvSpPr>
              <p:cNvPr id="161" name="テキスト ボックス 160">
                <a:extLst>
                  <a:ext uri="{FF2B5EF4-FFF2-40B4-BE49-F238E27FC236}">
                    <a16:creationId xmlns:a16="http://schemas.microsoft.com/office/drawing/2014/main" id="{8F6CAAF6-C381-6543-6C94-FCA87F9F8A67}"/>
                  </a:ext>
                </a:extLst>
              </p:cNvPr>
              <p:cNvSpPr txBox="1">
                <a:spLocks noRot="1" noChangeAspect="1" noMove="1" noResize="1" noEditPoints="1" noAdjustHandles="1" noChangeArrowheads="1" noChangeShapeType="1" noTextEdit="1"/>
              </p:cNvSpPr>
              <p:nvPr/>
            </p:nvSpPr>
            <p:spPr>
              <a:xfrm>
                <a:off x="5284693" y="5389742"/>
                <a:ext cx="2933700" cy="261610"/>
              </a:xfrm>
              <a:prstGeom prst="rect">
                <a:avLst/>
              </a:prstGeom>
              <a:blipFill>
                <a:blip r:embed="rId10"/>
                <a:stretch>
                  <a:fillRect t="-4651" b="-16279"/>
                </a:stretch>
              </a:blipFill>
            </p:spPr>
            <p:txBody>
              <a:bodyPr/>
              <a:lstStyle/>
              <a:p>
                <a:r>
                  <a:rPr lang="ja-JP" altLang="en-US">
                    <a:noFill/>
                  </a:rPr>
                  <a:t> </a:t>
                </a:r>
              </a:p>
            </p:txBody>
          </p:sp>
        </mc:Fallback>
      </mc:AlternateContent>
      <p:sp>
        <p:nvSpPr>
          <p:cNvPr id="163" name="矢印: 右 162">
            <a:extLst>
              <a:ext uri="{FF2B5EF4-FFF2-40B4-BE49-F238E27FC236}">
                <a16:creationId xmlns:a16="http://schemas.microsoft.com/office/drawing/2014/main" id="{D7C1F675-6471-7756-5226-617B2D4A6D75}"/>
              </a:ext>
            </a:extLst>
          </p:cNvPr>
          <p:cNvSpPr/>
          <p:nvPr/>
        </p:nvSpPr>
        <p:spPr>
          <a:xfrm rot="5400000">
            <a:off x="6533321" y="5223469"/>
            <a:ext cx="246220" cy="168119"/>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165" name="テキスト ボックス 164">
                <a:extLst>
                  <a:ext uri="{FF2B5EF4-FFF2-40B4-BE49-F238E27FC236}">
                    <a16:creationId xmlns:a16="http://schemas.microsoft.com/office/drawing/2014/main" id="{3AE6DE74-5FD0-9895-10C0-84832D1F9CAE}"/>
                  </a:ext>
                </a:extLst>
              </p:cNvPr>
              <p:cNvSpPr txBox="1"/>
              <p:nvPr/>
            </p:nvSpPr>
            <p:spPr>
              <a:xfrm>
                <a:off x="8761553" y="3444396"/>
                <a:ext cx="2058320" cy="307777"/>
              </a:xfrm>
              <a:prstGeom prst="rect">
                <a:avLst/>
              </a:prstGeom>
              <a:noFill/>
            </p:spPr>
            <p:txBody>
              <a:bodyPr wrap="square">
                <a:spAutoFit/>
              </a:bodyPr>
              <a:lstStyle/>
              <a:p>
                <a:r>
                  <a:rPr lang="ja-JP" altLang="en-US" sz="1400" dirty="0">
                    <a:latin typeface="-apple-system"/>
                  </a:rPr>
                  <a:t>基盤</a:t>
                </a:r>
                <a:r>
                  <a:rPr lang="ja-JP" altLang="ja-JP" sz="1400" i="0" dirty="0">
                    <a:solidFill>
                      <a:schemeClr val="tx1"/>
                    </a:solidFill>
                    <a:effectLst/>
                    <a:latin typeface="-apple-system"/>
                  </a:rPr>
                  <a:t> LoRA </a:t>
                </a:r>
                <a:r>
                  <a:rPr lang="ja-JP" altLang="en-US" sz="1400" dirty="0">
                    <a:latin typeface="-apple-system"/>
                  </a:rPr>
                  <a:t> </a:t>
                </a:r>
                <a14:m>
                  <m:oMath xmlns:m="http://schemas.openxmlformats.org/officeDocument/2006/math">
                    <m:sSub>
                      <m:sSubPr>
                        <m:ctrlPr>
                          <a:rPr lang="ja-JP" altLang="en-US" sz="1400" i="1">
                            <a:solidFill>
                              <a:schemeClr val="tx1"/>
                            </a:solidFill>
                            <a:latin typeface="Cambria Math" panose="02040503050406030204" pitchFamily="18" charset="0"/>
                          </a:rPr>
                        </m:ctrlPr>
                      </m:sSubPr>
                      <m:e>
                        <m:r>
                          <a:rPr lang="ja-JP" altLang="en-US" sz="1400" b="0" i="1">
                            <a:solidFill>
                              <a:schemeClr val="tx1"/>
                            </a:solidFill>
                            <a:latin typeface="Cambria Math" panose="02040503050406030204" pitchFamily="18" charset="0"/>
                          </a:rPr>
                          <m:t>𝜃</m:t>
                        </m:r>
                      </m:e>
                      <m:sub>
                        <m:r>
                          <a:rPr lang="en-US" altLang="ja-JP" sz="1400" b="0" i="1" smtClean="0">
                            <a:solidFill>
                              <a:schemeClr val="tx1"/>
                            </a:solidFill>
                            <a:latin typeface="Cambria Math" panose="02040503050406030204" pitchFamily="18" charset="0"/>
                          </a:rPr>
                          <m:t>𝑏𝑎𝑠𝑒</m:t>
                        </m:r>
                      </m:sub>
                    </m:sSub>
                    <m:r>
                      <a:rPr lang="ja-JP" altLang="en-US" sz="1400" i="1">
                        <a:latin typeface="Cambria Math" panose="02040503050406030204" pitchFamily="18" charset="0"/>
                      </a:rPr>
                      <m:t>の更新</m:t>
                    </m:r>
                  </m:oMath>
                </a14:m>
                <a:endParaRPr lang="ja-JP" altLang="en-US" sz="3200" dirty="0"/>
              </a:p>
            </p:txBody>
          </p:sp>
        </mc:Choice>
        <mc:Fallback xmlns="">
          <p:sp>
            <p:nvSpPr>
              <p:cNvPr id="165" name="テキスト ボックス 164">
                <a:extLst>
                  <a:ext uri="{FF2B5EF4-FFF2-40B4-BE49-F238E27FC236}">
                    <a16:creationId xmlns:a16="http://schemas.microsoft.com/office/drawing/2014/main" id="{3AE6DE74-5FD0-9895-10C0-84832D1F9CAE}"/>
                  </a:ext>
                </a:extLst>
              </p:cNvPr>
              <p:cNvSpPr txBox="1">
                <a:spLocks noRot="1" noChangeAspect="1" noMove="1" noResize="1" noEditPoints="1" noAdjustHandles="1" noChangeArrowheads="1" noChangeShapeType="1" noTextEdit="1"/>
              </p:cNvSpPr>
              <p:nvPr/>
            </p:nvSpPr>
            <p:spPr>
              <a:xfrm>
                <a:off x="8761553" y="3444396"/>
                <a:ext cx="2058320" cy="307777"/>
              </a:xfrm>
              <a:prstGeom prst="rect">
                <a:avLst/>
              </a:prstGeom>
              <a:blipFill>
                <a:blip r:embed="rId20"/>
                <a:stretch>
                  <a:fillRect l="-888" t="-7843" b="-215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7" name="テキスト ボックス 166">
                <a:extLst>
                  <a:ext uri="{FF2B5EF4-FFF2-40B4-BE49-F238E27FC236}">
                    <a16:creationId xmlns:a16="http://schemas.microsoft.com/office/drawing/2014/main" id="{2F71C81B-F16F-2609-DB50-B431A5DA5138}"/>
                  </a:ext>
                </a:extLst>
              </p:cNvPr>
              <p:cNvSpPr txBox="1"/>
              <p:nvPr/>
            </p:nvSpPr>
            <p:spPr>
              <a:xfrm>
                <a:off x="7512696" y="3669196"/>
                <a:ext cx="4392676" cy="424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en-US" sz="1200" i="1" smtClean="0">
                              <a:latin typeface="Cambria Math" panose="02040503050406030204" pitchFamily="18" charset="0"/>
                            </a:rPr>
                          </m:ctrlPr>
                        </m:sSubSupPr>
                        <m:e>
                          <m:r>
                            <a:rPr lang="ja-JP" altLang="en-US" sz="1200" i="1">
                              <a:latin typeface="Cambria Math" panose="02040503050406030204" pitchFamily="18" charset="0"/>
                            </a:rPr>
                            <m:t>𝜃</m:t>
                          </m:r>
                        </m:e>
                        <m:sub>
                          <m:r>
                            <a:rPr lang="ja-JP" altLang="en-US" sz="1200" i="1">
                              <a:latin typeface="Cambria Math" panose="02040503050406030204" pitchFamily="18" charset="0"/>
                            </a:rPr>
                            <m:t>𝑏𝑎𝑠𝑒</m:t>
                          </m:r>
                        </m:sub>
                        <m: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𝑟</m:t>
                              </m:r>
                            </m:e>
                          </m:d>
                        </m:sup>
                      </m:sSubSup>
                      <m:r>
                        <a:rPr lang="ja-JP" altLang="en-US" sz="1200" i="0">
                          <a:latin typeface="Cambria Math" panose="02040503050406030204" pitchFamily="18" charset="0"/>
                        </a:rPr>
                        <m:t>←</m:t>
                      </m:r>
                      <m:r>
                        <m:rPr>
                          <m:nor/>
                        </m:rPr>
                        <a:rPr lang="ja-JP" altLang="en-US" sz="1200" b="0" i="0">
                          <a:latin typeface="Cambria Math" panose="02040503050406030204" pitchFamily="18" charset="0"/>
                        </a:rPr>
                        <m:t> </m:t>
                      </m:r>
                      <m:r>
                        <m:rPr>
                          <m:nor/>
                        </m:rPr>
                        <a:rPr lang="ja-JP" altLang="en-US" sz="1200" b="0" i="0">
                          <a:latin typeface="Cambria Math" panose="02040503050406030204" pitchFamily="18" charset="0"/>
                        </a:rPr>
                        <m:t>Optimizer</m:t>
                      </m:r>
                      <m:r>
                        <m:rPr>
                          <m:nor/>
                        </m:rPr>
                        <a:rPr lang="ja-JP" altLang="en-US" sz="1200" b="0" i="0">
                          <a:latin typeface="Cambria Math" panose="02040503050406030204" pitchFamily="18" charset="0"/>
                        </a:rPr>
                        <m:t> </m:t>
                      </m:r>
                      <m:d>
                        <m:dPr>
                          <m:ctrlPr>
                            <a:rPr lang="ja-JP" altLang="en-US" sz="1200" b="0" i="1">
                              <a:latin typeface="Cambria Math" panose="02040503050406030204" pitchFamily="18" charset="0"/>
                            </a:rPr>
                          </m:ctrlPr>
                        </m:dPr>
                        <m:e>
                          <m:sSubSup>
                            <m:sSubSupPr>
                              <m:ctrlPr>
                                <a:rPr lang="ja-JP" altLang="en-US" sz="1200" b="0" i="1">
                                  <a:latin typeface="Cambria Math" panose="02040503050406030204" pitchFamily="18" charset="0"/>
                                </a:rPr>
                              </m:ctrlPr>
                            </m:sSubSupPr>
                            <m:e>
                              <m:r>
                                <a:rPr lang="ja-JP" altLang="en-US" sz="1200" b="0" i="1">
                                  <a:latin typeface="Cambria Math" panose="02040503050406030204" pitchFamily="18" charset="0"/>
                                </a:rPr>
                                <m:t>𝜃</m:t>
                              </m:r>
                            </m:e>
                            <m:sub>
                              <m:r>
                                <a:rPr lang="ja-JP" altLang="en-US" sz="1200" b="0" i="1">
                                  <a:latin typeface="Cambria Math" panose="02040503050406030204" pitchFamily="18" charset="0"/>
                                </a:rPr>
                                <m:t>𝑏𝑎𝑠𝑒</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sup>
                          </m:sSubSup>
                          <m:r>
                            <a:rPr lang="ja-JP" altLang="en-US" sz="1200" b="0" i="0">
                              <a:latin typeface="Cambria Math" panose="02040503050406030204" pitchFamily="18" charset="0"/>
                            </a:rPr>
                            <m:t>,</m:t>
                          </m:r>
                          <m:sSub>
                            <m:sSubPr>
                              <m:ctrlPr>
                                <a:rPr lang="ja-JP" altLang="en-US" sz="1200" b="0" i="1">
                                  <a:latin typeface="Cambria Math" panose="02040503050406030204" pitchFamily="18" charset="0"/>
                                </a:rPr>
                              </m:ctrlPr>
                            </m:sSubPr>
                            <m:e>
                              <m:r>
                                <m:rPr>
                                  <m:sty m:val="p"/>
                                </m:rPr>
                                <a:rPr lang="ja-JP" altLang="en-US" sz="1200" b="0" i="0">
                                  <a:latin typeface="Cambria Math" panose="02040503050406030204" pitchFamily="18" charset="0"/>
                                </a:rPr>
                                <m:t>∇</m:t>
                              </m:r>
                            </m:e>
                            <m:sub>
                              <m:sSubSup>
                                <m:sSubSupPr>
                                  <m:ctrlPr>
                                    <a:rPr lang="ja-JP" altLang="en-US" sz="1200" b="0" i="1">
                                      <a:latin typeface="Cambria Math" panose="02040503050406030204" pitchFamily="18" charset="0"/>
                                    </a:rPr>
                                  </m:ctrlPr>
                                </m:sSubSupPr>
                                <m:e>
                                  <m:r>
                                    <a:rPr lang="ja-JP" altLang="en-US" sz="1200" b="0" i="1">
                                      <a:latin typeface="Cambria Math" panose="02040503050406030204" pitchFamily="18" charset="0"/>
                                    </a:rPr>
                                    <m:t>𝜃</m:t>
                                  </m:r>
                                </m:e>
                                <m:sub>
                                  <m:r>
                                    <a:rPr lang="ja-JP" altLang="en-US" sz="1200" b="0" i="1">
                                      <a:latin typeface="Cambria Math" panose="02040503050406030204" pitchFamily="18" charset="0"/>
                                    </a:rPr>
                                    <m:t>𝑏𝑎𝑠𝑒</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sup>
                              </m:sSubSup>
                            </m:sub>
                          </m:sSub>
                          <m:sSub>
                            <m:sSubPr>
                              <m:ctrlPr>
                                <a:rPr lang="ja-JP" altLang="en-US" sz="1200" b="0" i="1">
                                  <a:latin typeface="Cambria Math" panose="02040503050406030204" pitchFamily="18" charset="0"/>
                                </a:rPr>
                              </m:ctrlPr>
                            </m:sSubPr>
                            <m:e>
                              <m:r>
                                <a:rPr lang="ja-JP" altLang="en-US" sz="1200" b="0" i="0">
                                  <a:latin typeface="Cambria Math" panose="02040503050406030204" pitchFamily="18" charset="0"/>
                                </a:rPr>
                                <m:t>ℒ</m:t>
                              </m:r>
                            </m:e>
                            <m:sub>
                              <m:r>
                                <a:rPr lang="ja-JP" altLang="en-US" sz="1200" b="0" i="1">
                                  <a:latin typeface="Cambria Math" panose="02040503050406030204" pitchFamily="18" charset="0"/>
                                </a:rPr>
                                <m:t>𝑝𝑟𝑒𝑑</m:t>
                              </m:r>
                            </m:sub>
                          </m:sSub>
                          <m:r>
                            <a:rPr lang="ja-JP" altLang="en-US" sz="1200" b="0" i="0">
                              <a:latin typeface="Cambria Math" panose="02040503050406030204" pitchFamily="18" charset="0"/>
                            </a:rPr>
                            <m:t>;</m:t>
                          </m:r>
                          <m:sSub>
                            <m:sSubPr>
                              <m:ctrlPr>
                                <a:rPr lang="ja-JP" altLang="en-US" sz="1200" b="0" i="1">
                                  <a:latin typeface="Cambria Math" panose="02040503050406030204" pitchFamily="18" charset="0"/>
                                </a:rPr>
                              </m:ctrlPr>
                            </m:sSubPr>
                            <m:e>
                              <m:r>
                                <a:rPr lang="ja-JP" altLang="en-US" sz="1200" b="0" i="1">
                                  <a:latin typeface="Cambria Math" panose="02040503050406030204" pitchFamily="18" charset="0"/>
                                </a:rPr>
                                <m:t>𝜂</m:t>
                              </m:r>
                            </m:e>
                            <m:sub>
                              <m:r>
                                <a:rPr lang="ja-JP" altLang="en-US" sz="1200" b="0" i="1">
                                  <a:latin typeface="Cambria Math" panose="02040503050406030204" pitchFamily="18" charset="0"/>
                                </a:rPr>
                                <m:t>𝑏𝑎𝑠𝑒</m:t>
                              </m:r>
                            </m:sub>
                          </m:sSub>
                        </m:e>
                      </m:d>
                    </m:oMath>
                  </m:oMathPara>
                </a14:m>
                <a:endParaRPr lang="ja-JP" altLang="en-US" sz="1200" dirty="0"/>
              </a:p>
            </p:txBody>
          </p:sp>
        </mc:Choice>
        <mc:Fallback xmlns="">
          <p:sp>
            <p:nvSpPr>
              <p:cNvPr id="167" name="テキスト ボックス 166">
                <a:extLst>
                  <a:ext uri="{FF2B5EF4-FFF2-40B4-BE49-F238E27FC236}">
                    <a16:creationId xmlns:a16="http://schemas.microsoft.com/office/drawing/2014/main" id="{2F71C81B-F16F-2609-DB50-B431A5DA5138}"/>
                  </a:ext>
                </a:extLst>
              </p:cNvPr>
              <p:cNvSpPr txBox="1">
                <a:spLocks noRot="1" noChangeAspect="1" noMove="1" noResize="1" noEditPoints="1" noAdjustHandles="1" noChangeArrowheads="1" noChangeShapeType="1" noTextEdit="1"/>
              </p:cNvSpPr>
              <p:nvPr/>
            </p:nvSpPr>
            <p:spPr>
              <a:xfrm>
                <a:off x="7512696" y="3669196"/>
                <a:ext cx="4392676" cy="424219"/>
              </a:xfrm>
              <a:prstGeom prst="rect">
                <a:avLst/>
              </a:prstGeom>
              <a:blipFill>
                <a:blip r:embed="rId21"/>
                <a:stretch>
                  <a:fillRect/>
                </a:stretch>
              </a:blipFill>
            </p:spPr>
            <p:txBody>
              <a:bodyPr/>
              <a:lstStyle/>
              <a:p>
                <a:r>
                  <a:rPr lang="ja-JP" altLang="en-US">
                    <a:noFill/>
                  </a:rPr>
                  <a:t> </a:t>
                </a:r>
              </a:p>
            </p:txBody>
          </p:sp>
        </mc:Fallback>
      </mc:AlternateContent>
      <p:sp>
        <p:nvSpPr>
          <p:cNvPr id="169" name="矢印: 右 168">
            <a:extLst>
              <a:ext uri="{FF2B5EF4-FFF2-40B4-BE49-F238E27FC236}">
                <a16:creationId xmlns:a16="http://schemas.microsoft.com/office/drawing/2014/main" id="{5BAC6073-AAC5-2F0B-C304-76391B94892A}"/>
              </a:ext>
            </a:extLst>
          </p:cNvPr>
          <p:cNvSpPr/>
          <p:nvPr/>
        </p:nvSpPr>
        <p:spPr>
          <a:xfrm rot="5400000">
            <a:off x="9557740" y="3194677"/>
            <a:ext cx="302588" cy="1633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1" name="矢印: 右 170">
            <a:extLst>
              <a:ext uri="{FF2B5EF4-FFF2-40B4-BE49-F238E27FC236}">
                <a16:creationId xmlns:a16="http://schemas.microsoft.com/office/drawing/2014/main" id="{BB755833-91B6-6A00-B6B0-B8E7CD08EFAE}"/>
              </a:ext>
            </a:extLst>
          </p:cNvPr>
          <p:cNvSpPr/>
          <p:nvPr/>
        </p:nvSpPr>
        <p:spPr>
          <a:xfrm rot="5400000">
            <a:off x="9596190" y="4201875"/>
            <a:ext cx="302588" cy="1633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矢印: 右 11">
            <a:extLst>
              <a:ext uri="{FF2B5EF4-FFF2-40B4-BE49-F238E27FC236}">
                <a16:creationId xmlns:a16="http://schemas.microsoft.com/office/drawing/2014/main" id="{1FE3E4C6-6BAB-CDDA-1038-1637BB376149}"/>
              </a:ext>
            </a:extLst>
          </p:cNvPr>
          <p:cNvSpPr/>
          <p:nvPr/>
        </p:nvSpPr>
        <p:spPr>
          <a:xfrm>
            <a:off x="1722124" y="6394898"/>
            <a:ext cx="2009977" cy="398565"/>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3.</a:t>
            </a:r>
            <a:r>
              <a:rPr kumimoji="1" lang="ja-JP" altLang="en-US" sz="1200" dirty="0"/>
              <a:t>端末学習</a:t>
            </a:r>
            <a:r>
              <a:rPr kumimoji="1" lang="en-US" altLang="ja-JP" sz="1200" dirty="0"/>
              <a:t>(</a:t>
            </a:r>
            <a:r>
              <a:rPr kumimoji="1" lang="en-US" altLang="ja-JP" sz="1200" dirty="0" err="1"/>
              <a:t>L_task</a:t>
            </a:r>
            <a:r>
              <a:rPr kumimoji="1" lang="en-US" altLang="ja-JP" sz="1200" dirty="0"/>
              <a:t>)</a:t>
            </a:r>
            <a:r>
              <a:rPr kumimoji="1" lang="ja-JP" altLang="en-US" sz="1200" dirty="0"/>
              <a:t>で利用</a:t>
            </a:r>
            <a:endParaRPr kumimoji="1" lang="en-US" altLang="ja-JP" sz="1200" dirty="0"/>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A67B826B-BB77-E36D-EE1F-77C5AA2F60F1}"/>
                  </a:ext>
                </a:extLst>
              </p:cNvPr>
              <p:cNvSpPr txBox="1"/>
              <p:nvPr/>
            </p:nvSpPr>
            <p:spPr>
              <a:xfrm>
                <a:off x="6001761" y="5643276"/>
                <a:ext cx="1331564" cy="4126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en-US" altLang="ja-JP" sz="1100" dirty="0"/>
              </a:p>
              <a:p>
                <a:r>
                  <a:rPr lang="ja-JP" altLang="en-US" sz="1000" dirty="0"/>
                  <a:t>を用いた前向き推論</a:t>
                </a:r>
              </a:p>
            </p:txBody>
          </p:sp>
        </mc:Choice>
        <mc:Fallback xmlns="">
          <p:sp>
            <p:nvSpPr>
              <p:cNvPr id="28" name="テキスト ボックス 27">
                <a:extLst>
                  <a:ext uri="{FF2B5EF4-FFF2-40B4-BE49-F238E27FC236}">
                    <a16:creationId xmlns:a16="http://schemas.microsoft.com/office/drawing/2014/main" id="{A67B826B-BB77-E36D-EE1F-77C5AA2F60F1}"/>
                  </a:ext>
                </a:extLst>
              </p:cNvPr>
              <p:cNvSpPr txBox="1">
                <a:spLocks noRot="1" noChangeAspect="1" noMove="1" noResize="1" noEditPoints="1" noAdjustHandles="1" noChangeArrowheads="1" noChangeShapeType="1" noTextEdit="1"/>
              </p:cNvSpPr>
              <p:nvPr/>
            </p:nvSpPr>
            <p:spPr>
              <a:xfrm>
                <a:off x="6001761" y="5643276"/>
                <a:ext cx="1331564" cy="412613"/>
              </a:xfrm>
              <a:prstGeom prst="rect">
                <a:avLst/>
              </a:prstGeom>
              <a:blipFill>
                <a:blip r:embed="rId22"/>
                <a:stretch>
                  <a:fillRect b="-597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矢印: 上向き折線 31">
                <a:extLst>
                  <a:ext uri="{FF2B5EF4-FFF2-40B4-BE49-F238E27FC236}">
                    <a16:creationId xmlns:a16="http://schemas.microsoft.com/office/drawing/2014/main" id="{5936FF42-B699-BEDE-8614-E3F147B97D49}"/>
                  </a:ext>
                </a:extLst>
              </p:cNvPr>
              <p:cNvSpPr/>
              <p:nvPr/>
            </p:nvSpPr>
            <p:spPr>
              <a:xfrm flipH="1">
                <a:off x="5029365" y="3782186"/>
                <a:ext cx="394568" cy="2868155"/>
              </a:xfrm>
              <a:prstGeom prst="bentUpArrow">
                <a:avLst>
                  <a:gd name="adj1" fmla="val 25000"/>
                  <a:gd name="adj2" fmla="val 24014"/>
                  <a:gd name="adj3" fmla="val 50000"/>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ja-JP" sz="1400" i="1" smtClean="0">
                              <a:solidFill>
                                <a:schemeClr val="tx1"/>
                              </a:solidFill>
                              <a:latin typeface="Cambria Math" panose="02040503050406030204" pitchFamily="18" charset="0"/>
                            </a:rPr>
                          </m:ctrlPr>
                        </m:sSubPr>
                        <m:e>
                          <m:r>
                            <a:rPr lang="en-US" altLang="ja-JP" sz="1400" i="1">
                              <a:solidFill>
                                <a:schemeClr val="tx1"/>
                              </a:solidFill>
                              <a:latin typeface="Cambria Math" panose="02040503050406030204" pitchFamily="18" charset="0"/>
                            </a:rPr>
                            <m:t>𝑧</m:t>
                          </m:r>
                        </m:e>
                        <m:sub>
                          <m:r>
                            <a:rPr lang="en-US" altLang="ja-JP" sz="1400" b="0" i="1" smtClean="0">
                              <a:solidFill>
                                <a:schemeClr val="tx1"/>
                              </a:solidFill>
                              <a:latin typeface="Cambria Math" panose="02040503050406030204" pitchFamily="18" charset="0"/>
                            </a:rPr>
                            <m:t>𝑘</m:t>
                          </m:r>
                        </m:sub>
                      </m:sSub>
                      <m:d>
                        <m:dPr>
                          <m:ctrlPr>
                            <a:rPr lang="en-US" altLang="ja-JP" sz="1400" i="1">
                              <a:solidFill>
                                <a:schemeClr val="tx1"/>
                              </a:solidFill>
                              <a:latin typeface="Cambria Math" panose="02040503050406030204" pitchFamily="18" charset="0"/>
                            </a:rPr>
                          </m:ctrlPr>
                        </m:dPr>
                        <m:e>
                          <m:r>
                            <a:rPr lang="en-US" altLang="ja-JP" sz="1400" i="1">
                              <a:solidFill>
                                <a:schemeClr val="tx1"/>
                              </a:solidFill>
                              <a:latin typeface="Cambria Math" panose="02040503050406030204" pitchFamily="18" charset="0"/>
                            </a:rPr>
                            <m:t>𝑥</m:t>
                          </m:r>
                        </m:e>
                      </m:d>
                    </m:oMath>
                  </m:oMathPara>
                </a14:m>
                <a:endParaRPr kumimoji="1" lang="ja-JP" altLang="en-US" sz="1400" dirty="0">
                  <a:solidFill>
                    <a:schemeClr val="tx1"/>
                  </a:solidFill>
                </a:endParaRPr>
              </a:p>
            </p:txBody>
          </p:sp>
        </mc:Choice>
        <mc:Fallback xmlns="">
          <p:sp>
            <p:nvSpPr>
              <p:cNvPr id="32" name="矢印: 上向き折線 31">
                <a:extLst>
                  <a:ext uri="{FF2B5EF4-FFF2-40B4-BE49-F238E27FC236}">
                    <a16:creationId xmlns:a16="http://schemas.microsoft.com/office/drawing/2014/main" id="{5936FF42-B699-BEDE-8614-E3F147B97D49}"/>
                  </a:ext>
                </a:extLst>
              </p:cNvPr>
              <p:cNvSpPr>
                <a:spLocks noRot="1" noChangeAspect="1" noMove="1" noResize="1" noEditPoints="1" noAdjustHandles="1" noChangeArrowheads="1" noChangeShapeType="1" noTextEdit="1"/>
              </p:cNvSpPr>
              <p:nvPr/>
            </p:nvSpPr>
            <p:spPr>
              <a:xfrm flipH="1">
                <a:off x="5029365" y="3782186"/>
                <a:ext cx="394568" cy="2868155"/>
              </a:xfrm>
              <a:prstGeom prst="bentUpArrow">
                <a:avLst>
                  <a:gd name="adj1" fmla="val 25000"/>
                  <a:gd name="adj2" fmla="val 24014"/>
                  <a:gd name="adj3" fmla="val 50000"/>
                </a:avLst>
              </a:prstGeom>
              <a:blipFill>
                <a:blip r:embed="rId23"/>
                <a:stretch>
                  <a:fillRect l="-10294" b="-2947"/>
                </a:stretch>
              </a:blipFill>
              <a:ln>
                <a:solidFill>
                  <a:srgbClr val="D96C4A"/>
                </a:solidFill>
              </a:ln>
            </p:spPr>
            <p:txBody>
              <a:bodyPr/>
              <a:lstStyle/>
              <a:p>
                <a:r>
                  <a:rPr lang="ja-JP" altLang="en-US">
                    <a:noFill/>
                  </a:rPr>
                  <a:t> </a:t>
                </a:r>
              </a:p>
            </p:txBody>
          </p:sp>
        </mc:Fallback>
      </mc:AlternateContent>
      <p:cxnSp>
        <p:nvCxnSpPr>
          <p:cNvPr id="4" name="直線コネクタ 3">
            <a:extLst>
              <a:ext uri="{FF2B5EF4-FFF2-40B4-BE49-F238E27FC236}">
                <a16:creationId xmlns:a16="http://schemas.microsoft.com/office/drawing/2014/main" id="{5242B3D8-F228-1609-F974-A37F68042716}"/>
              </a:ext>
            </a:extLst>
          </p:cNvPr>
          <p:cNvCxnSpPr>
            <a:cxnSpLocks/>
          </p:cNvCxnSpPr>
          <p:nvPr/>
        </p:nvCxnSpPr>
        <p:spPr>
          <a:xfrm>
            <a:off x="4176730" y="2968872"/>
            <a:ext cx="2919873" cy="17692"/>
          </a:xfrm>
          <a:prstGeom prst="line">
            <a:avLst/>
          </a:prstGeom>
          <a:ln>
            <a:solidFill>
              <a:srgbClr val="00206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9CEA611F-B4B4-EF55-C228-91F6E575944F}"/>
                  </a:ext>
                </a:extLst>
              </p:cNvPr>
              <p:cNvSpPr txBox="1"/>
              <p:nvPr/>
            </p:nvSpPr>
            <p:spPr>
              <a:xfrm>
                <a:off x="4414098" y="3004837"/>
                <a:ext cx="2554444" cy="325282"/>
              </a:xfrm>
              <a:prstGeom prst="rect">
                <a:avLst/>
              </a:prstGeom>
              <a:noFill/>
            </p:spPr>
            <p:txBody>
              <a:bodyPr wrap="square">
                <a:spAutoFit/>
              </a:bodyPr>
              <a:lstStyle/>
              <a:p>
                <a:r>
                  <a:rPr kumimoji="1" lang="ja-JP" altLang="en-US" sz="1400" dirty="0"/>
                  <a:t>サンプル </a:t>
                </a:r>
                <a:r>
                  <a:rPr kumimoji="1" lang="en-US" altLang="ja-JP" sz="1400" dirty="0"/>
                  <a:t>ID </a:t>
                </a:r>
                <a:r>
                  <a:rPr kumimoji="1" lang="ja-JP" altLang="en-US" sz="1400" dirty="0"/>
                  <a:t>と</a:t>
                </a:r>
                <a14:m>
                  <m:oMath xmlns:m="http://schemas.openxmlformats.org/officeDocument/2006/math">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𝑧</m:t>
                        </m:r>
                      </m:e>
                      <m:sub>
                        <m:r>
                          <a:rPr lang="en-US" altLang="ja-JP" sz="1400" b="0" i="1" smtClean="0">
                            <a:latin typeface="Cambria Math" panose="02040503050406030204" pitchFamily="18" charset="0"/>
                          </a:rPr>
                          <m:t>𝑎𝑔𝑔</m:t>
                        </m:r>
                      </m:sub>
                    </m:sSub>
                    <m:d>
                      <m:dPr>
                        <m:ctrlPr>
                          <a:rPr lang="en-US" altLang="ja-JP" sz="1400" i="1">
                            <a:latin typeface="Cambria Math" panose="02040503050406030204" pitchFamily="18" charset="0"/>
                          </a:rPr>
                        </m:ctrlPr>
                      </m:dPr>
                      <m:e>
                        <m:r>
                          <a:rPr lang="en-US" altLang="ja-JP" sz="1400" i="1">
                            <a:latin typeface="Cambria Math" panose="02040503050406030204" pitchFamily="18" charset="0"/>
                          </a:rPr>
                          <m:t>𝑥</m:t>
                        </m:r>
                      </m:e>
                    </m:d>
                  </m:oMath>
                </a14:m>
                <a:r>
                  <a:rPr lang="ja-JP" altLang="en-US" sz="1400" dirty="0"/>
                  <a:t>を送信</a:t>
                </a:r>
              </a:p>
            </p:txBody>
          </p:sp>
        </mc:Choice>
        <mc:Fallback xmlns="">
          <p:sp>
            <p:nvSpPr>
              <p:cNvPr id="23" name="テキスト ボックス 22">
                <a:extLst>
                  <a:ext uri="{FF2B5EF4-FFF2-40B4-BE49-F238E27FC236}">
                    <a16:creationId xmlns:a16="http://schemas.microsoft.com/office/drawing/2014/main" id="{9CEA611F-B4B4-EF55-C228-91F6E575944F}"/>
                  </a:ext>
                </a:extLst>
              </p:cNvPr>
              <p:cNvSpPr txBox="1">
                <a:spLocks noRot="1" noChangeAspect="1" noMove="1" noResize="1" noEditPoints="1" noAdjustHandles="1" noChangeArrowheads="1" noChangeShapeType="1" noTextEdit="1"/>
              </p:cNvSpPr>
              <p:nvPr/>
            </p:nvSpPr>
            <p:spPr>
              <a:xfrm>
                <a:off x="4414098" y="3004837"/>
                <a:ext cx="2554444" cy="325282"/>
              </a:xfrm>
              <a:prstGeom prst="rect">
                <a:avLst/>
              </a:prstGeom>
              <a:blipFill>
                <a:blip r:embed="rId24"/>
                <a:stretch>
                  <a:fillRect l="-716" t="-7547" b="-1509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C20A3E7B-94E8-B579-3B3A-12BDF14DC1D6}"/>
                  </a:ext>
                </a:extLst>
              </p:cNvPr>
              <p:cNvSpPr txBox="1"/>
              <p:nvPr/>
            </p:nvSpPr>
            <p:spPr>
              <a:xfrm>
                <a:off x="1336531" y="3038768"/>
                <a:ext cx="2253042" cy="326115"/>
              </a:xfrm>
              <a:prstGeom prst="rect">
                <a:avLst/>
              </a:prstGeom>
              <a:noFill/>
            </p:spPr>
            <p:txBody>
              <a:bodyPr wrap="square">
                <a:spAutoFit/>
              </a:bodyPr>
              <a:lstStyle/>
              <a:p>
                <a:r>
                  <a:rPr lang="en-US" altLang="ja-JP" sz="1200" dirty="0"/>
                  <a:t>2.</a:t>
                </a:r>
                <a:r>
                  <a:rPr lang="ja-JP" altLang="en-US" sz="1200" dirty="0"/>
                  <a:t>蒸留配布の</a:t>
                </a:r>
                <a14:m>
                  <m:oMath xmlns:m="http://schemas.openxmlformats.org/officeDocument/2006/math">
                    <m:sSubSup>
                      <m:sSubSupPr>
                        <m:ctrlPr>
                          <a:rPr lang="en-US" altLang="ja-JP" sz="1200" i="1">
                            <a:latin typeface="Cambria Math" panose="02040503050406030204" pitchFamily="18" charset="0"/>
                          </a:rPr>
                        </m:ctrlPr>
                      </m:sSubSupPr>
                      <m:e>
                        <m:r>
                          <a:rPr lang="ja-JP" altLang="en-US" sz="1200" i="1">
                            <a:latin typeface="Cambria Math" panose="02040503050406030204" pitchFamily="18" charset="0"/>
                          </a:rPr>
                          <m:t>𝑝</m:t>
                        </m:r>
                      </m:e>
                      <m:sub>
                        <m:r>
                          <a:rPr lang="en-US" altLang="ja-JP" sz="1200" i="1">
                            <a:latin typeface="Cambria Math" panose="02040503050406030204" pitchFamily="18" charset="0"/>
                          </a:rPr>
                          <m:t>𝑏𝑎𝑠𝑒</m:t>
                        </m:r>
                      </m:sub>
                      <m:sup>
                        <m:r>
                          <a:rPr lang="en-US" altLang="ja-JP" sz="1200" i="1">
                            <a:latin typeface="Cambria Math" panose="02040503050406030204" pitchFamily="18" charset="0"/>
                          </a:rPr>
                          <m:t>(</m:t>
                        </m:r>
                        <m:r>
                          <a:rPr lang="en-US" altLang="ja-JP" sz="1200" i="1">
                            <a:latin typeface="Cambria Math" panose="02040503050406030204" pitchFamily="18" charset="0"/>
                          </a:rPr>
                          <m:t>𝑟</m:t>
                        </m:r>
                        <m:r>
                          <a:rPr lang="en-US" altLang="ja-JP" sz="1200" i="1">
                            <a:latin typeface="Cambria Math" panose="02040503050406030204" pitchFamily="18" charset="0"/>
                          </a:rPr>
                          <m:t>−1)</m:t>
                        </m:r>
                      </m:sup>
                    </m:sSub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r>
                      <a:rPr lang="ja-JP" altLang="en-US" sz="1200" i="1">
                        <a:latin typeface="Cambria Math" panose="02040503050406030204" pitchFamily="18" charset="0"/>
                      </a:rPr>
                      <m:t>に</m:t>
                    </m:r>
                  </m:oMath>
                </a14:m>
                <a:r>
                  <a:rPr lang="ja-JP" altLang="en-US" sz="1200" dirty="0"/>
                  <a:t>利用</a:t>
                </a:r>
              </a:p>
            </p:txBody>
          </p:sp>
        </mc:Choice>
        <mc:Fallback xmlns="">
          <p:sp>
            <p:nvSpPr>
              <p:cNvPr id="36" name="テキスト ボックス 35">
                <a:extLst>
                  <a:ext uri="{FF2B5EF4-FFF2-40B4-BE49-F238E27FC236}">
                    <a16:creationId xmlns:a16="http://schemas.microsoft.com/office/drawing/2014/main" id="{C20A3E7B-94E8-B579-3B3A-12BDF14DC1D6}"/>
                  </a:ext>
                </a:extLst>
              </p:cNvPr>
              <p:cNvSpPr txBox="1">
                <a:spLocks noRot="1" noChangeAspect="1" noMove="1" noResize="1" noEditPoints="1" noAdjustHandles="1" noChangeArrowheads="1" noChangeShapeType="1" noTextEdit="1"/>
              </p:cNvSpPr>
              <p:nvPr/>
            </p:nvSpPr>
            <p:spPr>
              <a:xfrm>
                <a:off x="1336531" y="3038768"/>
                <a:ext cx="2253042" cy="326115"/>
              </a:xfrm>
              <a:prstGeom prst="rect">
                <a:avLst/>
              </a:prstGeom>
              <a:blipFill>
                <a:blip r:embed="rId25"/>
                <a:stretch>
                  <a:fillRect b="-111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E9D86FFB-7C3D-663E-89FE-2CFB655E7CA3}"/>
                  </a:ext>
                </a:extLst>
              </p:cNvPr>
              <p:cNvSpPr txBox="1"/>
              <p:nvPr/>
            </p:nvSpPr>
            <p:spPr>
              <a:xfrm>
                <a:off x="4345352" y="1094852"/>
                <a:ext cx="2477182" cy="430887"/>
              </a:xfrm>
              <a:prstGeom prst="rect">
                <a:avLst/>
              </a:prstGeom>
              <a:noFill/>
            </p:spPr>
            <p:txBody>
              <a:bodyPr wrap="square">
                <a:spAutoFit/>
              </a:bodyPr>
              <a:lstStyle/>
              <a:p>
                <a:pPr algn="ctr"/>
                <a:r>
                  <a:rPr lang="ja-JP" altLang="en-US" sz="1100" dirty="0"/>
                  <a:t>各</a:t>
                </a:r>
                <a14:m>
                  <m:oMath xmlns:m="http://schemas.openxmlformats.org/officeDocument/2006/math">
                    <m:sSub>
                      <m:sSubPr>
                        <m:ctrlPr>
                          <a:rPr lang="en-US" altLang="ja-JP" sz="1100" i="1">
                            <a:latin typeface="Cambria Math" panose="02040503050406030204" pitchFamily="18" charset="0"/>
                          </a:rPr>
                        </m:ctrlPr>
                      </m:sSubPr>
                      <m:e>
                        <m:r>
                          <a:rPr lang="en-US" altLang="ja-JP" sz="1100" i="1">
                            <a:latin typeface="Cambria Math" panose="02040503050406030204" pitchFamily="18" charset="0"/>
                          </a:rPr>
                          <m:t>𝑧</m:t>
                        </m:r>
                      </m:e>
                      <m:sub>
                        <m:r>
                          <a:rPr lang="en-US" altLang="ja-JP" sz="1100" i="1">
                            <a:latin typeface="Cambria Math" panose="02040503050406030204" pitchFamily="18" charset="0"/>
                          </a:rPr>
                          <m:t>𝑘</m:t>
                        </m:r>
                      </m:sub>
                    </m:sSub>
                    <m:d>
                      <m:dPr>
                        <m:ctrlPr>
                          <a:rPr lang="en-US" altLang="ja-JP" sz="1100" i="1">
                            <a:latin typeface="Cambria Math" panose="02040503050406030204" pitchFamily="18" charset="0"/>
                          </a:rPr>
                        </m:ctrlPr>
                      </m:dPr>
                      <m:e>
                        <m:r>
                          <a:rPr lang="en-US" altLang="ja-JP" sz="1100" i="1">
                            <a:latin typeface="Cambria Math" panose="02040503050406030204" pitchFamily="18" charset="0"/>
                          </a:rPr>
                          <m:t>𝑥</m:t>
                        </m:r>
                      </m:e>
                    </m:d>
                  </m:oMath>
                </a14:m>
                <a:r>
                  <a:rPr lang="ja-JP" altLang="en-US" sz="1100" dirty="0"/>
                  <a:t>から重み付き平均により集約分布を作成</a:t>
                </a:r>
                <a:endParaRPr lang="en-US" altLang="ja-JP" sz="1100" dirty="0"/>
              </a:p>
            </p:txBody>
          </p:sp>
        </mc:Choice>
        <mc:Fallback xmlns="">
          <p:sp>
            <p:nvSpPr>
              <p:cNvPr id="41" name="テキスト ボックス 40">
                <a:extLst>
                  <a:ext uri="{FF2B5EF4-FFF2-40B4-BE49-F238E27FC236}">
                    <a16:creationId xmlns:a16="http://schemas.microsoft.com/office/drawing/2014/main" id="{E9D86FFB-7C3D-663E-89FE-2CFB655E7CA3}"/>
                  </a:ext>
                </a:extLst>
              </p:cNvPr>
              <p:cNvSpPr txBox="1">
                <a:spLocks noRot="1" noChangeAspect="1" noMove="1" noResize="1" noEditPoints="1" noAdjustHandles="1" noChangeArrowheads="1" noChangeShapeType="1" noTextEdit="1"/>
              </p:cNvSpPr>
              <p:nvPr/>
            </p:nvSpPr>
            <p:spPr>
              <a:xfrm>
                <a:off x="4345352" y="1094852"/>
                <a:ext cx="2477182" cy="430887"/>
              </a:xfrm>
              <a:prstGeom prst="rect">
                <a:avLst/>
              </a:prstGeom>
              <a:blipFill>
                <a:blip r:embed="rId26"/>
                <a:stretch>
                  <a:fillRect t="-1429" b="-71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5" name="テキスト ボックス 44">
                <a:extLst>
                  <a:ext uri="{FF2B5EF4-FFF2-40B4-BE49-F238E27FC236}">
                    <a16:creationId xmlns:a16="http://schemas.microsoft.com/office/drawing/2014/main" id="{6C645D79-A246-336F-88A9-527DEE26A0D3}"/>
                  </a:ext>
                </a:extLst>
              </p:cNvPr>
              <p:cNvSpPr txBox="1"/>
              <p:nvPr/>
            </p:nvSpPr>
            <p:spPr>
              <a:xfrm>
                <a:off x="4614588" y="1562290"/>
                <a:ext cx="2032188" cy="3354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400" i="1" smtClean="0">
                              <a:latin typeface="Cambria Math" panose="02040503050406030204" pitchFamily="18" charset="0"/>
                            </a:rPr>
                          </m:ctrlPr>
                        </m:sSubPr>
                        <m:e>
                          <m:r>
                            <a:rPr lang="ja-JP" altLang="en-US" sz="1400" i="1">
                              <a:latin typeface="Cambria Math" panose="02040503050406030204" pitchFamily="18" charset="0"/>
                            </a:rPr>
                            <m:t>𝑞</m:t>
                          </m:r>
                        </m:e>
                        <m:sub>
                          <m:r>
                            <a:rPr lang="ja-JP" altLang="en-US" sz="1400" i="1">
                              <a:latin typeface="Cambria Math" panose="02040503050406030204" pitchFamily="18" charset="0"/>
                            </a:rPr>
                            <m:t>𝑘</m:t>
                          </m:r>
                        </m:sub>
                      </m:sSub>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r>
                        <a:rPr lang="ja-JP" altLang="en-US" sz="1400" i="0">
                          <a:latin typeface="Cambria Math" panose="02040503050406030204" pitchFamily="18" charset="0"/>
                        </a:rPr>
                        <m:t>=</m:t>
                      </m:r>
                      <m:r>
                        <m:rPr>
                          <m:sty m:val="p"/>
                        </m:rPr>
                        <a:rPr lang="ja-JP" altLang="en-US" sz="1400" i="0">
                          <a:latin typeface="Cambria Math" panose="02040503050406030204" pitchFamily="18" charset="0"/>
                        </a:rPr>
                        <m:t>softmax</m:t>
                      </m:r>
                      <m:d>
                        <m:dPr>
                          <m:ctrlPr>
                            <a:rPr lang="ja-JP" altLang="en-US" sz="1400" i="1">
                              <a:latin typeface="Cambria Math" panose="02040503050406030204" pitchFamily="18" charset="0"/>
                            </a:rPr>
                          </m:ctrlPr>
                        </m:dPr>
                        <m:e>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𝑧</m:t>
                              </m:r>
                            </m:e>
                            <m:sub>
                              <m:r>
                                <a:rPr lang="ja-JP" altLang="en-US" sz="1400" i="1">
                                  <a:latin typeface="Cambria Math" panose="02040503050406030204" pitchFamily="18" charset="0"/>
                                </a:rPr>
                                <m:t>𝑘</m:t>
                              </m:r>
                            </m:sub>
                          </m:sSub>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e>
                      </m:d>
                    </m:oMath>
                  </m:oMathPara>
                </a14:m>
                <a:endParaRPr lang="ja-JP" altLang="en-US" sz="1400" dirty="0"/>
              </a:p>
            </p:txBody>
          </p:sp>
        </mc:Choice>
        <mc:Fallback xmlns="">
          <p:sp>
            <p:nvSpPr>
              <p:cNvPr id="45" name="テキスト ボックス 44">
                <a:extLst>
                  <a:ext uri="{FF2B5EF4-FFF2-40B4-BE49-F238E27FC236}">
                    <a16:creationId xmlns:a16="http://schemas.microsoft.com/office/drawing/2014/main" id="{6C645D79-A246-336F-88A9-527DEE26A0D3}"/>
                  </a:ext>
                </a:extLst>
              </p:cNvPr>
              <p:cNvSpPr txBox="1">
                <a:spLocks noRot="1" noChangeAspect="1" noMove="1" noResize="1" noEditPoints="1" noAdjustHandles="1" noChangeArrowheads="1" noChangeShapeType="1" noTextEdit="1"/>
              </p:cNvSpPr>
              <p:nvPr/>
            </p:nvSpPr>
            <p:spPr>
              <a:xfrm>
                <a:off x="4614588" y="1562290"/>
                <a:ext cx="2032188" cy="335476"/>
              </a:xfrm>
              <a:prstGeom prst="rect">
                <a:avLst/>
              </a:prstGeom>
              <a:blipFill>
                <a:blip r:embed="rId2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9" name="テキスト ボックス 48">
                <a:extLst>
                  <a:ext uri="{FF2B5EF4-FFF2-40B4-BE49-F238E27FC236}">
                    <a16:creationId xmlns:a16="http://schemas.microsoft.com/office/drawing/2014/main" id="{8EA17079-F56D-D0EB-FC4A-447FC608C327}"/>
                  </a:ext>
                </a:extLst>
              </p:cNvPr>
              <p:cNvSpPr txBox="1"/>
              <p:nvPr/>
            </p:nvSpPr>
            <p:spPr>
              <a:xfrm>
                <a:off x="4625831" y="1874217"/>
                <a:ext cx="1757417" cy="5466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050" i="1" smtClean="0">
                              <a:latin typeface="Cambria Math" panose="02040503050406030204" pitchFamily="18" charset="0"/>
                            </a:rPr>
                          </m:ctrlPr>
                        </m:sSubPr>
                        <m:e>
                          <m:r>
                            <a:rPr lang="ja-JP" altLang="en-US" sz="1050" i="1">
                              <a:latin typeface="Cambria Math" panose="02040503050406030204" pitchFamily="18" charset="0"/>
                            </a:rPr>
                            <m:t>𝑞</m:t>
                          </m:r>
                        </m:e>
                        <m:sub>
                          <m:r>
                            <a:rPr lang="ja-JP" altLang="en-US" sz="1050" i="1">
                              <a:latin typeface="Cambria Math" panose="02040503050406030204" pitchFamily="18" charset="0"/>
                            </a:rPr>
                            <m:t>𝑎𝑔𝑔</m:t>
                          </m:r>
                        </m:sub>
                      </m:sSub>
                      <m:d>
                        <m:dPr>
                          <m:ctrlPr>
                            <a:rPr lang="ja-JP" altLang="en-US" sz="1050" i="1">
                              <a:latin typeface="Cambria Math" panose="02040503050406030204" pitchFamily="18" charset="0"/>
                            </a:rPr>
                          </m:ctrlPr>
                        </m:dPr>
                        <m:e>
                          <m:r>
                            <a:rPr lang="ja-JP" altLang="en-US" sz="1050" i="1">
                              <a:latin typeface="Cambria Math" panose="02040503050406030204" pitchFamily="18" charset="0"/>
                            </a:rPr>
                            <m:t>𝑥</m:t>
                          </m:r>
                        </m:e>
                      </m:d>
                      <m:r>
                        <a:rPr lang="ja-JP" altLang="en-US" sz="1050" i="0">
                          <a:latin typeface="Cambria Math" panose="02040503050406030204" pitchFamily="18" charset="0"/>
                        </a:rPr>
                        <m:t>=</m:t>
                      </m:r>
                      <m:nary>
                        <m:naryPr>
                          <m:chr m:val="∑"/>
                          <m:limLoc m:val="undOvr"/>
                          <m:grow m:val="on"/>
                          <m:ctrlPr>
                            <a:rPr lang="ja-JP" altLang="en-US" sz="1050" i="1">
                              <a:latin typeface="Cambria Math" panose="02040503050406030204" pitchFamily="18" charset="0"/>
                            </a:rPr>
                          </m:ctrlPr>
                        </m:naryPr>
                        <m:sub>
                          <m:r>
                            <a:rPr lang="ja-JP" altLang="en-US" sz="1050" i="1">
                              <a:latin typeface="Cambria Math" panose="02040503050406030204" pitchFamily="18" charset="0"/>
                            </a:rPr>
                            <m:t>𝑘</m:t>
                          </m:r>
                          <m:r>
                            <a:rPr lang="ja-JP" altLang="en-US" sz="1050" i="0">
                              <a:latin typeface="Cambria Math" panose="02040503050406030204" pitchFamily="18" charset="0"/>
                            </a:rPr>
                            <m:t>=1</m:t>
                          </m:r>
                        </m:sub>
                        <m:sup>
                          <m:r>
                            <a:rPr lang="ja-JP" altLang="en-US" sz="1050" i="1">
                              <a:latin typeface="Cambria Math" panose="02040503050406030204" pitchFamily="18" charset="0"/>
                            </a:rPr>
                            <m:t>𝐾</m:t>
                          </m:r>
                        </m:sup>
                        <m:e>
                          <m:r>
                            <a:rPr lang="ja-JP" altLang="en-US" sz="1050" i="0">
                              <a:latin typeface="Cambria Math" panose="02040503050406030204" pitchFamily="18" charset="0"/>
                            </a:rPr>
                            <m:t> </m:t>
                          </m:r>
                        </m:e>
                      </m:nary>
                      <m:sSub>
                        <m:sSubPr>
                          <m:ctrlPr>
                            <a:rPr lang="ja-JP" altLang="en-US" sz="1050" i="1">
                              <a:latin typeface="Cambria Math" panose="02040503050406030204" pitchFamily="18" charset="0"/>
                            </a:rPr>
                          </m:ctrlPr>
                        </m:sSubPr>
                        <m:e>
                          <m:r>
                            <a:rPr lang="ja-JP" altLang="en-US" sz="1050" i="1">
                              <a:latin typeface="Cambria Math" panose="02040503050406030204" pitchFamily="18" charset="0"/>
                            </a:rPr>
                            <m:t>𝛼</m:t>
                          </m:r>
                        </m:e>
                        <m:sub>
                          <m:r>
                            <a:rPr lang="ja-JP" altLang="en-US" sz="1050" i="1">
                              <a:latin typeface="Cambria Math" panose="02040503050406030204" pitchFamily="18" charset="0"/>
                            </a:rPr>
                            <m:t>𝑘</m:t>
                          </m:r>
                        </m:sub>
                      </m:sSub>
                      <m:sSub>
                        <m:sSubPr>
                          <m:ctrlPr>
                            <a:rPr lang="ja-JP" altLang="en-US" sz="1050" i="1">
                              <a:latin typeface="Cambria Math" panose="02040503050406030204" pitchFamily="18" charset="0"/>
                            </a:rPr>
                          </m:ctrlPr>
                        </m:sSubPr>
                        <m:e>
                          <m:r>
                            <a:rPr lang="ja-JP" altLang="en-US" sz="1050" i="1">
                              <a:latin typeface="Cambria Math" panose="02040503050406030204" pitchFamily="18" charset="0"/>
                            </a:rPr>
                            <m:t>𝑞</m:t>
                          </m:r>
                        </m:e>
                        <m:sub>
                          <m:r>
                            <a:rPr lang="ja-JP" altLang="en-US" sz="1050" i="1">
                              <a:latin typeface="Cambria Math" panose="02040503050406030204" pitchFamily="18" charset="0"/>
                            </a:rPr>
                            <m:t>𝑘</m:t>
                          </m:r>
                        </m:sub>
                      </m:sSub>
                      <m:d>
                        <m:dPr>
                          <m:ctrlPr>
                            <a:rPr lang="ja-JP" altLang="en-US" sz="1050" i="1">
                              <a:latin typeface="Cambria Math" panose="02040503050406030204" pitchFamily="18" charset="0"/>
                            </a:rPr>
                          </m:ctrlPr>
                        </m:dPr>
                        <m:e>
                          <m:r>
                            <a:rPr lang="ja-JP" altLang="en-US" sz="1050" i="1">
                              <a:latin typeface="Cambria Math" panose="02040503050406030204" pitchFamily="18" charset="0"/>
                            </a:rPr>
                            <m:t>𝑥</m:t>
                          </m:r>
                        </m:e>
                      </m:d>
                    </m:oMath>
                  </m:oMathPara>
                </a14:m>
                <a:endParaRPr lang="ja-JP" altLang="en-US" sz="1050" dirty="0"/>
              </a:p>
            </p:txBody>
          </p:sp>
        </mc:Choice>
        <mc:Fallback xmlns="">
          <p:sp>
            <p:nvSpPr>
              <p:cNvPr id="49" name="テキスト ボックス 48">
                <a:extLst>
                  <a:ext uri="{FF2B5EF4-FFF2-40B4-BE49-F238E27FC236}">
                    <a16:creationId xmlns:a16="http://schemas.microsoft.com/office/drawing/2014/main" id="{8EA17079-F56D-D0EB-FC4A-447FC608C327}"/>
                  </a:ext>
                </a:extLst>
              </p:cNvPr>
              <p:cNvSpPr txBox="1">
                <a:spLocks noRot="1" noChangeAspect="1" noMove="1" noResize="1" noEditPoints="1" noAdjustHandles="1" noChangeArrowheads="1" noChangeShapeType="1" noTextEdit="1"/>
              </p:cNvSpPr>
              <p:nvPr/>
            </p:nvSpPr>
            <p:spPr>
              <a:xfrm>
                <a:off x="4625831" y="1874217"/>
                <a:ext cx="1757417" cy="546688"/>
              </a:xfrm>
              <a:prstGeom prst="rect">
                <a:avLst/>
              </a:prstGeom>
              <a:blipFill>
                <a:blip r:embed="rId28"/>
                <a:stretch>
                  <a:fillRect t="-88889" r="-15972" b="-13888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3" name="テキスト ボックス 52">
                <a:extLst>
                  <a:ext uri="{FF2B5EF4-FFF2-40B4-BE49-F238E27FC236}">
                    <a16:creationId xmlns:a16="http://schemas.microsoft.com/office/drawing/2014/main" id="{6243DC41-6021-0D8D-9750-743CCC527B8A}"/>
                  </a:ext>
                </a:extLst>
              </p:cNvPr>
              <p:cNvSpPr txBox="1"/>
              <p:nvPr/>
            </p:nvSpPr>
            <p:spPr>
              <a:xfrm>
                <a:off x="4543414" y="2397356"/>
                <a:ext cx="2002674" cy="325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400" i="1" smtClean="0">
                              <a:latin typeface="Cambria Math" panose="02040503050406030204" pitchFamily="18" charset="0"/>
                            </a:rPr>
                          </m:ctrlPr>
                        </m:sSubPr>
                        <m:e>
                          <m:r>
                            <a:rPr lang="ja-JP" altLang="en-US" sz="1400" i="1">
                              <a:latin typeface="Cambria Math" panose="02040503050406030204" pitchFamily="18" charset="0"/>
                            </a:rPr>
                            <m:t>𝑧</m:t>
                          </m:r>
                        </m:e>
                        <m:sub>
                          <m:r>
                            <a:rPr lang="ja-JP" altLang="en-US" sz="1400" i="1">
                              <a:latin typeface="Cambria Math" panose="02040503050406030204" pitchFamily="18" charset="0"/>
                            </a:rPr>
                            <m:t>𝑎𝑔𝑔</m:t>
                          </m:r>
                        </m:sub>
                      </m:sSub>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r>
                        <a:rPr lang="ja-JP" altLang="en-US" sz="1400" i="0">
                          <a:latin typeface="Cambria Math" panose="02040503050406030204" pitchFamily="18" charset="0"/>
                        </a:rPr>
                        <m:t>=</m:t>
                      </m:r>
                      <m:func>
                        <m:funcPr>
                          <m:ctrlPr>
                            <a:rPr lang="ja-JP" altLang="en-US" sz="1400" i="1">
                              <a:latin typeface="Cambria Math" panose="02040503050406030204" pitchFamily="18" charset="0"/>
                            </a:rPr>
                          </m:ctrlPr>
                        </m:funcPr>
                        <m:fName>
                          <m:r>
                            <a:rPr lang="en-US" altLang="ja-JP" sz="1400" b="0" i="1" smtClean="0">
                              <a:latin typeface="Cambria Math" panose="02040503050406030204" pitchFamily="18" charset="0"/>
                            </a:rPr>
                            <m:t>𝑙</m:t>
                          </m:r>
                          <m:r>
                            <m:rPr>
                              <m:sty m:val="p"/>
                            </m:rPr>
                            <a:rPr lang="en-US" altLang="ja-JP" sz="1400" b="0" i="0" smtClean="0">
                              <a:latin typeface="Cambria Math" panose="02040503050406030204" pitchFamily="18" charset="0"/>
                            </a:rPr>
                            <m:t>og</m:t>
                          </m:r>
                        </m:fName>
                        <m:e>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𝑞</m:t>
                              </m:r>
                            </m:e>
                            <m:sub>
                              <m:r>
                                <a:rPr lang="ja-JP" altLang="en-US" sz="1400" i="1">
                                  <a:latin typeface="Cambria Math" panose="02040503050406030204" pitchFamily="18" charset="0"/>
                                </a:rPr>
                                <m:t>𝑎𝑔𝑔</m:t>
                              </m:r>
                            </m:sub>
                          </m:sSub>
                        </m:e>
                      </m:func>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oMath>
                  </m:oMathPara>
                </a14:m>
                <a:endParaRPr lang="ja-JP" altLang="en-US" sz="1400" dirty="0"/>
              </a:p>
            </p:txBody>
          </p:sp>
        </mc:Choice>
        <mc:Fallback xmlns="">
          <p:sp>
            <p:nvSpPr>
              <p:cNvPr id="53" name="テキスト ボックス 52">
                <a:extLst>
                  <a:ext uri="{FF2B5EF4-FFF2-40B4-BE49-F238E27FC236}">
                    <a16:creationId xmlns:a16="http://schemas.microsoft.com/office/drawing/2014/main" id="{6243DC41-6021-0D8D-9750-743CCC527B8A}"/>
                  </a:ext>
                </a:extLst>
              </p:cNvPr>
              <p:cNvSpPr txBox="1">
                <a:spLocks noRot="1" noChangeAspect="1" noMove="1" noResize="1" noEditPoints="1" noAdjustHandles="1" noChangeArrowheads="1" noChangeShapeType="1" noTextEdit="1"/>
              </p:cNvSpPr>
              <p:nvPr/>
            </p:nvSpPr>
            <p:spPr>
              <a:xfrm>
                <a:off x="4543414" y="2397356"/>
                <a:ext cx="2002674" cy="325282"/>
              </a:xfrm>
              <a:prstGeom prst="rect">
                <a:avLst/>
              </a:prstGeom>
              <a:blipFill>
                <a:blip r:embed="rId2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7" name="矢印: 右 56">
                <a:extLst>
                  <a:ext uri="{FF2B5EF4-FFF2-40B4-BE49-F238E27FC236}">
                    <a16:creationId xmlns:a16="http://schemas.microsoft.com/office/drawing/2014/main" id="{F00F2354-5922-A2A7-6062-7A793CF986F1}"/>
                  </a:ext>
                </a:extLst>
              </p:cNvPr>
              <p:cNvSpPr/>
              <p:nvPr/>
            </p:nvSpPr>
            <p:spPr>
              <a:xfrm>
                <a:off x="4429494" y="3242624"/>
                <a:ext cx="2525485" cy="318417"/>
              </a:xfrm>
              <a:prstGeom prst="rightArrow">
                <a:avLst>
                  <a:gd name="adj1" fmla="val 6243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t>6.</a:t>
                </a:r>
                <a:r>
                  <a:rPr lang="ja-JP" altLang="en-US" sz="1050" dirty="0"/>
                  <a:t>クラウド基盤整合</a:t>
                </a:r>
                <a14:m>
                  <m:oMath xmlns:m="http://schemas.openxmlformats.org/officeDocument/2006/math">
                    <m:sSubSup>
                      <m:sSubSupPr>
                        <m:ctrlPr>
                          <a:rPr lang="en-US" altLang="ja-JP" sz="1050" i="1">
                            <a:latin typeface="Cambria Math" panose="02040503050406030204" pitchFamily="18" charset="0"/>
                          </a:rPr>
                        </m:ctrlPr>
                      </m:sSubSupPr>
                      <m:e>
                        <m:r>
                          <a:rPr lang="ja-JP" altLang="en-US" sz="1050" i="1">
                            <a:latin typeface="Cambria Math" panose="02040503050406030204" pitchFamily="18" charset="0"/>
                          </a:rPr>
                          <m:t>𝑝</m:t>
                        </m:r>
                      </m:e>
                      <m:sub>
                        <m:r>
                          <a:rPr lang="en-US" altLang="ja-JP" sz="1050" i="1">
                            <a:latin typeface="Cambria Math" panose="02040503050406030204" pitchFamily="18" charset="0"/>
                          </a:rPr>
                          <m:t>𝑏𝑎𝑠𝑒</m:t>
                        </m:r>
                      </m:sub>
                      <m:sup>
                        <m:r>
                          <a:rPr lang="en-US" altLang="ja-JP" sz="1050" i="1">
                            <a:latin typeface="Cambria Math" panose="02040503050406030204" pitchFamily="18" charset="0"/>
                          </a:rPr>
                          <m:t>(</m:t>
                        </m:r>
                        <m:r>
                          <a:rPr lang="en-US" altLang="ja-JP" sz="1050" i="1">
                            <a:latin typeface="Cambria Math" panose="02040503050406030204" pitchFamily="18" charset="0"/>
                          </a:rPr>
                          <m:t>𝑟</m:t>
                        </m:r>
                        <m:r>
                          <a:rPr lang="en-US" altLang="ja-JP" sz="1050" i="1">
                            <a:latin typeface="Cambria Math" panose="02040503050406030204" pitchFamily="18" charset="0"/>
                          </a:rPr>
                          <m:t>−1)</m:t>
                        </m:r>
                      </m:sup>
                    </m:sSubSup>
                    <m:d>
                      <m:dPr>
                        <m:ctrlPr>
                          <a:rPr lang="ja-JP" altLang="en-US" sz="1050" i="1">
                            <a:latin typeface="Cambria Math" panose="02040503050406030204" pitchFamily="18" charset="0"/>
                          </a:rPr>
                        </m:ctrlPr>
                      </m:dPr>
                      <m:e>
                        <m:r>
                          <a:rPr lang="ja-JP" altLang="en-US" sz="1050" i="1">
                            <a:latin typeface="Cambria Math" panose="02040503050406030204" pitchFamily="18" charset="0"/>
                          </a:rPr>
                          <m:t>𝑥</m:t>
                        </m:r>
                      </m:e>
                    </m:d>
                    <m:r>
                      <a:rPr lang="ja-JP" altLang="en-US" sz="1050" i="1">
                        <a:latin typeface="Cambria Math" panose="02040503050406030204" pitchFamily="18" charset="0"/>
                      </a:rPr>
                      <m:t>に</m:t>
                    </m:r>
                  </m:oMath>
                </a14:m>
                <a:r>
                  <a:rPr lang="ja-JP" altLang="en-US" sz="1050" dirty="0"/>
                  <a:t>利用</a:t>
                </a:r>
              </a:p>
            </p:txBody>
          </p:sp>
        </mc:Choice>
        <mc:Fallback xmlns="">
          <p:sp>
            <p:nvSpPr>
              <p:cNvPr id="57" name="矢印: 右 56">
                <a:extLst>
                  <a:ext uri="{FF2B5EF4-FFF2-40B4-BE49-F238E27FC236}">
                    <a16:creationId xmlns:a16="http://schemas.microsoft.com/office/drawing/2014/main" id="{F00F2354-5922-A2A7-6062-7A793CF986F1}"/>
                  </a:ext>
                </a:extLst>
              </p:cNvPr>
              <p:cNvSpPr>
                <a:spLocks noRot="1" noChangeAspect="1" noMove="1" noResize="1" noEditPoints="1" noAdjustHandles="1" noChangeArrowheads="1" noChangeShapeType="1" noTextEdit="1"/>
              </p:cNvSpPr>
              <p:nvPr/>
            </p:nvSpPr>
            <p:spPr>
              <a:xfrm>
                <a:off x="4429494" y="3242624"/>
                <a:ext cx="2525485" cy="318417"/>
              </a:xfrm>
              <a:prstGeom prst="rightArrow">
                <a:avLst>
                  <a:gd name="adj1" fmla="val 62432"/>
                  <a:gd name="adj2" fmla="val 50000"/>
                </a:avLst>
              </a:prstGeom>
              <a:blipFill>
                <a:blip r:embed="rId30"/>
                <a:stretch>
                  <a:fillRect/>
                </a:stretch>
              </a:blipFill>
            </p:spPr>
            <p:txBody>
              <a:bodyPr/>
              <a:lstStyle/>
              <a:p>
                <a:r>
                  <a:rPr lang="ja-JP" altLang="en-US">
                    <a:noFill/>
                  </a:rPr>
                  <a:t> </a:t>
                </a:r>
              </a:p>
            </p:txBody>
          </p:sp>
        </mc:Fallback>
      </mc:AlternateContent>
      <p:sp>
        <p:nvSpPr>
          <p:cNvPr id="10" name="四角形: 角を丸くする 9">
            <a:extLst>
              <a:ext uri="{FF2B5EF4-FFF2-40B4-BE49-F238E27FC236}">
                <a16:creationId xmlns:a16="http://schemas.microsoft.com/office/drawing/2014/main" id="{14E09895-203A-C8FB-AAF3-87425E078364}"/>
              </a:ext>
            </a:extLst>
          </p:cNvPr>
          <p:cNvSpPr/>
          <p:nvPr/>
        </p:nvSpPr>
        <p:spPr>
          <a:xfrm>
            <a:off x="8332352" y="4869873"/>
            <a:ext cx="867061" cy="319963"/>
          </a:xfrm>
          <a:prstGeom prst="round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dirty="0"/>
              <a:t>新規性</a:t>
            </a:r>
            <a:endParaRPr kumimoji="1" lang="ja-JP" altLang="en-US" dirty="0"/>
          </a:p>
        </p:txBody>
      </p:sp>
    </p:spTree>
    <p:extLst>
      <p:ext uri="{BB962C8B-B14F-4D97-AF65-F5344CB8AC3E}">
        <p14:creationId xmlns:p14="http://schemas.microsoft.com/office/powerpoint/2010/main" val="97987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6CDFBA-7BDC-823F-3694-D19D7631E89F}"/>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F21713F2-708B-C594-3DF9-318CF008A71B}"/>
              </a:ext>
            </a:extLst>
          </p:cNvPr>
          <p:cNvSpPr>
            <a:spLocks noGrp="1"/>
          </p:cNvSpPr>
          <p:nvPr>
            <p:ph type="sldNum" sz="quarter" idx="4"/>
          </p:nvPr>
        </p:nvSpPr>
        <p:spPr/>
        <p:txBody>
          <a:bodyPr/>
          <a:lstStyle/>
          <a:p>
            <a:fld id="{C088C981-6885-4100-82A1-DE7074EC4480}" type="slidenum">
              <a:rPr lang="ja-JP" altLang="en-US" smtClean="0"/>
              <a:pPr/>
              <a:t>4</a:t>
            </a:fld>
            <a:endParaRPr lang="ja-JP" altLang="en-US" dirty="0">
              <a:latin typeface="Arial" panose="020B0604020202020204" pitchFamily="34" charset="0"/>
            </a:endParaRPr>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85A82646-2AA3-8E09-5771-E1962DECA259}"/>
                  </a:ext>
                </a:extLst>
              </p:cNvPr>
              <p:cNvSpPr txBox="1"/>
              <p:nvPr/>
            </p:nvSpPr>
            <p:spPr>
              <a:xfrm>
                <a:off x="655320" y="5746843"/>
                <a:ext cx="5010374" cy="1129284"/>
              </a:xfrm>
              <a:prstGeom prst="rect">
                <a:avLst/>
              </a:prstGeom>
              <a:noFill/>
            </p:spPr>
            <p:txBody>
              <a:bodyPr wrap="square">
                <a:spAutoFit/>
              </a:bodyPr>
              <a:lstStyle/>
              <a:p>
                <a:pPr algn="ctr"/>
                <a:r>
                  <a:rPr lang="ja-JP" altLang="en-US" b="0" dirty="0">
                    <a:latin typeface="Cambria Math" panose="02040503050406030204" pitchFamily="18" charset="0"/>
                  </a:rPr>
                  <a:t>蒸留</a:t>
                </a:r>
                <a:endParaRPr lang="en-US" altLang="ja-JP"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rPr>
                          </m:ctrlPr>
                        </m:sSubSupPr>
                        <m:e>
                          <m:r>
                            <a:rPr lang="ja-JP" altLang="en-US">
                              <a:latin typeface="Cambria Math" panose="02040503050406030204" pitchFamily="18" charset="0"/>
                            </a:rPr>
                            <m:t>ℒ</m:t>
                          </m:r>
                        </m:e>
                        <m:sub>
                          <m:r>
                            <a:rPr lang="en-US" altLang="ja-JP" b="0" i="1" smtClean="0">
                              <a:latin typeface="Cambria Math" panose="02040503050406030204" pitchFamily="18" charset="0"/>
                            </a:rPr>
                            <m:t>𝑑𝑖𝑠𝑡</m:t>
                          </m:r>
                        </m:sub>
                        <m:sup>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sup>
                      </m:sSubSup>
                      <m:r>
                        <a:rPr lang="ja-JP" altLang="en-US" i="0">
                          <a:latin typeface="Cambria Math" panose="02040503050406030204" pitchFamily="18" charset="0"/>
                        </a:rPr>
                        <m:t>=</m:t>
                      </m:r>
                      <m:f>
                        <m:fPr>
                          <m:ctrlPr>
                            <a:rPr lang="ja-JP" altLang="en-US" i="1">
                              <a:latin typeface="Cambria Math" panose="02040503050406030204" pitchFamily="18" charset="0"/>
                            </a:rPr>
                          </m:ctrlPr>
                        </m:fPr>
                        <m:num>
                          <m:sSup>
                            <m:sSupPr>
                              <m:ctrlPr>
                                <a:rPr lang="ja-JP" altLang="en-US" i="1">
                                  <a:latin typeface="Cambria Math" panose="02040503050406030204" pitchFamily="18" charset="0"/>
                                </a:rPr>
                              </m:ctrlPr>
                            </m:sSupPr>
                            <m:e>
                              <m:r>
                                <a:rPr lang="ja-JP" altLang="en-US" i="1">
                                  <a:latin typeface="Cambria Math" panose="02040503050406030204" pitchFamily="18" charset="0"/>
                                </a:rPr>
                                <m:t>𝑇</m:t>
                              </m:r>
                            </m:e>
                            <m:sup>
                              <m:r>
                                <a:rPr lang="ja-JP" altLang="en-US" i="0">
                                  <a:latin typeface="Cambria Math" panose="02040503050406030204" pitchFamily="18" charset="0"/>
                                </a:rPr>
                                <m:t>2</m:t>
                              </m:r>
                            </m:sup>
                          </m:sSup>
                        </m:num>
                        <m:den>
                          <m:d>
                            <m:dPr>
                              <m:begChr m:val="|"/>
                              <m:endChr m:val="|"/>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0">
                                      <a:latin typeface="Cambria Math" panose="02040503050406030204" pitchFamily="18" charset="0"/>
                                    </a:rPr>
                                    <m:t>𝒟</m:t>
                                  </m:r>
                                </m:e>
                                <m:sub>
                                  <m:r>
                                    <a:rPr lang="ja-JP" altLang="en-US" i="1">
                                      <a:latin typeface="Cambria Math" panose="02040503050406030204" pitchFamily="18" charset="0"/>
                                    </a:rPr>
                                    <m:t>𝑎𝑙𝑖𝑔𝑛</m:t>
                                  </m:r>
                                </m:sub>
                              </m:sSub>
                            </m:e>
                          </m:d>
                        </m:den>
                      </m:f>
                      <m:nary>
                        <m:naryPr>
                          <m:chr m:val="∑"/>
                          <m:limLoc m:val="undOvr"/>
                          <m:grow m:val="on"/>
                          <m:supHide m:val="on"/>
                          <m:ctrlPr>
                            <a:rPr lang="ja-JP" altLang="en-US" i="1">
                              <a:latin typeface="Cambria Math" panose="02040503050406030204" pitchFamily="18" charset="0"/>
                            </a:rPr>
                          </m:ctrlPr>
                        </m:naryPr>
                        <m:sub>
                          <m:r>
                            <a:rPr lang="ja-JP" altLang="en-US" i="1">
                              <a:latin typeface="Cambria Math" panose="02040503050406030204" pitchFamily="18" charset="0"/>
                            </a:rPr>
                            <m:t>𝑥</m:t>
                          </m:r>
                          <m:r>
                            <a:rPr lang="ja-JP" altLang="en-US" i="0">
                              <a:latin typeface="Cambria Math" panose="02040503050406030204" pitchFamily="18" charset="0"/>
                            </a:rPr>
                            <m:t>∈</m:t>
                          </m:r>
                          <m:sSub>
                            <m:sSubPr>
                              <m:ctrlPr>
                                <a:rPr lang="ja-JP" altLang="en-US" i="1">
                                  <a:latin typeface="Cambria Math" panose="02040503050406030204" pitchFamily="18" charset="0"/>
                                </a:rPr>
                              </m:ctrlPr>
                            </m:sSubPr>
                            <m:e>
                              <m:r>
                                <a:rPr lang="ja-JP" altLang="en-US" i="0">
                                  <a:latin typeface="Cambria Math" panose="02040503050406030204" pitchFamily="18" charset="0"/>
                                </a:rPr>
                                <m:t>𝒟</m:t>
                              </m:r>
                            </m:e>
                            <m:sub>
                              <m:r>
                                <a:rPr lang="ja-JP" altLang="en-US" i="1">
                                  <a:latin typeface="Cambria Math" panose="02040503050406030204" pitchFamily="18" charset="0"/>
                                </a:rPr>
                                <m:t>𝑎𝑙𝑖𝑔𝑛</m:t>
                              </m:r>
                            </m:sub>
                          </m:sSub>
                        </m:sub>
                        <m:sup/>
                        <m:e>
                          <m:r>
                            <a:rPr lang="ja-JP" altLang="en-US" i="0">
                              <a:latin typeface="Cambria Math" panose="02040503050406030204" pitchFamily="18" charset="0"/>
                            </a:rPr>
                            <m:t> </m:t>
                          </m:r>
                        </m:e>
                      </m:nary>
                      <m:r>
                        <m:rPr>
                          <m:sty m:val="p"/>
                        </m:rPr>
                        <a:rPr lang="ja-JP" altLang="en-US" i="0">
                          <a:latin typeface="Cambria Math" panose="02040503050406030204" pitchFamily="18" charset="0"/>
                        </a:rPr>
                        <m:t>KL</m:t>
                      </m:r>
                      <m:d>
                        <m:dPr>
                          <m:ctrlPr>
                            <a:rPr lang="ja-JP" altLang="en-US" i="1">
                              <a:latin typeface="Cambria Math" panose="02040503050406030204" pitchFamily="18" charset="0"/>
                            </a:rPr>
                          </m:ctrlPr>
                        </m:dPr>
                        <m:e>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𝑝</m:t>
                              </m:r>
                            </m:e>
                            <m:sub>
                              <m:r>
                                <a:rPr lang="en-US" altLang="ja-JP" b="0" i="1" smtClean="0">
                                  <a:latin typeface="Cambria Math" panose="02040503050406030204" pitchFamily="18" charset="0"/>
                                </a:rPr>
                                <m:t>𝑏𝑎𝑠𝑒</m:t>
                              </m:r>
                            </m:sub>
                            <m:sup>
                              <m:r>
                                <a:rPr lang="en-US" altLang="ja-JP" b="0" i="1" smtClean="0">
                                  <a:latin typeface="Cambria Math" panose="02040503050406030204" pitchFamily="18" charset="0"/>
                                </a:rPr>
                                <m:t>(</m:t>
                              </m:r>
                              <m:r>
                                <a:rPr lang="en-US" altLang="ja-JP" b="0" i="1" smtClean="0">
                                  <a:latin typeface="Cambria Math" panose="02040503050406030204" pitchFamily="18" charset="0"/>
                                </a:rPr>
                                <m:t>𝑟</m:t>
                              </m:r>
                              <m:r>
                                <a:rPr lang="en-US" altLang="ja-JP" b="0" i="1" smtClean="0">
                                  <a:latin typeface="Cambria Math" panose="02040503050406030204" pitchFamily="18" charset="0"/>
                                </a:rPr>
                                <m:t>−1)</m:t>
                              </m:r>
                            </m:sup>
                          </m:sSubSup>
                          <m:d>
                            <m:dPr>
                              <m:ctrlPr>
                                <a:rPr lang="ja-JP" altLang="en-US" i="1">
                                  <a:latin typeface="Cambria Math" panose="02040503050406030204" pitchFamily="18" charset="0"/>
                                </a:rPr>
                              </m:ctrlPr>
                            </m:dPr>
                            <m:e>
                              <m:r>
                                <a:rPr lang="ja-JP" altLang="en-US" i="1">
                                  <a:latin typeface="Cambria Math" panose="02040503050406030204" pitchFamily="18" charset="0"/>
                                </a:rPr>
                                <m:t>𝑥</m:t>
                              </m:r>
                            </m:e>
                          </m:d>
                          <m:d>
                            <m:dPr>
                              <m:begChr m:val="‖"/>
                              <m:endChr m:val=""/>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𝑝</m:t>
                                  </m:r>
                                </m:e>
                                <m:sub>
                                  <m:r>
                                    <a:rPr lang="en-US" altLang="ja-JP" b="0" i="1" smtClean="0">
                                      <a:latin typeface="Cambria Math" panose="02040503050406030204" pitchFamily="18" charset="0"/>
                                    </a:rPr>
                                    <m:t>𝑘</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e>
                          </m:d>
                        </m:e>
                      </m:d>
                    </m:oMath>
                  </m:oMathPara>
                </a14:m>
                <a:endParaRPr lang="ja-JP" altLang="en-US" dirty="0"/>
              </a:p>
            </p:txBody>
          </p:sp>
        </mc:Choice>
        <mc:Fallback>
          <p:sp>
            <p:nvSpPr>
              <p:cNvPr id="6" name="テキスト ボックス 5">
                <a:extLst>
                  <a:ext uri="{FF2B5EF4-FFF2-40B4-BE49-F238E27FC236}">
                    <a16:creationId xmlns:a16="http://schemas.microsoft.com/office/drawing/2014/main" id="{85A82646-2AA3-8E09-5771-E1962DECA259}"/>
                  </a:ext>
                </a:extLst>
              </p:cNvPr>
              <p:cNvSpPr txBox="1">
                <a:spLocks noRot="1" noChangeAspect="1" noMove="1" noResize="1" noEditPoints="1" noAdjustHandles="1" noChangeArrowheads="1" noChangeShapeType="1" noTextEdit="1"/>
              </p:cNvSpPr>
              <p:nvPr/>
            </p:nvSpPr>
            <p:spPr>
              <a:xfrm>
                <a:off x="655320" y="5746843"/>
                <a:ext cx="5010374" cy="1129284"/>
              </a:xfrm>
              <a:prstGeom prst="rect">
                <a:avLst/>
              </a:prstGeom>
              <a:blipFill>
                <a:blip r:embed="rId2"/>
                <a:stretch>
                  <a:fillRect t="-4324"/>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8" name="テキスト ボックス 7">
                <a:extLst>
                  <a:ext uri="{FF2B5EF4-FFF2-40B4-BE49-F238E27FC236}">
                    <a16:creationId xmlns:a16="http://schemas.microsoft.com/office/drawing/2014/main" id="{229BAF54-EA05-5E23-4404-04B2DD40B4D9}"/>
                  </a:ext>
                </a:extLst>
              </p:cNvPr>
              <p:cNvSpPr txBox="1"/>
              <p:nvPr/>
            </p:nvSpPr>
            <p:spPr>
              <a:xfrm>
                <a:off x="1321067" y="1367736"/>
                <a:ext cx="2707105" cy="646331"/>
              </a:xfrm>
              <a:prstGeom prst="rect">
                <a:avLst/>
              </a:prstGeom>
              <a:noFill/>
            </p:spPr>
            <p:txBody>
              <a:bodyPr wrap="square">
                <a:spAutoFit/>
              </a:bodyPr>
              <a:lstStyle/>
              <a:p>
                <a:pPr algn="ctr"/>
                <a:r>
                  <a:rPr lang="ja-JP" altLang="ja-JP" dirty="0"/>
                  <a:t>出力ロジット</a:t>
                </a:r>
                <a:r>
                  <a:rPr lang="ja-JP" altLang="en-US" dirty="0"/>
                  <a:t>の計算</a:t>
                </a:r>
                <a:endParaRPr lang="en-US" altLang="ja-JP"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ja-JP" altLang="en-US" i="1" smtClean="0">
                              <a:latin typeface="Cambria Math" panose="02040503050406030204" pitchFamily="18" charset="0"/>
                            </a:rPr>
                          </m:ctrlPr>
                        </m:sSubPr>
                        <m:e>
                          <m:r>
                            <a:rPr lang="ja-JP" altLang="en-US" i="1">
                              <a:latin typeface="Cambria Math" panose="02040503050406030204" pitchFamily="18" charset="0"/>
                            </a:rPr>
                            <m:t>𝑧</m:t>
                          </m:r>
                        </m:e>
                        <m:sub>
                          <m:r>
                            <a:rPr lang="ja-JP" altLang="en-US" i="1">
                              <a:latin typeface="Cambria Math" panose="02040503050406030204" pitchFamily="18" charset="0"/>
                            </a:rPr>
                            <m:t>𝑏𝑎𝑠𝑒</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r>
                        <a:rPr lang="ja-JP" altLang="en-US" i="0">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𝑊</m:t>
                          </m:r>
                        </m:e>
                        <m:sub>
                          <m:r>
                            <a:rPr lang="ja-JP" altLang="en-US" i="0">
                              <a:latin typeface="Cambria Math" panose="02040503050406030204" pitchFamily="18" charset="0"/>
                            </a:rPr>
                            <m:t>0</m:t>
                          </m:r>
                        </m:sub>
                      </m:sSub>
                      <m:r>
                        <a:rPr lang="ja-JP" altLang="en-US" i="1">
                          <a:latin typeface="Cambria Math" panose="02040503050406030204" pitchFamily="18" charset="0"/>
                        </a:rPr>
                        <m:t>𝑥</m:t>
                      </m:r>
                      <m:r>
                        <a:rPr lang="ja-JP" altLang="en-US" i="0">
                          <a:latin typeface="Cambria Math" panose="02040503050406030204" pitchFamily="18" charset="0"/>
                        </a:rPr>
                        <m:t>+</m:t>
                      </m:r>
                      <m:r>
                        <a:rPr lang="ja-JP" altLang="en-US" i="1">
                          <a:latin typeface="Cambria Math" panose="02040503050406030204" pitchFamily="18" charset="0"/>
                        </a:rPr>
                        <m:t>𝐵𝐴𝑥</m:t>
                      </m:r>
                    </m:oMath>
                  </m:oMathPara>
                </a14:m>
                <a:endParaRPr lang="ja-JP" altLang="en-US" dirty="0"/>
              </a:p>
            </p:txBody>
          </p:sp>
        </mc:Choice>
        <mc:Fallback>
          <p:sp>
            <p:nvSpPr>
              <p:cNvPr id="8" name="テキスト ボックス 7">
                <a:extLst>
                  <a:ext uri="{FF2B5EF4-FFF2-40B4-BE49-F238E27FC236}">
                    <a16:creationId xmlns:a16="http://schemas.microsoft.com/office/drawing/2014/main" id="{229BAF54-EA05-5E23-4404-04B2DD40B4D9}"/>
                  </a:ext>
                </a:extLst>
              </p:cNvPr>
              <p:cNvSpPr txBox="1">
                <a:spLocks noRot="1" noChangeAspect="1" noMove="1" noResize="1" noEditPoints="1" noAdjustHandles="1" noChangeArrowheads="1" noChangeShapeType="1" noTextEdit="1"/>
              </p:cNvSpPr>
              <p:nvPr/>
            </p:nvSpPr>
            <p:spPr>
              <a:xfrm>
                <a:off x="1321067" y="1367736"/>
                <a:ext cx="2707105" cy="646331"/>
              </a:xfrm>
              <a:prstGeom prst="rect">
                <a:avLst/>
              </a:prstGeom>
              <a:blipFill>
                <a:blip r:embed="rId3"/>
                <a:stretch>
                  <a:fillRect t="-6604"/>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F5868CA2-204C-8053-AAFB-72538082911F}"/>
              </a:ext>
            </a:extLst>
          </p:cNvPr>
          <p:cNvSpPr txBox="1"/>
          <p:nvPr/>
        </p:nvSpPr>
        <p:spPr>
          <a:xfrm>
            <a:off x="2246089" y="830609"/>
            <a:ext cx="985253" cy="369332"/>
          </a:xfrm>
          <a:prstGeom prst="rect">
            <a:avLst/>
          </a:prstGeom>
          <a:noFill/>
        </p:spPr>
        <p:txBody>
          <a:bodyPr wrap="square">
            <a:spAutoFit/>
          </a:bodyPr>
          <a:lstStyle/>
          <a:p>
            <a:r>
              <a:rPr lang="ja-JP" altLang="en-US" dirty="0"/>
              <a:t>基盤側</a:t>
            </a:r>
          </a:p>
        </p:txBody>
      </p:sp>
      <mc:AlternateContent xmlns:mc="http://schemas.openxmlformats.org/markup-compatibility/2006">
        <mc:Choice xmlns:a14="http://schemas.microsoft.com/office/drawing/2010/main" Requires="a14">
          <p:sp>
            <p:nvSpPr>
              <p:cNvPr id="12" name="テキスト ボックス 11">
                <a:extLst>
                  <a:ext uri="{FF2B5EF4-FFF2-40B4-BE49-F238E27FC236}">
                    <a16:creationId xmlns:a16="http://schemas.microsoft.com/office/drawing/2014/main" id="{13F7BA83-5789-DFE6-3509-30C761979FF1}"/>
                  </a:ext>
                </a:extLst>
              </p:cNvPr>
              <p:cNvSpPr txBox="1"/>
              <p:nvPr/>
            </p:nvSpPr>
            <p:spPr>
              <a:xfrm>
                <a:off x="7482409" y="1363950"/>
                <a:ext cx="4075587" cy="1077218"/>
              </a:xfrm>
              <a:prstGeom prst="rect">
                <a:avLst/>
              </a:prstGeom>
              <a:noFill/>
            </p:spPr>
            <p:txBody>
              <a:bodyPr wrap="square">
                <a:spAutoFit/>
              </a:bodyPr>
              <a:lstStyle/>
              <a:p>
                <a:pPr algn="ctr"/>
                <a:r>
                  <a:rPr lang="ja-JP" altLang="en-US" dirty="0">
                    <a:latin typeface="Cambria Math" panose="02040503050406030204" pitchFamily="18" charset="0"/>
                  </a:rPr>
                  <a:t>端末学習</a:t>
                </a:r>
                <a:endParaRPr lang="en-US" altLang="ja-JP"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Sup>
                        <m:sSubSupPr>
                          <m:ctrlPr>
                            <a:rPr lang="ja-JP" altLang="en-US" i="1" smtClean="0">
                              <a:latin typeface="Cambria Math" panose="02040503050406030204" pitchFamily="18" charset="0"/>
                            </a:rPr>
                          </m:ctrlPr>
                        </m:sSubSupPr>
                        <m:e>
                          <m:r>
                            <a:rPr lang="en-US" altLang="ja-JP" i="1">
                              <a:latin typeface="Cambria Math" panose="02040503050406030204" pitchFamily="18" charset="0"/>
                            </a:rPr>
                            <m:t>ℒ</m:t>
                          </m:r>
                        </m:e>
                        <m:sub>
                          <m:r>
                            <a:rPr lang="ja-JP" altLang="en-US" i="1">
                              <a:latin typeface="Cambria Math" panose="02040503050406030204" pitchFamily="18" charset="0"/>
                            </a:rPr>
                            <m:t>𝑡𝑎𝑠𝑘</m:t>
                          </m:r>
                        </m:sub>
                        <m:sup>
                          <m:d>
                            <m:dPr>
                              <m:ctrlPr>
                                <a:rPr lang="ja-JP" altLang="en-US" i="1">
                                  <a:latin typeface="Cambria Math" panose="02040503050406030204" pitchFamily="18" charset="0"/>
                                </a:rPr>
                              </m:ctrlPr>
                            </m:dPr>
                            <m:e>
                              <m:r>
                                <a:rPr lang="ja-JP" altLang="en-US" i="1">
                                  <a:latin typeface="Cambria Math" panose="02040503050406030204" pitchFamily="18" charset="0"/>
                                </a:rPr>
                                <m:t>𝑘</m:t>
                              </m:r>
                            </m:e>
                          </m:d>
                        </m:sup>
                      </m:sSubSup>
                      <m:r>
                        <a:rPr lang="en-US" altLang="ja-JP" i="1">
                          <a:latin typeface="Cambria Math" panose="02040503050406030204" pitchFamily="18" charset="0"/>
                        </a:rPr>
                        <m:t>=</m:t>
                      </m:r>
                      <m:f>
                        <m:fPr>
                          <m:ctrlPr>
                            <a:rPr lang="ja-JP" altLang="en-US" i="1">
                              <a:latin typeface="Cambria Math" panose="02040503050406030204" pitchFamily="18" charset="0"/>
                            </a:rPr>
                          </m:ctrlPr>
                        </m:fPr>
                        <m:num>
                          <m:r>
                            <a:rPr lang="en-US" altLang="ja-JP" i="1">
                              <a:latin typeface="Cambria Math" panose="02040503050406030204" pitchFamily="18" charset="0"/>
                            </a:rPr>
                            <m:t>1</m:t>
                          </m:r>
                        </m:num>
                        <m:den>
                          <m:d>
                            <m:dPr>
                              <m:begChr m:val="|"/>
                              <m:endChr m:val="|"/>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𝒟</m:t>
                                  </m:r>
                                </m:e>
                                <m:sub>
                                  <m:r>
                                    <a:rPr lang="ja-JP" altLang="en-US" i="1">
                                      <a:latin typeface="Cambria Math" panose="02040503050406030204" pitchFamily="18" charset="0"/>
                                    </a:rPr>
                                    <m:t>𝑘</m:t>
                                  </m:r>
                                </m:sub>
                              </m:sSub>
                            </m:e>
                          </m:d>
                        </m:den>
                      </m:f>
                      <m:nary>
                        <m:naryPr>
                          <m:chr m:val="∑"/>
                          <m:limLoc m:val="undOvr"/>
                          <m:grow m:val="on"/>
                          <m:supHide m:val="on"/>
                          <m:ctrlPr>
                            <a:rPr lang="ja-JP" altLang="en-US" i="1">
                              <a:latin typeface="Cambria Math" panose="02040503050406030204" pitchFamily="18" charset="0"/>
                            </a:rPr>
                          </m:ctrlPr>
                        </m:naryPr>
                        <m:sub>
                          <m:r>
                            <a:rPr lang="en-US" altLang="ja-JP" i="1">
                              <a:latin typeface="Cambria Math" panose="02040503050406030204" pitchFamily="18" charset="0"/>
                            </a:rPr>
                            <m:t>(</m:t>
                          </m:r>
                          <m:r>
                            <a:rPr lang="ja-JP" altLang="en-US" i="1">
                              <a:latin typeface="Cambria Math" panose="02040503050406030204" pitchFamily="18" charset="0"/>
                            </a:rPr>
                            <m:t>𝑥</m:t>
                          </m:r>
                          <m:r>
                            <a:rPr lang="en-US" altLang="ja-JP" i="1">
                              <a:latin typeface="Cambria Math" panose="02040503050406030204" pitchFamily="18" charset="0"/>
                            </a:rPr>
                            <m:t>,</m:t>
                          </m:r>
                          <m:r>
                            <a:rPr lang="ja-JP" altLang="en-US" i="1">
                              <a:latin typeface="Cambria Math" panose="02040503050406030204" pitchFamily="18" charset="0"/>
                            </a:rPr>
                            <m:t>𝑦</m:t>
                          </m:r>
                          <m:r>
                            <a:rPr lang="en-US" altLang="ja-JP" i="1">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𝒟</m:t>
                              </m:r>
                            </m:e>
                            <m:sub>
                              <m:r>
                                <a:rPr lang="ja-JP" altLang="en-US" i="1">
                                  <a:latin typeface="Cambria Math" panose="02040503050406030204" pitchFamily="18" charset="0"/>
                                </a:rPr>
                                <m:t>𝑘</m:t>
                              </m:r>
                            </m:sub>
                          </m:sSub>
                        </m:sub>
                        <m:sup/>
                        <m:e>
                          <m:r>
                            <a:rPr lang="ja-JP" altLang="en-US" i="1">
                              <a:latin typeface="Cambria Math" panose="02040503050406030204" pitchFamily="18" charset="0"/>
                            </a:rPr>
                            <m:t> </m:t>
                          </m:r>
                        </m:e>
                      </m:nary>
                      <m:r>
                        <m:rPr>
                          <m:sty m:val="p"/>
                        </m:rPr>
                        <a:rPr lang="en-US" altLang="ja-JP">
                          <a:latin typeface="Cambria Math" panose="02040503050406030204" pitchFamily="18" charset="0"/>
                        </a:rPr>
                        <m:t>CE</m:t>
                      </m:r>
                      <m:d>
                        <m:dPr>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𝑓</m:t>
                              </m:r>
                            </m:e>
                            <m:sub>
                              <m:r>
                                <a:rPr lang="ja-JP" altLang="en-US" i="1">
                                  <a:latin typeface="Cambria Math" panose="02040503050406030204" pitchFamily="18" charset="0"/>
                                </a:rPr>
                                <m:t>𝑘</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r>
                                <a:rPr lang="en-US" altLang="ja-JP" i="1">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𝜃</m:t>
                                  </m:r>
                                </m:e>
                                <m:sub>
                                  <m:r>
                                    <a:rPr lang="ja-JP" altLang="en-US" i="1">
                                      <a:latin typeface="Cambria Math" panose="02040503050406030204" pitchFamily="18" charset="0"/>
                                    </a:rPr>
                                    <m:t>𝑘</m:t>
                                  </m:r>
                                </m:sub>
                              </m:sSub>
                            </m:e>
                          </m:d>
                          <m:r>
                            <a:rPr lang="en-US" altLang="ja-JP" i="1">
                              <a:latin typeface="Cambria Math" panose="02040503050406030204" pitchFamily="18" charset="0"/>
                            </a:rPr>
                            <m:t>,</m:t>
                          </m:r>
                          <m:r>
                            <a:rPr lang="ja-JP" altLang="en-US" i="1">
                              <a:latin typeface="Cambria Math" panose="02040503050406030204" pitchFamily="18" charset="0"/>
                            </a:rPr>
                            <m:t>𝑦</m:t>
                          </m:r>
                        </m:e>
                      </m:d>
                    </m:oMath>
                  </m:oMathPara>
                </a14:m>
                <a:endParaRPr lang="ja-JP" altLang="en-US" dirty="0"/>
              </a:p>
            </p:txBody>
          </p:sp>
        </mc:Choice>
        <mc:Fallback>
          <p:sp>
            <p:nvSpPr>
              <p:cNvPr id="12" name="テキスト ボックス 11">
                <a:extLst>
                  <a:ext uri="{FF2B5EF4-FFF2-40B4-BE49-F238E27FC236}">
                    <a16:creationId xmlns:a16="http://schemas.microsoft.com/office/drawing/2014/main" id="{13F7BA83-5789-DFE6-3509-30C761979FF1}"/>
                  </a:ext>
                </a:extLst>
              </p:cNvPr>
              <p:cNvSpPr txBox="1">
                <a:spLocks noRot="1" noChangeAspect="1" noMove="1" noResize="1" noEditPoints="1" noAdjustHandles="1" noChangeArrowheads="1" noChangeShapeType="1" noTextEdit="1"/>
              </p:cNvSpPr>
              <p:nvPr/>
            </p:nvSpPr>
            <p:spPr>
              <a:xfrm>
                <a:off x="7482409" y="1363950"/>
                <a:ext cx="4075587" cy="1077218"/>
              </a:xfrm>
              <a:prstGeom prst="rect">
                <a:avLst/>
              </a:prstGeom>
              <a:blipFill>
                <a:blip r:embed="rId4"/>
                <a:stretch>
                  <a:fillRect t="-4545"/>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08CF3965-B50C-0DFE-AA58-EAB591A9DCEB}"/>
              </a:ext>
            </a:extLst>
          </p:cNvPr>
          <p:cNvSpPr txBox="1"/>
          <p:nvPr/>
        </p:nvSpPr>
        <p:spPr>
          <a:xfrm>
            <a:off x="8390733" y="846024"/>
            <a:ext cx="2065600" cy="369332"/>
          </a:xfrm>
          <a:prstGeom prst="rect">
            <a:avLst/>
          </a:prstGeom>
          <a:noFill/>
        </p:spPr>
        <p:txBody>
          <a:bodyPr wrap="square">
            <a:spAutoFit/>
          </a:bodyPr>
          <a:lstStyle/>
          <a:p>
            <a:r>
              <a:rPr lang="ja-JP" altLang="en-US" dirty="0"/>
              <a:t>クライアント側</a:t>
            </a:r>
          </a:p>
        </p:txBody>
      </p:sp>
      <mc:AlternateContent xmlns:mc="http://schemas.openxmlformats.org/markup-compatibility/2006">
        <mc:Choice xmlns:a14="http://schemas.microsoft.com/office/drawing/2010/main" Requires="a14">
          <p:sp>
            <p:nvSpPr>
              <p:cNvPr id="16" name="テキスト ボックス 15">
                <a:extLst>
                  <a:ext uri="{FF2B5EF4-FFF2-40B4-BE49-F238E27FC236}">
                    <a16:creationId xmlns:a16="http://schemas.microsoft.com/office/drawing/2014/main" id="{7791BFCD-C4B7-978E-7DE8-048E488D17A2}"/>
                  </a:ext>
                </a:extLst>
              </p:cNvPr>
              <p:cNvSpPr txBox="1"/>
              <p:nvPr/>
            </p:nvSpPr>
            <p:spPr>
              <a:xfrm>
                <a:off x="-1" y="2164169"/>
                <a:ext cx="6392334" cy="1261051"/>
              </a:xfrm>
              <a:prstGeom prst="rect">
                <a:avLst/>
              </a:prstGeom>
              <a:noFill/>
            </p:spPr>
            <p:txBody>
              <a:bodyPr wrap="square">
                <a:spAutoFit/>
              </a:bodyPr>
              <a:lstStyle/>
              <a:p>
                <a:pPr algn="ctr"/>
                <a:r>
                  <a:rPr lang="ja-JP" altLang="ja-JP" dirty="0"/>
                  <a:t>出力空間での誤差関数</a:t>
                </a:r>
                <a:endParaRPr lang="en-US" altLang="ja-JP"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ja-JP" altLang="en-US" i="1" smtClean="0">
                              <a:latin typeface="Cambria Math" panose="02040503050406030204" pitchFamily="18" charset="0"/>
                            </a:rPr>
                          </m:ctrlPr>
                        </m:sSubPr>
                        <m:e>
                          <m:r>
                            <a:rPr lang="ja-JP" altLang="en-US">
                              <a:latin typeface="Cambria Math" panose="02040503050406030204" pitchFamily="18" charset="0"/>
                            </a:rPr>
                            <m:t>ℒ</m:t>
                          </m:r>
                        </m:e>
                        <m:sub>
                          <m:r>
                            <a:rPr lang="ja-JP" altLang="en-US" i="1">
                              <a:latin typeface="Cambria Math" panose="02040503050406030204" pitchFamily="18" charset="0"/>
                            </a:rPr>
                            <m:t>𝑝𝑟𝑒𝑑</m:t>
                          </m:r>
                        </m:sub>
                      </m:sSub>
                      <m:r>
                        <a:rPr lang="ja-JP" altLang="en-US" i="0">
                          <a:latin typeface="Cambria Math" panose="02040503050406030204" pitchFamily="18" charset="0"/>
                        </a:rPr>
                        <m:t>=</m:t>
                      </m:r>
                      <m:sSub>
                        <m:sSubPr>
                          <m:ctrlPr>
                            <a:rPr lang="ja-JP" altLang="en-US" i="1">
                              <a:latin typeface="Cambria Math" panose="02040503050406030204" pitchFamily="18" charset="0"/>
                            </a:rPr>
                          </m:ctrlPr>
                        </m:sSubPr>
                        <m:e>
                          <m:r>
                            <a:rPr lang="ja-JP" altLang="en-US" i="0">
                              <a:latin typeface="Cambria Math" panose="02040503050406030204" pitchFamily="18" charset="0"/>
                            </a:rPr>
                            <m:t>𝔼</m:t>
                          </m:r>
                        </m:e>
                        <m:sub>
                          <m:r>
                            <a:rPr lang="ja-JP" altLang="en-US" i="1">
                              <a:latin typeface="Cambria Math" panose="02040503050406030204" pitchFamily="18" charset="0"/>
                            </a:rPr>
                            <m:t>𝑥</m:t>
                          </m:r>
                          <m:r>
                            <a:rPr lang="ja-JP" altLang="en-US" i="0">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𝐷</m:t>
                              </m:r>
                            </m:e>
                            <m:sub>
                              <m:r>
                                <a:rPr lang="ja-JP" altLang="en-US" i="1">
                                  <a:latin typeface="Cambria Math" panose="02040503050406030204" pitchFamily="18" charset="0"/>
                                </a:rPr>
                                <m:t>𝑎𝑙𝑖𝑔𝑛</m:t>
                              </m:r>
                            </m:sub>
                          </m:sSub>
                        </m:sub>
                      </m:sSub>
                      <m:d>
                        <m:dPr>
                          <m:begChr m:val="["/>
                          <m:endChr m:val="]"/>
                          <m:ctrlPr>
                            <a:rPr lang="ja-JP" altLang="en-US" i="1">
                              <a:latin typeface="Cambria Math" panose="02040503050406030204" pitchFamily="18" charset="0"/>
                            </a:rPr>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𝑇</m:t>
                              </m:r>
                            </m:e>
                            <m:sup>
                              <m:r>
                                <a:rPr lang="ja-JP" altLang="en-US" i="0">
                                  <a:latin typeface="Cambria Math" panose="02040503050406030204" pitchFamily="18" charset="0"/>
                                </a:rPr>
                                <m:t>2</m:t>
                              </m:r>
                            </m:sup>
                          </m:sSup>
                          <m:nary>
                            <m:naryPr>
                              <m:chr m:val="∑"/>
                              <m:limLoc m:val="undOvr"/>
                              <m:grow m:val="on"/>
                              <m:supHide m:val="on"/>
                              <m:ctrlPr>
                                <a:rPr lang="ja-JP" altLang="en-US" i="1">
                                  <a:latin typeface="Cambria Math" panose="02040503050406030204" pitchFamily="18" charset="0"/>
                                </a:rPr>
                              </m:ctrlPr>
                            </m:naryPr>
                            <m:sub>
                              <m:r>
                                <a:rPr lang="ja-JP" altLang="en-US" i="1">
                                  <a:latin typeface="Cambria Math" panose="02040503050406030204" pitchFamily="18" charset="0"/>
                                </a:rPr>
                                <m:t>𝑐</m:t>
                              </m:r>
                            </m:sub>
                            <m:sup/>
                            <m:e>
                              <m:r>
                                <a:rPr lang="ja-JP" altLang="en-US" i="0">
                                  <a:latin typeface="Cambria Math" panose="02040503050406030204" pitchFamily="18" charset="0"/>
                                </a:rPr>
                                <m:t> </m:t>
                              </m:r>
                            </m:e>
                          </m:nary>
                          <m:sSub>
                            <m:sSubPr>
                              <m:ctrlPr>
                                <a:rPr lang="ja-JP" altLang="en-US" i="1">
                                  <a:latin typeface="Cambria Math" panose="02040503050406030204" pitchFamily="18" charset="0"/>
                                </a:rPr>
                              </m:ctrlPr>
                            </m:sSubPr>
                            <m:e>
                              <m:r>
                                <a:rPr lang="ja-JP" altLang="en-US" i="1">
                                  <a:latin typeface="Cambria Math" panose="02040503050406030204" pitchFamily="18" charset="0"/>
                                </a:rPr>
                                <m:t>𝜎</m:t>
                              </m:r>
                            </m:e>
                            <m:sub>
                              <m:r>
                                <a:rPr lang="ja-JP" altLang="en-US" i="1">
                                  <a:latin typeface="Cambria Math" panose="02040503050406030204" pitchFamily="18" charset="0"/>
                                </a:rPr>
                                <m:t>𝑇</m:t>
                              </m:r>
                            </m:sub>
                          </m:sSub>
                          <m:sSub>
                            <m:sSubPr>
                              <m:ctrlPr>
                                <a:rPr lang="ja-JP" altLang="en-US" i="1">
                                  <a:latin typeface="Cambria Math" panose="02040503050406030204" pitchFamily="18" charset="0"/>
                                </a:rPr>
                              </m:ctrlPr>
                            </m:sSubPr>
                            <m:e>
                              <m:d>
                                <m:dPr>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𝑧</m:t>
                                      </m:r>
                                    </m:e>
                                    <m:sub>
                                      <m:r>
                                        <a:rPr lang="ja-JP" altLang="en-US" i="1">
                                          <a:latin typeface="Cambria Math" panose="02040503050406030204" pitchFamily="18" charset="0"/>
                                        </a:rPr>
                                        <m:t>𝑎𝑔𝑔</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e>
                              </m:d>
                            </m:e>
                            <m:sub>
                              <m:r>
                                <a:rPr lang="ja-JP" altLang="en-US" i="1">
                                  <a:latin typeface="Cambria Math" panose="02040503050406030204" pitchFamily="18" charset="0"/>
                                </a:rPr>
                                <m:t>𝑐</m:t>
                              </m:r>
                            </m:sub>
                          </m:sSub>
                          <m:r>
                            <m:rPr>
                              <m:sty m:val="p"/>
                            </m:rPr>
                            <a:rPr lang="ja-JP" altLang="en-US" i="0">
                              <a:latin typeface="Cambria Math" panose="02040503050406030204" pitchFamily="18" charset="0"/>
                            </a:rPr>
                            <m:t>lo</m:t>
                          </m:r>
                          <m:func>
                            <m:funcPr>
                              <m:ctrlPr>
                                <a:rPr lang="ja-JP" altLang="en-US" i="1">
                                  <a:latin typeface="Cambria Math" panose="02040503050406030204" pitchFamily="18" charset="0"/>
                                </a:rPr>
                              </m:ctrlPr>
                            </m:funcPr>
                            <m:fName>
                              <m:r>
                                <m:rPr>
                                  <m:sty m:val="p"/>
                                </m:rPr>
                                <a:rPr lang="ja-JP" altLang="en-US" i="0">
                                  <a:latin typeface="Cambria Math" panose="02040503050406030204" pitchFamily="18" charset="0"/>
                                </a:rPr>
                                <m:t>g</m:t>
                              </m:r>
                            </m:fName>
                            <m:e>
                              <m:d>
                                <m:dPr>
                                  <m:ctrlPr>
                                    <a:rPr lang="ja-JP" altLang="en-US" i="1">
                                      <a:latin typeface="Cambria Math" panose="02040503050406030204" pitchFamily="18" charset="0"/>
                                    </a:rPr>
                                  </m:ctrlPr>
                                </m:dPr>
                                <m:e>
                                  <m:f>
                                    <m:fPr>
                                      <m:ctrlPr>
                                        <a:rPr lang="ja-JP" altLang="en-US" i="1">
                                          <a:latin typeface="Cambria Math" panose="02040503050406030204" pitchFamily="18" charset="0"/>
                                        </a:rPr>
                                      </m:ctrlPr>
                                    </m:fPr>
                                    <m:num>
                                      <m:sSub>
                                        <m:sSubPr>
                                          <m:ctrlPr>
                                            <a:rPr lang="ja-JP" altLang="en-US" i="1">
                                              <a:latin typeface="Cambria Math" panose="02040503050406030204" pitchFamily="18" charset="0"/>
                                            </a:rPr>
                                          </m:ctrlPr>
                                        </m:sSubPr>
                                        <m:e>
                                          <m:r>
                                            <a:rPr lang="ja-JP" altLang="en-US" i="1">
                                              <a:latin typeface="Cambria Math" panose="02040503050406030204" pitchFamily="18" charset="0"/>
                                            </a:rPr>
                                            <m:t>𝜎</m:t>
                                          </m:r>
                                        </m:e>
                                        <m:sub>
                                          <m:r>
                                            <a:rPr lang="ja-JP" altLang="en-US" i="1">
                                              <a:latin typeface="Cambria Math" panose="02040503050406030204" pitchFamily="18" charset="0"/>
                                            </a:rPr>
                                            <m:t>𝑇</m:t>
                                          </m:r>
                                        </m:sub>
                                      </m:sSub>
                                      <m:sSub>
                                        <m:sSubPr>
                                          <m:ctrlPr>
                                            <a:rPr lang="ja-JP" altLang="en-US" i="1">
                                              <a:latin typeface="Cambria Math" panose="02040503050406030204" pitchFamily="18" charset="0"/>
                                            </a:rPr>
                                          </m:ctrlPr>
                                        </m:sSubPr>
                                        <m:e>
                                          <m:d>
                                            <m:dPr>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𝑧</m:t>
                                                  </m:r>
                                                </m:e>
                                                <m:sub>
                                                  <m:r>
                                                    <a:rPr lang="ja-JP" altLang="en-US" i="1">
                                                      <a:latin typeface="Cambria Math" panose="02040503050406030204" pitchFamily="18" charset="0"/>
                                                    </a:rPr>
                                                    <m:t>𝑎𝑔𝑔</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e>
                                          </m:d>
                                        </m:e>
                                        <m:sub>
                                          <m:r>
                                            <a:rPr lang="ja-JP" altLang="en-US" i="1">
                                              <a:latin typeface="Cambria Math" panose="02040503050406030204" pitchFamily="18" charset="0"/>
                                            </a:rPr>
                                            <m:t>𝑐</m:t>
                                          </m:r>
                                        </m:sub>
                                      </m:sSub>
                                    </m:num>
                                    <m:den>
                                      <m:sSub>
                                        <m:sSubPr>
                                          <m:ctrlPr>
                                            <a:rPr lang="ja-JP" altLang="en-US" i="1">
                                              <a:latin typeface="Cambria Math" panose="02040503050406030204" pitchFamily="18" charset="0"/>
                                            </a:rPr>
                                          </m:ctrlPr>
                                        </m:sSubPr>
                                        <m:e>
                                          <m:r>
                                            <a:rPr lang="ja-JP" altLang="en-US" i="1">
                                              <a:latin typeface="Cambria Math" panose="02040503050406030204" pitchFamily="18" charset="0"/>
                                            </a:rPr>
                                            <m:t>𝜎</m:t>
                                          </m:r>
                                        </m:e>
                                        <m:sub>
                                          <m:r>
                                            <a:rPr lang="ja-JP" altLang="en-US" i="1">
                                              <a:latin typeface="Cambria Math" panose="02040503050406030204" pitchFamily="18" charset="0"/>
                                            </a:rPr>
                                            <m:t>𝑇</m:t>
                                          </m:r>
                                        </m:sub>
                                      </m:sSub>
                                      <m:sSub>
                                        <m:sSubPr>
                                          <m:ctrlPr>
                                            <a:rPr lang="ja-JP" altLang="en-US" i="1">
                                              <a:latin typeface="Cambria Math" panose="02040503050406030204" pitchFamily="18" charset="0"/>
                                            </a:rPr>
                                          </m:ctrlPr>
                                        </m:sSubPr>
                                        <m:e>
                                          <m:d>
                                            <m:dPr>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𝑧</m:t>
                                                  </m:r>
                                                </m:e>
                                                <m:sub>
                                                  <m:r>
                                                    <a:rPr lang="ja-JP" altLang="en-US" i="1">
                                                      <a:latin typeface="Cambria Math" panose="02040503050406030204" pitchFamily="18" charset="0"/>
                                                    </a:rPr>
                                                    <m:t>𝑏𝑎𝑠𝑒</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e>
                                          </m:d>
                                        </m:e>
                                        <m:sub>
                                          <m:r>
                                            <a:rPr lang="ja-JP" altLang="en-US" i="1">
                                              <a:latin typeface="Cambria Math" panose="02040503050406030204" pitchFamily="18" charset="0"/>
                                            </a:rPr>
                                            <m:t>𝑐</m:t>
                                          </m:r>
                                        </m:sub>
                                      </m:sSub>
                                    </m:den>
                                  </m:f>
                                </m:e>
                              </m:d>
                            </m:e>
                          </m:func>
                        </m:e>
                      </m:d>
                    </m:oMath>
                  </m:oMathPara>
                </a14:m>
                <a:endParaRPr lang="ja-JP" altLang="en-US" dirty="0"/>
              </a:p>
            </p:txBody>
          </p:sp>
        </mc:Choice>
        <mc:Fallback>
          <p:sp>
            <p:nvSpPr>
              <p:cNvPr id="16" name="テキスト ボックス 15">
                <a:extLst>
                  <a:ext uri="{FF2B5EF4-FFF2-40B4-BE49-F238E27FC236}">
                    <a16:creationId xmlns:a16="http://schemas.microsoft.com/office/drawing/2014/main" id="{7791BFCD-C4B7-978E-7DE8-048E488D17A2}"/>
                  </a:ext>
                </a:extLst>
              </p:cNvPr>
              <p:cNvSpPr txBox="1">
                <a:spLocks noRot="1" noChangeAspect="1" noMove="1" noResize="1" noEditPoints="1" noAdjustHandles="1" noChangeArrowheads="1" noChangeShapeType="1" noTextEdit="1"/>
              </p:cNvSpPr>
              <p:nvPr/>
            </p:nvSpPr>
            <p:spPr>
              <a:xfrm>
                <a:off x="-1" y="2164169"/>
                <a:ext cx="6392334" cy="1261051"/>
              </a:xfrm>
              <a:prstGeom prst="rect">
                <a:avLst/>
              </a:prstGeom>
              <a:blipFill>
                <a:blip r:embed="rId5"/>
                <a:stretch>
                  <a:fillRect t="-3382"/>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8" name="テキスト ボックス 17">
                <a:extLst>
                  <a:ext uri="{FF2B5EF4-FFF2-40B4-BE49-F238E27FC236}">
                    <a16:creationId xmlns:a16="http://schemas.microsoft.com/office/drawing/2014/main" id="{F29842FE-DE2F-E1F8-6DAB-B5EF7CC238D4}"/>
                  </a:ext>
                </a:extLst>
              </p:cNvPr>
              <p:cNvSpPr txBox="1"/>
              <p:nvPr/>
            </p:nvSpPr>
            <p:spPr>
              <a:xfrm>
                <a:off x="7482409" y="2794694"/>
                <a:ext cx="4075586" cy="800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en-US" i="1" smtClean="0">
                              <a:latin typeface="Cambria Math" panose="02040503050406030204" pitchFamily="18" charset="0"/>
                            </a:rPr>
                          </m:ctrlPr>
                        </m:sSubSupPr>
                        <m:e>
                          <m:r>
                            <a:rPr lang="en-US" altLang="ja-JP" i="1">
                              <a:latin typeface="Cambria Math" panose="02040503050406030204" pitchFamily="18" charset="0"/>
                            </a:rPr>
                            <m:t>ℒ</m:t>
                          </m:r>
                        </m:e>
                        <m:sub>
                          <m:r>
                            <a:rPr lang="ja-JP" altLang="en-US" i="1">
                              <a:latin typeface="Cambria Math" panose="02040503050406030204" pitchFamily="18" charset="0"/>
                            </a:rPr>
                            <m:t>𝑡𝑎𝑠𝑘</m:t>
                          </m:r>
                        </m:sub>
                        <m:sup>
                          <m:d>
                            <m:dPr>
                              <m:ctrlPr>
                                <a:rPr lang="ja-JP" altLang="en-US" i="1">
                                  <a:latin typeface="Cambria Math" panose="02040503050406030204" pitchFamily="18" charset="0"/>
                                </a:rPr>
                              </m:ctrlPr>
                            </m:dPr>
                            <m:e>
                              <m:r>
                                <a:rPr lang="ja-JP" altLang="en-US" i="1">
                                  <a:latin typeface="Cambria Math" panose="02040503050406030204" pitchFamily="18" charset="0"/>
                                </a:rPr>
                                <m:t>𝑘</m:t>
                              </m:r>
                            </m:e>
                          </m:d>
                        </m:sup>
                      </m:sSubSup>
                      <m:r>
                        <a:rPr lang="en-US" altLang="ja-JP" i="1">
                          <a:latin typeface="Cambria Math" panose="02040503050406030204" pitchFamily="18" charset="0"/>
                        </a:rPr>
                        <m:t>=</m:t>
                      </m:r>
                      <m:f>
                        <m:fPr>
                          <m:ctrlPr>
                            <a:rPr lang="ja-JP" altLang="en-US" i="1">
                              <a:latin typeface="Cambria Math" panose="02040503050406030204" pitchFamily="18" charset="0"/>
                            </a:rPr>
                          </m:ctrlPr>
                        </m:fPr>
                        <m:num>
                          <m:r>
                            <a:rPr lang="en-US" altLang="ja-JP" i="1">
                              <a:latin typeface="Cambria Math" panose="02040503050406030204" pitchFamily="18" charset="0"/>
                            </a:rPr>
                            <m:t>1</m:t>
                          </m:r>
                        </m:num>
                        <m:den>
                          <m:d>
                            <m:dPr>
                              <m:begChr m:val="|"/>
                              <m:endChr m:val="|"/>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𝒟</m:t>
                                  </m:r>
                                </m:e>
                                <m:sub>
                                  <m:r>
                                    <a:rPr lang="ja-JP" altLang="en-US" i="1">
                                      <a:latin typeface="Cambria Math" panose="02040503050406030204" pitchFamily="18" charset="0"/>
                                    </a:rPr>
                                    <m:t>𝑘</m:t>
                                  </m:r>
                                </m:sub>
                              </m:sSub>
                            </m:e>
                          </m:d>
                        </m:den>
                      </m:f>
                      <m:nary>
                        <m:naryPr>
                          <m:chr m:val="∑"/>
                          <m:limLoc m:val="undOvr"/>
                          <m:grow m:val="on"/>
                          <m:supHide m:val="on"/>
                          <m:ctrlPr>
                            <a:rPr lang="ja-JP" altLang="en-US" i="1">
                              <a:latin typeface="Cambria Math" panose="02040503050406030204" pitchFamily="18" charset="0"/>
                            </a:rPr>
                          </m:ctrlPr>
                        </m:naryPr>
                        <m:sub>
                          <m:r>
                            <a:rPr lang="en-US" altLang="ja-JP" i="1">
                              <a:latin typeface="Cambria Math" panose="02040503050406030204" pitchFamily="18" charset="0"/>
                            </a:rPr>
                            <m:t>(</m:t>
                          </m:r>
                          <m:r>
                            <a:rPr lang="ja-JP" altLang="en-US" i="1">
                              <a:latin typeface="Cambria Math" panose="02040503050406030204" pitchFamily="18" charset="0"/>
                            </a:rPr>
                            <m:t>𝑥</m:t>
                          </m:r>
                          <m:r>
                            <a:rPr lang="en-US" altLang="ja-JP" i="1">
                              <a:latin typeface="Cambria Math" panose="02040503050406030204" pitchFamily="18" charset="0"/>
                            </a:rPr>
                            <m:t>,</m:t>
                          </m:r>
                          <m:r>
                            <a:rPr lang="ja-JP" altLang="en-US" i="1">
                              <a:latin typeface="Cambria Math" panose="02040503050406030204" pitchFamily="18" charset="0"/>
                            </a:rPr>
                            <m:t>𝑦</m:t>
                          </m:r>
                          <m:r>
                            <a:rPr lang="en-US" altLang="ja-JP" i="1">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𝒟</m:t>
                              </m:r>
                            </m:e>
                            <m:sub>
                              <m:r>
                                <a:rPr lang="ja-JP" altLang="en-US" i="1">
                                  <a:latin typeface="Cambria Math" panose="02040503050406030204" pitchFamily="18" charset="0"/>
                                </a:rPr>
                                <m:t>𝑘</m:t>
                              </m:r>
                            </m:sub>
                          </m:sSub>
                        </m:sub>
                        <m:sup/>
                        <m:e>
                          <m:r>
                            <a:rPr lang="ja-JP" altLang="en-US" i="1">
                              <a:latin typeface="Cambria Math" panose="02040503050406030204" pitchFamily="18" charset="0"/>
                            </a:rPr>
                            <m:t> </m:t>
                          </m:r>
                        </m:e>
                      </m:nary>
                      <m:r>
                        <m:rPr>
                          <m:sty m:val="p"/>
                        </m:rPr>
                        <a:rPr lang="en-US" altLang="ja-JP">
                          <a:latin typeface="Cambria Math" panose="02040503050406030204" pitchFamily="18" charset="0"/>
                        </a:rPr>
                        <m:t>CE</m:t>
                      </m:r>
                      <m:d>
                        <m:dPr>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𝑓</m:t>
                              </m:r>
                            </m:e>
                            <m:sub>
                              <m:r>
                                <a:rPr lang="ja-JP" altLang="en-US" i="1">
                                  <a:latin typeface="Cambria Math" panose="02040503050406030204" pitchFamily="18" charset="0"/>
                                </a:rPr>
                                <m:t>𝑘</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r>
                                <a:rPr lang="en-US" altLang="ja-JP" i="1">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𝜃</m:t>
                                  </m:r>
                                </m:e>
                                <m:sub>
                                  <m:r>
                                    <a:rPr lang="ja-JP" altLang="en-US" i="1">
                                      <a:latin typeface="Cambria Math" panose="02040503050406030204" pitchFamily="18" charset="0"/>
                                    </a:rPr>
                                    <m:t>𝑘</m:t>
                                  </m:r>
                                </m:sub>
                              </m:sSub>
                            </m:e>
                          </m:d>
                          <m:r>
                            <a:rPr lang="en-US" altLang="ja-JP" i="1">
                              <a:latin typeface="Cambria Math" panose="02040503050406030204" pitchFamily="18" charset="0"/>
                            </a:rPr>
                            <m:t>,</m:t>
                          </m:r>
                          <m:r>
                            <a:rPr lang="ja-JP" altLang="en-US" i="1">
                              <a:latin typeface="Cambria Math" panose="02040503050406030204" pitchFamily="18" charset="0"/>
                            </a:rPr>
                            <m:t>𝑦</m:t>
                          </m:r>
                        </m:e>
                      </m:d>
                    </m:oMath>
                  </m:oMathPara>
                </a14:m>
                <a:endParaRPr lang="ja-JP" altLang="ja-JP" dirty="0"/>
              </a:p>
            </p:txBody>
          </p:sp>
        </mc:Choice>
        <mc:Fallback>
          <p:sp>
            <p:nvSpPr>
              <p:cNvPr id="18" name="テキスト ボックス 17">
                <a:extLst>
                  <a:ext uri="{FF2B5EF4-FFF2-40B4-BE49-F238E27FC236}">
                    <a16:creationId xmlns:a16="http://schemas.microsoft.com/office/drawing/2014/main" id="{F29842FE-DE2F-E1F8-6DAB-B5EF7CC238D4}"/>
                  </a:ext>
                </a:extLst>
              </p:cNvPr>
              <p:cNvSpPr txBox="1">
                <a:spLocks noRot="1" noChangeAspect="1" noMove="1" noResize="1" noEditPoints="1" noAdjustHandles="1" noChangeArrowheads="1" noChangeShapeType="1" noTextEdit="1"/>
              </p:cNvSpPr>
              <p:nvPr/>
            </p:nvSpPr>
            <p:spPr>
              <a:xfrm>
                <a:off x="7482409" y="2794694"/>
                <a:ext cx="4075586" cy="800219"/>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0" name="テキスト ボックス 19">
                <a:extLst>
                  <a:ext uri="{FF2B5EF4-FFF2-40B4-BE49-F238E27FC236}">
                    <a16:creationId xmlns:a16="http://schemas.microsoft.com/office/drawing/2014/main" id="{C7FE5E40-BA93-BAC9-D525-D25C6C961A7D}"/>
                  </a:ext>
                </a:extLst>
              </p:cNvPr>
              <p:cNvSpPr txBox="1"/>
              <p:nvPr/>
            </p:nvSpPr>
            <p:spPr>
              <a:xfrm>
                <a:off x="9194542" y="4917935"/>
                <a:ext cx="1331564" cy="9459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𝑥</m:t>
                      </m:r>
                      <m:r>
                        <a:rPr lang="en-US" altLang="ja-JP" b="0" i="1" smtClean="0">
                          <a:latin typeface="Cambria Math" panose="02040503050406030204" pitchFamily="18" charset="0"/>
                          <a:ea typeface="Cambria Math" panose="02040503050406030204" pitchFamily="18" charset="0"/>
                        </a:rPr>
                        <m:t>∈</m:t>
                      </m:r>
                      <m:sSub>
                        <m:sSubPr>
                          <m:ctrlPr>
                            <a:rPr lang="ja-JP" altLang="en-US" i="1" smtClean="0">
                              <a:latin typeface="Cambria Math" panose="02040503050406030204" pitchFamily="18" charset="0"/>
                            </a:rPr>
                          </m:ctrlPr>
                        </m:sSubPr>
                        <m:e>
                          <m:r>
                            <a:rPr lang="ja-JP" altLang="en-US" i="1">
                              <a:latin typeface="Cambria Math" panose="02040503050406030204" pitchFamily="18" charset="0"/>
                            </a:rPr>
                            <m:t>𝒟</m:t>
                          </m:r>
                        </m:e>
                        <m:sub>
                          <m:r>
                            <a:rPr lang="ja-JP" altLang="en-US" i="1">
                              <a:latin typeface="Cambria Math" panose="02040503050406030204" pitchFamily="18" charset="0"/>
                            </a:rPr>
                            <m:t>𝑎𝑙𝑖𝑔</m:t>
                          </m:r>
                          <m:r>
                            <a:rPr lang="ja-JP" altLang="en-US" i="1" smtClean="0">
                              <a:latin typeface="Cambria Math" panose="02040503050406030204" pitchFamily="18" charset="0"/>
                            </a:rPr>
                            <m:t>𝑛</m:t>
                          </m:r>
                        </m:sub>
                      </m:sSub>
                    </m:oMath>
                  </m:oMathPara>
                </a14:m>
                <a:endParaRPr lang="en-US" altLang="ja-JP" dirty="0"/>
              </a:p>
              <a:p>
                <a:r>
                  <a:rPr lang="ja-JP" altLang="en-US" dirty="0"/>
                  <a:t>を用いた前向き推論</a:t>
                </a:r>
              </a:p>
            </p:txBody>
          </p:sp>
        </mc:Choice>
        <mc:Fallback>
          <p:sp>
            <p:nvSpPr>
              <p:cNvPr id="20" name="テキスト ボックス 19">
                <a:extLst>
                  <a:ext uri="{FF2B5EF4-FFF2-40B4-BE49-F238E27FC236}">
                    <a16:creationId xmlns:a16="http://schemas.microsoft.com/office/drawing/2014/main" id="{C7FE5E40-BA93-BAC9-D525-D25C6C961A7D}"/>
                  </a:ext>
                </a:extLst>
              </p:cNvPr>
              <p:cNvSpPr txBox="1">
                <a:spLocks noRot="1" noChangeAspect="1" noMove="1" noResize="1" noEditPoints="1" noAdjustHandles="1" noChangeArrowheads="1" noChangeShapeType="1" noTextEdit="1"/>
              </p:cNvSpPr>
              <p:nvPr/>
            </p:nvSpPr>
            <p:spPr>
              <a:xfrm>
                <a:off x="9194542" y="4917935"/>
                <a:ext cx="1331564" cy="945900"/>
              </a:xfrm>
              <a:prstGeom prst="rect">
                <a:avLst/>
              </a:prstGeom>
              <a:blipFill>
                <a:blip r:embed="rId7"/>
                <a:stretch>
                  <a:fillRect l="-3653" r="-3196" b="-7742"/>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2" name="テキスト ボックス 21">
                <a:extLst>
                  <a:ext uri="{FF2B5EF4-FFF2-40B4-BE49-F238E27FC236}">
                    <a16:creationId xmlns:a16="http://schemas.microsoft.com/office/drawing/2014/main" id="{FB27C1EB-5193-39A4-717B-ECB278C71B30}"/>
                  </a:ext>
                </a:extLst>
              </p:cNvPr>
              <p:cNvSpPr txBox="1"/>
              <p:nvPr/>
            </p:nvSpPr>
            <p:spPr>
              <a:xfrm>
                <a:off x="1077678" y="3778744"/>
                <a:ext cx="2712299" cy="2624116"/>
              </a:xfrm>
              <a:prstGeom prst="rect">
                <a:avLst/>
              </a:prstGeom>
              <a:noFill/>
            </p:spPr>
            <p:txBody>
              <a:bodyPr wrap="square">
                <a:spAutoFit/>
              </a:bodyPr>
              <a:lstStyle/>
              <a:p>
                <a:pPr/>
                <a:r>
                  <a:rPr lang="ja-JP" altLang="en-US" dirty="0">
                    <a:latin typeface="Cambria Math" panose="02040503050406030204" pitchFamily="18" charset="0"/>
                  </a:rPr>
                  <a:t>集約</a:t>
                </a:r>
                <a:r>
                  <a:rPr lang="en-US" altLang="ja-JP" dirty="0">
                    <a:latin typeface="Cambria Math" panose="02040503050406030204" pitchFamily="18" charset="0"/>
                  </a:rPr>
                  <a:t>logits</a:t>
                </a:r>
                <a:r>
                  <a:rPr lang="ja-JP" altLang="en-US" dirty="0">
                    <a:latin typeface="Cambria Math" panose="02040503050406030204" pitchFamily="18" charset="0"/>
                  </a:rPr>
                  <a:t>の生成</a:t>
                </a:r>
                <a:endParaRPr lang="en-US" altLang="ja-JP"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ja-JP" altLang="en-US" i="1" smtClean="0">
                              <a:latin typeface="Cambria Math" panose="02040503050406030204" pitchFamily="18" charset="0"/>
                            </a:rPr>
                          </m:ctrlPr>
                        </m:sSubPr>
                        <m:e>
                          <m:r>
                            <a:rPr lang="ja-JP" altLang="en-US" i="1">
                              <a:latin typeface="Cambria Math" panose="02040503050406030204" pitchFamily="18" charset="0"/>
                            </a:rPr>
                            <m:t>𝑞</m:t>
                          </m:r>
                        </m:e>
                        <m:sub>
                          <m:r>
                            <a:rPr lang="ja-JP" altLang="en-US" i="1">
                              <a:latin typeface="Cambria Math" panose="02040503050406030204" pitchFamily="18" charset="0"/>
                            </a:rPr>
                            <m:t>𝑘</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r>
                        <a:rPr lang="ja-JP" altLang="en-US" i="0">
                          <a:latin typeface="Cambria Math" panose="02040503050406030204" pitchFamily="18" charset="0"/>
                        </a:rPr>
                        <m:t>=</m:t>
                      </m:r>
                      <m:r>
                        <m:rPr>
                          <m:sty m:val="p"/>
                        </m:rPr>
                        <a:rPr lang="ja-JP" altLang="en-US" i="0">
                          <a:latin typeface="Cambria Math" panose="02040503050406030204" pitchFamily="18" charset="0"/>
                        </a:rPr>
                        <m:t>softmax</m:t>
                      </m:r>
                      <m:d>
                        <m:dPr>
                          <m:ctrlPr>
                            <a:rPr lang="ja-JP" altLang="en-US" i="1">
                              <a:latin typeface="Cambria Math" panose="02040503050406030204" pitchFamily="18" charset="0"/>
                            </a:rPr>
                          </m:ctrlPr>
                        </m:dPr>
                        <m:e>
                          <m:f>
                            <m:fPr>
                              <m:ctrlPr>
                                <a:rPr lang="ja-JP" altLang="en-US" i="1">
                                  <a:latin typeface="Cambria Math" panose="02040503050406030204" pitchFamily="18" charset="0"/>
                                </a:rPr>
                              </m:ctrlPr>
                            </m:fPr>
                            <m:num>
                              <m:sSub>
                                <m:sSubPr>
                                  <m:ctrlPr>
                                    <a:rPr lang="ja-JP" altLang="en-US" i="1">
                                      <a:latin typeface="Cambria Math" panose="02040503050406030204" pitchFamily="18" charset="0"/>
                                    </a:rPr>
                                  </m:ctrlPr>
                                </m:sSubPr>
                                <m:e>
                                  <m:r>
                                    <a:rPr lang="ja-JP" altLang="en-US" i="1">
                                      <a:latin typeface="Cambria Math" panose="02040503050406030204" pitchFamily="18" charset="0"/>
                                    </a:rPr>
                                    <m:t>𝑧</m:t>
                                  </m:r>
                                </m:e>
                                <m:sub>
                                  <m:r>
                                    <a:rPr lang="ja-JP" altLang="en-US" i="1">
                                      <a:latin typeface="Cambria Math" panose="02040503050406030204" pitchFamily="18" charset="0"/>
                                    </a:rPr>
                                    <m:t>𝑘</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num>
                            <m:den>
                              <m:r>
                                <a:rPr lang="ja-JP" altLang="en-US" i="1">
                                  <a:latin typeface="Cambria Math" panose="02040503050406030204" pitchFamily="18" charset="0"/>
                                </a:rPr>
                                <m:t>𝑇</m:t>
                              </m:r>
                            </m:den>
                          </m:f>
                        </m:e>
                      </m:d>
                    </m:oMath>
                  </m:oMathPara>
                </a14:m>
                <a:endParaRPr lang="en-US" altLang="ja-JP" dirty="0"/>
              </a:p>
              <a:p>
                <a14:m>
                  <m:oMathPara xmlns:m="http://schemas.openxmlformats.org/officeDocument/2006/math">
                    <m:oMathParaPr>
                      <m:jc m:val="centerGroup"/>
                    </m:oMathParaPr>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𝑞</m:t>
                          </m:r>
                        </m:e>
                        <m:sub>
                          <m:r>
                            <a:rPr lang="ja-JP" altLang="en-US" i="1">
                              <a:latin typeface="Cambria Math" panose="02040503050406030204" pitchFamily="18" charset="0"/>
                            </a:rPr>
                            <m:t>𝑎𝑔𝑔</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r>
                        <a:rPr lang="ja-JP" altLang="en-US">
                          <a:latin typeface="Cambria Math" panose="02040503050406030204" pitchFamily="18" charset="0"/>
                        </a:rPr>
                        <m:t>=</m:t>
                      </m:r>
                      <m:nary>
                        <m:naryPr>
                          <m:chr m:val="∑"/>
                          <m:limLoc m:val="undOvr"/>
                          <m:grow m:val="on"/>
                          <m:ctrlPr>
                            <a:rPr lang="ja-JP" altLang="en-US" i="1">
                              <a:latin typeface="Cambria Math" panose="02040503050406030204" pitchFamily="18" charset="0"/>
                            </a:rPr>
                          </m:ctrlPr>
                        </m:naryPr>
                        <m:sub>
                          <m:r>
                            <a:rPr lang="ja-JP" altLang="en-US" i="1">
                              <a:latin typeface="Cambria Math" panose="02040503050406030204" pitchFamily="18" charset="0"/>
                            </a:rPr>
                            <m:t>𝑘</m:t>
                          </m:r>
                          <m:r>
                            <a:rPr lang="ja-JP" altLang="en-US">
                              <a:latin typeface="Cambria Math" panose="02040503050406030204" pitchFamily="18" charset="0"/>
                            </a:rPr>
                            <m:t>=1</m:t>
                          </m:r>
                        </m:sub>
                        <m:sup>
                          <m:r>
                            <a:rPr lang="ja-JP" altLang="en-US" i="1">
                              <a:latin typeface="Cambria Math" panose="02040503050406030204" pitchFamily="18" charset="0"/>
                            </a:rPr>
                            <m:t>𝐾</m:t>
                          </m:r>
                        </m:sup>
                        <m:e>
                          <m:r>
                            <a:rPr lang="ja-JP" altLang="en-US">
                              <a:latin typeface="Cambria Math" panose="02040503050406030204" pitchFamily="18" charset="0"/>
                            </a:rPr>
                            <m:t> </m:t>
                          </m:r>
                        </m:e>
                      </m:nary>
                      <m:sSub>
                        <m:sSubPr>
                          <m:ctrlPr>
                            <a:rPr lang="ja-JP" altLang="en-US" i="1">
                              <a:latin typeface="Cambria Math" panose="02040503050406030204" pitchFamily="18" charset="0"/>
                            </a:rPr>
                          </m:ctrlPr>
                        </m:sSubPr>
                        <m:e>
                          <m:r>
                            <a:rPr lang="ja-JP" altLang="en-US" i="1">
                              <a:latin typeface="Cambria Math" panose="02040503050406030204" pitchFamily="18" charset="0"/>
                            </a:rPr>
                            <m:t>𝛼</m:t>
                          </m:r>
                        </m:e>
                        <m:sub>
                          <m:r>
                            <a:rPr lang="ja-JP" altLang="en-US" i="1">
                              <a:latin typeface="Cambria Math" panose="02040503050406030204" pitchFamily="18" charset="0"/>
                            </a:rPr>
                            <m:t>𝑘</m:t>
                          </m:r>
                        </m:sub>
                      </m:sSub>
                      <m:sSub>
                        <m:sSubPr>
                          <m:ctrlPr>
                            <a:rPr lang="ja-JP" altLang="en-US" i="1">
                              <a:latin typeface="Cambria Math" panose="02040503050406030204" pitchFamily="18" charset="0"/>
                            </a:rPr>
                          </m:ctrlPr>
                        </m:sSubPr>
                        <m:e>
                          <m:r>
                            <a:rPr lang="ja-JP" altLang="en-US" i="1">
                              <a:latin typeface="Cambria Math" panose="02040503050406030204" pitchFamily="18" charset="0"/>
                            </a:rPr>
                            <m:t>𝑞</m:t>
                          </m:r>
                        </m:e>
                        <m:sub>
                          <m:r>
                            <a:rPr lang="ja-JP" altLang="en-US" i="1">
                              <a:latin typeface="Cambria Math" panose="02040503050406030204" pitchFamily="18" charset="0"/>
                            </a:rPr>
                            <m:t>𝑘</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oMath>
                  </m:oMathPara>
                </a14:m>
                <a:endParaRPr lang="en-US" altLang="ja-JP" dirty="0"/>
              </a:p>
              <a:p>
                <a14:m>
                  <m:oMathPara xmlns:m="http://schemas.openxmlformats.org/officeDocument/2006/math">
                    <m:oMathParaPr>
                      <m:jc m:val="centerGroup"/>
                    </m:oMathParaPr>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𝑧</m:t>
                          </m:r>
                        </m:e>
                        <m:sub>
                          <m:r>
                            <a:rPr lang="ja-JP" altLang="en-US" i="1">
                              <a:latin typeface="Cambria Math" panose="02040503050406030204" pitchFamily="18" charset="0"/>
                            </a:rPr>
                            <m:t>𝑎𝑔𝑔</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𝑥</m:t>
                          </m:r>
                        </m:e>
                      </m:d>
                      <m:r>
                        <a:rPr lang="ja-JP" altLang="en-US">
                          <a:latin typeface="Cambria Math" panose="02040503050406030204" pitchFamily="18" charset="0"/>
                        </a:rPr>
                        <m:t>=</m:t>
                      </m:r>
                      <m:func>
                        <m:funcPr>
                          <m:ctrlPr>
                            <a:rPr lang="ja-JP" altLang="en-US" i="1">
                              <a:latin typeface="Cambria Math" panose="02040503050406030204" pitchFamily="18" charset="0"/>
                            </a:rPr>
                          </m:ctrlPr>
                        </m:funcPr>
                        <m:fName>
                          <m:r>
                            <a:rPr lang="en-US" altLang="ja-JP" i="1">
                              <a:latin typeface="Cambria Math" panose="02040503050406030204" pitchFamily="18" charset="0"/>
                            </a:rPr>
                            <m:t>𝑙</m:t>
                          </m:r>
                          <m:r>
                            <m:rPr>
                              <m:sty m:val="p"/>
                            </m:rPr>
                            <a:rPr lang="en-US" altLang="ja-JP">
                              <a:latin typeface="Cambria Math" panose="02040503050406030204" pitchFamily="18" charset="0"/>
                            </a:rPr>
                            <m:t>og</m:t>
                          </m:r>
                        </m:fName>
                        <m:e>
                          <m:sSub>
                            <m:sSubPr>
                              <m:ctrlPr>
                                <a:rPr lang="ja-JP" altLang="en-US" i="1">
                                  <a:latin typeface="Cambria Math" panose="02040503050406030204" pitchFamily="18" charset="0"/>
                                </a:rPr>
                              </m:ctrlPr>
                            </m:sSubPr>
                            <m:e>
                              <m:r>
                                <a:rPr lang="ja-JP" altLang="en-US" i="1">
                                  <a:latin typeface="Cambria Math" panose="02040503050406030204" pitchFamily="18" charset="0"/>
                                </a:rPr>
                                <m:t>𝑞</m:t>
                              </m:r>
                            </m:e>
                            <m:sub>
                              <m:r>
                                <a:rPr lang="ja-JP" altLang="en-US" i="1">
                                  <a:latin typeface="Cambria Math" panose="02040503050406030204" pitchFamily="18" charset="0"/>
                                </a:rPr>
                                <m:t>𝑎𝑔𝑔</m:t>
                              </m:r>
                            </m:sub>
                          </m:sSub>
                        </m:e>
                      </m:func>
                      <m:d>
                        <m:dPr>
                          <m:ctrlPr>
                            <a:rPr lang="ja-JP" altLang="en-US" i="1">
                              <a:latin typeface="Cambria Math" panose="02040503050406030204" pitchFamily="18" charset="0"/>
                            </a:rPr>
                          </m:ctrlPr>
                        </m:dPr>
                        <m:e>
                          <m:r>
                            <a:rPr lang="ja-JP" altLang="en-US" i="1">
                              <a:latin typeface="Cambria Math" panose="02040503050406030204" pitchFamily="18" charset="0"/>
                            </a:rPr>
                            <m:t>𝑥</m:t>
                          </m:r>
                        </m:e>
                      </m:d>
                    </m:oMath>
                  </m:oMathPara>
                </a14:m>
                <a:endParaRPr lang="ja-JP" altLang="en-US" dirty="0"/>
              </a:p>
              <a:p>
                <a:endParaRPr lang="ja-JP" altLang="en-US" dirty="0"/>
              </a:p>
              <a:p>
                <a:pPr/>
                <a:endParaRPr lang="ja-JP" altLang="en-US" dirty="0"/>
              </a:p>
            </p:txBody>
          </p:sp>
        </mc:Choice>
        <mc:Fallback>
          <p:sp>
            <p:nvSpPr>
              <p:cNvPr id="22" name="テキスト ボックス 21">
                <a:extLst>
                  <a:ext uri="{FF2B5EF4-FFF2-40B4-BE49-F238E27FC236}">
                    <a16:creationId xmlns:a16="http://schemas.microsoft.com/office/drawing/2014/main" id="{FB27C1EB-5193-39A4-717B-ECB278C71B30}"/>
                  </a:ext>
                </a:extLst>
              </p:cNvPr>
              <p:cNvSpPr txBox="1">
                <a:spLocks noRot="1" noChangeAspect="1" noMove="1" noResize="1" noEditPoints="1" noAdjustHandles="1" noChangeArrowheads="1" noChangeShapeType="1" noTextEdit="1"/>
              </p:cNvSpPr>
              <p:nvPr/>
            </p:nvSpPr>
            <p:spPr>
              <a:xfrm>
                <a:off x="1077678" y="3778744"/>
                <a:ext cx="2712299" cy="2624116"/>
              </a:xfrm>
              <a:prstGeom prst="rect">
                <a:avLst/>
              </a:prstGeom>
              <a:blipFill>
                <a:blip r:embed="rId8"/>
                <a:stretch>
                  <a:fillRect l="-2022" t="-18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28530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FB99AB-81F2-B2F2-8FEA-5B775E86AE77}"/>
              </a:ext>
            </a:extLst>
          </p:cNvPr>
          <p:cNvSpPr>
            <a:spLocks noGrp="1"/>
          </p:cNvSpPr>
          <p:nvPr>
            <p:ph type="title"/>
          </p:nvPr>
        </p:nvSpPr>
        <p:spPr/>
        <p:txBody>
          <a:bodyPr/>
          <a:lstStyle/>
          <a:p>
            <a:r>
              <a:rPr kumimoji="1" lang="ja-JP" altLang="en-US" dirty="0"/>
              <a:t>端末学習のプロセス</a:t>
            </a:r>
          </a:p>
        </p:txBody>
      </p:sp>
      <p:sp>
        <p:nvSpPr>
          <p:cNvPr id="3" name="スライド番号プレースホルダー 2">
            <a:extLst>
              <a:ext uri="{FF2B5EF4-FFF2-40B4-BE49-F238E27FC236}">
                <a16:creationId xmlns:a16="http://schemas.microsoft.com/office/drawing/2014/main" id="{196EBA82-552F-E43C-4992-6FC6525D4E86}"/>
              </a:ext>
            </a:extLst>
          </p:cNvPr>
          <p:cNvSpPr>
            <a:spLocks noGrp="1"/>
          </p:cNvSpPr>
          <p:nvPr>
            <p:ph type="sldNum" sz="quarter" idx="4"/>
          </p:nvPr>
        </p:nvSpPr>
        <p:spPr/>
        <p:txBody>
          <a:bodyPr/>
          <a:lstStyle/>
          <a:p>
            <a:fld id="{C088C981-6885-4100-82A1-DE7074EC4480}" type="slidenum">
              <a:rPr lang="ja-JP" altLang="en-US" smtClean="0"/>
              <a:pPr/>
              <a:t>5</a:t>
            </a:fld>
            <a:endParaRPr lang="ja-JP" altLang="en-US" dirty="0">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0A4AEF69-26DC-978A-AB5F-21D0D49172D5}"/>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2217247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551F23-ABA0-B24B-4CE7-054E68D21984}"/>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E6609147-DE4D-CE0B-CF23-2CEEE4C0B994}"/>
              </a:ext>
            </a:extLst>
          </p:cNvPr>
          <p:cNvSpPr>
            <a:spLocks noGrp="1"/>
          </p:cNvSpPr>
          <p:nvPr>
            <p:ph type="sldNum" sz="quarter" idx="4"/>
          </p:nvPr>
        </p:nvSpPr>
        <p:spPr/>
        <p:txBody>
          <a:bodyPr/>
          <a:lstStyle/>
          <a:p>
            <a:fld id="{C088C981-6885-4100-82A1-DE7074EC4480}" type="slidenum">
              <a:rPr lang="ja-JP" altLang="en-US" smtClean="0"/>
              <a:pPr/>
              <a:t>6</a:t>
            </a:fld>
            <a:endParaRPr lang="ja-JP" altLang="en-US" dirty="0">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B68129D8-66E6-FC24-B75D-2C3717A823E0}"/>
              </a:ext>
            </a:extLst>
          </p:cNvPr>
          <p:cNvSpPr>
            <a:spLocks noGrp="1"/>
          </p:cNvSpPr>
          <p:nvPr>
            <p:ph idx="1"/>
          </p:nvPr>
        </p:nvSpPr>
        <p:spPr/>
        <p:txBody>
          <a:bodyPr/>
          <a:lstStyle/>
          <a:p>
            <a:r>
              <a:rPr kumimoji="1" lang="ja-JP" altLang="en-US" dirty="0"/>
              <a:t>前回まではクライアント側で蒸留処理を行っていた．これをやめてサーバー側で蒸留処理を行い，それによって知識を蓄えた新たな</a:t>
            </a:r>
            <a:r>
              <a:rPr kumimoji="1" lang="en-US" altLang="ja-JP" dirty="0" err="1"/>
              <a:t>LoRA</a:t>
            </a:r>
            <a:r>
              <a:rPr kumimoji="1" lang="ja-JP" altLang="en-US"/>
              <a:t>を各クライアントへ渡すことにする．</a:t>
            </a:r>
            <a:endParaRPr kumimoji="1" lang="ja-JP" altLang="en-US" dirty="0"/>
          </a:p>
        </p:txBody>
      </p:sp>
    </p:spTree>
    <p:extLst>
      <p:ext uri="{BB962C8B-B14F-4D97-AF65-F5344CB8AC3E}">
        <p14:creationId xmlns:p14="http://schemas.microsoft.com/office/powerpoint/2010/main" val="3016829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66F1C0-FA66-8F5E-C70F-9E8DFCC23DEF}"/>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7E3C59D3-4BAA-CEDE-314A-4426F19DC117}"/>
              </a:ext>
            </a:extLst>
          </p:cNvPr>
          <p:cNvSpPr>
            <a:spLocks noGrp="1"/>
          </p:cNvSpPr>
          <p:nvPr>
            <p:ph type="sldNum" sz="quarter" idx="4"/>
          </p:nvPr>
        </p:nvSpPr>
        <p:spPr/>
        <p:txBody>
          <a:bodyPr/>
          <a:lstStyle/>
          <a:p>
            <a:fld id="{C088C981-6885-4100-82A1-DE7074EC4480}" type="slidenum">
              <a:rPr lang="ja-JP" altLang="en-US" smtClean="0"/>
              <a:pPr/>
              <a:t>7</a:t>
            </a:fld>
            <a:endParaRPr lang="ja-JP" altLang="en-US" dirty="0">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37BAE057-0288-3FA2-D3CE-88FEAAE06353}"/>
              </a:ext>
            </a:extLst>
          </p:cNvPr>
          <p:cNvSpPr>
            <a:spLocks noGrp="1"/>
          </p:cNvSpPr>
          <p:nvPr>
            <p:ph idx="1"/>
          </p:nvPr>
        </p:nvSpPr>
        <p:spPr/>
        <p:txBody>
          <a:bodyPr/>
          <a:lstStyle/>
          <a:p>
            <a:r>
              <a:rPr kumimoji="1" lang="ja-JP" altLang="en-US" dirty="0"/>
              <a:t>フローの整理のために新規性を</a:t>
            </a:r>
            <a:r>
              <a:rPr kumimoji="1" lang="en-US" altLang="ja-JP" dirty="0"/>
              <a:t>3</a:t>
            </a:r>
            <a:r>
              <a:rPr kumimoji="1" lang="ja-JP" altLang="en-US" dirty="0"/>
              <a:t>つ</a:t>
            </a:r>
            <a:endParaRPr kumimoji="1" lang="en-US" altLang="ja-JP" dirty="0"/>
          </a:p>
          <a:p>
            <a:r>
              <a:rPr lang="ja-JP" altLang="en-US" dirty="0"/>
              <a:t>前回の</a:t>
            </a:r>
            <a:r>
              <a:rPr lang="en-US" altLang="ja-JP" dirty="0" err="1"/>
              <a:t>Fedopt</a:t>
            </a:r>
            <a:r>
              <a:rPr lang="ja-JP" altLang="en-US" dirty="0"/>
              <a:t>の実験は</a:t>
            </a:r>
            <a:r>
              <a:rPr lang="en-US" altLang="ja-JP" dirty="0"/>
              <a:t>2</a:t>
            </a:r>
            <a:r>
              <a:rPr lang="ja-JP" altLang="en-US" dirty="0"/>
              <a:t>の新規性につながる。</a:t>
            </a:r>
            <a:r>
              <a:rPr lang="en-US" altLang="ja-JP" dirty="0" err="1"/>
              <a:t>Lpred</a:t>
            </a:r>
            <a:r>
              <a:rPr lang="ja-JP" altLang="en-US" dirty="0"/>
              <a:t>整合法の課題を見つけるアプローチ</a:t>
            </a:r>
            <a:endParaRPr lang="en-US" altLang="ja-JP" dirty="0"/>
          </a:p>
          <a:p>
            <a:endParaRPr kumimoji="1" lang="ja-JP" altLang="en-US" dirty="0"/>
          </a:p>
        </p:txBody>
      </p:sp>
    </p:spTree>
    <p:extLst>
      <p:ext uri="{BB962C8B-B14F-4D97-AF65-F5344CB8AC3E}">
        <p14:creationId xmlns:p14="http://schemas.microsoft.com/office/powerpoint/2010/main" val="709365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F2A21AE2-A7D1-8171-C1E6-180CB4F45DB5}"/>
              </a:ext>
            </a:extLst>
          </p:cNvPr>
          <p:cNvSpPr/>
          <p:nvPr/>
        </p:nvSpPr>
        <p:spPr>
          <a:xfrm>
            <a:off x="71119" y="1132608"/>
            <a:ext cx="7859901" cy="5637284"/>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2" name="タイトル 1">
            <a:extLst>
              <a:ext uri="{FF2B5EF4-FFF2-40B4-BE49-F238E27FC236}">
                <a16:creationId xmlns:a16="http://schemas.microsoft.com/office/drawing/2014/main" id="{0B2B37ED-8A31-65A3-5754-EAA31D051312}"/>
              </a:ext>
            </a:extLst>
          </p:cNvPr>
          <p:cNvSpPr>
            <a:spLocks noGrp="1"/>
          </p:cNvSpPr>
          <p:nvPr>
            <p:ph type="title"/>
          </p:nvPr>
        </p:nvSpPr>
        <p:spPr/>
        <p:txBody>
          <a:bodyPr/>
          <a:lstStyle/>
          <a:p>
            <a:r>
              <a:rPr lang="ja-JP" altLang="ja-JP" dirty="0"/>
              <a:t>Lpred</a:t>
            </a:r>
            <a:r>
              <a:rPr lang="ja-JP" altLang="en-US" dirty="0"/>
              <a:t>の</a:t>
            </a:r>
            <a:r>
              <a:rPr lang="en-US" altLang="ja-JP" dirty="0"/>
              <a:t>optimizer</a:t>
            </a:r>
            <a:r>
              <a:rPr lang="ja-JP" altLang="en-US" dirty="0"/>
              <a:t>変更による比較実験</a:t>
            </a:r>
            <a:endParaRPr kumimoji="1" lang="ja-JP" altLang="en-US" dirty="0"/>
          </a:p>
        </p:txBody>
      </p:sp>
      <p:sp>
        <p:nvSpPr>
          <p:cNvPr id="17" name="四角形: 角を丸くする 16">
            <a:extLst>
              <a:ext uri="{FF2B5EF4-FFF2-40B4-BE49-F238E27FC236}">
                <a16:creationId xmlns:a16="http://schemas.microsoft.com/office/drawing/2014/main" id="{317917D6-B305-0574-6090-C5431A73DAED}"/>
              </a:ext>
            </a:extLst>
          </p:cNvPr>
          <p:cNvSpPr/>
          <p:nvPr/>
        </p:nvSpPr>
        <p:spPr>
          <a:xfrm>
            <a:off x="131130" y="1285007"/>
            <a:ext cx="3899694" cy="5367719"/>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3" name="スライド番号プレースホルダー 2">
            <a:extLst>
              <a:ext uri="{FF2B5EF4-FFF2-40B4-BE49-F238E27FC236}">
                <a16:creationId xmlns:a16="http://schemas.microsoft.com/office/drawing/2014/main" id="{C34E3D60-B758-A627-7FD3-24793F4A8CF1}"/>
              </a:ext>
            </a:extLst>
          </p:cNvPr>
          <p:cNvSpPr>
            <a:spLocks noGrp="1"/>
          </p:cNvSpPr>
          <p:nvPr>
            <p:ph type="sldNum" sz="quarter" idx="4"/>
          </p:nvPr>
        </p:nvSpPr>
        <p:spPr/>
        <p:txBody>
          <a:bodyPr/>
          <a:lstStyle/>
          <a:p>
            <a:fld id="{C088C981-6885-4100-82A1-DE7074EC4480}" type="slidenum">
              <a:rPr lang="ja-JP" altLang="en-US" smtClean="0"/>
              <a:pPr/>
              <a:t>8</a:t>
            </a:fld>
            <a:endParaRPr lang="ja-JP" altLang="en-US" dirty="0">
              <a:latin typeface="Arial" panose="020B0604020202020204" pitchFamily="34" charset="0"/>
            </a:endParaRPr>
          </a:p>
        </p:txBody>
      </p:sp>
      <p:sp>
        <p:nvSpPr>
          <p:cNvPr id="5" name="Rectangle 2">
            <a:extLst>
              <a:ext uri="{FF2B5EF4-FFF2-40B4-BE49-F238E27FC236}">
                <a16:creationId xmlns:a16="http://schemas.microsoft.com/office/drawing/2014/main" id="{CCD3566C-7485-6E3E-5F6C-2A7A5AAFE248}"/>
              </a:ext>
            </a:extLst>
          </p:cNvPr>
          <p:cNvSpPr>
            <a:spLocks noChangeArrowheads="1"/>
          </p:cNvSpPr>
          <p:nvPr/>
        </p:nvSpPr>
        <p:spPr bwMode="auto">
          <a:xfrm>
            <a:off x="104129" y="1633649"/>
            <a:ext cx="216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2000" b="1"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cs typeface="Times New Roman" panose="02020603050405020304" pitchFamily="18" charset="0"/>
              </a:rPr>
              <a:t>Client 0 </a:t>
            </a:r>
            <a:endParaRPr kumimoji="0" lang="en-US" altLang="ja-JP"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p:txBody>
      </p:sp>
      <p:sp>
        <p:nvSpPr>
          <p:cNvPr id="19" name="四角形: 角を丸くする 18">
            <a:extLst>
              <a:ext uri="{FF2B5EF4-FFF2-40B4-BE49-F238E27FC236}">
                <a16:creationId xmlns:a16="http://schemas.microsoft.com/office/drawing/2014/main" id="{6F676A35-F988-0CA6-421C-A942771F5434}"/>
              </a:ext>
            </a:extLst>
          </p:cNvPr>
          <p:cNvSpPr/>
          <p:nvPr/>
        </p:nvSpPr>
        <p:spPr>
          <a:xfrm>
            <a:off x="4104711" y="1246460"/>
            <a:ext cx="3742334" cy="3120268"/>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6" name="テキスト ボックス 5">
            <a:extLst>
              <a:ext uri="{FF2B5EF4-FFF2-40B4-BE49-F238E27FC236}">
                <a16:creationId xmlns:a16="http://schemas.microsoft.com/office/drawing/2014/main" id="{5FF4E384-865E-8DF7-5123-AB00246CDB81}"/>
              </a:ext>
            </a:extLst>
          </p:cNvPr>
          <p:cNvSpPr txBox="1"/>
          <p:nvPr/>
        </p:nvSpPr>
        <p:spPr>
          <a:xfrm>
            <a:off x="164139" y="4108609"/>
            <a:ext cx="2991707"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ja-JP" sz="2000" b="1"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Times New Roman" panose="02020603050405020304" pitchFamily="18" charset="0"/>
              </a:rPr>
              <a:t>Client 1 </a:t>
            </a:r>
            <a:endParaRPr kumimoji="0" lang="en-US" altLang="ja-JP" sz="4400" b="0"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endParaRPr>
          </a:p>
        </p:txBody>
      </p:sp>
      <p:graphicFrame>
        <p:nvGraphicFramePr>
          <p:cNvPr id="7" name="コンテンツ プレースホルダー 7">
            <a:extLst>
              <a:ext uri="{FF2B5EF4-FFF2-40B4-BE49-F238E27FC236}">
                <a16:creationId xmlns:a16="http://schemas.microsoft.com/office/drawing/2014/main" id="{4EE85CFD-34F4-C23A-8CC1-62A36694E1BB}"/>
              </a:ext>
            </a:extLst>
          </p:cNvPr>
          <p:cNvGraphicFramePr>
            <a:graphicFrameLocks/>
          </p:cNvGraphicFramePr>
          <p:nvPr>
            <p:extLst>
              <p:ext uri="{D42A27DB-BD31-4B8C-83A1-F6EECF244321}">
                <p14:modId xmlns:p14="http://schemas.microsoft.com/office/powerpoint/2010/main" val="55451956"/>
              </p:ext>
            </p:extLst>
          </p:nvPr>
        </p:nvGraphicFramePr>
        <p:xfrm>
          <a:off x="222132" y="2064128"/>
          <a:ext cx="3758444" cy="2057400"/>
        </p:xfrm>
        <a:graphic>
          <a:graphicData uri="http://schemas.openxmlformats.org/drawingml/2006/table">
            <a:tbl>
              <a:tblPr firstRow="1" firstCol="1" bandRow="1">
                <a:tableStyleId>{5C22544A-7EE6-4342-B048-85BDC9FD1C3A}</a:tableStyleId>
              </a:tblPr>
              <a:tblGrid>
                <a:gridCol w="232414">
                  <a:extLst>
                    <a:ext uri="{9D8B030D-6E8A-4147-A177-3AD203B41FA5}">
                      <a16:colId xmlns:a16="http://schemas.microsoft.com/office/drawing/2014/main" val="1598768619"/>
                    </a:ext>
                  </a:extLst>
                </a:gridCol>
                <a:gridCol w="881098">
                  <a:extLst>
                    <a:ext uri="{9D8B030D-6E8A-4147-A177-3AD203B41FA5}">
                      <a16:colId xmlns:a16="http://schemas.microsoft.com/office/drawing/2014/main" val="1517561440"/>
                    </a:ext>
                  </a:extLst>
                </a:gridCol>
                <a:gridCol w="881644">
                  <a:extLst>
                    <a:ext uri="{9D8B030D-6E8A-4147-A177-3AD203B41FA5}">
                      <a16:colId xmlns:a16="http://schemas.microsoft.com/office/drawing/2014/main" val="2915673569"/>
                    </a:ext>
                  </a:extLst>
                </a:gridCol>
                <a:gridCol w="881644">
                  <a:extLst>
                    <a:ext uri="{9D8B030D-6E8A-4147-A177-3AD203B41FA5}">
                      <a16:colId xmlns:a16="http://schemas.microsoft.com/office/drawing/2014/main" val="3706188884"/>
                    </a:ext>
                  </a:extLst>
                </a:gridCol>
                <a:gridCol w="881644">
                  <a:extLst>
                    <a:ext uri="{9D8B030D-6E8A-4147-A177-3AD203B41FA5}">
                      <a16:colId xmlns:a16="http://schemas.microsoft.com/office/drawing/2014/main" val="2837739366"/>
                    </a:ext>
                  </a:extLst>
                </a:gridCol>
              </a:tblGrid>
              <a:tr h="139920">
                <a:tc rowSpan="2">
                  <a:txBody>
                    <a:bodyPr/>
                    <a:lstStyle/>
                    <a:p>
                      <a:pPr>
                        <a:buNone/>
                      </a:pPr>
                      <a:r>
                        <a:rPr lang="en-US" sz="2000" kern="100">
                          <a:effectLst/>
                        </a:rPr>
                        <a:t>R</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gridSpan="2">
                  <a:txBody>
                    <a:bodyPr/>
                    <a:lstStyle/>
                    <a:p>
                      <a:pPr>
                        <a:buNone/>
                      </a:pPr>
                      <a:r>
                        <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rPr>
                        <a:t>①通常</a:t>
                      </a:r>
                      <a:r>
                        <a:rPr lang="ja-JP" altLang="ja-JP" sz="2000" dirty="0"/>
                        <a:t>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a:p>
                  </a:txBody>
                  <a:tcPr marL="68580" marR="68580" marT="0" marB="0"/>
                </a:tc>
                <a:tc gridSpan="2">
                  <a:txBody>
                    <a:bodyPr/>
                    <a:lstStyle/>
                    <a:p>
                      <a:pPr>
                        <a:buNone/>
                      </a:pPr>
                      <a:r>
                        <a:rPr lang="ja-JP" altLang="en-US" sz="2000" dirty="0"/>
                        <a:t>②</a:t>
                      </a:r>
                      <a:r>
                        <a:rPr lang="ja-JP" altLang="ja-JP" sz="2000" dirty="0"/>
                        <a:t>FedAdam型optimizer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a:p>
                  </a:txBody>
                  <a:tcPr marL="68580" marR="68580" marT="0" marB="0"/>
                </a:tc>
                <a:extLst>
                  <a:ext uri="{0D108BD9-81ED-4DB2-BD59-A6C34878D82A}">
                    <a16:rowId xmlns:a16="http://schemas.microsoft.com/office/drawing/2014/main" val="3781947735"/>
                  </a:ext>
                </a:extLst>
              </a:tr>
              <a:tr h="69960">
                <a:tc vMerge="1">
                  <a:txBody>
                    <a:bodyPr/>
                    <a:lstStyle/>
                    <a:p>
                      <a:endParaRPr kumimoji="1" lang="ja-JP" altLang="en-US"/>
                    </a:p>
                  </a:txBody>
                  <a:tcPr/>
                </a:tc>
                <a:tc>
                  <a:txBody>
                    <a:bodyPr/>
                    <a:lstStyle/>
                    <a:p>
                      <a:pPr algn="ctr">
                        <a:buNone/>
                      </a:pPr>
                      <a:r>
                        <a:rPr lang="en-US" sz="2000" b="1" kern="100">
                          <a:solidFill>
                            <a:schemeClr val="bg1"/>
                          </a:solidFill>
                          <a:effectLst/>
                          <a:latin typeface="Calibri 本文"/>
                          <a:ea typeface="BIZ UDゴシック" panose="020B0400000000000000" pitchFamily="49" charset="-128"/>
                        </a:rPr>
                        <a:t>acc</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sz="2000" b="1" kern="100">
                          <a:solidFill>
                            <a:schemeClr val="bg1"/>
                          </a:solidFill>
                          <a:effectLst/>
                          <a:latin typeface="Calibri 本文"/>
                          <a:ea typeface="BIZ UDゴシック" panose="020B0400000000000000" pitchFamily="49" charset="-128"/>
                        </a:rPr>
                        <a:t>acc</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extLst>
                  <a:ext uri="{0D108BD9-81ED-4DB2-BD59-A6C34878D82A}">
                    <a16:rowId xmlns:a16="http://schemas.microsoft.com/office/drawing/2014/main" val="311818790"/>
                  </a:ext>
                </a:extLst>
              </a:tr>
              <a:tr h="0">
                <a:tc>
                  <a:txBody>
                    <a:bodyPr/>
                    <a:lstStyle/>
                    <a:p>
                      <a:pPr algn="ctr" fontAlgn="t" latinLnBrk="0">
                        <a:buNone/>
                      </a:pPr>
                      <a:r>
                        <a:rPr lang="ja-JP" sz="2000" b="1" i="0">
                          <a:solidFill>
                            <a:schemeClr val="bg1"/>
                          </a:solidFill>
                          <a:effectLst/>
                          <a:latin typeface="Calibri 本文"/>
                        </a:rPr>
                        <a:t>1</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extLst>
                  <a:ext uri="{0D108BD9-81ED-4DB2-BD59-A6C34878D82A}">
                    <a16:rowId xmlns:a16="http://schemas.microsoft.com/office/drawing/2014/main" val="4090492979"/>
                  </a:ext>
                </a:extLst>
              </a:tr>
              <a:tr h="0">
                <a:tc>
                  <a:txBody>
                    <a:bodyPr/>
                    <a:lstStyle/>
                    <a:p>
                      <a:pPr algn="ctr" fontAlgn="t" latinLnBrk="0">
                        <a:buNone/>
                      </a:pPr>
                      <a:r>
                        <a:rPr lang="ja-JP" sz="2000" b="1" i="0">
                          <a:solidFill>
                            <a:schemeClr val="bg1"/>
                          </a:solidFill>
                          <a:effectLst/>
                          <a:latin typeface="Calibri 本文"/>
                        </a:rPr>
                        <a:t>2</a:t>
                      </a:r>
                    </a:p>
                  </a:txBody>
                  <a:tcPr marL="68580" marR="68580" marT="38100" marB="38100"/>
                </a:tc>
                <a:tc>
                  <a:txBody>
                    <a:bodyPr/>
                    <a:lstStyle/>
                    <a:p>
                      <a:pPr algn="ctr" fontAlgn="t" latinLnBrk="0">
                        <a:buNone/>
                      </a:pPr>
                      <a:r>
                        <a:rPr lang="ja-JP" sz="2000" b="0" i="0" dirty="0">
                          <a:solidFill>
                            <a:schemeClr val="tx1"/>
                          </a:solidFill>
                          <a:effectLst/>
                          <a:latin typeface="Calibri 本文"/>
                        </a:rPr>
                        <a:t>0.533</a:t>
                      </a:r>
                    </a:p>
                  </a:txBody>
                  <a:tcPr marL="68580" marR="68580" marT="38100" marB="38100"/>
                </a:tc>
                <a:tc>
                  <a:txBody>
                    <a:bodyPr/>
                    <a:lstStyle/>
                    <a:p>
                      <a:pPr algn="ctr" fontAlgn="t" latinLnBrk="0">
                        <a:buNone/>
                      </a:pPr>
                      <a:r>
                        <a:rPr lang="ja-JP" sz="2000" b="0" i="0">
                          <a:solidFill>
                            <a:schemeClr val="tx1"/>
                          </a:solidFill>
                          <a:effectLst/>
                          <a:latin typeface="Calibri 本文"/>
                        </a:rPr>
                        <a:t>0.533</a:t>
                      </a:r>
                    </a:p>
                  </a:txBody>
                  <a:tcPr marL="68580" marR="68580" marT="38100" marB="38100"/>
                </a:tc>
                <a:tc>
                  <a:txBody>
                    <a:bodyPr/>
                    <a:lstStyle/>
                    <a:p>
                      <a:pPr algn="ctr" fontAlgn="t" latinLnBrk="0">
                        <a:buNone/>
                      </a:pPr>
                      <a:r>
                        <a:rPr lang="ja-JP" sz="2000" b="0" i="0">
                          <a:solidFill>
                            <a:schemeClr val="tx1"/>
                          </a:solidFill>
                          <a:effectLst/>
                          <a:latin typeface="Calibri 本文"/>
                        </a:rPr>
                        <a:t>0.567</a:t>
                      </a:r>
                    </a:p>
                  </a:txBody>
                  <a:tcPr marL="68580" marR="68580" marT="38100" marB="38100"/>
                </a:tc>
                <a:tc>
                  <a:txBody>
                    <a:bodyPr/>
                    <a:lstStyle/>
                    <a:p>
                      <a:pPr algn="ctr" fontAlgn="t" latinLnBrk="0">
                        <a:buNone/>
                      </a:pPr>
                      <a:r>
                        <a:rPr lang="ja-JP" sz="2000" b="0" i="0">
                          <a:solidFill>
                            <a:schemeClr val="tx1"/>
                          </a:solidFill>
                          <a:effectLst/>
                          <a:latin typeface="Calibri 本文"/>
                        </a:rPr>
                        <a:t>0.566</a:t>
                      </a:r>
                    </a:p>
                  </a:txBody>
                  <a:tcPr marL="68580" marR="68580" marT="38100" marB="38100"/>
                </a:tc>
                <a:extLst>
                  <a:ext uri="{0D108BD9-81ED-4DB2-BD59-A6C34878D82A}">
                    <a16:rowId xmlns:a16="http://schemas.microsoft.com/office/drawing/2014/main" val="936111106"/>
                  </a:ext>
                </a:extLst>
              </a:tr>
              <a:tr h="0">
                <a:tc>
                  <a:txBody>
                    <a:bodyPr/>
                    <a:lstStyle/>
                    <a:p>
                      <a:pPr algn="ctr" fontAlgn="t" latinLnBrk="0">
                        <a:buNone/>
                      </a:pPr>
                      <a:r>
                        <a:rPr lang="ja-JP" sz="2000" b="1" i="0" dirty="0">
                          <a:solidFill>
                            <a:schemeClr val="bg1"/>
                          </a:solidFill>
                          <a:effectLst/>
                          <a:latin typeface="Calibri 本文"/>
                        </a:rPr>
                        <a:t>3</a:t>
                      </a:r>
                    </a:p>
                  </a:txBody>
                  <a:tcPr marL="68580" marR="68580" marT="38100" marB="38100"/>
                </a:tc>
                <a:tc>
                  <a:txBody>
                    <a:bodyPr/>
                    <a:lstStyle/>
                    <a:p>
                      <a:pPr algn="ctr" fontAlgn="t" latinLnBrk="0">
                        <a:buNone/>
                      </a:pPr>
                      <a:r>
                        <a:rPr lang="ja-JP" sz="2000" b="0" i="0" dirty="0">
                          <a:solidFill>
                            <a:srgbClr val="FF0000"/>
                          </a:solidFill>
                          <a:effectLst/>
                          <a:latin typeface="Calibri 本文"/>
                        </a:rPr>
                        <a:t>0.633</a:t>
                      </a:r>
                    </a:p>
                  </a:txBody>
                  <a:tcPr marL="68580" marR="68580" marT="38100" marB="38100"/>
                </a:tc>
                <a:tc>
                  <a:txBody>
                    <a:bodyPr/>
                    <a:lstStyle/>
                    <a:p>
                      <a:pPr algn="ctr" fontAlgn="t" latinLnBrk="0">
                        <a:buNone/>
                      </a:pPr>
                      <a:r>
                        <a:rPr lang="ja-JP" sz="2000" b="0" i="0">
                          <a:solidFill>
                            <a:srgbClr val="FF0000"/>
                          </a:solidFill>
                          <a:effectLst/>
                          <a:latin typeface="Calibri 本文"/>
                        </a:rPr>
                        <a:t>0.630</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dirty="0">
                          <a:solidFill>
                            <a:schemeClr val="tx1"/>
                          </a:solidFill>
                          <a:effectLst/>
                          <a:latin typeface="Calibri 本文"/>
                        </a:rPr>
                        <a:t>0.598</a:t>
                      </a:r>
                    </a:p>
                  </a:txBody>
                  <a:tcPr marL="68580" marR="68580" marT="38100" marB="38100"/>
                </a:tc>
                <a:extLst>
                  <a:ext uri="{0D108BD9-81ED-4DB2-BD59-A6C34878D82A}">
                    <a16:rowId xmlns:a16="http://schemas.microsoft.com/office/drawing/2014/main" val="2659702056"/>
                  </a:ext>
                </a:extLst>
              </a:tr>
            </a:tbl>
          </a:graphicData>
        </a:graphic>
      </p:graphicFrame>
      <p:graphicFrame>
        <p:nvGraphicFramePr>
          <p:cNvPr id="8" name="コンテンツ プレースホルダー 7">
            <a:extLst>
              <a:ext uri="{FF2B5EF4-FFF2-40B4-BE49-F238E27FC236}">
                <a16:creationId xmlns:a16="http://schemas.microsoft.com/office/drawing/2014/main" id="{C2851120-3654-7F7B-C08C-07C6F0A06E4E}"/>
              </a:ext>
            </a:extLst>
          </p:cNvPr>
          <p:cNvGraphicFramePr>
            <a:graphicFrameLocks/>
          </p:cNvGraphicFramePr>
          <p:nvPr>
            <p:extLst>
              <p:ext uri="{D42A27DB-BD31-4B8C-83A1-F6EECF244321}">
                <p14:modId xmlns:p14="http://schemas.microsoft.com/office/powerpoint/2010/main" val="1887516556"/>
              </p:ext>
            </p:extLst>
          </p:nvPr>
        </p:nvGraphicFramePr>
        <p:xfrm>
          <a:off x="204515" y="4508719"/>
          <a:ext cx="3758444" cy="2057400"/>
        </p:xfrm>
        <a:graphic>
          <a:graphicData uri="http://schemas.openxmlformats.org/drawingml/2006/table">
            <a:tbl>
              <a:tblPr firstRow="1" firstCol="1" bandRow="1">
                <a:tableStyleId>{5C22544A-7EE6-4342-B048-85BDC9FD1C3A}</a:tableStyleId>
              </a:tblPr>
              <a:tblGrid>
                <a:gridCol w="232414">
                  <a:extLst>
                    <a:ext uri="{9D8B030D-6E8A-4147-A177-3AD203B41FA5}">
                      <a16:colId xmlns:a16="http://schemas.microsoft.com/office/drawing/2014/main" val="1598768619"/>
                    </a:ext>
                  </a:extLst>
                </a:gridCol>
                <a:gridCol w="881098">
                  <a:extLst>
                    <a:ext uri="{9D8B030D-6E8A-4147-A177-3AD203B41FA5}">
                      <a16:colId xmlns:a16="http://schemas.microsoft.com/office/drawing/2014/main" val="1517561440"/>
                    </a:ext>
                  </a:extLst>
                </a:gridCol>
                <a:gridCol w="881644">
                  <a:extLst>
                    <a:ext uri="{9D8B030D-6E8A-4147-A177-3AD203B41FA5}">
                      <a16:colId xmlns:a16="http://schemas.microsoft.com/office/drawing/2014/main" val="2915673569"/>
                    </a:ext>
                  </a:extLst>
                </a:gridCol>
                <a:gridCol w="881644">
                  <a:extLst>
                    <a:ext uri="{9D8B030D-6E8A-4147-A177-3AD203B41FA5}">
                      <a16:colId xmlns:a16="http://schemas.microsoft.com/office/drawing/2014/main" val="3706188884"/>
                    </a:ext>
                  </a:extLst>
                </a:gridCol>
                <a:gridCol w="881644">
                  <a:extLst>
                    <a:ext uri="{9D8B030D-6E8A-4147-A177-3AD203B41FA5}">
                      <a16:colId xmlns:a16="http://schemas.microsoft.com/office/drawing/2014/main" val="2837739366"/>
                    </a:ext>
                  </a:extLst>
                </a:gridCol>
              </a:tblGrid>
              <a:tr h="153924">
                <a:tc rowSpan="2">
                  <a:txBody>
                    <a:bodyPr/>
                    <a:lstStyle/>
                    <a:p>
                      <a:pPr>
                        <a:buNone/>
                      </a:pPr>
                      <a:r>
                        <a:rPr lang="en-US" sz="2000" kern="100">
                          <a:effectLst/>
                        </a:rPr>
                        <a:t>R</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gridSpan="2">
                  <a:txBody>
                    <a:bodyPr/>
                    <a:lstStyle/>
                    <a:p>
                      <a:pPr>
                        <a:buNone/>
                      </a:pPr>
                      <a:r>
                        <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rPr>
                        <a:t>①通常</a:t>
                      </a:r>
                      <a:r>
                        <a:rPr lang="ja-JP" altLang="ja-JP" sz="2000" dirty="0"/>
                        <a:t>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a:p>
                  </a:txBody>
                  <a:tcPr marL="68580" marR="68580" marT="0" marB="0"/>
                </a:tc>
                <a:tc gridSpan="2">
                  <a:txBody>
                    <a:bodyPr/>
                    <a:lstStyle/>
                    <a:p>
                      <a:pPr>
                        <a:buNone/>
                      </a:pPr>
                      <a:r>
                        <a:rPr lang="ja-JP" altLang="en-US" sz="2000" dirty="0"/>
                        <a:t>②</a:t>
                      </a:r>
                      <a:r>
                        <a:rPr lang="ja-JP" altLang="ja-JP" sz="2000" dirty="0"/>
                        <a:t>FedAdam型optimizer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a:p>
                  </a:txBody>
                  <a:tcPr marL="68580" marR="68580" marT="0" marB="0"/>
                </a:tc>
                <a:extLst>
                  <a:ext uri="{0D108BD9-81ED-4DB2-BD59-A6C34878D82A}">
                    <a16:rowId xmlns:a16="http://schemas.microsoft.com/office/drawing/2014/main" val="3781947735"/>
                  </a:ext>
                </a:extLst>
              </a:tr>
              <a:tr h="76962">
                <a:tc vMerge="1">
                  <a:txBody>
                    <a:bodyPr/>
                    <a:lstStyle/>
                    <a:p>
                      <a:endParaRPr kumimoji="1" lang="ja-JP" altLang="en-US"/>
                    </a:p>
                  </a:txBody>
                  <a:tcPr/>
                </a:tc>
                <a:tc>
                  <a:txBody>
                    <a:bodyPr/>
                    <a:lstStyle/>
                    <a:p>
                      <a:pPr algn="ctr">
                        <a:buNone/>
                      </a:pPr>
                      <a:r>
                        <a:rPr lang="en-US" sz="2000" b="1" kern="100">
                          <a:solidFill>
                            <a:schemeClr val="bg1"/>
                          </a:solidFill>
                          <a:effectLst/>
                          <a:latin typeface="Calibri 本文"/>
                          <a:ea typeface="BIZ UDゴシック" panose="020B0400000000000000" pitchFamily="49" charset="-128"/>
                        </a:rPr>
                        <a:t>acc</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sz="2000" b="1" kern="100">
                          <a:solidFill>
                            <a:schemeClr val="bg1"/>
                          </a:solidFill>
                          <a:effectLst/>
                          <a:latin typeface="Calibri 本文"/>
                          <a:ea typeface="BIZ UDゴシック" panose="020B0400000000000000" pitchFamily="49" charset="-128"/>
                        </a:rPr>
                        <a:t>acc</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extLst>
                  <a:ext uri="{0D108BD9-81ED-4DB2-BD59-A6C34878D82A}">
                    <a16:rowId xmlns:a16="http://schemas.microsoft.com/office/drawing/2014/main" val="311818790"/>
                  </a:ext>
                </a:extLst>
              </a:tr>
              <a:tr h="0">
                <a:tc>
                  <a:txBody>
                    <a:bodyPr/>
                    <a:lstStyle/>
                    <a:p>
                      <a:pPr algn="ctr" fontAlgn="t" latinLnBrk="0">
                        <a:buNone/>
                      </a:pPr>
                      <a:r>
                        <a:rPr lang="ja-JP" sz="2000" b="1" i="0">
                          <a:solidFill>
                            <a:schemeClr val="bg1"/>
                          </a:solidFill>
                          <a:effectLst/>
                          <a:latin typeface="Calibri 本文"/>
                        </a:rPr>
                        <a:t>1</a:t>
                      </a:r>
                    </a:p>
                  </a:txBody>
                  <a:tcPr marL="68580" marR="68580" marT="38100" marB="38100"/>
                </a:tc>
                <a:tc>
                  <a:txBody>
                    <a:bodyPr/>
                    <a:lstStyle/>
                    <a:p>
                      <a:pPr algn="ctr" fontAlgn="t" latinLnBrk="0">
                        <a:buNone/>
                      </a:pPr>
                      <a:r>
                        <a:rPr lang="ja-JP" sz="2000" b="0" i="0">
                          <a:solidFill>
                            <a:schemeClr val="tx1"/>
                          </a:solidFill>
                          <a:effectLst/>
                          <a:latin typeface="Calibri 本文"/>
                        </a:rPr>
                        <a:t>0.500</a:t>
                      </a:r>
                    </a:p>
                  </a:txBody>
                  <a:tcPr marL="68580" marR="68580" marT="38100" marB="38100"/>
                </a:tc>
                <a:tc>
                  <a:txBody>
                    <a:bodyPr/>
                    <a:lstStyle/>
                    <a:p>
                      <a:pPr algn="ctr" fontAlgn="t" latinLnBrk="0">
                        <a:buNone/>
                      </a:pPr>
                      <a:r>
                        <a:rPr lang="ja-JP" sz="2000" b="0" i="0">
                          <a:solidFill>
                            <a:schemeClr val="tx1"/>
                          </a:solidFill>
                          <a:effectLst/>
                          <a:latin typeface="Calibri 本文"/>
                        </a:rPr>
                        <a:t>0.333</a:t>
                      </a:r>
                    </a:p>
                  </a:txBody>
                  <a:tcPr marL="68580" marR="68580" marT="38100" marB="38100"/>
                </a:tc>
                <a:tc>
                  <a:txBody>
                    <a:bodyPr/>
                    <a:lstStyle/>
                    <a:p>
                      <a:pPr algn="ctr" fontAlgn="t" latinLnBrk="0">
                        <a:buNone/>
                      </a:pPr>
                      <a:r>
                        <a:rPr lang="ja-JP" sz="2000" b="0" i="0">
                          <a:solidFill>
                            <a:schemeClr val="tx1"/>
                          </a:solidFill>
                          <a:effectLst/>
                          <a:latin typeface="Calibri 本文"/>
                        </a:rPr>
                        <a:t>0.500</a:t>
                      </a:r>
                    </a:p>
                  </a:txBody>
                  <a:tcPr marL="68580" marR="68580" marT="38100" marB="38100"/>
                </a:tc>
                <a:tc>
                  <a:txBody>
                    <a:bodyPr/>
                    <a:lstStyle/>
                    <a:p>
                      <a:pPr algn="ctr" fontAlgn="t" latinLnBrk="0">
                        <a:buNone/>
                      </a:pPr>
                      <a:r>
                        <a:rPr lang="ja-JP" sz="2000" b="0" i="0" dirty="0">
                          <a:solidFill>
                            <a:schemeClr val="tx1"/>
                          </a:solidFill>
                          <a:effectLst/>
                          <a:latin typeface="Calibri 本文"/>
                        </a:rPr>
                        <a:t>0.333</a:t>
                      </a:r>
                    </a:p>
                  </a:txBody>
                  <a:tcPr marL="68580" marR="68580" marT="38100" marB="38100"/>
                </a:tc>
                <a:extLst>
                  <a:ext uri="{0D108BD9-81ED-4DB2-BD59-A6C34878D82A}">
                    <a16:rowId xmlns:a16="http://schemas.microsoft.com/office/drawing/2014/main" val="4090492979"/>
                  </a:ext>
                </a:extLst>
              </a:tr>
              <a:tr h="0">
                <a:tc>
                  <a:txBody>
                    <a:bodyPr/>
                    <a:lstStyle/>
                    <a:p>
                      <a:pPr algn="ctr" fontAlgn="t" latinLnBrk="0">
                        <a:buNone/>
                      </a:pPr>
                      <a:r>
                        <a:rPr lang="ja-JP" sz="2000" b="1" i="0">
                          <a:solidFill>
                            <a:schemeClr val="bg1"/>
                          </a:solidFill>
                          <a:effectLst/>
                          <a:latin typeface="Calibri 本文"/>
                        </a:rPr>
                        <a:t>2</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0.524</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0.524</a:t>
                      </a:r>
                    </a:p>
                  </a:txBody>
                  <a:tcPr marL="68580" marR="68580" marT="38100" marB="38100"/>
                </a:tc>
                <a:extLst>
                  <a:ext uri="{0D108BD9-81ED-4DB2-BD59-A6C34878D82A}">
                    <a16:rowId xmlns:a16="http://schemas.microsoft.com/office/drawing/2014/main" val="936111106"/>
                  </a:ext>
                </a:extLst>
              </a:tr>
              <a:tr h="0">
                <a:tc>
                  <a:txBody>
                    <a:bodyPr/>
                    <a:lstStyle/>
                    <a:p>
                      <a:pPr algn="ctr" fontAlgn="t" latinLnBrk="0">
                        <a:buNone/>
                      </a:pPr>
                      <a:r>
                        <a:rPr lang="ja-JP" sz="2000" b="1" i="0">
                          <a:solidFill>
                            <a:schemeClr val="bg1"/>
                          </a:solidFill>
                          <a:effectLst/>
                          <a:latin typeface="Calibri 本文"/>
                        </a:rPr>
                        <a:t>3</a:t>
                      </a:r>
                    </a:p>
                  </a:txBody>
                  <a:tcPr marL="68580" marR="68580" marT="38100" marB="38100"/>
                </a:tc>
                <a:tc>
                  <a:txBody>
                    <a:bodyPr/>
                    <a:lstStyle/>
                    <a:p>
                      <a:pPr algn="ctr" fontAlgn="t" latinLnBrk="0">
                        <a:buNone/>
                      </a:pPr>
                      <a:r>
                        <a:rPr lang="ja-JP" sz="2000" b="0" i="0" dirty="0">
                          <a:solidFill>
                            <a:schemeClr val="tx1"/>
                          </a:solidFill>
                          <a:effectLst/>
                          <a:latin typeface="Calibri 本文"/>
                        </a:rPr>
                        <a:t>0.600</a:t>
                      </a:r>
                    </a:p>
                  </a:txBody>
                  <a:tcPr marL="68580" marR="68580" marT="38100" marB="38100"/>
                </a:tc>
                <a:tc>
                  <a:txBody>
                    <a:bodyPr/>
                    <a:lstStyle/>
                    <a:p>
                      <a:pPr algn="ctr" fontAlgn="t" latinLnBrk="0">
                        <a:buNone/>
                      </a:pPr>
                      <a:r>
                        <a:rPr lang="ja-JP" sz="2000" b="0" i="0" dirty="0">
                          <a:solidFill>
                            <a:schemeClr val="tx1"/>
                          </a:solidFill>
                          <a:effectLst/>
                          <a:latin typeface="Calibri 本文"/>
                        </a:rPr>
                        <a:t>0.593</a:t>
                      </a:r>
                    </a:p>
                  </a:txBody>
                  <a:tcPr marL="68580" marR="68580" marT="38100" marB="38100"/>
                </a:tc>
                <a:tc>
                  <a:txBody>
                    <a:bodyPr/>
                    <a:lstStyle/>
                    <a:p>
                      <a:pPr algn="ctr" fontAlgn="t" latinLnBrk="0">
                        <a:buNone/>
                      </a:pPr>
                      <a:r>
                        <a:rPr lang="ja-JP" sz="2000" b="0" i="0" dirty="0">
                          <a:solidFill>
                            <a:schemeClr val="tx1"/>
                          </a:solidFill>
                          <a:effectLst/>
                          <a:latin typeface="Calibri 本文"/>
                        </a:rPr>
                        <a:t>0.600</a:t>
                      </a:r>
                    </a:p>
                  </a:txBody>
                  <a:tcPr marL="68580" marR="68580" marT="38100" marB="38100"/>
                </a:tc>
                <a:tc>
                  <a:txBody>
                    <a:bodyPr/>
                    <a:lstStyle/>
                    <a:p>
                      <a:pPr algn="ctr" fontAlgn="t" latinLnBrk="0">
                        <a:buNone/>
                      </a:pPr>
                      <a:r>
                        <a:rPr lang="ja-JP" sz="2000" b="0" i="0" dirty="0">
                          <a:solidFill>
                            <a:schemeClr val="tx1"/>
                          </a:solidFill>
                          <a:effectLst/>
                          <a:latin typeface="Calibri 本文"/>
                        </a:rPr>
                        <a:t>0.593</a:t>
                      </a:r>
                    </a:p>
                  </a:txBody>
                  <a:tcPr marL="68580" marR="68580" marT="38100" marB="38100"/>
                </a:tc>
                <a:extLst>
                  <a:ext uri="{0D108BD9-81ED-4DB2-BD59-A6C34878D82A}">
                    <a16:rowId xmlns:a16="http://schemas.microsoft.com/office/drawing/2014/main" val="2659702056"/>
                  </a:ext>
                </a:extLst>
              </a:tr>
            </a:tbl>
          </a:graphicData>
        </a:graphic>
      </p:graphicFrame>
      <p:graphicFrame>
        <p:nvGraphicFramePr>
          <p:cNvPr id="9" name="コンテンツ プレースホルダー 7">
            <a:extLst>
              <a:ext uri="{FF2B5EF4-FFF2-40B4-BE49-F238E27FC236}">
                <a16:creationId xmlns:a16="http://schemas.microsoft.com/office/drawing/2014/main" id="{94C70204-A0DA-EA1C-21D1-014BFA4075C5}"/>
              </a:ext>
            </a:extLst>
          </p:cNvPr>
          <p:cNvGraphicFramePr>
            <a:graphicFrameLocks noGrp="1"/>
          </p:cNvGraphicFramePr>
          <p:nvPr>
            <p:ph idx="1"/>
            <p:extLst>
              <p:ext uri="{D42A27DB-BD31-4B8C-83A1-F6EECF244321}">
                <p14:modId xmlns:p14="http://schemas.microsoft.com/office/powerpoint/2010/main" val="2073491705"/>
              </p:ext>
            </p:extLst>
          </p:nvPr>
        </p:nvGraphicFramePr>
        <p:xfrm>
          <a:off x="4121826" y="2056816"/>
          <a:ext cx="3653099" cy="2100616"/>
        </p:xfrm>
        <a:graphic>
          <a:graphicData uri="http://schemas.openxmlformats.org/drawingml/2006/table">
            <a:tbl>
              <a:tblPr firstRow="1" firstCol="1" bandRow="1">
                <a:tableStyleId>{5C22544A-7EE6-4342-B048-85BDC9FD1C3A}</a:tableStyleId>
              </a:tblPr>
              <a:tblGrid>
                <a:gridCol w="225900">
                  <a:extLst>
                    <a:ext uri="{9D8B030D-6E8A-4147-A177-3AD203B41FA5}">
                      <a16:colId xmlns:a16="http://schemas.microsoft.com/office/drawing/2014/main" val="1598768619"/>
                    </a:ext>
                  </a:extLst>
                </a:gridCol>
                <a:gridCol w="1713334">
                  <a:extLst>
                    <a:ext uri="{9D8B030D-6E8A-4147-A177-3AD203B41FA5}">
                      <a16:colId xmlns:a16="http://schemas.microsoft.com/office/drawing/2014/main" val="1517561440"/>
                    </a:ext>
                  </a:extLst>
                </a:gridCol>
                <a:gridCol w="1713865">
                  <a:extLst>
                    <a:ext uri="{9D8B030D-6E8A-4147-A177-3AD203B41FA5}">
                      <a16:colId xmlns:a16="http://schemas.microsoft.com/office/drawing/2014/main" val="3706188884"/>
                    </a:ext>
                  </a:extLst>
                </a:gridCol>
              </a:tblGrid>
              <a:tr h="603528">
                <a:tc rowSpan="2">
                  <a:txBody>
                    <a:bodyPr/>
                    <a:lstStyle/>
                    <a:p>
                      <a:pPr>
                        <a:buNone/>
                      </a:pPr>
                      <a:r>
                        <a:rPr lang="en-US" sz="2000" kern="100">
                          <a:effectLst/>
                        </a:rPr>
                        <a:t>R</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rPr>
                        <a:t>①通常</a:t>
                      </a:r>
                      <a:r>
                        <a:rPr lang="ja-JP" altLang="ja-JP" sz="2000" dirty="0"/>
                        <a:t>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ja-JP" altLang="en-US" sz="2000"/>
                        <a:t>②</a:t>
                      </a:r>
                      <a:r>
                        <a:rPr lang="ja-JP" altLang="ja-JP" sz="2000"/>
                        <a:t>FedAdam型optimizer</a:t>
                      </a:r>
                      <a:endParaRPr lang="ja-JP" altLang="en-US"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781947735"/>
                  </a:ext>
                </a:extLst>
              </a:tr>
              <a:tr h="348016">
                <a:tc vMerge="1">
                  <a:txBody>
                    <a:bodyPr/>
                    <a:lstStyle/>
                    <a:p>
                      <a:endParaRPr kumimoji="1" lang="ja-JP" altLang="en-US"/>
                    </a:p>
                  </a:txBody>
                  <a:tcPr/>
                </a:tc>
                <a:tc>
                  <a:txBody>
                    <a:bodyPr/>
                    <a:lstStyle/>
                    <a:p>
                      <a:pPr algn="ctr">
                        <a:buNone/>
                      </a:pPr>
                      <a:r>
                        <a:rPr lang="en-US" altLang="ja-JP" sz="2000" b="1" kern="100" err="1">
                          <a:solidFill>
                            <a:schemeClr val="bg1"/>
                          </a:solidFill>
                          <a:effectLst/>
                          <a:latin typeface="Calibri 本文"/>
                          <a:ea typeface="BIZ UDゴシック" panose="020B0400000000000000" pitchFamily="49" charset="-128"/>
                        </a:rPr>
                        <a:t>Lpred</a:t>
                      </a:r>
                      <a:endParaRPr lang="ja-JP" altLang="en-US" sz="2000" b="1" kern="10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err="1">
                          <a:solidFill>
                            <a:schemeClr val="bg1"/>
                          </a:solidFill>
                          <a:effectLst/>
                          <a:latin typeface="Calibri 本文"/>
                          <a:ea typeface="BIZ UDゴシック" panose="020B0400000000000000" pitchFamily="49" charset="-128"/>
                        </a:rPr>
                        <a:t>Lpred</a:t>
                      </a:r>
                      <a:endParaRPr lang="ja-JP" altLang="en-US"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extLst>
                  <a:ext uri="{0D108BD9-81ED-4DB2-BD59-A6C34878D82A}">
                    <a16:rowId xmlns:a16="http://schemas.microsoft.com/office/drawing/2014/main" val="311818790"/>
                  </a:ext>
                </a:extLst>
              </a:tr>
              <a:tr h="377205">
                <a:tc>
                  <a:txBody>
                    <a:bodyPr/>
                    <a:lstStyle/>
                    <a:p>
                      <a:pPr algn="ctr" fontAlgn="t" latinLnBrk="0">
                        <a:buNone/>
                      </a:pPr>
                      <a:r>
                        <a:rPr lang="ja-JP" sz="2000" b="1" i="0">
                          <a:solidFill>
                            <a:schemeClr val="bg1"/>
                          </a:solidFill>
                          <a:effectLst/>
                          <a:latin typeface="Calibri 本文"/>
                        </a:rPr>
                        <a:t>1</a:t>
                      </a:r>
                    </a:p>
                  </a:txBody>
                  <a:tcPr marL="68580" marR="68580" marT="38100" marB="38100"/>
                </a:tc>
                <a:tc>
                  <a:txBody>
                    <a:bodyPr/>
                    <a:lstStyle/>
                    <a:p>
                      <a:pPr algn="ctr" fontAlgn="t" latinLnBrk="0">
                        <a:buNone/>
                      </a:pPr>
                      <a:r>
                        <a:rPr lang="en-US" altLang="ja-JP" sz="2000" b="0" i="0">
                          <a:solidFill>
                            <a:schemeClr val="tx1"/>
                          </a:solidFill>
                          <a:effectLst/>
                          <a:latin typeface="Calibri 本文"/>
                        </a:rPr>
                        <a:t>0.0909</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0.0750</a:t>
                      </a:r>
                    </a:p>
                  </a:txBody>
                  <a:tcPr marL="68580" marR="68580" marT="38100" marB="38100"/>
                </a:tc>
                <a:extLst>
                  <a:ext uri="{0D108BD9-81ED-4DB2-BD59-A6C34878D82A}">
                    <a16:rowId xmlns:a16="http://schemas.microsoft.com/office/drawing/2014/main" val="4090492979"/>
                  </a:ext>
                </a:extLst>
              </a:tr>
              <a:tr h="377205">
                <a:tc>
                  <a:txBody>
                    <a:bodyPr/>
                    <a:lstStyle/>
                    <a:p>
                      <a:pPr algn="ctr" fontAlgn="t" latinLnBrk="0">
                        <a:buNone/>
                      </a:pPr>
                      <a:r>
                        <a:rPr lang="ja-JP" sz="2000" b="1" i="0">
                          <a:solidFill>
                            <a:schemeClr val="bg1"/>
                          </a:solidFill>
                          <a:effectLst/>
                          <a:latin typeface="Calibri 本文"/>
                        </a:rPr>
                        <a:t>2</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0.000824</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0.00114</a:t>
                      </a:r>
                    </a:p>
                  </a:txBody>
                  <a:tcPr marL="68580" marR="68580" marT="38100" marB="38100"/>
                </a:tc>
                <a:extLst>
                  <a:ext uri="{0D108BD9-81ED-4DB2-BD59-A6C34878D82A}">
                    <a16:rowId xmlns:a16="http://schemas.microsoft.com/office/drawing/2014/main" val="936111106"/>
                  </a:ext>
                </a:extLst>
              </a:tr>
              <a:tr h="377205">
                <a:tc>
                  <a:txBody>
                    <a:bodyPr/>
                    <a:lstStyle/>
                    <a:p>
                      <a:pPr algn="ctr" fontAlgn="t" latinLnBrk="0">
                        <a:buNone/>
                      </a:pPr>
                      <a:r>
                        <a:rPr lang="ja-JP" sz="2000" b="1" i="0">
                          <a:solidFill>
                            <a:schemeClr val="bg1"/>
                          </a:solidFill>
                          <a:effectLst/>
                          <a:latin typeface="Calibri 本文"/>
                        </a:rPr>
                        <a:t>3</a:t>
                      </a:r>
                    </a:p>
                  </a:txBody>
                  <a:tcPr marL="68580" marR="68580" marT="38100" marB="38100"/>
                </a:tc>
                <a:tc>
                  <a:txBody>
                    <a:bodyPr/>
                    <a:lstStyle/>
                    <a:p>
                      <a:pPr algn="ctr" fontAlgn="t" latinLnBrk="0">
                        <a:buNone/>
                      </a:pPr>
                      <a:r>
                        <a:rPr lang="en-US" altLang="ja-JP" sz="2000" b="0" i="0">
                          <a:solidFill>
                            <a:schemeClr val="tx1"/>
                          </a:solidFill>
                          <a:effectLst/>
                          <a:latin typeface="Calibri 本文"/>
                        </a:rPr>
                        <a:t>0.0232</a:t>
                      </a:r>
                    </a:p>
                  </a:txBody>
                  <a:tcPr marL="68580" marR="68580" marT="38100" marB="38100"/>
                </a:tc>
                <a:tc>
                  <a:txBody>
                    <a:bodyPr/>
                    <a:lstStyle/>
                    <a:p>
                      <a:pPr algn="ctr" fontAlgn="t" latinLnBrk="0">
                        <a:buNone/>
                      </a:pPr>
                      <a:r>
                        <a:rPr lang="en-US" altLang="ja-JP" sz="2000" b="0" i="0" dirty="0">
                          <a:solidFill>
                            <a:srgbClr val="FF0000"/>
                          </a:solidFill>
                          <a:effectLst/>
                          <a:latin typeface="Calibri 本文"/>
                        </a:rPr>
                        <a:t>0.0160</a:t>
                      </a:r>
                    </a:p>
                  </a:txBody>
                  <a:tcPr marL="68580" marR="68580" marT="38100" marB="38100"/>
                </a:tc>
                <a:extLst>
                  <a:ext uri="{0D108BD9-81ED-4DB2-BD59-A6C34878D82A}">
                    <a16:rowId xmlns:a16="http://schemas.microsoft.com/office/drawing/2014/main" val="2659702056"/>
                  </a:ext>
                </a:extLst>
              </a:tr>
            </a:tbl>
          </a:graphicData>
        </a:graphic>
      </p:graphicFrame>
      <p:sp>
        <p:nvSpPr>
          <p:cNvPr id="13" name="テキスト ボックス 12">
            <a:extLst>
              <a:ext uri="{FF2B5EF4-FFF2-40B4-BE49-F238E27FC236}">
                <a16:creationId xmlns:a16="http://schemas.microsoft.com/office/drawing/2014/main" id="{9D90246D-4647-850C-79A1-D105A09AE390}"/>
              </a:ext>
            </a:extLst>
          </p:cNvPr>
          <p:cNvSpPr txBox="1"/>
          <p:nvPr/>
        </p:nvSpPr>
        <p:spPr>
          <a:xfrm>
            <a:off x="1478287" y="1314754"/>
            <a:ext cx="1205380" cy="400110"/>
          </a:xfrm>
          <a:prstGeom prst="rect">
            <a:avLst/>
          </a:prstGeom>
          <a:noFill/>
        </p:spPr>
        <p:txBody>
          <a:bodyPr wrap="square">
            <a:spAutoFit/>
          </a:bodyPr>
          <a:lstStyle/>
          <a:p>
            <a:pPr algn="ctr"/>
            <a:r>
              <a:rPr lang="ja-JP" altLang="en-US" sz="2000" b="1" dirty="0"/>
              <a:t>分類精度</a:t>
            </a:r>
            <a:endParaRPr lang="en-US" altLang="ja-JP" sz="2000" b="1" dirty="0"/>
          </a:p>
        </p:txBody>
      </p:sp>
      <p:sp>
        <p:nvSpPr>
          <p:cNvPr id="15" name="四角形: 角を丸くする 14">
            <a:extLst>
              <a:ext uri="{FF2B5EF4-FFF2-40B4-BE49-F238E27FC236}">
                <a16:creationId xmlns:a16="http://schemas.microsoft.com/office/drawing/2014/main" id="{15EF98B9-CB19-03D6-7637-04C5A866EE6D}"/>
              </a:ext>
            </a:extLst>
          </p:cNvPr>
          <p:cNvSpPr/>
          <p:nvPr/>
        </p:nvSpPr>
        <p:spPr>
          <a:xfrm>
            <a:off x="71119" y="864258"/>
            <a:ext cx="1802110" cy="382201"/>
          </a:xfrm>
          <a:prstGeom prst="roundRect">
            <a:avLst>
              <a:gd name="adj" fmla="val 6330"/>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ja-JP" altLang="en-US" dirty="0">
                <a:solidFill>
                  <a:schemeClr val="bg1"/>
                </a:solidFill>
              </a:rPr>
              <a:t>実験結果の比較</a:t>
            </a:r>
            <a:endParaRPr lang="en-US" altLang="ja-JP" dirty="0">
              <a:solidFill>
                <a:schemeClr val="bg1"/>
              </a:solidFill>
            </a:endParaRPr>
          </a:p>
        </p:txBody>
      </p:sp>
      <p:sp>
        <p:nvSpPr>
          <p:cNvPr id="21" name="テキスト ボックス 20">
            <a:extLst>
              <a:ext uri="{FF2B5EF4-FFF2-40B4-BE49-F238E27FC236}">
                <a16:creationId xmlns:a16="http://schemas.microsoft.com/office/drawing/2014/main" id="{867B9EA1-4015-C2C6-E139-7A2946D2FB1F}"/>
              </a:ext>
            </a:extLst>
          </p:cNvPr>
          <p:cNvSpPr txBox="1"/>
          <p:nvPr/>
        </p:nvSpPr>
        <p:spPr>
          <a:xfrm>
            <a:off x="4874976" y="1369766"/>
            <a:ext cx="2146797" cy="400110"/>
          </a:xfrm>
          <a:prstGeom prst="rect">
            <a:avLst/>
          </a:prstGeom>
          <a:noFill/>
        </p:spPr>
        <p:txBody>
          <a:bodyPr wrap="square">
            <a:spAutoFit/>
          </a:bodyPr>
          <a:lstStyle/>
          <a:p>
            <a:pPr algn="ctr"/>
            <a:r>
              <a:rPr lang="en-US" altLang="ja-JP" sz="2000" b="1" dirty="0"/>
              <a:t>Logits</a:t>
            </a:r>
            <a:r>
              <a:rPr lang="ja-JP" altLang="en-US" sz="2000" b="1" dirty="0"/>
              <a:t>への適合度</a:t>
            </a:r>
            <a:endParaRPr lang="en-US" altLang="ja-JP" sz="2000" b="1" dirty="0"/>
          </a:p>
        </p:txBody>
      </p:sp>
      <p:sp>
        <p:nvSpPr>
          <p:cNvPr id="23" name="矢印: 右 22">
            <a:extLst>
              <a:ext uri="{FF2B5EF4-FFF2-40B4-BE49-F238E27FC236}">
                <a16:creationId xmlns:a16="http://schemas.microsoft.com/office/drawing/2014/main" id="{008F9ACC-C8EC-EC13-86F5-DF1347700F86}"/>
              </a:ext>
            </a:extLst>
          </p:cNvPr>
          <p:cNvSpPr/>
          <p:nvPr/>
        </p:nvSpPr>
        <p:spPr>
          <a:xfrm>
            <a:off x="4057825" y="5538884"/>
            <a:ext cx="392877" cy="432707"/>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右 24">
            <a:extLst>
              <a:ext uri="{FF2B5EF4-FFF2-40B4-BE49-F238E27FC236}">
                <a16:creationId xmlns:a16="http://schemas.microsoft.com/office/drawing/2014/main" id="{5BA41F70-6DE0-3A81-394F-150D499285EB}"/>
              </a:ext>
            </a:extLst>
          </p:cNvPr>
          <p:cNvSpPr/>
          <p:nvPr/>
        </p:nvSpPr>
        <p:spPr>
          <a:xfrm rot="5400000">
            <a:off x="5899561" y="4384135"/>
            <a:ext cx="392877" cy="432707"/>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62157585-D1AF-C9F2-6F52-A27A3EE614B2}"/>
              </a:ext>
            </a:extLst>
          </p:cNvPr>
          <p:cNvSpPr/>
          <p:nvPr/>
        </p:nvSpPr>
        <p:spPr>
          <a:xfrm>
            <a:off x="4723862" y="5177084"/>
            <a:ext cx="2744276" cy="1155454"/>
          </a:xfrm>
          <a:prstGeom prst="roundRect">
            <a:avLst>
              <a:gd name="adj" fmla="val 0"/>
            </a:avLst>
          </a:prstGeom>
          <a:solidFill>
            <a:srgbClr val="FFEBEB"/>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600" dirty="0">
                <a:solidFill>
                  <a:schemeClr val="tx1"/>
                </a:solidFill>
              </a:rPr>
              <a:t>教師に近づくことと</a:t>
            </a:r>
            <a:endParaRPr kumimoji="1" lang="en-US" altLang="ja-JP" sz="1600" dirty="0">
              <a:solidFill>
                <a:schemeClr val="tx1"/>
              </a:solidFill>
            </a:endParaRPr>
          </a:p>
          <a:p>
            <a:pPr algn="ctr"/>
            <a:r>
              <a:rPr kumimoji="1" lang="ja-JP" altLang="en-US" sz="1600" dirty="0">
                <a:solidFill>
                  <a:schemeClr val="tx1"/>
                </a:solidFill>
              </a:rPr>
              <a:t>正しく分類することは別</a:t>
            </a:r>
            <a:endParaRPr kumimoji="1" lang="en-US" altLang="ja-JP" sz="1600" dirty="0">
              <a:solidFill>
                <a:schemeClr val="tx1"/>
              </a:solidFill>
            </a:endParaRPr>
          </a:p>
          <a:p>
            <a:pPr algn="ctr"/>
            <a:r>
              <a:rPr lang="ja-JP" altLang="en-US" sz="1600" dirty="0">
                <a:solidFill>
                  <a:schemeClr val="tx1"/>
                </a:solidFill>
              </a:rPr>
              <a:t>（完璧な相関は取れない）</a:t>
            </a:r>
            <a:endParaRPr kumimoji="1" lang="ja-JP" altLang="en-US" sz="1600" dirty="0">
              <a:solidFill>
                <a:schemeClr val="tx1"/>
              </a:solidFill>
            </a:endParaRPr>
          </a:p>
        </p:txBody>
      </p:sp>
      <p:sp>
        <p:nvSpPr>
          <p:cNvPr id="31" name="矢印: 右 30">
            <a:extLst>
              <a:ext uri="{FF2B5EF4-FFF2-40B4-BE49-F238E27FC236}">
                <a16:creationId xmlns:a16="http://schemas.microsoft.com/office/drawing/2014/main" id="{F8FF32AA-086D-A62C-8F2A-6D1660E72C54}"/>
              </a:ext>
            </a:extLst>
          </p:cNvPr>
          <p:cNvSpPr/>
          <p:nvPr/>
        </p:nvSpPr>
        <p:spPr>
          <a:xfrm>
            <a:off x="7995876" y="3714490"/>
            <a:ext cx="392877" cy="432707"/>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四角形: 角を丸くする 34">
            <a:extLst>
              <a:ext uri="{FF2B5EF4-FFF2-40B4-BE49-F238E27FC236}">
                <a16:creationId xmlns:a16="http://schemas.microsoft.com/office/drawing/2014/main" id="{6C8FF491-2BBA-9EC6-1A1F-5895C69D5914}"/>
              </a:ext>
            </a:extLst>
          </p:cNvPr>
          <p:cNvSpPr/>
          <p:nvPr/>
        </p:nvSpPr>
        <p:spPr>
          <a:xfrm>
            <a:off x="9822406" y="1111687"/>
            <a:ext cx="831922" cy="504845"/>
          </a:xfrm>
          <a:prstGeom prst="roundRect">
            <a:avLst>
              <a:gd name="adj" fmla="val 11872"/>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600" dirty="0">
                <a:solidFill>
                  <a:schemeClr val="tx1"/>
                </a:solidFill>
              </a:rPr>
              <a:t>Logits</a:t>
            </a:r>
          </a:p>
        </p:txBody>
      </p:sp>
      <p:sp>
        <p:nvSpPr>
          <p:cNvPr id="37" name="四角形: 角を丸くする 36">
            <a:extLst>
              <a:ext uri="{FF2B5EF4-FFF2-40B4-BE49-F238E27FC236}">
                <a16:creationId xmlns:a16="http://schemas.microsoft.com/office/drawing/2014/main" id="{9425A812-72A0-B167-A7B1-4F1740BF393E}"/>
              </a:ext>
            </a:extLst>
          </p:cNvPr>
          <p:cNvSpPr/>
          <p:nvPr/>
        </p:nvSpPr>
        <p:spPr>
          <a:xfrm>
            <a:off x="8496733" y="1090936"/>
            <a:ext cx="1144336" cy="504845"/>
          </a:xfrm>
          <a:prstGeom prst="roundRect">
            <a:avLst>
              <a:gd name="adj" fmla="val 11872"/>
            </a:avLst>
          </a:prstGeom>
          <a:solidFill>
            <a:schemeClr val="accent4">
              <a:lumMod val="20000"/>
              <a:lumOff val="8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600" dirty="0">
                <a:solidFill>
                  <a:schemeClr val="tx1"/>
                </a:solidFill>
              </a:rPr>
              <a:t>勾配情報</a:t>
            </a:r>
            <a:endParaRPr kumimoji="1" lang="en-US" altLang="ja-JP" sz="1600" dirty="0">
              <a:solidFill>
                <a:schemeClr val="tx1"/>
              </a:solidFill>
            </a:endParaRPr>
          </a:p>
        </p:txBody>
      </p:sp>
      <p:sp>
        <p:nvSpPr>
          <p:cNvPr id="39" name="四角形: 角を丸くする 38">
            <a:extLst>
              <a:ext uri="{FF2B5EF4-FFF2-40B4-BE49-F238E27FC236}">
                <a16:creationId xmlns:a16="http://schemas.microsoft.com/office/drawing/2014/main" id="{9E0F54B7-51AC-B213-3C86-4B6E7016ACB7}"/>
              </a:ext>
            </a:extLst>
          </p:cNvPr>
          <p:cNvSpPr/>
          <p:nvPr/>
        </p:nvSpPr>
        <p:spPr>
          <a:xfrm>
            <a:off x="10835665" y="1095838"/>
            <a:ext cx="941117" cy="504845"/>
          </a:xfrm>
          <a:prstGeom prst="roundRect">
            <a:avLst>
              <a:gd name="adj" fmla="val 11872"/>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600" dirty="0">
                <a:solidFill>
                  <a:schemeClr val="tx1"/>
                </a:solidFill>
              </a:rPr>
              <a:t>差分</a:t>
            </a:r>
            <a:r>
              <a:rPr kumimoji="1" lang="en-US" altLang="ja-JP" sz="1600" dirty="0" err="1">
                <a:solidFill>
                  <a:schemeClr val="tx1"/>
                </a:solidFill>
              </a:rPr>
              <a:t>LoRA</a:t>
            </a:r>
            <a:endParaRPr kumimoji="1" lang="en-US" altLang="ja-JP" sz="1600" dirty="0">
              <a:solidFill>
                <a:schemeClr val="tx1"/>
              </a:solidFill>
            </a:endParaRPr>
          </a:p>
        </p:txBody>
      </p:sp>
      <p:sp>
        <p:nvSpPr>
          <p:cNvPr id="41" name="四角形: 角を丸くする 40">
            <a:extLst>
              <a:ext uri="{FF2B5EF4-FFF2-40B4-BE49-F238E27FC236}">
                <a16:creationId xmlns:a16="http://schemas.microsoft.com/office/drawing/2014/main" id="{066B43D2-5C65-87DA-2BE7-2AA1C4055406}"/>
              </a:ext>
            </a:extLst>
          </p:cNvPr>
          <p:cNvSpPr/>
          <p:nvPr/>
        </p:nvSpPr>
        <p:spPr>
          <a:xfrm>
            <a:off x="8388753" y="1918497"/>
            <a:ext cx="1098245" cy="382201"/>
          </a:xfrm>
          <a:prstGeom prst="roundRect">
            <a:avLst>
              <a:gd name="adj" fmla="val 6330"/>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400" dirty="0" err="1">
                <a:solidFill>
                  <a:schemeClr val="bg1"/>
                </a:solidFill>
              </a:rPr>
              <a:t>Lgrad</a:t>
            </a:r>
            <a:endParaRPr lang="en-US" altLang="ja-JP" sz="2400" dirty="0">
              <a:solidFill>
                <a:schemeClr val="bg1"/>
              </a:solidFill>
            </a:endParaRPr>
          </a:p>
        </p:txBody>
      </p:sp>
      <p:sp>
        <p:nvSpPr>
          <p:cNvPr id="43" name="四角形: 角を丸くする 42">
            <a:extLst>
              <a:ext uri="{FF2B5EF4-FFF2-40B4-BE49-F238E27FC236}">
                <a16:creationId xmlns:a16="http://schemas.microsoft.com/office/drawing/2014/main" id="{CE1A56D0-6595-28F9-60F7-0BB6DFB2E2AD}"/>
              </a:ext>
            </a:extLst>
          </p:cNvPr>
          <p:cNvSpPr/>
          <p:nvPr/>
        </p:nvSpPr>
        <p:spPr>
          <a:xfrm>
            <a:off x="8496733" y="4385885"/>
            <a:ext cx="1098245" cy="382201"/>
          </a:xfrm>
          <a:prstGeom prst="roundRect">
            <a:avLst>
              <a:gd name="adj" fmla="val 6330"/>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400" dirty="0" err="1">
                <a:solidFill>
                  <a:schemeClr val="bg1"/>
                </a:solidFill>
              </a:rPr>
              <a:t>Lpost</a:t>
            </a:r>
            <a:endParaRPr lang="en-US" altLang="ja-JP" sz="2400" dirty="0">
              <a:solidFill>
                <a:schemeClr val="bg1"/>
              </a:solidFill>
            </a:endParaRPr>
          </a:p>
        </p:txBody>
      </p:sp>
      <p:sp>
        <p:nvSpPr>
          <p:cNvPr id="45" name="四角形: 角を丸くする 44">
            <a:extLst>
              <a:ext uri="{FF2B5EF4-FFF2-40B4-BE49-F238E27FC236}">
                <a16:creationId xmlns:a16="http://schemas.microsoft.com/office/drawing/2014/main" id="{940E9921-B933-0D22-DD04-3171EDB87F2C}"/>
              </a:ext>
            </a:extLst>
          </p:cNvPr>
          <p:cNvSpPr/>
          <p:nvPr/>
        </p:nvSpPr>
        <p:spPr>
          <a:xfrm>
            <a:off x="8496733" y="2280052"/>
            <a:ext cx="3531127" cy="2005376"/>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47" name="四角形: 角を丸くする 46">
            <a:extLst>
              <a:ext uri="{FF2B5EF4-FFF2-40B4-BE49-F238E27FC236}">
                <a16:creationId xmlns:a16="http://schemas.microsoft.com/office/drawing/2014/main" id="{0435CE08-15AE-E508-8CD6-4F0E4D6E3832}"/>
              </a:ext>
            </a:extLst>
          </p:cNvPr>
          <p:cNvSpPr/>
          <p:nvPr/>
        </p:nvSpPr>
        <p:spPr>
          <a:xfrm>
            <a:off x="8569147" y="4755186"/>
            <a:ext cx="3531127" cy="2005376"/>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49" name="テキスト ボックス 48">
            <a:extLst>
              <a:ext uri="{FF2B5EF4-FFF2-40B4-BE49-F238E27FC236}">
                <a16:creationId xmlns:a16="http://schemas.microsoft.com/office/drawing/2014/main" id="{F9F63575-32EA-B512-E48F-FA7B64F7E70F}"/>
              </a:ext>
            </a:extLst>
          </p:cNvPr>
          <p:cNvSpPr txBox="1"/>
          <p:nvPr/>
        </p:nvSpPr>
        <p:spPr>
          <a:xfrm>
            <a:off x="8476324" y="2454883"/>
            <a:ext cx="3551536" cy="646331"/>
          </a:xfrm>
          <a:prstGeom prst="rect">
            <a:avLst/>
          </a:prstGeom>
          <a:noFill/>
        </p:spPr>
        <p:txBody>
          <a:bodyPr wrap="square">
            <a:spAutoFit/>
          </a:bodyPr>
          <a:lstStyle/>
          <a:p>
            <a:pPr algn="ctr"/>
            <a:r>
              <a:rPr lang="ja-JP" altLang="ja-JP" dirty="0"/>
              <a:t>端末と基盤 LoRAの</a:t>
            </a:r>
            <a:endParaRPr lang="en-US" altLang="ja-JP" dirty="0"/>
          </a:p>
          <a:p>
            <a:pPr algn="ctr"/>
            <a:r>
              <a:rPr lang="ja-JP" altLang="ja-JP" dirty="0"/>
              <a:t>学習する方向を揃える</a:t>
            </a:r>
            <a:endParaRPr lang="en-US" altLang="ja-JP" sz="2000" b="1" dirty="0"/>
          </a:p>
        </p:txBody>
      </p:sp>
      <p:sp>
        <p:nvSpPr>
          <p:cNvPr id="51" name="テキスト ボックス 50">
            <a:extLst>
              <a:ext uri="{FF2B5EF4-FFF2-40B4-BE49-F238E27FC236}">
                <a16:creationId xmlns:a16="http://schemas.microsoft.com/office/drawing/2014/main" id="{F1C728CC-CAA2-EDFD-2361-626AEA6561E7}"/>
              </a:ext>
            </a:extLst>
          </p:cNvPr>
          <p:cNvSpPr txBox="1"/>
          <p:nvPr/>
        </p:nvSpPr>
        <p:spPr>
          <a:xfrm>
            <a:off x="8509334" y="4926662"/>
            <a:ext cx="3551536" cy="646331"/>
          </a:xfrm>
          <a:prstGeom prst="rect">
            <a:avLst/>
          </a:prstGeom>
          <a:noFill/>
        </p:spPr>
        <p:txBody>
          <a:bodyPr wrap="square">
            <a:spAutoFit/>
          </a:bodyPr>
          <a:lstStyle/>
          <a:p>
            <a:pPr algn="ctr"/>
            <a:r>
              <a:rPr lang="ja-JP" altLang="ja-JP" dirty="0"/>
              <a:t>追加学習後のモデルの</a:t>
            </a:r>
            <a:endParaRPr lang="en-US" altLang="ja-JP" dirty="0"/>
          </a:p>
          <a:p>
            <a:pPr algn="ctr"/>
            <a:r>
              <a:rPr lang="ja-JP" altLang="ja-JP" dirty="0"/>
              <a:t>振る舞いを揃える</a:t>
            </a:r>
            <a:endParaRPr lang="en-US" altLang="ja-JP" sz="2000" b="1" dirty="0"/>
          </a:p>
        </p:txBody>
      </p:sp>
      <p:cxnSp>
        <p:nvCxnSpPr>
          <p:cNvPr id="53" name="直線コネクタ 52">
            <a:extLst>
              <a:ext uri="{FF2B5EF4-FFF2-40B4-BE49-F238E27FC236}">
                <a16:creationId xmlns:a16="http://schemas.microsoft.com/office/drawing/2014/main" id="{4BD96B35-9A06-8197-49B9-B48572B7A2D6}"/>
              </a:ext>
            </a:extLst>
          </p:cNvPr>
          <p:cNvCxnSpPr>
            <a:stCxn id="45" idx="1"/>
            <a:endCxn id="45" idx="3"/>
          </p:cNvCxnSpPr>
          <p:nvPr/>
        </p:nvCxnSpPr>
        <p:spPr>
          <a:xfrm>
            <a:off x="8496733" y="3282740"/>
            <a:ext cx="3531127"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5BE101F5-3233-85A7-1D56-DB5E25BC0BBC}"/>
              </a:ext>
            </a:extLst>
          </p:cNvPr>
          <p:cNvCxnSpPr>
            <a:cxnSpLocks/>
            <a:stCxn id="47" idx="1"/>
            <a:endCxn id="47" idx="3"/>
          </p:cNvCxnSpPr>
          <p:nvPr/>
        </p:nvCxnSpPr>
        <p:spPr>
          <a:xfrm>
            <a:off x="8569147" y="5757874"/>
            <a:ext cx="3531127"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F8553DAD-655D-37FA-12A4-347333D3DAA9}"/>
              </a:ext>
            </a:extLst>
          </p:cNvPr>
          <p:cNvSpPr/>
          <p:nvPr/>
        </p:nvSpPr>
        <p:spPr>
          <a:xfrm>
            <a:off x="8724161" y="3401884"/>
            <a:ext cx="1098245"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FedACG</a:t>
            </a:r>
            <a:endParaRPr lang="en-US" altLang="ja-JP" sz="2000" dirty="0">
              <a:solidFill>
                <a:schemeClr val="tx1"/>
              </a:solidFill>
            </a:endParaRPr>
          </a:p>
        </p:txBody>
      </p:sp>
      <p:sp>
        <p:nvSpPr>
          <p:cNvPr id="60" name="四角形: 角を丸くする 59">
            <a:extLst>
              <a:ext uri="{FF2B5EF4-FFF2-40B4-BE49-F238E27FC236}">
                <a16:creationId xmlns:a16="http://schemas.microsoft.com/office/drawing/2014/main" id="{B9046EEC-EB1A-EDB4-CE9E-84079D374FDC}"/>
              </a:ext>
            </a:extLst>
          </p:cNvPr>
          <p:cNvSpPr/>
          <p:nvPr/>
        </p:nvSpPr>
        <p:spPr>
          <a:xfrm>
            <a:off x="10388119" y="3380715"/>
            <a:ext cx="1098245"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FedOMG</a:t>
            </a:r>
            <a:endParaRPr lang="en-US" altLang="ja-JP" sz="2000" dirty="0">
              <a:solidFill>
                <a:schemeClr val="tx1"/>
              </a:solidFill>
            </a:endParaRPr>
          </a:p>
        </p:txBody>
      </p:sp>
      <p:sp>
        <p:nvSpPr>
          <p:cNvPr id="64" name="四角形: 角を丸くする 63">
            <a:extLst>
              <a:ext uri="{FF2B5EF4-FFF2-40B4-BE49-F238E27FC236}">
                <a16:creationId xmlns:a16="http://schemas.microsoft.com/office/drawing/2014/main" id="{C5CA2A8A-0648-ABE0-2721-D6A7E4A77F4D}"/>
              </a:ext>
            </a:extLst>
          </p:cNvPr>
          <p:cNvSpPr/>
          <p:nvPr/>
        </p:nvSpPr>
        <p:spPr>
          <a:xfrm>
            <a:off x="8782872" y="5918033"/>
            <a:ext cx="1098245"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CFeD</a:t>
            </a:r>
            <a:endParaRPr lang="en-US" altLang="ja-JP" sz="2000" dirty="0">
              <a:solidFill>
                <a:schemeClr val="tx1"/>
              </a:solidFill>
            </a:endParaRPr>
          </a:p>
        </p:txBody>
      </p:sp>
      <p:sp>
        <p:nvSpPr>
          <p:cNvPr id="66" name="四角形: 角を丸くする 65">
            <a:extLst>
              <a:ext uri="{FF2B5EF4-FFF2-40B4-BE49-F238E27FC236}">
                <a16:creationId xmlns:a16="http://schemas.microsoft.com/office/drawing/2014/main" id="{ED350361-12CE-C0F3-5B55-4242506056B0}"/>
              </a:ext>
            </a:extLst>
          </p:cNvPr>
          <p:cNvSpPr/>
          <p:nvPr/>
        </p:nvSpPr>
        <p:spPr>
          <a:xfrm>
            <a:off x="8906619" y="3855962"/>
            <a:ext cx="1255883" cy="291232"/>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HeteroTune</a:t>
            </a:r>
            <a:endParaRPr lang="en-US" altLang="ja-JP" sz="2000" dirty="0">
              <a:solidFill>
                <a:schemeClr val="tx1"/>
              </a:solidFill>
            </a:endParaRPr>
          </a:p>
        </p:txBody>
      </p:sp>
      <p:sp>
        <p:nvSpPr>
          <p:cNvPr id="68" name="四角形: 角を丸くする 67">
            <a:extLst>
              <a:ext uri="{FF2B5EF4-FFF2-40B4-BE49-F238E27FC236}">
                <a16:creationId xmlns:a16="http://schemas.microsoft.com/office/drawing/2014/main" id="{2E06F951-D2A7-868C-69CC-FC0DA6FF2B6E}"/>
              </a:ext>
            </a:extLst>
          </p:cNvPr>
          <p:cNvSpPr/>
          <p:nvPr/>
        </p:nvSpPr>
        <p:spPr>
          <a:xfrm>
            <a:off x="10334710" y="3866200"/>
            <a:ext cx="1255883" cy="291232"/>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FedGaLore</a:t>
            </a:r>
            <a:endParaRPr lang="en-US" altLang="ja-JP" sz="2000" dirty="0">
              <a:solidFill>
                <a:schemeClr val="tx1"/>
              </a:solidFill>
            </a:endParaRPr>
          </a:p>
        </p:txBody>
      </p:sp>
      <p:sp>
        <p:nvSpPr>
          <p:cNvPr id="70" name="四角形: 角を丸くする 69">
            <a:extLst>
              <a:ext uri="{FF2B5EF4-FFF2-40B4-BE49-F238E27FC236}">
                <a16:creationId xmlns:a16="http://schemas.microsoft.com/office/drawing/2014/main" id="{280A4C9E-B66C-E204-CB34-0356ABE791FB}"/>
              </a:ext>
            </a:extLst>
          </p:cNvPr>
          <p:cNvSpPr/>
          <p:nvPr/>
        </p:nvSpPr>
        <p:spPr>
          <a:xfrm>
            <a:off x="10290699" y="5918033"/>
            <a:ext cx="1299894" cy="309594"/>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a:solidFill>
                  <a:schemeClr val="tx1"/>
                </a:solidFill>
              </a:rPr>
              <a:t>Per-</a:t>
            </a:r>
            <a:r>
              <a:rPr lang="en-US" altLang="ja-JP" sz="2000" dirty="0" err="1">
                <a:solidFill>
                  <a:schemeClr val="tx1"/>
                </a:solidFill>
              </a:rPr>
              <a:t>FedAVG</a:t>
            </a:r>
            <a:endParaRPr lang="en-US" altLang="ja-JP" sz="2000" dirty="0">
              <a:solidFill>
                <a:schemeClr val="tx1"/>
              </a:solidFill>
            </a:endParaRPr>
          </a:p>
        </p:txBody>
      </p:sp>
      <p:sp>
        <p:nvSpPr>
          <p:cNvPr id="73" name="四角形: 角を丸くする 72">
            <a:extLst>
              <a:ext uri="{FF2B5EF4-FFF2-40B4-BE49-F238E27FC236}">
                <a16:creationId xmlns:a16="http://schemas.microsoft.com/office/drawing/2014/main" id="{F7EE7B06-E06D-6E5B-C57F-748CDCCBA3B9}"/>
              </a:ext>
            </a:extLst>
          </p:cNvPr>
          <p:cNvSpPr/>
          <p:nvPr/>
        </p:nvSpPr>
        <p:spPr>
          <a:xfrm>
            <a:off x="8884613" y="6378519"/>
            <a:ext cx="1299894" cy="309594"/>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FedPTR</a:t>
            </a:r>
            <a:endParaRPr lang="en-US" altLang="ja-JP" sz="2000" dirty="0">
              <a:solidFill>
                <a:schemeClr val="tx1"/>
              </a:solidFill>
            </a:endParaRPr>
          </a:p>
        </p:txBody>
      </p:sp>
      <p:sp>
        <p:nvSpPr>
          <p:cNvPr id="75" name="四角形: 角を丸くする 74">
            <a:extLst>
              <a:ext uri="{FF2B5EF4-FFF2-40B4-BE49-F238E27FC236}">
                <a16:creationId xmlns:a16="http://schemas.microsoft.com/office/drawing/2014/main" id="{4AB98901-DCB2-2175-645C-57DD8ADE320E}"/>
              </a:ext>
            </a:extLst>
          </p:cNvPr>
          <p:cNvSpPr/>
          <p:nvPr/>
        </p:nvSpPr>
        <p:spPr>
          <a:xfrm>
            <a:off x="10476888" y="6332538"/>
            <a:ext cx="1299894" cy="309594"/>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pFedMe</a:t>
            </a:r>
            <a:endParaRPr lang="en-US" altLang="ja-JP" sz="2000" dirty="0">
              <a:solidFill>
                <a:schemeClr val="tx1"/>
              </a:solidFill>
            </a:endParaRPr>
          </a:p>
        </p:txBody>
      </p:sp>
    </p:spTree>
    <p:extLst>
      <p:ext uri="{BB962C8B-B14F-4D97-AF65-F5344CB8AC3E}">
        <p14:creationId xmlns:p14="http://schemas.microsoft.com/office/powerpoint/2010/main" val="1695560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882793-3819-8682-BE3C-06DAE067F019}"/>
              </a:ext>
            </a:extLst>
          </p:cNvPr>
          <p:cNvSpPr>
            <a:spLocks noGrp="1"/>
          </p:cNvSpPr>
          <p:nvPr>
            <p:ph type="title"/>
          </p:nvPr>
        </p:nvSpPr>
        <p:spPr/>
        <p:txBody>
          <a:bodyPr>
            <a:normAutofit fontScale="90000"/>
          </a:bodyPr>
          <a:lstStyle/>
          <a:p>
            <a:r>
              <a:rPr kumimoji="1" lang="ja-JP" altLang="en-US" dirty="0"/>
              <a:t>先行研究との比較（</a:t>
            </a:r>
            <a:r>
              <a:rPr lang="ja-JP" altLang="ja-JP" dirty="0"/>
              <a:t>LgradとLpost</a:t>
            </a:r>
            <a:r>
              <a:rPr lang="ja-JP" altLang="en-US" dirty="0"/>
              <a:t>を使用した先行研究</a:t>
            </a:r>
            <a:r>
              <a:rPr kumimoji="1" lang="ja-JP" altLang="en-US" dirty="0"/>
              <a:t>）</a:t>
            </a:r>
          </a:p>
        </p:txBody>
      </p:sp>
      <p:sp>
        <p:nvSpPr>
          <p:cNvPr id="3" name="スライド番号プレースホルダー 2">
            <a:extLst>
              <a:ext uri="{FF2B5EF4-FFF2-40B4-BE49-F238E27FC236}">
                <a16:creationId xmlns:a16="http://schemas.microsoft.com/office/drawing/2014/main" id="{C4AE432F-03C5-1529-D569-F424CDC083D7}"/>
              </a:ext>
            </a:extLst>
          </p:cNvPr>
          <p:cNvSpPr>
            <a:spLocks noGrp="1"/>
          </p:cNvSpPr>
          <p:nvPr>
            <p:ph type="sldNum" sz="quarter" idx="4"/>
          </p:nvPr>
        </p:nvSpPr>
        <p:spPr/>
        <p:txBody>
          <a:bodyPr/>
          <a:lstStyle/>
          <a:p>
            <a:fld id="{C088C981-6885-4100-82A1-DE7074EC4480}" type="slidenum">
              <a:rPr lang="ja-JP" altLang="en-US" smtClean="0"/>
              <a:pPr/>
              <a:t>9</a:t>
            </a:fld>
            <a:endParaRPr lang="ja-JP" altLang="en-US" dirty="0">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03A921D0-FCA4-6955-4FD9-4C54DB1E4876}"/>
              </a:ext>
            </a:extLst>
          </p:cNvPr>
          <p:cNvSpPr>
            <a:spLocks noGrp="1"/>
          </p:cNvSpPr>
          <p:nvPr>
            <p:ph idx="1"/>
          </p:nvPr>
        </p:nvSpPr>
        <p:spPr>
          <a:xfrm>
            <a:off x="3797559" y="6118492"/>
            <a:ext cx="8394439" cy="739509"/>
          </a:xfrm>
        </p:spPr>
        <p:txBody>
          <a:bodyPr/>
          <a:lstStyle/>
          <a:p>
            <a:r>
              <a:rPr lang="ja-JP" altLang="en-US" dirty="0"/>
              <a:t>先行</a:t>
            </a:r>
            <a:r>
              <a:rPr kumimoji="1" lang="ja-JP" altLang="en-US" dirty="0"/>
              <a:t>研究では</a:t>
            </a:r>
            <a:r>
              <a:rPr lang="ja-JP" altLang="ja-JP" dirty="0"/>
              <a:t>同一モデル前提</a:t>
            </a:r>
            <a:r>
              <a:rPr lang="ja-JP" altLang="en-US" dirty="0"/>
              <a:t>がほとんど</a:t>
            </a:r>
            <a:endParaRPr kumimoji="1" lang="ja-JP" altLang="en-US" dirty="0"/>
          </a:p>
        </p:txBody>
      </p:sp>
      <p:sp>
        <p:nvSpPr>
          <p:cNvPr id="9" name="四角形: 角を丸くする 8">
            <a:extLst>
              <a:ext uri="{FF2B5EF4-FFF2-40B4-BE49-F238E27FC236}">
                <a16:creationId xmlns:a16="http://schemas.microsoft.com/office/drawing/2014/main" id="{22D8A5CE-3155-8F1C-D516-B5B3D8B4E422}"/>
              </a:ext>
            </a:extLst>
          </p:cNvPr>
          <p:cNvSpPr/>
          <p:nvPr/>
        </p:nvSpPr>
        <p:spPr>
          <a:xfrm>
            <a:off x="216663" y="726316"/>
            <a:ext cx="1098245" cy="382201"/>
          </a:xfrm>
          <a:prstGeom prst="roundRect">
            <a:avLst>
              <a:gd name="adj" fmla="val 6330"/>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400" dirty="0" err="1">
                <a:solidFill>
                  <a:schemeClr val="bg1"/>
                </a:solidFill>
              </a:rPr>
              <a:t>Lgrad</a:t>
            </a:r>
            <a:endParaRPr lang="en-US" altLang="ja-JP" sz="2400" dirty="0">
              <a:solidFill>
                <a:schemeClr val="bg1"/>
              </a:solidFill>
            </a:endParaRPr>
          </a:p>
        </p:txBody>
      </p:sp>
      <p:sp>
        <p:nvSpPr>
          <p:cNvPr id="10" name="四角形: 角を丸くする 9">
            <a:extLst>
              <a:ext uri="{FF2B5EF4-FFF2-40B4-BE49-F238E27FC236}">
                <a16:creationId xmlns:a16="http://schemas.microsoft.com/office/drawing/2014/main" id="{CEDE0A8F-474B-6260-D8E8-A1702B275EEB}"/>
              </a:ext>
            </a:extLst>
          </p:cNvPr>
          <p:cNvSpPr/>
          <p:nvPr/>
        </p:nvSpPr>
        <p:spPr>
          <a:xfrm>
            <a:off x="6023586" y="759863"/>
            <a:ext cx="1098245" cy="382201"/>
          </a:xfrm>
          <a:prstGeom prst="roundRect">
            <a:avLst>
              <a:gd name="adj" fmla="val 6330"/>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400" dirty="0" err="1">
                <a:solidFill>
                  <a:schemeClr val="bg1"/>
                </a:solidFill>
              </a:rPr>
              <a:t>Lpost</a:t>
            </a:r>
            <a:endParaRPr lang="en-US" altLang="ja-JP" sz="2400" dirty="0">
              <a:solidFill>
                <a:schemeClr val="bg1"/>
              </a:solidFill>
            </a:endParaRPr>
          </a:p>
        </p:txBody>
      </p:sp>
      <p:sp>
        <p:nvSpPr>
          <p:cNvPr id="11" name="四角形: 角を丸くする 10">
            <a:extLst>
              <a:ext uri="{FF2B5EF4-FFF2-40B4-BE49-F238E27FC236}">
                <a16:creationId xmlns:a16="http://schemas.microsoft.com/office/drawing/2014/main" id="{17AC8959-BDA1-0264-2E34-907D3EB4E0CB}"/>
              </a:ext>
            </a:extLst>
          </p:cNvPr>
          <p:cNvSpPr/>
          <p:nvPr/>
        </p:nvSpPr>
        <p:spPr>
          <a:xfrm>
            <a:off x="356795" y="1108517"/>
            <a:ext cx="5446824" cy="4900387"/>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37" name="四角形: 角を丸くする 36">
            <a:extLst>
              <a:ext uri="{FF2B5EF4-FFF2-40B4-BE49-F238E27FC236}">
                <a16:creationId xmlns:a16="http://schemas.microsoft.com/office/drawing/2014/main" id="{856F4EAA-EB74-B442-5291-584961647FCC}"/>
              </a:ext>
            </a:extLst>
          </p:cNvPr>
          <p:cNvSpPr/>
          <p:nvPr/>
        </p:nvSpPr>
        <p:spPr>
          <a:xfrm>
            <a:off x="441564" y="2041575"/>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送信情報：モデル更新差分</a:t>
            </a:r>
            <a:endParaRPr lang="en-US" altLang="ja-JP" sz="1400" dirty="0">
              <a:solidFill>
                <a:schemeClr val="tx1"/>
              </a:solidFill>
            </a:endParaRPr>
          </a:p>
          <a:p>
            <a:r>
              <a:rPr lang="ja-JP" altLang="en-US" sz="1400" dirty="0">
                <a:solidFill>
                  <a:schemeClr val="tx1"/>
                </a:solidFill>
              </a:rPr>
              <a:t>サーバで行う計算：クライアントの更新差分を平均化し、将来の大域更新方向を先取りしたモデルを配布</a:t>
            </a:r>
            <a:endParaRPr lang="en-US" altLang="ja-JP" sz="1400" dirty="0">
              <a:solidFill>
                <a:schemeClr val="tx1"/>
              </a:solidFill>
            </a:endParaRPr>
          </a:p>
        </p:txBody>
      </p:sp>
      <p:sp>
        <p:nvSpPr>
          <p:cNvPr id="12" name="四角形: 角を丸くする 11">
            <a:extLst>
              <a:ext uri="{FF2B5EF4-FFF2-40B4-BE49-F238E27FC236}">
                <a16:creationId xmlns:a16="http://schemas.microsoft.com/office/drawing/2014/main" id="{436692B3-F4A2-EBE2-E3CB-173B23310CE9}"/>
              </a:ext>
            </a:extLst>
          </p:cNvPr>
          <p:cNvSpPr/>
          <p:nvPr/>
        </p:nvSpPr>
        <p:spPr>
          <a:xfrm>
            <a:off x="6096000" y="1129164"/>
            <a:ext cx="5734509" cy="4879740"/>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13" name="テキスト ボックス 12">
            <a:extLst>
              <a:ext uri="{FF2B5EF4-FFF2-40B4-BE49-F238E27FC236}">
                <a16:creationId xmlns:a16="http://schemas.microsoft.com/office/drawing/2014/main" id="{F742A3A1-291B-CF6A-8EBF-35913E1AD104}"/>
              </a:ext>
            </a:extLst>
          </p:cNvPr>
          <p:cNvSpPr txBox="1"/>
          <p:nvPr/>
        </p:nvSpPr>
        <p:spPr>
          <a:xfrm>
            <a:off x="502270" y="1172003"/>
            <a:ext cx="5155873" cy="369332"/>
          </a:xfrm>
          <a:prstGeom prst="rect">
            <a:avLst/>
          </a:prstGeom>
          <a:noFill/>
        </p:spPr>
        <p:txBody>
          <a:bodyPr wrap="square">
            <a:spAutoFit/>
          </a:bodyPr>
          <a:lstStyle/>
          <a:p>
            <a:pPr algn="ctr"/>
            <a:r>
              <a:rPr lang="ja-JP" altLang="ja-JP" dirty="0"/>
              <a:t>端末と基盤 LoRAの学習する方向を揃える</a:t>
            </a:r>
            <a:endParaRPr lang="en-US" altLang="ja-JP" sz="2000" b="1" dirty="0"/>
          </a:p>
        </p:txBody>
      </p:sp>
      <p:sp>
        <p:nvSpPr>
          <p:cNvPr id="14" name="テキスト ボックス 13">
            <a:extLst>
              <a:ext uri="{FF2B5EF4-FFF2-40B4-BE49-F238E27FC236}">
                <a16:creationId xmlns:a16="http://schemas.microsoft.com/office/drawing/2014/main" id="{DC45DD47-F166-898B-3287-ACA6278D1BB6}"/>
              </a:ext>
            </a:extLst>
          </p:cNvPr>
          <p:cNvSpPr txBox="1"/>
          <p:nvPr/>
        </p:nvSpPr>
        <p:spPr>
          <a:xfrm>
            <a:off x="6005493" y="1207804"/>
            <a:ext cx="5802847" cy="369332"/>
          </a:xfrm>
          <a:prstGeom prst="rect">
            <a:avLst/>
          </a:prstGeom>
          <a:noFill/>
        </p:spPr>
        <p:txBody>
          <a:bodyPr wrap="square">
            <a:spAutoFit/>
          </a:bodyPr>
          <a:lstStyle/>
          <a:p>
            <a:pPr algn="ctr"/>
            <a:r>
              <a:rPr lang="ja-JP" altLang="ja-JP" dirty="0"/>
              <a:t>追加学習後のモデルの振る舞いを揃える</a:t>
            </a:r>
            <a:endParaRPr lang="en-US" altLang="ja-JP" sz="2000" b="1" dirty="0"/>
          </a:p>
        </p:txBody>
      </p:sp>
      <p:sp>
        <p:nvSpPr>
          <p:cNvPr id="17" name="四角形: 角を丸くする 16">
            <a:extLst>
              <a:ext uri="{FF2B5EF4-FFF2-40B4-BE49-F238E27FC236}">
                <a16:creationId xmlns:a16="http://schemas.microsoft.com/office/drawing/2014/main" id="{E992EEDA-80B5-E403-D9CD-ED3DFB3E4D40}"/>
              </a:ext>
            </a:extLst>
          </p:cNvPr>
          <p:cNvSpPr/>
          <p:nvPr/>
        </p:nvSpPr>
        <p:spPr>
          <a:xfrm>
            <a:off x="462542" y="1717631"/>
            <a:ext cx="1098245"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FedACG</a:t>
            </a:r>
            <a:endParaRPr lang="en-US" altLang="ja-JP" sz="2000" dirty="0">
              <a:solidFill>
                <a:schemeClr val="tx1"/>
              </a:solidFill>
            </a:endParaRPr>
          </a:p>
        </p:txBody>
      </p:sp>
      <p:sp>
        <p:nvSpPr>
          <p:cNvPr id="18" name="四角形: 角を丸くする 17">
            <a:extLst>
              <a:ext uri="{FF2B5EF4-FFF2-40B4-BE49-F238E27FC236}">
                <a16:creationId xmlns:a16="http://schemas.microsoft.com/office/drawing/2014/main" id="{C0BED42B-D3E8-53AA-D1AA-7A9CEA58AEB5}"/>
              </a:ext>
            </a:extLst>
          </p:cNvPr>
          <p:cNvSpPr/>
          <p:nvPr/>
        </p:nvSpPr>
        <p:spPr>
          <a:xfrm>
            <a:off x="3159025" y="1676264"/>
            <a:ext cx="1098245"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FedOMG</a:t>
            </a:r>
            <a:endParaRPr lang="en-US" altLang="ja-JP" sz="2000" dirty="0">
              <a:solidFill>
                <a:schemeClr val="tx1"/>
              </a:solidFill>
            </a:endParaRPr>
          </a:p>
        </p:txBody>
      </p:sp>
      <p:sp>
        <p:nvSpPr>
          <p:cNvPr id="19" name="四角形: 角を丸くする 18">
            <a:extLst>
              <a:ext uri="{FF2B5EF4-FFF2-40B4-BE49-F238E27FC236}">
                <a16:creationId xmlns:a16="http://schemas.microsoft.com/office/drawing/2014/main" id="{0C3241C4-AF1A-E50F-D90D-5B7A7EDC8D41}"/>
              </a:ext>
            </a:extLst>
          </p:cNvPr>
          <p:cNvSpPr/>
          <p:nvPr/>
        </p:nvSpPr>
        <p:spPr>
          <a:xfrm>
            <a:off x="6322616" y="1717631"/>
            <a:ext cx="1098245"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CFeD</a:t>
            </a:r>
            <a:endParaRPr lang="en-US" altLang="ja-JP" sz="2000" dirty="0">
              <a:solidFill>
                <a:schemeClr val="tx1"/>
              </a:solidFill>
            </a:endParaRPr>
          </a:p>
        </p:txBody>
      </p:sp>
      <p:sp>
        <p:nvSpPr>
          <p:cNvPr id="20" name="四角形: 角を丸くする 19">
            <a:extLst>
              <a:ext uri="{FF2B5EF4-FFF2-40B4-BE49-F238E27FC236}">
                <a16:creationId xmlns:a16="http://schemas.microsoft.com/office/drawing/2014/main" id="{C823913D-4D51-122A-10D3-C2A9DE439EBB}"/>
              </a:ext>
            </a:extLst>
          </p:cNvPr>
          <p:cNvSpPr/>
          <p:nvPr/>
        </p:nvSpPr>
        <p:spPr>
          <a:xfrm>
            <a:off x="450740" y="3823676"/>
            <a:ext cx="1255883" cy="291232"/>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HeteroTune</a:t>
            </a:r>
            <a:endParaRPr lang="en-US" altLang="ja-JP" sz="2000" dirty="0">
              <a:solidFill>
                <a:schemeClr val="tx1"/>
              </a:solidFill>
            </a:endParaRPr>
          </a:p>
        </p:txBody>
      </p:sp>
      <p:sp>
        <p:nvSpPr>
          <p:cNvPr id="21" name="四角形: 角を丸くする 20">
            <a:extLst>
              <a:ext uri="{FF2B5EF4-FFF2-40B4-BE49-F238E27FC236}">
                <a16:creationId xmlns:a16="http://schemas.microsoft.com/office/drawing/2014/main" id="{56FC863F-A1EE-17A6-50A6-B63941FAAABE}"/>
              </a:ext>
            </a:extLst>
          </p:cNvPr>
          <p:cNvSpPr/>
          <p:nvPr/>
        </p:nvSpPr>
        <p:spPr>
          <a:xfrm>
            <a:off x="3080207" y="3823676"/>
            <a:ext cx="1255883" cy="291232"/>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FedGaLore</a:t>
            </a:r>
            <a:endParaRPr lang="en-US" altLang="ja-JP" sz="2000" dirty="0">
              <a:solidFill>
                <a:schemeClr val="tx1"/>
              </a:solidFill>
            </a:endParaRPr>
          </a:p>
        </p:txBody>
      </p:sp>
      <p:sp>
        <p:nvSpPr>
          <p:cNvPr id="22" name="四角形: 角を丸くする 21">
            <a:extLst>
              <a:ext uri="{FF2B5EF4-FFF2-40B4-BE49-F238E27FC236}">
                <a16:creationId xmlns:a16="http://schemas.microsoft.com/office/drawing/2014/main" id="{CA901D45-3ECD-B7A1-3028-F2A3AEE96E69}"/>
              </a:ext>
            </a:extLst>
          </p:cNvPr>
          <p:cNvSpPr/>
          <p:nvPr/>
        </p:nvSpPr>
        <p:spPr>
          <a:xfrm>
            <a:off x="9134914" y="1708133"/>
            <a:ext cx="1299894" cy="309594"/>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a:solidFill>
                  <a:schemeClr val="tx1"/>
                </a:solidFill>
              </a:rPr>
              <a:t>Per-</a:t>
            </a:r>
            <a:r>
              <a:rPr lang="en-US" altLang="ja-JP" sz="2000" dirty="0" err="1">
                <a:solidFill>
                  <a:schemeClr val="tx1"/>
                </a:solidFill>
              </a:rPr>
              <a:t>FedAVG</a:t>
            </a:r>
            <a:endParaRPr lang="en-US" altLang="ja-JP" sz="2000" dirty="0">
              <a:solidFill>
                <a:schemeClr val="tx1"/>
              </a:solidFill>
            </a:endParaRPr>
          </a:p>
        </p:txBody>
      </p:sp>
      <p:sp>
        <p:nvSpPr>
          <p:cNvPr id="23" name="四角形: 角を丸くする 22">
            <a:extLst>
              <a:ext uri="{FF2B5EF4-FFF2-40B4-BE49-F238E27FC236}">
                <a16:creationId xmlns:a16="http://schemas.microsoft.com/office/drawing/2014/main" id="{4A5C3A8E-64EB-2120-F166-C7668DA0818C}"/>
              </a:ext>
            </a:extLst>
          </p:cNvPr>
          <p:cNvSpPr/>
          <p:nvPr/>
        </p:nvSpPr>
        <p:spPr>
          <a:xfrm>
            <a:off x="6362942" y="3827990"/>
            <a:ext cx="1299894" cy="309594"/>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FedPTR</a:t>
            </a:r>
            <a:endParaRPr lang="en-US" altLang="ja-JP" sz="2000" dirty="0">
              <a:solidFill>
                <a:schemeClr val="tx1"/>
              </a:solidFill>
            </a:endParaRPr>
          </a:p>
        </p:txBody>
      </p:sp>
      <p:sp>
        <p:nvSpPr>
          <p:cNvPr id="24" name="四角形: 角を丸くする 23">
            <a:extLst>
              <a:ext uri="{FF2B5EF4-FFF2-40B4-BE49-F238E27FC236}">
                <a16:creationId xmlns:a16="http://schemas.microsoft.com/office/drawing/2014/main" id="{C9C2A92B-9D2D-B2C0-BE43-ECA09CBFA806}"/>
              </a:ext>
            </a:extLst>
          </p:cNvPr>
          <p:cNvSpPr/>
          <p:nvPr/>
        </p:nvSpPr>
        <p:spPr>
          <a:xfrm>
            <a:off x="8937776" y="3805314"/>
            <a:ext cx="1299894" cy="309594"/>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altLang="ja-JP" sz="2000" dirty="0" err="1">
                <a:solidFill>
                  <a:schemeClr val="tx1"/>
                </a:solidFill>
              </a:rPr>
              <a:t>pFedMe</a:t>
            </a:r>
            <a:endParaRPr lang="en-US" altLang="ja-JP" sz="2000" dirty="0">
              <a:solidFill>
                <a:schemeClr val="tx1"/>
              </a:solidFill>
            </a:endParaRPr>
          </a:p>
        </p:txBody>
      </p:sp>
      <p:sp>
        <p:nvSpPr>
          <p:cNvPr id="29" name="四角形: 角を丸くする 28">
            <a:extLst>
              <a:ext uri="{FF2B5EF4-FFF2-40B4-BE49-F238E27FC236}">
                <a16:creationId xmlns:a16="http://schemas.microsoft.com/office/drawing/2014/main" id="{DF484782-A605-1FBC-40C1-2E41CC94FE50}"/>
              </a:ext>
            </a:extLst>
          </p:cNvPr>
          <p:cNvSpPr/>
          <p:nvPr/>
        </p:nvSpPr>
        <p:spPr>
          <a:xfrm>
            <a:off x="462542" y="4137584"/>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送信情報：アダプターの勾配行列</a:t>
            </a:r>
            <a:endParaRPr lang="en-US" altLang="ja-JP" sz="1400" dirty="0">
              <a:solidFill>
                <a:schemeClr val="tx1"/>
              </a:solidFill>
            </a:endParaRPr>
          </a:p>
          <a:p>
            <a:r>
              <a:rPr lang="ja-JP" altLang="en-US" sz="1400" dirty="0">
                <a:solidFill>
                  <a:schemeClr val="tx1"/>
                </a:solidFill>
              </a:rPr>
              <a:t>サーバで行う計算：勾配行列に対して、互いの干渉を最小化し直交性とバランスを改善するための制約付き最適化問題を解き、変換された勾配</a:t>
            </a:r>
            <a:endParaRPr lang="en-US" altLang="ja-JP" sz="1400" dirty="0">
              <a:solidFill>
                <a:schemeClr val="tx1"/>
              </a:solidFill>
            </a:endParaRPr>
          </a:p>
        </p:txBody>
      </p:sp>
      <p:sp>
        <p:nvSpPr>
          <p:cNvPr id="31" name="四角形: 角を丸くする 30">
            <a:extLst>
              <a:ext uri="{FF2B5EF4-FFF2-40B4-BE49-F238E27FC236}">
                <a16:creationId xmlns:a16="http://schemas.microsoft.com/office/drawing/2014/main" id="{319A2E7D-712D-267F-D40B-1BFE35E6E8AC}"/>
              </a:ext>
            </a:extLst>
          </p:cNvPr>
          <p:cNvSpPr/>
          <p:nvPr/>
        </p:nvSpPr>
        <p:spPr>
          <a:xfrm>
            <a:off x="3133080" y="4114908"/>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送信情報：低ランク射影された二次モーメントバッファ</a:t>
            </a:r>
            <a:endParaRPr lang="en-US" altLang="ja-JP" sz="1400" dirty="0">
              <a:solidFill>
                <a:schemeClr val="tx1"/>
              </a:solidFill>
            </a:endParaRPr>
          </a:p>
          <a:p>
            <a:r>
              <a:rPr lang="ja-JP" altLang="en-US" sz="1400" dirty="0">
                <a:solidFill>
                  <a:schemeClr val="tx1"/>
                </a:solidFill>
              </a:rPr>
              <a:t>サーバで行う計算：射影行列を再構築しフルパラメータ空間へ逆射影</a:t>
            </a:r>
            <a:endParaRPr lang="en-US" altLang="ja-JP" sz="1400" dirty="0">
              <a:solidFill>
                <a:schemeClr val="tx1"/>
              </a:solidFill>
            </a:endParaRPr>
          </a:p>
        </p:txBody>
      </p:sp>
      <p:sp>
        <p:nvSpPr>
          <p:cNvPr id="33" name="四角形: 角を丸くする 32">
            <a:extLst>
              <a:ext uri="{FF2B5EF4-FFF2-40B4-BE49-F238E27FC236}">
                <a16:creationId xmlns:a16="http://schemas.microsoft.com/office/drawing/2014/main" id="{48041AC7-ECA4-F7AC-B495-6CFD05A903ED}"/>
              </a:ext>
            </a:extLst>
          </p:cNvPr>
          <p:cNvSpPr/>
          <p:nvPr/>
        </p:nvSpPr>
        <p:spPr>
          <a:xfrm>
            <a:off x="6418755" y="4137584"/>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a:t>
            </a:r>
            <a:r>
              <a:rPr lang="zh-TW" altLang="en-US" sz="1400" dirty="0">
                <a:solidFill>
                  <a:schemeClr val="tx1"/>
                </a:solidFill>
              </a:rPr>
              <a:t>局所学習軌跡</a:t>
            </a:r>
            <a:endParaRPr lang="en-US" altLang="ja-JP" sz="1400" dirty="0">
              <a:solidFill>
                <a:schemeClr val="tx1"/>
              </a:solidFill>
            </a:endParaRPr>
          </a:p>
          <a:p>
            <a:r>
              <a:rPr lang="ja-JP" altLang="en-US" sz="1400" dirty="0">
                <a:solidFill>
                  <a:schemeClr val="tx1"/>
                </a:solidFill>
              </a:rPr>
              <a:t>サーバで行う計算： </a:t>
            </a:r>
            <a:r>
              <a:rPr lang="en-US" altLang="ja-JP" sz="1400" dirty="0">
                <a:solidFill>
                  <a:schemeClr val="tx1"/>
                </a:solidFill>
              </a:rPr>
              <a:t>MTT </a:t>
            </a:r>
            <a:r>
              <a:rPr lang="ja-JP" altLang="en-US" sz="1400" dirty="0">
                <a:solidFill>
                  <a:schemeClr val="tx1"/>
                </a:solidFill>
              </a:rPr>
              <a:t>手法を用いた、実際の学習ダイナミクスの模倣</a:t>
            </a:r>
            <a:endParaRPr lang="en-US" altLang="ja-JP" sz="1400" dirty="0">
              <a:solidFill>
                <a:schemeClr val="tx1"/>
              </a:solidFill>
            </a:endParaRPr>
          </a:p>
        </p:txBody>
      </p:sp>
      <p:sp>
        <p:nvSpPr>
          <p:cNvPr id="35" name="四角形: 角を丸くする 34">
            <a:extLst>
              <a:ext uri="{FF2B5EF4-FFF2-40B4-BE49-F238E27FC236}">
                <a16:creationId xmlns:a16="http://schemas.microsoft.com/office/drawing/2014/main" id="{7146C3D1-3C26-29C8-7AAC-D5FA780D31D2}"/>
              </a:ext>
            </a:extLst>
          </p:cNvPr>
          <p:cNvSpPr/>
          <p:nvPr/>
        </p:nvSpPr>
        <p:spPr>
          <a:xfrm>
            <a:off x="9200300" y="4114907"/>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a:t>
            </a:r>
            <a:r>
              <a:rPr lang="en-US" altLang="ja-JP" sz="1400" dirty="0">
                <a:solidFill>
                  <a:schemeClr val="tx1"/>
                </a:solidFill>
              </a:rPr>
              <a:t>Inner-loop</a:t>
            </a:r>
            <a:r>
              <a:rPr lang="ja-JP" altLang="en-US" sz="1400" dirty="0">
                <a:solidFill>
                  <a:schemeClr val="tx1"/>
                </a:solidFill>
              </a:rPr>
              <a:t>の局所最適化を解いた後の局所勾配</a:t>
            </a:r>
            <a:endParaRPr lang="en-US" altLang="ja-JP" sz="1400" dirty="0">
              <a:solidFill>
                <a:schemeClr val="tx1"/>
              </a:solidFill>
            </a:endParaRPr>
          </a:p>
          <a:p>
            <a:r>
              <a:rPr lang="ja-JP" altLang="en-US" sz="1400" dirty="0">
                <a:solidFill>
                  <a:schemeClr val="tx1"/>
                </a:solidFill>
              </a:rPr>
              <a:t>サーバで行う計算：モロー包絡に基づくモデルの更新</a:t>
            </a:r>
            <a:endParaRPr lang="en-US" altLang="ja-JP" sz="1400" dirty="0">
              <a:solidFill>
                <a:schemeClr val="tx1"/>
              </a:solidFill>
            </a:endParaRPr>
          </a:p>
        </p:txBody>
      </p:sp>
      <p:sp>
        <p:nvSpPr>
          <p:cNvPr id="39" name="四角形: 角を丸くする 38">
            <a:extLst>
              <a:ext uri="{FF2B5EF4-FFF2-40B4-BE49-F238E27FC236}">
                <a16:creationId xmlns:a16="http://schemas.microsoft.com/office/drawing/2014/main" id="{64612E52-6B55-08DA-45D6-F8518F1E68D2}"/>
              </a:ext>
            </a:extLst>
          </p:cNvPr>
          <p:cNvSpPr/>
          <p:nvPr/>
        </p:nvSpPr>
        <p:spPr>
          <a:xfrm>
            <a:off x="6449614" y="2055199"/>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送信情報：モデル更新差分</a:t>
            </a:r>
            <a:endParaRPr lang="en-US" altLang="ja-JP" sz="1400" dirty="0">
              <a:solidFill>
                <a:schemeClr val="tx1"/>
              </a:solidFill>
            </a:endParaRPr>
          </a:p>
          <a:p>
            <a:r>
              <a:rPr lang="ja-JP" altLang="en-US" sz="1400" dirty="0">
                <a:solidFill>
                  <a:schemeClr val="tx1"/>
                </a:solidFill>
              </a:rPr>
              <a:t>サーバで行う計算：集約後の大域モデルを、ローカルモデルと前ラウンドモデルの出力で追加蒸留</a:t>
            </a:r>
            <a:endParaRPr lang="en-US" altLang="ja-JP" sz="1400" dirty="0">
              <a:solidFill>
                <a:schemeClr val="tx1"/>
              </a:solidFill>
            </a:endParaRPr>
          </a:p>
        </p:txBody>
      </p:sp>
      <p:sp>
        <p:nvSpPr>
          <p:cNvPr id="41" name="四角形: 角を丸くする 40">
            <a:extLst>
              <a:ext uri="{FF2B5EF4-FFF2-40B4-BE49-F238E27FC236}">
                <a16:creationId xmlns:a16="http://schemas.microsoft.com/office/drawing/2014/main" id="{0DBCAC23-9FE4-6308-C30B-AE237078D6B5}"/>
              </a:ext>
            </a:extLst>
          </p:cNvPr>
          <p:cNvSpPr/>
          <p:nvPr/>
        </p:nvSpPr>
        <p:spPr>
          <a:xfrm>
            <a:off x="3222107" y="2055200"/>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送信情報：モデル</a:t>
            </a:r>
            <a:endParaRPr lang="en-US" altLang="ja-JP" sz="1400" dirty="0">
              <a:solidFill>
                <a:schemeClr val="tx1"/>
              </a:solidFill>
            </a:endParaRPr>
          </a:p>
          <a:p>
            <a:r>
              <a:rPr lang="ja-JP" altLang="en-US" sz="1400" dirty="0">
                <a:solidFill>
                  <a:schemeClr val="tx1"/>
                </a:solidFill>
              </a:rPr>
              <a:t>サーバで行う計算：モデル差分を</a:t>
            </a:r>
            <a:r>
              <a:rPr lang="en-US" altLang="ja-JP" sz="1400" dirty="0" err="1">
                <a:solidFill>
                  <a:schemeClr val="tx1"/>
                </a:solidFill>
              </a:rPr>
              <a:t>FeDAvg</a:t>
            </a:r>
            <a:r>
              <a:rPr lang="ja-JP" altLang="en-US" sz="1400" dirty="0">
                <a:solidFill>
                  <a:schemeClr val="tx1"/>
                </a:solidFill>
              </a:rPr>
              <a:t>で平均化し、複数端末に共通する</a:t>
            </a:r>
            <a:r>
              <a:rPr lang="en-US" altLang="ja-JP" sz="1400" dirty="0">
                <a:solidFill>
                  <a:schemeClr val="tx1"/>
                </a:solidFill>
              </a:rPr>
              <a:t>Invariant Gradient Direction</a:t>
            </a:r>
            <a:r>
              <a:rPr lang="ja-JP" altLang="en-US" sz="1400" dirty="0">
                <a:solidFill>
                  <a:schemeClr val="tx1"/>
                </a:solidFill>
              </a:rPr>
              <a:t>を構成</a:t>
            </a:r>
            <a:endParaRPr lang="en-US" altLang="ja-JP" sz="1400" dirty="0">
              <a:solidFill>
                <a:schemeClr val="tx1"/>
              </a:solidFill>
            </a:endParaRPr>
          </a:p>
        </p:txBody>
      </p:sp>
      <p:sp>
        <p:nvSpPr>
          <p:cNvPr id="43" name="四角形: 角を丸くする 42">
            <a:extLst>
              <a:ext uri="{FF2B5EF4-FFF2-40B4-BE49-F238E27FC236}">
                <a16:creationId xmlns:a16="http://schemas.microsoft.com/office/drawing/2014/main" id="{41001979-C794-FB15-438D-A580A3BECEF1}"/>
              </a:ext>
            </a:extLst>
          </p:cNvPr>
          <p:cNvSpPr/>
          <p:nvPr/>
        </p:nvSpPr>
        <p:spPr>
          <a:xfrm>
            <a:off x="9200300" y="2041574"/>
            <a:ext cx="2488162" cy="169399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1400" dirty="0">
                <a:solidFill>
                  <a:schemeClr val="tx1"/>
                </a:solidFill>
              </a:rPr>
              <a:t>送信情報：局所データで「</a:t>
            </a:r>
            <a:r>
              <a:rPr lang="en-US" altLang="ja-JP" sz="1400" dirty="0">
                <a:solidFill>
                  <a:schemeClr val="tx1"/>
                </a:solidFill>
              </a:rPr>
              <a:t>1</a:t>
            </a:r>
            <a:r>
              <a:rPr lang="ja-JP" altLang="en-US" sz="1400" dirty="0">
                <a:solidFill>
                  <a:schemeClr val="tx1"/>
                </a:solidFill>
              </a:rPr>
              <a:t>ステップ適応させた後」のモデルに対するメタ勾配</a:t>
            </a:r>
            <a:endParaRPr lang="en-US" altLang="ja-JP" sz="1400" dirty="0">
              <a:solidFill>
                <a:schemeClr val="tx1"/>
              </a:solidFill>
            </a:endParaRPr>
          </a:p>
          <a:p>
            <a:r>
              <a:rPr lang="ja-JP" altLang="en-US" sz="1400" dirty="0">
                <a:solidFill>
                  <a:schemeClr val="tx1"/>
                </a:solidFill>
              </a:rPr>
              <a:t>サーバで行う計算：局所学習後の損失を最小化する</a:t>
            </a:r>
            <a:endParaRPr lang="en-US" altLang="ja-JP" sz="1400" dirty="0">
              <a:solidFill>
                <a:schemeClr val="tx1"/>
              </a:solidFill>
            </a:endParaRPr>
          </a:p>
        </p:txBody>
      </p:sp>
    </p:spTree>
    <p:extLst>
      <p:ext uri="{BB962C8B-B14F-4D97-AF65-F5344CB8AC3E}">
        <p14:creationId xmlns:p14="http://schemas.microsoft.com/office/powerpoint/2010/main" val="1211355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AE799-5C3E-D9DB-C41B-DE24A1EB8E8C}"/>
            </a:ext>
          </a:extLst>
        </p:cNvPr>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2CF447DB-6FD2-0587-7509-9C8425E94B10}"/>
              </a:ext>
            </a:extLst>
          </p:cNvPr>
          <p:cNvSpPr/>
          <p:nvPr/>
        </p:nvSpPr>
        <p:spPr>
          <a:xfrm>
            <a:off x="706120" y="3807562"/>
            <a:ext cx="7503688" cy="2998542"/>
          </a:xfrm>
          <a:prstGeom prst="roundRect">
            <a:avLst>
              <a:gd name="adj" fmla="val 4469"/>
            </a:avLst>
          </a:prstGeom>
          <a:solidFill>
            <a:srgbClr val="FDF0E7"/>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dirty="0"/>
          </a:p>
        </p:txBody>
      </p:sp>
      <p:sp>
        <p:nvSpPr>
          <p:cNvPr id="9" name="四角形: 角を丸くする 8">
            <a:extLst>
              <a:ext uri="{FF2B5EF4-FFF2-40B4-BE49-F238E27FC236}">
                <a16:creationId xmlns:a16="http://schemas.microsoft.com/office/drawing/2014/main" id="{E7F9F584-E193-092A-C034-5FC92412D88C}"/>
              </a:ext>
            </a:extLst>
          </p:cNvPr>
          <p:cNvSpPr/>
          <p:nvPr/>
        </p:nvSpPr>
        <p:spPr>
          <a:xfrm>
            <a:off x="736599" y="696640"/>
            <a:ext cx="11262360" cy="2998542"/>
          </a:xfrm>
          <a:prstGeom prst="roundRect">
            <a:avLst>
              <a:gd name="adj" fmla="val 4469"/>
            </a:avLst>
          </a:prstGeom>
          <a:solidFill>
            <a:srgbClr val="EAF5F7"/>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dirty="0"/>
          </a:p>
        </p:txBody>
      </p:sp>
      <p:sp>
        <p:nvSpPr>
          <p:cNvPr id="19" name="四角形: 角を丸くする 18">
            <a:extLst>
              <a:ext uri="{FF2B5EF4-FFF2-40B4-BE49-F238E27FC236}">
                <a16:creationId xmlns:a16="http://schemas.microsoft.com/office/drawing/2014/main" id="{C0E01921-6B7B-AC63-1DF2-0E20C2821C02}"/>
              </a:ext>
            </a:extLst>
          </p:cNvPr>
          <p:cNvSpPr/>
          <p:nvPr/>
        </p:nvSpPr>
        <p:spPr>
          <a:xfrm>
            <a:off x="873759" y="4194212"/>
            <a:ext cx="3652113" cy="2554692"/>
          </a:xfrm>
          <a:prstGeom prst="roundRect">
            <a:avLst>
              <a:gd name="adj" fmla="val 1563"/>
            </a:avLst>
          </a:prstGeom>
          <a:solidFill>
            <a:srgbClr val="FDF3ED"/>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ja-JP" altLang="en-US" sz="1600" dirty="0">
              <a:solidFill>
                <a:schemeClr val="tx1"/>
              </a:solidFill>
            </a:endParaRPr>
          </a:p>
        </p:txBody>
      </p:sp>
      <p:sp>
        <p:nvSpPr>
          <p:cNvPr id="2" name="タイトル 1">
            <a:extLst>
              <a:ext uri="{FF2B5EF4-FFF2-40B4-BE49-F238E27FC236}">
                <a16:creationId xmlns:a16="http://schemas.microsoft.com/office/drawing/2014/main" id="{0ADCCADA-866A-DF55-A68B-1F1D87756CAC}"/>
              </a:ext>
            </a:extLst>
          </p:cNvPr>
          <p:cNvSpPr>
            <a:spLocks noGrp="1"/>
          </p:cNvSpPr>
          <p:nvPr>
            <p:ph type="title"/>
          </p:nvPr>
        </p:nvSpPr>
        <p:spPr/>
        <p:txBody>
          <a:bodyPr/>
          <a:lstStyle/>
          <a:p>
            <a:r>
              <a:rPr lang="ja-JP" altLang="ja-JP" dirty="0"/>
              <a:t>Lgrad</a:t>
            </a:r>
            <a:r>
              <a:rPr lang="ja-JP" altLang="en-US" dirty="0"/>
              <a:t>の基本処理フロー</a:t>
            </a:r>
            <a:endParaRPr kumimoji="1" lang="ja-JP" altLang="en-US" dirty="0"/>
          </a:p>
        </p:txBody>
      </p:sp>
      <p:sp>
        <p:nvSpPr>
          <p:cNvPr id="3" name="スライド番号プレースホルダー 2">
            <a:extLst>
              <a:ext uri="{FF2B5EF4-FFF2-40B4-BE49-F238E27FC236}">
                <a16:creationId xmlns:a16="http://schemas.microsoft.com/office/drawing/2014/main" id="{22DAB87F-1C0C-0CD3-567B-64AEE35172E3}"/>
              </a:ext>
            </a:extLst>
          </p:cNvPr>
          <p:cNvSpPr>
            <a:spLocks noGrp="1"/>
          </p:cNvSpPr>
          <p:nvPr>
            <p:ph type="sldNum" sz="quarter" idx="4"/>
          </p:nvPr>
        </p:nvSpPr>
        <p:spPr/>
        <p:txBody>
          <a:bodyPr/>
          <a:lstStyle/>
          <a:p>
            <a:fld id="{C088C981-6885-4100-82A1-DE7074EC4480}" type="slidenum">
              <a:rPr lang="ja-JP" altLang="en-US" smtClean="0"/>
              <a:pPr/>
              <a:t>10</a:t>
            </a:fld>
            <a:endParaRPr lang="ja-JP" altLang="en-US"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311C96AC-B778-A4A3-0ED3-CAFBB45FE9F3}"/>
              </a:ext>
            </a:extLst>
          </p:cNvPr>
          <p:cNvSpPr/>
          <p:nvPr/>
        </p:nvSpPr>
        <p:spPr>
          <a:xfrm>
            <a:off x="203200" y="683337"/>
            <a:ext cx="467360" cy="2998542"/>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dirty="0"/>
              <a:t>基盤</a:t>
            </a:r>
          </a:p>
        </p:txBody>
      </p:sp>
      <p:sp>
        <p:nvSpPr>
          <p:cNvPr id="15" name="四角形: 角を丸くする 14">
            <a:extLst>
              <a:ext uri="{FF2B5EF4-FFF2-40B4-BE49-F238E27FC236}">
                <a16:creationId xmlns:a16="http://schemas.microsoft.com/office/drawing/2014/main" id="{A1270BE7-C453-E00C-AC67-AF0D4EF24B1B}"/>
              </a:ext>
            </a:extLst>
          </p:cNvPr>
          <p:cNvSpPr/>
          <p:nvPr/>
        </p:nvSpPr>
        <p:spPr>
          <a:xfrm>
            <a:off x="795019" y="1256547"/>
            <a:ext cx="3263901" cy="2396591"/>
          </a:xfrm>
          <a:prstGeom prst="roundRect">
            <a:avLst>
              <a:gd name="adj" fmla="val 1187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285750" indent="-285750" algn="ctr">
              <a:buFont typeface="Arial" panose="020B0604020202020204" pitchFamily="34" charset="0"/>
              <a:buChar char="•"/>
            </a:pPr>
            <a:endParaRPr kumimoji="1" lang="ja-JP" altLang="en-US" sz="1400" dirty="0">
              <a:solidFill>
                <a:schemeClr val="tx1"/>
              </a:solidFill>
            </a:endParaRPr>
          </a:p>
        </p:txBody>
      </p:sp>
      <mc:AlternateContent xmlns:mc="http://schemas.openxmlformats.org/markup-compatibility/2006" xmlns:a14="http://schemas.microsoft.com/office/drawing/2010/main">
        <mc:Choice Requires="a14">
          <p:sp>
            <p:nvSpPr>
              <p:cNvPr id="7" name="四角形: 角を丸くする 6">
                <a:extLst>
                  <a:ext uri="{FF2B5EF4-FFF2-40B4-BE49-F238E27FC236}">
                    <a16:creationId xmlns:a16="http://schemas.microsoft.com/office/drawing/2014/main" id="{51F75C3D-DF3D-1614-BB5C-C3D2BDDABEBC}"/>
                  </a:ext>
                </a:extLst>
              </p:cNvPr>
              <p:cNvSpPr/>
              <p:nvPr/>
            </p:nvSpPr>
            <p:spPr>
              <a:xfrm>
                <a:off x="203200" y="3764280"/>
                <a:ext cx="467360" cy="3002280"/>
              </a:xfrm>
              <a:prstGeom prst="roundRect">
                <a:avLst/>
              </a:prstGeom>
              <a:solidFill>
                <a:srgbClr val="D96C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dirty="0"/>
                  <a:t>クライアント</a:t>
                </a:r>
                <a:endParaRPr kumimoji="1" lang="en-US" altLang="ja-JP" dirty="0"/>
              </a:p>
              <a:p>
                <a:pPr algn="ct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𝑘</m:t>
                      </m:r>
                    </m:oMath>
                  </m:oMathPara>
                </a14:m>
                <a:endParaRPr kumimoji="1" lang="ja-JP" altLang="en-US" dirty="0"/>
              </a:p>
            </p:txBody>
          </p:sp>
        </mc:Choice>
        <mc:Fallback xmlns="">
          <p:sp>
            <p:nvSpPr>
              <p:cNvPr id="7" name="四角形: 角を丸くする 6">
                <a:extLst>
                  <a:ext uri="{FF2B5EF4-FFF2-40B4-BE49-F238E27FC236}">
                    <a16:creationId xmlns:a16="http://schemas.microsoft.com/office/drawing/2014/main" id="{205B55C4-C027-BA46-2CB8-50F34B6DD2F0}"/>
                  </a:ext>
                </a:extLst>
              </p:cNvPr>
              <p:cNvSpPr>
                <a:spLocks noRot="1" noChangeAspect="1" noMove="1" noResize="1" noEditPoints="1" noAdjustHandles="1" noChangeArrowheads="1" noChangeShapeType="1" noTextEdit="1"/>
              </p:cNvSpPr>
              <p:nvPr/>
            </p:nvSpPr>
            <p:spPr>
              <a:xfrm>
                <a:off x="203200" y="3764280"/>
                <a:ext cx="467360" cy="3002280"/>
              </a:xfrm>
              <a:prstGeom prst="roundRect">
                <a:avLst/>
              </a:prstGeom>
              <a:blipFill>
                <a:blip r:embed="rId3"/>
                <a:stretch>
                  <a:fillRect l="-5195" r="-3896"/>
                </a:stretch>
              </a:blipFill>
              <a:ln>
                <a:noFill/>
              </a:ln>
            </p:spPr>
            <p:txBody>
              <a:bodyPr/>
              <a:lstStyle/>
              <a:p>
                <a:r>
                  <a:rPr lang="ja-JP" altLang="en-US">
                    <a:noFill/>
                  </a:rPr>
                  <a:t> </a:t>
                </a:r>
              </a:p>
            </p:txBody>
          </p:sp>
        </mc:Fallback>
      </mc:AlternateContent>
      <p:sp>
        <p:nvSpPr>
          <p:cNvPr id="17" name="四角形: 角を丸くする 16">
            <a:extLst>
              <a:ext uri="{FF2B5EF4-FFF2-40B4-BE49-F238E27FC236}">
                <a16:creationId xmlns:a16="http://schemas.microsoft.com/office/drawing/2014/main" id="{E6454624-3189-69AB-D877-6A22022BB1CE}"/>
              </a:ext>
            </a:extLst>
          </p:cNvPr>
          <p:cNvSpPr/>
          <p:nvPr/>
        </p:nvSpPr>
        <p:spPr>
          <a:xfrm>
            <a:off x="840232" y="3874249"/>
            <a:ext cx="1362634"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dirty="0"/>
              <a:t>2.</a:t>
            </a:r>
            <a:r>
              <a:rPr kumimoji="1" lang="ja-JP" altLang="en-US" dirty="0"/>
              <a:t>蒸留配布</a:t>
            </a:r>
          </a:p>
        </p:txBody>
      </p:sp>
      <p:sp>
        <p:nvSpPr>
          <p:cNvPr id="27" name="四角形: 角を丸くする 26">
            <a:extLst>
              <a:ext uri="{FF2B5EF4-FFF2-40B4-BE49-F238E27FC236}">
                <a16:creationId xmlns:a16="http://schemas.microsoft.com/office/drawing/2014/main" id="{CD0E270E-814A-A647-C8AC-CFF071CF6491}"/>
              </a:ext>
            </a:extLst>
          </p:cNvPr>
          <p:cNvSpPr/>
          <p:nvPr/>
        </p:nvSpPr>
        <p:spPr>
          <a:xfrm>
            <a:off x="7482840" y="936584"/>
            <a:ext cx="4427220" cy="5055608"/>
          </a:xfrm>
          <a:prstGeom prst="roundRect">
            <a:avLst>
              <a:gd name="adj" fmla="val 689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p:sp>
        <p:nvSpPr>
          <p:cNvPr id="13" name="四角形: 角を丸くする 12">
            <a:extLst>
              <a:ext uri="{FF2B5EF4-FFF2-40B4-BE49-F238E27FC236}">
                <a16:creationId xmlns:a16="http://schemas.microsoft.com/office/drawing/2014/main" id="{C3C0D02F-7C16-6394-CF0E-5B06A04C7A04}"/>
              </a:ext>
            </a:extLst>
          </p:cNvPr>
          <p:cNvSpPr/>
          <p:nvPr/>
        </p:nvSpPr>
        <p:spPr>
          <a:xfrm>
            <a:off x="795020" y="936585"/>
            <a:ext cx="252476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1.</a:t>
            </a:r>
            <a:r>
              <a:rPr lang="ja-JP" altLang="en-US" dirty="0"/>
              <a:t>還元用の知識を保存</a:t>
            </a:r>
            <a:endParaRPr kumimoji="1" lang="ja-JP" altLang="en-US" dirty="0"/>
          </a:p>
        </p:txBody>
      </p:sp>
      <p:sp>
        <p:nvSpPr>
          <p:cNvPr id="31" name="四角形: 角を丸くする 30">
            <a:extLst>
              <a:ext uri="{FF2B5EF4-FFF2-40B4-BE49-F238E27FC236}">
                <a16:creationId xmlns:a16="http://schemas.microsoft.com/office/drawing/2014/main" id="{ABFA9108-9E1B-4F62-A87B-C006B4B71EB5}"/>
              </a:ext>
            </a:extLst>
          </p:cNvPr>
          <p:cNvSpPr/>
          <p:nvPr/>
        </p:nvSpPr>
        <p:spPr>
          <a:xfrm>
            <a:off x="4176731" y="940202"/>
            <a:ext cx="2919872" cy="2678606"/>
          </a:xfrm>
          <a:prstGeom prst="roundRect">
            <a:avLst>
              <a:gd name="adj" fmla="val 5974"/>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200" dirty="0">
              <a:solidFill>
                <a:schemeClr val="tx1"/>
              </a:solidFill>
            </a:endParaRPr>
          </a:p>
        </p:txBody>
      </p:sp>
      <p:sp>
        <p:nvSpPr>
          <p:cNvPr id="25" name="四角形: 角を丸くする 24">
            <a:extLst>
              <a:ext uri="{FF2B5EF4-FFF2-40B4-BE49-F238E27FC236}">
                <a16:creationId xmlns:a16="http://schemas.microsoft.com/office/drawing/2014/main" id="{6B3F2AC2-DBD8-2899-E436-0C514E29761B}"/>
              </a:ext>
            </a:extLst>
          </p:cNvPr>
          <p:cNvSpPr/>
          <p:nvPr/>
        </p:nvSpPr>
        <p:spPr>
          <a:xfrm>
            <a:off x="7487030" y="745418"/>
            <a:ext cx="207264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6.</a:t>
            </a:r>
            <a:r>
              <a:rPr lang="ja-JP" altLang="en-US" dirty="0"/>
              <a:t>クラウド基盤整合</a:t>
            </a:r>
            <a:endParaRPr kumimoji="1" lang="ja-JP" altLang="en-US" dirty="0"/>
          </a:p>
        </p:txBody>
      </p:sp>
      <p:sp>
        <p:nvSpPr>
          <p:cNvPr id="29" name="四角形: 角を丸くする 28">
            <a:extLst>
              <a:ext uri="{FF2B5EF4-FFF2-40B4-BE49-F238E27FC236}">
                <a16:creationId xmlns:a16="http://schemas.microsoft.com/office/drawing/2014/main" id="{BAC4834E-1D49-A099-5EC8-6FD69CE8F6F9}"/>
              </a:ext>
            </a:extLst>
          </p:cNvPr>
          <p:cNvSpPr/>
          <p:nvPr/>
        </p:nvSpPr>
        <p:spPr>
          <a:xfrm>
            <a:off x="4154077" y="672141"/>
            <a:ext cx="924560" cy="31996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5</a:t>
            </a:r>
            <a:r>
              <a:rPr kumimoji="1" lang="en-US" altLang="ja-JP" dirty="0"/>
              <a:t>.</a:t>
            </a:r>
            <a:r>
              <a:rPr kumimoji="1" lang="ja-JP" altLang="en-US" dirty="0"/>
              <a:t>集約</a:t>
            </a:r>
          </a:p>
        </p:txBody>
      </p:sp>
      <p:sp>
        <p:nvSpPr>
          <p:cNvPr id="46" name="四角形: 角を丸くする 45">
            <a:extLst>
              <a:ext uri="{FF2B5EF4-FFF2-40B4-BE49-F238E27FC236}">
                <a16:creationId xmlns:a16="http://schemas.microsoft.com/office/drawing/2014/main" id="{096FCFCF-94AC-5883-9208-AC33288CDACA}"/>
              </a:ext>
            </a:extLst>
          </p:cNvPr>
          <p:cNvSpPr/>
          <p:nvPr/>
        </p:nvSpPr>
        <p:spPr>
          <a:xfrm>
            <a:off x="4801296" y="3985131"/>
            <a:ext cx="2798820" cy="1646361"/>
          </a:xfrm>
          <a:prstGeom prst="roundRect">
            <a:avLst>
              <a:gd name="adj" fmla="val 3482"/>
            </a:avLst>
          </a:prstGeom>
          <a:solidFill>
            <a:srgbClr val="FDF3ED"/>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200" dirty="0">
              <a:solidFill>
                <a:schemeClr val="tx1"/>
              </a:solidFill>
            </a:endParaRPr>
          </a:p>
          <a:p>
            <a:pPr algn="ctr"/>
            <a:endParaRPr lang="en-US" altLang="ja-JP" sz="1200" dirty="0">
              <a:solidFill>
                <a:schemeClr val="tx1"/>
              </a:solidFill>
            </a:endParaRPr>
          </a:p>
          <a:p>
            <a:pPr algn="ctr"/>
            <a:endParaRPr kumimoji="1" lang="en-US" altLang="ja-JP" sz="1200" dirty="0">
              <a:solidFill>
                <a:schemeClr val="tx1"/>
              </a:solidFill>
            </a:endParaRPr>
          </a:p>
          <a:p>
            <a:pPr algn="ctr"/>
            <a:endParaRPr lang="en-US" altLang="ja-JP" sz="1200" dirty="0">
              <a:solidFill>
                <a:schemeClr val="tx1"/>
              </a:solidFill>
            </a:endParaRPr>
          </a:p>
          <a:p>
            <a:pPr algn="ctr"/>
            <a:endParaRPr kumimoji="1" lang="en-US" altLang="ja-JP" sz="1200" dirty="0">
              <a:solidFill>
                <a:schemeClr val="tx1"/>
              </a:solidFill>
            </a:endParaRPr>
          </a:p>
        </p:txBody>
      </p:sp>
      <p:sp>
        <p:nvSpPr>
          <p:cNvPr id="16" name="テキスト ボックス 15">
            <a:extLst>
              <a:ext uri="{FF2B5EF4-FFF2-40B4-BE49-F238E27FC236}">
                <a16:creationId xmlns:a16="http://schemas.microsoft.com/office/drawing/2014/main" id="{9637BBCF-B138-BD15-82D6-06EC9B515463}"/>
              </a:ext>
            </a:extLst>
          </p:cNvPr>
          <p:cNvSpPr txBox="1"/>
          <p:nvPr/>
        </p:nvSpPr>
        <p:spPr>
          <a:xfrm>
            <a:off x="736599" y="1910748"/>
            <a:ext cx="1097280" cy="600164"/>
          </a:xfrm>
          <a:prstGeom prst="rect">
            <a:avLst/>
          </a:prstGeom>
          <a:noFill/>
        </p:spPr>
        <p:txBody>
          <a:bodyPr wrap="square" rtlCol="0">
            <a:spAutoFit/>
          </a:bodyPr>
          <a:lstStyle/>
          <a:p>
            <a:pPr algn="ctr"/>
            <a:r>
              <a:rPr kumimoji="1" lang="ja-JP" altLang="en-US" sz="1100" dirty="0"/>
              <a:t>更新済み</a:t>
            </a:r>
            <a:endParaRPr kumimoji="1" lang="en-US" altLang="ja-JP" sz="1100" dirty="0"/>
          </a:p>
          <a:p>
            <a:pPr algn="ctr"/>
            <a:r>
              <a:rPr lang="ja-JP" altLang="en-US" sz="1100" dirty="0"/>
              <a:t>基盤モデル</a:t>
            </a:r>
            <a:endParaRPr lang="en-US" altLang="ja-JP" sz="1100" dirty="0"/>
          </a:p>
          <a:p>
            <a:pPr algn="ctr"/>
            <a:r>
              <a:rPr lang="ja-JP" altLang="en-US" sz="1100" dirty="0"/>
              <a:t>＋基盤</a:t>
            </a:r>
            <a:r>
              <a:rPr lang="en-US" altLang="ja-JP" sz="1100" dirty="0" err="1"/>
              <a:t>LoRA</a:t>
            </a:r>
            <a:endParaRPr kumimoji="1" lang="ja-JP" altLang="en-US" sz="1600" dirty="0"/>
          </a:p>
        </p:txBody>
      </p:sp>
      <p:sp>
        <p:nvSpPr>
          <p:cNvPr id="18" name="矢印: 右 17">
            <a:extLst>
              <a:ext uri="{FF2B5EF4-FFF2-40B4-BE49-F238E27FC236}">
                <a16:creationId xmlns:a16="http://schemas.microsoft.com/office/drawing/2014/main" id="{8E430E10-B670-5E6E-C665-6E62CCF5468E}"/>
              </a:ext>
            </a:extLst>
          </p:cNvPr>
          <p:cNvSpPr/>
          <p:nvPr/>
        </p:nvSpPr>
        <p:spPr>
          <a:xfrm>
            <a:off x="1711959" y="1555875"/>
            <a:ext cx="1060174" cy="9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92BC7702-C890-3F16-4662-3D85EE46E7D9}"/>
              </a:ext>
            </a:extLst>
          </p:cNvPr>
          <p:cNvSpPr txBox="1"/>
          <p:nvPr/>
        </p:nvSpPr>
        <p:spPr>
          <a:xfrm>
            <a:off x="1711959" y="1312666"/>
            <a:ext cx="1097280" cy="261610"/>
          </a:xfrm>
          <a:prstGeom prst="rect">
            <a:avLst/>
          </a:prstGeom>
          <a:noFill/>
        </p:spPr>
        <p:txBody>
          <a:bodyPr wrap="square" rtlCol="0">
            <a:spAutoFit/>
          </a:bodyPr>
          <a:lstStyle/>
          <a:p>
            <a:pPr algn="ctr"/>
            <a:r>
              <a:rPr kumimoji="1" lang="ja-JP" altLang="en-US" sz="1100" dirty="0"/>
              <a:t>前向き推論</a:t>
            </a:r>
            <a:endParaRPr kumimoji="1" lang="ja-JP" altLang="en-US" sz="1600" dirty="0"/>
          </a:p>
        </p:txBody>
      </p:sp>
      <p:pic>
        <p:nvPicPr>
          <p:cNvPr id="14" name="グラフィックス 13" descr="データベース 枠線">
            <a:extLst>
              <a:ext uri="{FF2B5EF4-FFF2-40B4-BE49-F238E27FC236}">
                <a16:creationId xmlns:a16="http://schemas.microsoft.com/office/drawing/2014/main" id="{EF18290D-D3DA-18A8-19CA-DA276CED10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633" y="1649261"/>
            <a:ext cx="436942" cy="436942"/>
          </a:xfrm>
          <a:prstGeom prst="rect">
            <a:avLst/>
          </a:prstGeom>
        </p:spPr>
      </p:pic>
      <p:sp>
        <p:nvSpPr>
          <p:cNvPr id="39" name="四角形: 角を丸くする 38">
            <a:extLst>
              <a:ext uri="{FF2B5EF4-FFF2-40B4-BE49-F238E27FC236}">
                <a16:creationId xmlns:a16="http://schemas.microsoft.com/office/drawing/2014/main" id="{44D41767-133A-5AD7-1D35-049148546DAD}"/>
              </a:ext>
            </a:extLst>
          </p:cNvPr>
          <p:cNvSpPr/>
          <p:nvPr/>
        </p:nvSpPr>
        <p:spPr>
          <a:xfrm>
            <a:off x="7668398" y="3247512"/>
            <a:ext cx="4081272" cy="1638193"/>
          </a:xfrm>
          <a:prstGeom prst="roundRect">
            <a:avLst>
              <a:gd name="adj" fmla="val 6892"/>
            </a:avLst>
          </a:prstGeom>
          <a:solidFill>
            <a:srgbClr val="F1F8F9"/>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ACF7CDA0-C37D-F7AE-E4EC-C04ACA8807C7}"/>
                  </a:ext>
                </a:extLst>
              </p:cNvPr>
              <p:cNvSpPr txBox="1"/>
              <p:nvPr/>
            </p:nvSpPr>
            <p:spPr>
              <a:xfrm>
                <a:off x="2634951" y="1608191"/>
                <a:ext cx="1541779" cy="645177"/>
              </a:xfrm>
              <a:prstGeom prst="rect">
                <a:avLst/>
              </a:prstGeom>
              <a:noFill/>
            </p:spPr>
            <p:txBody>
              <a:bodyPr wrap="square" rtlCol="0">
                <a:spAutoFit/>
              </a:bodyPr>
              <a:lstStyle/>
              <a:p>
                <a:pPr algn="ctr"/>
                <a:r>
                  <a:rPr kumimoji="1" lang="ja-JP" altLang="en-US" sz="1100" dirty="0"/>
                  <a:t>サンプル </a:t>
                </a:r>
                <a:r>
                  <a:rPr kumimoji="1" lang="en-US" altLang="ja-JP" sz="1100" dirty="0"/>
                  <a:t>ID </a:t>
                </a:r>
                <a:r>
                  <a:rPr kumimoji="1" lang="ja-JP" altLang="en-US" sz="1100" dirty="0"/>
                  <a:t>と</a:t>
                </a:r>
                <a:endParaRPr kumimoji="1" lang="en-US" altLang="ja-JP" sz="1100" dirty="0"/>
              </a:p>
              <a:p>
                <a:pPr algn="ctr"/>
                <a:r>
                  <a:rPr kumimoji="1" lang="ja-JP" altLang="en-US" sz="1100" dirty="0"/>
                  <a:t> 基盤 </a:t>
                </a:r>
                <a:r>
                  <a:rPr kumimoji="1" lang="en-US" altLang="ja-JP" sz="1100" dirty="0"/>
                  <a:t>logits</a:t>
                </a:r>
                <a:r>
                  <a:rPr lang="ja-JP" altLang="en-US" sz="1100" dirty="0"/>
                  <a:t> </a:t>
                </a:r>
                <a14:m>
                  <m:oMath xmlns:m="http://schemas.openxmlformats.org/officeDocument/2006/math">
                    <m:sSubSup>
                      <m:sSubSupPr>
                        <m:ctrlPr>
                          <a:rPr lang="en-US" altLang="ja-JP" sz="1100" b="0" i="1" smtClean="0">
                            <a:latin typeface="Cambria Math" panose="02040503050406030204" pitchFamily="18" charset="0"/>
                          </a:rPr>
                        </m:ctrlPr>
                      </m:sSubSupPr>
                      <m:e>
                        <m:r>
                          <a:rPr lang="en-US" altLang="ja-JP" sz="1100" i="1">
                            <a:latin typeface="Cambria Math" panose="02040503050406030204" pitchFamily="18" charset="0"/>
                          </a:rPr>
                          <m:t> </m:t>
                        </m:r>
                        <m:r>
                          <a:rPr lang="en-US" altLang="ja-JP" sz="1100" i="1">
                            <a:latin typeface="Cambria Math" panose="02040503050406030204" pitchFamily="18" charset="0"/>
                          </a:rPr>
                          <m:t>𝑧</m:t>
                        </m:r>
                      </m:e>
                      <m:sub>
                        <m:r>
                          <a:rPr lang="en-US" altLang="ja-JP" sz="1100" i="1">
                            <a:latin typeface="Cambria Math" panose="02040503050406030204" pitchFamily="18" charset="0"/>
                          </a:rPr>
                          <m:t>𝑏𝑎𝑠𝑒</m:t>
                        </m:r>
                      </m:sub>
                      <m:sup>
                        <m:r>
                          <a:rPr lang="en-US" altLang="ja-JP" sz="1100" b="0" i="1" smtClean="0">
                            <a:latin typeface="Cambria Math" panose="02040503050406030204" pitchFamily="18" charset="0"/>
                          </a:rPr>
                          <m:t>(</m:t>
                        </m:r>
                        <m:r>
                          <a:rPr lang="en-US" altLang="ja-JP" sz="1100" b="0" i="1" smtClean="0">
                            <a:latin typeface="Cambria Math" panose="02040503050406030204" pitchFamily="18" charset="0"/>
                          </a:rPr>
                          <m:t>𝑟</m:t>
                        </m:r>
                        <m:r>
                          <a:rPr lang="en-US" altLang="ja-JP" sz="1100" b="0" i="1" smtClean="0">
                            <a:latin typeface="Cambria Math" panose="02040503050406030204" pitchFamily="18" charset="0"/>
                          </a:rPr>
                          <m:t>−1)</m:t>
                        </m:r>
                      </m:sup>
                    </m:sSubSup>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r>
                  <a:rPr kumimoji="1" lang="ja-JP" altLang="en-US" sz="1100" dirty="0"/>
                  <a:t>を保存</a:t>
                </a:r>
                <a:endParaRPr kumimoji="1" lang="ja-JP" altLang="en-US" sz="1600" dirty="0"/>
              </a:p>
            </p:txBody>
          </p:sp>
        </mc:Choice>
        <mc:Fallback xmlns="">
          <p:sp>
            <p:nvSpPr>
              <p:cNvPr id="26" name="テキスト ボックス 25">
                <a:extLst>
                  <a:ext uri="{FF2B5EF4-FFF2-40B4-BE49-F238E27FC236}">
                    <a16:creationId xmlns:a16="http://schemas.microsoft.com/office/drawing/2014/main" id="{8F733332-F9B7-A26C-D3AA-8A0C39684EBA}"/>
                  </a:ext>
                </a:extLst>
              </p:cNvPr>
              <p:cNvSpPr txBox="1">
                <a:spLocks noRot="1" noChangeAspect="1" noMove="1" noResize="1" noEditPoints="1" noAdjustHandles="1" noChangeArrowheads="1" noChangeShapeType="1" noTextEdit="1"/>
              </p:cNvSpPr>
              <p:nvPr/>
            </p:nvSpPr>
            <p:spPr>
              <a:xfrm>
                <a:off x="2634951" y="1608191"/>
                <a:ext cx="1541779" cy="645177"/>
              </a:xfrm>
              <a:prstGeom prst="rect">
                <a:avLst/>
              </a:prstGeom>
              <a:blipFill>
                <a:blip r:embed="rId5"/>
                <a:stretch>
                  <a:fillRect t="-1887" b="-3774"/>
                </a:stretch>
              </a:blipFill>
            </p:spPr>
            <p:txBody>
              <a:bodyPr/>
              <a:lstStyle/>
              <a:p>
                <a:r>
                  <a:rPr lang="ja-JP" altLang="en-US">
                    <a:noFill/>
                  </a:rPr>
                  <a:t> </a:t>
                </a:r>
              </a:p>
            </p:txBody>
          </p:sp>
        </mc:Fallback>
      </mc:AlternateContent>
      <p:sp>
        <p:nvSpPr>
          <p:cNvPr id="30" name="矢印: 右 29">
            <a:extLst>
              <a:ext uri="{FF2B5EF4-FFF2-40B4-BE49-F238E27FC236}">
                <a16:creationId xmlns:a16="http://schemas.microsoft.com/office/drawing/2014/main" id="{D01095B9-3259-7D3E-BD81-C5C528935AB2}"/>
              </a:ext>
            </a:extLst>
          </p:cNvPr>
          <p:cNvSpPr/>
          <p:nvPr/>
        </p:nvSpPr>
        <p:spPr>
          <a:xfrm rot="5400000">
            <a:off x="2185111" y="3869348"/>
            <a:ext cx="290668" cy="1316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CD915D58-B926-A133-E72A-0707C81BC069}"/>
                  </a:ext>
                </a:extLst>
              </p:cNvPr>
              <p:cNvSpPr txBox="1"/>
              <p:nvPr/>
            </p:nvSpPr>
            <p:spPr>
              <a:xfrm>
                <a:off x="1319054" y="2682122"/>
                <a:ext cx="2253042" cy="323743"/>
              </a:xfrm>
              <a:prstGeom prst="rect">
                <a:avLst/>
              </a:prstGeom>
              <a:noFill/>
            </p:spPr>
            <p:txBody>
              <a:bodyPr wrap="square">
                <a:spAutoFit/>
              </a:bodyPr>
              <a:lstStyle/>
              <a:p>
                <a:r>
                  <a:rPr kumimoji="1" lang="ja-JP" altLang="en-US" sz="1200" dirty="0"/>
                  <a:t>サンプル </a:t>
                </a:r>
                <a:r>
                  <a:rPr kumimoji="1" lang="en-US" altLang="ja-JP" sz="1200" dirty="0"/>
                  <a:t>ID </a:t>
                </a:r>
                <a:r>
                  <a:rPr kumimoji="1" lang="ja-JP" altLang="en-US" sz="1200" dirty="0"/>
                  <a:t>と</a:t>
                </a:r>
                <a14:m>
                  <m:oMath xmlns:m="http://schemas.openxmlformats.org/officeDocument/2006/math">
                    <m:sSubSup>
                      <m:sSubSupPr>
                        <m:ctrlPr>
                          <a:rPr lang="en-US" altLang="ja-JP" sz="1200" i="1">
                            <a:latin typeface="Cambria Math" panose="02040503050406030204" pitchFamily="18" charset="0"/>
                          </a:rPr>
                        </m:ctrlPr>
                      </m:sSubSupPr>
                      <m:e>
                        <m:r>
                          <a:rPr lang="en-US" altLang="ja-JP" sz="1200" i="1">
                            <a:latin typeface="Cambria Math" panose="02040503050406030204" pitchFamily="18" charset="0"/>
                          </a:rPr>
                          <m:t> </m:t>
                        </m:r>
                        <m:r>
                          <a:rPr lang="en-US" altLang="ja-JP" sz="1200" i="1">
                            <a:latin typeface="Cambria Math" panose="02040503050406030204" pitchFamily="18" charset="0"/>
                          </a:rPr>
                          <m:t>𝑧</m:t>
                        </m:r>
                      </m:e>
                      <m:sub>
                        <m:r>
                          <a:rPr lang="en-US" altLang="ja-JP" sz="1200" i="1">
                            <a:latin typeface="Cambria Math" panose="02040503050406030204" pitchFamily="18" charset="0"/>
                          </a:rPr>
                          <m:t>𝑏𝑎𝑠𝑒</m:t>
                        </m:r>
                      </m:sub>
                      <m:sup>
                        <m:d>
                          <m:dPr>
                            <m:ctrlPr>
                              <a:rPr lang="en-US" altLang="ja-JP" sz="1200" i="1">
                                <a:latin typeface="Cambria Math" panose="02040503050406030204" pitchFamily="18" charset="0"/>
                              </a:rPr>
                            </m:ctrlPr>
                          </m:dPr>
                          <m:e>
                            <m:r>
                              <a:rPr lang="en-US" altLang="ja-JP" sz="1200" i="1">
                                <a:latin typeface="Cambria Math" panose="02040503050406030204" pitchFamily="18" charset="0"/>
                              </a:rPr>
                              <m:t>𝑟</m:t>
                            </m:r>
                            <m:r>
                              <a:rPr lang="en-US" altLang="ja-JP" sz="1200" i="1">
                                <a:latin typeface="Cambria Math" panose="02040503050406030204" pitchFamily="18" charset="0"/>
                              </a:rPr>
                              <m:t>−1</m:t>
                            </m:r>
                          </m:e>
                        </m:d>
                      </m:sup>
                    </m:sSubSup>
                    <m:d>
                      <m:dPr>
                        <m:ctrlPr>
                          <a:rPr lang="en-US" altLang="ja-JP" sz="1200" i="1">
                            <a:latin typeface="Cambria Math" panose="02040503050406030204" pitchFamily="18" charset="0"/>
                          </a:rPr>
                        </m:ctrlPr>
                      </m:dPr>
                      <m:e>
                        <m:r>
                          <a:rPr lang="en-US" altLang="ja-JP" sz="1200" i="1">
                            <a:latin typeface="Cambria Math" panose="02040503050406030204" pitchFamily="18" charset="0"/>
                          </a:rPr>
                          <m:t>𝑥</m:t>
                        </m:r>
                      </m:e>
                    </m:d>
                  </m:oMath>
                </a14:m>
                <a:r>
                  <a:rPr lang="ja-JP" altLang="en-US" sz="1200" dirty="0"/>
                  <a:t>を送信</a:t>
                </a:r>
              </a:p>
            </p:txBody>
          </p:sp>
        </mc:Choice>
        <mc:Fallback xmlns="">
          <p:sp>
            <p:nvSpPr>
              <p:cNvPr id="34" name="テキスト ボックス 33">
                <a:extLst>
                  <a:ext uri="{FF2B5EF4-FFF2-40B4-BE49-F238E27FC236}">
                    <a16:creationId xmlns:a16="http://schemas.microsoft.com/office/drawing/2014/main" id="{CD915D58-B926-A133-E72A-0707C81BC069}"/>
                  </a:ext>
                </a:extLst>
              </p:cNvPr>
              <p:cNvSpPr txBox="1">
                <a:spLocks noRot="1" noChangeAspect="1" noMove="1" noResize="1" noEditPoints="1" noAdjustHandles="1" noChangeArrowheads="1" noChangeShapeType="1" noTextEdit="1"/>
              </p:cNvSpPr>
              <p:nvPr/>
            </p:nvSpPr>
            <p:spPr>
              <a:xfrm>
                <a:off x="1319054" y="2682122"/>
                <a:ext cx="2253042" cy="323743"/>
              </a:xfrm>
              <a:prstGeom prst="rect">
                <a:avLst/>
              </a:prstGeom>
              <a:blipFill>
                <a:blip r:embed="rId6"/>
                <a:stretch>
                  <a:fillRect r="-270" b="-13208"/>
                </a:stretch>
              </a:blipFill>
            </p:spPr>
            <p:txBody>
              <a:bodyPr/>
              <a:lstStyle/>
              <a:p>
                <a:r>
                  <a:rPr lang="ja-JP" altLang="en-US">
                    <a:noFill/>
                  </a:rPr>
                  <a:t> </a:t>
                </a:r>
              </a:p>
            </p:txBody>
          </p:sp>
        </mc:Fallback>
      </mc:AlternateContent>
      <p:sp>
        <p:nvSpPr>
          <p:cNvPr id="38" name="四角形: 角を丸くする 37">
            <a:extLst>
              <a:ext uri="{FF2B5EF4-FFF2-40B4-BE49-F238E27FC236}">
                <a16:creationId xmlns:a16="http://schemas.microsoft.com/office/drawing/2014/main" id="{166CE3A1-14B4-1BFF-9851-E0A522E31FB9}"/>
              </a:ext>
            </a:extLst>
          </p:cNvPr>
          <p:cNvSpPr/>
          <p:nvPr/>
        </p:nvSpPr>
        <p:spPr>
          <a:xfrm>
            <a:off x="4807383" y="3734816"/>
            <a:ext cx="1912112"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dirty="0"/>
              <a:t>3</a:t>
            </a:r>
            <a:r>
              <a:rPr kumimoji="1" lang="en-US" altLang="ja-JP" dirty="0"/>
              <a:t>.</a:t>
            </a:r>
            <a:r>
              <a:rPr kumimoji="1" lang="ja-JP" altLang="en-US" dirty="0"/>
              <a:t>端末学習</a:t>
            </a:r>
            <a:r>
              <a:rPr kumimoji="1" lang="en-US" altLang="ja-JP" dirty="0"/>
              <a:t>(</a:t>
            </a:r>
            <a:r>
              <a:rPr kumimoji="1" lang="en-US" altLang="ja-JP" dirty="0" err="1"/>
              <a:t>L_task</a:t>
            </a:r>
            <a:r>
              <a:rPr kumimoji="1" lang="en-US" altLang="ja-JP" dirty="0"/>
              <a:t>)</a:t>
            </a:r>
            <a:endParaRPr kumimoji="1" lang="ja-JP" altLang="en-US" dirty="0"/>
          </a:p>
        </p:txBody>
      </p:sp>
      <p:sp>
        <p:nvSpPr>
          <p:cNvPr id="42" name="テキスト ボックス 41">
            <a:extLst>
              <a:ext uri="{FF2B5EF4-FFF2-40B4-BE49-F238E27FC236}">
                <a16:creationId xmlns:a16="http://schemas.microsoft.com/office/drawing/2014/main" id="{38F27FC0-197C-E362-05D6-B354EAE4F4F4}"/>
              </a:ext>
            </a:extLst>
          </p:cNvPr>
          <p:cNvSpPr txBox="1"/>
          <p:nvPr/>
        </p:nvSpPr>
        <p:spPr>
          <a:xfrm>
            <a:off x="785693" y="4728676"/>
            <a:ext cx="1188650" cy="577081"/>
          </a:xfrm>
          <a:prstGeom prst="rect">
            <a:avLst/>
          </a:prstGeom>
          <a:noFill/>
        </p:spPr>
        <p:txBody>
          <a:bodyPr wrap="square" rtlCol="0">
            <a:spAutoFit/>
          </a:bodyPr>
          <a:lstStyle/>
          <a:p>
            <a:pPr algn="ctr"/>
            <a:r>
              <a:rPr lang="en-US" altLang="ja-JP" sz="1050" dirty="0"/>
              <a:t>Surrogate</a:t>
            </a:r>
            <a:r>
              <a:rPr lang="ja-JP" altLang="en-US" sz="1050" dirty="0"/>
              <a:t>モデル</a:t>
            </a:r>
            <a:endParaRPr lang="en-US" altLang="ja-JP" sz="1050" dirty="0"/>
          </a:p>
          <a:p>
            <a:pPr algn="ctr"/>
            <a:r>
              <a:rPr lang="ja-JP" altLang="en-US" sz="1050" dirty="0"/>
              <a:t>＋クライアント</a:t>
            </a:r>
            <a:r>
              <a:rPr lang="en-US" altLang="ja-JP" sz="1050" dirty="0" err="1"/>
              <a:t>LoRA</a:t>
            </a:r>
            <a:endParaRPr kumimoji="1" lang="ja-JP" altLang="en-US" sz="1400" dirty="0"/>
          </a:p>
        </p:txBody>
      </p: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5C3FDC32-3192-332F-A18B-8AE392D77DC9}"/>
                  </a:ext>
                </a:extLst>
              </p:cNvPr>
              <p:cNvSpPr txBox="1"/>
              <p:nvPr/>
            </p:nvSpPr>
            <p:spPr>
              <a:xfrm>
                <a:off x="1620922" y="2045813"/>
                <a:ext cx="1238101" cy="566502"/>
              </a:xfrm>
              <a:prstGeom prst="rect">
                <a:avLst/>
              </a:prstGeom>
              <a:noFill/>
            </p:spPr>
            <p:txBody>
              <a:bodyPr wrap="square">
                <a:spAutoFit/>
              </a:bodyPr>
              <a:lstStyle/>
              <a:p>
                <a:pPr algn="ctr"/>
                <a:r>
                  <a:rPr lang="ja-JP" altLang="en-US" sz="1000" dirty="0"/>
                  <a:t>公開整合セットの各サンプル</a:t>
                </a:r>
                <a:endParaRPr lang="en-US" altLang="ja-JP" sz="1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dirty="0"/>
              </a:p>
            </p:txBody>
          </p:sp>
        </mc:Choice>
        <mc:Fallback xmlns="">
          <p:sp>
            <p:nvSpPr>
              <p:cNvPr id="44" name="テキスト ボックス 43">
                <a:extLst>
                  <a:ext uri="{FF2B5EF4-FFF2-40B4-BE49-F238E27FC236}">
                    <a16:creationId xmlns:a16="http://schemas.microsoft.com/office/drawing/2014/main" id="{C6CF64CE-612F-C9C6-E2A6-5E622305408D}"/>
                  </a:ext>
                </a:extLst>
              </p:cNvPr>
              <p:cNvSpPr txBox="1">
                <a:spLocks noRot="1" noChangeAspect="1" noMove="1" noResize="1" noEditPoints="1" noAdjustHandles="1" noChangeArrowheads="1" noChangeShapeType="1" noTextEdit="1"/>
              </p:cNvSpPr>
              <p:nvPr/>
            </p:nvSpPr>
            <p:spPr>
              <a:xfrm>
                <a:off x="1620922" y="2045813"/>
                <a:ext cx="1238101" cy="566502"/>
              </a:xfrm>
              <a:prstGeom prst="rect">
                <a:avLst/>
              </a:prstGeom>
              <a:blipFill>
                <a:blip r:embed="rId7"/>
                <a:stretch>
                  <a:fillRect/>
                </a:stretch>
              </a:blipFill>
            </p:spPr>
            <p:txBody>
              <a:bodyPr/>
              <a:lstStyle/>
              <a:p>
                <a:r>
                  <a:rPr lang="ja-JP" altLang="en-US">
                    <a:noFill/>
                  </a:rPr>
                  <a:t> </a:t>
                </a:r>
              </a:p>
            </p:txBody>
          </p:sp>
        </mc:Fallback>
      </mc:AlternateContent>
      <p:sp>
        <p:nvSpPr>
          <p:cNvPr id="48" name="矢印: 右 47">
            <a:extLst>
              <a:ext uri="{FF2B5EF4-FFF2-40B4-BE49-F238E27FC236}">
                <a16:creationId xmlns:a16="http://schemas.microsoft.com/office/drawing/2014/main" id="{D85926FD-09BF-1F1D-839F-D79842AB21AC}"/>
              </a:ext>
            </a:extLst>
          </p:cNvPr>
          <p:cNvSpPr/>
          <p:nvPr/>
        </p:nvSpPr>
        <p:spPr>
          <a:xfrm>
            <a:off x="1774492" y="4444681"/>
            <a:ext cx="1730707" cy="75017"/>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0" name="テキスト ボックス 49">
            <a:extLst>
              <a:ext uri="{FF2B5EF4-FFF2-40B4-BE49-F238E27FC236}">
                <a16:creationId xmlns:a16="http://schemas.microsoft.com/office/drawing/2014/main" id="{90B86824-FC75-7E61-6BFF-AB340747CDC7}"/>
              </a:ext>
            </a:extLst>
          </p:cNvPr>
          <p:cNvSpPr txBox="1"/>
          <p:nvPr/>
        </p:nvSpPr>
        <p:spPr>
          <a:xfrm>
            <a:off x="2137888" y="4210248"/>
            <a:ext cx="1097280" cy="261610"/>
          </a:xfrm>
          <a:prstGeom prst="rect">
            <a:avLst/>
          </a:prstGeom>
          <a:noFill/>
        </p:spPr>
        <p:txBody>
          <a:bodyPr wrap="square" rtlCol="0">
            <a:spAutoFit/>
          </a:bodyPr>
          <a:lstStyle/>
          <a:p>
            <a:pPr algn="ctr"/>
            <a:r>
              <a:rPr kumimoji="1" lang="ja-JP" altLang="en-US" sz="1100" dirty="0"/>
              <a:t>前向き推論</a:t>
            </a:r>
            <a:endParaRPr kumimoji="1" lang="ja-JP" altLang="en-US" sz="1600" dirty="0"/>
          </a:p>
        </p:txBody>
      </p:sp>
      <p:pic>
        <p:nvPicPr>
          <p:cNvPr id="52" name="グラフィックス 51" descr="データベース 枠線">
            <a:extLst>
              <a:ext uri="{FF2B5EF4-FFF2-40B4-BE49-F238E27FC236}">
                <a16:creationId xmlns:a16="http://schemas.microsoft.com/office/drawing/2014/main" id="{7BFE00BB-1C13-25AE-9A79-64A1D0510F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95743" y="4546125"/>
            <a:ext cx="436942" cy="436942"/>
          </a:xfrm>
          <a:prstGeom prst="rect">
            <a:avLst/>
          </a:prstGeom>
        </p:spPr>
      </p:pic>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FCA41512-CB50-E5A1-74CD-31BF5096B148}"/>
                  </a:ext>
                </a:extLst>
              </p:cNvPr>
              <p:cNvSpPr txBox="1"/>
              <p:nvPr/>
            </p:nvSpPr>
            <p:spPr>
              <a:xfrm>
                <a:off x="2101303" y="4933013"/>
                <a:ext cx="1238101" cy="566502"/>
              </a:xfrm>
              <a:prstGeom prst="rect">
                <a:avLst/>
              </a:prstGeom>
              <a:noFill/>
            </p:spPr>
            <p:txBody>
              <a:bodyPr wrap="square">
                <a:spAutoFit/>
              </a:bodyPr>
              <a:lstStyle/>
              <a:p>
                <a:pPr algn="ctr"/>
                <a:r>
                  <a:rPr lang="ja-JP" altLang="en-US" sz="1000" dirty="0"/>
                  <a:t>公開整合セットの</a:t>
                </a:r>
                <a:endParaRPr lang="en-US" altLang="ja-JP" sz="1000" dirty="0"/>
              </a:p>
              <a:p>
                <a:pPr algn="ctr"/>
                <a:r>
                  <a:rPr lang="ja-JP" altLang="en-US" sz="1000" dirty="0"/>
                  <a:t>各サンプル</a:t>
                </a:r>
                <a:endParaRPr lang="en-US" altLang="ja-JP" sz="1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dirty="0"/>
              </a:p>
            </p:txBody>
          </p:sp>
        </mc:Choice>
        <mc:Fallback xmlns="">
          <p:sp>
            <p:nvSpPr>
              <p:cNvPr id="54" name="テキスト ボックス 53">
                <a:extLst>
                  <a:ext uri="{FF2B5EF4-FFF2-40B4-BE49-F238E27FC236}">
                    <a16:creationId xmlns:a16="http://schemas.microsoft.com/office/drawing/2014/main" id="{15397E5F-B26B-A196-3B21-6BDF086A137B}"/>
                  </a:ext>
                </a:extLst>
              </p:cNvPr>
              <p:cNvSpPr txBox="1">
                <a:spLocks noRot="1" noChangeAspect="1" noMove="1" noResize="1" noEditPoints="1" noAdjustHandles="1" noChangeArrowheads="1" noChangeShapeType="1" noTextEdit="1"/>
              </p:cNvSpPr>
              <p:nvPr/>
            </p:nvSpPr>
            <p:spPr>
              <a:xfrm>
                <a:off x="2101303" y="4933013"/>
                <a:ext cx="1238101" cy="566502"/>
              </a:xfrm>
              <a:prstGeom prst="rect">
                <a:avLst/>
              </a:prstGeom>
              <a:blipFill>
                <a:blip r:embed="rId8"/>
                <a:stretch>
                  <a:fillRect/>
                </a:stretch>
              </a:blipFill>
            </p:spPr>
            <p:txBody>
              <a:bodyPr/>
              <a:lstStyle/>
              <a:p>
                <a:r>
                  <a:rPr lang="ja-JP" altLang="en-US">
                    <a:noFill/>
                  </a:rPr>
                  <a:t> </a:t>
                </a:r>
              </a:p>
            </p:txBody>
          </p:sp>
        </mc:Fallback>
      </mc:AlternateContent>
      <p:sp>
        <p:nvSpPr>
          <p:cNvPr id="159" name="四角形: 角を丸くする 158">
            <a:extLst>
              <a:ext uri="{FF2B5EF4-FFF2-40B4-BE49-F238E27FC236}">
                <a16:creationId xmlns:a16="http://schemas.microsoft.com/office/drawing/2014/main" id="{49B1E69B-0A17-7A2D-C542-22B6645242F5}"/>
              </a:ext>
            </a:extLst>
          </p:cNvPr>
          <p:cNvSpPr/>
          <p:nvPr/>
        </p:nvSpPr>
        <p:spPr>
          <a:xfrm>
            <a:off x="4797583" y="4492147"/>
            <a:ext cx="2801175" cy="662124"/>
          </a:xfrm>
          <a:prstGeom prst="roundRect">
            <a:avLst>
              <a:gd name="adj" fmla="val 6892"/>
            </a:avLst>
          </a:prstGeom>
          <a:solidFill>
            <a:srgbClr val="FDF3ED"/>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FD55D3F8-265D-E3E9-B60D-3DBCA95B683B}"/>
                  </a:ext>
                </a:extLst>
              </p:cNvPr>
              <p:cNvSpPr txBox="1"/>
              <p:nvPr/>
            </p:nvSpPr>
            <p:spPr>
              <a:xfrm>
                <a:off x="3319418" y="4480575"/>
                <a:ext cx="1250195" cy="608436"/>
              </a:xfrm>
              <a:prstGeom prst="rect">
                <a:avLst/>
              </a:prstGeom>
              <a:noFill/>
            </p:spPr>
            <p:txBody>
              <a:bodyPr wrap="square" rtlCol="0">
                <a:spAutoFit/>
              </a:bodyPr>
              <a:lstStyle/>
              <a:p>
                <a:pPr algn="ctr"/>
                <a:r>
                  <a:rPr kumimoji="1" lang="ja-JP" altLang="en-US" sz="1100" dirty="0"/>
                  <a:t>サンプル </a:t>
                </a:r>
                <a:r>
                  <a:rPr kumimoji="1" lang="en-US" altLang="ja-JP" sz="1100" dirty="0"/>
                  <a:t>ID </a:t>
                </a:r>
                <a:r>
                  <a:rPr kumimoji="1" lang="ja-JP" altLang="en-US" sz="1100" dirty="0"/>
                  <a:t>と</a:t>
                </a:r>
                <a:endParaRPr kumimoji="1" lang="en-US" altLang="ja-JP" sz="1100" dirty="0"/>
              </a:p>
              <a:p>
                <a:pPr algn="ctr"/>
                <a:r>
                  <a:rPr kumimoji="1" lang="ja-JP" altLang="en-US" sz="1100" dirty="0"/>
                  <a:t> 基盤 </a:t>
                </a:r>
                <a:r>
                  <a:rPr kumimoji="1" lang="en-US" altLang="ja-JP" sz="1100" dirty="0"/>
                  <a:t>logits</a:t>
                </a:r>
                <a14:m>
                  <m:oMath xmlns:m="http://schemas.openxmlformats.org/officeDocument/2006/math">
                    <m:sSub>
                      <m:sSubPr>
                        <m:ctrlPr>
                          <a:rPr lang="en-US" altLang="ja-JP" sz="1100" i="1">
                            <a:latin typeface="Cambria Math" panose="02040503050406030204" pitchFamily="18" charset="0"/>
                          </a:rPr>
                        </m:ctrlPr>
                      </m:sSubPr>
                      <m:e>
                        <m:r>
                          <a:rPr lang="en-US" altLang="ja-JP" sz="1100" i="1">
                            <a:latin typeface="Cambria Math" panose="02040503050406030204" pitchFamily="18" charset="0"/>
                          </a:rPr>
                          <m:t>𝑧</m:t>
                        </m:r>
                      </m:e>
                      <m:sub>
                        <m:r>
                          <a:rPr lang="en-US" altLang="ja-JP" sz="1100" b="0" i="1" smtClean="0">
                            <a:latin typeface="Cambria Math" panose="02040503050406030204" pitchFamily="18" charset="0"/>
                          </a:rPr>
                          <m:t>𝑘</m:t>
                        </m:r>
                      </m:sub>
                    </m:sSub>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endParaRPr kumimoji="1" lang="en-US" altLang="ja-JP" sz="1100" dirty="0"/>
              </a:p>
              <a:p>
                <a:pPr algn="ctr"/>
                <a:r>
                  <a:rPr kumimoji="1" lang="ja-JP" altLang="en-US" sz="1100" dirty="0"/>
                  <a:t>を保存</a:t>
                </a:r>
                <a:endParaRPr kumimoji="1" lang="ja-JP" altLang="en-US" sz="1600" dirty="0"/>
              </a:p>
            </p:txBody>
          </p:sp>
        </mc:Choice>
        <mc:Fallback xmlns="">
          <p:sp>
            <p:nvSpPr>
              <p:cNvPr id="56" name="テキスト ボックス 55">
                <a:extLst>
                  <a:ext uri="{FF2B5EF4-FFF2-40B4-BE49-F238E27FC236}">
                    <a16:creationId xmlns:a16="http://schemas.microsoft.com/office/drawing/2014/main" id="{B1E1EE3F-938A-D492-B2D9-3C489F21C59F}"/>
                  </a:ext>
                </a:extLst>
              </p:cNvPr>
              <p:cNvSpPr txBox="1">
                <a:spLocks noRot="1" noChangeAspect="1" noMove="1" noResize="1" noEditPoints="1" noAdjustHandles="1" noChangeArrowheads="1" noChangeShapeType="1" noTextEdit="1"/>
              </p:cNvSpPr>
              <p:nvPr/>
            </p:nvSpPr>
            <p:spPr>
              <a:xfrm>
                <a:off x="3319418" y="4480575"/>
                <a:ext cx="1250195" cy="608436"/>
              </a:xfrm>
              <a:prstGeom prst="rect">
                <a:avLst/>
              </a:prstGeom>
              <a:blipFill>
                <a:blip r:embed="rId9"/>
                <a:stretch>
                  <a:fillRect t="-2000" b="-3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B7B4399F-EF11-5B8F-50E1-8D196672C0F2}"/>
                  </a:ext>
                </a:extLst>
              </p:cNvPr>
              <p:cNvSpPr txBox="1"/>
              <p:nvPr/>
            </p:nvSpPr>
            <p:spPr>
              <a:xfrm>
                <a:off x="1297491" y="6202239"/>
                <a:ext cx="2933700" cy="261610"/>
              </a:xfrm>
              <a:prstGeom prst="rect">
                <a:avLst/>
              </a:prstGeom>
              <a:noFill/>
            </p:spPr>
            <p:txBody>
              <a:bodyPr wrap="square">
                <a:spAutoFit/>
              </a:bodyPr>
              <a:lstStyle/>
              <a:p>
                <a:r>
                  <a:rPr lang="ja-JP" altLang="ja-JP" sz="1100" i="0" dirty="0">
                    <a:solidFill>
                      <a:schemeClr val="tx1"/>
                    </a:solidFill>
                    <a:effectLst/>
                    <a:latin typeface="-apple-system"/>
                  </a:rPr>
                  <a:t>クライアント LoRA + 分類ヘッド </a:t>
                </a:r>
                <a14:m>
                  <m:oMath xmlns:m="http://schemas.openxmlformats.org/officeDocument/2006/math">
                    <m:sSub>
                      <m:sSubPr>
                        <m:ctrlPr>
                          <a:rPr lang="ja-JP" altLang="en-US" sz="1100" i="1">
                            <a:solidFill>
                              <a:schemeClr val="tx1"/>
                            </a:solidFill>
                            <a:latin typeface="Cambria Math" panose="02040503050406030204" pitchFamily="18" charset="0"/>
                          </a:rPr>
                        </m:ctrlPr>
                      </m:sSubPr>
                      <m:e>
                        <m:r>
                          <a:rPr lang="ja-JP" altLang="en-US" sz="1100" b="0" i="1">
                            <a:solidFill>
                              <a:schemeClr val="tx1"/>
                            </a:solidFill>
                            <a:latin typeface="Cambria Math" panose="02040503050406030204" pitchFamily="18" charset="0"/>
                          </a:rPr>
                          <m:t>𝜃</m:t>
                        </m:r>
                      </m:e>
                      <m:sub>
                        <m:r>
                          <a:rPr lang="ja-JP" altLang="en-US" sz="1100" b="0" i="1">
                            <a:solidFill>
                              <a:schemeClr val="tx1"/>
                            </a:solidFill>
                            <a:latin typeface="Cambria Math" panose="02040503050406030204" pitchFamily="18" charset="0"/>
                          </a:rPr>
                          <m:t>𝑘</m:t>
                        </m:r>
                      </m:sub>
                    </m:sSub>
                    <m:r>
                      <a:rPr lang="ja-JP" altLang="en-US" sz="1100" i="1">
                        <a:latin typeface="Cambria Math" panose="02040503050406030204" pitchFamily="18" charset="0"/>
                      </a:rPr>
                      <m:t>の更新</m:t>
                    </m:r>
                  </m:oMath>
                </a14:m>
                <a:endParaRPr lang="ja-JP" altLang="en-US" sz="2400" dirty="0"/>
              </a:p>
            </p:txBody>
          </p:sp>
        </mc:Choice>
        <mc:Fallback xmlns="">
          <p:sp>
            <p:nvSpPr>
              <p:cNvPr id="58" name="テキスト ボックス 57">
                <a:extLst>
                  <a:ext uri="{FF2B5EF4-FFF2-40B4-BE49-F238E27FC236}">
                    <a16:creationId xmlns:a16="http://schemas.microsoft.com/office/drawing/2014/main" id="{B7B4399F-EF11-5B8F-50E1-8D196672C0F2}"/>
                  </a:ext>
                </a:extLst>
              </p:cNvPr>
              <p:cNvSpPr txBox="1">
                <a:spLocks noRot="1" noChangeAspect="1" noMove="1" noResize="1" noEditPoints="1" noAdjustHandles="1" noChangeArrowheads="1" noChangeShapeType="1" noTextEdit="1"/>
              </p:cNvSpPr>
              <p:nvPr/>
            </p:nvSpPr>
            <p:spPr>
              <a:xfrm>
                <a:off x="1297491" y="6202239"/>
                <a:ext cx="2933700" cy="261610"/>
              </a:xfrm>
              <a:prstGeom prst="rect">
                <a:avLst/>
              </a:prstGeom>
              <a:blipFill>
                <a:blip r:embed="rId10"/>
                <a:stretch>
                  <a:fillRect t="-4651" b="-16279"/>
                </a:stretch>
              </a:blipFill>
            </p:spPr>
            <p:txBody>
              <a:bodyPr/>
              <a:lstStyle/>
              <a:p>
                <a:r>
                  <a:rPr lang="ja-JP" altLang="en-US">
                    <a:noFill/>
                  </a:rPr>
                  <a:t> </a:t>
                </a:r>
              </a:p>
            </p:txBody>
          </p:sp>
        </mc:Fallback>
      </mc:AlternateContent>
      <p:pic>
        <p:nvPicPr>
          <p:cNvPr id="62" name="グラフィックス 61" descr="データベース 枠線">
            <a:extLst>
              <a:ext uri="{FF2B5EF4-FFF2-40B4-BE49-F238E27FC236}">
                <a16:creationId xmlns:a16="http://schemas.microsoft.com/office/drawing/2014/main" id="{6336AC92-44E5-7EA7-DE49-A4314009661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762005" y="4030876"/>
            <a:ext cx="436942" cy="436942"/>
          </a:xfrm>
          <a:prstGeom prst="rect">
            <a:avLst/>
          </a:prstGeom>
        </p:spPr>
      </p:pic>
      <mc:AlternateContent xmlns:mc="http://schemas.openxmlformats.org/markup-compatibility/2006" xmlns:a14="http://schemas.microsoft.com/office/drawing/2010/main">
        <mc:Choice Requires="a14">
          <p:sp>
            <p:nvSpPr>
              <p:cNvPr id="64" name="テキスト ボックス 63">
                <a:extLst>
                  <a:ext uri="{FF2B5EF4-FFF2-40B4-BE49-F238E27FC236}">
                    <a16:creationId xmlns:a16="http://schemas.microsoft.com/office/drawing/2014/main" id="{FD3C3270-E59F-6217-92BC-1ECF5150211B}"/>
                  </a:ext>
                </a:extLst>
              </p:cNvPr>
              <p:cNvSpPr txBox="1"/>
              <p:nvPr/>
            </p:nvSpPr>
            <p:spPr>
              <a:xfrm>
                <a:off x="5083391" y="4136328"/>
                <a:ext cx="2409496" cy="307777"/>
              </a:xfrm>
              <a:prstGeom prst="rect">
                <a:avLst/>
              </a:prstGeom>
              <a:noFill/>
            </p:spPr>
            <p:txBody>
              <a:bodyPr wrap="square">
                <a:spAutoFit/>
              </a:bodyPr>
              <a:lstStyle/>
              <a:p>
                <a:r>
                  <a:rPr lang="ja-JP" altLang="en-US" sz="1400" b="0" dirty="0">
                    <a:solidFill>
                      <a:schemeClr val="tx1"/>
                    </a:solidFill>
                    <a:latin typeface="+mj-ea"/>
                    <a:ea typeface="+mj-ea"/>
                    <a:cs typeface="Calibri" panose="020F0502020204030204" pitchFamily="34" charset="0"/>
                  </a:rPr>
                  <a:t>端末固有データ</a:t>
                </a:r>
                <a:r>
                  <a:rPr lang="ja-JP" altLang="en-US" sz="1400" b="0" dirty="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US" altLang="ja-JP" sz="1400" b="0" i="1" smtClean="0">
                        <a:solidFill>
                          <a:schemeClr val="tx1"/>
                        </a:solidFill>
                        <a:latin typeface="Cambria Math" panose="02040503050406030204" pitchFamily="18" charset="0"/>
                        <a:ea typeface="Cambria Math" panose="02040503050406030204" pitchFamily="18" charset="0"/>
                      </a:rPr>
                      <m:t>(</m:t>
                    </m:r>
                    <m:r>
                      <a:rPr lang="en-US" altLang="ja-JP" sz="1400" b="0" i="1" smtClean="0">
                        <a:solidFill>
                          <a:schemeClr val="tx1"/>
                        </a:solidFill>
                        <a:latin typeface="Cambria Math" panose="02040503050406030204" pitchFamily="18" charset="0"/>
                        <a:ea typeface="Cambria Math" panose="02040503050406030204" pitchFamily="18" charset="0"/>
                      </a:rPr>
                      <m:t>𝑥</m:t>
                    </m:r>
                    <m:r>
                      <a:rPr lang="en-US" altLang="ja-JP" sz="1400" b="0" i="1" smtClean="0">
                        <a:solidFill>
                          <a:schemeClr val="tx1"/>
                        </a:solidFill>
                        <a:latin typeface="Cambria Math" panose="02040503050406030204" pitchFamily="18" charset="0"/>
                        <a:ea typeface="Cambria Math" panose="02040503050406030204" pitchFamily="18" charset="0"/>
                      </a:rPr>
                      <m:t>,</m:t>
                    </m:r>
                    <m:r>
                      <a:rPr lang="en-US" altLang="ja-JP" sz="1400" b="0" i="1" smtClean="0">
                        <a:solidFill>
                          <a:schemeClr val="tx1"/>
                        </a:solidFill>
                        <a:latin typeface="Cambria Math" panose="02040503050406030204" pitchFamily="18" charset="0"/>
                        <a:ea typeface="Cambria Math" panose="02040503050406030204" pitchFamily="18" charset="0"/>
                      </a:rPr>
                      <m:t>𝑦</m:t>
                    </m:r>
                    <m:r>
                      <a:rPr lang="en-US" altLang="ja-JP" sz="1400" b="0" i="1" smtClean="0">
                        <a:solidFill>
                          <a:schemeClr val="tx1"/>
                        </a:solidFill>
                        <a:latin typeface="Cambria Math" panose="02040503050406030204" pitchFamily="18" charset="0"/>
                        <a:ea typeface="Cambria Math" panose="02040503050406030204" pitchFamily="18" charset="0"/>
                      </a:rPr>
                      <m:t>)∈</m:t>
                    </m:r>
                    <m:sSub>
                      <m:sSubPr>
                        <m:ctrlPr>
                          <a:rPr lang="ja-JP" altLang="en-US" sz="1400" i="1">
                            <a:solidFill>
                              <a:schemeClr val="tx1"/>
                            </a:solidFill>
                            <a:latin typeface="Cambria Math" panose="02040503050406030204" pitchFamily="18" charset="0"/>
                          </a:rPr>
                        </m:ctrlPr>
                      </m:sSubPr>
                      <m:e>
                        <m:r>
                          <a:rPr lang="ja-JP" altLang="en-US" sz="1400" i="1">
                            <a:solidFill>
                              <a:schemeClr val="tx1"/>
                            </a:solidFill>
                            <a:latin typeface="Cambria Math" panose="02040503050406030204" pitchFamily="18" charset="0"/>
                          </a:rPr>
                          <m:t>𝒟</m:t>
                        </m:r>
                      </m:e>
                      <m:sub>
                        <m:r>
                          <a:rPr lang="en-US" altLang="ja-JP" sz="1400" b="0" i="1" smtClean="0">
                            <a:solidFill>
                              <a:schemeClr val="tx1"/>
                            </a:solidFill>
                            <a:latin typeface="Cambria Math" panose="02040503050406030204" pitchFamily="18" charset="0"/>
                          </a:rPr>
                          <m:t>𝑘</m:t>
                        </m:r>
                      </m:sub>
                    </m:sSub>
                  </m:oMath>
                </a14:m>
                <a:endParaRPr lang="ja-JP" altLang="en-US" sz="2000" dirty="0"/>
              </a:p>
            </p:txBody>
          </p:sp>
        </mc:Choice>
        <mc:Fallback xmlns="">
          <p:sp>
            <p:nvSpPr>
              <p:cNvPr id="64" name="テキスト ボックス 63">
                <a:extLst>
                  <a:ext uri="{FF2B5EF4-FFF2-40B4-BE49-F238E27FC236}">
                    <a16:creationId xmlns:a16="http://schemas.microsoft.com/office/drawing/2014/main" id="{FD3C3270-E59F-6217-92BC-1ECF5150211B}"/>
                  </a:ext>
                </a:extLst>
              </p:cNvPr>
              <p:cNvSpPr txBox="1">
                <a:spLocks noRot="1" noChangeAspect="1" noMove="1" noResize="1" noEditPoints="1" noAdjustHandles="1" noChangeArrowheads="1" noChangeShapeType="1" noTextEdit="1"/>
              </p:cNvSpPr>
              <p:nvPr/>
            </p:nvSpPr>
            <p:spPr>
              <a:xfrm>
                <a:off x="5083391" y="4136328"/>
                <a:ext cx="2409496" cy="307777"/>
              </a:xfrm>
              <a:prstGeom prst="rect">
                <a:avLst/>
              </a:prstGeom>
              <a:blipFill>
                <a:blip r:embed="rId12"/>
                <a:stretch>
                  <a:fillRect l="-759" t="-8000" b="-16000"/>
                </a:stretch>
              </a:blipFill>
            </p:spPr>
            <p:txBody>
              <a:bodyPr/>
              <a:lstStyle/>
              <a:p>
                <a:r>
                  <a:rPr lang="ja-JP" altLang="en-US">
                    <a:noFill/>
                  </a:rPr>
                  <a:t> </a:t>
                </a:r>
              </a:p>
            </p:txBody>
          </p:sp>
        </mc:Fallback>
      </mc:AlternateContent>
      <p:sp>
        <p:nvSpPr>
          <p:cNvPr id="21" name="四角形: 角を丸くする 20">
            <a:extLst>
              <a:ext uri="{FF2B5EF4-FFF2-40B4-BE49-F238E27FC236}">
                <a16:creationId xmlns:a16="http://schemas.microsoft.com/office/drawing/2014/main" id="{3C7EF2E9-77F4-AC73-08C2-61EC3A458F28}"/>
              </a:ext>
            </a:extLst>
          </p:cNvPr>
          <p:cNvSpPr/>
          <p:nvPr/>
        </p:nvSpPr>
        <p:spPr>
          <a:xfrm>
            <a:off x="4971716" y="6436437"/>
            <a:ext cx="2431225" cy="330123"/>
          </a:xfrm>
          <a:prstGeom prst="roundRect">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dirty="0"/>
              <a:t>4.</a:t>
            </a:r>
            <a:r>
              <a:rPr lang="ja-JP" altLang="en-US" dirty="0"/>
              <a:t>適応情報送信</a:t>
            </a:r>
            <a:endParaRPr kumimoji="1" lang="ja-JP" altLang="en-US" dirty="0"/>
          </a:p>
        </p:txBody>
      </p:sp>
      <mc:AlternateContent xmlns:mc="http://schemas.openxmlformats.org/markup-compatibility/2006" xmlns:a14="http://schemas.microsoft.com/office/drawing/2010/main">
        <mc:Choice Requires="a14">
          <p:sp>
            <p:nvSpPr>
              <p:cNvPr id="33" name="四角形: 角を丸くする 32">
                <a:extLst>
                  <a:ext uri="{FF2B5EF4-FFF2-40B4-BE49-F238E27FC236}">
                    <a16:creationId xmlns:a16="http://schemas.microsoft.com/office/drawing/2014/main" id="{DBDDBD2A-B2E5-2635-45FC-E28D3103A89F}"/>
                  </a:ext>
                </a:extLst>
              </p:cNvPr>
              <p:cNvSpPr/>
              <p:nvPr/>
            </p:nvSpPr>
            <p:spPr>
              <a:xfrm>
                <a:off x="5984845" y="5869050"/>
                <a:ext cx="549564" cy="527935"/>
              </a:xfrm>
              <a:prstGeom prst="roundRect">
                <a:avLst>
                  <a:gd name="adj" fmla="val 11872"/>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100" dirty="0">
                    <a:solidFill>
                      <a:schemeClr val="tx1"/>
                    </a:solidFill>
                  </a:rPr>
                  <a:t>Logits</a:t>
                </a:r>
              </a:p>
              <a:p>
                <a:pPr algn="ctr"/>
                <a14:m>
                  <m:oMathPara xmlns:m="http://schemas.openxmlformats.org/officeDocument/2006/math">
                    <m:oMathParaPr>
                      <m:jc m:val="centerGroup"/>
                    </m:oMathParaPr>
                    <m:oMath xmlns:m="http://schemas.openxmlformats.org/officeDocument/2006/math">
                      <m:sSub>
                        <m:sSubPr>
                          <m:ctrlPr>
                            <a:rPr lang="en-US" altLang="ja-JP" sz="1100" i="1">
                              <a:solidFill>
                                <a:schemeClr val="tx1"/>
                              </a:solidFill>
                              <a:latin typeface="Cambria Math" panose="02040503050406030204" pitchFamily="18" charset="0"/>
                            </a:rPr>
                          </m:ctrlPr>
                        </m:sSubPr>
                        <m:e>
                          <m:r>
                            <a:rPr lang="en-US" altLang="ja-JP" sz="1100" i="1">
                              <a:solidFill>
                                <a:schemeClr val="tx1"/>
                              </a:solidFill>
                              <a:latin typeface="Cambria Math" panose="02040503050406030204" pitchFamily="18" charset="0"/>
                            </a:rPr>
                            <m:t>𝑧</m:t>
                          </m:r>
                        </m:e>
                        <m:sub>
                          <m:r>
                            <a:rPr lang="en-US" altLang="ja-JP" sz="1100" i="1">
                              <a:solidFill>
                                <a:schemeClr val="tx1"/>
                              </a:solidFill>
                              <a:latin typeface="Cambria Math" panose="02040503050406030204" pitchFamily="18" charset="0"/>
                            </a:rPr>
                            <m:t>𝑘</m:t>
                          </m:r>
                        </m:sub>
                      </m:sSub>
                      <m:d>
                        <m:dPr>
                          <m:ctrlPr>
                            <a:rPr lang="en-US" altLang="ja-JP" sz="1100" i="1">
                              <a:solidFill>
                                <a:schemeClr val="tx1"/>
                              </a:solidFill>
                              <a:latin typeface="Cambria Math" panose="02040503050406030204" pitchFamily="18" charset="0"/>
                            </a:rPr>
                          </m:ctrlPr>
                        </m:dPr>
                        <m:e>
                          <m:r>
                            <a:rPr lang="en-US" altLang="ja-JP" sz="1100" i="1">
                              <a:solidFill>
                                <a:schemeClr val="tx1"/>
                              </a:solidFill>
                              <a:latin typeface="Cambria Math" panose="02040503050406030204" pitchFamily="18" charset="0"/>
                            </a:rPr>
                            <m:t>𝑥</m:t>
                          </m:r>
                        </m:e>
                      </m:d>
                    </m:oMath>
                  </m:oMathPara>
                </a14:m>
                <a:endParaRPr kumimoji="1" lang="en-US" altLang="ja-JP" sz="1100" dirty="0">
                  <a:solidFill>
                    <a:schemeClr val="tx1"/>
                  </a:solidFill>
                </a:endParaRPr>
              </a:p>
            </p:txBody>
          </p:sp>
        </mc:Choice>
        <mc:Fallback xmlns="">
          <p:sp>
            <p:nvSpPr>
              <p:cNvPr id="33" name="四角形: 角を丸くする 32">
                <a:extLst>
                  <a:ext uri="{FF2B5EF4-FFF2-40B4-BE49-F238E27FC236}">
                    <a16:creationId xmlns:a16="http://schemas.microsoft.com/office/drawing/2014/main" id="{DBDDBD2A-B2E5-2635-45FC-E28D3103A89F}"/>
                  </a:ext>
                </a:extLst>
              </p:cNvPr>
              <p:cNvSpPr>
                <a:spLocks noRot="1" noChangeAspect="1" noMove="1" noResize="1" noEditPoints="1" noAdjustHandles="1" noChangeArrowheads="1" noChangeShapeType="1" noTextEdit="1"/>
              </p:cNvSpPr>
              <p:nvPr/>
            </p:nvSpPr>
            <p:spPr>
              <a:xfrm>
                <a:off x="5984845" y="5869050"/>
                <a:ext cx="549564" cy="527935"/>
              </a:xfrm>
              <a:prstGeom prst="roundRect">
                <a:avLst>
                  <a:gd name="adj" fmla="val 11872"/>
                </a:avLst>
              </a:prstGeom>
              <a:blipFill>
                <a:blip r:embed="rId13"/>
                <a:stretch>
                  <a:fillRect/>
                </a:stretch>
              </a:blipFill>
              <a:ln>
                <a:solidFill>
                  <a:schemeClr val="accent2">
                    <a:lumMod val="7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四角形: 角を丸くする 34">
                <a:extLst>
                  <a:ext uri="{FF2B5EF4-FFF2-40B4-BE49-F238E27FC236}">
                    <a16:creationId xmlns:a16="http://schemas.microsoft.com/office/drawing/2014/main" id="{238FC8D3-1F8F-35C0-9AA3-D7C73C95DA0E}"/>
                  </a:ext>
                </a:extLst>
              </p:cNvPr>
              <p:cNvSpPr/>
              <p:nvPr/>
            </p:nvSpPr>
            <p:spPr>
              <a:xfrm>
                <a:off x="4971716" y="5851627"/>
                <a:ext cx="967232" cy="548260"/>
              </a:xfrm>
              <a:prstGeom prst="roundRect">
                <a:avLst>
                  <a:gd name="adj" fmla="val 11872"/>
                </a:avLst>
              </a:prstGeom>
              <a:solidFill>
                <a:schemeClr val="accent4">
                  <a:lumMod val="20000"/>
                  <a:lumOff val="8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100" dirty="0">
                    <a:solidFill>
                      <a:schemeClr val="tx1"/>
                    </a:solidFill>
                  </a:rPr>
                  <a:t>勾配情報</a:t>
                </a:r>
                <a:endParaRPr kumimoji="1" lang="en-US" altLang="ja-JP" sz="1100" dirty="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lang="ja-JP" altLang="en-US" sz="1100" i="1">
                              <a:solidFill>
                                <a:schemeClr val="tx1"/>
                              </a:solidFill>
                              <a:latin typeface="Cambria Math" panose="02040503050406030204" pitchFamily="18" charset="0"/>
                            </a:rPr>
                          </m:ctrlPr>
                        </m:sSubPr>
                        <m:e>
                          <m:r>
                            <a:rPr lang="ja-JP" altLang="en-US" sz="1100" i="1">
                              <a:solidFill>
                                <a:schemeClr val="tx1"/>
                              </a:solidFill>
                              <a:latin typeface="Cambria Math" panose="02040503050406030204" pitchFamily="18" charset="0"/>
                            </a:rPr>
                            <m:t>𝑔</m:t>
                          </m:r>
                        </m:e>
                        <m:sub>
                          <m:r>
                            <a:rPr lang="ja-JP" altLang="en-US" sz="1100" i="1">
                              <a:solidFill>
                                <a:schemeClr val="tx1"/>
                              </a:solidFill>
                              <a:latin typeface="Cambria Math" panose="02040503050406030204" pitchFamily="18" charset="0"/>
                            </a:rPr>
                            <m:t>𝑘</m:t>
                          </m:r>
                        </m:sub>
                      </m:sSub>
                      <m:r>
                        <a:rPr lang="en-US" altLang="ja-JP" sz="1100" i="1">
                          <a:solidFill>
                            <a:schemeClr val="tx1"/>
                          </a:solidFill>
                          <a:latin typeface="Cambria Math" panose="02040503050406030204" pitchFamily="18" charset="0"/>
                        </a:rPr>
                        <m:t>=</m:t>
                      </m:r>
                      <m:sSub>
                        <m:sSubPr>
                          <m:ctrlPr>
                            <a:rPr lang="ja-JP" altLang="en-US" sz="1100" i="1">
                              <a:solidFill>
                                <a:schemeClr val="tx1"/>
                              </a:solidFill>
                              <a:latin typeface="Cambria Math" panose="02040503050406030204" pitchFamily="18" charset="0"/>
                            </a:rPr>
                          </m:ctrlPr>
                        </m:sSubPr>
                        <m:e>
                          <m:r>
                            <m:rPr>
                              <m:sty m:val="p"/>
                            </m:rPr>
                            <a:rPr lang="ja-JP" altLang="en-US" sz="1100">
                              <a:solidFill>
                                <a:schemeClr val="tx1"/>
                              </a:solidFill>
                              <a:latin typeface="Cambria Math" panose="02040503050406030204" pitchFamily="18" charset="0"/>
                            </a:rPr>
                            <m:t>∇</m:t>
                          </m:r>
                        </m:e>
                        <m:sub>
                          <m:sSub>
                            <m:sSubPr>
                              <m:ctrlPr>
                                <a:rPr lang="ja-JP" altLang="en-US" sz="1100" i="1">
                                  <a:solidFill>
                                    <a:schemeClr val="tx1"/>
                                  </a:solidFill>
                                  <a:latin typeface="Cambria Math" panose="02040503050406030204" pitchFamily="18" charset="0"/>
                                </a:rPr>
                              </m:ctrlPr>
                            </m:sSubPr>
                            <m:e>
                              <m:r>
                                <a:rPr lang="ja-JP" altLang="en-US" sz="1100" i="1">
                                  <a:solidFill>
                                    <a:schemeClr val="tx1"/>
                                  </a:solidFill>
                                  <a:latin typeface="Cambria Math" panose="02040503050406030204" pitchFamily="18" charset="0"/>
                                </a:rPr>
                                <m:t>𝜃</m:t>
                              </m:r>
                            </m:e>
                            <m:sub>
                              <m:r>
                                <a:rPr lang="ja-JP" altLang="en-US" sz="1100" i="1">
                                  <a:solidFill>
                                    <a:schemeClr val="tx1"/>
                                  </a:solidFill>
                                  <a:latin typeface="Cambria Math" panose="02040503050406030204" pitchFamily="18" charset="0"/>
                                </a:rPr>
                                <m:t>𝑘</m:t>
                              </m:r>
                            </m:sub>
                          </m:sSub>
                        </m:sub>
                      </m:sSub>
                      <m:sSubSup>
                        <m:sSubSupPr>
                          <m:ctrlPr>
                            <a:rPr lang="ja-JP" altLang="en-US" sz="1100" i="1">
                              <a:solidFill>
                                <a:schemeClr val="tx1"/>
                              </a:solidFill>
                              <a:latin typeface="Cambria Math" panose="02040503050406030204" pitchFamily="18" charset="0"/>
                            </a:rPr>
                          </m:ctrlPr>
                        </m:sSubSupPr>
                        <m:e>
                          <m:r>
                            <a:rPr lang="ja-JP" altLang="en-US" sz="1100" i="1">
                              <a:solidFill>
                                <a:schemeClr val="tx1"/>
                              </a:solidFill>
                              <a:latin typeface="Cambria Math" panose="02040503050406030204" pitchFamily="18" charset="0"/>
                            </a:rPr>
                            <m:t>𝐿</m:t>
                          </m:r>
                        </m:e>
                        <m:sub>
                          <m:r>
                            <a:rPr lang="en-US" altLang="ja-JP" sz="1100" b="0" i="1" smtClean="0">
                              <a:solidFill>
                                <a:schemeClr val="tx1"/>
                              </a:solidFill>
                              <a:latin typeface="Cambria Math" panose="02040503050406030204" pitchFamily="18" charset="0"/>
                            </a:rPr>
                            <m:t>𝑡𝑎𝑠𝑘</m:t>
                          </m:r>
                        </m:sub>
                        <m:sup>
                          <m:d>
                            <m:dPr>
                              <m:ctrlPr>
                                <a:rPr lang="ja-JP" altLang="en-US" sz="1100" i="1">
                                  <a:solidFill>
                                    <a:schemeClr val="tx1"/>
                                  </a:solidFill>
                                  <a:latin typeface="Cambria Math" panose="02040503050406030204" pitchFamily="18" charset="0"/>
                                </a:rPr>
                              </m:ctrlPr>
                            </m:dPr>
                            <m:e>
                              <m:r>
                                <a:rPr lang="ja-JP" altLang="en-US" sz="1100" i="1">
                                  <a:solidFill>
                                    <a:schemeClr val="tx1"/>
                                  </a:solidFill>
                                  <a:latin typeface="Cambria Math" panose="02040503050406030204" pitchFamily="18" charset="0"/>
                                </a:rPr>
                                <m:t>𝑘</m:t>
                              </m:r>
                            </m:e>
                          </m:d>
                        </m:sup>
                      </m:sSubSup>
                    </m:oMath>
                  </m:oMathPara>
                </a14:m>
                <a:endParaRPr lang="ja-JP" altLang="ja-JP" sz="1100" dirty="0">
                  <a:solidFill>
                    <a:schemeClr val="tx1"/>
                  </a:solidFill>
                </a:endParaRPr>
              </a:p>
            </p:txBody>
          </p:sp>
        </mc:Choice>
        <mc:Fallback xmlns="">
          <p:sp>
            <p:nvSpPr>
              <p:cNvPr id="35" name="四角形: 角を丸くする 34">
                <a:extLst>
                  <a:ext uri="{FF2B5EF4-FFF2-40B4-BE49-F238E27FC236}">
                    <a16:creationId xmlns:a16="http://schemas.microsoft.com/office/drawing/2014/main" id="{238FC8D3-1F8F-35C0-9AA3-D7C73C95DA0E}"/>
                  </a:ext>
                </a:extLst>
              </p:cNvPr>
              <p:cNvSpPr>
                <a:spLocks noRot="1" noChangeAspect="1" noMove="1" noResize="1" noEditPoints="1" noAdjustHandles="1" noChangeArrowheads="1" noChangeShapeType="1" noTextEdit="1"/>
              </p:cNvSpPr>
              <p:nvPr/>
            </p:nvSpPr>
            <p:spPr>
              <a:xfrm>
                <a:off x="4971716" y="5851627"/>
                <a:ext cx="967232" cy="548260"/>
              </a:xfrm>
              <a:prstGeom prst="roundRect">
                <a:avLst>
                  <a:gd name="adj" fmla="val 11872"/>
                </a:avLst>
              </a:prstGeom>
              <a:blipFill>
                <a:blip r:embed="rId14"/>
                <a:stretch>
                  <a:fillRect/>
                </a:stretch>
              </a:blipFill>
              <a:ln>
                <a:solidFill>
                  <a:schemeClr val="accent4">
                    <a:lumMod val="7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四角形: 角を丸くする 36">
                <a:extLst>
                  <a:ext uri="{FF2B5EF4-FFF2-40B4-BE49-F238E27FC236}">
                    <a16:creationId xmlns:a16="http://schemas.microsoft.com/office/drawing/2014/main" id="{B1950C64-EA76-F501-0B05-D3F2532FAE93}"/>
                  </a:ext>
                </a:extLst>
              </p:cNvPr>
              <p:cNvSpPr/>
              <p:nvPr/>
            </p:nvSpPr>
            <p:spPr>
              <a:xfrm>
                <a:off x="6580305" y="5869050"/>
                <a:ext cx="1596329" cy="516373"/>
              </a:xfrm>
              <a:prstGeom prst="roundRect">
                <a:avLst>
                  <a:gd name="adj" fmla="val 11872"/>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000" b="1" i="0" dirty="0">
                    <a:solidFill>
                      <a:schemeClr val="tx1"/>
                    </a:solidFill>
                    <a:latin typeface="Cambria Math" panose="02040503050406030204" pitchFamily="18" charset="0"/>
                  </a:rPr>
                  <a:t>勾配を</a:t>
                </a:r>
                <a:r>
                  <a:rPr lang="en-US" altLang="ja-JP" sz="1000" b="1" i="0" dirty="0">
                    <a:solidFill>
                      <a:schemeClr val="tx1"/>
                    </a:solidFill>
                    <a:latin typeface="Cambria Math" panose="02040503050406030204" pitchFamily="18" charset="0"/>
                  </a:rPr>
                  <a:t>logits</a:t>
                </a:r>
                <a:r>
                  <a:rPr lang="ja-JP" altLang="en-US" sz="1000" b="1" i="0" dirty="0">
                    <a:solidFill>
                      <a:schemeClr val="tx1"/>
                    </a:solidFill>
                    <a:latin typeface="Cambria Math" panose="02040503050406030204" pitchFamily="18" charset="0"/>
                  </a:rPr>
                  <a:t>空間へ投影</a:t>
                </a:r>
                <a:endParaRPr lang="en-US" altLang="ja-JP" sz="1000" b="1" i="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ja-JP" altLang="en-US" sz="1000" i="1">
                              <a:solidFill>
                                <a:schemeClr val="tx1"/>
                              </a:solidFill>
                              <a:latin typeface="Cambria Math" panose="02040503050406030204" pitchFamily="18" charset="0"/>
                            </a:rPr>
                          </m:ctrlPr>
                        </m:sSubPr>
                        <m:e>
                          <m:r>
                            <a:rPr lang="ja-JP" altLang="en-US" sz="1000" i="1">
                              <a:solidFill>
                                <a:schemeClr val="tx1"/>
                              </a:solidFill>
                              <a:latin typeface="Cambria Math" panose="02040503050406030204" pitchFamily="18" charset="0"/>
                            </a:rPr>
                            <m:t>𝑢</m:t>
                          </m:r>
                        </m:e>
                        <m:sub>
                          <m:r>
                            <a:rPr lang="ja-JP" altLang="en-US" sz="1000" i="1">
                              <a:solidFill>
                                <a:schemeClr val="tx1"/>
                              </a:solidFill>
                              <a:latin typeface="Cambria Math" panose="02040503050406030204" pitchFamily="18" charset="0"/>
                            </a:rPr>
                            <m:t>𝑘</m:t>
                          </m:r>
                        </m:sub>
                      </m:sSub>
                      <m:r>
                        <a:rPr lang="en-US" altLang="ja-JP" sz="1000" i="1">
                          <a:solidFill>
                            <a:schemeClr val="tx1"/>
                          </a:solidFill>
                          <a:latin typeface="Cambria Math" panose="02040503050406030204" pitchFamily="18" charset="0"/>
                        </a:rPr>
                        <m:t>(</m:t>
                      </m:r>
                      <m:r>
                        <a:rPr lang="ja-JP" altLang="en-US" sz="1000" i="1">
                          <a:solidFill>
                            <a:schemeClr val="tx1"/>
                          </a:solidFill>
                          <a:latin typeface="Cambria Math" panose="02040503050406030204" pitchFamily="18" charset="0"/>
                        </a:rPr>
                        <m:t>𝑥</m:t>
                      </m:r>
                      <m:r>
                        <a:rPr lang="en-US" altLang="ja-JP" sz="1000" i="1">
                          <a:solidFill>
                            <a:schemeClr val="tx1"/>
                          </a:solidFill>
                          <a:latin typeface="Cambria Math" panose="02040503050406030204" pitchFamily="18" charset="0"/>
                        </a:rPr>
                        <m:t>)=</m:t>
                      </m:r>
                      <m:sSub>
                        <m:sSubPr>
                          <m:ctrlPr>
                            <a:rPr lang="ja-JP" altLang="en-US" sz="1000" i="1">
                              <a:solidFill>
                                <a:schemeClr val="tx1"/>
                              </a:solidFill>
                              <a:latin typeface="Cambria Math" panose="02040503050406030204" pitchFamily="18" charset="0"/>
                            </a:rPr>
                          </m:ctrlPr>
                        </m:sSubPr>
                        <m:e>
                          <m:r>
                            <a:rPr lang="ja-JP" altLang="en-US" sz="1000" i="1">
                              <a:solidFill>
                                <a:schemeClr val="tx1"/>
                              </a:solidFill>
                              <a:latin typeface="Cambria Math" panose="02040503050406030204" pitchFamily="18" charset="0"/>
                            </a:rPr>
                            <m:t>𝐽</m:t>
                          </m:r>
                        </m:e>
                        <m:sub>
                          <m:sSub>
                            <m:sSubPr>
                              <m:ctrlPr>
                                <a:rPr lang="ja-JP" altLang="en-US" sz="1000" i="1">
                                  <a:solidFill>
                                    <a:schemeClr val="tx1"/>
                                  </a:solidFill>
                                  <a:latin typeface="Cambria Math" panose="02040503050406030204" pitchFamily="18" charset="0"/>
                                </a:rPr>
                              </m:ctrlPr>
                            </m:sSubPr>
                            <m:e>
                              <m:r>
                                <a:rPr lang="ja-JP" altLang="en-US" sz="1000" i="1">
                                  <a:solidFill>
                                    <a:schemeClr val="tx1"/>
                                  </a:solidFill>
                                  <a:latin typeface="Cambria Math" panose="02040503050406030204" pitchFamily="18" charset="0"/>
                                </a:rPr>
                                <m:t>𝜃</m:t>
                              </m:r>
                            </m:e>
                            <m:sub>
                              <m:r>
                                <a:rPr lang="ja-JP" altLang="en-US" sz="1000" i="1">
                                  <a:solidFill>
                                    <a:schemeClr val="tx1"/>
                                  </a:solidFill>
                                  <a:latin typeface="Cambria Math" panose="02040503050406030204" pitchFamily="18" charset="0"/>
                                </a:rPr>
                                <m:t>𝑘</m:t>
                              </m:r>
                            </m:sub>
                          </m:sSub>
                        </m:sub>
                      </m:sSub>
                      <m:sSub>
                        <m:sSubPr>
                          <m:ctrlPr>
                            <a:rPr lang="ja-JP" altLang="en-US" sz="1000" i="1">
                              <a:solidFill>
                                <a:schemeClr val="tx1"/>
                              </a:solidFill>
                              <a:latin typeface="Cambria Math" panose="02040503050406030204" pitchFamily="18" charset="0"/>
                            </a:rPr>
                          </m:ctrlPr>
                        </m:sSubPr>
                        <m:e>
                          <m:r>
                            <a:rPr lang="ja-JP" altLang="en-US" sz="1000" i="1">
                              <a:solidFill>
                                <a:schemeClr val="tx1"/>
                              </a:solidFill>
                              <a:latin typeface="Cambria Math" panose="02040503050406030204" pitchFamily="18" charset="0"/>
                            </a:rPr>
                            <m:t>𝑧</m:t>
                          </m:r>
                        </m:e>
                        <m:sub>
                          <m:r>
                            <a:rPr lang="ja-JP" altLang="en-US" sz="1000" i="1">
                              <a:solidFill>
                                <a:schemeClr val="tx1"/>
                              </a:solidFill>
                              <a:latin typeface="Cambria Math" panose="02040503050406030204" pitchFamily="18" charset="0"/>
                            </a:rPr>
                            <m:t>𝑘</m:t>
                          </m:r>
                        </m:sub>
                      </m:sSub>
                      <m:r>
                        <a:rPr lang="en-US" altLang="ja-JP" sz="1000" i="1">
                          <a:solidFill>
                            <a:schemeClr val="tx1"/>
                          </a:solidFill>
                          <a:latin typeface="Cambria Math" panose="02040503050406030204" pitchFamily="18" charset="0"/>
                        </a:rPr>
                        <m:t>(</m:t>
                      </m:r>
                      <m:r>
                        <a:rPr lang="ja-JP" altLang="en-US" sz="1000" i="1">
                          <a:solidFill>
                            <a:schemeClr val="tx1"/>
                          </a:solidFill>
                          <a:latin typeface="Cambria Math" panose="02040503050406030204" pitchFamily="18" charset="0"/>
                        </a:rPr>
                        <m:t>𝑥</m:t>
                      </m:r>
                      <m:r>
                        <a:rPr lang="en-US" altLang="ja-JP" sz="1000" i="1">
                          <a:solidFill>
                            <a:schemeClr val="tx1"/>
                          </a:solidFill>
                          <a:latin typeface="Cambria Math" panose="02040503050406030204" pitchFamily="18" charset="0"/>
                        </a:rPr>
                        <m:t>)</m:t>
                      </m:r>
                      <m:d>
                        <m:dPr>
                          <m:ctrlPr>
                            <a:rPr lang="ja-JP" altLang="en-US" sz="1000" i="1">
                              <a:solidFill>
                                <a:schemeClr val="tx1"/>
                              </a:solidFill>
                              <a:latin typeface="Cambria Math" panose="02040503050406030204" pitchFamily="18" charset="0"/>
                            </a:rPr>
                          </m:ctrlPr>
                        </m:dPr>
                        <m:e>
                          <m:r>
                            <a:rPr lang="ja-JP" altLang="en-US" sz="1000" i="1">
                              <a:solidFill>
                                <a:schemeClr val="tx1"/>
                              </a:solidFill>
                              <a:latin typeface="Cambria Math" panose="02040503050406030204" pitchFamily="18" charset="0"/>
                            </a:rPr>
                            <m:t>−</m:t>
                          </m:r>
                          <m:f>
                            <m:fPr>
                              <m:ctrlPr>
                                <a:rPr lang="ja-JP" altLang="en-US" sz="1000" i="1">
                                  <a:solidFill>
                                    <a:schemeClr val="tx1"/>
                                  </a:solidFill>
                                  <a:latin typeface="Cambria Math" panose="02040503050406030204" pitchFamily="18" charset="0"/>
                                </a:rPr>
                              </m:ctrlPr>
                            </m:fPr>
                            <m:num>
                              <m:sSub>
                                <m:sSubPr>
                                  <m:ctrlPr>
                                    <a:rPr lang="ja-JP" altLang="en-US" sz="1000" i="1">
                                      <a:solidFill>
                                        <a:schemeClr val="tx1"/>
                                      </a:solidFill>
                                      <a:latin typeface="Cambria Math" panose="02040503050406030204" pitchFamily="18" charset="0"/>
                                    </a:rPr>
                                  </m:ctrlPr>
                                </m:sSubPr>
                                <m:e>
                                  <m:r>
                                    <a:rPr lang="ja-JP" altLang="en-US" sz="1000" i="1">
                                      <a:solidFill>
                                        <a:schemeClr val="tx1"/>
                                      </a:solidFill>
                                      <a:latin typeface="Cambria Math" panose="02040503050406030204" pitchFamily="18" charset="0"/>
                                    </a:rPr>
                                    <m:t>𝑔</m:t>
                                  </m:r>
                                </m:e>
                                <m:sub>
                                  <m:r>
                                    <a:rPr lang="ja-JP" altLang="en-US" sz="1000" i="1">
                                      <a:solidFill>
                                        <a:schemeClr val="tx1"/>
                                      </a:solidFill>
                                      <a:latin typeface="Cambria Math" panose="02040503050406030204" pitchFamily="18" charset="0"/>
                                    </a:rPr>
                                    <m:t>𝑘</m:t>
                                  </m:r>
                                </m:sub>
                              </m:sSub>
                            </m:num>
                            <m:den>
                              <m:d>
                                <m:dPr>
                                  <m:begChr m:val="‖"/>
                                  <m:endChr m:val="‖"/>
                                  <m:ctrlPr>
                                    <a:rPr lang="ja-JP" altLang="en-US" sz="1000" i="1">
                                      <a:solidFill>
                                        <a:schemeClr val="tx1"/>
                                      </a:solidFill>
                                      <a:latin typeface="Cambria Math" panose="02040503050406030204" pitchFamily="18" charset="0"/>
                                    </a:rPr>
                                  </m:ctrlPr>
                                </m:dPr>
                                <m:e>
                                  <m:sSub>
                                    <m:sSubPr>
                                      <m:ctrlPr>
                                        <a:rPr lang="ja-JP" altLang="en-US" sz="1000" i="1">
                                          <a:solidFill>
                                            <a:schemeClr val="tx1"/>
                                          </a:solidFill>
                                          <a:latin typeface="Cambria Math" panose="02040503050406030204" pitchFamily="18" charset="0"/>
                                        </a:rPr>
                                      </m:ctrlPr>
                                    </m:sSubPr>
                                    <m:e>
                                      <m:r>
                                        <a:rPr lang="ja-JP" altLang="en-US" sz="1000" i="1">
                                          <a:solidFill>
                                            <a:schemeClr val="tx1"/>
                                          </a:solidFill>
                                          <a:latin typeface="Cambria Math" panose="02040503050406030204" pitchFamily="18" charset="0"/>
                                        </a:rPr>
                                        <m:t>𝑔</m:t>
                                      </m:r>
                                    </m:e>
                                    <m:sub>
                                      <m:r>
                                        <a:rPr lang="ja-JP" altLang="en-US" sz="1000" i="1">
                                          <a:solidFill>
                                            <a:schemeClr val="tx1"/>
                                          </a:solidFill>
                                          <a:latin typeface="Cambria Math" panose="02040503050406030204" pitchFamily="18" charset="0"/>
                                        </a:rPr>
                                        <m:t>𝑘</m:t>
                                      </m:r>
                                    </m:sub>
                                  </m:sSub>
                                </m:e>
                              </m:d>
                            </m:den>
                          </m:f>
                        </m:e>
                      </m:d>
                    </m:oMath>
                  </m:oMathPara>
                </a14:m>
                <a:endParaRPr lang="en-US" altLang="ja-JP" sz="1000" b="0" i="0" dirty="0">
                  <a:solidFill>
                    <a:schemeClr val="tx1"/>
                  </a:solidFill>
                  <a:latin typeface="Cambria Math" panose="02040503050406030204" pitchFamily="18" charset="0"/>
                </a:endParaRPr>
              </a:p>
            </p:txBody>
          </p:sp>
        </mc:Choice>
        <mc:Fallback xmlns="">
          <p:sp>
            <p:nvSpPr>
              <p:cNvPr id="37" name="四角形: 角を丸くする 36">
                <a:extLst>
                  <a:ext uri="{FF2B5EF4-FFF2-40B4-BE49-F238E27FC236}">
                    <a16:creationId xmlns:a16="http://schemas.microsoft.com/office/drawing/2014/main" id="{B1950C64-EA76-F501-0B05-D3F2532FAE93}"/>
                  </a:ext>
                </a:extLst>
              </p:cNvPr>
              <p:cNvSpPr>
                <a:spLocks noRot="1" noChangeAspect="1" noMove="1" noResize="1" noEditPoints="1" noAdjustHandles="1" noChangeArrowheads="1" noChangeShapeType="1" noTextEdit="1"/>
              </p:cNvSpPr>
              <p:nvPr/>
            </p:nvSpPr>
            <p:spPr>
              <a:xfrm>
                <a:off x="6580305" y="5869050"/>
                <a:ext cx="1596329" cy="516373"/>
              </a:xfrm>
              <a:prstGeom prst="roundRect">
                <a:avLst>
                  <a:gd name="adj" fmla="val 11872"/>
                </a:avLst>
              </a:prstGeom>
              <a:blipFill>
                <a:blip r:embed="rId15"/>
                <a:stretch>
                  <a:fillRect t="-5814" b="-3488"/>
                </a:stretch>
              </a:blipFill>
              <a:ln>
                <a:solidFill>
                  <a:schemeClr val="accent6">
                    <a:lumMod val="7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E4E181BD-B1B4-48DE-0A04-C8EBD3B700B6}"/>
                  </a:ext>
                </a:extLst>
              </p:cNvPr>
              <p:cNvSpPr txBox="1"/>
              <p:nvPr/>
            </p:nvSpPr>
            <p:spPr>
              <a:xfrm>
                <a:off x="4763363" y="4461920"/>
                <a:ext cx="2835395" cy="253916"/>
              </a:xfrm>
              <a:prstGeom prst="rect">
                <a:avLst/>
              </a:prstGeom>
              <a:noFill/>
            </p:spPr>
            <p:txBody>
              <a:bodyPr wrap="square">
                <a:spAutoFit/>
              </a:bodyPr>
              <a:lstStyle/>
              <a:p>
                <a:pPr indent="0" algn="l">
                  <a:buFont typeface="+mj-lt"/>
                  <a:buAutoNum type="arabicPeriod"/>
                </a:pPr>
                <a:r>
                  <a:rPr lang="ja-JP" altLang="ja-JP" sz="1050" b="0" i="0" dirty="0">
                    <a:solidFill>
                      <a:schemeClr val="tx1"/>
                    </a:solidFill>
                    <a:effectLst/>
                    <a:latin typeface="-apple-system"/>
                  </a:rPr>
                  <a:t>予測と正解ラベル </a:t>
                </a:r>
                <a14:m>
                  <m:oMath xmlns:m="http://schemas.openxmlformats.org/officeDocument/2006/math">
                    <m:r>
                      <a:rPr lang="ja-JP" altLang="en-US" sz="1050" i="1">
                        <a:solidFill>
                          <a:schemeClr val="tx1"/>
                        </a:solidFill>
                        <a:latin typeface="Cambria Math" panose="02040503050406030204" pitchFamily="18" charset="0"/>
                      </a:rPr>
                      <m:t>𝑦</m:t>
                    </m:r>
                  </m:oMath>
                </a14:m>
                <a:r>
                  <a:rPr lang="ja-JP" altLang="ja-JP" sz="1050" b="0" i="0" dirty="0">
                    <a:solidFill>
                      <a:schemeClr val="tx1"/>
                    </a:solidFill>
                    <a:effectLst/>
                    <a:latin typeface="-apple-system"/>
                  </a:rPr>
                  <a:t> の差を </a:t>
                </a:r>
                <a:r>
                  <a:rPr lang="ja-JP" altLang="ja-JP" sz="1050" b="1" i="0" dirty="0">
                    <a:solidFill>
                      <a:schemeClr val="tx1"/>
                    </a:solidFill>
                    <a:effectLst/>
                    <a:latin typeface="-apple-system"/>
                  </a:rPr>
                  <a:t>L_task</a:t>
                </a:r>
                <a:r>
                  <a:rPr lang="ja-JP" altLang="ja-JP" sz="1050" b="0" i="0" dirty="0">
                    <a:solidFill>
                      <a:schemeClr val="tx1"/>
                    </a:solidFill>
                    <a:effectLst/>
                    <a:latin typeface="-apple-system"/>
                  </a:rPr>
                  <a:t> で測る。</a:t>
                </a:r>
              </a:p>
            </p:txBody>
          </p:sp>
        </mc:Choice>
        <mc:Fallback xmlns="">
          <p:sp>
            <p:nvSpPr>
              <p:cNvPr id="66" name="テキスト ボックス 65">
                <a:extLst>
                  <a:ext uri="{FF2B5EF4-FFF2-40B4-BE49-F238E27FC236}">
                    <a16:creationId xmlns:a16="http://schemas.microsoft.com/office/drawing/2014/main" id="{E4E181BD-B1B4-48DE-0A04-C8EBD3B700B6}"/>
                  </a:ext>
                </a:extLst>
              </p:cNvPr>
              <p:cNvSpPr txBox="1">
                <a:spLocks noRot="1" noChangeAspect="1" noMove="1" noResize="1" noEditPoints="1" noAdjustHandles="1" noChangeArrowheads="1" noChangeShapeType="1" noTextEdit="1"/>
              </p:cNvSpPr>
              <p:nvPr/>
            </p:nvSpPr>
            <p:spPr>
              <a:xfrm>
                <a:off x="4763363" y="4461920"/>
                <a:ext cx="2835395" cy="253916"/>
              </a:xfrm>
              <a:prstGeom prst="rect">
                <a:avLst/>
              </a:prstGeom>
              <a:blipFill>
                <a:blip r:embed="rId16"/>
                <a:stretch>
                  <a:fillRect t="-2381" r="-4077" b="-1428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FE9175E6-828F-3A24-7CC1-633BC5054924}"/>
                  </a:ext>
                </a:extLst>
              </p:cNvPr>
              <p:cNvSpPr txBox="1"/>
              <p:nvPr/>
            </p:nvSpPr>
            <p:spPr>
              <a:xfrm>
                <a:off x="4840832" y="4629319"/>
                <a:ext cx="2712299" cy="5643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en-US" sz="1200" i="1">
                              <a:latin typeface="Cambria Math" panose="02040503050406030204" pitchFamily="18" charset="0"/>
                            </a:rPr>
                          </m:ctrlPr>
                        </m:sSubSupPr>
                        <m:e>
                          <m:r>
                            <a:rPr lang="en-US" altLang="ja-JP" sz="1200" i="1">
                              <a:latin typeface="Cambria Math" panose="02040503050406030204" pitchFamily="18" charset="0"/>
                            </a:rPr>
                            <m:t>ℒ</m:t>
                          </m:r>
                        </m:e>
                        <m:sub>
                          <m:r>
                            <a:rPr lang="ja-JP" altLang="en-US" sz="1200" i="1">
                              <a:latin typeface="Cambria Math" panose="02040503050406030204" pitchFamily="18" charset="0"/>
                            </a:rPr>
                            <m:t>𝑡𝑎𝑠𝑘</m:t>
                          </m:r>
                        </m:sub>
                        <m: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𝑘</m:t>
                              </m:r>
                            </m:e>
                          </m:d>
                        </m:sup>
                      </m:sSubSup>
                      <m:r>
                        <a:rPr lang="en-US" altLang="ja-JP" sz="1200" i="1">
                          <a:latin typeface="Cambria Math" panose="02040503050406030204" pitchFamily="18" charset="0"/>
                        </a:rPr>
                        <m:t>=</m:t>
                      </m:r>
                      <m:f>
                        <m:fPr>
                          <m:ctrlPr>
                            <a:rPr lang="ja-JP" altLang="en-US" sz="1200" i="1">
                              <a:latin typeface="Cambria Math" panose="02040503050406030204" pitchFamily="18" charset="0"/>
                            </a:rPr>
                          </m:ctrlPr>
                        </m:fPr>
                        <m:num>
                          <m:r>
                            <a:rPr lang="en-US" altLang="ja-JP" sz="1200" i="1">
                              <a:latin typeface="Cambria Math" panose="02040503050406030204" pitchFamily="18" charset="0"/>
                            </a:rPr>
                            <m:t>1</m:t>
                          </m:r>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𝒟</m:t>
                                  </m:r>
                                </m:e>
                                <m:sub>
                                  <m:r>
                                    <a:rPr lang="ja-JP" altLang="en-US" sz="1200" i="1">
                                      <a:latin typeface="Cambria Math" panose="02040503050406030204" pitchFamily="18" charset="0"/>
                                    </a:rPr>
                                    <m:t>𝑘</m:t>
                                  </m:r>
                                </m:sub>
                              </m:sSub>
                            </m:e>
                          </m:d>
                        </m:den>
                      </m:f>
                      <m:nary>
                        <m:naryPr>
                          <m:chr m:val="∑"/>
                          <m:limLoc m:val="undOvr"/>
                          <m:grow m:val="on"/>
                          <m:supHide m:val="on"/>
                          <m:ctrlPr>
                            <a:rPr lang="ja-JP" altLang="en-US" sz="1200" i="1">
                              <a:latin typeface="Cambria Math" panose="02040503050406030204" pitchFamily="18" charset="0"/>
                            </a:rPr>
                          </m:ctrlPr>
                        </m:naryPr>
                        <m:sub>
                          <m:r>
                            <a:rPr lang="en-US" altLang="ja-JP" sz="1200" i="1">
                              <a:latin typeface="Cambria Math" panose="02040503050406030204" pitchFamily="18" charset="0"/>
                            </a:rPr>
                            <m:t>(</m:t>
                          </m:r>
                          <m:r>
                            <a:rPr lang="ja-JP" altLang="en-US" sz="1200" i="1">
                              <a:latin typeface="Cambria Math" panose="02040503050406030204" pitchFamily="18" charset="0"/>
                            </a:rPr>
                            <m:t>𝑥</m:t>
                          </m:r>
                          <m:r>
                            <a:rPr lang="en-US" altLang="ja-JP" sz="1200" i="1">
                              <a:latin typeface="Cambria Math" panose="02040503050406030204" pitchFamily="18" charset="0"/>
                            </a:rPr>
                            <m:t>,</m:t>
                          </m:r>
                          <m:r>
                            <a:rPr lang="ja-JP" altLang="en-US" sz="1200" i="1">
                              <a:latin typeface="Cambria Math" panose="02040503050406030204" pitchFamily="18" charset="0"/>
                            </a:rPr>
                            <m:t>𝑦</m:t>
                          </m:r>
                          <m:r>
                            <a:rPr lang="en-US" altLang="ja-JP" sz="1200" i="1">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𝒟</m:t>
                              </m:r>
                            </m:e>
                            <m:sub>
                              <m:r>
                                <a:rPr lang="ja-JP" altLang="en-US" sz="1200" i="1">
                                  <a:latin typeface="Cambria Math" panose="02040503050406030204" pitchFamily="18" charset="0"/>
                                </a:rPr>
                                <m:t>𝑘</m:t>
                              </m:r>
                            </m:sub>
                          </m:sSub>
                        </m:sub>
                        <m:sup/>
                        <m:e>
                          <m:r>
                            <a:rPr lang="ja-JP" altLang="en-US" sz="1200" i="1">
                              <a:latin typeface="Cambria Math" panose="02040503050406030204" pitchFamily="18" charset="0"/>
                            </a:rPr>
                            <m:t> </m:t>
                          </m:r>
                        </m:e>
                      </m:nary>
                      <m:r>
                        <m:rPr>
                          <m:sty m:val="p"/>
                        </m:rPr>
                        <a:rPr lang="en-US" altLang="ja-JP" sz="1200">
                          <a:latin typeface="Cambria Math" panose="02040503050406030204" pitchFamily="18" charset="0"/>
                        </a:rPr>
                        <m:t>CE</m:t>
                      </m:r>
                      <m:d>
                        <m:dPr>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𝑓</m:t>
                              </m:r>
                            </m:e>
                            <m:sub>
                              <m:r>
                                <a:rPr lang="ja-JP" altLang="en-US" sz="1200" i="1">
                                  <a:latin typeface="Cambria Math" panose="02040503050406030204" pitchFamily="18" charset="0"/>
                                </a:rPr>
                                <m:t>𝑘</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r>
                                <a:rPr lang="en-US" altLang="ja-JP" sz="1200" i="1">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𝜃</m:t>
                                  </m:r>
                                </m:e>
                                <m:sub>
                                  <m:r>
                                    <a:rPr lang="ja-JP" altLang="en-US" sz="1200" i="1">
                                      <a:latin typeface="Cambria Math" panose="02040503050406030204" pitchFamily="18" charset="0"/>
                                    </a:rPr>
                                    <m:t>𝑘</m:t>
                                  </m:r>
                                </m:sub>
                              </m:sSub>
                            </m:e>
                          </m:d>
                          <m:r>
                            <a:rPr lang="en-US" altLang="ja-JP" sz="1200" i="1">
                              <a:latin typeface="Cambria Math" panose="02040503050406030204" pitchFamily="18" charset="0"/>
                            </a:rPr>
                            <m:t>,</m:t>
                          </m:r>
                          <m:r>
                            <a:rPr lang="ja-JP" altLang="en-US" sz="1200" i="1">
                              <a:latin typeface="Cambria Math" panose="02040503050406030204" pitchFamily="18" charset="0"/>
                            </a:rPr>
                            <m:t>𝑦</m:t>
                          </m:r>
                        </m:e>
                      </m:d>
                    </m:oMath>
                  </m:oMathPara>
                </a14:m>
                <a:endParaRPr lang="ja-JP" altLang="ja-JP" sz="1200" dirty="0"/>
              </a:p>
            </p:txBody>
          </p:sp>
        </mc:Choice>
        <mc:Fallback xmlns="">
          <p:sp>
            <p:nvSpPr>
              <p:cNvPr id="68" name="テキスト ボックス 67">
                <a:extLst>
                  <a:ext uri="{FF2B5EF4-FFF2-40B4-BE49-F238E27FC236}">
                    <a16:creationId xmlns:a16="http://schemas.microsoft.com/office/drawing/2014/main" id="{FE9175E6-828F-3A24-7CC1-633BC5054924}"/>
                  </a:ext>
                </a:extLst>
              </p:cNvPr>
              <p:cNvSpPr txBox="1">
                <a:spLocks noRot="1" noChangeAspect="1" noMove="1" noResize="1" noEditPoints="1" noAdjustHandles="1" noChangeArrowheads="1" noChangeShapeType="1" noTextEdit="1"/>
              </p:cNvSpPr>
              <p:nvPr/>
            </p:nvSpPr>
            <p:spPr>
              <a:xfrm>
                <a:off x="4840832" y="4629319"/>
                <a:ext cx="2712299" cy="564322"/>
              </a:xfrm>
              <a:prstGeom prst="rect">
                <a:avLst/>
              </a:prstGeom>
              <a:blipFill>
                <a:blip r:embed="rId17"/>
                <a:stretch>
                  <a:fillRect t="-110753" b="-151613"/>
                </a:stretch>
              </a:blipFill>
            </p:spPr>
            <p:txBody>
              <a:bodyPr/>
              <a:lstStyle/>
              <a:p>
                <a:r>
                  <a:rPr lang="ja-JP" altLang="en-US">
                    <a:noFill/>
                  </a:rPr>
                  <a:t> </a:t>
                </a:r>
              </a:p>
            </p:txBody>
          </p:sp>
        </mc:Fallback>
      </mc:AlternateContent>
      <p:sp>
        <p:nvSpPr>
          <p:cNvPr id="140" name="四角形: 角を丸くする 139">
            <a:extLst>
              <a:ext uri="{FF2B5EF4-FFF2-40B4-BE49-F238E27FC236}">
                <a16:creationId xmlns:a16="http://schemas.microsoft.com/office/drawing/2014/main" id="{F5E07BE3-EC0C-966D-3A01-5FE9B2F215AD}"/>
              </a:ext>
            </a:extLst>
          </p:cNvPr>
          <p:cNvSpPr/>
          <p:nvPr/>
        </p:nvSpPr>
        <p:spPr>
          <a:xfrm>
            <a:off x="7668398" y="2363453"/>
            <a:ext cx="4081272" cy="752584"/>
          </a:xfrm>
          <a:prstGeom prst="roundRect">
            <a:avLst>
              <a:gd name="adj" fmla="val 6892"/>
            </a:avLst>
          </a:prstGeom>
          <a:solidFill>
            <a:srgbClr val="F1F8F9"/>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p:pic>
        <p:nvPicPr>
          <p:cNvPr id="102" name="図 101">
            <a:extLst>
              <a:ext uri="{FF2B5EF4-FFF2-40B4-BE49-F238E27FC236}">
                <a16:creationId xmlns:a16="http://schemas.microsoft.com/office/drawing/2014/main" id="{4C036739-B639-6937-0CAE-AD47D7E91E6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93995" y="1458815"/>
            <a:ext cx="382343" cy="383216"/>
          </a:xfrm>
          <a:prstGeom prst="rect">
            <a:avLst/>
          </a:prstGeom>
        </p:spPr>
      </p:pic>
      <p:sp>
        <p:nvSpPr>
          <p:cNvPr id="120" name="テキスト ボックス 119">
            <a:extLst>
              <a:ext uri="{FF2B5EF4-FFF2-40B4-BE49-F238E27FC236}">
                <a16:creationId xmlns:a16="http://schemas.microsoft.com/office/drawing/2014/main" id="{A6F7F56B-30C5-B5FD-6C28-4D5ABBEEF54C}"/>
              </a:ext>
            </a:extLst>
          </p:cNvPr>
          <p:cNvSpPr txBox="1"/>
          <p:nvPr/>
        </p:nvSpPr>
        <p:spPr>
          <a:xfrm>
            <a:off x="8038508" y="1654857"/>
            <a:ext cx="1097280" cy="600164"/>
          </a:xfrm>
          <a:prstGeom prst="rect">
            <a:avLst/>
          </a:prstGeom>
          <a:noFill/>
        </p:spPr>
        <p:txBody>
          <a:bodyPr wrap="square" rtlCol="0">
            <a:spAutoFit/>
          </a:bodyPr>
          <a:lstStyle/>
          <a:p>
            <a:pPr algn="ctr"/>
            <a:r>
              <a:rPr kumimoji="1" lang="ja-JP" altLang="en-US" sz="1100" dirty="0"/>
              <a:t>更新済み</a:t>
            </a:r>
            <a:endParaRPr kumimoji="1" lang="en-US" altLang="ja-JP" sz="1100" dirty="0"/>
          </a:p>
          <a:p>
            <a:pPr algn="ctr"/>
            <a:r>
              <a:rPr lang="ja-JP" altLang="en-US" sz="1100" dirty="0"/>
              <a:t>基盤モデル</a:t>
            </a:r>
            <a:endParaRPr lang="en-US" altLang="ja-JP" sz="1100" dirty="0"/>
          </a:p>
          <a:p>
            <a:pPr algn="ctr"/>
            <a:r>
              <a:rPr lang="ja-JP" altLang="en-US" sz="1100" dirty="0"/>
              <a:t>＋基盤</a:t>
            </a:r>
            <a:r>
              <a:rPr lang="en-US" altLang="ja-JP" sz="1100" dirty="0" err="1"/>
              <a:t>LoRA</a:t>
            </a:r>
            <a:endParaRPr kumimoji="1" lang="ja-JP" altLang="en-US" sz="1600" dirty="0"/>
          </a:p>
        </p:txBody>
      </p:sp>
      <p:sp>
        <p:nvSpPr>
          <p:cNvPr id="122" name="矢印: 右 121">
            <a:extLst>
              <a:ext uri="{FF2B5EF4-FFF2-40B4-BE49-F238E27FC236}">
                <a16:creationId xmlns:a16="http://schemas.microsoft.com/office/drawing/2014/main" id="{6828B193-DFAA-263D-D89A-4C617BBF9700}"/>
              </a:ext>
            </a:extLst>
          </p:cNvPr>
          <p:cNvSpPr/>
          <p:nvPr/>
        </p:nvSpPr>
        <p:spPr>
          <a:xfrm>
            <a:off x="9013868" y="1299984"/>
            <a:ext cx="1060174" cy="9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4" name="テキスト ボックス 123">
            <a:extLst>
              <a:ext uri="{FF2B5EF4-FFF2-40B4-BE49-F238E27FC236}">
                <a16:creationId xmlns:a16="http://schemas.microsoft.com/office/drawing/2014/main" id="{C743A803-2CDE-AB46-5573-A0F1548039A6}"/>
              </a:ext>
            </a:extLst>
          </p:cNvPr>
          <p:cNvSpPr txBox="1"/>
          <p:nvPr/>
        </p:nvSpPr>
        <p:spPr>
          <a:xfrm>
            <a:off x="9013868" y="1056775"/>
            <a:ext cx="1097280" cy="261610"/>
          </a:xfrm>
          <a:prstGeom prst="rect">
            <a:avLst/>
          </a:prstGeom>
          <a:noFill/>
        </p:spPr>
        <p:txBody>
          <a:bodyPr wrap="square" rtlCol="0">
            <a:spAutoFit/>
          </a:bodyPr>
          <a:lstStyle/>
          <a:p>
            <a:pPr algn="ctr"/>
            <a:r>
              <a:rPr kumimoji="1" lang="ja-JP" altLang="en-US" sz="1100" dirty="0"/>
              <a:t>前向き推論</a:t>
            </a:r>
            <a:endParaRPr kumimoji="1" lang="ja-JP" altLang="en-US" sz="1600" dirty="0"/>
          </a:p>
        </p:txBody>
      </p:sp>
      <p:pic>
        <p:nvPicPr>
          <p:cNvPr id="126" name="グラフィックス 125" descr="データベース 枠線">
            <a:extLst>
              <a:ext uri="{FF2B5EF4-FFF2-40B4-BE49-F238E27FC236}">
                <a16:creationId xmlns:a16="http://schemas.microsoft.com/office/drawing/2014/main" id="{DB44C4C8-5699-5599-2994-75D75FFD90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10542" y="1393370"/>
            <a:ext cx="436942" cy="436942"/>
          </a:xfrm>
          <a:prstGeom prst="rect">
            <a:avLst/>
          </a:prstGeom>
        </p:spPr>
      </p:pic>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A13EFB75-068F-B371-45F6-A287B28868FF}"/>
                  </a:ext>
                </a:extLst>
              </p:cNvPr>
              <p:cNvSpPr txBox="1"/>
              <p:nvPr/>
            </p:nvSpPr>
            <p:spPr>
              <a:xfrm>
                <a:off x="9936860" y="1352300"/>
                <a:ext cx="1541779" cy="600164"/>
              </a:xfrm>
              <a:prstGeom prst="rect">
                <a:avLst/>
              </a:prstGeom>
              <a:noFill/>
            </p:spPr>
            <p:txBody>
              <a:bodyPr wrap="square" rtlCol="0">
                <a:spAutoFit/>
              </a:bodyPr>
              <a:lstStyle/>
              <a:p>
                <a:pPr algn="ctr"/>
                <a:r>
                  <a:rPr kumimoji="1" lang="ja-JP" altLang="en-US" sz="1100" dirty="0"/>
                  <a:t>サンプル </a:t>
                </a:r>
                <a:r>
                  <a:rPr kumimoji="1" lang="en-US" altLang="ja-JP" sz="1100" dirty="0"/>
                  <a:t>ID </a:t>
                </a:r>
                <a:r>
                  <a:rPr kumimoji="1" lang="ja-JP" altLang="en-US" sz="1100" dirty="0"/>
                  <a:t>と</a:t>
                </a:r>
                <a:endParaRPr kumimoji="1" lang="en-US" altLang="ja-JP" sz="1100" dirty="0"/>
              </a:p>
              <a:p>
                <a:pPr algn="ctr"/>
                <a:r>
                  <a:rPr kumimoji="1" lang="ja-JP" altLang="en-US" sz="1100" dirty="0"/>
                  <a:t> 基盤 </a:t>
                </a:r>
                <a:r>
                  <a:rPr kumimoji="1" lang="en-US" altLang="ja-JP" sz="1100" dirty="0"/>
                  <a:t>logits</a:t>
                </a:r>
                <a:r>
                  <a:rPr lang="ja-JP" altLang="en-US" sz="1100" dirty="0"/>
                  <a:t> </a:t>
                </a:r>
                <a14:m>
                  <m:oMath xmlns:m="http://schemas.openxmlformats.org/officeDocument/2006/math">
                    <m:sSub>
                      <m:sSubPr>
                        <m:ctrlPr>
                          <a:rPr lang="en-US" altLang="ja-JP" sz="1100" b="0" i="1" smtClean="0">
                            <a:latin typeface="Cambria Math" panose="02040503050406030204" pitchFamily="18" charset="0"/>
                          </a:rPr>
                        </m:ctrlPr>
                      </m:sSubPr>
                      <m:e>
                        <m:r>
                          <a:rPr lang="en-US" altLang="ja-JP" sz="1100" b="0" i="1" smtClean="0">
                            <a:latin typeface="Cambria Math" panose="02040503050406030204" pitchFamily="18" charset="0"/>
                          </a:rPr>
                          <m:t>𝑧</m:t>
                        </m:r>
                      </m:e>
                      <m:sub>
                        <m:r>
                          <a:rPr lang="en-US" altLang="ja-JP" sz="1100" b="0" i="1" smtClean="0">
                            <a:latin typeface="Cambria Math" panose="02040503050406030204" pitchFamily="18" charset="0"/>
                          </a:rPr>
                          <m:t>𝑏𝑎𝑠𝑒</m:t>
                        </m:r>
                      </m:sub>
                    </m:sSub>
                    <m:r>
                      <a:rPr lang="en-US" altLang="ja-JP" sz="1100" i="1">
                        <a:latin typeface="Cambria Math" panose="02040503050406030204" pitchFamily="18" charset="0"/>
                      </a:rPr>
                      <m:t>(</m:t>
                    </m:r>
                    <m:r>
                      <a:rPr lang="en-US" altLang="ja-JP" sz="1100" i="1">
                        <a:latin typeface="Cambria Math" panose="02040503050406030204" pitchFamily="18" charset="0"/>
                      </a:rPr>
                      <m:t>𝑥</m:t>
                    </m:r>
                    <m:r>
                      <a:rPr lang="en-US" altLang="ja-JP" sz="1100" i="1">
                        <a:latin typeface="Cambria Math" panose="02040503050406030204" pitchFamily="18" charset="0"/>
                      </a:rPr>
                      <m:t>)</m:t>
                    </m:r>
                  </m:oMath>
                </a14:m>
                <a:r>
                  <a:rPr kumimoji="1" lang="ja-JP" altLang="en-US" sz="1100" dirty="0"/>
                  <a:t>を保存</a:t>
                </a:r>
                <a:endParaRPr kumimoji="1" lang="ja-JP" altLang="en-US" sz="1600" dirty="0"/>
              </a:p>
            </p:txBody>
          </p:sp>
        </mc:Choice>
        <mc:Fallback xmlns="">
          <p:sp>
            <p:nvSpPr>
              <p:cNvPr id="128" name="テキスト ボックス 127">
                <a:extLst>
                  <a:ext uri="{FF2B5EF4-FFF2-40B4-BE49-F238E27FC236}">
                    <a16:creationId xmlns:a16="http://schemas.microsoft.com/office/drawing/2014/main" id="{C62AB540-4E2D-1283-3E5D-5D728A452FCB}"/>
                  </a:ext>
                </a:extLst>
              </p:cNvPr>
              <p:cNvSpPr txBox="1">
                <a:spLocks noRot="1" noChangeAspect="1" noMove="1" noResize="1" noEditPoints="1" noAdjustHandles="1" noChangeArrowheads="1" noChangeShapeType="1" noTextEdit="1"/>
              </p:cNvSpPr>
              <p:nvPr/>
            </p:nvSpPr>
            <p:spPr>
              <a:xfrm>
                <a:off x="9936860" y="1352300"/>
                <a:ext cx="1541779" cy="600164"/>
              </a:xfrm>
              <a:prstGeom prst="rect">
                <a:avLst/>
              </a:prstGeom>
              <a:blipFill>
                <a:blip r:embed="rId19"/>
                <a:stretch>
                  <a:fillRect t="-2041" b="-510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0" name="テキスト ボックス 129">
                <a:extLst>
                  <a:ext uri="{FF2B5EF4-FFF2-40B4-BE49-F238E27FC236}">
                    <a16:creationId xmlns:a16="http://schemas.microsoft.com/office/drawing/2014/main" id="{ADAAE2FC-C2FA-7773-ABF8-C7838E665705}"/>
                  </a:ext>
                </a:extLst>
              </p:cNvPr>
              <p:cNvSpPr txBox="1"/>
              <p:nvPr/>
            </p:nvSpPr>
            <p:spPr>
              <a:xfrm>
                <a:off x="8922831" y="1789922"/>
                <a:ext cx="1238101" cy="566502"/>
              </a:xfrm>
              <a:prstGeom prst="rect">
                <a:avLst/>
              </a:prstGeom>
              <a:noFill/>
            </p:spPr>
            <p:txBody>
              <a:bodyPr wrap="square">
                <a:spAutoFit/>
              </a:bodyPr>
              <a:lstStyle/>
              <a:p>
                <a:pPr algn="ctr"/>
                <a:r>
                  <a:rPr lang="ja-JP" altLang="en-US" sz="1000" dirty="0"/>
                  <a:t>公開整合セットの各サンプル</a:t>
                </a:r>
                <a:endParaRPr lang="en-US" altLang="ja-JP" sz="1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000" b="0" i="1" smtClean="0">
                          <a:latin typeface="Cambria Math" panose="02040503050406030204" pitchFamily="18" charset="0"/>
                        </a:rPr>
                        <m:t>𝑥</m:t>
                      </m:r>
                      <m:r>
                        <a:rPr lang="en-US" altLang="ja-JP" sz="1000" b="0" i="1" smtClean="0">
                          <a:latin typeface="Cambria Math" panose="02040503050406030204" pitchFamily="18" charset="0"/>
                          <a:ea typeface="Cambria Math" panose="02040503050406030204" pitchFamily="18" charset="0"/>
                        </a:rPr>
                        <m:t>∈</m:t>
                      </m:r>
                      <m:sSub>
                        <m:sSubPr>
                          <m:ctrlPr>
                            <a:rPr lang="ja-JP" altLang="en-US" sz="1000" i="1" smtClean="0">
                              <a:latin typeface="Cambria Math" panose="02040503050406030204" pitchFamily="18" charset="0"/>
                            </a:rPr>
                          </m:ctrlPr>
                        </m:sSubPr>
                        <m:e>
                          <m:r>
                            <a:rPr lang="ja-JP" altLang="en-US" sz="1000" i="1">
                              <a:latin typeface="Cambria Math" panose="02040503050406030204" pitchFamily="18" charset="0"/>
                            </a:rPr>
                            <m:t>𝒟</m:t>
                          </m:r>
                        </m:e>
                        <m:sub>
                          <m:r>
                            <a:rPr lang="ja-JP" altLang="en-US" sz="1000" i="1">
                              <a:latin typeface="Cambria Math" panose="02040503050406030204" pitchFamily="18" charset="0"/>
                            </a:rPr>
                            <m:t>𝑎𝑙𝑖𝑔</m:t>
                          </m:r>
                          <m:r>
                            <a:rPr lang="ja-JP" altLang="en-US" sz="1000" i="1" smtClean="0">
                              <a:latin typeface="Cambria Math" panose="02040503050406030204" pitchFamily="18" charset="0"/>
                            </a:rPr>
                            <m:t>𝑛</m:t>
                          </m:r>
                        </m:sub>
                      </m:sSub>
                    </m:oMath>
                  </m:oMathPara>
                </a14:m>
                <a:endParaRPr lang="ja-JP" altLang="en-US" sz="1100" dirty="0"/>
              </a:p>
            </p:txBody>
          </p:sp>
        </mc:Choice>
        <mc:Fallback xmlns="">
          <p:sp>
            <p:nvSpPr>
              <p:cNvPr id="130" name="テキスト ボックス 129">
                <a:extLst>
                  <a:ext uri="{FF2B5EF4-FFF2-40B4-BE49-F238E27FC236}">
                    <a16:creationId xmlns:a16="http://schemas.microsoft.com/office/drawing/2014/main" id="{D354EBC2-9C44-B544-F207-5B2CC2A483D8}"/>
                  </a:ext>
                </a:extLst>
              </p:cNvPr>
              <p:cNvSpPr txBox="1">
                <a:spLocks noRot="1" noChangeAspect="1" noMove="1" noResize="1" noEditPoints="1" noAdjustHandles="1" noChangeArrowheads="1" noChangeShapeType="1" noTextEdit="1"/>
              </p:cNvSpPr>
              <p:nvPr/>
            </p:nvSpPr>
            <p:spPr>
              <a:xfrm>
                <a:off x="8922831" y="1789922"/>
                <a:ext cx="1238101" cy="566502"/>
              </a:xfrm>
              <a:prstGeom prst="rect">
                <a:avLst/>
              </a:prstGeom>
              <a:blipFill>
                <a:blip r:embed="rId7"/>
                <a:stretch>
                  <a:fillRect/>
                </a:stretch>
              </a:blipFill>
            </p:spPr>
            <p:txBody>
              <a:bodyPr/>
              <a:lstStyle/>
              <a:p>
                <a:r>
                  <a:rPr lang="ja-JP" altLang="en-US">
                    <a:noFill/>
                  </a:rPr>
                  <a:t> </a:t>
                </a:r>
              </a:p>
            </p:txBody>
          </p:sp>
        </mc:Fallback>
      </mc:AlternateContent>
      <p:pic>
        <p:nvPicPr>
          <p:cNvPr id="132" name="図 131">
            <a:extLst>
              <a:ext uri="{FF2B5EF4-FFF2-40B4-BE49-F238E27FC236}">
                <a16:creationId xmlns:a16="http://schemas.microsoft.com/office/drawing/2014/main" id="{1D9FF4DC-0D33-EAC8-1368-D53B40D20A0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395904" y="1202924"/>
            <a:ext cx="382343" cy="383216"/>
          </a:xfrm>
          <a:prstGeom prst="rect">
            <a:avLst/>
          </a:prstGeom>
        </p:spPr>
      </p:pic>
      <p:sp>
        <p:nvSpPr>
          <p:cNvPr id="134" name="テキスト ボックス 133">
            <a:extLst>
              <a:ext uri="{FF2B5EF4-FFF2-40B4-BE49-F238E27FC236}">
                <a16:creationId xmlns:a16="http://schemas.microsoft.com/office/drawing/2014/main" id="{596ED31A-20A3-C03F-DF80-EF9356A84C8F}"/>
              </a:ext>
            </a:extLst>
          </p:cNvPr>
          <p:cNvSpPr txBox="1"/>
          <p:nvPr/>
        </p:nvSpPr>
        <p:spPr>
          <a:xfrm>
            <a:off x="7502270" y="2363452"/>
            <a:ext cx="4336456" cy="276999"/>
          </a:xfrm>
          <a:prstGeom prst="rect">
            <a:avLst/>
          </a:prstGeom>
          <a:noFill/>
        </p:spPr>
        <p:txBody>
          <a:bodyPr wrap="square" rtlCol="0">
            <a:spAutoFit/>
          </a:bodyPr>
          <a:lstStyle/>
          <a:p>
            <a:pPr algn="ctr"/>
            <a:r>
              <a:rPr kumimoji="1" lang="en-US" altLang="ja-JP" sz="1200" dirty="0"/>
              <a:t>KL(teacher || </a:t>
            </a:r>
            <a:r>
              <a:rPr kumimoji="1" lang="ja-JP" altLang="en-US" sz="1200" dirty="0"/>
              <a:t>基盤モデル</a:t>
            </a:r>
            <a:r>
              <a:rPr kumimoji="1" lang="en-US" altLang="ja-JP" sz="1200" dirty="0"/>
              <a:t>) × T²</a:t>
            </a:r>
            <a:r>
              <a:rPr kumimoji="1" lang="ja-JP" altLang="en-US" sz="1200" dirty="0"/>
              <a:t>により </a:t>
            </a:r>
            <a:r>
              <a:rPr kumimoji="1" lang="en-US" altLang="ja-JP" sz="1200" dirty="0" err="1"/>
              <a:t>Lpred</a:t>
            </a:r>
            <a:r>
              <a:rPr kumimoji="1" lang="en-US" altLang="ja-JP" sz="1200" dirty="0"/>
              <a:t> </a:t>
            </a:r>
            <a:r>
              <a:rPr kumimoji="1" lang="ja-JP" altLang="en-US" sz="1200" dirty="0"/>
              <a:t>を計算する。</a:t>
            </a:r>
            <a:endParaRPr kumimoji="1" lang="ja-JP" altLang="en-US" dirty="0"/>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7B931661-C27F-E286-435E-0A837F22F25E}"/>
                  </a:ext>
                </a:extLst>
              </p:cNvPr>
              <p:cNvSpPr txBox="1"/>
              <p:nvPr/>
            </p:nvSpPr>
            <p:spPr>
              <a:xfrm>
                <a:off x="8023576" y="2566062"/>
                <a:ext cx="3480816" cy="598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200" i="1" smtClean="0">
                              <a:latin typeface="Cambria Math" panose="02040503050406030204" pitchFamily="18" charset="0"/>
                            </a:rPr>
                          </m:ctrlPr>
                        </m:sSubPr>
                        <m:e>
                          <m:r>
                            <a:rPr lang="ja-JP" altLang="en-US" sz="1200">
                              <a:latin typeface="Cambria Math" panose="02040503050406030204" pitchFamily="18" charset="0"/>
                            </a:rPr>
                            <m:t>ℒ</m:t>
                          </m:r>
                        </m:e>
                        <m:sub>
                          <m:r>
                            <a:rPr lang="ja-JP" altLang="en-US" sz="1200" i="1">
                              <a:latin typeface="Cambria Math" panose="02040503050406030204" pitchFamily="18" charset="0"/>
                            </a:rPr>
                            <m:t>𝑝𝑟𝑒𝑑</m:t>
                          </m:r>
                        </m:sub>
                      </m:sSub>
                      <m:r>
                        <a:rPr lang="ja-JP" altLang="en-US" sz="1200" i="0">
                          <a:latin typeface="Cambria Math" panose="02040503050406030204" pitchFamily="18" charset="0"/>
                        </a:rPr>
                        <m:t>=</m:t>
                      </m:r>
                      <m:f>
                        <m:fPr>
                          <m:ctrlPr>
                            <a:rPr lang="ja-JP" altLang="en-US" sz="1200" i="1">
                              <a:latin typeface="Cambria Math" panose="02040503050406030204" pitchFamily="18" charset="0"/>
                            </a:rPr>
                          </m:ctrlPr>
                        </m:fPr>
                        <m:num>
                          <m:sSup>
                            <m:sSupPr>
                              <m:ctrlPr>
                                <a:rPr lang="ja-JP" altLang="en-US" sz="1200" i="1">
                                  <a:latin typeface="Cambria Math" panose="02040503050406030204" pitchFamily="18" charset="0"/>
                                </a:rPr>
                              </m:ctrlPr>
                            </m:sSupPr>
                            <m:e>
                              <m:r>
                                <a:rPr lang="ja-JP" altLang="en-US" sz="1200" i="1">
                                  <a:latin typeface="Cambria Math" panose="02040503050406030204" pitchFamily="18" charset="0"/>
                                </a:rPr>
                                <m:t>𝑇</m:t>
                              </m:r>
                            </m:e>
                            <m:sup>
                              <m:r>
                                <a:rPr lang="ja-JP" altLang="en-US" sz="1200" i="0">
                                  <a:latin typeface="Cambria Math" panose="02040503050406030204" pitchFamily="18" charset="0"/>
                                </a:rPr>
                                <m:t>2</m:t>
                              </m:r>
                            </m:sup>
                          </m:sSup>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e>
                          </m:d>
                        </m:den>
                      </m:f>
                      <m:nary>
                        <m:naryPr>
                          <m:chr m:val="∑"/>
                          <m:limLoc m:val="undOvr"/>
                          <m:grow m:val="on"/>
                          <m:supHide m:val="on"/>
                          <m:ctrlPr>
                            <a:rPr lang="ja-JP" altLang="en-US" sz="1200" i="1">
                              <a:latin typeface="Cambria Math" panose="02040503050406030204" pitchFamily="18" charset="0"/>
                            </a:rPr>
                          </m:ctrlPr>
                        </m:naryPr>
                        <m:sub>
                          <m:r>
                            <a:rPr lang="ja-JP" altLang="en-US" sz="1200" i="1">
                              <a:latin typeface="Cambria Math" panose="02040503050406030204" pitchFamily="18" charset="0"/>
                            </a:rPr>
                            <m:t>𝑥</m:t>
                          </m:r>
                          <m:r>
                            <a:rPr lang="ja-JP" altLang="en-US" sz="1200" i="0">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sub>
                        <m:sup/>
                        <m:e>
                          <m:r>
                            <a:rPr lang="ja-JP" altLang="en-US" sz="1200" i="0">
                              <a:latin typeface="Cambria Math" panose="02040503050406030204" pitchFamily="18" charset="0"/>
                            </a:rPr>
                            <m:t> </m:t>
                          </m:r>
                        </m:e>
                      </m:nary>
                      <m:r>
                        <m:rPr>
                          <m:sty m:val="p"/>
                        </m:rPr>
                        <a:rPr lang="ja-JP" altLang="en-US" sz="1200" i="0">
                          <a:latin typeface="Cambria Math" panose="02040503050406030204" pitchFamily="18" charset="0"/>
                        </a:rPr>
                        <m:t>KL</m:t>
                      </m:r>
                      <m:d>
                        <m:dPr>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ja-JP" altLang="en-US" sz="1200" i="1">
                                  <a:latin typeface="Cambria Math" panose="02040503050406030204" pitchFamily="18" charset="0"/>
                                </a:rPr>
                                <m:t>𝑎𝑔𝑔</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ja-JP" altLang="en-US" sz="1200" i="1">
                                      <a:latin typeface="Cambria Math" panose="02040503050406030204" pitchFamily="18" charset="0"/>
                                    </a:rPr>
                                    <m:t>𝑏𝑎𝑠𝑒</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e>
                          </m:d>
                        </m:e>
                      </m:d>
                    </m:oMath>
                  </m:oMathPara>
                </a14:m>
                <a:endParaRPr lang="ja-JP" altLang="en-US" sz="1200" dirty="0"/>
              </a:p>
            </p:txBody>
          </p:sp>
        </mc:Choice>
        <mc:Fallback xmlns="">
          <p:sp>
            <p:nvSpPr>
              <p:cNvPr id="138" name="テキスト ボックス 137">
                <a:extLst>
                  <a:ext uri="{FF2B5EF4-FFF2-40B4-BE49-F238E27FC236}">
                    <a16:creationId xmlns:a16="http://schemas.microsoft.com/office/drawing/2014/main" id="{AEA4B0FE-87AE-69CD-4CD7-3E422FFE1BBE}"/>
                  </a:ext>
                </a:extLst>
              </p:cNvPr>
              <p:cNvSpPr txBox="1">
                <a:spLocks noRot="1" noChangeAspect="1" noMove="1" noResize="1" noEditPoints="1" noAdjustHandles="1" noChangeArrowheads="1" noChangeShapeType="1" noTextEdit="1"/>
              </p:cNvSpPr>
              <p:nvPr/>
            </p:nvSpPr>
            <p:spPr>
              <a:xfrm>
                <a:off x="8023576" y="2566062"/>
                <a:ext cx="3480816" cy="598818"/>
              </a:xfrm>
              <a:prstGeom prst="rect">
                <a:avLst/>
              </a:prstGeom>
              <a:blipFill>
                <a:blip r:embed="rId20"/>
                <a:stretch>
                  <a:fillRect t="-103061" b="-140816"/>
                </a:stretch>
              </a:blipFill>
            </p:spPr>
            <p:txBody>
              <a:bodyPr/>
              <a:lstStyle/>
              <a:p>
                <a:r>
                  <a:rPr lang="ja-JP" altLang="en-US">
                    <a:noFill/>
                  </a:rPr>
                  <a:t> </a:t>
                </a:r>
              </a:p>
            </p:txBody>
          </p:sp>
        </mc:Fallback>
      </mc:AlternateContent>
      <p:pic>
        <p:nvPicPr>
          <p:cNvPr id="142" name="図 141">
            <a:extLst>
              <a:ext uri="{FF2B5EF4-FFF2-40B4-BE49-F238E27FC236}">
                <a16:creationId xmlns:a16="http://schemas.microsoft.com/office/drawing/2014/main" id="{18CD3B05-19ED-537E-89C2-C91607BE42E5}"/>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176314" y="4290829"/>
            <a:ext cx="373625" cy="375335"/>
          </a:xfrm>
          <a:prstGeom prst="rect">
            <a:avLst/>
          </a:prstGeom>
        </p:spPr>
      </p:pic>
      <p:cxnSp>
        <p:nvCxnSpPr>
          <p:cNvPr id="143" name="直線コネクタ 142">
            <a:extLst>
              <a:ext uri="{FF2B5EF4-FFF2-40B4-BE49-F238E27FC236}">
                <a16:creationId xmlns:a16="http://schemas.microsoft.com/office/drawing/2014/main" id="{4DEC766E-45BB-369E-7A32-1F431EDCE06E}"/>
              </a:ext>
            </a:extLst>
          </p:cNvPr>
          <p:cNvCxnSpPr>
            <a:cxnSpLocks/>
          </p:cNvCxnSpPr>
          <p:nvPr/>
        </p:nvCxnSpPr>
        <p:spPr>
          <a:xfrm flipV="1">
            <a:off x="809806" y="2684533"/>
            <a:ext cx="3249114" cy="10805"/>
          </a:xfrm>
          <a:prstGeom prst="line">
            <a:avLst/>
          </a:prstGeom>
          <a:ln>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146" name="四角形: 角を丸くする 145">
            <a:extLst>
              <a:ext uri="{FF2B5EF4-FFF2-40B4-BE49-F238E27FC236}">
                <a16:creationId xmlns:a16="http://schemas.microsoft.com/office/drawing/2014/main" id="{BF2BF106-7EE0-0537-CA1A-00C9EB36C8EC}"/>
              </a:ext>
            </a:extLst>
          </p:cNvPr>
          <p:cNvSpPr/>
          <p:nvPr/>
        </p:nvSpPr>
        <p:spPr>
          <a:xfrm>
            <a:off x="886350" y="5441063"/>
            <a:ext cx="3622352" cy="707069"/>
          </a:xfrm>
          <a:prstGeom prst="roundRect">
            <a:avLst>
              <a:gd name="adj" fmla="val 6892"/>
            </a:avLst>
          </a:prstGeom>
          <a:solidFill>
            <a:srgbClr val="FDF3ED"/>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endParaRPr kumimoji="1" lang="en-US" altLang="ja-JP" sz="12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lang="en-US" altLang="ja-JP" sz="1600" dirty="0">
              <a:solidFill>
                <a:schemeClr val="tx1"/>
              </a:solidFill>
            </a:endParaRPr>
          </a:p>
          <a:p>
            <a:pPr algn="ctr"/>
            <a:endParaRPr kumimoji="1" lang="ja-JP" altLang="en-US" sz="1200" dirty="0">
              <a:solidFill>
                <a:schemeClr val="tx1"/>
              </a:solidFill>
            </a:endParaRPr>
          </a:p>
        </p:txBody>
      </p:sp>
      <p:sp>
        <p:nvSpPr>
          <p:cNvPr id="148" name="テキスト ボックス 147">
            <a:extLst>
              <a:ext uri="{FF2B5EF4-FFF2-40B4-BE49-F238E27FC236}">
                <a16:creationId xmlns:a16="http://schemas.microsoft.com/office/drawing/2014/main" id="{0E50AE0F-2063-7D23-F8BC-665A292BC98F}"/>
              </a:ext>
            </a:extLst>
          </p:cNvPr>
          <p:cNvSpPr txBox="1"/>
          <p:nvPr/>
        </p:nvSpPr>
        <p:spPr>
          <a:xfrm>
            <a:off x="837361" y="5442465"/>
            <a:ext cx="3801182" cy="261610"/>
          </a:xfrm>
          <a:prstGeom prst="rect">
            <a:avLst/>
          </a:prstGeom>
          <a:noFill/>
        </p:spPr>
        <p:txBody>
          <a:bodyPr wrap="square" rtlCol="0">
            <a:spAutoFit/>
          </a:bodyPr>
          <a:lstStyle/>
          <a:p>
            <a:pPr algn="ctr"/>
            <a:r>
              <a:rPr kumimoji="1" lang="en-US" altLang="ja-JP" sz="1100" dirty="0"/>
              <a:t>KL(</a:t>
            </a:r>
            <a:r>
              <a:rPr kumimoji="1" lang="ja-JP" altLang="en-US" sz="1100" dirty="0"/>
              <a:t>基盤モデル</a:t>
            </a:r>
            <a:r>
              <a:rPr kumimoji="1" lang="en-US" altLang="ja-JP" sz="1100" dirty="0"/>
              <a:t> || </a:t>
            </a:r>
            <a:r>
              <a:rPr kumimoji="1" lang="ja-JP" altLang="en-US" sz="1100" dirty="0"/>
              <a:t>端末モデル</a:t>
            </a:r>
            <a:r>
              <a:rPr kumimoji="1" lang="en-US" altLang="ja-JP" sz="1100" dirty="0"/>
              <a:t>) × T²</a:t>
            </a:r>
            <a:r>
              <a:rPr kumimoji="1" lang="ja-JP" altLang="en-US" sz="1100" dirty="0"/>
              <a:t>により </a:t>
            </a:r>
            <a:r>
              <a:rPr kumimoji="1" lang="en-US" altLang="ja-JP" sz="1100" dirty="0" err="1"/>
              <a:t>Ldist</a:t>
            </a:r>
            <a:r>
              <a:rPr kumimoji="1" lang="en-US" altLang="ja-JP" sz="1100" dirty="0"/>
              <a:t> </a:t>
            </a:r>
            <a:r>
              <a:rPr kumimoji="1" lang="ja-JP" altLang="en-US" sz="1100" dirty="0"/>
              <a:t>を計算する。</a:t>
            </a:r>
            <a:endParaRPr kumimoji="1" lang="ja-JP" altLang="en-US" sz="1600" dirty="0"/>
          </a:p>
        </p:txBody>
      </p:sp>
      <mc:AlternateContent xmlns:mc="http://schemas.openxmlformats.org/markup-compatibility/2006" xmlns:a14="http://schemas.microsoft.com/office/drawing/2010/main">
        <mc:Choice Requires="a14">
          <p:sp>
            <p:nvSpPr>
              <p:cNvPr id="150" name="テキスト ボックス 149">
                <a:extLst>
                  <a:ext uri="{FF2B5EF4-FFF2-40B4-BE49-F238E27FC236}">
                    <a16:creationId xmlns:a16="http://schemas.microsoft.com/office/drawing/2014/main" id="{9EBB727F-DF97-0EEE-357C-B1035816A21A}"/>
                  </a:ext>
                </a:extLst>
              </p:cNvPr>
              <p:cNvSpPr txBox="1"/>
              <p:nvPr/>
            </p:nvSpPr>
            <p:spPr>
              <a:xfrm>
                <a:off x="963573" y="5594177"/>
                <a:ext cx="3480816" cy="598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ja-JP" sz="1200" b="0" i="1" smtClean="0">
                              <a:latin typeface="Cambria Math" panose="02040503050406030204" pitchFamily="18" charset="0"/>
                            </a:rPr>
                          </m:ctrlPr>
                        </m:sSubSupPr>
                        <m:e>
                          <m:r>
                            <a:rPr lang="ja-JP" altLang="en-US" sz="1200">
                              <a:latin typeface="Cambria Math" panose="02040503050406030204" pitchFamily="18" charset="0"/>
                            </a:rPr>
                            <m:t>ℒ</m:t>
                          </m:r>
                        </m:e>
                        <m:sub>
                          <m:r>
                            <a:rPr lang="en-US" altLang="ja-JP" sz="1200" b="0" i="1" smtClean="0">
                              <a:latin typeface="Cambria Math" panose="02040503050406030204" pitchFamily="18" charset="0"/>
                            </a:rPr>
                            <m:t>𝑑𝑖𝑠𝑡</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𝑘</m:t>
                          </m:r>
                          <m:r>
                            <a:rPr lang="en-US" altLang="ja-JP" sz="1200" b="0" i="1" smtClean="0">
                              <a:latin typeface="Cambria Math" panose="02040503050406030204" pitchFamily="18" charset="0"/>
                            </a:rPr>
                            <m:t>)</m:t>
                          </m:r>
                        </m:sup>
                      </m:sSubSup>
                      <m:r>
                        <a:rPr lang="ja-JP" altLang="en-US" sz="1200" i="0">
                          <a:latin typeface="Cambria Math" panose="02040503050406030204" pitchFamily="18" charset="0"/>
                        </a:rPr>
                        <m:t>=</m:t>
                      </m:r>
                      <m:f>
                        <m:fPr>
                          <m:ctrlPr>
                            <a:rPr lang="ja-JP" altLang="en-US" sz="1200" i="1">
                              <a:latin typeface="Cambria Math" panose="02040503050406030204" pitchFamily="18" charset="0"/>
                            </a:rPr>
                          </m:ctrlPr>
                        </m:fPr>
                        <m:num>
                          <m:sSup>
                            <m:sSupPr>
                              <m:ctrlPr>
                                <a:rPr lang="ja-JP" altLang="en-US" sz="1200" i="1">
                                  <a:latin typeface="Cambria Math" panose="02040503050406030204" pitchFamily="18" charset="0"/>
                                </a:rPr>
                              </m:ctrlPr>
                            </m:sSupPr>
                            <m:e>
                              <m:r>
                                <a:rPr lang="ja-JP" altLang="en-US" sz="1200" i="1">
                                  <a:latin typeface="Cambria Math" panose="02040503050406030204" pitchFamily="18" charset="0"/>
                                </a:rPr>
                                <m:t>𝑇</m:t>
                              </m:r>
                            </m:e>
                            <m:sup>
                              <m:r>
                                <a:rPr lang="ja-JP" altLang="en-US" sz="1200" i="0">
                                  <a:latin typeface="Cambria Math" panose="02040503050406030204" pitchFamily="18" charset="0"/>
                                </a:rPr>
                                <m:t>2</m:t>
                              </m:r>
                            </m:sup>
                          </m:sSup>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e>
                          </m:d>
                        </m:den>
                      </m:f>
                      <m:nary>
                        <m:naryPr>
                          <m:chr m:val="∑"/>
                          <m:limLoc m:val="undOvr"/>
                          <m:grow m:val="on"/>
                          <m:supHide m:val="on"/>
                          <m:ctrlPr>
                            <a:rPr lang="ja-JP" altLang="en-US" sz="1200" i="1">
                              <a:latin typeface="Cambria Math" panose="02040503050406030204" pitchFamily="18" charset="0"/>
                            </a:rPr>
                          </m:ctrlPr>
                        </m:naryPr>
                        <m:sub>
                          <m:r>
                            <a:rPr lang="ja-JP" altLang="en-US" sz="1200" i="1">
                              <a:latin typeface="Cambria Math" panose="02040503050406030204" pitchFamily="18" charset="0"/>
                            </a:rPr>
                            <m:t>𝑥</m:t>
                          </m:r>
                          <m:r>
                            <a:rPr lang="ja-JP" altLang="en-US" sz="1200" i="0">
                              <a:latin typeface="Cambria Math" panose="02040503050406030204" pitchFamily="18" charset="0"/>
                            </a:rPr>
                            <m:t>∈</m:t>
                          </m:r>
                          <m:sSub>
                            <m:sSubPr>
                              <m:ctrlPr>
                                <a:rPr lang="ja-JP" altLang="en-US" sz="1200" i="1">
                                  <a:latin typeface="Cambria Math" panose="02040503050406030204" pitchFamily="18" charset="0"/>
                                </a:rPr>
                              </m:ctrlPr>
                            </m:sSubPr>
                            <m:e>
                              <m:r>
                                <a:rPr lang="ja-JP" altLang="en-US" sz="1200" i="0">
                                  <a:latin typeface="Cambria Math" panose="02040503050406030204" pitchFamily="18" charset="0"/>
                                </a:rPr>
                                <m:t>𝒟</m:t>
                              </m:r>
                            </m:e>
                            <m:sub>
                              <m:r>
                                <a:rPr lang="ja-JP" altLang="en-US" sz="1200" i="1">
                                  <a:latin typeface="Cambria Math" panose="02040503050406030204" pitchFamily="18" charset="0"/>
                                </a:rPr>
                                <m:t>𝑎𝑙𝑖𝑔𝑛</m:t>
                              </m:r>
                            </m:sub>
                          </m:sSub>
                        </m:sub>
                        <m:sup/>
                        <m:e>
                          <m:r>
                            <a:rPr lang="ja-JP" altLang="en-US" sz="1200" i="0">
                              <a:latin typeface="Cambria Math" panose="02040503050406030204" pitchFamily="18" charset="0"/>
                            </a:rPr>
                            <m:t> </m:t>
                          </m:r>
                        </m:e>
                      </m:nary>
                      <m:r>
                        <m:rPr>
                          <m:sty m:val="p"/>
                        </m:rPr>
                        <a:rPr lang="ja-JP" altLang="en-US" sz="1200" i="0">
                          <a:latin typeface="Cambria Math" panose="02040503050406030204" pitchFamily="18" charset="0"/>
                        </a:rPr>
                        <m:t>KL</m:t>
                      </m:r>
                      <m:d>
                        <m:dPr>
                          <m:ctrlPr>
                            <a:rPr lang="ja-JP" altLang="en-US" sz="1200" i="1">
                              <a:latin typeface="Cambria Math" panose="02040503050406030204" pitchFamily="18" charset="0"/>
                            </a:rPr>
                          </m:ctrlPr>
                        </m:dPr>
                        <m:e>
                          <m:sSubSup>
                            <m:sSubSupPr>
                              <m:ctrlPr>
                                <a:rPr lang="en-US" altLang="ja-JP" sz="1200" b="0" i="1" smtClean="0">
                                  <a:latin typeface="Cambria Math" panose="02040503050406030204" pitchFamily="18" charset="0"/>
                                </a:rPr>
                              </m:ctrlPr>
                            </m:sSubSupPr>
                            <m:e>
                              <m:r>
                                <a:rPr lang="ja-JP" altLang="en-US" sz="1200" i="1">
                                  <a:latin typeface="Cambria Math" panose="02040503050406030204" pitchFamily="18" charset="0"/>
                                </a:rPr>
                                <m:t>𝑝</m:t>
                              </m:r>
                            </m:e>
                            <m:sub>
                              <m:r>
                                <a:rPr lang="en-US" altLang="ja-JP" sz="1200" b="0" i="1" smtClean="0">
                                  <a:latin typeface="Cambria Math" panose="02040503050406030204" pitchFamily="18" charset="0"/>
                                </a:rPr>
                                <m:t>𝑏𝑎𝑠𝑒</m:t>
                              </m:r>
                            </m:sub>
                            <m:sup>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sup>
                          </m:sSub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𝑝</m:t>
                                  </m:r>
                                </m:e>
                                <m:sub>
                                  <m:r>
                                    <a:rPr lang="en-US" altLang="ja-JP" sz="1200" b="0" i="1" smtClean="0">
                                      <a:latin typeface="Cambria Math" panose="02040503050406030204" pitchFamily="18" charset="0"/>
                                    </a:rPr>
                                    <m:t>𝑘</m:t>
                                  </m:r>
                                </m:sub>
                              </m:sSub>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e>
                          </m:d>
                        </m:e>
                      </m:d>
                    </m:oMath>
                  </m:oMathPara>
                </a14:m>
                <a:endParaRPr lang="ja-JP" altLang="en-US" sz="1200" dirty="0"/>
              </a:p>
            </p:txBody>
          </p:sp>
        </mc:Choice>
        <mc:Fallback xmlns="">
          <p:sp>
            <p:nvSpPr>
              <p:cNvPr id="150" name="テキスト ボックス 149">
                <a:extLst>
                  <a:ext uri="{FF2B5EF4-FFF2-40B4-BE49-F238E27FC236}">
                    <a16:creationId xmlns:a16="http://schemas.microsoft.com/office/drawing/2014/main" id="{7696D6FB-BBC9-EDA4-49CE-1F1B0359D719}"/>
                  </a:ext>
                </a:extLst>
              </p:cNvPr>
              <p:cNvSpPr txBox="1">
                <a:spLocks noRot="1" noChangeAspect="1" noMove="1" noResize="1" noEditPoints="1" noAdjustHandles="1" noChangeArrowheads="1" noChangeShapeType="1" noTextEdit="1"/>
              </p:cNvSpPr>
              <p:nvPr/>
            </p:nvSpPr>
            <p:spPr>
              <a:xfrm>
                <a:off x="963573" y="5594177"/>
                <a:ext cx="3480816" cy="598818"/>
              </a:xfrm>
              <a:prstGeom prst="rect">
                <a:avLst/>
              </a:prstGeom>
              <a:blipFill>
                <a:blip r:embed="rId22"/>
                <a:stretch>
                  <a:fillRect t="-103061" b="-14081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1" name="テキスト ボックス 160">
                <a:extLst>
                  <a:ext uri="{FF2B5EF4-FFF2-40B4-BE49-F238E27FC236}">
                    <a16:creationId xmlns:a16="http://schemas.microsoft.com/office/drawing/2014/main" id="{D8209206-79CB-7E4D-8FB9-AFEECE33B737}"/>
                  </a:ext>
                </a:extLst>
              </p:cNvPr>
              <p:cNvSpPr txBox="1"/>
              <p:nvPr/>
            </p:nvSpPr>
            <p:spPr>
              <a:xfrm>
                <a:off x="4827788" y="5391829"/>
                <a:ext cx="2933700" cy="261610"/>
              </a:xfrm>
              <a:prstGeom prst="rect">
                <a:avLst/>
              </a:prstGeom>
              <a:noFill/>
            </p:spPr>
            <p:txBody>
              <a:bodyPr wrap="square">
                <a:spAutoFit/>
              </a:bodyPr>
              <a:lstStyle/>
              <a:p>
                <a:r>
                  <a:rPr lang="ja-JP" altLang="ja-JP" sz="1100" i="0" dirty="0">
                    <a:solidFill>
                      <a:schemeClr val="tx1"/>
                    </a:solidFill>
                    <a:effectLst/>
                    <a:latin typeface="-apple-system"/>
                  </a:rPr>
                  <a:t>クライアント LoRA + 分類ヘッド </a:t>
                </a:r>
                <a14:m>
                  <m:oMath xmlns:m="http://schemas.openxmlformats.org/officeDocument/2006/math">
                    <m:sSub>
                      <m:sSubPr>
                        <m:ctrlPr>
                          <a:rPr lang="ja-JP" altLang="en-US" sz="1100" i="1">
                            <a:solidFill>
                              <a:schemeClr val="tx1"/>
                            </a:solidFill>
                            <a:latin typeface="Cambria Math" panose="02040503050406030204" pitchFamily="18" charset="0"/>
                          </a:rPr>
                        </m:ctrlPr>
                      </m:sSubPr>
                      <m:e>
                        <m:r>
                          <a:rPr lang="ja-JP" altLang="en-US" sz="1100" b="0" i="1">
                            <a:solidFill>
                              <a:schemeClr val="tx1"/>
                            </a:solidFill>
                            <a:latin typeface="Cambria Math" panose="02040503050406030204" pitchFamily="18" charset="0"/>
                          </a:rPr>
                          <m:t>𝜃</m:t>
                        </m:r>
                      </m:e>
                      <m:sub>
                        <m:r>
                          <a:rPr lang="ja-JP" altLang="en-US" sz="1100" b="0" i="1">
                            <a:solidFill>
                              <a:schemeClr val="tx1"/>
                            </a:solidFill>
                            <a:latin typeface="Cambria Math" panose="02040503050406030204" pitchFamily="18" charset="0"/>
                          </a:rPr>
                          <m:t>𝑘</m:t>
                        </m:r>
                      </m:sub>
                    </m:sSub>
                    <m:r>
                      <a:rPr lang="ja-JP" altLang="en-US" sz="1100" i="1">
                        <a:latin typeface="Cambria Math" panose="02040503050406030204" pitchFamily="18" charset="0"/>
                      </a:rPr>
                      <m:t>の更新</m:t>
                    </m:r>
                  </m:oMath>
                </a14:m>
                <a:endParaRPr lang="ja-JP" altLang="en-US" sz="2400" dirty="0"/>
              </a:p>
            </p:txBody>
          </p:sp>
        </mc:Choice>
        <mc:Fallback xmlns="">
          <p:sp>
            <p:nvSpPr>
              <p:cNvPr id="161" name="テキスト ボックス 160">
                <a:extLst>
                  <a:ext uri="{FF2B5EF4-FFF2-40B4-BE49-F238E27FC236}">
                    <a16:creationId xmlns:a16="http://schemas.microsoft.com/office/drawing/2014/main" id="{D8209206-79CB-7E4D-8FB9-AFEECE33B737}"/>
                  </a:ext>
                </a:extLst>
              </p:cNvPr>
              <p:cNvSpPr txBox="1">
                <a:spLocks noRot="1" noChangeAspect="1" noMove="1" noResize="1" noEditPoints="1" noAdjustHandles="1" noChangeArrowheads="1" noChangeShapeType="1" noTextEdit="1"/>
              </p:cNvSpPr>
              <p:nvPr/>
            </p:nvSpPr>
            <p:spPr>
              <a:xfrm>
                <a:off x="4827788" y="5391829"/>
                <a:ext cx="2933700" cy="261610"/>
              </a:xfrm>
              <a:prstGeom prst="rect">
                <a:avLst/>
              </a:prstGeom>
              <a:blipFill>
                <a:blip r:embed="rId10"/>
                <a:stretch>
                  <a:fillRect t="-4651" b="-16279"/>
                </a:stretch>
              </a:blipFill>
            </p:spPr>
            <p:txBody>
              <a:bodyPr/>
              <a:lstStyle/>
              <a:p>
                <a:r>
                  <a:rPr lang="ja-JP" altLang="en-US">
                    <a:noFill/>
                  </a:rPr>
                  <a:t> </a:t>
                </a:r>
              </a:p>
            </p:txBody>
          </p:sp>
        </mc:Fallback>
      </mc:AlternateContent>
      <p:sp>
        <p:nvSpPr>
          <p:cNvPr id="163" name="矢印: 右 162">
            <a:extLst>
              <a:ext uri="{FF2B5EF4-FFF2-40B4-BE49-F238E27FC236}">
                <a16:creationId xmlns:a16="http://schemas.microsoft.com/office/drawing/2014/main" id="{42EC55AB-F497-870C-3A9B-131BBAF2B43B}"/>
              </a:ext>
            </a:extLst>
          </p:cNvPr>
          <p:cNvSpPr/>
          <p:nvPr/>
        </p:nvSpPr>
        <p:spPr>
          <a:xfrm rot="5400000">
            <a:off x="6076416" y="5225556"/>
            <a:ext cx="246220" cy="168119"/>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165" name="テキスト ボックス 164">
                <a:extLst>
                  <a:ext uri="{FF2B5EF4-FFF2-40B4-BE49-F238E27FC236}">
                    <a16:creationId xmlns:a16="http://schemas.microsoft.com/office/drawing/2014/main" id="{1452BB07-E3B4-A3BF-73AF-55E6875C7071}"/>
                  </a:ext>
                </a:extLst>
              </p:cNvPr>
              <p:cNvSpPr txBox="1"/>
              <p:nvPr/>
            </p:nvSpPr>
            <p:spPr>
              <a:xfrm>
                <a:off x="8708676" y="5287970"/>
                <a:ext cx="2058320" cy="307777"/>
              </a:xfrm>
              <a:prstGeom prst="rect">
                <a:avLst/>
              </a:prstGeom>
              <a:noFill/>
            </p:spPr>
            <p:txBody>
              <a:bodyPr wrap="square">
                <a:spAutoFit/>
              </a:bodyPr>
              <a:lstStyle/>
              <a:p>
                <a:r>
                  <a:rPr lang="ja-JP" altLang="en-US" sz="1400" dirty="0">
                    <a:latin typeface="-apple-system"/>
                  </a:rPr>
                  <a:t>基盤</a:t>
                </a:r>
                <a:r>
                  <a:rPr lang="ja-JP" altLang="ja-JP" sz="1400" i="0" dirty="0">
                    <a:solidFill>
                      <a:schemeClr val="tx1"/>
                    </a:solidFill>
                    <a:effectLst/>
                    <a:latin typeface="-apple-system"/>
                  </a:rPr>
                  <a:t> LoRA </a:t>
                </a:r>
                <a:r>
                  <a:rPr lang="ja-JP" altLang="en-US" sz="1400" dirty="0">
                    <a:latin typeface="-apple-system"/>
                  </a:rPr>
                  <a:t> </a:t>
                </a:r>
                <a14:m>
                  <m:oMath xmlns:m="http://schemas.openxmlformats.org/officeDocument/2006/math">
                    <m:sSub>
                      <m:sSubPr>
                        <m:ctrlPr>
                          <a:rPr lang="ja-JP" altLang="en-US" sz="1400" i="1">
                            <a:solidFill>
                              <a:schemeClr val="tx1"/>
                            </a:solidFill>
                            <a:latin typeface="Cambria Math" panose="02040503050406030204" pitchFamily="18" charset="0"/>
                          </a:rPr>
                        </m:ctrlPr>
                      </m:sSubPr>
                      <m:e>
                        <m:r>
                          <a:rPr lang="ja-JP" altLang="en-US" sz="1400" b="0" i="1">
                            <a:solidFill>
                              <a:schemeClr val="tx1"/>
                            </a:solidFill>
                            <a:latin typeface="Cambria Math" panose="02040503050406030204" pitchFamily="18" charset="0"/>
                          </a:rPr>
                          <m:t>𝜃</m:t>
                        </m:r>
                      </m:e>
                      <m:sub>
                        <m:r>
                          <a:rPr lang="en-US" altLang="ja-JP" sz="1400" b="0" i="1" smtClean="0">
                            <a:solidFill>
                              <a:schemeClr val="tx1"/>
                            </a:solidFill>
                            <a:latin typeface="Cambria Math" panose="02040503050406030204" pitchFamily="18" charset="0"/>
                          </a:rPr>
                          <m:t>𝑏𝑎𝑠𝑒</m:t>
                        </m:r>
                      </m:sub>
                    </m:sSub>
                    <m:r>
                      <a:rPr lang="ja-JP" altLang="en-US" sz="1400" i="1">
                        <a:latin typeface="Cambria Math" panose="02040503050406030204" pitchFamily="18" charset="0"/>
                      </a:rPr>
                      <m:t>の更新</m:t>
                    </m:r>
                  </m:oMath>
                </a14:m>
                <a:endParaRPr lang="ja-JP" altLang="en-US" sz="3200" dirty="0"/>
              </a:p>
            </p:txBody>
          </p:sp>
        </mc:Choice>
        <mc:Fallback xmlns="">
          <p:sp>
            <p:nvSpPr>
              <p:cNvPr id="165" name="テキスト ボックス 164">
                <a:extLst>
                  <a:ext uri="{FF2B5EF4-FFF2-40B4-BE49-F238E27FC236}">
                    <a16:creationId xmlns:a16="http://schemas.microsoft.com/office/drawing/2014/main" id="{1452BB07-E3B4-A3BF-73AF-55E6875C7071}"/>
                  </a:ext>
                </a:extLst>
              </p:cNvPr>
              <p:cNvSpPr txBox="1">
                <a:spLocks noRot="1" noChangeAspect="1" noMove="1" noResize="1" noEditPoints="1" noAdjustHandles="1" noChangeArrowheads="1" noChangeShapeType="1" noTextEdit="1"/>
              </p:cNvSpPr>
              <p:nvPr/>
            </p:nvSpPr>
            <p:spPr>
              <a:xfrm>
                <a:off x="8708676" y="5287970"/>
                <a:ext cx="2058320" cy="307777"/>
              </a:xfrm>
              <a:prstGeom prst="rect">
                <a:avLst/>
              </a:prstGeom>
              <a:blipFill>
                <a:blip r:embed="rId23"/>
                <a:stretch>
                  <a:fillRect l="-890" t="-5882" b="-21569"/>
                </a:stretch>
              </a:blipFill>
            </p:spPr>
            <p:txBody>
              <a:bodyPr/>
              <a:lstStyle/>
              <a:p>
                <a:r>
                  <a:rPr lang="ja-JP" altLang="en-US">
                    <a:noFill/>
                  </a:rPr>
                  <a:t> </a:t>
                </a:r>
              </a:p>
            </p:txBody>
          </p:sp>
        </mc:Fallback>
      </mc:AlternateContent>
      <p:sp>
        <p:nvSpPr>
          <p:cNvPr id="12" name="矢印: 右 11">
            <a:extLst>
              <a:ext uri="{FF2B5EF4-FFF2-40B4-BE49-F238E27FC236}">
                <a16:creationId xmlns:a16="http://schemas.microsoft.com/office/drawing/2014/main" id="{31ED229F-0E75-7F65-98B6-4D109A219AB2}"/>
              </a:ext>
            </a:extLst>
          </p:cNvPr>
          <p:cNvSpPr/>
          <p:nvPr/>
        </p:nvSpPr>
        <p:spPr>
          <a:xfrm>
            <a:off x="1722124" y="6394898"/>
            <a:ext cx="2009977" cy="398565"/>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3.</a:t>
            </a:r>
            <a:r>
              <a:rPr kumimoji="1" lang="ja-JP" altLang="en-US" sz="1200" dirty="0"/>
              <a:t>端末学習</a:t>
            </a:r>
            <a:r>
              <a:rPr kumimoji="1" lang="en-US" altLang="ja-JP" sz="1200" dirty="0"/>
              <a:t>(</a:t>
            </a:r>
            <a:r>
              <a:rPr kumimoji="1" lang="en-US" altLang="ja-JP" sz="1200" dirty="0" err="1"/>
              <a:t>L_task</a:t>
            </a:r>
            <a:r>
              <a:rPr kumimoji="1" lang="en-US" altLang="ja-JP" sz="1200" dirty="0"/>
              <a:t>)</a:t>
            </a:r>
            <a:r>
              <a:rPr kumimoji="1" lang="ja-JP" altLang="en-US" sz="1200" dirty="0"/>
              <a:t>で利用</a:t>
            </a:r>
            <a:endParaRPr kumimoji="1" lang="en-US" altLang="ja-JP" sz="1200" dirty="0"/>
          </a:p>
        </p:txBody>
      </p:sp>
      <p:sp>
        <p:nvSpPr>
          <p:cNvPr id="32" name="矢印: 上向き折線 31">
            <a:extLst>
              <a:ext uri="{FF2B5EF4-FFF2-40B4-BE49-F238E27FC236}">
                <a16:creationId xmlns:a16="http://schemas.microsoft.com/office/drawing/2014/main" id="{D66810B1-F36C-A1AB-BF2E-D6D0B9420698}"/>
              </a:ext>
            </a:extLst>
          </p:cNvPr>
          <p:cNvSpPr/>
          <p:nvPr/>
        </p:nvSpPr>
        <p:spPr>
          <a:xfrm flipH="1">
            <a:off x="4572460" y="3784273"/>
            <a:ext cx="394568" cy="2868155"/>
          </a:xfrm>
          <a:prstGeom prst="bentUpArrow">
            <a:avLst>
              <a:gd name="adj1" fmla="val 25000"/>
              <a:gd name="adj2" fmla="val 24014"/>
              <a:gd name="adj3" fmla="val 50000"/>
            </a:avLst>
          </a:prstGeom>
          <a:solidFill>
            <a:srgbClr val="D96C4A"/>
          </a:solidFill>
          <a:ln>
            <a:solidFill>
              <a:srgbClr val="D96C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cxnSp>
        <p:nvCxnSpPr>
          <p:cNvPr id="4" name="直線コネクタ 3">
            <a:extLst>
              <a:ext uri="{FF2B5EF4-FFF2-40B4-BE49-F238E27FC236}">
                <a16:creationId xmlns:a16="http://schemas.microsoft.com/office/drawing/2014/main" id="{6750DCFF-D86D-6543-033C-8DDE61C6BEAB}"/>
              </a:ext>
            </a:extLst>
          </p:cNvPr>
          <p:cNvCxnSpPr>
            <a:cxnSpLocks/>
          </p:cNvCxnSpPr>
          <p:nvPr/>
        </p:nvCxnSpPr>
        <p:spPr>
          <a:xfrm>
            <a:off x="4176730" y="2968872"/>
            <a:ext cx="2919873" cy="17692"/>
          </a:xfrm>
          <a:prstGeom prst="line">
            <a:avLst/>
          </a:prstGeom>
          <a:ln>
            <a:solidFill>
              <a:srgbClr val="00206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C4DC39BD-ED30-CF37-566E-245F6FBBAC14}"/>
                  </a:ext>
                </a:extLst>
              </p:cNvPr>
              <p:cNvSpPr txBox="1"/>
              <p:nvPr/>
            </p:nvSpPr>
            <p:spPr>
              <a:xfrm>
                <a:off x="4058920" y="3004837"/>
                <a:ext cx="3198072" cy="338747"/>
              </a:xfrm>
              <a:prstGeom prst="rect">
                <a:avLst/>
              </a:prstGeom>
              <a:noFill/>
            </p:spPr>
            <p:txBody>
              <a:bodyPr wrap="square">
                <a:spAutoFit/>
              </a:bodyPr>
              <a:lstStyle/>
              <a:p>
                <a:r>
                  <a:rPr kumimoji="1" lang="ja-JP" altLang="en-US" sz="1400" dirty="0"/>
                  <a:t>サンプル </a:t>
                </a:r>
                <a:r>
                  <a:rPr kumimoji="1" lang="en-US" altLang="ja-JP" sz="1400" dirty="0"/>
                  <a:t>ID </a:t>
                </a:r>
                <a:r>
                  <a:rPr kumimoji="1" lang="ja-JP" altLang="en-US" sz="1400" dirty="0"/>
                  <a:t>と</a:t>
                </a:r>
                <a14:m>
                  <m:oMath xmlns:m="http://schemas.openxmlformats.org/officeDocument/2006/math">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𝑧</m:t>
                        </m:r>
                      </m:e>
                      <m:sub>
                        <m:r>
                          <a:rPr lang="en-US" altLang="ja-JP" sz="1400" b="0" i="1" smtClean="0">
                            <a:latin typeface="Cambria Math" panose="02040503050406030204" pitchFamily="18" charset="0"/>
                          </a:rPr>
                          <m:t>𝑎𝑔𝑔</m:t>
                        </m:r>
                      </m:sub>
                    </m:sSub>
                    <m:d>
                      <m:dPr>
                        <m:ctrlPr>
                          <a:rPr lang="en-US" altLang="ja-JP" sz="1400" i="1">
                            <a:latin typeface="Cambria Math" panose="02040503050406030204" pitchFamily="18" charset="0"/>
                          </a:rPr>
                        </m:ctrlPr>
                      </m:dPr>
                      <m:e>
                        <m:r>
                          <a:rPr lang="en-US" altLang="ja-JP" sz="1400" i="1">
                            <a:latin typeface="Cambria Math" panose="02040503050406030204" pitchFamily="18" charset="0"/>
                          </a:rPr>
                          <m:t>𝑥</m:t>
                        </m:r>
                      </m:e>
                    </m:d>
                  </m:oMath>
                </a14:m>
                <a:r>
                  <a:rPr lang="en-US" altLang="ja-JP" sz="1400" b="1" dirty="0"/>
                  <a:t>,</a:t>
                </a:r>
                <a:r>
                  <a:rPr lang="ja-JP" altLang="en-US" sz="1400" b="1" dirty="0"/>
                  <a:t> </a:t>
                </a:r>
                <a14:m>
                  <m:oMath xmlns:m="http://schemas.openxmlformats.org/officeDocument/2006/math">
                    <m:sSub>
                      <m:sSubPr>
                        <m:ctrlPr>
                          <a:rPr lang="ja-JP" altLang="en-US" sz="1400" b="1" i="1">
                            <a:latin typeface="Cambria Math" panose="02040503050406030204" pitchFamily="18" charset="0"/>
                          </a:rPr>
                        </m:ctrlPr>
                      </m:sSubPr>
                      <m:e>
                        <m:r>
                          <a:rPr lang="ja-JP" altLang="en-US" sz="1400" b="1" i="1">
                            <a:latin typeface="Cambria Math" panose="02040503050406030204" pitchFamily="18" charset="0"/>
                          </a:rPr>
                          <m:t>𝒖</m:t>
                        </m:r>
                      </m:e>
                      <m:sub>
                        <m:r>
                          <m:rPr>
                            <m:nor/>
                          </m:rPr>
                          <a:rPr lang="ja-JP" altLang="en-US" sz="1400" b="0" i="0">
                            <a:latin typeface="Cambria Math" panose="02040503050406030204" pitchFamily="18" charset="0"/>
                          </a:rPr>
                          <m:t>agg</m:t>
                        </m:r>
                        <m:r>
                          <m:rPr>
                            <m:nor/>
                          </m:rPr>
                          <a:rPr lang="ja-JP" altLang="en-US" sz="1400" b="0" i="0">
                            <a:latin typeface="Cambria Math" panose="02040503050406030204" pitchFamily="18" charset="0"/>
                          </a:rPr>
                          <m:t> </m:t>
                        </m:r>
                      </m:sub>
                    </m:sSub>
                    <m:d>
                      <m:dPr>
                        <m:ctrlPr>
                          <a:rPr lang="ja-JP" altLang="en-US" sz="1400" b="0" i="1">
                            <a:latin typeface="Cambria Math" panose="02040503050406030204" pitchFamily="18" charset="0"/>
                          </a:rPr>
                        </m:ctrlPr>
                      </m:dPr>
                      <m:e>
                        <m:r>
                          <a:rPr lang="ja-JP" altLang="en-US" sz="1400" b="1" i="1">
                            <a:latin typeface="Cambria Math" panose="02040503050406030204" pitchFamily="18" charset="0"/>
                          </a:rPr>
                          <m:t>𝒙</m:t>
                        </m:r>
                      </m:e>
                    </m:d>
                  </m:oMath>
                </a14:m>
                <a:r>
                  <a:rPr lang="ja-JP" altLang="en-US" sz="1400" dirty="0"/>
                  <a:t>を送信</a:t>
                </a:r>
              </a:p>
            </p:txBody>
          </p:sp>
        </mc:Choice>
        <mc:Fallback xmlns="">
          <p:sp>
            <p:nvSpPr>
              <p:cNvPr id="23" name="テキスト ボックス 22">
                <a:extLst>
                  <a:ext uri="{FF2B5EF4-FFF2-40B4-BE49-F238E27FC236}">
                    <a16:creationId xmlns:a16="http://schemas.microsoft.com/office/drawing/2014/main" id="{C4DC39BD-ED30-CF37-566E-245F6FBBAC14}"/>
                  </a:ext>
                </a:extLst>
              </p:cNvPr>
              <p:cNvSpPr txBox="1">
                <a:spLocks noRot="1" noChangeAspect="1" noMove="1" noResize="1" noEditPoints="1" noAdjustHandles="1" noChangeArrowheads="1" noChangeShapeType="1" noTextEdit="1"/>
              </p:cNvSpPr>
              <p:nvPr/>
            </p:nvSpPr>
            <p:spPr>
              <a:xfrm>
                <a:off x="4058920" y="3004837"/>
                <a:ext cx="3198072" cy="338747"/>
              </a:xfrm>
              <a:prstGeom prst="rect">
                <a:avLst/>
              </a:prstGeom>
              <a:blipFill>
                <a:blip r:embed="rId24"/>
                <a:stretch>
                  <a:fillRect l="-573" t="-7273" r="-763" b="-1090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BF6E4A06-D7BB-DF53-5189-C2EBF76027C3}"/>
                  </a:ext>
                </a:extLst>
              </p:cNvPr>
              <p:cNvSpPr txBox="1"/>
              <p:nvPr/>
            </p:nvSpPr>
            <p:spPr>
              <a:xfrm>
                <a:off x="1336531" y="3038768"/>
                <a:ext cx="2253042" cy="326115"/>
              </a:xfrm>
              <a:prstGeom prst="rect">
                <a:avLst/>
              </a:prstGeom>
              <a:noFill/>
            </p:spPr>
            <p:txBody>
              <a:bodyPr wrap="square">
                <a:spAutoFit/>
              </a:bodyPr>
              <a:lstStyle/>
              <a:p>
                <a:r>
                  <a:rPr lang="en-US" altLang="ja-JP" sz="1200" dirty="0"/>
                  <a:t>2.</a:t>
                </a:r>
                <a:r>
                  <a:rPr lang="ja-JP" altLang="en-US" sz="1200" dirty="0"/>
                  <a:t>蒸留配布の</a:t>
                </a:r>
                <a14:m>
                  <m:oMath xmlns:m="http://schemas.openxmlformats.org/officeDocument/2006/math">
                    <m:sSubSup>
                      <m:sSubSupPr>
                        <m:ctrlPr>
                          <a:rPr lang="en-US" altLang="ja-JP" sz="1200" i="1">
                            <a:latin typeface="Cambria Math" panose="02040503050406030204" pitchFamily="18" charset="0"/>
                          </a:rPr>
                        </m:ctrlPr>
                      </m:sSubSupPr>
                      <m:e>
                        <m:r>
                          <a:rPr lang="ja-JP" altLang="en-US" sz="1200" i="1">
                            <a:latin typeface="Cambria Math" panose="02040503050406030204" pitchFamily="18" charset="0"/>
                          </a:rPr>
                          <m:t>𝑝</m:t>
                        </m:r>
                      </m:e>
                      <m:sub>
                        <m:r>
                          <a:rPr lang="en-US" altLang="ja-JP" sz="1200" i="1">
                            <a:latin typeface="Cambria Math" panose="02040503050406030204" pitchFamily="18" charset="0"/>
                          </a:rPr>
                          <m:t>𝑏𝑎𝑠𝑒</m:t>
                        </m:r>
                      </m:sub>
                      <m:sup>
                        <m:r>
                          <a:rPr lang="en-US" altLang="ja-JP" sz="1200" i="1">
                            <a:latin typeface="Cambria Math" panose="02040503050406030204" pitchFamily="18" charset="0"/>
                          </a:rPr>
                          <m:t>(</m:t>
                        </m:r>
                        <m:r>
                          <a:rPr lang="en-US" altLang="ja-JP" sz="1200" i="1">
                            <a:latin typeface="Cambria Math" panose="02040503050406030204" pitchFamily="18" charset="0"/>
                          </a:rPr>
                          <m:t>𝑟</m:t>
                        </m:r>
                        <m:r>
                          <a:rPr lang="en-US" altLang="ja-JP" sz="1200" i="1">
                            <a:latin typeface="Cambria Math" panose="02040503050406030204" pitchFamily="18" charset="0"/>
                          </a:rPr>
                          <m:t>−1)</m:t>
                        </m:r>
                      </m:sup>
                    </m:sSubSup>
                    <m:d>
                      <m:dPr>
                        <m:ctrlPr>
                          <a:rPr lang="ja-JP" altLang="en-US" sz="1200" i="1">
                            <a:latin typeface="Cambria Math" panose="02040503050406030204" pitchFamily="18" charset="0"/>
                          </a:rPr>
                        </m:ctrlPr>
                      </m:dPr>
                      <m:e>
                        <m:r>
                          <a:rPr lang="ja-JP" altLang="en-US" sz="1200" i="1">
                            <a:latin typeface="Cambria Math" panose="02040503050406030204" pitchFamily="18" charset="0"/>
                          </a:rPr>
                          <m:t>𝑥</m:t>
                        </m:r>
                      </m:e>
                    </m:d>
                    <m:r>
                      <a:rPr lang="ja-JP" altLang="en-US" sz="1200" i="1">
                        <a:latin typeface="Cambria Math" panose="02040503050406030204" pitchFamily="18" charset="0"/>
                      </a:rPr>
                      <m:t>に</m:t>
                    </m:r>
                  </m:oMath>
                </a14:m>
                <a:r>
                  <a:rPr lang="ja-JP" altLang="en-US" sz="1200" dirty="0"/>
                  <a:t>利用</a:t>
                </a:r>
              </a:p>
            </p:txBody>
          </p:sp>
        </mc:Choice>
        <mc:Fallback xmlns="">
          <p:sp>
            <p:nvSpPr>
              <p:cNvPr id="36" name="テキスト ボックス 35">
                <a:extLst>
                  <a:ext uri="{FF2B5EF4-FFF2-40B4-BE49-F238E27FC236}">
                    <a16:creationId xmlns:a16="http://schemas.microsoft.com/office/drawing/2014/main" id="{BF6E4A06-D7BB-DF53-5189-C2EBF76027C3}"/>
                  </a:ext>
                </a:extLst>
              </p:cNvPr>
              <p:cNvSpPr txBox="1">
                <a:spLocks noRot="1" noChangeAspect="1" noMove="1" noResize="1" noEditPoints="1" noAdjustHandles="1" noChangeArrowheads="1" noChangeShapeType="1" noTextEdit="1"/>
              </p:cNvSpPr>
              <p:nvPr/>
            </p:nvSpPr>
            <p:spPr>
              <a:xfrm>
                <a:off x="1336531" y="3038768"/>
                <a:ext cx="2253042" cy="326115"/>
              </a:xfrm>
              <a:prstGeom prst="rect">
                <a:avLst/>
              </a:prstGeom>
              <a:blipFill>
                <a:blip r:embed="rId25"/>
                <a:stretch>
                  <a:fillRect b="-111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740757AE-89C0-771A-83E6-0EC76A698814}"/>
                  </a:ext>
                </a:extLst>
              </p:cNvPr>
              <p:cNvSpPr txBox="1"/>
              <p:nvPr/>
            </p:nvSpPr>
            <p:spPr>
              <a:xfrm>
                <a:off x="4345352" y="1094852"/>
                <a:ext cx="2477182" cy="430887"/>
              </a:xfrm>
              <a:prstGeom prst="rect">
                <a:avLst/>
              </a:prstGeom>
              <a:noFill/>
            </p:spPr>
            <p:txBody>
              <a:bodyPr wrap="square">
                <a:spAutoFit/>
              </a:bodyPr>
              <a:lstStyle/>
              <a:p>
                <a:pPr algn="ctr"/>
                <a:r>
                  <a:rPr lang="ja-JP" altLang="en-US" sz="1100" dirty="0"/>
                  <a:t>各</a:t>
                </a:r>
                <a14:m>
                  <m:oMath xmlns:m="http://schemas.openxmlformats.org/officeDocument/2006/math">
                    <m:sSub>
                      <m:sSubPr>
                        <m:ctrlPr>
                          <a:rPr lang="en-US" altLang="ja-JP" sz="1100" i="1">
                            <a:latin typeface="Cambria Math" panose="02040503050406030204" pitchFamily="18" charset="0"/>
                          </a:rPr>
                        </m:ctrlPr>
                      </m:sSubPr>
                      <m:e>
                        <m:r>
                          <a:rPr lang="en-US" altLang="ja-JP" sz="1100" i="1">
                            <a:latin typeface="Cambria Math" panose="02040503050406030204" pitchFamily="18" charset="0"/>
                          </a:rPr>
                          <m:t>𝑧</m:t>
                        </m:r>
                      </m:e>
                      <m:sub>
                        <m:r>
                          <a:rPr lang="en-US" altLang="ja-JP" sz="1100" i="1">
                            <a:latin typeface="Cambria Math" panose="02040503050406030204" pitchFamily="18" charset="0"/>
                          </a:rPr>
                          <m:t>𝑘</m:t>
                        </m:r>
                      </m:sub>
                    </m:sSub>
                    <m:d>
                      <m:dPr>
                        <m:ctrlPr>
                          <a:rPr lang="en-US" altLang="ja-JP" sz="1100" i="1">
                            <a:latin typeface="Cambria Math" panose="02040503050406030204" pitchFamily="18" charset="0"/>
                          </a:rPr>
                        </m:ctrlPr>
                      </m:dPr>
                      <m:e>
                        <m:r>
                          <a:rPr lang="en-US" altLang="ja-JP" sz="1100" i="1">
                            <a:latin typeface="Cambria Math" panose="02040503050406030204" pitchFamily="18" charset="0"/>
                          </a:rPr>
                          <m:t>𝑥</m:t>
                        </m:r>
                      </m:e>
                    </m:d>
                  </m:oMath>
                </a14:m>
                <a:r>
                  <a:rPr lang="ja-JP" altLang="en-US" sz="1100" dirty="0"/>
                  <a:t>から重み付き平均により集約分布を作成</a:t>
                </a:r>
                <a:endParaRPr lang="en-US" altLang="ja-JP" sz="1100" dirty="0"/>
              </a:p>
            </p:txBody>
          </p:sp>
        </mc:Choice>
        <mc:Fallback xmlns="">
          <p:sp>
            <p:nvSpPr>
              <p:cNvPr id="41" name="テキスト ボックス 40">
                <a:extLst>
                  <a:ext uri="{FF2B5EF4-FFF2-40B4-BE49-F238E27FC236}">
                    <a16:creationId xmlns:a16="http://schemas.microsoft.com/office/drawing/2014/main" id="{E9D86FFB-7C3D-663E-89FE-2CFB655E7CA3}"/>
                  </a:ext>
                </a:extLst>
              </p:cNvPr>
              <p:cNvSpPr txBox="1">
                <a:spLocks noRot="1" noChangeAspect="1" noMove="1" noResize="1" noEditPoints="1" noAdjustHandles="1" noChangeArrowheads="1" noChangeShapeType="1" noTextEdit="1"/>
              </p:cNvSpPr>
              <p:nvPr/>
            </p:nvSpPr>
            <p:spPr>
              <a:xfrm>
                <a:off x="4345352" y="1094852"/>
                <a:ext cx="2477182" cy="430887"/>
              </a:xfrm>
              <a:prstGeom prst="rect">
                <a:avLst/>
              </a:prstGeom>
              <a:blipFill>
                <a:blip r:embed="rId26"/>
                <a:stretch>
                  <a:fillRect t="-1429" b="-71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3" name="テキスト ボックス 52">
                <a:extLst>
                  <a:ext uri="{FF2B5EF4-FFF2-40B4-BE49-F238E27FC236}">
                    <a16:creationId xmlns:a16="http://schemas.microsoft.com/office/drawing/2014/main" id="{2C0E252E-D5C9-7835-0C8A-016FEDE369E5}"/>
                  </a:ext>
                </a:extLst>
              </p:cNvPr>
              <p:cNvSpPr txBox="1"/>
              <p:nvPr/>
            </p:nvSpPr>
            <p:spPr>
              <a:xfrm>
                <a:off x="4562967" y="1508031"/>
                <a:ext cx="2002674" cy="325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400" i="1" smtClean="0">
                              <a:latin typeface="Cambria Math" panose="02040503050406030204" pitchFamily="18" charset="0"/>
                            </a:rPr>
                          </m:ctrlPr>
                        </m:sSubPr>
                        <m:e>
                          <m:r>
                            <a:rPr lang="ja-JP" altLang="en-US" sz="1400" i="1">
                              <a:latin typeface="Cambria Math" panose="02040503050406030204" pitchFamily="18" charset="0"/>
                            </a:rPr>
                            <m:t>𝑧</m:t>
                          </m:r>
                        </m:e>
                        <m:sub>
                          <m:r>
                            <a:rPr lang="ja-JP" altLang="en-US" sz="1400" i="1">
                              <a:latin typeface="Cambria Math" panose="02040503050406030204" pitchFamily="18" charset="0"/>
                            </a:rPr>
                            <m:t>𝑎𝑔𝑔</m:t>
                          </m:r>
                        </m:sub>
                      </m:sSub>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r>
                        <a:rPr lang="ja-JP" altLang="en-US" sz="1400" i="0">
                          <a:latin typeface="Cambria Math" panose="02040503050406030204" pitchFamily="18" charset="0"/>
                        </a:rPr>
                        <m:t>=</m:t>
                      </m:r>
                      <m:func>
                        <m:funcPr>
                          <m:ctrlPr>
                            <a:rPr lang="ja-JP" altLang="en-US" sz="1400" i="1">
                              <a:latin typeface="Cambria Math" panose="02040503050406030204" pitchFamily="18" charset="0"/>
                            </a:rPr>
                          </m:ctrlPr>
                        </m:funcPr>
                        <m:fName>
                          <m:r>
                            <a:rPr lang="en-US" altLang="ja-JP" sz="1400" b="0" i="1" smtClean="0">
                              <a:latin typeface="Cambria Math" panose="02040503050406030204" pitchFamily="18" charset="0"/>
                            </a:rPr>
                            <m:t>𝑙</m:t>
                          </m:r>
                          <m:r>
                            <m:rPr>
                              <m:sty m:val="p"/>
                            </m:rPr>
                            <a:rPr lang="en-US" altLang="ja-JP" sz="1400" b="0" i="0" smtClean="0">
                              <a:latin typeface="Cambria Math" panose="02040503050406030204" pitchFamily="18" charset="0"/>
                            </a:rPr>
                            <m:t>og</m:t>
                          </m:r>
                        </m:fName>
                        <m:e>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𝑞</m:t>
                              </m:r>
                            </m:e>
                            <m:sub>
                              <m:r>
                                <a:rPr lang="ja-JP" altLang="en-US" sz="1400" i="1">
                                  <a:latin typeface="Cambria Math" panose="02040503050406030204" pitchFamily="18" charset="0"/>
                                </a:rPr>
                                <m:t>𝑎𝑔𝑔</m:t>
                              </m:r>
                            </m:sub>
                          </m:sSub>
                        </m:e>
                      </m:func>
                      <m:d>
                        <m:dPr>
                          <m:ctrlPr>
                            <a:rPr lang="ja-JP" altLang="en-US" sz="1400" i="1">
                              <a:latin typeface="Cambria Math" panose="02040503050406030204" pitchFamily="18" charset="0"/>
                            </a:rPr>
                          </m:ctrlPr>
                        </m:dPr>
                        <m:e>
                          <m:r>
                            <a:rPr lang="ja-JP" altLang="en-US" sz="1400" i="1">
                              <a:latin typeface="Cambria Math" panose="02040503050406030204" pitchFamily="18" charset="0"/>
                            </a:rPr>
                            <m:t>𝑥</m:t>
                          </m:r>
                        </m:e>
                      </m:d>
                    </m:oMath>
                  </m:oMathPara>
                </a14:m>
                <a:endParaRPr lang="ja-JP" altLang="en-US" sz="1400" dirty="0"/>
              </a:p>
            </p:txBody>
          </p:sp>
        </mc:Choice>
        <mc:Fallback xmlns="">
          <p:sp>
            <p:nvSpPr>
              <p:cNvPr id="53" name="テキスト ボックス 52">
                <a:extLst>
                  <a:ext uri="{FF2B5EF4-FFF2-40B4-BE49-F238E27FC236}">
                    <a16:creationId xmlns:a16="http://schemas.microsoft.com/office/drawing/2014/main" id="{2C0E252E-D5C9-7835-0C8A-016FEDE369E5}"/>
                  </a:ext>
                </a:extLst>
              </p:cNvPr>
              <p:cNvSpPr txBox="1">
                <a:spLocks noRot="1" noChangeAspect="1" noMove="1" noResize="1" noEditPoints="1" noAdjustHandles="1" noChangeArrowheads="1" noChangeShapeType="1" noTextEdit="1"/>
              </p:cNvSpPr>
              <p:nvPr/>
            </p:nvSpPr>
            <p:spPr>
              <a:xfrm>
                <a:off x="4562967" y="1508031"/>
                <a:ext cx="2002674" cy="325282"/>
              </a:xfrm>
              <a:prstGeom prst="rect">
                <a:avLst/>
              </a:prstGeom>
              <a:blipFill>
                <a:blip r:embed="rId2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7" name="矢印: 右 56">
                <a:extLst>
                  <a:ext uri="{FF2B5EF4-FFF2-40B4-BE49-F238E27FC236}">
                    <a16:creationId xmlns:a16="http://schemas.microsoft.com/office/drawing/2014/main" id="{63B13DD4-F1C6-7E50-C589-117F83170281}"/>
                  </a:ext>
                </a:extLst>
              </p:cNvPr>
              <p:cNvSpPr/>
              <p:nvPr/>
            </p:nvSpPr>
            <p:spPr>
              <a:xfrm>
                <a:off x="4429494" y="3242624"/>
                <a:ext cx="2525485" cy="318417"/>
              </a:xfrm>
              <a:prstGeom prst="rightArrow">
                <a:avLst>
                  <a:gd name="adj1" fmla="val 6243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t>6.</a:t>
                </a:r>
                <a:r>
                  <a:rPr lang="ja-JP" altLang="en-US" sz="1050" dirty="0"/>
                  <a:t>クラウド基盤整合</a:t>
                </a:r>
                <a14:m>
                  <m:oMath xmlns:m="http://schemas.openxmlformats.org/officeDocument/2006/math">
                    <m:sSubSup>
                      <m:sSubSupPr>
                        <m:ctrlPr>
                          <a:rPr lang="en-US" altLang="ja-JP" sz="1050" i="1">
                            <a:latin typeface="Cambria Math" panose="02040503050406030204" pitchFamily="18" charset="0"/>
                          </a:rPr>
                        </m:ctrlPr>
                      </m:sSubSupPr>
                      <m:e>
                        <m:r>
                          <a:rPr lang="ja-JP" altLang="en-US" sz="1050" i="1">
                            <a:latin typeface="Cambria Math" panose="02040503050406030204" pitchFamily="18" charset="0"/>
                          </a:rPr>
                          <m:t>𝑝</m:t>
                        </m:r>
                      </m:e>
                      <m:sub>
                        <m:r>
                          <a:rPr lang="en-US" altLang="ja-JP" sz="1050" i="1">
                            <a:latin typeface="Cambria Math" panose="02040503050406030204" pitchFamily="18" charset="0"/>
                          </a:rPr>
                          <m:t>𝑏𝑎𝑠𝑒</m:t>
                        </m:r>
                      </m:sub>
                      <m:sup>
                        <m:r>
                          <a:rPr lang="en-US" altLang="ja-JP" sz="1050" i="1">
                            <a:latin typeface="Cambria Math" panose="02040503050406030204" pitchFamily="18" charset="0"/>
                          </a:rPr>
                          <m:t>(</m:t>
                        </m:r>
                        <m:r>
                          <a:rPr lang="en-US" altLang="ja-JP" sz="1050" i="1">
                            <a:latin typeface="Cambria Math" panose="02040503050406030204" pitchFamily="18" charset="0"/>
                          </a:rPr>
                          <m:t>𝑟</m:t>
                        </m:r>
                        <m:r>
                          <a:rPr lang="en-US" altLang="ja-JP" sz="1050" i="1">
                            <a:latin typeface="Cambria Math" panose="02040503050406030204" pitchFamily="18" charset="0"/>
                          </a:rPr>
                          <m:t>−1)</m:t>
                        </m:r>
                      </m:sup>
                    </m:sSubSup>
                    <m:d>
                      <m:dPr>
                        <m:ctrlPr>
                          <a:rPr lang="ja-JP" altLang="en-US" sz="1050" i="1">
                            <a:latin typeface="Cambria Math" panose="02040503050406030204" pitchFamily="18" charset="0"/>
                          </a:rPr>
                        </m:ctrlPr>
                      </m:dPr>
                      <m:e>
                        <m:r>
                          <a:rPr lang="ja-JP" altLang="en-US" sz="1050" i="1">
                            <a:latin typeface="Cambria Math" panose="02040503050406030204" pitchFamily="18" charset="0"/>
                          </a:rPr>
                          <m:t>𝑥</m:t>
                        </m:r>
                      </m:e>
                    </m:d>
                    <m:r>
                      <a:rPr lang="ja-JP" altLang="en-US" sz="1050" i="1">
                        <a:latin typeface="Cambria Math" panose="02040503050406030204" pitchFamily="18" charset="0"/>
                      </a:rPr>
                      <m:t>に</m:t>
                    </m:r>
                  </m:oMath>
                </a14:m>
                <a:r>
                  <a:rPr lang="ja-JP" altLang="en-US" sz="1050" dirty="0"/>
                  <a:t>利用</a:t>
                </a:r>
              </a:p>
            </p:txBody>
          </p:sp>
        </mc:Choice>
        <mc:Fallback xmlns="">
          <p:sp>
            <p:nvSpPr>
              <p:cNvPr id="57" name="矢印: 右 56">
                <a:extLst>
                  <a:ext uri="{FF2B5EF4-FFF2-40B4-BE49-F238E27FC236}">
                    <a16:creationId xmlns:a16="http://schemas.microsoft.com/office/drawing/2014/main" id="{F00F2354-5922-A2A7-6062-7A793CF986F1}"/>
                  </a:ext>
                </a:extLst>
              </p:cNvPr>
              <p:cNvSpPr>
                <a:spLocks noRot="1" noChangeAspect="1" noMove="1" noResize="1" noEditPoints="1" noAdjustHandles="1" noChangeArrowheads="1" noChangeShapeType="1" noTextEdit="1"/>
              </p:cNvSpPr>
              <p:nvPr/>
            </p:nvSpPr>
            <p:spPr>
              <a:xfrm>
                <a:off x="4429494" y="3242624"/>
                <a:ext cx="2525485" cy="318417"/>
              </a:xfrm>
              <a:prstGeom prst="rightArrow">
                <a:avLst>
                  <a:gd name="adj1" fmla="val 62432"/>
                  <a:gd name="adj2" fmla="val 50000"/>
                </a:avLst>
              </a:prstGeom>
              <a:blipFill>
                <a:blip r:embed="rId30"/>
                <a:stretch>
                  <a:fillRect/>
                </a:stretch>
              </a:blipFill>
            </p:spPr>
            <p:txBody>
              <a:bodyPr/>
              <a:lstStyle/>
              <a:p>
                <a:r>
                  <a:rPr lang="ja-JP" altLang="en-US">
                    <a:noFill/>
                  </a:rPr>
                  <a:t> </a:t>
                </a:r>
              </a:p>
            </p:txBody>
          </p:sp>
        </mc:Fallback>
      </mc:AlternateContent>
      <p:sp>
        <p:nvSpPr>
          <p:cNvPr id="47" name="テキスト ボックス 46">
            <a:extLst>
              <a:ext uri="{FF2B5EF4-FFF2-40B4-BE49-F238E27FC236}">
                <a16:creationId xmlns:a16="http://schemas.microsoft.com/office/drawing/2014/main" id="{B0A8AB10-8F34-EF53-885C-B7034350FBEE}"/>
              </a:ext>
            </a:extLst>
          </p:cNvPr>
          <p:cNvSpPr txBox="1"/>
          <p:nvPr/>
        </p:nvSpPr>
        <p:spPr>
          <a:xfrm>
            <a:off x="7668398" y="3247512"/>
            <a:ext cx="4081272" cy="461665"/>
          </a:xfrm>
          <a:prstGeom prst="rect">
            <a:avLst/>
          </a:prstGeom>
          <a:noFill/>
        </p:spPr>
        <p:txBody>
          <a:bodyPr wrap="square" rtlCol="0">
            <a:spAutoFit/>
          </a:bodyPr>
          <a:lstStyle/>
          <a:p>
            <a:pPr algn="ctr"/>
            <a:r>
              <a:rPr kumimoji="1" lang="en-US" altLang="ja-JP" sz="1200" dirty="0"/>
              <a:t>3B</a:t>
            </a:r>
            <a:r>
              <a:rPr kumimoji="1" lang="ja-JP" altLang="en-US" sz="1200" dirty="0"/>
              <a:t>端末の局所学習が示した予測の改善方向と、</a:t>
            </a:r>
            <a:r>
              <a:rPr kumimoji="1" lang="en-US" altLang="ja-JP" sz="1200" dirty="0"/>
              <a:t>7B</a:t>
            </a:r>
            <a:r>
              <a:rPr kumimoji="1" lang="ja-JP" altLang="en-US" sz="1200" dirty="0"/>
              <a:t>基盤モデルの更新方向が一致するように基盤 </a:t>
            </a:r>
            <a:r>
              <a:rPr kumimoji="1" lang="en-US" altLang="ja-JP" sz="1200" dirty="0" err="1"/>
              <a:t>LoRA</a:t>
            </a:r>
            <a:r>
              <a:rPr kumimoji="1" lang="ja-JP" altLang="en-US" sz="1200" dirty="0"/>
              <a:t>を更新</a:t>
            </a:r>
            <a:endParaRPr kumimoji="1" lang="ja-JP" altLang="en-US" dirty="0"/>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C195E6DB-B6BE-6F96-2007-C224AB9B8EE4}"/>
                  </a:ext>
                </a:extLst>
              </p:cNvPr>
              <p:cNvSpPr txBox="1"/>
              <p:nvPr/>
            </p:nvSpPr>
            <p:spPr>
              <a:xfrm>
                <a:off x="7918749" y="4177527"/>
                <a:ext cx="3480816" cy="5765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𝐿</m:t>
                          </m:r>
                        </m:e>
                        <m:sub>
                          <m:r>
                            <m:rPr>
                              <m:nor/>
                            </m:rPr>
                            <a:rPr lang="en-US" altLang="ja-JP" sz="1200" i="0"/>
                            <m:t>grad</m:t>
                          </m:r>
                          <m:r>
                            <m:rPr>
                              <m:nor/>
                            </m:rPr>
                            <a:rPr lang="en-US" altLang="ja-JP" sz="1200" i="0"/>
                            <m:t> </m:t>
                          </m:r>
                        </m:sub>
                      </m:sSub>
                      <m:r>
                        <a:rPr lang="en-US" altLang="ja-JP" sz="1200" i="1">
                          <a:latin typeface="Cambria Math" panose="02040503050406030204" pitchFamily="18" charset="0"/>
                        </a:rPr>
                        <m:t>=</m:t>
                      </m:r>
                      <m:f>
                        <m:fPr>
                          <m:ctrlPr>
                            <a:rPr lang="ja-JP" altLang="en-US" sz="1200" i="1">
                              <a:latin typeface="Cambria Math" panose="02040503050406030204" pitchFamily="18" charset="0"/>
                            </a:rPr>
                          </m:ctrlPr>
                        </m:fPr>
                        <m:num>
                          <m:r>
                            <a:rPr lang="en-US" altLang="ja-JP" sz="1200" i="1">
                              <a:latin typeface="Cambria Math" panose="02040503050406030204" pitchFamily="18" charset="0"/>
                            </a:rPr>
                            <m:t>1</m:t>
                          </m:r>
                        </m:num>
                        <m:den>
                          <m:d>
                            <m:dPr>
                              <m:begChr m:val="|"/>
                              <m:endChr m:val="|"/>
                              <m:ctrlPr>
                                <a:rPr lang="ja-JP" altLang="en-US" sz="1200" i="1">
                                  <a:latin typeface="Cambria Math" panose="02040503050406030204" pitchFamily="18" charset="0"/>
                                </a:rPr>
                              </m:ctrlPr>
                            </m:dPr>
                            <m:e>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𝐷</m:t>
                                  </m:r>
                                </m:e>
                                <m:sub>
                                  <m:r>
                                    <m:rPr>
                                      <m:nor/>
                                    </m:rPr>
                                    <a:rPr lang="en-US" altLang="ja-JP" sz="1200" i="0"/>
                                    <m:t>align</m:t>
                                  </m:r>
                                  <m:r>
                                    <m:rPr>
                                      <m:nor/>
                                    </m:rPr>
                                    <a:rPr lang="en-US" altLang="ja-JP" sz="1200" i="0"/>
                                    <m:t> </m:t>
                                  </m:r>
                                </m:sub>
                              </m:sSub>
                            </m:e>
                          </m:d>
                        </m:den>
                      </m:f>
                      <m:nary>
                        <m:naryPr>
                          <m:chr m:val="∑"/>
                          <m:limLoc m:val="undOvr"/>
                          <m:grow m:val="on"/>
                          <m:supHide m:val="on"/>
                          <m:ctrlPr>
                            <a:rPr lang="ja-JP" altLang="en-US" sz="1200" i="1">
                              <a:latin typeface="Cambria Math" panose="02040503050406030204" pitchFamily="18" charset="0"/>
                            </a:rPr>
                          </m:ctrlPr>
                        </m:naryPr>
                        <m:sub>
                          <m:r>
                            <a:rPr lang="ja-JP" altLang="en-US" sz="1200" i="1">
                              <a:latin typeface="Cambria Math" panose="02040503050406030204" pitchFamily="18" charset="0"/>
                            </a:rPr>
                            <m:t>𝑥</m:t>
                          </m:r>
                        </m:sub>
                        <m:sup/>
                        <m:e>
                          <m:r>
                            <a:rPr lang="ja-JP" altLang="en-US" sz="1200" i="1">
                              <a:latin typeface="Cambria Math" panose="02040503050406030204" pitchFamily="18" charset="0"/>
                            </a:rPr>
                            <m:t> </m:t>
                          </m:r>
                        </m:e>
                      </m:nary>
                      <m:sSup>
                        <m:sSupPr>
                          <m:ctrlPr>
                            <a:rPr lang="ja-JP" altLang="en-US" sz="1200" i="1">
                              <a:latin typeface="Cambria Math" panose="02040503050406030204" pitchFamily="18" charset="0"/>
                            </a:rPr>
                          </m:ctrlPr>
                        </m:sSupPr>
                        <m:e>
                          <m:d>
                            <m:dPr>
                              <m:begChr m:val="‖"/>
                              <m:endChr m:val="‖"/>
                              <m:ctrlPr>
                                <a:rPr lang="ja-JP" altLang="en-US" sz="1200" i="1">
                                  <a:latin typeface="Cambria Math" panose="02040503050406030204" pitchFamily="18" charset="0"/>
                                </a:rPr>
                              </m:ctrlPr>
                            </m:dPr>
                            <m:e>
                              <m:r>
                                <m:rPr>
                                  <m:sty m:val="p"/>
                                </m:rPr>
                                <a:rPr lang="en-US" altLang="ja-JP" sz="1200">
                                  <a:latin typeface="Cambria Math" panose="02040503050406030204" pitchFamily="18" charset="0"/>
                                </a:rPr>
                                <m:t>Δ</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𝑧</m:t>
                                  </m:r>
                                </m:e>
                                <m:sub>
                                  <m:r>
                                    <m:rPr>
                                      <m:nor/>
                                    </m:rPr>
                                    <a:rPr lang="en-US" altLang="ja-JP" sz="1200" i="0"/>
                                    <m:t>base</m:t>
                                  </m:r>
                                  <m:r>
                                    <m:rPr>
                                      <m:nor/>
                                    </m:rPr>
                                    <a:rPr lang="en-US" altLang="ja-JP" sz="1200" i="0"/>
                                    <m:t> </m:t>
                                  </m:r>
                                </m:sub>
                              </m:sSub>
                              <m:r>
                                <a:rPr lang="en-US" altLang="ja-JP" sz="1200" i="1">
                                  <a:latin typeface="Cambria Math" panose="02040503050406030204" pitchFamily="18" charset="0"/>
                                </a:rPr>
                                <m:t>(</m:t>
                              </m:r>
                              <m:r>
                                <a:rPr lang="ja-JP" altLang="en-US" sz="1200" i="1">
                                  <a:latin typeface="Cambria Math" panose="02040503050406030204" pitchFamily="18" charset="0"/>
                                </a:rPr>
                                <m:t>𝑥</m:t>
                              </m:r>
                              <m:r>
                                <a:rPr lang="en-US" altLang="ja-JP" sz="1200" i="1">
                                  <a:latin typeface="Cambria Math" panose="02040503050406030204" pitchFamily="18" charset="0"/>
                                </a:rPr>
                                <m:t>)−</m:t>
                              </m:r>
                              <m:r>
                                <a:rPr lang="ja-JP" altLang="en-US" sz="1200" i="1">
                                  <a:latin typeface="Cambria Math" panose="02040503050406030204" pitchFamily="18" charset="0"/>
                                </a:rPr>
                                <m:t>𝛾</m:t>
                              </m:r>
                              <m:sSub>
                                <m:sSubPr>
                                  <m:ctrlPr>
                                    <a:rPr lang="ja-JP" altLang="en-US" sz="1200" i="1">
                                      <a:latin typeface="Cambria Math" panose="02040503050406030204" pitchFamily="18" charset="0"/>
                                    </a:rPr>
                                  </m:ctrlPr>
                                </m:sSubPr>
                                <m:e>
                                  <m:r>
                                    <a:rPr lang="ja-JP" altLang="en-US" sz="1200" i="1">
                                      <a:latin typeface="Cambria Math" panose="02040503050406030204" pitchFamily="18" charset="0"/>
                                    </a:rPr>
                                    <m:t>𝑢</m:t>
                                  </m:r>
                                </m:e>
                                <m:sub>
                                  <m:r>
                                    <m:rPr>
                                      <m:nor/>
                                    </m:rPr>
                                    <a:rPr lang="en-US" altLang="ja-JP" sz="1200" i="0"/>
                                    <m:t>agg</m:t>
                                  </m:r>
                                  <m:r>
                                    <m:rPr>
                                      <m:nor/>
                                    </m:rPr>
                                    <a:rPr lang="en-US" altLang="ja-JP" sz="1200" i="0"/>
                                    <m:t> </m:t>
                                  </m:r>
                                </m:sub>
                              </m:sSub>
                              <m:r>
                                <a:rPr lang="en-US" altLang="ja-JP" sz="1200" i="1">
                                  <a:latin typeface="Cambria Math" panose="02040503050406030204" pitchFamily="18" charset="0"/>
                                </a:rPr>
                                <m:t>(</m:t>
                              </m:r>
                              <m:r>
                                <a:rPr lang="ja-JP" altLang="en-US" sz="1200" i="1">
                                  <a:latin typeface="Cambria Math" panose="02040503050406030204" pitchFamily="18" charset="0"/>
                                </a:rPr>
                                <m:t>𝑥</m:t>
                              </m:r>
                              <m:r>
                                <a:rPr lang="en-US" altLang="ja-JP" sz="1200" i="1">
                                  <a:latin typeface="Cambria Math" panose="02040503050406030204" pitchFamily="18" charset="0"/>
                                </a:rPr>
                                <m:t>)</m:t>
                              </m:r>
                            </m:e>
                          </m:d>
                        </m:e>
                        <m:sup>
                          <m:r>
                            <a:rPr lang="en-US" altLang="ja-JP" sz="1200" i="1">
                              <a:latin typeface="Cambria Math" panose="02040503050406030204" pitchFamily="18" charset="0"/>
                            </a:rPr>
                            <m:t>2</m:t>
                          </m:r>
                        </m:sup>
                      </m:sSup>
                    </m:oMath>
                  </m:oMathPara>
                </a14:m>
                <a:endParaRPr lang="ja-JP" altLang="en-US" sz="1000" dirty="0"/>
              </a:p>
            </p:txBody>
          </p:sp>
        </mc:Choice>
        <mc:Fallback xmlns="">
          <p:sp>
            <p:nvSpPr>
              <p:cNvPr id="55" name="テキスト ボックス 54">
                <a:extLst>
                  <a:ext uri="{FF2B5EF4-FFF2-40B4-BE49-F238E27FC236}">
                    <a16:creationId xmlns:a16="http://schemas.microsoft.com/office/drawing/2014/main" id="{C195E6DB-B6BE-6F96-2007-C224AB9B8EE4}"/>
                  </a:ext>
                </a:extLst>
              </p:cNvPr>
              <p:cNvSpPr txBox="1">
                <a:spLocks noRot="1" noChangeAspect="1" noMove="1" noResize="1" noEditPoints="1" noAdjustHandles="1" noChangeArrowheads="1" noChangeShapeType="1" noTextEdit="1"/>
              </p:cNvSpPr>
              <p:nvPr/>
            </p:nvSpPr>
            <p:spPr>
              <a:xfrm>
                <a:off x="7918749" y="4177527"/>
                <a:ext cx="3480816" cy="576504"/>
              </a:xfrm>
              <a:prstGeom prst="rect">
                <a:avLst/>
              </a:prstGeom>
              <a:blipFill>
                <a:blip r:embed="rId32"/>
                <a:stretch>
                  <a:fillRect t="-108421" b="-146316"/>
                </a:stretch>
              </a:blipFill>
            </p:spPr>
            <p:txBody>
              <a:bodyPr/>
              <a:lstStyle/>
              <a:p>
                <a:r>
                  <a:rPr lang="ja-JP" altLang="en-US">
                    <a:noFill/>
                  </a:rPr>
                  <a:t> </a:t>
                </a:r>
              </a:p>
            </p:txBody>
          </p:sp>
        </mc:Fallback>
      </mc:AlternateContent>
      <p:sp>
        <p:nvSpPr>
          <p:cNvPr id="76" name="矢印: 右 75">
            <a:extLst>
              <a:ext uri="{FF2B5EF4-FFF2-40B4-BE49-F238E27FC236}">
                <a16:creationId xmlns:a16="http://schemas.microsoft.com/office/drawing/2014/main" id="{338B6278-E37E-B617-243E-B674F3C1F5E7}"/>
              </a:ext>
            </a:extLst>
          </p:cNvPr>
          <p:cNvSpPr/>
          <p:nvPr/>
        </p:nvSpPr>
        <p:spPr>
          <a:xfrm rot="5400000">
            <a:off x="9592502" y="5059025"/>
            <a:ext cx="290668" cy="1316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78" name="テキスト ボックス 77">
                <a:extLst>
                  <a:ext uri="{FF2B5EF4-FFF2-40B4-BE49-F238E27FC236}">
                    <a16:creationId xmlns:a16="http://schemas.microsoft.com/office/drawing/2014/main" id="{6D6E9E17-0A08-B886-EB88-7366A572C3ED}"/>
                  </a:ext>
                </a:extLst>
              </p:cNvPr>
              <p:cNvSpPr txBox="1"/>
              <p:nvPr/>
            </p:nvSpPr>
            <p:spPr>
              <a:xfrm>
                <a:off x="4444389" y="2260254"/>
                <a:ext cx="2316480" cy="543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200" i="1" smtClean="0">
                              <a:latin typeface="Cambria Math" panose="02040503050406030204" pitchFamily="18" charset="0"/>
                            </a:rPr>
                          </m:ctrlPr>
                        </m:sSubPr>
                        <m:e>
                          <m:r>
                            <a:rPr lang="ja-JP" altLang="en-US" sz="1200" i="1">
                              <a:latin typeface="Cambria Math" panose="02040503050406030204" pitchFamily="18" charset="0"/>
                            </a:rPr>
                            <m:t>𝑢</m:t>
                          </m:r>
                        </m:e>
                        <m:sub>
                          <m:r>
                            <m:rPr>
                              <m:nor/>
                            </m:rPr>
                            <a:rPr lang="ja-JP" altLang="en-US" sz="1200" b="0" i="0">
                              <a:latin typeface="Cambria Math" panose="02040503050406030204" pitchFamily="18" charset="0"/>
                            </a:rPr>
                            <m:t>agg</m:t>
                          </m:r>
                          <m:r>
                            <m:rPr>
                              <m:nor/>
                            </m:rPr>
                            <a:rPr lang="ja-JP" altLang="en-US" sz="1200" b="0" i="0">
                              <a:latin typeface="Cambria Math" panose="02040503050406030204" pitchFamily="18" charset="0"/>
                            </a:rPr>
                            <m:t> </m:t>
                          </m:r>
                        </m:sub>
                      </m:sSub>
                      <m:d>
                        <m:dPr>
                          <m:ctrlPr>
                            <a:rPr lang="ja-JP" altLang="en-US" sz="1200" b="0" i="1">
                              <a:latin typeface="Cambria Math" panose="02040503050406030204" pitchFamily="18" charset="0"/>
                            </a:rPr>
                          </m:ctrlPr>
                        </m:dPr>
                        <m:e>
                          <m:r>
                            <a:rPr lang="ja-JP" altLang="en-US" sz="1200" b="0" i="1">
                              <a:latin typeface="Cambria Math" panose="02040503050406030204" pitchFamily="18" charset="0"/>
                            </a:rPr>
                            <m:t>𝑥</m:t>
                          </m:r>
                        </m:e>
                      </m:d>
                      <m:r>
                        <a:rPr lang="ja-JP" altLang="en-US" sz="1200" b="0" i="0">
                          <a:latin typeface="Cambria Math" panose="02040503050406030204" pitchFamily="18" charset="0"/>
                        </a:rPr>
                        <m:t>=</m:t>
                      </m:r>
                      <m:nary>
                        <m:naryPr>
                          <m:chr m:val="∑"/>
                          <m:limLoc m:val="undOvr"/>
                          <m:grow m:val="on"/>
                          <m:supHide m:val="on"/>
                          <m:ctrlPr>
                            <a:rPr lang="ja-JP" altLang="en-US" sz="1200" b="0" i="1">
                              <a:latin typeface="Cambria Math" panose="02040503050406030204" pitchFamily="18" charset="0"/>
                            </a:rPr>
                          </m:ctrlPr>
                        </m:naryPr>
                        <m:sub>
                          <m:r>
                            <a:rPr lang="ja-JP" altLang="en-US" sz="1200" b="0" i="1">
                              <a:latin typeface="Cambria Math" panose="02040503050406030204" pitchFamily="18" charset="0"/>
                            </a:rPr>
                            <m:t>𝑘</m:t>
                          </m:r>
                        </m:sub>
                        <m:sup/>
                        <m:e>
                          <m:r>
                            <a:rPr lang="ja-JP" altLang="en-US" sz="1200" b="0" i="0">
                              <a:latin typeface="Cambria Math" panose="02040503050406030204" pitchFamily="18" charset="0"/>
                            </a:rPr>
                            <m:t> </m:t>
                          </m:r>
                        </m:e>
                      </m:nary>
                      <m:sSub>
                        <m:sSubPr>
                          <m:ctrlPr>
                            <a:rPr lang="ja-JP" altLang="en-US" sz="1200" b="0" i="1">
                              <a:latin typeface="Cambria Math" panose="02040503050406030204" pitchFamily="18" charset="0"/>
                            </a:rPr>
                          </m:ctrlPr>
                        </m:sSubPr>
                        <m:e>
                          <m:r>
                            <a:rPr lang="ja-JP" altLang="en-US" sz="1200" b="0" i="1">
                              <a:latin typeface="Cambria Math" panose="02040503050406030204" pitchFamily="18" charset="0"/>
                            </a:rPr>
                            <m:t>𝛼</m:t>
                          </m:r>
                        </m:e>
                        <m:sub>
                          <m:r>
                            <a:rPr lang="ja-JP" altLang="en-US" sz="1200" b="0" i="1">
                              <a:latin typeface="Cambria Math" panose="02040503050406030204" pitchFamily="18" charset="0"/>
                            </a:rPr>
                            <m:t>𝑘</m:t>
                          </m:r>
                        </m:sub>
                      </m:sSub>
                      <m:f>
                        <m:fPr>
                          <m:ctrlPr>
                            <a:rPr lang="ja-JP" altLang="en-US" sz="1200" b="0" i="1">
                              <a:latin typeface="Cambria Math" panose="02040503050406030204" pitchFamily="18" charset="0"/>
                            </a:rPr>
                          </m:ctrlPr>
                        </m:fPr>
                        <m:num>
                          <m:sSub>
                            <m:sSubPr>
                              <m:ctrlPr>
                                <a:rPr lang="ja-JP" altLang="en-US" sz="1200" b="0" i="1">
                                  <a:latin typeface="Cambria Math" panose="02040503050406030204" pitchFamily="18" charset="0"/>
                                </a:rPr>
                              </m:ctrlPr>
                            </m:sSubPr>
                            <m:e>
                              <m:r>
                                <a:rPr lang="ja-JP" altLang="en-US" sz="1200" b="0" i="1">
                                  <a:latin typeface="Cambria Math" panose="02040503050406030204" pitchFamily="18" charset="0"/>
                                </a:rPr>
                                <m:t>𝑢</m:t>
                              </m:r>
                            </m:e>
                            <m:sub>
                              <m:r>
                                <a:rPr lang="ja-JP" altLang="en-US" sz="1200" b="0" i="1">
                                  <a:latin typeface="Cambria Math" panose="02040503050406030204" pitchFamily="18" charset="0"/>
                                </a:rPr>
                                <m:t>𝑘</m:t>
                              </m:r>
                            </m:sub>
                          </m:sSub>
                          <m:d>
                            <m:dPr>
                              <m:ctrlPr>
                                <a:rPr lang="ja-JP" altLang="en-US" sz="1200" b="0" i="1">
                                  <a:latin typeface="Cambria Math" panose="02040503050406030204" pitchFamily="18" charset="0"/>
                                </a:rPr>
                              </m:ctrlPr>
                            </m:dPr>
                            <m:e>
                              <m:r>
                                <a:rPr lang="ja-JP" altLang="en-US" sz="1200" b="0" i="1">
                                  <a:latin typeface="Cambria Math" panose="02040503050406030204" pitchFamily="18" charset="0"/>
                                </a:rPr>
                                <m:t>𝑥</m:t>
                              </m:r>
                            </m:e>
                          </m:d>
                        </m:num>
                        <m:den>
                          <m:d>
                            <m:dPr>
                              <m:begChr m:val="‖"/>
                              <m:endChr m:val="‖"/>
                              <m:ctrlPr>
                                <a:rPr lang="ja-JP" altLang="en-US" sz="1200" b="0" i="1">
                                  <a:latin typeface="Cambria Math" panose="02040503050406030204" pitchFamily="18" charset="0"/>
                                </a:rPr>
                              </m:ctrlPr>
                            </m:dPr>
                            <m:e>
                              <m:sSub>
                                <m:sSubPr>
                                  <m:ctrlPr>
                                    <a:rPr lang="ja-JP" altLang="en-US" sz="1200" b="0" i="1">
                                      <a:latin typeface="Cambria Math" panose="02040503050406030204" pitchFamily="18" charset="0"/>
                                    </a:rPr>
                                  </m:ctrlPr>
                                </m:sSubPr>
                                <m:e>
                                  <m:r>
                                    <a:rPr lang="ja-JP" altLang="en-US" sz="1200" b="0" i="1">
                                      <a:latin typeface="Cambria Math" panose="02040503050406030204" pitchFamily="18" charset="0"/>
                                    </a:rPr>
                                    <m:t>𝑢</m:t>
                                  </m:r>
                                </m:e>
                                <m:sub>
                                  <m:r>
                                    <a:rPr lang="ja-JP" altLang="en-US" sz="1200" b="0" i="1">
                                      <a:latin typeface="Cambria Math" panose="02040503050406030204" pitchFamily="18" charset="0"/>
                                    </a:rPr>
                                    <m:t>𝑘</m:t>
                                  </m:r>
                                </m:sub>
                              </m:sSub>
                              <m:d>
                                <m:dPr>
                                  <m:ctrlPr>
                                    <a:rPr lang="ja-JP" altLang="en-US" sz="1200" b="0" i="1">
                                      <a:latin typeface="Cambria Math" panose="02040503050406030204" pitchFamily="18" charset="0"/>
                                    </a:rPr>
                                  </m:ctrlPr>
                                </m:dPr>
                                <m:e>
                                  <m:r>
                                    <a:rPr lang="ja-JP" altLang="en-US" sz="1200" b="0" i="1">
                                      <a:latin typeface="Cambria Math" panose="02040503050406030204" pitchFamily="18" charset="0"/>
                                    </a:rPr>
                                    <m:t>𝑥</m:t>
                                  </m:r>
                                </m:e>
                              </m:d>
                            </m:e>
                          </m:d>
                          <m:r>
                            <a:rPr lang="ja-JP" altLang="en-US" sz="1200" b="0" i="0">
                              <a:latin typeface="Cambria Math" panose="02040503050406030204" pitchFamily="18" charset="0"/>
                            </a:rPr>
                            <m:t>+</m:t>
                          </m:r>
                          <m:r>
                            <a:rPr lang="ja-JP" altLang="en-US" sz="1200" b="0" i="1">
                              <a:latin typeface="Cambria Math" panose="02040503050406030204" pitchFamily="18" charset="0"/>
                            </a:rPr>
                            <m:t>𝜀</m:t>
                          </m:r>
                        </m:den>
                      </m:f>
                    </m:oMath>
                  </m:oMathPara>
                </a14:m>
                <a:endParaRPr lang="ja-JP" altLang="en-US" sz="1200" dirty="0"/>
              </a:p>
            </p:txBody>
          </p:sp>
        </mc:Choice>
        <mc:Fallback xmlns="">
          <p:sp>
            <p:nvSpPr>
              <p:cNvPr id="78" name="テキスト ボックス 77">
                <a:extLst>
                  <a:ext uri="{FF2B5EF4-FFF2-40B4-BE49-F238E27FC236}">
                    <a16:creationId xmlns:a16="http://schemas.microsoft.com/office/drawing/2014/main" id="{6D6E9E17-0A08-B886-EB88-7366A572C3ED}"/>
                  </a:ext>
                </a:extLst>
              </p:cNvPr>
              <p:cNvSpPr txBox="1">
                <a:spLocks noRot="1" noChangeAspect="1" noMove="1" noResize="1" noEditPoints="1" noAdjustHandles="1" noChangeArrowheads="1" noChangeShapeType="1" noTextEdit="1"/>
              </p:cNvSpPr>
              <p:nvPr/>
            </p:nvSpPr>
            <p:spPr>
              <a:xfrm>
                <a:off x="4444389" y="2260254"/>
                <a:ext cx="2316480" cy="543610"/>
              </a:xfrm>
              <a:prstGeom prst="rect">
                <a:avLst/>
              </a:prstGeom>
              <a:blipFill>
                <a:blip r:embed="rId33"/>
                <a:stretch>
                  <a:fillRect t="-115730" b="-162921"/>
                </a:stretch>
              </a:blipFill>
            </p:spPr>
            <p:txBody>
              <a:bodyPr/>
              <a:lstStyle/>
              <a:p>
                <a:r>
                  <a:rPr lang="ja-JP" altLang="en-US">
                    <a:noFill/>
                  </a:rPr>
                  <a:t> </a:t>
                </a:r>
              </a:p>
            </p:txBody>
          </p:sp>
        </mc:Fallback>
      </mc:AlternateContent>
      <p:sp>
        <p:nvSpPr>
          <p:cNvPr id="80" name="テキスト ボックス 79">
            <a:extLst>
              <a:ext uri="{FF2B5EF4-FFF2-40B4-BE49-F238E27FC236}">
                <a16:creationId xmlns:a16="http://schemas.microsoft.com/office/drawing/2014/main" id="{8505B0E6-6819-5488-C35B-952181D33891}"/>
              </a:ext>
            </a:extLst>
          </p:cNvPr>
          <p:cNvSpPr txBox="1"/>
          <p:nvPr/>
        </p:nvSpPr>
        <p:spPr>
          <a:xfrm>
            <a:off x="4364038" y="1895466"/>
            <a:ext cx="2477182" cy="307777"/>
          </a:xfrm>
          <a:prstGeom prst="rect">
            <a:avLst/>
          </a:prstGeom>
          <a:noFill/>
        </p:spPr>
        <p:txBody>
          <a:bodyPr wrap="square">
            <a:spAutoFit/>
          </a:bodyPr>
          <a:lstStyle/>
          <a:p>
            <a:pPr algn="ctr"/>
            <a:r>
              <a:rPr lang="ja-JP" altLang="en-US" sz="1400" b="1" dirty="0"/>
              <a:t>勾配投影の集約</a:t>
            </a:r>
            <a:endParaRPr lang="en-US" altLang="ja-JP" sz="1400" b="1" dirty="0"/>
          </a:p>
        </p:txBody>
      </p:sp>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41CBD2BD-DD76-08D3-C8E1-CC5583A32143}"/>
                  </a:ext>
                </a:extLst>
              </p:cNvPr>
              <p:cNvSpPr txBox="1"/>
              <p:nvPr/>
            </p:nvSpPr>
            <p:spPr>
              <a:xfrm>
                <a:off x="8218393" y="5537441"/>
                <a:ext cx="3154100" cy="3609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1400" i="1" smtClean="0">
                              <a:latin typeface="Cambria Math" panose="02040503050406030204" pitchFamily="18" charset="0"/>
                            </a:rPr>
                          </m:ctrlPr>
                        </m:sSubPr>
                        <m:e>
                          <m:r>
                            <a:rPr lang="ja-JP" altLang="en-US" sz="1400" i="1">
                              <a:latin typeface="Cambria Math" panose="02040503050406030204" pitchFamily="18" charset="0"/>
                            </a:rPr>
                            <m:t>𝐿</m:t>
                          </m:r>
                        </m:e>
                        <m:sub>
                          <m:r>
                            <m:rPr>
                              <m:sty m:val="p"/>
                            </m:rPr>
                            <a:rPr lang="ja-JP" altLang="en-US" sz="1400" i="0">
                              <a:latin typeface="Cambria Math" panose="02040503050406030204" pitchFamily="18" charset="0"/>
                            </a:rPr>
                            <m:t>AC</m:t>
                          </m:r>
                        </m:sub>
                      </m:sSub>
                      <m:r>
                        <a:rPr lang="ja-JP" altLang="en-US" sz="1400" i="0">
                          <a:latin typeface="Cambria Math" panose="02040503050406030204" pitchFamily="18" charset="0"/>
                        </a:rPr>
                        <m:t>=</m:t>
                      </m:r>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𝜆</m:t>
                          </m:r>
                        </m:e>
                        <m:sub>
                          <m:r>
                            <m:rPr>
                              <m:nor/>
                            </m:rPr>
                            <a:rPr lang="ja-JP" altLang="en-US" sz="1400" b="0" i="0">
                              <a:latin typeface="Cambria Math" panose="02040503050406030204" pitchFamily="18" charset="0"/>
                            </a:rPr>
                            <m:t>pred</m:t>
                          </m:r>
                          <m:r>
                            <m:rPr>
                              <m:nor/>
                            </m:rPr>
                            <a:rPr lang="ja-JP" altLang="en-US" sz="1400" b="0" i="0">
                              <a:latin typeface="Cambria Math" panose="02040503050406030204" pitchFamily="18" charset="0"/>
                            </a:rPr>
                            <m:t> </m:t>
                          </m:r>
                        </m:sub>
                      </m:sSub>
                      <m:sSub>
                        <m:sSubPr>
                          <m:ctrlPr>
                            <a:rPr lang="ja-JP" altLang="en-US" sz="1400" b="0" i="1">
                              <a:latin typeface="Cambria Math" panose="02040503050406030204" pitchFamily="18" charset="0"/>
                            </a:rPr>
                          </m:ctrlPr>
                        </m:sSubPr>
                        <m:e>
                          <m:r>
                            <a:rPr lang="ja-JP" altLang="en-US" sz="1400" b="0" i="1">
                              <a:latin typeface="Cambria Math" panose="02040503050406030204" pitchFamily="18" charset="0"/>
                            </a:rPr>
                            <m:t>𝐿</m:t>
                          </m:r>
                        </m:e>
                        <m:sub>
                          <m:r>
                            <m:rPr>
                              <m:nor/>
                            </m:rPr>
                            <a:rPr lang="ja-JP" altLang="en-US" sz="1400" b="0" i="0">
                              <a:latin typeface="Cambria Math" panose="02040503050406030204" pitchFamily="18" charset="0"/>
                            </a:rPr>
                            <m:t>pred</m:t>
                          </m:r>
                          <m:r>
                            <m:rPr>
                              <m:nor/>
                            </m:rPr>
                            <a:rPr lang="ja-JP" altLang="en-US" sz="1400" b="0" i="0">
                              <a:latin typeface="Cambria Math" panose="02040503050406030204" pitchFamily="18" charset="0"/>
                            </a:rPr>
                            <m:t> </m:t>
                          </m:r>
                        </m:sub>
                      </m:sSub>
                      <m:r>
                        <a:rPr lang="ja-JP" altLang="en-US" sz="1400" b="0" i="0">
                          <a:latin typeface="Cambria Math" panose="02040503050406030204" pitchFamily="18" charset="0"/>
                        </a:rPr>
                        <m:t>+</m:t>
                      </m:r>
                      <m:sSub>
                        <m:sSubPr>
                          <m:ctrlPr>
                            <a:rPr lang="ja-JP" altLang="en-US" sz="1400" b="0" i="1">
                              <a:latin typeface="Cambria Math" panose="02040503050406030204" pitchFamily="18" charset="0"/>
                            </a:rPr>
                          </m:ctrlPr>
                        </m:sSubPr>
                        <m:e>
                          <m:r>
                            <a:rPr lang="ja-JP" altLang="en-US" sz="1400" b="0" i="1">
                              <a:latin typeface="Cambria Math" panose="02040503050406030204" pitchFamily="18" charset="0"/>
                            </a:rPr>
                            <m:t>𝜆</m:t>
                          </m:r>
                        </m:e>
                        <m:sub>
                          <m:r>
                            <m:rPr>
                              <m:nor/>
                            </m:rPr>
                            <a:rPr lang="ja-JP" altLang="en-US" sz="1400" b="0" i="0">
                              <a:latin typeface="Cambria Math" panose="02040503050406030204" pitchFamily="18" charset="0"/>
                            </a:rPr>
                            <m:t>grad</m:t>
                          </m:r>
                          <m:r>
                            <m:rPr>
                              <m:nor/>
                            </m:rPr>
                            <a:rPr lang="ja-JP" altLang="en-US" sz="1400" b="0" i="0">
                              <a:latin typeface="Cambria Math" panose="02040503050406030204" pitchFamily="18" charset="0"/>
                            </a:rPr>
                            <m:t> </m:t>
                          </m:r>
                        </m:sub>
                      </m:sSub>
                      <m:sSub>
                        <m:sSubPr>
                          <m:ctrlPr>
                            <a:rPr lang="ja-JP" altLang="en-US" sz="1400" b="0" i="1">
                              <a:latin typeface="Cambria Math" panose="02040503050406030204" pitchFamily="18" charset="0"/>
                            </a:rPr>
                          </m:ctrlPr>
                        </m:sSubPr>
                        <m:e>
                          <m:r>
                            <a:rPr lang="ja-JP" altLang="en-US" sz="1400" b="0" i="1">
                              <a:latin typeface="Cambria Math" panose="02040503050406030204" pitchFamily="18" charset="0"/>
                            </a:rPr>
                            <m:t>𝐿</m:t>
                          </m:r>
                        </m:e>
                        <m:sub>
                          <m:r>
                            <m:rPr>
                              <m:nor/>
                            </m:rPr>
                            <a:rPr lang="ja-JP" altLang="en-US" sz="1400" b="0" i="0">
                              <a:latin typeface="Cambria Math" panose="02040503050406030204" pitchFamily="18" charset="0"/>
                            </a:rPr>
                            <m:t>grad</m:t>
                          </m:r>
                          <m:r>
                            <m:rPr>
                              <m:nor/>
                            </m:rPr>
                            <a:rPr lang="ja-JP" altLang="en-US" sz="1400" b="0" i="0">
                              <a:latin typeface="Cambria Math" panose="02040503050406030204" pitchFamily="18" charset="0"/>
                            </a:rPr>
                            <m:t> </m:t>
                          </m:r>
                        </m:sub>
                      </m:sSub>
                    </m:oMath>
                  </m:oMathPara>
                </a14:m>
                <a:endParaRPr lang="ja-JP" altLang="en-US" sz="1400" dirty="0"/>
              </a:p>
            </p:txBody>
          </p:sp>
        </mc:Choice>
        <mc:Fallback xmlns="">
          <p:sp>
            <p:nvSpPr>
              <p:cNvPr id="82" name="テキスト ボックス 81">
                <a:extLst>
                  <a:ext uri="{FF2B5EF4-FFF2-40B4-BE49-F238E27FC236}">
                    <a16:creationId xmlns:a16="http://schemas.microsoft.com/office/drawing/2014/main" id="{41CBD2BD-DD76-08D3-C8E1-CC5583A32143}"/>
                  </a:ext>
                </a:extLst>
              </p:cNvPr>
              <p:cNvSpPr txBox="1">
                <a:spLocks noRot="1" noChangeAspect="1" noMove="1" noResize="1" noEditPoints="1" noAdjustHandles="1" noChangeArrowheads="1" noChangeShapeType="1" noTextEdit="1"/>
              </p:cNvSpPr>
              <p:nvPr/>
            </p:nvSpPr>
            <p:spPr>
              <a:xfrm>
                <a:off x="8218393" y="5537441"/>
                <a:ext cx="3154100" cy="360933"/>
              </a:xfrm>
              <a:prstGeom prst="rect">
                <a:avLst/>
              </a:prstGeom>
              <a:blipFill>
                <a:blip r:embed="rId34"/>
                <a:stretch>
                  <a:fillRect b="-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4" name="テキスト ボックス 83">
                <a:extLst>
                  <a:ext uri="{FF2B5EF4-FFF2-40B4-BE49-F238E27FC236}">
                    <a16:creationId xmlns:a16="http://schemas.microsoft.com/office/drawing/2014/main" id="{0B15FF67-24A4-38F8-EB81-476CEAF485A7}"/>
                  </a:ext>
                </a:extLst>
              </p:cNvPr>
              <p:cNvSpPr txBox="1"/>
              <p:nvPr/>
            </p:nvSpPr>
            <p:spPr>
              <a:xfrm>
                <a:off x="7859698" y="3772306"/>
                <a:ext cx="3692491" cy="4432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ja-JP" altLang="en-US" sz="1400" smtClean="0">
                          <a:latin typeface="Cambria Math" panose="02040503050406030204" pitchFamily="18" charset="0"/>
                        </a:rPr>
                        <m:t>Δ</m:t>
                      </m:r>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𝑧</m:t>
                          </m:r>
                        </m:e>
                        <m:sub>
                          <m:r>
                            <m:rPr>
                              <m:nor/>
                            </m:rPr>
                            <a:rPr lang="ja-JP" altLang="en-US" sz="1400" b="0" i="0">
                              <a:latin typeface="Cambria Math" panose="02040503050406030204" pitchFamily="18" charset="0"/>
                            </a:rPr>
                            <m:t>base</m:t>
                          </m:r>
                          <m:r>
                            <m:rPr>
                              <m:nor/>
                            </m:rPr>
                            <a:rPr lang="ja-JP" altLang="en-US" sz="1400" b="0" i="0">
                              <a:latin typeface="Cambria Math" panose="02040503050406030204" pitchFamily="18" charset="0"/>
                            </a:rPr>
                            <m:t> </m:t>
                          </m:r>
                        </m:sub>
                      </m:sSub>
                      <m:d>
                        <m:dPr>
                          <m:ctrlPr>
                            <a:rPr lang="ja-JP" altLang="en-US" sz="1400" b="0" i="1">
                              <a:latin typeface="Cambria Math" panose="02040503050406030204" pitchFamily="18" charset="0"/>
                            </a:rPr>
                          </m:ctrlPr>
                        </m:dPr>
                        <m:e>
                          <m:r>
                            <a:rPr lang="ja-JP" altLang="en-US" sz="1400" b="0" i="1">
                              <a:latin typeface="Cambria Math" panose="02040503050406030204" pitchFamily="18" charset="0"/>
                            </a:rPr>
                            <m:t>𝑥</m:t>
                          </m:r>
                        </m:e>
                      </m:d>
                      <m:r>
                        <a:rPr lang="ja-JP" altLang="en-US" sz="1400" b="0" i="0">
                          <a:latin typeface="Cambria Math" panose="02040503050406030204" pitchFamily="18" charset="0"/>
                        </a:rPr>
                        <m:t>=</m:t>
                      </m:r>
                      <m:sSub>
                        <m:sSubPr>
                          <m:ctrlPr>
                            <a:rPr lang="ja-JP" altLang="en-US" sz="1400" b="0" i="1">
                              <a:latin typeface="Cambria Math" panose="02040503050406030204" pitchFamily="18" charset="0"/>
                            </a:rPr>
                          </m:ctrlPr>
                        </m:sSubPr>
                        <m:e>
                          <m:r>
                            <a:rPr lang="ja-JP" altLang="en-US" sz="1400" b="0" i="1">
                              <a:latin typeface="Cambria Math" panose="02040503050406030204" pitchFamily="18" charset="0"/>
                            </a:rPr>
                            <m:t>𝑧</m:t>
                          </m:r>
                        </m:e>
                        <m:sub>
                          <m:r>
                            <m:rPr>
                              <m:nor/>
                            </m:rPr>
                            <a:rPr lang="ja-JP" altLang="en-US" sz="1400" b="0" i="0">
                              <a:latin typeface="Cambria Math" panose="02040503050406030204" pitchFamily="18" charset="0"/>
                            </a:rPr>
                            <m:t>base</m:t>
                          </m:r>
                          <m:r>
                            <m:rPr>
                              <m:nor/>
                            </m:rPr>
                            <a:rPr lang="ja-JP" altLang="en-US" sz="1400" b="0" i="0">
                              <a:latin typeface="Cambria Math" panose="02040503050406030204" pitchFamily="18" charset="0"/>
                            </a:rPr>
                            <m:t> </m:t>
                          </m:r>
                        </m:sub>
                      </m:sSub>
                      <m:d>
                        <m:dPr>
                          <m:ctrlPr>
                            <a:rPr lang="ja-JP" altLang="en-US" sz="1400" b="0" i="1">
                              <a:latin typeface="Cambria Math" panose="02040503050406030204" pitchFamily="18" charset="0"/>
                            </a:rPr>
                          </m:ctrlPr>
                        </m:dPr>
                        <m:e>
                          <m:r>
                            <a:rPr lang="ja-JP" altLang="en-US" sz="1400" b="0" i="1">
                              <a:latin typeface="Cambria Math" panose="02040503050406030204" pitchFamily="18" charset="0"/>
                            </a:rPr>
                            <m:t>𝑥</m:t>
                          </m:r>
                          <m:r>
                            <a:rPr lang="ja-JP" altLang="en-US" sz="1400" b="0" i="0">
                              <a:latin typeface="Cambria Math" panose="02040503050406030204" pitchFamily="18" charset="0"/>
                            </a:rPr>
                            <m:t>;</m:t>
                          </m:r>
                          <m:sSub>
                            <m:sSubPr>
                              <m:ctrlPr>
                                <a:rPr lang="ja-JP" altLang="en-US" sz="1400" b="0" i="1">
                                  <a:latin typeface="Cambria Math" panose="02040503050406030204" pitchFamily="18" charset="0"/>
                                </a:rPr>
                              </m:ctrlPr>
                            </m:sSubPr>
                            <m:e>
                              <m:r>
                                <a:rPr lang="ja-JP" altLang="en-US" sz="1400" b="0" i="1">
                                  <a:latin typeface="Cambria Math" panose="02040503050406030204" pitchFamily="18" charset="0"/>
                                </a:rPr>
                                <m:t>𝜃</m:t>
                              </m:r>
                            </m:e>
                            <m:sub>
                              <m:r>
                                <m:rPr>
                                  <m:nor/>
                                </m:rPr>
                                <a:rPr lang="ja-JP" altLang="en-US" sz="1400" b="0" i="0">
                                  <a:latin typeface="Cambria Math" panose="02040503050406030204" pitchFamily="18" charset="0"/>
                                </a:rPr>
                                <m:t>base</m:t>
                              </m:r>
                              <m:r>
                                <m:rPr>
                                  <m:nor/>
                                </m:rPr>
                                <a:rPr lang="ja-JP" altLang="en-US" sz="1400" b="0" i="0">
                                  <a:latin typeface="Cambria Math" panose="02040503050406030204" pitchFamily="18" charset="0"/>
                                </a:rPr>
                                <m:t> </m:t>
                              </m:r>
                            </m:sub>
                          </m:sSub>
                        </m:e>
                      </m:d>
                      <m:r>
                        <a:rPr lang="ja-JP" altLang="en-US" sz="1400" b="0" i="0">
                          <a:latin typeface="Cambria Math" panose="02040503050406030204" pitchFamily="18" charset="0"/>
                        </a:rPr>
                        <m:t>−</m:t>
                      </m:r>
                      <m:sSubSup>
                        <m:sSubSupPr>
                          <m:ctrlPr>
                            <a:rPr lang="ja-JP" altLang="en-US" sz="1400" b="0" i="1">
                              <a:latin typeface="Cambria Math" panose="02040503050406030204" pitchFamily="18" charset="0"/>
                            </a:rPr>
                          </m:ctrlPr>
                        </m:sSubSupPr>
                        <m:e>
                          <m:r>
                            <a:rPr lang="ja-JP" altLang="en-US" sz="1400" b="0" i="1">
                              <a:latin typeface="Cambria Math" panose="02040503050406030204" pitchFamily="18" charset="0"/>
                            </a:rPr>
                            <m:t>𝑧</m:t>
                          </m:r>
                        </m:e>
                        <m:sub>
                          <m:r>
                            <m:rPr>
                              <m:nor/>
                            </m:rPr>
                            <a:rPr lang="ja-JP" altLang="en-US" sz="1400" b="0" i="0">
                              <a:latin typeface="Cambria Math" panose="02040503050406030204" pitchFamily="18" charset="0"/>
                            </a:rPr>
                            <m:t>base</m:t>
                          </m:r>
                          <m:r>
                            <m:rPr>
                              <m:nor/>
                            </m:rPr>
                            <a:rPr lang="ja-JP" altLang="en-US" sz="1400" b="0" i="0">
                              <a:latin typeface="Cambria Math" panose="02040503050406030204" pitchFamily="18" charset="0"/>
                            </a:rPr>
                            <m:t> </m:t>
                          </m:r>
                        </m:sub>
                        <m:sup>
                          <m:d>
                            <m:dPr>
                              <m:ctrlPr>
                                <a:rPr lang="ja-JP" altLang="en-US" sz="1400" b="0" i="1">
                                  <a:latin typeface="Cambria Math" panose="02040503050406030204" pitchFamily="18" charset="0"/>
                                </a:rPr>
                              </m:ctrlPr>
                            </m:dPr>
                            <m:e>
                              <m:r>
                                <a:rPr lang="ja-JP" altLang="en-US" sz="1400" b="0" i="1">
                                  <a:latin typeface="Cambria Math" panose="02040503050406030204" pitchFamily="18" charset="0"/>
                                </a:rPr>
                                <m:t>𝑟</m:t>
                              </m:r>
                            </m:e>
                            <m:e>
                              <m:r>
                                <a:rPr lang="ja-JP" altLang="en-US" sz="1400" b="0" i="0">
                                  <a:latin typeface="Cambria Math" panose="02040503050406030204" pitchFamily="18" charset="0"/>
                                </a:rPr>
                                <m:t>1</m:t>
                              </m:r>
                            </m:e>
                          </m:d>
                        </m:sup>
                      </m:sSubSup>
                      <m:d>
                        <m:dPr>
                          <m:ctrlPr>
                            <a:rPr lang="ja-JP" altLang="en-US" sz="1400" b="0" i="1">
                              <a:latin typeface="Cambria Math" panose="02040503050406030204" pitchFamily="18" charset="0"/>
                            </a:rPr>
                          </m:ctrlPr>
                        </m:dPr>
                        <m:e>
                          <m:r>
                            <a:rPr lang="ja-JP" altLang="en-US" sz="1400" b="0" i="1">
                              <a:latin typeface="Cambria Math" panose="02040503050406030204" pitchFamily="18" charset="0"/>
                            </a:rPr>
                            <m:t>𝑥</m:t>
                          </m:r>
                        </m:e>
                      </m:d>
                    </m:oMath>
                  </m:oMathPara>
                </a14:m>
                <a:endParaRPr lang="ja-JP" altLang="en-US" sz="1400" dirty="0"/>
              </a:p>
            </p:txBody>
          </p:sp>
        </mc:Choice>
        <mc:Fallback xmlns="">
          <p:sp>
            <p:nvSpPr>
              <p:cNvPr id="84" name="テキスト ボックス 83">
                <a:extLst>
                  <a:ext uri="{FF2B5EF4-FFF2-40B4-BE49-F238E27FC236}">
                    <a16:creationId xmlns:a16="http://schemas.microsoft.com/office/drawing/2014/main" id="{0B15FF67-24A4-38F8-EB81-476CEAF485A7}"/>
                  </a:ext>
                </a:extLst>
              </p:cNvPr>
              <p:cNvSpPr txBox="1">
                <a:spLocks noRot="1" noChangeAspect="1" noMove="1" noResize="1" noEditPoints="1" noAdjustHandles="1" noChangeArrowheads="1" noChangeShapeType="1" noTextEdit="1"/>
              </p:cNvSpPr>
              <p:nvPr/>
            </p:nvSpPr>
            <p:spPr>
              <a:xfrm>
                <a:off x="7859698" y="3772306"/>
                <a:ext cx="3692491" cy="443263"/>
              </a:xfrm>
              <a:prstGeom prst="rect">
                <a:avLst/>
              </a:prstGeom>
              <a:blipFill>
                <a:blip r:embed="rId35"/>
                <a:stretch>
                  <a:fillRect b="-274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77666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4EFEAE-9C71-4C48-BAC4-D4945E9714CC}"/>
              </a:ext>
            </a:extLst>
          </p:cNvPr>
          <p:cNvSpPr>
            <a:spLocks noGrp="1"/>
          </p:cNvSpPr>
          <p:nvPr>
            <p:ph type="title"/>
          </p:nvPr>
        </p:nvSpPr>
        <p:spPr/>
        <p:txBody>
          <a:bodyPr/>
          <a:lstStyle/>
          <a:p>
            <a:r>
              <a:rPr lang="ja-JP" altLang="en-US" dirty="0"/>
              <a:t>新規性</a:t>
            </a:r>
            <a:r>
              <a:rPr lang="en-US" altLang="ja-JP" dirty="0"/>
              <a:t>3</a:t>
            </a:r>
            <a:r>
              <a:rPr lang="ja-JP" altLang="en-US" dirty="0"/>
              <a:t>つ</a:t>
            </a:r>
            <a:endParaRPr kumimoji="1" lang="ja-JP" altLang="en-US" dirty="0"/>
          </a:p>
        </p:txBody>
      </p:sp>
      <p:sp>
        <p:nvSpPr>
          <p:cNvPr id="3" name="スライド番号プレースホルダー 2">
            <a:extLst>
              <a:ext uri="{FF2B5EF4-FFF2-40B4-BE49-F238E27FC236}">
                <a16:creationId xmlns:a16="http://schemas.microsoft.com/office/drawing/2014/main" id="{0A2C9577-81DE-C4DC-2CB5-8C9431BD1E5B}"/>
              </a:ext>
            </a:extLst>
          </p:cNvPr>
          <p:cNvSpPr>
            <a:spLocks noGrp="1"/>
          </p:cNvSpPr>
          <p:nvPr>
            <p:ph type="sldNum" sz="quarter" idx="4"/>
          </p:nvPr>
        </p:nvSpPr>
        <p:spPr/>
        <p:txBody>
          <a:bodyPr/>
          <a:lstStyle/>
          <a:p>
            <a:fld id="{C088C981-6885-4100-82A1-DE7074EC4480}" type="slidenum">
              <a:rPr lang="ja-JP" altLang="en-US" smtClean="0"/>
              <a:pPr/>
              <a:t>11</a:t>
            </a:fld>
            <a:endParaRPr lang="ja-JP" altLang="en-US" dirty="0">
              <a:latin typeface="Arial" panose="020B0604020202020204" pitchFamily="34" charset="0"/>
            </a:endParaRPr>
          </a:p>
        </p:txBody>
      </p:sp>
      <p:sp>
        <p:nvSpPr>
          <p:cNvPr id="10" name="四角形: 角を丸くする 9">
            <a:extLst>
              <a:ext uri="{FF2B5EF4-FFF2-40B4-BE49-F238E27FC236}">
                <a16:creationId xmlns:a16="http://schemas.microsoft.com/office/drawing/2014/main" id="{9F6B25BF-B7CC-8ADF-C684-C459CD10F4E0}"/>
              </a:ext>
            </a:extLst>
          </p:cNvPr>
          <p:cNvSpPr/>
          <p:nvPr/>
        </p:nvSpPr>
        <p:spPr>
          <a:xfrm>
            <a:off x="4205999" y="1046429"/>
            <a:ext cx="3780000" cy="5396706"/>
          </a:xfrm>
          <a:prstGeom prst="roundRect">
            <a:avLst>
              <a:gd name="adj" fmla="val 11872"/>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400" dirty="0">
              <a:solidFill>
                <a:schemeClr val="tx1"/>
              </a:solidFill>
            </a:endParaRPr>
          </a:p>
        </p:txBody>
      </p:sp>
      <p:sp>
        <p:nvSpPr>
          <p:cNvPr id="12" name="四角形: 角を丸くする 11">
            <a:extLst>
              <a:ext uri="{FF2B5EF4-FFF2-40B4-BE49-F238E27FC236}">
                <a16:creationId xmlns:a16="http://schemas.microsoft.com/office/drawing/2014/main" id="{3FD35214-0ED2-503A-8060-B4094CD5B646}"/>
              </a:ext>
            </a:extLst>
          </p:cNvPr>
          <p:cNvSpPr/>
          <p:nvPr/>
        </p:nvSpPr>
        <p:spPr>
          <a:xfrm>
            <a:off x="185979" y="1046428"/>
            <a:ext cx="3780000" cy="5503662"/>
          </a:xfrm>
          <a:prstGeom prst="roundRect">
            <a:avLst>
              <a:gd name="adj" fmla="val 11872"/>
            </a:avLst>
          </a:prstGeom>
          <a:solidFill>
            <a:schemeClr val="accent4">
              <a:lumMod val="20000"/>
              <a:lumOff val="8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400" dirty="0">
              <a:solidFill>
                <a:schemeClr val="tx1"/>
              </a:solidFill>
            </a:endParaRPr>
          </a:p>
        </p:txBody>
      </p:sp>
      <p:sp>
        <p:nvSpPr>
          <p:cNvPr id="14" name="四角形: 角を丸くする 13">
            <a:extLst>
              <a:ext uri="{FF2B5EF4-FFF2-40B4-BE49-F238E27FC236}">
                <a16:creationId xmlns:a16="http://schemas.microsoft.com/office/drawing/2014/main" id="{DB288AF3-3794-CE57-EECB-2D396CB49FAE}"/>
              </a:ext>
            </a:extLst>
          </p:cNvPr>
          <p:cNvSpPr/>
          <p:nvPr/>
        </p:nvSpPr>
        <p:spPr>
          <a:xfrm>
            <a:off x="8226018" y="1046428"/>
            <a:ext cx="3780000" cy="5396706"/>
          </a:xfrm>
          <a:prstGeom prst="roundRect">
            <a:avLst>
              <a:gd name="adj" fmla="val 11872"/>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kumimoji="1" lang="en-US" altLang="ja-JP" sz="1400" dirty="0">
              <a:solidFill>
                <a:schemeClr val="tx1"/>
              </a:solidFill>
            </a:endParaRPr>
          </a:p>
        </p:txBody>
      </p:sp>
      <p:sp>
        <p:nvSpPr>
          <p:cNvPr id="18" name="テキスト ボックス 17">
            <a:extLst>
              <a:ext uri="{FF2B5EF4-FFF2-40B4-BE49-F238E27FC236}">
                <a16:creationId xmlns:a16="http://schemas.microsoft.com/office/drawing/2014/main" id="{A2406245-D526-B15D-B060-FD0BB341E294}"/>
              </a:ext>
            </a:extLst>
          </p:cNvPr>
          <p:cNvSpPr txBox="1"/>
          <p:nvPr/>
        </p:nvSpPr>
        <p:spPr>
          <a:xfrm>
            <a:off x="305990" y="1201643"/>
            <a:ext cx="3539980" cy="707886"/>
          </a:xfrm>
          <a:prstGeom prst="rect">
            <a:avLst/>
          </a:prstGeom>
          <a:noFill/>
        </p:spPr>
        <p:txBody>
          <a:bodyPr wrap="square">
            <a:spAutoFit/>
          </a:bodyPr>
          <a:lstStyle/>
          <a:p>
            <a:pPr algn="ctr"/>
            <a:r>
              <a:rPr lang="ja-JP" altLang="en-US" sz="2000" dirty="0"/>
              <a:t>基盤モデルを中心とした</a:t>
            </a:r>
            <a:endParaRPr lang="en-US" altLang="ja-JP" sz="2000" dirty="0"/>
          </a:p>
          <a:p>
            <a:pPr algn="ctr"/>
            <a:r>
              <a:rPr lang="ja-JP" altLang="en-US" sz="2000" dirty="0"/>
              <a:t>循環更新</a:t>
            </a:r>
            <a:endParaRPr lang="en-US" altLang="ja-JP" sz="2000" b="1" dirty="0"/>
          </a:p>
        </p:txBody>
      </p:sp>
      <p:sp>
        <p:nvSpPr>
          <p:cNvPr id="20" name="テキスト ボックス 19">
            <a:extLst>
              <a:ext uri="{FF2B5EF4-FFF2-40B4-BE49-F238E27FC236}">
                <a16:creationId xmlns:a16="http://schemas.microsoft.com/office/drawing/2014/main" id="{990CCA8C-676F-0972-3E8B-2CABC16ACFEB}"/>
              </a:ext>
            </a:extLst>
          </p:cNvPr>
          <p:cNvSpPr txBox="1"/>
          <p:nvPr/>
        </p:nvSpPr>
        <p:spPr>
          <a:xfrm>
            <a:off x="4544479" y="1201643"/>
            <a:ext cx="2798714" cy="646331"/>
          </a:xfrm>
          <a:prstGeom prst="rect">
            <a:avLst/>
          </a:prstGeom>
          <a:noFill/>
        </p:spPr>
        <p:txBody>
          <a:bodyPr wrap="square">
            <a:spAutoFit/>
          </a:bodyPr>
          <a:lstStyle/>
          <a:p>
            <a:pPr algn="ctr"/>
            <a:r>
              <a:rPr lang="ja-JP" altLang="ja-JP" dirty="0"/>
              <a:t>複数の適応情報を使った</a:t>
            </a:r>
            <a:endParaRPr lang="en-US" altLang="ja-JP" dirty="0"/>
          </a:p>
          <a:p>
            <a:pPr algn="ctr"/>
            <a:r>
              <a:rPr lang="ja-JP" altLang="ja-JP" dirty="0"/>
              <a:t>基盤 </a:t>
            </a:r>
            <a:r>
              <a:rPr lang="en-US" altLang="ja-JP" dirty="0" err="1"/>
              <a:t>LoRA</a:t>
            </a:r>
            <a:r>
              <a:rPr lang="ja-JP" altLang="ja-JP" dirty="0"/>
              <a:t>更新</a:t>
            </a:r>
          </a:p>
        </p:txBody>
      </p:sp>
      <p:sp>
        <p:nvSpPr>
          <p:cNvPr id="22" name="テキスト ボックス 21">
            <a:extLst>
              <a:ext uri="{FF2B5EF4-FFF2-40B4-BE49-F238E27FC236}">
                <a16:creationId xmlns:a16="http://schemas.microsoft.com/office/drawing/2014/main" id="{C7DDA5B2-7548-EBE2-D8B1-69F0553B1E21}"/>
              </a:ext>
            </a:extLst>
          </p:cNvPr>
          <p:cNvSpPr txBox="1"/>
          <p:nvPr/>
        </p:nvSpPr>
        <p:spPr>
          <a:xfrm>
            <a:off x="8466038" y="1232420"/>
            <a:ext cx="3419972" cy="369332"/>
          </a:xfrm>
          <a:prstGeom prst="rect">
            <a:avLst/>
          </a:prstGeom>
          <a:noFill/>
        </p:spPr>
        <p:txBody>
          <a:bodyPr wrap="square">
            <a:spAutoFit/>
          </a:bodyPr>
          <a:lstStyle/>
          <a:p>
            <a:pPr algn="ctr"/>
            <a:r>
              <a:rPr lang="ja-JP" altLang="en-US" dirty="0"/>
              <a:t>共有整合データへの依存除去</a:t>
            </a:r>
          </a:p>
        </p:txBody>
      </p:sp>
    </p:spTree>
    <p:extLst>
      <p:ext uri="{BB962C8B-B14F-4D97-AF65-F5344CB8AC3E}">
        <p14:creationId xmlns:p14="http://schemas.microsoft.com/office/powerpoint/2010/main" val="1571834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四角形: 角を丸くする 115">
            <a:extLst>
              <a:ext uri="{FF2B5EF4-FFF2-40B4-BE49-F238E27FC236}">
                <a16:creationId xmlns:a16="http://schemas.microsoft.com/office/drawing/2014/main" id="{9ED82F25-4BBA-CD0C-0A56-F97649C06834}"/>
              </a:ext>
            </a:extLst>
          </p:cNvPr>
          <p:cNvSpPr/>
          <p:nvPr/>
        </p:nvSpPr>
        <p:spPr>
          <a:xfrm>
            <a:off x="8655670" y="4275894"/>
            <a:ext cx="3489156" cy="2458134"/>
          </a:xfrm>
          <a:prstGeom prst="roundRect">
            <a:avLst>
              <a:gd name="adj" fmla="val 0"/>
            </a:avLst>
          </a:prstGeom>
          <a:solidFill>
            <a:srgbClr val="FFEBEB"/>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285750" indent="-285750">
              <a:buFont typeface="Wingdings" panose="05000000000000000000" pitchFamily="2" charset="2"/>
              <a:buChar char="n"/>
            </a:pPr>
            <a:endParaRPr kumimoji="1" lang="en-US" altLang="ja-JP" sz="1600" dirty="0">
              <a:solidFill>
                <a:schemeClr val="tx1"/>
              </a:solidFill>
            </a:endParaRPr>
          </a:p>
          <a:p>
            <a:pPr marL="285750" indent="-285750">
              <a:buFont typeface="Wingdings" panose="05000000000000000000" pitchFamily="2" charset="2"/>
              <a:buChar char="n"/>
            </a:pPr>
            <a:endParaRPr lang="en-US" altLang="ja-JP" sz="1600" dirty="0">
              <a:solidFill>
                <a:schemeClr val="tx1"/>
              </a:solidFill>
            </a:endParaRPr>
          </a:p>
          <a:p>
            <a:pPr marL="285750" indent="-285750">
              <a:buFont typeface="Wingdings" panose="05000000000000000000" pitchFamily="2" charset="2"/>
              <a:buChar char="n"/>
            </a:pPr>
            <a:endParaRPr kumimoji="1" lang="en-US" altLang="ja-JP" sz="1600" dirty="0">
              <a:solidFill>
                <a:schemeClr val="tx1"/>
              </a:solidFill>
            </a:endParaRPr>
          </a:p>
          <a:p>
            <a:pPr marL="285750" indent="-285750">
              <a:buFont typeface="Wingdings" panose="05000000000000000000" pitchFamily="2" charset="2"/>
              <a:buChar char="n"/>
            </a:pPr>
            <a:r>
              <a:rPr kumimoji="1" lang="en-US" altLang="ja-JP" sz="1600" dirty="0" err="1">
                <a:solidFill>
                  <a:schemeClr val="tx1"/>
                </a:solidFill>
              </a:rPr>
              <a:t>LoRA</a:t>
            </a:r>
            <a:r>
              <a:rPr kumimoji="1" lang="ja-JP" altLang="en-US" sz="1600" dirty="0">
                <a:solidFill>
                  <a:schemeClr val="tx1"/>
                </a:solidFill>
              </a:rPr>
              <a:t>更新差分</a:t>
            </a:r>
          </a:p>
          <a:p>
            <a:pPr marL="285750" indent="-285750">
              <a:buFont typeface="Wingdings" panose="05000000000000000000" pitchFamily="2" charset="2"/>
              <a:buChar char="n"/>
            </a:pPr>
            <a:r>
              <a:rPr kumimoji="1" lang="ja-JP" altLang="en-US" sz="1600" dirty="0">
                <a:solidFill>
                  <a:schemeClr val="tx1"/>
                </a:solidFill>
              </a:rPr>
              <a:t>クラス別件数</a:t>
            </a:r>
          </a:p>
          <a:p>
            <a:pPr marL="285750" indent="-285750">
              <a:buFont typeface="Wingdings" panose="05000000000000000000" pitchFamily="2" charset="2"/>
              <a:buChar char="n"/>
            </a:pPr>
            <a:r>
              <a:rPr kumimoji="1" lang="en-US" altLang="ja-JP" sz="1600" dirty="0">
                <a:solidFill>
                  <a:schemeClr val="tx1"/>
                </a:solidFill>
              </a:rPr>
              <a:t>logits</a:t>
            </a:r>
            <a:r>
              <a:rPr kumimoji="1" lang="ja-JP" altLang="en-US" sz="1600" dirty="0">
                <a:solidFill>
                  <a:schemeClr val="tx1"/>
                </a:solidFill>
              </a:rPr>
              <a:t>や特徴量の統計</a:t>
            </a:r>
          </a:p>
          <a:p>
            <a:pPr marL="285750" indent="-285750">
              <a:buFont typeface="Wingdings" panose="05000000000000000000" pitchFamily="2" charset="2"/>
              <a:buChar char="n"/>
            </a:pPr>
            <a:r>
              <a:rPr kumimoji="1" lang="ja-JP" altLang="en-US" sz="1600" dirty="0">
                <a:solidFill>
                  <a:schemeClr val="tx1"/>
                </a:solidFill>
              </a:rPr>
              <a:t>プロトタイプ</a:t>
            </a:r>
          </a:p>
          <a:p>
            <a:pPr marL="285750" indent="-285750">
              <a:buFont typeface="Wingdings" panose="05000000000000000000" pitchFamily="2" charset="2"/>
              <a:buChar char="n"/>
            </a:pPr>
            <a:r>
              <a:rPr kumimoji="1" lang="ja-JP" altLang="en-US" sz="1600" dirty="0">
                <a:solidFill>
                  <a:schemeClr val="tx1"/>
                </a:solidFill>
              </a:rPr>
              <a:t>統計に合わせてクラウドで生成・選択した疑似整合入力</a:t>
            </a:r>
          </a:p>
        </p:txBody>
      </p:sp>
      <p:sp>
        <p:nvSpPr>
          <p:cNvPr id="2" name="タイトル 1">
            <a:extLst>
              <a:ext uri="{FF2B5EF4-FFF2-40B4-BE49-F238E27FC236}">
                <a16:creationId xmlns:a16="http://schemas.microsoft.com/office/drawing/2014/main" id="{C9115AEA-945C-72A8-345F-7DD5C8FAC8FA}"/>
              </a:ext>
            </a:extLst>
          </p:cNvPr>
          <p:cNvSpPr>
            <a:spLocks noGrp="1"/>
          </p:cNvSpPr>
          <p:nvPr>
            <p:ph type="title"/>
          </p:nvPr>
        </p:nvSpPr>
        <p:spPr/>
        <p:txBody>
          <a:bodyPr>
            <a:normAutofit fontScale="90000"/>
          </a:bodyPr>
          <a:lstStyle/>
          <a:p>
            <a:r>
              <a:rPr kumimoji="1" lang="ja-JP" altLang="en-US" dirty="0"/>
              <a:t>共有整合データに依存しないシステムがなぜ必要なのか</a:t>
            </a:r>
          </a:p>
        </p:txBody>
      </p:sp>
      <p:sp>
        <p:nvSpPr>
          <p:cNvPr id="3" name="スライド番号プレースホルダー 2">
            <a:extLst>
              <a:ext uri="{FF2B5EF4-FFF2-40B4-BE49-F238E27FC236}">
                <a16:creationId xmlns:a16="http://schemas.microsoft.com/office/drawing/2014/main" id="{81043985-ABE4-96A8-C43F-25DA9E2DB58B}"/>
              </a:ext>
            </a:extLst>
          </p:cNvPr>
          <p:cNvSpPr>
            <a:spLocks noGrp="1"/>
          </p:cNvSpPr>
          <p:nvPr>
            <p:ph type="sldNum" sz="quarter" idx="4"/>
          </p:nvPr>
        </p:nvSpPr>
        <p:spPr/>
        <p:txBody>
          <a:bodyPr/>
          <a:lstStyle/>
          <a:p>
            <a:fld id="{C088C981-6885-4100-82A1-DE7074EC4480}" type="slidenum">
              <a:rPr lang="ja-JP" altLang="en-US" smtClean="0"/>
              <a:pPr/>
              <a:t>12</a:t>
            </a:fld>
            <a:endParaRPr lang="ja-JP" altLang="en-US" dirty="0">
              <a:latin typeface="Arial" panose="020B0604020202020204" pitchFamily="34" charset="0"/>
            </a:endParaRPr>
          </a:p>
        </p:txBody>
      </p:sp>
      <p:sp>
        <p:nvSpPr>
          <p:cNvPr id="5" name="矢印: 右 4">
            <a:extLst>
              <a:ext uri="{FF2B5EF4-FFF2-40B4-BE49-F238E27FC236}">
                <a16:creationId xmlns:a16="http://schemas.microsoft.com/office/drawing/2014/main" id="{6F8F77CF-3274-176C-B2E4-02092CB09E9C}"/>
              </a:ext>
            </a:extLst>
          </p:cNvPr>
          <p:cNvSpPr/>
          <p:nvPr/>
        </p:nvSpPr>
        <p:spPr>
          <a:xfrm>
            <a:off x="8199169" y="5177294"/>
            <a:ext cx="392877" cy="432707"/>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2DB38D03-AFF8-DADA-93D5-48632EE699D4}"/>
              </a:ext>
            </a:extLst>
          </p:cNvPr>
          <p:cNvSpPr/>
          <p:nvPr/>
        </p:nvSpPr>
        <p:spPr>
          <a:xfrm>
            <a:off x="127996" y="728301"/>
            <a:ext cx="1098245" cy="382201"/>
          </a:xfrm>
          <a:prstGeom prst="roundRect">
            <a:avLst>
              <a:gd name="adj" fmla="val 6330"/>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ja-JP" altLang="en-US" sz="2400" dirty="0">
                <a:solidFill>
                  <a:schemeClr val="bg1"/>
                </a:solidFill>
              </a:rPr>
              <a:t>現在</a:t>
            </a:r>
            <a:endParaRPr lang="en-US" altLang="ja-JP" sz="2400" dirty="0">
              <a:solidFill>
                <a:schemeClr val="bg1"/>
              </a:solidFill>
            </a:endParaRPr>
          </a:p>
        </p:txBody>
      </p:sp>
      <p:sp>
        <p:nvSpPr>
          <p:cNvPr id="8" name="四角形: 角を丸くする 7">
            <a:extLst>
              <a:ext uri="{FF2B5EF4-FFF2-40B4-BE49-F238E27FC236}">
                <a16:creationId xmlns:a16="http://schemas.microsoft.com/office/drawing/2014/main" id="{D9B6EE17-42C8-F04A-574C-05759D4572C2}"/>
              </a:ext>
            </a:extLst>
          </p:cNvPr>
          <p:cNvSpPr/>
          <p:nvPr/>
        </p:nvSpPr>
        <p:spPr>
          <a:xfrm>
            <a:off x="271743" y="1097966"/>
            <a:ext cx="3878469" cy="1601731"/>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9" name="四角形: 角を丸くする 8">
            <a:extLst>
              <a:ext uri="{FF2B5EF4-FFF2-40B4-BE49-F238E27FC236}">
                <a16:creationId xmlns:a16="http://schemas.microsoft.com/office/drawing/2014/main" id="{613D8573-B444-6460-BCF4-1FBDE283C95E}"/>
              </a:ext>
            </a:extLst>
          </p:cNvPr>
          <p:cNvSpPr/>
          <p:nvPr/>
        </p:nvSpPr>
        <p:spPr>
          <a:xfrm>
            <a:off x="353445" y="4311758"/>
            <a:ext cx="3531127" cy="2458134"/>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10" name="テキスト ボックス 9">
            <a:extLst>
              <a:ext uri="{FF2B5EF4-FFF2-40B4-BE49-F238E27FC236}">
                <a16:creationId xmlns:a16="http://schemas.microsoft.com/office/drawing/2014/main" id="{1F5DBF41-315C-8795-0CBA-70B745F58228}"/>
              </a:ext>
            </a:extLst>
          </p:cNvPr>
          <p:cNvSpPr txBox="1"/>
          <p:nvPr/>
        </p:nvSpPr>
        <p:spPr>
          <a:xfrm>
            <a:off x="319242" y="4348577"/>
            <a:ext cx="3551536" cy="646331"/>
          </a:xfrm>
          <a:prstGeom prst="rect">
            <a:avLst/>
          </a:prstGeom>
          <a:noFill/>
        </p:spPr>
        <p:txBody>
          <a:bodyPr wrap="square">
            <a:spAutoFit/>
          </a:bodyPr>
          <a:lstStyle/>
          <a:p>
            <a:pPr algn="ctr"/>
            <a:r>
              <a:rPr lang="ja-JP" altLang="ja-JP" b="1" dirty="0"/>
              <a:t>固定データが現場を代表するとは限らない</a:t>
            </a:r>
          </a:p>
        </p:txBody>
      </p:sp>
      <p:sp>
        <p:nvSpPr>
          <p:cNvPr id="11" name="テキスト ボックス 10">
            <a:extLst>
              <a:ext uri="{FF2B5EF4-FFF2-40B4-BE49-F238E27FC236}">
                <a16:creationId xmlns:a16="http://schemas.microsoft.com/office/drawing/2014/main" id="{28CBCA30-F5D0-EE14-4448-D70C91ABB54D}"/>
              </a:ext>
            </a:extLst>
          </p:cNvPr>
          <p:cNvSpPr txBox="1"/>
          <p:nvPr/>
        </p:nvSpPr>
        <p:spPr>
          <a:xfrm>
            <a:off x="8592046" y="4394158"/>
            <a:ext cx="3682666" cy="646331"/>
          </a:xfrm>
          <a:prstGeom prst="rect">
            <a:avLst/>
          </a:prstGeom>
          <a:noFill/>
        </p:spPr>
        <p:txBody>
          <a:bodyPr wrap="square">
            <a:spAutoFit/>
          </a:bodyPr>
          <a:lstStyle/>
          <a:p>
            <a:pPr algn="ctr"/>
            <a:r>
              <a:rPr lang="ja-JP" altLang="ja-JP" dirty="0"/>
              <a:t>端末の適応情報や統計から、</a:t>
            </a:r>
            <a:endParaRPr lang="en-US" altLang="ja-JP" dirty="0"/>
          </a:p>
          <a:p>
            <a:pPr algn="ctr"/>
            <a:r>
              <a:rPr lang="ja-JP" altLang="ja-JP" dirty="0"/>
              <a:t>毎ラウンドの整合対象を構成する</a:t>
            </a:r>
            <a:endParaRPr lang="en-US" altLang="ja-JP" sz="2000" b="1" dirty="0"/>
          </a:p>
        </p:txBody>
      </p:sp>
      <p:sp>
        <p:nvSpPr>
          <p:cNvPr id="14" name="四角形: 角を丸くする 13">
            <a:extLst>
              <a:ext uri="{FF2B5EF4-FFF2-40B4-BE49-F238E27FC236}">
                <a16:creationId xmlns:a16="http://schemas.microsoft.com/office/drawing/2014/main" id="{06490F45-5048-0A2F-8C9C-14BB874AA2B4}"/>
              </a:ext>
            </a:extLst>
          </p:cNvPr>
          <p:cNvSpPr/>
          <p:nvPr/>
        </p:nvSpPr>
        <p:spPr>
          <a:xfrm>
            <a:off x="127996" y="3999152"/>
            <a:ext cx="1200809"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ja-JP" altLang="en-US" sz="2000" dirty="0">
                <a:solidFill>
                  <a:schemeClr val="tx1"/>
                </a:solidFill>
              </a:rPr>
              <a:t>問題点①</a:t>
            </a:r>
            <a:endParaRPr lang="en-US" altLang="ja-JP" sz="2000" dirty="0">
              <a:solidFill>
                <a:schemeClr val="tx1"/>
              </a:solidFill>
            </a:endParaRPr>
          </a:p>
        </p:txBody>
      </p:sp>
      <p:sp>
        <p:nvSpPr>
          <p:cNvPr id="31" name="テキスト ボックス 30">
            <a:extLst>
              <a:ext uri="{FF2B5EF4-FFF2-40B4-BE49-F238E27FC236}">
                <a16:creationId xmlns:a16="http://schemas.microsoft.com/office/drawing/2014/main" id="{45B46A51-5953-2212-5B9E-5498D041D79F}"/>
              </a:ext>
            </a:extLst>
          </p:cNvPr>
          <p:cNvSpPr txBox="1"/>
          <p:nvPr/>
        </p:nvSpPr>
        <p:spPr>
          <a:xfrm>
            <a:off x="353445" y="1809793"/>
            <a:ext cx="1097280" cy="646331"/>
          </a:xfrm>
          <a:prstGeom prst="rect">
            <a:avLst/>
          </a:prstGeom>
          <a:noFill/>
        </p:spPr>
        <p:txBody>
          <a:bodyPr wrap="square" rtlCol="0">
            <a:spAutoFit/>
          </a:bodyPr>
          <a:lstStyle/>
          <a:p>
            <a:pPr algn="ctr"/>
            <a:r>
              <a:rPr kumimoji="1" lang="ja-JP" altLang="en-US" sz="1200" dirty="0"/>
              <a:t>更新済み</a:t>
            </a:r>
            <a:endParaRPr kumimoji="1" lang="en-US" altLang="ja-JP" sz="1200" dirty="0"/>
          </a:p>
          <a:p>
            <a:pPr algn="ctr"/>
            <a:r>
              <a:rPr lang="ja-JP" altLang="en-US" sz="1200" dirty="0"/>
              <a:t>基盤モデル</a:t>
            </a:r>
            <a:endParaRPr lang="en-US" altLang="ja-JP" sz="1200" dirty="0"/>
          </a:p>
          <a:p>
            <a:pPr algn="ctr"/>
            <a:r>
              <a:rPr lang="ja-JP" altLang="en-US" sz="1200" dirty="0"/>
              <a:t>＋基盤</a:t>
            </a:r>
            <a:r>
              <a:rPr lang="en-US" altLang="ja-JP" sz="1200" dirty="0" err="1"/>
              <a:t>LoRA</a:t>
            </a:r>
            <a:endParaRPr kumimoji="1" lang="ja-JP" altLang="en-US" dirty="0"/>
          </a:p>
        </p:txBody>
      </p:sp>
      <p:sp>
        <p:nvSpPr>
          <p:cNvPr id="33" name="矢印: 右 32">
            <a:extLst>
              <a:ext uri="{FF2B5EF4-FFF2-40B4-BE49-F238E27FC236}">
                <a16:creationId xmlns:a16="http://schemas.microsoft.com/office/drawing/2014/main" id="{86E0EB97-0998-A601-393D-5E4A1153FE53}"/>
              </a:ext>
            </a:extLst>
          </p:cNvPr>
          <p:cNvSpPr/>
          <p:nvPr/>
        </p:nvSpPr>
        <p:spPr>
          <a:xfrm>
            <a:off x="1328805" y="1454920"/>
            <a:ext cx="1060174" cy="9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テキスト ボックス 34">
            <a:extLst>
              <a:ext uri="{FF2B5EF4-FFF2-40B4-BE49-F238E27FC236}">
                <a16:creationId xmlns:a16="http://schemas.microsoft.com/office/drawing/2014/main" id="{D8B77DA7-4282-9133-37E5-2857BE1E6750}"/>
              </a:ext>
            </a:extLst>
          </p:cNvPr>
          <p:cNvSpPr txBox="1"/>
          <p:nvPr/>
        </p:nvSpPr>
        <p:spPr>
          <a:xfrm>
            <a:off x="1328805" y="1211711"/>
            <a:ext cx="1097280" cy="261610"/>
          </a:xfrm>
          <a:prstGeom prst="rect">
            <a:avLst/>
          </a:prstGeom>
          <a:noFill/>
        </p:spPr>
        <p:txBody>
          <a:bodyPr wrap="square" rtlCol="0">
            <a:spAutoFit/>
          </a:bodyPr>
          <a:lstStyle/>
          <a:p>
            <a:pPr algn="ctr"/>
            <a:r>
              <a:rPr kumimoji="1" lang="ja-JP" altLang="en-US" sz="1100" dirty="0"/>
              <a:t>前向き推論</a:t>
            </a:r>
            <a:endParaRPr kumimoji="1" lang="ja-JP" altLang="en-US" sz="1600" dirty="0"/>
          </a:p>
        </p:txBody>
      </p:sp>
      <p:pic>
        <p:nvPicPr>
          <p:cNvPr id="37" name="グラフィックス 36" descr="データベース 枠線">
            <a:extLst>
              <a:ext uri="{FF2B5EF4-FFF2-40B4-BE49-F238E27FC236}">
                <a16:creationId xmlns:a16="http://schemas.microsoft.com/office/drawing/2014/main" id="{38754A40-EC0A-B1E9-3F47-3E449D1059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25479" y="1548306"/>
            <a:ext cx="436942" cy="436942"/>
          </a:xfrm>
          <a:prstGeom prst="rect">
            <a:avLst/>
          </a:prstGeom>
        </p:spPr>
      </p:pic>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4B2C5C61-64E0-9EE4-84BA-1731A8C0B14D}"/>
                  </a:ext>
                </a:extLst>
              </p:cNvPr>
              <p:cNvSpPr txBox="1"/>
              <p:nvPr/>
            </p:nvSpPr>
            <p:spPr>
              <a:xfrm>
                <a:off x="2359095" y="1391316"/>
                <a:ext cx="1541779" cy="646331"/>
              </a:xfrm>
              <a:prstGeom prst="rect">
                <a:avLst/>
              </a:prstGeom>
              <a:noFill/>
            </p:spPr>
            <p:txBody>
              <a:bodyPr wrap="square" rtlCol="0">
                <a:spAutoFit/>
              </a:bodyPr>
              <a:lstStyle/>
              <a:p>
                <a:pPr algn="ctr"/>
                <a:r>
                  <a:rPr kumimoji="1" lang="ja-JP" altLang="en-US" sz="1200" dirty="0"/>
                  <a:t>サンプル </a:t>
                </a:r>
                <a:r>
                  <a:rPr kumimoji="1" lang="en-US" altLang="ja-JP" sz="1200" dirty="0"/>
                  <a:t>ID </a:t>
                </a:r>
                <a:r>
                  <a:rPr kumimoji="1" lang="ja-JP" altLang="en-US" sz="1200" dirty="0"/>
                  <a:t>と</a:t>
                </a:r>
                <a:endParaRPr kumimoji="1" lang="en-US" altLang="ja-JP" sz="1200" dirty="0"/>
              </a:p>
              <a:p>
                <a:pPr algn="ctr"/>
                <a:r>
                  <a:rPr kumimoji="1" lang="ja-JP" altLang="en-US" sz="1200" dirty="0"/>
                  <a:t> 基盤 </a:t>
                </a:r>
                <a:r>
                  <a:rPr kumimoji="1" lang="en-US" altLang="ja-JP" sz="1200" dirty="0"/>
                  <a:t>logits</a:t>
                </a:r>
                <a:r>
                  <a:rPr lang="ja-JP" altLang="en-US" sz="1200" dirty="0"/>
                  <a:t> </a:t>
                </a:r>
                <a14:m>
                  <m:oMath xmlns:m="http://schemas.openxmlformats.org/officeDocument/2006/math">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𝑧</m:t>
                        </m:r>
                      </m:e>
                      <m:sub>
                        <m:r>
                          <a:rPr lang="en-US" altLang="ja-JP" sz="1200" b="0" i="1" smtClean="0">
                            <a:latin typeface="Cambria Math" panose="02040503050406030204" pitchFamily="18" charset="0"/>
                          </a:rPr>
                          <m:t>𝑏𝑎𝑠𝑒</m:t>
                        </m:r>
                      </m:sub>
                    </m:sSub>
                    <m:r>
                      <a:rPr lang="en-US" altLang="ja-JP" sz="1200" i="1">
                        <a:latin typeface="Cambria Math" panose="02040503050406030204" pitchFamily="18" charset="0"/>
                      </a:rPr>
                      <m:t>(</m:t>
                    </m:r>
                    <m:r>
                      <a:rPr lang="en-US" altLang="ja-JP" sz="1200" i="1">
                        <a:latin typeface="Cambria Math" panose="02040503050406030204" pitchFamily="18" charset="0"/>
                      </a:rPr>
                      <m:t>𝑥</m:t>
                    </m:r>
                    <m:r>
                      <a:rPr lang="en-US" altLang="ja-JP" sz="1200" i="1">
                        <a:latin typeface="Cambria Math" panose="02040503050406030204" pitchFamily="18" charset="0"/>
                      </a:rPr>
                      <m:t>)</m:t>
                    </m:r>
                  </m:oMath>
                </a14:m>
                <a:r>
                  <a:rPr kumimoji="1" lang="ja-JP" altLang="en-US" sz="1200" dirty="0"/>
                  <a:t>を保存</a:t>
                </a:r>
                <a:endParaRPr kumimoji="1" lang="ja-JP" altLang="en-US" dirty="0"/>
              </a:p>
            </p:txBody>
          </p:sp>
        </mc:Choice>
        <mc:Fallback xmlns="">
          <p:sp>
            <p:nvSpPr>
              <p:cNvPr id="39" name="テキスト ボックス 38">
                <a:extLst>
                  <a:ext uri="{FF2B5EF4-FFF2-40B4-BE49-F238E27FC236}">
                    <a16:creationId xmlns:a16="http://schemas.microsoft.com/office/drawing/2014/main" id="{4B2C5C61-64E0-9EE4-84BA-1731A8C0B14D}"/>
                  </a:ext>
                </a:extLst>
              </p:cNvPr>
              <p:cNvSpPr txBox="1">
                <a:spLocks noRot="1" noChangeAspect="1" noMove="1" noResize="1" noEditPoints="1" noAdjustHandles="1" noChangeArrowheads="1" noChangeShapeType="1" noTextEdit="1"/>
              </p:cNvSpPr>
              <p:nvPr/>
            </p:nvSpPr>
            <p:spPr>
              <a:xfrm>
                <a:off x="2359095" y="1391316"/>
                <a:ext cx="1541779" cy="646331"/>
              </a:xfrm>
              <a:prstGeom prst="rect">
                <a:avLst/>
              </a:prstGeom>
              <a:blipFill>
                <a:blip r:embed="rId3"/>
                <a:stretch>
                  <a:fillRect t="-943" b="-566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8E257C3B-7708-01C1-ECF5-F7B23D48B9B5}"/>
                  </a:ext>
                </a:extLst>
              </p:cNvPr>
              <p:cNvSpPr txBox="1"/>
              <p:nvPr/>
            </p:nvSpPr>
            <p:spPr>
              <a:xfrm>
                <a:off x="1237768" y="1944858"/>
                <a:ext cx="1238101" cy="613886"/>
              </a:xfrm>
              <a:prstGeom prst="rect">
                <a:avLst/>
              </a:prstGeom>
              <a:noFill/>
            </p:spPr>
            <p:txBody>
              <a:bodyPr wrap="square">
                <a:spAutoFit/>
              </a:bodyPr>
              <a:lstStyle/>
              <a:p>
                <a:pPr algn="ctr"/>
                <a:r>
                  <a:rPr lang="ja-JP" altLang="en-US" sz="1100" b="1" dirty="0"/>
                  <a:t>公開整合セット</a:t>
                </a:r>
                <a:r>
                  <a:rPr lang="ja-JP" altLang="en-US" sz="1100" dirty="0"/>
                  <a:t>の各サンプル</a:t>
                </a:r>
                <a:endParaRPr lang="en-US" altLang="ja-JP" sz="11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100" b="0" i="1" smtClean="0">
                          <a:latin typeface="Cambria Math" panose="02040503050406030204" pitchFamily="18" charset="0"/>
                        </a:rPr>
                        <m:t>𝑥</m:t>
                      </m:r>
                      <m:r>
                        <a:rPr lang="en-US" altLang="ja-JP" sz="1100" b="0" i="1" smtClean="0">
                          <a:latin typeface="Cambria Math" panose="02040503050406030204" pitchFamily="18" charset="0"/>
                          <a:ea typeface="Cambria Math" panose="02040503050406030204" pitchFamily="18" charset="0"/>
                        </a:rPr>
                        <m:t>∈</m:t>
                      </m:r>
                      <m:sSub>
                        <m:sSubPr>
                          <m:ctrlPr>
                            <a:rPr lang="ja-JP" altLang="en-US" sz="1100" i="1" smtClean="0">
                              <a:latin typeface="Cambria Math" panose="02040503050406030204" pitchFamily="18" charset="0"/>
                            </a:rPr>
                          </m:ctrlPr>
                        </m:sSubPr>
                        <m:e>
                          <m:r>
                            <a:rPr lang="ja-JP" altLang="en-US" sz="1100" i="1">
                              <a:latin typeface="Cambria Math" panose="02040503050406030204" pitchFamily="18" charset="0"/>
                            </a:rPr>
                            <m:t>𝒟</m:t>
                          </m:r>
                        </m:e>
                        <m:sub>
                          <m:r>
                            <a:rPr lang="ja-JP" altLang="en-US" sz="1100" i="1">
                              <a:latin typeface="Cambria Math" panose="02040503050406030204" pitchFamily="18" charset="0"/>
                            </a:rPr>
                            <m:t>𝑎𝑙𝑖𝑔</m:t>
                          </m:r>
                          <m:r>
                            <a:rPr lang="ja-JP" altLang="en-US" sz="1100" i="1" smtClean="0">
                              <a:latin typeface="Cambria Math" panose="02040503050406030204" pitchFamily="18" charset="0"/>
                            </a:rPr>
                            <m:t>𝑛</m:t>
                          </m:r>
                        </m:sub>
                      </m:sSub>
                    </m:oMath>
                  </m:oMathPara>
                </a14:m>
                <a:endParaRPr lang="ja-JP" altLang="en-US" sz="1400" dirty="0"/>
              </a:p>
            </p:txBody>
          </p:sp>
        </mc:Choice>
        <mc:Fallback xmlns="">
          <p:sp>
            <p:nvSpPr>
              <p:cNvPr id="41" name="テキスト ボックス 40">
                <a:extLst>
                  <a:ext uri="{FF2B5EF4-FFF2-40B4-BE49-F238E27FC236}">
                    <a16:creationId xmlns:a16="http://schemas.microsoft.com/office/drawing/2014/main" id="{8E257C3B-7708-01C1-ECF5-F7B23D48B9B5}"/>
                  </a:ext>
                </a:extLst>
              </p:cNvPr>
              <p:cNvSpPr txBox="1">
                <a:spLocks noRot="1" noChangeAspect="1" noMove="1" noResize="1" noEditPoints="1" noAdjustHandles="1" noChangeArrowheads="1" noChangeShapeType="1" noTextEdit="1"/>
              </p:cNvSpPr>
              <p:nvPr/>
            </p:nvSpPr>
            <p:spPr>
              <a:xfrm>
                <a:off x="1237768" y="1944858"/>
                <a:ext cx="1238101" cy="613886"/>
              </a:xfrm>
              <a:prstGeom prst="rect">
                <a:avLst/>
              </a:prstGeom>
              <a:blipFill>
                <a:blip r:embed="rId4"/>
                <a:stretch>
                  <a:fillRect b="-990"/>
                </a:stretch>
              </a:blipFill>
            </p:spPr>
            <p:txBody>
              <a:bodyPr/>
              <a:lstStyle/>
              <a:p>
                <a:r>
                  <a:rPr lang="ja-JP" altLang="en-US">
                    <a:noFill/>
                  </a:rPr>
                  <a:t> </a:t>
                </a:r>
              </a:p>
            </p:txBody>
          </p:sp>
        </mc:Fallback>
      </mc:AlternateContent>
      <p:pic>
        <p:nvPicPr>
          <p:cNvPr id="43" name="図 42">
            <a:extLst>
              <a:ext uri="{FF2B5EF4-FFF2-40B4-BE49-F238E27FC236}">
                <a16:creationId xmlns:a16="http://schemas.microsoft.com/office/drawing/2014/main" id="{0536BF90-6DF1-5694-7D48-905DC46A2CD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0841" y="1357860"/>
            <a:ext cx="382343" cy="383216"/>
          </a:xfrm>
          <a:prstGeom prst="rect">
            <a:avLst/>
          </a:prstGeom>
        </p:spPr>
      </p:pic>
      <p:sp>
        <p:nvSpPr>
          <p:cNvPr id="45" name="四角形: 角を丸くする 44">
            <a:extLst>
              <a:ext uri="{FF2B5EF4-FFF2-40B4-BE49-F238E27FC236}">
                <a16:creationId xmlns:a16="http://schemas.microsoft.com/office/drawing/2014/main" id="{9E4CE368-F18E-BC46-53CE-C8D7DD1438B7}"/>
              </a:ext>
            </a:extLst>
          </p:cNvPr>
          <p:cNvSpPr/>
          <p:nvPr/>
        </p:nvSpPr>
        <p:spPr>
          <a:xfrm>
            <a:off x="4389439" y="3999152"/>
            <a:ext cx="1200809" cy="312606"/>
          </a:xfrm>
          <a:prstGeom prst="roundRect">
            <a:avLst>
              <a:gd name="adj" fmla="val 6330"/>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ja-JP" altLang="en-US" sz="2000" dirty="0">
                <a:solidFill>
                  <a:schemeClr val="tx1"/>
                </a:solidFill>
              </a:rPr>
              <a:t>問題点②</a:t>
            </a:r>
            <a:endParaRPr lang="en-US" altLang="ja-JP" sz="2000" dirty="0">
              <a:solidFill>
                <a:schemeClr val="tx1"/>
              </a:solidFill>
            </a:endParaRPr>
          </a:p>
        </p:txBody>
      </p:sp>
      <p:pic>
        <p:nvPicPr>
          <p:cNvPr id="52" name="グラフィックス 51" descr="データベース 枠線">
            <a:extLst>
              <a:ext uri="{FF2B5EF4-FFF2-40B4-BE49-F238E27FC236}">
                <a16:creationId xmlns:a16="http://schemas.microsoft.com/office/drawing/2014/main" id="{2F2A54FF-CE2A-5A37-6759-4A6E4D1DCD1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6777" y="5501430"/>
            <a:ext cx="436942" cy="436942"/>
          </a:xfrm>
          <a:prstGeom prst="rect">
            <a:avLst/>
          </a:prstGeom>
        </p:spPr>
      </p:pic>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6FF3E3D1-E316-AF91-3BB9-F3368B4E7955}"/>
                  </a:ext>
                </a:extLst>
              </p:cNvPr>
              <p:cNvSpPr txBox="1"/>
              <p:nvPr/>
            </p:nvSpPr>
            <p:spPr>
              <a:xfrm>
                <a:off x="961858" y="5548809"/>
                <a:ext cx="2314299" cy="461665"/>
              </a:xfrm>
              <a:prstGeom prst="rect">
                <a:avLst/>
              </a:prstGeom>
              <a:noFill/>
            </p:spPr>
            <p:txBody>
              <a:bodyPr wrap="square">
                <a:spAutoFit/>
              </a:bodyPr>
              <a:lstStyle/>
              <a:p>
                <a:pPr algn="ctr"/>
                <a:r>
                  <a:rPr lang="ja-JP" altLang="en-US" sz="1200" b="0" dirty="0">
                    <a:solidFill>
                      <a:schemeClr val="tx1"/>
                    </a:solidFill>
                    <a:latin typeface="+mj-ea"/>
                    <a:ea typeface="+mj-ea"/>
                    <a:cs typeface="Calibri" panose="020F0502020204030204" pitchFamily="34" charset="0"/>
                  </a:rPr>
                  <a:t>端末固有データ</a:t>
                </a:r>
                <a:r>
                  <a:rPr lang="ja-JP" altLang="en-US" sz="1200" b="0" dirty="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US" altLang="ja-JP" sz="1200" b="0" i="1" smtClean="0">
                        <a:solidFill>
                          <a:schemeClr val="tx1"/>
                        </a:solidFill>
                        <a:latin typeface="Cambria Math" panose="02040503050406030204" pitchFamily="18" charset="0"/>
                        <a:ea typeface="Cambria Math" panose="02040503050406030204" pitchFamily="18" charset="0"/>
                      </a:rPr>
                      <m:t>(</m:t>
                    </m:r>
                    <m:r>
                      <a:rPr lang="en-US" altLang="ja-JP" sz="1200" b="0" i="1" smtClean="0">
                        <a:solidFill>
                          <a:schemeClr val="tx1"/>
                        </a:solidFill>
                        <a:latin typeface="Cambria Math" panose="02040503050406030204" pitchFamily="18" charset="0"/>
                        <a:ea typeface="Cambria Math" panose="02040503050406030204" pitchFamily="18" charset="0"/>
                      </a:rPr>
                      <m:t>𝑥</m:t>
                    </m:r>
                    <m:r>
                      <a:rPr lang="en-US" altLang="ja-JP" sz="1200" b="0" i="1" smtClean="0">
                        <a:solidFill>
                          <a:schemeClr val="tx1"/>
                        </a:solidFill>
                        <a:latin typeface="Cambria Math" panose="02040503050406030204" pitchFamily="18" charset="0"/>
                        <a:ea typeface="Cambria Math" panose="02040503050406030204" pitchFamily="18" charset="0"/>
                      </a:rPr>
                      <m:t>,</m:t>
                    </m:r>
                    <m:r>
                      <a:rPr lang="en-US" altLang="ja-JP" sz="1200" b="0" i="1" smtClean="0">
                        <a:solidFill>
                          <a:schemeClr val="tx1"/>
                        </a:solidFill>
                        <a:latin typeface="Cambria Math" panose="02040503050406030204" pitchFamily="18" charset="0"/>
                        <a:ea typeface="Cambria Math" panose="02040503050406030204" pitchFamily="18" charset="0"/>
                      </a:rPr>
                      <m:t>𝑦</m:t>
                    </m:r>
                    <m:r>
                      <a:rPr lang="en-US" altLang="ja-JP" sz="1200" b="0" i="1" smtClean="0">
                        <a:solidFill>
                          <a:schemeClr val="tx1"/>
                        </a:solidFill>
                        <a:latin typeface="Cambria Math" panose="02040503050406030204" pitchFamily="18" charset="0"/>
                        <a:ea typeface="Cambria Math" panose="02040503050406030204" pitchFamily="18" charset="0"/>
                      </a:rPr>
                      <m:t>)∈</m:t>
                    </m:r>
                    <m:sSub>
                      <m:sSubPr>
                        <m:ctrlPr>
                          <a:rPr lang="ja-JP" altLang="en-US" sz="1200" i="1">
                            <a:solidFill>
                              <a:schemeClr val="tx1"/>
                            </a:solidFill>
                            <a:latin typeface="Cambria Math" panose="02040503050406030204" pitchFamily="18" charset="0"/>
                          </a:rPr>
                        </m:ctrlPr>
                      </m:sSubPr>
                      <m:e>
                        <m:r>
                          <a:rPr lang="ja-JP" altLang="en-US" sz="1200" i="1">
                            <a:solidFill>
                              <a:schemeClr val="tx1"/>
                            </a:solidFill>
                            <a:latin typeface="Cambria Math" panose="02040503050406030204" pitchFamily="18" charset="0"/>
                          </a:rPr>
                          <m:t>𝒟</m:t>
                        </m:r>
                      </m:e>
                      <m:sub>
                        <m:r>
                          <a:rPr lang="en-US" altLang="ja-JP" sz="1200" b="0" i="1" smtClean="0">
                            <a:solidFill>
                              <a:schemeClr val="tx1"/>
                            </a:solidFill>
                            <a:latin typeface="Cambria Math" panose="02040503050406030204" pitchFamily="18" charset="0"/>
                          </a:rPr>
                          <m:t>𝑘</m:t>
                        </m:r>
                      </m:sub>
                    </m:sSub>
                  </m:oMath>
                </a14:m>
                <a:r>
                  <a:rPr lang="ja-JP" altLang="en-US" sz="1200" dirty="0"/>
                  <a:t>には「夜・雨天・郊外」</a:t>
                </a:r>
              </a:p>
            </p:txBody>
          </p:sp>
        </mc:Choice>
        <mc:Fallback xmlns="">
          <p:sp>
            <p:nvSpPr>
              <p:cNvPr id="54" name="テキスト ボックス 53">
                <a:extLst>
                  <a:ext uri="{FF2B5EF4-FFF2-40B4-BE49-F238E27FC236}">
                    <a16:creationId xmlns:a16="http://schemas.microsoft.com/office/drawing/2014/main" id="{6FF3E3D1-E316-AF91-3BB9-F3368B4E7955}"/>
                  </a:ext>
                </a:extLst>
              </p:cNvPr>
              <p:cNvSpPr txBox="1">
                <a:spLocks noRot="1" noChangeAspect="1" noMove="1" noResize="1" noEditPoints="1" noAdjustHandles="1" noChangeArrowheads="1" noChangeShapeType="1" noTextEdit="1"/>
              </p:cNvSpPr>
              <p:nvPr/>
            </p:nvSpPr>
            <p:spPr>
              <a:xfrm>
                <a:off x="961858" y="5548809"/>
                <a:ext cx="2314299" cy="461665"/>
              </a:xfrm>
              <a:prstGeom prst="rect">
                <a:avLst/>
              </a:prstGeom>
              <a:blipFill>
                <a:blip r:embed="rId7"/>
                <a:stretch>
                  <a:fillRect l="-264" t="-1316" b="-7895"/>
                </a:stretch>
              </a:blipFill>
            </p:spPr>
            <p:txBody>
              <a:bodyPr/>
              <a:lstStyle/>
              <a:p>
                <a:r>
                  <a:rPr lang="ja-JP" altLang="en-US">
                    <a:noFill/>
                  </a:rPr>
                  <a:t> </a:t>
                </a:r>
              </a:p>
            </p:txBody>
          </p:sp>
        </mc:Fallback>
      </mc:AlternateContent>
      <p:pic>
        <p:nvPicPr>
          <p:cNvPr id="56" name="グラフィックス 55" descr="データベース 枠線">
            <a:extLst>
              <a:ext uri="{FF2B5EF4-FFF2-40B4-BE49-F238E27FC236}">
                <a16:creationId xmlns:a16="http://schemas.microsoft.com/office/drawing/2014/main" id="{1E599046-B18B-E62E-588C-9F75977DDEF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6777" y="4932064"/>
            <a:ext cx="436942" cy="436942"/>
          </a:xfrm>
          <a:prstGeom prst="rect">
            <a:avLst/>
          </a:prstGeom>
        </p:spPr>
      </p:pic>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C5845A3C-0DCB-A8ED-70CC-40C96EEA5C77}"/>
                  </a:ext>
                </a:extLst>
              </p:cNvPr>
              <p:cNvSpPr txBox="1"/>
              <p:nvPr/>
            </p:nvSpPr>
            <p:spPr>
              <a:xfrm>
                <a:off x="555841" y="4926297"/>
                <a:ext cx="3013160" cy="476734"/>
              </a:xfrm>
              <a:prstGeom prst="rect">
                <a:avLst/>
              </a:prstGeom>
              <a:noFill/>
            </p:spPr>
            <p:txBody>
              <a:bodyPr wrap="square">
                <a:spAutoFit/>
              </a:bodyPr>
              <a:lstStyle/>
              <a:p>
                <a:pPr algn="ctr"/>
                <a:r>
                  <a:rPr lang="ja-JP" altLang="en-US" sz="1200" dirty="0"/>
                  <a:t>公開整合セット</a:t>
                </a:r>
                <a14:m>
                  <m:oMath xmlns:m="http://schemas.openxmlformats.org/officeDocument/2006/math">
                    <m:r>
                      <a:rPr lang="en-US" altLang="ja-JP" sz="1200" b="0" i="1" smtClean="0">
                        <a:latin typeface="Cambria Math" panose="02040503050406030204" pitchFamily="18" charset="0"/>
                      </a:rPr>
                      <m:t>𝑥</m:t>
                    </m:r>
                    <m:r>
                      <a:rPr lang="en-US" altLang="ja-JP" sz="1200" b="0" i="1" smtClean="0">
                        <a:latin typeface="Cambria Math" panose="02040503050406030204" pitchFamily="18" charset="0"/>
                        <a:ea typeface="Cambria Math" panose="02040503050406030204" pitchFamily="18" charset="0"/>
                      </a:rPr>
                      <m:t>∈</m:t>
                    </m:r>
                    <m:sSub>
                      <m:sSubPr>
                        <m:ctrlPr>
                          <a:rPr lang="ja-JP" altLang="en-US" sz="1200" i="1" smtClean="0">
                            <a:latin typeface="Cambria Math" panose="02040503050406030204" pitchFamily="18" charset="0"/>
                          </a:rPr>
                        </m:ctrlPr>
                      </m:sSubPr>
                      <m:e>
                        <m:r>
                          <a:rPr lang="ja-JP" altLang="en-US" sz="1200" i="1">
                            <a:latin typeface="Cambria Math" panose="02040503050406030204" pitchFamily="18" charset="0"/>
                          </a:rPr>
                          <m:t>𝒟</m:t>
                        </m:r>
                      </m:e>
                      <m:sub>
                        <m:r>
                          <a:rPr lang="ja-JP" altLang="en-US" sz="1200" i="1">
                            <a:latin typeface="Cambria Math" panose="02040503050406030204" pitchFamily="18" charset="0"/>
                          </a:rPr>
                          <m:t>𝑎𝑙𝑖𝑔</m:t>
                        </m:r>
                        <m:r>
                          <a:rPr lang="ja-JP" altLang="en-US" sz="1200" i="1" smtClean="0">
                            <a:latin typeface="Cambria Math" panose="02040503050406030204" pitchFamily="18" charset="0"/>
                          </a:rPr>
                          <m:t>𝑛</m:t>
                        </m:r>
                      </m:sub>
                    </m:sSub>
                  </m:oMath>
                </a14:m>
                <a:r>
                  <a:rPr lang="ja-JP" altLang="en-US" sz="1200" dirty="0"/>
                  <a:t>には</a:t>
                </a:r>
                <a:endParaRPr lang="en-US" altLang="ja-JP" sz="1200" dirty="0"/>
              </a:p>
              <a:p>
                <a:pPr algn="ctr"/>
                <a:r>
                  <a:rPr lang="ja-JP" altLang="en-US" sz="1200" dirty="0"/>
                  <a:t>「昼・晴天・都市部」</a:t>
                </a:r>
              </a:p>
            </p:txBody>
          </p:sp>
        </mc:Choice>
        <mc:Fallback xmlns="">
          <p:sp>
            <p:nvSpPr>
              <p:cNvPr id="58" name="テキスト ボックス 57">
                <a:extLst>
                  <a:ext uri="{FF2B5EF4-FFF2-40B4-BE49-F238E27FC236}">
                    <a16:creationId xmlns:a16="http://schemas.microsoft.com/office/drawing/2014/main" id="{C5845A3C-0DCB-A8ED-70CC-40C96EEA5C77}"/>
                  </a:ext>
                </a:extLst>
              </p:cNvPr>
              <p:cNvSpPr txBox="1">
                <a:spLocks noRot="1" noChangeAspect="1" noMove="1" noResize="1" noEditPoints="1" noAdjustHandles="1" noChangeArrowheads="1" noChangeShapeType="1" noTextEdit="1"/>
              </p:cNvSpPr>
              <p:nvPr/>
            </p:nvSpPr>
            <p:spPr>
              <a:xfrm>
                <a:off x="555841" y="4926297"/>
                <a:ext cx="3013160" cy="476734"/>
              </a:xfrm>
              <a:prstGeom prst="rect">
                <a:avLst/>
              </a:prstGeom>
              <a:blipFill>
                <a:blip r:embed="rId8"/>
                <a:stretch>
                  <a:fillRect t="-1282" b="-7692"/>
                </a:stretch>
              </a:blipFill>
            </p:spPr>
            <p:txBody>
              <a:bodyPr/>
              <a:lstStyle/>
              <a:p>
                <a:r>
                  <a:rPr lang="ja-JP" altLang="en-US">
                    <a:noFill/>
                  </a:rPr>
                  <a:t> </a:t>
                </a:r>
              </a:p>
            </p:txBody>
          </p:sp>
        </mc:Fallback>
      </mc:AlternateContent>
      <p:sp>
        <p:nvSpPr>
          <p:cNvPr id="60" name="四角形: 角を丸くする 59">
            <a:extLst>
              <a:ext uri="{FF2B5EF4-FFF2-40B4-BE49-F238E27FC236}">
                <a16:creationId xmlns:a16="http://schemas.microsoft.com/office/drawing/2014/main" id="{3312B763-7DAE-30CA-AEBB-7B9A5ED1AB79}"/>
              </a:ext>
            </a:extLst>
          </p:cNvPr>
          <p:cNvSpPr/>
          <p:nvPr/>
        </p:nvSpPr>
        <p:spPr>
          <a:xfrm>
            <a:off x="4567807" y="4299445"/>
            <a:ext cx="3531127" cy="2458134"/>
          </a:xfrm>
          <a:prstGeom prst="roundRect">
            <a:avLst>
              <a:gd name="adj" fmla="val 6330"/>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altLang="ja-JP" dirty="0">
              <a:solidFill>
                <a:schemeClr val="tx1"/>
              </a:solidFill>
            </a:endParaRPr>
          </a:p>
        </p:txBody>
      </p:sp>
      <p:sp>
        <p:nvSpPr>
          <p:cNvPr id="62" name="矢印: 右 61">
            <a:extLst>
              <a:ext uri="{FF2B5EF4-FFF2-40B4-BE49-F238E27FC236}">
                <a16:creationId xmlns:a16="http://schemas.microsoft.com/office/drawing/2014/main" id="{3A6363E5-C684-6DE2-D93A-3F13D5816464}"/>
              </a:ext>
            </a:extLst>
          </p:cNvPr>
          <p:cNvSpPr/>
          <p:nvPr/>
        </p:nvSpPr>
        <p:spPr>
          <a:xfrm rot="5400000">
            <a:off x="1880872" y="6007047"/>
            <a:ext cx="260392" cy="267247"/>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テキスト ボックス 63">
            <a:extLst>
              <a:ext uri="{FF2B5EF4-FFF2-40B4-BE49-F238E27FC236}">
                <a16:creationId xmlns:a16="http://schemas.microsoft.com/office/drawing/2014/main" id="{49FF427A-BD49-8D60-3B6B-01D3D358FD64}"/>
              </a:ext>
            </a:extLst>
          </p:cNvPr>
          <p:cNvSpPr txBox="1"/>
          <p:nvPr/>
        </p:nvSpPr>
        <p:spPr>
          <a:xfrm>
            <a:off x="286653" y="6303141"/>
            <a:ext cx="3551536" cy="461665"/>
          </a:xfrm>
          <a:prstGeom prst="rect">
            <a:avLst/>
          </a:prstGeom>
          <a:noFill/>
        </p:spPr>
        <p:txBody>
          <a:bodyPr wrap="square">
            <a:spAutoFit/>
          </a:bodyPr>
          <a:lstStyle/>
          <a:p>
            <a:pPr algn="ctr"/>
            <a:r>
              <a:rPr lang="ja-JP" altLang="ja-JP" sz="1200" dirty="0"/>
              <a:t>Lpredが小さくなっても、端末の実利用環境に対する基盤モデルの性能が向上するとは限</a:t>
            </a:r>
            <a:r>
              <a:rPr lang="ja-JP" altLang="en-US" sz="1200" dirty="0"/>
              <a:t>らない</a:t>
            </a:r>
            <a:endParaRPr lang="ja-JP" altLang="en-US" sz="1000" dirty="0"/>
          </a:p>
        </p:txBody>
      </p:sp>
      <p:sp>
        <p:nvSpPr>
          <p:cNvPr id="68" name="テキスト ボックス 67">
            <a:extLst>
              <a:ext uri="{FF2B5EF4-FFF2-40B4-BE49-F238E27FC236}">
                <a16:creationId xmlns:a16="http://schemas.microsoft.com/office/drawing/2014/main" id="{CA63D5C2-3DE4-ADBB-1375-66F2CD2E6ABB}"/>
              </a:ext>
            </a:extLst>
          </p:cNvPr>
          <p:cNvSpPr txBox="1"/>
          <p:nvPr/>
        </p:nvSpPr>
        <p:spPr>
          <a:xfrm>
            <a:off x="4572444" y="4347992"/>
            <a:ext cx="3551536" cy="369332"/>
          </a:xfrm>
          <a:prstGeom prst="rect">
            <a:avLst/>
          </a:prstGeom>
          <a:noFill/>
        </p:spPr>
        <p:txBody>
          <a:bodyPr wrap="square">
            <a:spAutoFit/>
          </a:bodyPr>
          <a:lstStyle/>
          <a:p>
            <a:pPr algn="ctr"/>
            <a:r>
              <a:rPr lang="ja-JP" altLang="en-US" b="1" dirty="0"/>
              <a:t>利用環境の変化に追従できない</a:t>
            </a:r>
            <a:endParaRPr lang="ja-JP" altLang="ja-JP" b="1" dirty="0"/>
          </a:p>
        </p:txBody>
      </p:sp>
      <p:pic>
        <p:nvPicPr>
          <p:cNvPr id="70" name="グラフィックス 69" descr="データベース 枠線">
            <a:extLst>
              <a:ext uri="{FF2B5EF4-FFF2-40B4-BE49-F238E27FC236}">
                <a16:creationId xmlns:a16="http://schemas.microsoft.com/office/drawing/2014/main" id="{F535AD43-6DF5-9E5D-544E-C72CF788AD5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6010" y="4776437"/>
            <a:ext cx="436942" cy="436942"/>
          </a:xfrm>
          <a:prstGeom prst="rect">
            <a:avLst/>
          </a:prstGeom>
        </p:spPr>
      </p:pic>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0590253C-D9E8-4FE1-9273-511C1BB59DDA}"/>
                  </a:ext>
                </a:extLst>
              </p:cNvPr>
              <p:cNvSpPr txBox="1"/>
              <p:nvPr/>
            </p:nvSpPr>
            <p:spPr>
              <a:xfrm>
                <a:off x="4777619" y="5481260"/>
                <a:ext cx="3111502" cy="276999"/>
              </a:xfrm>
              <a:prstGeom prst="rect">
                <a:avLst/>
              </a:prstGeom>
              <a:noFill/>
            </p:spPr>
            <p:txBody>
              <a:bodyPr wrap="square">
                <a:spAutoFit/>
              </a:bodyPr>
              <a:lstStyle/>
              <a:p>
                <a:pPr algn="ctr"/>
                <a:r>
                  <a:rPr lang="ja-JP" altLang="en-US" sz="1200" b="0" dirty="0">
                    <a:solidFill>
                      <a:schemeClr val="tx1"/>
                    </a:solidFill>
                    <a:latin typeface="+mj-ea"/>
                    <a:ea typeface="+mj-ea"/>
                    <a:cs typeface="Calibri" panose="020F0502020204030204" pitchFamily="34" charset="0"/>
                  </a:rPr>
                  <a:t>端末固有データ</a:t>
                </a:r>
                <a:r>
                  <a:rPr lang="ja-JP" altLang="en-US" sz="1200" b="0" dirty="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US" altLang="ja-JP" sz="1200" b="0" i="1" smtClean="0">
                        <a:solidFill>
                          <a:schemeClr val="tx1"/>
                        </a:solidFill>
                        <a:latin typeface="Cambria Math" panose="02040503050406030204" pitchFamily="18" charset="0"/>
                        <a:ea typeface="Cambria Math" panose="02040503050406030204" pitchFamily="18" charset="0"/>
                      </a:rPr>
                      <m:t>(</m:t>
                    </m:r>
                    <m:r>
                      <a:rPr lang="en-US" altLang="ja-JP" sz="1200" b="0" i="1" smtClean="0">
                        <a:solidFill>
                          <a:schemeClr val="tx1"/>
                        </a:solidFill>
                        <a:latin typeface="Cambria Math" panose="02040503050406030204" pitchFamily="18" charset="0"/>
                        <a:ea typeface="Cambria Math" panose="02040503050406030204" pitchFamily="18" charset="0"/>
                      </a:rPr>
                      <m:t>𝑥</m:t>
                    </m:r>
                    <m:r>
                      <a:rPr lang="en-US" altLang="ja-JP" sz="1200" b="0" i="1" smtClean="0">
                        <a:solidFill>
                          <a:schemeClr val="tx1"/>
                        </a:solidFill>
                        <a:latin typeface="Cambria Math" panose="02040503050406030204" pitchFamily="18" charset="0"/>
                        <a:ea typeface="Cambria Math" panose="02040503050406030204" pitchFamily="18" charset="0"/>
                      </a:rPr>
                      <m:t>,</m:t>
                    </m:r>
                    <m:r>
                      <a:rPr lang="en-US" altLang="ja-JP" sz="1200" b="0" i="1" smtClean="0">
                        <a:solidFill>
                          <a:schemeClr val="tx1"/>
                        </a:solidFill>
                        <a:latin typeface="Cambria Math" panose="02040503050406030204" pitchFamily="18" charset="0"/>
                        <a:ea typeface="Cambria Math" panose="02040503050406030204" pitchFamily="18" charset="0"/>
                      </a:rPr>
                      <m:t>𝑦</m:t>
                    </m:r>
                    <m:r>
                      <a:rPr lang="en-US" altLang="ja-JP" sz="1200" b="0" i="1" smtClean="0">
                        <a:solidFill>
                          <a:schemeClr val="tx1"/>
                        </a:solidFill>
                        <a:latin typeface="Cambria Math" panose="02040503050406030204" pitchFamily="18" charset="0"/>
                        <a:ea typeface="Cambria Math" panose="02040503050406030204" pitchFamily="18" charset="0"/>
                      </a:rPr>
                      <m:t>)∈</m:t>
                    </m:r>
                    <m:sSub>
                      <m:sSubPr>
                        <m:ctrlPr>
                          <a:rPr lang="ja-JP" altLang="en-US" sz="1200" i="1">
                            <a:solidFill>
                              <a:schemeClr val="tx1"/>
                            </a:solidFill>
                            <a:latin typeface="Cambria Math" panose="02040503050406030204" pitchFamily="18" charset="0"/>
                          </a:rPr>
                        </m:ctrlPr>
                      </m:sSubPr>
                      <m:e>
                        <m:r>
                          <a:rPr lang="ja-JP" altLang="en-US" sz="1200" i="1">
                            <a:solidFill>
                              <a:schemeClr val="tx1"/>
                            </a:solidFill>
                            <a:latin typeface="Cambria Math" panose="02040503050406030204" pitchFamily="18" charset="0"/>
                          </a:rPr>
                          <m:t>𝒟</m:t>
                        </m:r>
                      </m:e>
                      <m:sub>
                        <m:r>
                          <a:rPr lang="en-US" altLang="ja-JP" sz="1200" b="0" i="1" smtClean="0">
                            <a:solidFill>
                              <a:schemeClr val="tx1"/>
                            </a:solidFill>
                            <a:latin typeface="Cambria Math" panose="02040503050406030204" pitchFamily="18" charset="0"/>
                          </a:rPr>
                          <m:t>𝑘</m:t>
                        </m:r>
                      </m:sub>
                    </m:sSub>
                  </m:oMath>
                </a14:m>
                <a:r>
                  <a:rPr lang="ja-JP" altLang="en-US" sz="1200" dirty="0"/>
                  <a:t>は変化する</a:t>
                </a:r>
              </a:p>
            </p:txBody>
          </p:sp>
        </mc:Choice>
        <mc:Fallback xmlns="">
          <p:sp>
            <p:nvSpPr>
              <p:cNvPr id="72" name="テキスト ボックス 71">
                <a:extLst>
                  <a:ext uri="{FF2B5EF4-FFF2-40B4-BE49-F238E27FC236}">
                    <a16:creationId xmlns:a16="http://schemas.microsoft.com/office/drawing/2014/main" id="{0590253C-D9E8-4FE1-9273-511C1BB59DDA}"/>
                  </a:ext>
                </a:extLst>
              </p:cNvPr>
              <p:cNvSpPr txBox="1">
                <a:spLocks noRot="1" noChangeAspect="1" noMove="1" noResize="1" noEditPoints="1" noAdjustHandles="1" noChangeArrowheads="1" noChangeShapeType="1" noTextEdit="1"/>
              </p:cNvSpPr>
              <p:nvPr/>
            </p:nvSpPr>
            <p:spPr>
              <a:xfrm>
                <a:off x="4777619" y="5481260"/>
                <a:ext cx="3111502" cy="276999"/>
              </a:xfrm>
              <a:prstGeom prst="rect">
                <a:avLst/>
              </a:prstGeom>
              <a:blipFill>
                <a:blip r:embed="rId9"/>
                <a:stretch>
                  <a:fillRect t="-2174"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4" name="テキスト ボックス 73">
                <a:extLst>
                  <a:ext uri="{FF2B5EF4-FFF2-40B4-BE49-F238E27FC236}">
                    <a16:creationId xmlns:a16="http://schemas.microsoft.com/office/drawing/2014/main" id="{AB86DFA5-4DE2-1763-6762-375781834261}"/>
                  </a:ext>
                </a:extLst>
              </p:cNvPr>
              <p:cNvSpPr txBox="1"/>
              <p:nvPr/>
            </p:nvSpPr>
            <p:spPr>
              <a:xfrm>
                <a:off x="4968615" y="4665411"/>
                <a:ext cx="597195"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=1</m:t>
                      </m:r>
                    </m:oMath>
                  </m:oMathPara>
                </a14:m>
                <a:endParaRPr lang="ja-JP" altLang="en-US" sz="1200" dirty="0"/>
              </a:p>
            </p:txBody>
          </p:sp>
        </mc:Choice>
        <mc:Fallback xmlns="">
          <p:sp>
            <p:nvSpPr>
              <p:cNvPr id="74" name="テキスト ボックス 73">
                <a:extLst>
                  <a:ext uri="{FF2B5EF4-FFF2-40B4-BE49-F238E27FC236}">
                    <a16:creationId xmlns:a16="http://schemas.microsoft.com/office/drawing/2014/main" id="{AB86DFA5-4DE2-1763-6762-375781834261}"/>
                  </a:ext>
                </a:extLst>
              </p:cNvPr>
              <p:cNvSpPr txBox="1">
                <a:spLocks noRot="1" noChangeAspect="1" noMove="1" noResize="1" noEditPoints="1" noAdjustHandles="1" noChangeArrowheads="1" noChangeShapeType="1" noTextEdit="1"/>
              </p:cNvSpPr>
              <p:nvPr/>
            </p:nvSpPr>
            <p:spPr>
              <a:xfrm>
                <a:off x="4968615" y="4665411"/>
                <a:ext cx="597195" cy="276999"/>
              </a:xfrm>
              <a:prstGeom prst="rect">
                <a:avLst/>
              </a:prstGeom>
              <a:blipFill>
                <a:blip r:embed="rId10"/>
                <a:stretch>
                  <a:fillRect/>
                </a:stretch>
              </a:blipFill>
            </p:spPr>
            <p:txBody>
              <a:bodyPr/>
              <a:lstStyle/>
              <a:p>
                <a:r>
                  <a:rPr lang="ja-JP" altLang="en-US">
                    <a:noFill/>
                  </a:rPr>
                  <a:t> </a:t>
                </a:r>
              </a:p>
            </p:txBody>
          </p:sp>
        </mc:Fallback>
      </mc:AlternateContent>
      <p:sp>
        <p:nvSpPr>
          <p:cNvPr id="76" name="矢印: 右 75">
            <a:extLst>
              <a:ext uri="{FF2B5EF4-FFF2-40B4-BE49-F238E27FC236}">
                <a16:creationId xmlns:a16="http://schemas.microsoft.com/office/drawing/2014/main" id="{5C801B26-5FF9-E2EA-F115-CBD40A8E5A30}"/>
              </a:ext>
            </a:extLst>
          </p:cNvPr>
          <p:cNvSpPr/>
          <p:nvPr/>
        </p:nvSpPr>
        <p:spPr>
          <a:xfrm>
            <a:off x="5104190" y="4903521"/>
            <a:ext cx="260392" cy="182773"/>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8" name="グラフィックス 77" descr="データベース 枠線">
            <a:extLst>
              <a:ext uri="{FF2B5EF4-FFF2-40B4-BE49-F238E27FC236}">
                <a16:creationId xmlns:a16="http://schemas.microsoft.com/office/drawing/2014/main" id="{C90DDF75-16EA-5D71-0919-8AB0CB48503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31192" y="4776437"/>
            <a:ext cx="436942" cy="436942"/>
          </a:xfrm>
          <a:prstGeom prst="rect">
            <a:avLst/>
          </a:prstGeom>
        </p:spPr>
      </p:pic>
      <mc:AlternateContent xmlns:mc="http://schemas.openxmlformats.org/markup-compatibility/2006" xmlns:a14="http://schemas.microsoft.com/office/drawing/2010/main">
        <mc:Choice Requires="a14">
          <p:sp>
            <p:nvSpPr>
              <p:cNvPr id="80" name="テキスト ボックス 79">
                <a:extLst>
                  <a:ext uri="{FF2B5EF4-FFF2-40B4-BE49-F238E27FC236}">
                    <a16:creationId xmlns:a16="http://schemas.microsoft.com/office/drawing/2014/main" id="{A0EE1F0B-BF73-CD77-C566-F6E2B95A7E65}"/>
                  </a:ext>
                </a:extLst>
              </p:cNvPr>
              <p:cNvSpPr txBox="1"/>
              <p:nvPr/>
            </p:nvSpPr>
            <p:spPr>
              <a:xfrm>
                <a:off x="5753797" y="4665411"/>
                <a:ext cx="597195"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=2</m:t>
                      </m:r>
                    </m:oMath>
                  </m:oMathPara>
                </a14:m>
                <a:endParaRPr lang="ja-JP" altLang="en-US" sz="1200" dirty="0"/>
              </a:p>
            </p:txBody>
          </p:sp>
        </mc:Choice>
        <mc:Fallback xmlns="">
          <p:sp>
            <p:nvSpPr>
              <p:cNvPr id="80" name="テキスト ボックス 79">
                <a:extLst>
                  <a:ext uri="{FF2B5EF4-FFF2-40B4-BE49-F238E27FC236}">
                    <a16:creationId xmlns:a16="http://schemas.microsoft.com/office/drawing/2014/main" id="{A0EE1F0B-BF73-CD77-C566-F6E2B95A7E65}"/>
                  </a:ext>
                </a:extLst>
              </p:cNvPr>
              <p:cNvSpPr txBox="1">
                <a:spLocks noRot="1" noChangeAspect="1" noMove="1" noResize="1" noEditPoints="1" noAdjustHandles="1" noChangeArrowheads="1" noChangeShapeType="1" noTextEdit="1"/>
              </p:cNvSpPr>
              <p:nvPr/>
            </p:nvSpPr>
            <p:spPr>
              <a:xfrm>
                <a:off x="5753797" y="4665411"/>
                <a:ext cx="597195" cy="276999"/>
              </a:xfrm>
              <a:prstGeom prst="rect">
                <a:avLst/>
              </a:prstGeom>
              <a:blipFill>
                <a:blip r:embed="rId12"/>
                <a:stretch>
                  <a:fillRect/>
                </a:stretch>
              </a:blipFill>
            </p:spPr>
            <p:txBody>
              <a:bodyPr/>
              <a:lstStyle/>
              <a:p>
                <a:r>
                  <a:rPr lang="ja-JP" altLang="en-US">
                    <a:noFill/>
                  </a:rPr>
                  <a:t> </a:t>
                </a:r>
              </a:p>
            </p:txBody>
          </p:sp>
        </mc:Fallback>
      </mc:AlternateContent>
      <p:sp>
        <p:nvSpPr>
          <p:cNvPr id="82" name="矢印: 右 81">
            <a:extLst>
              <a:ext uri="{FF2B5EF4-FFF2-40B4-BE49-F238E27FC236}">
                <a16:creationId xmlns:a16="http://schemas.microsoft.com/office/drawing/2014/main" id="{0AB22809-1E55-A586-4AAF-C10A5812019F}"/>
              </a:ext>
            </a:extLst>
          </p:cNvPr>
          <p:cNvSpPr/>
          <p:nvPr/>
        </p:nvSpPr>
        <p:spPr>
          <a:xfrm>
            <a:off x="5889372" y="4903521"/>
            <a:ext cx="260392" cy="182773"/>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6" name="グラフィックス 95" descr="データベース 枠線">
            <a:extLst>
              <a:ext uri="{FF2B5EF4-FFF2-40B4-BE49-F238E27FC236}">
                <a16:creationId xmlns:a16="http://schemas.microsoft.com/office/drawing/2014/main" id="{2A5F50B5-2BF0-A441-0C11-50671148D7A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216374" y="4786334"/>
            <a:ext cx="436942" cy="436942"/>
          </a:xfrm>
          <a:prstGeom prst="rect">
            <a:avLst/>
          </a:prstGeom>
        </p:spPr>
      </p:pic>
      <mc:AlternateContent xmlns:mc="http://schemas.openxmlformats.org/markup-compatibility/2006" xmlns:a14="http://schemas.microsoft.com/office/drawing/2010/main">
        <mc:Choice Requires="a14">
          <p:sp>
            <p:nvSpPr>
              <p:cNvPr id="98" name="テキスト ボックス 97">
                <a:extLst>
                  <a:ext uri="{FF2B5EF4-FFF2-40B4-BE49-F238E27FC236}">
                    <a16:creationId xmlns:a16="http://schemas.microsoft.com/office/drawing/2014/main" id="{BA8F95ED-68B9-067A-4C55-578580E01FD8}"/>
                  </a:ext>
                </a:extLst>
              </p:cNvPr>
              <p:cNvSpPr txBox="1"/>
              <p:nvPr/>
            </p:nvSpPr>
            <p:spPr>
              <a:xfrm>
                <a:off x="6538979" y="4675308"/>
                <a:ext cx="597195"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=3</m:t>
                      </m:r>
                    </m:oMath>
                  </m:oMathPara>
                </a14:m>
                <a:endParaRPr lang="ja-JP" altLang="en-US" sz="1200" dirty="0"/>
              </a:p>
            </p:txBody>
          </p:sp>
        </mc:Choice>
        <mc:Fallback xmlns="">
          <p:sp>
            <p:nvSpPr>
              <p:cNvPr id="98" name="テキスト ボックス 97">
                <a:extLst>
                  <a:ext uri="{FF2B5EF4-FFF2-40B4-BE49-F238E27FC236}">
                    <a16:creationId xmlns:a16="http://schemas.microsoft.com/office/drawing/2014/main" id="{BA8F95ED-68B9-067A-4C55-578580E01FD8}"/>
                  </a:ext>
                </a:extLst>
              </p:cNvPr>
              <p:cNvSpPr txBox="1">
                <a:spLocks noRot="1" noChangeAspect="1" noMove="1" noResize="1" noEditPoints="1" noAdjustHandles="1" noChangeArrowheads="1" noChangeShapeType="1" noTextEdit="1"/>
              </p:cNvSpPr>
              <p:nvPr/>
            </p:nvSpPr>
            <p:spPr>
              <a:xfrm>
                <a:off x="6538979" y="4675308"/>
                <a:ext cx="597195" cy="276999"/>
              </a:xfrm>
              <a:prstGeom prst="rect">
                <a:avLst/>
              </a:prstGeom>
              <a:blipFill>
                <a:blip r:embed="rId14"/>
                <a:stretch>
                  <a:fillRect/>
                </a:stretch>
              </a:blipFill>
            </p:spPr>
            <p:txBody>
              <a:bodyPr/>
              <a:lstStyle/>
              <a:p>
                <a:r>
                  <a:rPr lang="ja-JP" altLang="en-US">
                    <a:noFill/>
                  </a:rPr>
                  <a:t> </a:t>
                </a:r>
              </a:p>
            </p:txBody>
          </p:sp>
        </mc:Fallback>
      </mc:AlternateContent>
      <p:sp>
        <p:nvSpPr>
          <p:cNvPr id="100" name="矢印: 右 99">
            <a:extLst>
              <a:ext uri="{FF2B5EF4-FFF2-40B4-BE49-F238E27FC236}">
                <a16:creationId xmlns:a16="http://schemas.microsoft.com/office/drawing/2014/main" id="{27206A3E-E8B2-D9A6-BC27-FD5FAF34C00D}"/>
              </a:ext>
            </a:extLst>
          </p:cNvPr>
          <p:cNvSpPr/>
          <p:nvPr/>
        </p:nvSpPr>
        <p:spPr>
          <a:xfrm>
            <a:off x="6674554" y="4913418"/>
            <a:ext cx="260392" cy="182773"/>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8" name="グラフィックス 107" descr="データベース 枠線">
            <a:extLst>
              <a:ext uri="{FF2B5EF4-FFF2-40B4-BE49-F238E27FC236}">
                <a16:creationId xmlns:a16="http://schemas.microsoft.com/office/drawing/2014/main" id="{FDE6C300-2344-C84B-6702-A6A8F2D2025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976808" y="4796203"/>
            <a:ext cx="436942" cy="436942"/>
          </a:xfrm>
          <a:prstGeom prst="rect">
            <a:avLst/>
          </a:prstGeom>
        </p:spPr>
      </p:pic>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A84DAD83-B415-D1DD-629C-783049354809}"/>
                  </a:ext>
                </a:extLst>
              </p:cNvPr>
              <p:cNvSpPr txBox="1"/>
              <p:nvPr/>
            </p:nvSpPr>
            <p:spPr>
              <a:xfrm>
                <a:off x="7299413" y="4685177"/>
                <a:ext cx="696463"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ja-JP" sz="1200" b="0" i="1" smtClean="0">
                          <a:latin typeface="Cambria Math" panose="02040503050406030204" pitchFamily="18" charset="0"/>
                        </a:rPr>
                        <m:t>𝑟</m:t>
                      </m:r>
                      <m:r>
                        <a:rPr lang="en-US" altLang="ja-JP" sz="1200" b="0" i="1" smtClean="0">
                          <a:latin typeface="Cambria Math" panose="02040503050406030204" pitchFamily="18" charset="0"/>
                        </a:rPr>
                        <m:t>=4…</m:t>
                      </m:r>
                    </m:oMath>
                  </m:oMathPara>
                </a14:m>
                <a:endParaRPr lang="ja-JP" altLang="en-US" sz="1200" dirty="0"/>
              </a:p>
            </p:txBody>
          </p:sp>
        </mc:Choice>
        <mc:Fallback xmlns="">
          <p:sp>
            <p:nvSpPr>
              <p:cNvPr id="110" name="テキスト ボックス 109">
                <a:extLst>
                  <a:ext uri="{FF2B5EF4-FFF2-40B4-BE49-F238E27FC236}">
                    <a16:creationId xmlns:a16="http://schemas.microsoft.com/office/drawing/2014/main" id="{A84DAD83-B415-D1DD-629C-783049354809}"/>
                  </a:ext>
                </a:extLst>
              </p:cNvPr>
              <p:cNvSpPr txBox="1">
                <a:spLocks noRot="1" noChangeAspect="1" noMove="1" noResize="1" noEditPoints="1" noAdjustHandles="1" noChangeArrowheads="1" noChangeShapeType="1" noTextEdit="1"/>
              </p:cNvSpPr>
              <p:nvPr/>
            </p:nvSpPr>
            <p:spPr>
              <a:xfrm>
                <a:off x="7299413" y="4685177"/>
                <a:ext cx="696463" cy="276999"/>
              </a:xfrm>
              <a:prstGeom prst="rect">
                <a:avLst/>
              </a:prstGeom>
              <a:blipFill>
                <a:blip r:embed="rId16"/>
                <a:stretch>
                  <a:fillRect/>
                </a:stretch>
              </a:blipFill>
            </p:spPr>
            <p:txBody>
              <a:bodyPr/>
              <a:lstStyle/>
              <a:p>
                <a:r>
                  <a:rPr lang="ja-JP" altLang="en-US">
                    <a:noFill/>
                  </a:rPr>
                  <a:t> </a:t>
                </a:r>
              </a:p>
            </p:txBody>
          </p:sp>
        </mc:Fallback>
      </mc:AlternateContent>
      <p:sp>
        <p:nvSpPr>
          <p:cNvPr id="112" name="矢印: 右 111">
            <a:extLst>
              <a:ext uri="{FF2B5EF4-FFF2-40B4-BE49-F238E27FC236}">
                <a16:creationId xmlns:a16="http://schemas.microsoft.com/office/drawing/2014/main" id="{DE155588-2B50-228E-8A95-55E093F9A35F}"/>
              </a:ext>
            </a:extLst>
          </p:cNvPr>
          <p:cNvSpPr/>
          <p:nvPr/>
        </p:nvSpPr>
        <p:spPr>
          <a:xfrm>
            <a:off x="7434988" y="4923287"/>
            <a:ext cx="260392" cy="182773"/>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テキスト ボックス 113">
            <a:extLst>
              <a:ext uri="{FF2B5EF4-FFF2-40B4-BE49-F238E27FC236}">
                <a16:creationId xmlns:a16="http://schemas.microsoft.com/office/drawing/2014/main" id="{2710E306-92F4-8B69-BF91-DABA065DF9D4}"/>
              </a:ext>
            </a:extLst>
          </p:cNvPr>
          <p:cNvSpPr txBox="1"/>
          <p:nvPr/>
        </p:nvSpPr>
        <p:spPr>
          <a:xfrm>
            <a:off x="5830275" y="6303141"/>
            <a:ext cx="2477155" cy="430887"/>
          </a:xfrm>
          <a:prstGeom prst="rect">
            <a:avLst/>
          </a:prstGeom>
          <a:noFill/>
        </p:spPr>
        <p:txBody>
          <a:bodyPr wrap="square">
            <a:spAutoFit/>
          </a:bodyPr>
          <a:lstStyle/>
          <a:p>
            <a:pPr algn="ctr"/>
            <a:r>
              <a:rPr lang="en-US" altLang="ja-JP" sz="1100" dirty="0">
                <a:latin typeface="+mj-ea"/>
                <a:ea typeface="+mj-ea"/>
                <a:cs typeface="Calibri" panose="020F0502020204030204" pitchFamily="34" charset="0"/>
              </a:rPr>
              <a:t>※</a:t>
            </a:r>
            <a:r>
              <a:rPr lang="ja-JP" altLang="en-US" sz="1100" dirty="0">
                <a:latin typeface="+mj-ea"/>
                <a:ea typeface="+mj-ea"/>
                <a:cs typeface="Calibri" panose="020F0502020204030204" pitchFamily="34" charset="0"/>
              </a:rPr>
              <a:t>今の設計は各クライアントで</a:t>
            </a:r>
            <a:endParaRPr lang="en-US" altLang="ja-JP" sz="1100" dirty="0">
              <a:latin typeface="+mj-ea"/>
              <a:ea typeface="+mj-ea"/>
              <a:cs typeface="Calibri" panose="020F0502020204030204" pitchFamily="34" charset="0"/>
            </a:endParaRPr>
          </a:p>
          <a:p>
            <a:pPr algn="ctr"/>
            <a:r>
              <a:rPr lang="ja-JP" altLang="en-US" sz="1100" dirty="0">
                <a:latin typeface="+mj-ea"/>
                <a:ea typeface="+mj-ea"/>
                <a:cs typeface="Calibri" panose="020F0502020204030204" pitchFamily="34" charset="0"/>
              </a:rPr>
              <a:t>ラウンドのデータの変化はなし</a:t>
            </a:r>
            <a:endParaRPr lang="ja-JP" altLang="en-US" sz="1100" dirty="0"/>
          </a:p>
        </p:txBody>
      </p:sp>
      <p:sp>
        <p:nvSpPr>
          <p:cNvPr id="118" name="テキスト ボックス 117">
            <a:extLst>
              <a:ext uri="{FF2B5EF4-FFF2-40B4-BE49-F238E27FC236}">
                <a16:creationId xmlns:a16="http://schemas.microsoft.com/office/drawing/2014/main" id="{E05F65DF-66A1-29C5-3F3F-87C14B312ADB}"/>
              </a:ext>
            </a:extLst>
          </p:cNvPr>
          <p:cNvSpPr txBox="1"/>
          <p:nvPr/>
        </p:nvSpPr>
        <p:spPr>
          <a:xfrm>
            <a:off x="4777619" y="5871555"/>
            <a:ext cx="3111502" cy="461665"/>
          </a:xfrm>
          <a:prstGeom prst="rect">
            <a:avLst/>
          </a:prstGeom>
          <a:noFill/>
        </p:spPr>
        <p:txBody>
          <a:bodyPr wrap="square">
            <a:spAutoFit/>
          </a:bodyPr>
          <a:lstStyle/>
          <a:p>
            <a:pPr algn="ctr"/>
            <a:r>
              <a:rPr lang="ja-JP" altLang="en-US" sz="1200" dirty="0">
                <a:latin typeface="+mj-ea"/>
                <a:ea typeface="+mj-ea"/>
                <a:cs typeface="Calibri" panose="020F0502020204030204" pitchFamily="34" charset="0"/>
              </a:rPr>
              <a:t>固定された公開整合セットでは、</a:t>
            </a:r>
            <a:endParaRPr lang="en-US" altLang="ja-JP" sz="1200" dirty="0">
              <a:latin typeface="+mj-ea"/>
              <a:ea typeface="+mj-ea"/>
              <a:cs typeface="Calibri" panose="020F0502020204030204" pitchFamily="34" charset="0"/>
            </a:endParaRPr>
          </a:p>
          <a:p>
            <a:pPr algn="ctr"/>
            <a:r>
              <a:rPr lang="ja-JP" altLang="en-US" sz="1200" dirty="0">
                <a:latin typeface="+mj-ea"/>
                <a:ea typeface="+mj-ea"/>
                <a:cs typeface="Calibri" panose="020F0502020204030204" pitchFamily="34" charset="0"/>
              </a:rPr>
              <a:t>変化を反映しずらい</a:t>
            </a:r>
            <a:endParaRPr lang="ja-JP" altLang="en-US" sz="1200" dirty="0"/>
          </a:p>
        </p:txBody>
      </p:sp>
      <p:sp>
        <p:nvSpPr>
          <p:cNvPr id="120" name="矢印: 右 119">
            <a:extLst>
              <a:ext uri="{FF2B5EF4-FFF2-40B4-BE49-F238E27FC236}">
                <a16:creationId xmlns:a16="http://schemas.microsoft.com/office/drawing/2014/main" id="{76721D58-56B1-75FD-3CE3-B3A658191926}"/>
              </a:ext>
            </a:extLst>
          </p:cNvPr>
          <p:cNvSpPr/>
          <p:nvPr/>
        </p:nvSpPr>
        <p:spPr>
          <a:xfrm rot="5400000">
            <a:off x="1698038" y="3256475"/>
            <a:ext cx="989418" cy="260653"/>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矢印: 右 121">
            <a:extLst>
              <a:ext uri="{FF2B5EF4-FFF2-40B4-BE49-F238E27FC236}">
                <a16:creationId xmlns:a16="http://schemas.microsoft.com/office/drawing/2014/main" id="{AEBD2BD8-3397-932D-BF19-B2E705AC6386}"/>
              </a:ext>
            </a:extLst>
          </p:cNvPr>
          <p:cNvSpPr/>
          <p:nvPr/>
        </p:nvSpPr>
        <p:spPr>
          <a:xfrm rot="2387413">
            <a:off x="4838378" y="3094198"/>
            <a:ext cx="989418" cy="260653"/>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84728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0EA7CC-B956-59AA-215A-8DDF88AADC89}"/>
              </a:ext>
            </a:extLst>
          </p:cNvPr>
          <p:cNvSpPr>
            <a:spLocks noGrp="1"/>
          </p:cNvSpPr>
          <p:nvPr>
            <p:ph type="title"/>
          </p:nvPr>
        </p:nvSpPr>
        <p:spPr/>
        <p:txBody>
          <a:bodyPr/>
          <a:lstStyle/>
          <a:p>
            <a:r>
              <a:rPr kumimoji="1" lang="ja-JP" altLang="en-US" dirty="0"/>
              <a:t>今後の方針</a:t>
            </a:r>
          </a:p>
        </p:txBody>
      </p:sp>
      <p:sp>
        <p:nvSpPr>
          <p:cNvPr id="3" name="スライド番号プレースホルダー 2">
            <a:extLst>
              <a:ext uri="{FF2B5EF4-FFF2-40B4-BE49-F238E27FC236}">
                <a16:creationId xmlns:a16="http://schemas.microsoft.com/office/drawing/2014/main" id="{2BDFD261-C4DE-69C5-7B1D-049F255C20C4}"/>
              </a:ext>
            </a:extLst>
          </p:cNvPr>
          <p:cNvSpPr>
            <a:spLocks noGrp="1"/>
          </p:cNvSpPr>
          <p:nvPr>
            <p:ph type="sldNum" sz="quarter" idx="4"/>
          </p:nvPr>
        </p:nvSpPr>
        <p:spPr/>
        <p:txBody>
          <a:bodyPr/>
          <a:lstStyle/>
          <a:p>
            <a:fld id="{C088C981-6885-4100-82A1-DE7074EC4480}" type="slidenum">
              <a:rPr lang="ja-JP" altLang="en-US" smtClean="0"/>
              <a:pPr/>
              <a:t>13</a:t>
            </a:fld>
            <a:endParaRPr lang="ja-JP" altLang="en-US" dirty="0">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AB258EE3-EF5B-4CD4-2D48-BE29575C4D07}"/>
              </a:ext>
            </a:extLst>
          </p:cNvPr>
          <p:cNvSpPr>
            <a:spLocks noGrp="1"/>
          </p:cNvSpPr>
          <p:nvPr>
            <p:ph idx="1"/>
          </p:nvPr>
        </p:nvSpPr>
        <p:spPr/>
        <p:txBody>
          <a:bodyPr/>
          <a:lstStyle/>
          <a:p>
            <a:r>
              <a:rPr kumimoji="1" lang="en-US" altLang="ja-JP" dirty="0" err="1"/>
              <a:t>Lpred</a:t>
            </a:r>
            <a:r>
              <a:rPr kumimoji="1" lang="ja-JP" altLang="en-US" dirty="0"/>
              <a:t>だけでの整合には限界がある</a:t>
            </a:r>
            <a:endParaRPr kumimoji="1" lang="en-US" altLang="ja-JP" dirty="0"/>
          </a:p>
          <a:p>
            <a:pPr lvl="1"/>
            <a:r>
              <a:rPr kumimoji="1" lang="ja-JP" altLang="en-US" dirty="0"/>
              <a:t>提案したやり方（</a:t>
            </a:r>
            <a:r>
              <a:rPr kumimoji="1" lang="en-US" altLang="ja-JP" dirty="0" err="1"/>
              <a:t>Lpost</a:t>
            </a:r>
            <a:r>
              <a:rPr kumimoji="1" lang="ja-JP" altLang="en-US" dirty="0"/>
              <a:t>、</a:t>
            </a:r>
            <a:r>
              <a:rPr kumimoji="1" lang="en-US" altLang="ja-JP" dirty="0" err="1"/>
              <a:t>Lgrad</a:t>
            </a:r>
            <a:r>
              <a:rPr kumimoji="1" lang="ja-JP" altLang="en-US" dirty="0"/>
              <a:t>）で検証を行う</a:t>
            </a:r>
            <a:endParaRPr kumimoji="1" lang="en-US" altLang="ja-JP" dirty="0"/>
          </a:p>
          <a:p>
            <a:r>
              <a:rPr kumimoji="1" lang="ja-JP" altLang="en-US" dirty="0"/>
              <a:t>共有整合データの制約を徐々に改善していく</a:t>
            </a:r>
            <a:endParaRPr kumimoji="1" lang="en-US" altLang="ja-JP" dirty="0"/>
          </a:p>
          <a:p>
            <a:pPr lvl="1"/>
            <a:r>
              <a:rPr lang="ja-JP" altLang="en-US" dirty="0"/>
              <a:t>クライアント側で整合データを</a:t>
            </a:r>
            <a:endParaRPr lang="en-US" altLang="ja-JP" dirty="0"/>
          </a:p>
          <a:p>
            <a:pPr lvl="1"/>
            <a:r>
              <a:rPr kumimoji="1" lang="ja-JP" altLang="en-US" dirty="0"/>
              <a:t>基盤側でも同じように</a:t>
            </a:r>
          </a:p>
        </p:txBody>
      </p:sp>
    </p:spTree>
    <p:extLst>
      <p:ext uri="{BB962C8B-B14F-4D97-AF65-F5344CB8AC3E}">
        <p14:creationId xmlns:p14="http://schemas.microsoft.com/office/powerpoint/2010/main" val="800754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488C35-1F1F-5D36-CB5E-12350A86F30C}"/>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6CEEAE11-4004-915A-59A6-3EB375E74D7F}"/>
              </a:ext>
            </a:extLst>
          </p:cNvPr>
          <p:cNvSpPr>
            <a:spLocks noGrp="1"/>
          </p:cNvSpPr>
          <p:nvPr>
            <p:ph type="sldNum" sz="quarter" idx="4"/>
          </p:nvPr>
        </p:nvSpPr>
        <p:spPr/>
        <p:txBody>
          <a:bodyPr/>
          <a:lstStyle/>
          <a:p>
            <a:fld id="{C088C981-6885-4100-82A1-DE7074EC4480}" type="slidenum">
              <a:rPr lang="ja-JP" altLang="en-US" smtClean="0"/>
              <a:pPr/>
              <a:t>14</a:t>
            </a:fld>
            <a:endParaRPr lang="ja-JP" altLang="en-US" dirty="0">
              <a:latin typeface="Arial" panose="020B0604020202020204" pitchFamily="34" charset="0"/>
            </a:endParaRPr>
          </a:p>
        </p:txBody>
      </p:sp>
      <p:sp>
        <p:nvSpPr>
          <p:cNvPr id="4" name="コンテンツ プレースホルダー 3">
            <a:extLst>
              <a:ext uri="{FF2B5EF4-FFF2-40B4-BE49-F238E27FC236}">
                <a16:creationId xmlns:a16="http://schemas.microsoft.com/office/drawing/2014/main" id="{C6D2F9E2-2CBF-3CBC-E2F4-086AC2B21B88}"/>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2421625191"/>
      </p:ext>
    </p:extLst>
  </p:cSld>
  <p:clrMapOvr>
    <a:masterClrMapping/>
  </p:clrMapOvr>
</p:sld>
</file>

<file path=ppt/theme/theme1.xml><?xml version="1.0" encoding="utf-8"?>
<a:theme xmlns:a="http://schemas.openxmlformats.org/drawingml/2006/main" name="2_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Calibri Light"/>
        <a:ea typeface="Calibri Light"/>
        <a:cs typeface=""/>
      </a:majorFont>
      <a:minorFont>
        <a:latin typeface="Calibri"/>
        <a:ea typeface="Calibr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1e161d0-5b65-430f-b842-a438aa5f1fd2}" enabled="0" method="" siteId="{41e161d0-5b65-430f-b842-a438aa5f1fd2}" removed="1"/>
</clbl:labelList>
</file>

<file path=docProps/app.xml><?xml version="1.0" encoding="utf-8"?>
<Properties xmlns="http://schemas.openxmlformats.org/officeDocument/2006/extended-properties" xmlns:vt="http://schemas.openxmlformats.org/officeDocument/2006/docPropsVTypes">
  <TotalTime>3919</TotalTime>
  <Words>2001</Words>
  <Application>Microsoft Office PowerPoint</Application>
  <PresentationFormat>ワイド画面</PresentationFormat>
  <Paragraphs>405</Paragraphs>
  <Slides>15</Slides>
  <Notes>3</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15</vt:i4>
      </vt:variant>
    </vt:vector>
  </HeadingPairs>
  <TitlesOfParts>
    <vt:vector size="26" baseType="lpstr">
      <vt:lpstr>-apple-system</vt:lpstr>
      <vt:lpstr>Calibri 本文</vt:lpstr>
      <vt:lpstr>ＭＳ Ｐゴシック</vt:lpstr>
      <vt:lpstr>游ゴシック</vt:lpstr>
      <vt:lpstr>游明朝</vt:lpstr>
      <vt:lpstr>Aptos Slab Black</vt:lpstr>
      <vt:lpstr>Arial</vt:lpstr>
      <vt:lpstr>Calibri</vt:lpstr>
      <vt:lpstr>Cambria Math</vt:lpstr>
      <vt:lpstr>Wingdings</vt:lpstr>
      <vt:lpstr>2_Office テーマ</vt:lpstr>
      <vt:lpstr>クラウド側・基盤 LoRA 更新方式の比較（Lpred 段階） surrogate適応情報を用いた基盤モデル更新</vt:lpstr>
      <vt:lpstr>PowerPoint プレゼンテーション</vt:lpstr>
      <vt:lpstr>変数</vt:lpstr>
      <vt:lpstr>現在の基本処理フロー</vt:lpstr>
      <vt:lpstr>PowerPoint プレゼンテーション</vt:lpstr>
      <vt:lpstr>端末学習のプロセス</vt:lpstr>
      <vt:lpstr>PowerPoint プレゼンテーション</vt:lpstr>
      <vt:lpstr>PowerPoint プレゼンテーション</vt:lpstr>
      <vt:lpstr>Lpredのoptimizer変更による比較実験</vt:lpstr>
      <vt:lpstr>先行研究との比較（LgradとLpostを使用した先行研究）</vt:lpstr>
      <vt:lpstr>Lgradの基本処理フロー</vt:lpstr>
      <vt:lpstr>新規性3つ</vt:lpstr>
      <vt:lpstr>共有整合データに依存しないシステムがなぜ必要なのか</vt:lpstr>
      <vt:lpstr>今後の方針</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脳波を用いた最適なメガネレンズ選択システムの乱視に関する基礎的検討</dc:title>
  <dc:creator>黎郎 佐橋</dc:creator>
  <cp:lastModifiedBy>YOSHIMURA Aoi</cp:lastModifiedBy>
  <cp:revision>6</cp:revision>
  <dcterms:created xsi:type="dcterms:W3CDTF">2025-07-10T09:13:17Z</dcterms:created>
  <dcterms:modified xsi:type="dcterms:W3CDTF">2026-07-21T12:36:07Z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0x0101000C10158878E2284E8AED8783CF70B9A9</vt:lpwstr>
  </property>
  <property fmtid="{D5CDD505-2E9C-101B-9397-08002B2CF9AE}" pid="3" name="MediaServiceImageTags">
    <vt:lpwstr/>
  </property>
  <property fmtid="{D5CDD505-2E9C-101B-9397-08002B2CF9AE}" pid="4" name="ICV">
    <vt:lpwstr/>
  </property>
  <property fmtid="{D5CDD505-2E9C-101B-9397-08002B2CF9AE}" pid="5" name="KSOProductBuildVer">
    <vt:lpwstr>1033-11.1.0.11723</vt:lpwstr>
  </property>
</Properties>
</file>