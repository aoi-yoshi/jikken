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8211f4f3634f37" /><Relationship Type="http://schemas.openxmlformats.org/officeDocument/2006/relationships/extended-properties" Target="/docProps/app.xml" Id="Rca3653c47d044091" /><Relationship Type="http://schemas.openxmlformats.org/officeDocument/2006/relationships/officeDocument" Target="/ppt/presentation.xml" Id="Rf4e6f049cbaa4b6a" /></Relationships>
</file>

<file path=ppt/presentation.xml><?xml version="1.0" encoding="utf-8"?>
<p:presentation xmlns:p="http://schemas.openxmlformats.org/presentationml/2006/main">
  <p:sldMasterIdLst>
    <p:sldMasterId xmlns:r="http://schemas.openxmlformats.org/officeDocument/2006/relationships" id="2147483648" r:id="R84dc40ebe5d24d1b"/>
  </p:sldMasterIdLst>
  <p:notesMasterIdLst>
    <p:notesMasterId xmlns:r="http://schemas.openxmlformats.org/officeDocument/2006/relationships" r:id="R4c9b3ca836354b8b"/>
  </p:notesMasterIdLst>
  <p:sldIdLst>
    <p:sldId xmlns:r="http://schemas.openxmlformats.org/officeDocument/2006/relationships" id="256" r:id="Rf6303300d5f5418a"/>
    <p:sldId xmlns:r="http://schemas.openxmlformats.org/officeDocument/2006/relationships" id="257" r:id="R11230c908be5497d"/>
    <p:sldId xmlns:r="http://schemas.openxmlformats.org/officeDocument/2006/relationships" id="258" r:id="R60467f7e410344c2"/>
    <p:sldId xmlns:r="http://schemas.openxmlformats.org/officeDocument/2006/relationships" id="259" r:id="R5f5594bd22ae4c72"/>
    <p:sldId xmlns:r="http://schemas.openxmlformats.org/officeDocument/2006/relationships" id="260" r:id="Rd4a30af9e6f449bc"/>
    <p:sldId xmlns:r="http://schemas.openxmlformats.org/officeDocument/2006/relationships" id="261" r:id="R1a12844e50d24aae"/>
    <p:sldId xmlns:r="http://schemas.openxmlformats.org/officeDocument/2006/relationships" id="262" r:id="Ra9021ee34c5a4046"/>
    <p:sldId xmlns:r="http://schemas.openxmlformats.org/officeDocument/2006/relationships" id="263" r:id="Re561600f61ef4dda"/>
    <p:sldId xmlns:r="http://schemas.openxmlformats.org/officeDocument/2006/relationships" id="264" r:id="R9a8b6ecefc424421"/>
    <p:sldId xmlns:r="http://schemas.openxmlformats.org/officeDocument/2006/relationships" id="265" r:id="R34609f0af76a4fb3"/>
    <p:sldId xmlns:r="http://schemas.openxmlformats.org/officeDocument/2006/relationships" id="266" r:id="R238f6d0894c0437d"/>
    <p:sldId xmlns:r="http://schemas.openxmlformats.org/officeDocument/2006/relationships" id="267" r:id="R42c0353b26044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3384a118f44899" /><Relationship Type="http://schemas.openxmlformats.org/officeDocument/2006/relationships/slideMaster" Target="/ppt/slideMasters/slideMaster1.xml" Id="R84dc40ebe5d24d1b" /><Relationship Type="http://schemas.openxmlformats.org/officeDocument/2006/relationships/notesMaster" Target="/ppt/notesMasters/notesMaster1.xml" Id="R4c9b3ca836354b8b" /><Relationship Type="http://schemas.openxmlformats.org/officeDocument/2006/relationships/presProps" Target="/ppt/presProps.xml" Id="Rf10038aa4a934639" /><Relationship Type="http://schemas.openxmlformats.org/officeDocument/2006/relationships/tableStyles" Target="/ppt/tableStyles.xml" Id="R81371f76482e4db2" /><Relationship Type="http://schemas.openxmlformats.org/officeDocument/2006/relationships/slide" Target="/ppt/slides/slide1.xml" Id="Rf6303300d5f5418a" /><Relationship Type="http://schemas.openxmlformats.org/officeDocument/2006/relationships/slide" Target="/ppt/slides/slide2.xml" Id="R11230c908be5497d" /><Relationship Type="http://schemas.openxmlformats.org/officeDocument/2006/relationships/slide" Target="/ppt/slides/slide3.xml" Id="R60467f7e410344c2" /><Relationship Type="http://schemas.openxmlformats.org/officeDocument/2006/relationships/slide" Target="/ppt/slides/slide4.xml" Id="R5f5594bd22ae4c72" /><Relationship Type="http://schemas.openxmlformats.org/officeDocument/2006/relationships/slide" Target="/ppt/slides/slide5.xml" Id="Rd4a30af9e6f449bc" /><Relationship Type="http://schemas.openxmlformats.org/officeDocument/2006/relationships/slide" Target="/ppt/slides/slide6.xml" Id="R1a12844e50d24aae" /><Relationship Type="http://schemas.openxmlformats.org/officeDocument/2006/relationships/slide" Target="/ppt/slides/slide7.xml" Id="Ra9021ee34c5a4046" /><Relationship Type="http://schemas.openxmlformats.org/officeDocument/2006/relationships/slide" Target="/ppt/slides/slide8.xml" Id="Re561600f61ef4dda" /><Relationship Type="http://schemas.openxmlformats.org/officeDocument/2006/relationships/slide" Target="/ppt/slides/slide9.xml" Id="R9a8b6ecefc424421" /><Relationship Type="http://schemas.openxmlformats.org/officeDocument/2006/relationships/slide" Target="/ppt/slides/slide10.xml" Id="R34609f0af76a4fb3" /><Relationship Type="http://schemas.openxmlformats.org/officeDocument/2006/relationships/slide" Target="/ppt/slides/slide11.xml" Id="R238f6d0894c0437d" /><Relationship Type="http://schemas.openxmlformats.org/officeDocument/2006/relationships/slide" Target="/ppt/slides/slide12.xml" Id="R42c0353b26044d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0fb7c42c0249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48ed03bd4a4ce8" /><Relationship Type="http://schemas.openxmlformats.org/officeDocument/2006/relationships/notesMaster" Target="/ppt/notesMasters/notesMaster1.xml" Id="Reb9c086913f647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f5e6299aa84bed" /><Relationship Type="http://schemas.openxmlformats.org/officeDocument/2006/relationships/notesMaster" Target="/ppt/notesMasters/notesMaster1.xml" Id="R05005efeb7ed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381a1865c943dc" /><Relationship Type="http://schemas.openxmlformats.org/officeDocument/2006/relationships/notesMaster" Target="/ppt/notesMasters/notesMaster1.xml" Id="R630ebb9bcee041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8a2e0d784b40de" /><Relationship Type="http://schemas.openxmlformats.org/officeDocument/2006/relationships/notesMaster" Target="/ppt/notesMasters/notesMaster1.xml" Id="R16cfbaa104e548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7413e4bd3c4575" /><Relationship Type="http://schemas.openxmlformats.org/officeDocument/2006/relationships/notesMaster" Target="/ppt/notesMasters/notesMaster1.xml" Id="Rb3da726daf2d4e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c0760f40a54d05" /><Relationship Type="http://schemas.openxmlformats.org/officeDocument/2006/relationships/notesMaster" Target="/ppt/notesMasters/notesMaster1.xml" Id="R4ab04e0a77514c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e0930a6682493f" /><Relationship Type="http://schemas.openxmlformats.org/officeDocument/2006/relationships/notesMaster" Target="/ppt/notesMasters/notesMaster1.xml" Id="R1caf2a1ef8c849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5316a16c794a88" /><Relationship Type="http://schemas.openxmlformats.org/officeDocument/2006/relationships/notesMaster" Target="/ppt/notesMasters/notesMaster1.xml" Id="R2a576fc0cae64e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f6386c5f1d49ac" /><Relationship Type="http://schemas.openxmlformats.org/officeDocument/2006/relationships/notesMaster" Target="/ppt/notesMasters/notesMaster1.xml" Id="Rce51112a6efc46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b217b76c464265" /><Relationship Type="http://schemas.openxmlformats.org/officeDocument/2006/relationships/notesMaster" Target="/ppt/notesMasters/notesMaster1.xml" Id="Re33691948b124c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21c2e98aff4081" /><Relationship Type="http://schemas.openxmlformats.org/officeDocument/2006/relationships/notesMaster" Target="/ppt/notesMasters/notesMaster1.xml" Id="R4069d8111b0c4c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3c6d28842a439e" /><Relationship Type="http://schemas.openxmlformats.org/officeDocument/2006/relationships/notesMaster" Target="/ppt/notesMasters/notesMaster1.xml" Id="Rf1e1c018318e4e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ここでも、2枚目と3枚目で追った同じr1-client-0-class1を使います。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4:35–5:15】</a:t>
            </a:r>
          </a:p>
          <a:p xmlns:a="http://schemas.openxmlformats.org/drawingml/2006/main">
            <a:r>
              <a:t>ここで、後半の結果を読むための実験条件を整理します。今回はNEXAR動画の通常と危険の二値判定を扱い、現場側AIを二台、三ラウンドで動かしました。各台は通常三本、危険三本を使い、一動画から四枚を入力します。危険動画は警告から事象までの区間を四分割し、通常動画も対応する同じ時刻を使いました。中央側には通常三十本と危険三十本、合計六十本を用意しました。各ラウンドでは四つのQ_{k,r}を作り、六十本を検索した後、上位三本を五通りに変換して四つのP_{k,r}を選びます。第I段階なので現場側と中央側は同じ3Bモデルです。今回の結果は接続確認であり、性能向上や異なる規模のAI間の転移を示すものではありません。</a:t>
            </a:r>
          </a:p>
          <a:p xmlns:a="http://schemas.openxmlformats.org/drawingml/2006/main">
            <a:r>
              <a:t/>
            </a:r>
          </a:p>
          <a:p xmlns:a="http://schemas.openxmlformats.org/drawingml/2006/main">
            <a:r>
              <a:t>【根拠】</a:t>
            </a:r>
          </a:p>
          <a:p xmlns:a="http://schemas.openxmlformats.org/drawingml/2006/main">
            <a:r>
              <a:t>config/fedpact_stage1.yaml</a:t>
            </a:r>
          </a:p>
          <a:p xmlns:a="http://schemas.openxmlformats.org/drawingml/2006/main">
            <a:r>
              <a:t>artifacts/runs/fedpact_stage1/p1d_full_20260917_02/summary.json</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5:15–5:50】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5:50–7:00】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7:00–8:25】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8:25–10:00】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問題を解消した後に5ラウンドの接続と状態継承を確認します。その後、第II段階で中央側動画だけの場合、学習後の判定を使う場合、学習前後の変化も使う場合を同じ条件で比較し、選択に使っていない動画で評価します。最後に構造や規模が異なる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ラウンドで選択した四組、合計十二組の代理データについて、現場側が示した危険確率の変化と、代理データ上で連合集約前後の小型AIが示した危険確率の変化を並べています。方向一致は十二組中七組でした。post KLが小さくてもdelta errorが大きい組があるため、学習後の判定だけの一致を代理データ再現の成功とは扱いません。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上段は二台の現場側AIの軽量更新量と分類層更新量、連合平均を別計算したときの最大差です。下段は中央側AIの軽量更新部分に対する勾配、更新量、同じ四組上の加重KLです。三ラウンド目は非増加条件を満たさなかったため、性能確認ではなく有限でゼロではない更新の実行確認として保存しました。</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処理時間は実行確認と異常検出のために記録した値で、他方式との速度比較ではありません。正解ラベルと小型AIの判定が一致した中央側動画は、各ラウンドで六十本中四十三本、四十四本、四十三本でした。選択動画のラベル不一致には検索処理だけでなく、小型AI自体の誤分類も混在します。通信監査は生の動画や画像を送っていないことの実装確認であり、形式的なプライバシー保証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7098e9c59c4d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c0a99ee95b4f65" /><Relationship Type="http://schemas.openxmlformats.org/officeDocument/2006/relationships/slideLayout" Target="/ppt/slideLayouts/slideLayout1.xml" Id="R2ab2b154dc0d4b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b2b154dc0d4b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572abd78c94cf9" /><Relationship Type="http://schemas.openxmlformats.org/officeDocument/2006/relationships/image" Target="/ppt/media/image.jpeg" Id="Rd0b7e50640f04fb1" /><Relationship Type="http://schemas.openxmlformats.org/officeDocument/2006/relationships/image" Target="/ppt/media/image2.jpeg" Id="Rc2ac543b93734d29" /><Relationship Type="http://schemas.openxmlformats.org/officeDocument/2006/relationships/notesSlide" Target="/ppt/notesSlides/notesSlide1.xml" Id="R0241ff63ef2949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dbb7aa484444d5" /><Relationship Type="http://schemas.openxmlformats.org/officeDocument/2006/relationships/image" Target="/ppt/media/image3.jpeg" Id="R306a60576b414942" /><Relationship Type="http://schemas.openxmlformats.org/officeDocument/2006/relationships/image" Target="/ppt/media/image4.jpeg" Id="Rcaa25dd81bed4739" /><Relationship Type="http://schemas.openxmlformats.org/officeDocument/2006/relationships/image" Target="/ppt/media/image5.jpeg" Id="R01b82230f52649ba" /><Relationship Type="http://schemas.openxmlformats.org/officeDocument/2006/relationships/image" Target="/ppt/media/image6.jpeg" Id="Re4475cda6f4b4151" /><Relationship Type="http://schemas.openxmlformats.org/officeDocument/2006/relationships/notesSlide" Target="/ppt/notesSlides/notesSlide2.xml" Id="R2b23a2bff44a4a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0cc055f3684406" /><Relationship Type="http://schemas.openxmlformats.org/officeDocument/2006/relationships/image" Target="/ppt/media/image7.jpeg" Id="Rb9bffe4e519e4876" /><Relationship Type="http://schemas.openxmlformats.org/officeDocument/2006/relationships/image" Target="/ppt/media/image8.jpeg" Id="R34c80fd2357d4eb7" /><Relationship Type="http://schemas.openxmlformats.org/officeDocument/2006/relationships/image" Target="/ppt/media/image9.jpeg" Id="Rb9b9c1c10e304858" /><Relationship Type="http://schemas.openxmlformats.org/officeDocument/2006/relationships/notesSlide" Target="/ppt/notesSlides/notesSlide3.xml" Id="Rc92fea657f804c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75ee859fc04c64" /><Relationship Type="http://schemas.openxmlformats.org/officeDocument/2006/relationships/image" Target="/ppt/media/image10.jpeg" Id="R3d9116f898894e18" /><Relationship Type="http://schemas.openxmlformats.org/officeDocument/2006/relationships/image" Target="/ppt/media/image.png" Id="Re6c3e044ab19402e" /><Relationship Type="http://schemas.openxmlformats.org/officeDocument/2006/relationships/image" Target="/ppt/media/image2.png" Id="R5b1a9d52c9404593" /><Relationship Type="http://schemas.openxmlformats.org/officeDocument/2006/relationships/image" Target="/ppt/media/image3.png" Id="Re457d94331434b37" /><Relationship Type="http://schemas.openxmlformats.org/officeDocument/2006/relationships/image" Target="/ppt/media/image4.png" Id="R86b23b509b7b4c03" /><Relationship Type="http://schemas.openxmlformats.org/officeDocument/2006/relationships/image" Target="/ppt/media/image5.png" Id="R38f6a65ba59a4a77" /><Relationship Type="http://schemas.openxmlformats.org/officeDocument/2006/relationships/notesSlide" Target="/ppt/notesSlides/notesSlide4.xml" Id="Rf77eb0f1f0234e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21351890d2414d" /><Relationship Type="http://schemas.openxmlformats.org/officeDocument/2006/relationships/notesSlide" Target="/ppt/notesSlides/notesSlide5.xml" Id="R9943cb714ef140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0837ff23cd4b1f" /><Relationship Type="http://schemas.openxmlformats.org/officeDocument/2006/relationships/notesSlide" Target="/ppt/notesSlides/notesSlide6.xml" Id="R293cad785c2448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8a43c3864e414c" /><Relationship Type="http://schemas.openxmlformats.org/officeDocument/2006/relationships/image" Target="/ppt/media/image6.png" Id="Rb2d73930298c4e16" /><Relationship Type="http://schemas.openxmlformats.org/officeDocument/2006/relationships/image" Target="/ppt/media/image7.png" Id="R974e21690db74d67" /><Relationship Type="http://schemas.openxmlformats.org/officeDocument/2006/relationships/image" Target="/ppt/media/image8.png" Id="R69574147a3814df7" /><Relationship Type="http://schemas.openxmlformats.org/officeDocument/2006/relationships/image" Target="/ppt/media/image9.png" Id="R46d0d052923a4784" /><Relationship Type="http://schemas.openxmlformats.org/officeDocument/2006/relationships/notesSlide" Target="/ppt/notesSlides/notesSlide7.xml" Id="Rd286c6cce94a4e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d8af4b01854d5b" /><Relationship Type="http://schemas.openxmlformats.org/officeDocument/2006/relationships/notesSlide" Target="/ppt/notesSlides/notesSlide8.xml" Id="Rf12bce446b3245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daf0dcab7c4758" /><Relationship Type="http://schemas.openxmlformats.org/officeDocument/2006/relationships/notesSlide" Target="/ppt/notesSlides/notesSlide9.xml" Id="R8e6d29bdd5524d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ac475a9b034ba3" /><Relationship Type="http://schemas.openxmlformats.org/officeDocument/2006/relationships/notesSlide" Target="/ppt/notesSlides/notesSlide10.xml" Id="Rdc4d3c131fec42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10d5d602ee43cc" /><Relationship Type="http://schemas.openxmlformats.org/officeDocument/2006/relationships/notesSlide" Target="/ppt/notesSlides/notesSlide11.xml" Id="Rb52ca09168674b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76a76d4650046f0" /><Relationship Type="http://schemas.openxmlformats.org/officeDocument/2006/relationships/notesSlide" Target="/ppt/notesSlides/notesSlide12.xml" Id="Rc97415e4531d429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1E70060-C61C-4F07-A32C-5A5B8EAC94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7D0A5A-766D-492B-AC6E-37B8F197D69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EE3A95-DC98-4431-BFAF-9B80991561B2}"/>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74CEBD9C-E99C-48B1-9305-DFE605D266B3}"/>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B9C50738-F6BC-4A5D-9FE4-BF4E9F18432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DB1294-EB37-4F4E-8DF7-B40A8A164AAA}"/>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C1496AE-BAA8-41BC-B7A7-47B5358E0E2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9</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d0b7e50640f04fb1"/>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2ac543b93734d29"/>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661762D-D925-4B8B-A893-E174E96A4B69}"/>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469A3497-F1F0-4C72-878E-462DAB0FB27E}"/>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43E114E9-8C31-47EB-B0A1-124A6AA7CD4F}"/>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C6AE98DA-0BB5-4324-85E6-CFC8713F0247}"/>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449C7029-1E1B-4CF2-9F88-08918203C2F9}"/>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EC7D3868-23D0-49A5-82F3-F107EF040919}"/>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C5207E3-A2BD-4130-AF2A-DD90D49B8522}"/>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7F45DB57-0A04-4F00-91BC-0559C9EC0DD0}"/>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DE4FD11C-A0CA-46CC-95F8-A2DFB6C529AF}"/>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8180F24E-1D0C-4DEE-8F85-59FDAEF7D1CC}"/>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655E570F-B5C5-4BE5-86C4-383508883A7E}"/>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DD4C5792-BCDD-4B05-9027-B87A3840A74C}"/>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1681553C-D09E-4BDF-96F1-C2E7988C5269}"/>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3718C84-CDED-4C4B-A752-85AF7AC0B41F}"/>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F1690728-A2CC-498F-BB10-3F0C42114CE0}"/>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A20BF3F2-A14D-49BA-A95C-4C84DB2D612F}"/>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8734E5F-38FD-494D-BCA8-578926D313CA}"/>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3C88D283-39FC-43B2-9ED1-6704FEB05E40}"/>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188FCE59-5CBB-4754-B6D5-F67756994303}"/>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DC0B5CC-263A-4F98-AD3C-79724B2D49A4}"/>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50059D4-1D71-4E93-B7ED-637CF7E159F3}"/>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7E6203C7-F020-4348-A10E-91C3FCDE27A9}"/>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2DA645C9-13AB-4DDE-8AE3-CCB2F98117A0}"/>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D105520-4EB3-4CEE-A503-9525833F5D45}"/>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94C0906-8313-42FC-AE83-830931485EE6}"/>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B2ED88F1-30FC-4D68-9F5C-911183E1099B}"/>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CE905B4B-E7AA-4D3D-B3D3-6037CEAD3F52}"/>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8BA51F5-45FD-4EB0-B7CC-216C5FF03F90}"/>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097CB65-7B0A-4009-B41E-133D941C05CA}"/>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AE400842-42DA-4203-BF8E-E091D3C9E347}"/>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95F5A4F0-ABC0-49BB-96B1-2EFD50C2E26D}"/>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517988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0C6D443-965B-4CF0-A2A7-B56E0937B3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C6413D-D82B-4D31-9533-F3024304EEF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0376AC-7DF3-46F8-A10B-C79C75DA9C75}"/>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9B49E9F5-F625-4576-AAEA-3ECBFCBF90B3}"/>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3234E241-45BB-46CD-BC7A-D0ABB06F78C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DC1772-F7EA-4D4D-A392-78D29D0CFFE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30F4D4B-A244-44CC-B416-D0BCF5AD2F1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9</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06a60576b414942"/>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E4B74ED-E402-4BB1-B80C-CB782BE85CE2}"/>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aa25dd81bed4739"/>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98B5090-1C00-488A-914A-6EFE727626F5}"/>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1b82230f52649ba"/>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7D474D9-843F-4FD3-B9AA-C03711348E6C}"/>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4475cda6f4b4151"/>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18DB97D-907C-4244-A763-0326E1241DDD}"/>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21F7229B-9529-4A08-A2A5-B8966B3FFA0B}"/>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76A538AE-6E83-41CC-AB53-3222A53BF080}"/>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qᵖʳᵉ</a:t>
            </a:r>
          </a:p>
        </p:txBody>
      </p:sp>
      <p:sp>
        <p:nvSpPr>
          <p:cNvPr id="18" name="">
            <a:extLst xmlns:a="http://schemas.openxmlformats.org/drawingml/2006/main">
              <a:ext uri="{FF2B5EF4-FFF2-40B4-BE49-F238E27FC236}">
                <a16:creationId xmlns:a16="http://schemas.microsoft.com/office/drawing/2014/main" id="{C52AC591-5B86-404D-B604-41C8BD414B1D}"/>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99F6ECE3-8DF3-4972-86D1-78405FD2FD7D}"/>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0B06B415-0E3F-45C7-99B7-CC3E8700D4A0}"/>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64EE3A3-5810-4209-BD90-7FE5A20DA60A}"/>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qᵖᵒˢᵗ</a:t>
            </a:r>
          </a:p>
        </p:txBody>
      </p:sp>
      <p:sp>
        <p:nvSpPr>
          <p:cNvPr id="22" name="">
            <a:extLst xmlns:a="http://schemas.openxmlformats.org/drawingml/2006/main">
              <a:ext uri="{FF2B5EF4-FFF2-40B4-BE49-F238E27FC236}">
                <a16:creationId xmlns:a16="http://schemas.microsoft.com/office/drawing/2014/main" id="{571F39D9-9301-4E32-99CC-471C817986F1}"/>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7934F6D5-4110-4FC3-A829-D09F544F68DF}"/>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F49DD6C4-CD70-44C8-B25A-92C430D596BE}"/>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1F6868A-7A5E-4293-A689-E32FA3DCC3B1}"/>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42A02C8C-E780-40A0-B544-4AB241B9CF48}"/>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CB99F34B-C934-409C-BC55-12E81D80FEDF}"/>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3331D8D7-B35A-4B85-846F-35BE09856F12}"/>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403F37B-6494-41C3-8571-A5263F23DC16}"/>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F56A21B2-F043-4521-BC76-74BADCCFB2B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61356858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6C099A3-A16F-4B32-BB5C-54E6690024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5C8957-C670-4795-A5DB-B6175593A06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56DC92-6BDA-478E-8C25-B8CD38F26A10}"/>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FF231070-DE67-4729-BF77-7CF339F8A4D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AD4F7F73-A23C-41A3-958C-5563DD9A6ECA}"/>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F87506-3A2F-4605-B238-ECBDD7A7E212}"/>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BD30337-0D31-45E5-9831-6CEA35528A1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9</a:t>
            </a:r>
          </a:p>
        </p:txBody>
      </p:sp>
      <p:sp>
        <p:nvSpPr>
          <p:cNvPr id="8" name="">
            <a:extLst xmlns:a="http://schemas.openxmlformats.org/drawingml/2006/main">
              <a:ext uri="{FF2B5EF4-FFF2-40B4-BE49-F238E27FC236}">
                <a16:creationId xmlns:a16="http://schemas.microsoft.com/office/drawing/2014/main" id="{DDCEA6EF-141F-4EF4-9102-C39C341D8FA9}"/>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9bffe4e519e4876"/>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BC2BB15-2C74-47C6-89A3-FC293D53B87C}"/>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4c80fd2357d4eb7"/>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FF1A299-36DC-4324-94F8-3F3CBCD33124}"/>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b9b9c1c10e304858"/>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E8513D8-5F5B-4B3B-BF19-B651ACDA6323}"/>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81AFEC2E-AC44-476E-984C-3501544ED4A4}"/>
              </a:ext>
            </a:extLst>
          </p:cNvPr>
          <p:cNvSpPr>
            <a:spLocks xmlns:a="http://schemas.openxmlformats.org/drawingml/2006/main" noGrp="1"/>
          </p:cNvSpPr>
          <p:nvPr/>
        </p:nvSpPr>
        <p:spPr>
          <a:xfrm xmlns:a="http://schemas.openxmlformats.org/drawingml/2006/main">
            <a:off x="2581275" y="1438275"/>
            <a:ext cx="1866900" cy="1076325"/>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16" name="">
            <a:extLst xmlns:a="http://schemas.openxmlformats.org/drawingml/2006/main">
              <a:ext uri="{FF2B5EF4-FFF2-40B4-BE49-F238E27FC236}">
                <a16:creationId xmlns:a16="http://schemas.microsoft.com/office/drawing/2014/main" id="{30B66EDB-65B3-4DAE-96DA-40D7B15A5F4C}"/>
              </a:ext>
            </a:extLst>
          </p:cNvPr>
          <p:cNvSpPr>
            <a:spLocks xmlns:a="http://schemas.openxmlformats.org/drawingml/2006/main" noGrp="1"/>
          </p:cNvSpPr>
          <p:nvPr/>
        </p:nvSpPr>
        <p:spPr>
          <a:xfrm xmlns:a="http://schemas.openxmlformats.org/drawingml/2006/main">
            <a:off x="2647950" y="1504950"/>
            <a:ext cx="876300" cy="20955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Yu Gothic"/>
                <a:ea typeface="Yu Gothic"/>
                <a:cs typeface="Yu Gothic"/>
              </a:defRPr>
            </a:pPr>
            <a:r>
              <a:rPr sz="900" b="1">
                <a:solidFill>
                  <a:srgbClr val="FFFFFF"/>
                </a:solidFill>
                <a:latin typeface="Yu Gothic"/>
                <a:ea typeface="Yu Gothic"/>
                <a:cs typeface="Yu Gothic"/>
              </a:rPr>
              <a:t>2枚目の動画</a:t>
            </a:r>
          </a:p>
        </p:txBody>
      </p:sp>
      <p:sp>
        <p:nvSpPr>
          <p:cNvPr id="17" name="">
            <a:extLst xmlns:a="http://schemas.openxmlformats.org/drawingml/2006/main">
              <a:ext uri="{FF2B5EF4-FFF2-40B4-BE49-F238E27FC236}">
                <a16:creationId xmlns:a16="http://schemas.microsoft.com/office/drawing/2014/main" id="{A483BD76-9ABE-48C4-8ADA-2AE8947E7739}"/>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0C9220-5FEE-4AAA-BBAB-25D7AC2D795A}"/>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Qₖ,ᵣ</a:t>
            </a:r>
          </a:p>
        </p:txBody>
      </p:sp>
      <p:sp>
        <p:nvSpPr>
          <p:cNvPr id="19" name="">
            <a:extLst xmlns:a="http://schemas.openxmlformats.org/drawingml/2006/main">
              <a:ext uri="{FF2B5EF4-FFF2-40B4-BE49-F238E27FC236}">
                <a16:creationId xmlns:a16="http://schemas.microsoft.com/office/drawing/2014/main" id="{B275D2A6-5DA0-4D00-A4A6-0F72E6B87A9D}"/>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μᵖᵒˢᵗₖ,ᵣ</a:t>
            </a:r>
          </a:p>
        </p:txBody>
      </p:sp>
      <p:sp>
        <p:nvSpPr>
          <p:cNvPr id="20" name="">
            <a:extLst xmlns:a="http://schemas.openxmlformats.org/drawingml/2006/main">
              <a:ext uri="{FF2B5EF4-FFF2-40B4-BE49-F238E27FC236}">
                <a16:creationId xmlns:a16="http://schemas.microsoft.com/office/drawing/2014/main" id="{924FC278-A3B1-4F24-99F4-1863C4E2DEE1}"/>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21" name="">
            <a:extLst xmlns:a="http://schemas.openxmlformats.org/drawingml/2006/main">
              <a:ext uri="{FF2B5EF4-FFF2-40B4-BE49-F238E27FC236}">
                <a16:creationId xmlns:a16="http://schemas.microsoft.com/office/drawing/2014/main" id="{45305574-0DAF-4260-B569-F0B79A15CD9B}"/>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2" name="">
            <a:extLst xmlns:a="http://schemas.openxmlformats.org/drawingml/2006/main">
              <a:ext uri="{FF2B5EF4-FFF2-40B4-BE49-F238E27FC236}">
                <a16:creationId xmlns:a16="http://schemas.microsoft.com/office/drawing/2014/main" id="{B9946126-06BE-4130-88CA-F3FE00810665}"/>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Δμₖ,ᵣ</a:t>
            </a:r>
          </a:p>
        </p:txBody>
      </p:sp>
      <p:sp>
        <p:nvSpPr>
          <p:cNvPr id="23" name="">
            <a:extLst xmlns:a="http://schemas.openxmlformats.org/drawingml/2006/main">
              <a:ext uri="{FF2B5EF4-FFF2-40B4-BE49-F238E27FC236}">
                <a16:creationId xmlns:a16="http://schemas.microsoft.com/office/drawing/2014/main" id="{A2BBB27D-B94B-46F3-BDE8-8E7D3EDC0073}"/>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4" name="">
            <a:extLst xmlns:a="http://schemas.openxmlformats.org/drawingml/2006/main">
              <a:ext uri="{FF2B5EF4-FFF2-40B4-BE49-F238E27FC236}">
                <a16:creationId xmlns:a16="http://schemas.microsoft.com/office/drawing/2014/main" id="{8D45E80E-ADEF-459D-84A3-B513B48A6297}"/>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5" name="">
            <a:extLst xmlns:a="http://schemas.openxmlformats.org/drawingml/2006/main">
              <a:ext uri="{FF2B5EF4-FFF2-40B4-BE49-F238E27FC236}">
                <a16:creationId xmlns:a16="http://schemas.microsoft.com/office/drawing/2014/main" id="{E0EC211A-E265-4BF6-9B35-A311389DDB39}"/>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πₖ,ᵣ = 3　まとめた動画の本数</a:t>
            </a:r>
          </a:p>
        </p:txBody>
      </p:sp>
      <p:sp>
        <p:nvSpPr>
          <p:cNvPr id="26" name="">
            <a:extLst xmlns:a="http://schemas.openxmlformats.org/drawingml/2006/main">
              <a:ext uri="{FF2B5EF4-FFF2-40B4-BE49-F238E27FC236}">
                <a16:creationId xmlns:a16="http://schemas.microsoft.com/office/drawing/2014/main" id="{53BBC6B3-3F4B-4263-A0DD-3DC8D6F71A04}"/>
              </a:ext>
            </a:extLst>
          </p:cNvPr>
          <p:cNvSpPr>
            <a:spLocks xmlns:a="http://schemas.openxmlformats.org/drawingml/2006/main" noGrp="1"/>
          </p:cNvSpPr>
          <p:nvPr/>
        </p:nvSpPr>
        <p:spPr>
          <a:xfrm xmlns:a="http://schemas.openxmlformats.org/drawingml/2006/main">
            <a:off x="7286625" y="3514725"/>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k：現場側AI　　r：通常・危険の動画群</a:t>
            </a:r>
          </a:p>
        </p:txBody>
      </p:sp>
      <p:sp>
        <p:nvSpPr>
          <p:cNvPr id="27" name="">
            <a:extLst xmlns:a="http://schemas.openxmlformats.org/drawingml/2006/main">
              <a:ext uri="{FF2B5EF4-FFF2-40B4-BE49-F238E27FC236}">
                <a16:creationId xmlns:a16="http://schemas.microsoft.com/office/drawing/2014/main" id="{9E269BCA-E83B-4763-84D5-D6887BA82F19}"/>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0A06B94-C219-44BB-BD42-360BFFE592B7}"/>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9" name="">
            <a:extLst xmlns:a="http://schemas.openxmlformats.org/drawingml/2006/main">
              <a:ext uri="{FF2B5EF4-FFF2-40B4-BE49-F238E27FC236}">
                <a16:creationId xmlns:a16="http://schemas.microsoft.com/office/drawing/2014/main" id="{1E4C614B-29A6-424E-A029-F66BB7C58A80}"/>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30" name="">
            <a:extLst xmlns:a="http://schemas.openxmlformats.org/drawingml/2006/main">
              <a:ext uri="{FF2B5EF4-FFF2-40B4-BE49-F238E27FC236}">
                <a16:creationId xmlns:a16="http://schemas.microsoft.com/office/drawing/2014/main" id="{793DC3BC-7DCC-4C5A-B0B9-1749D3125D57}"/>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Qₖ,ᵣ = ( μᵖᵒˢᵗₖ,ᵣ,  Δμₖ,ᵣ,  πₖ,ᵣ )</a:t>
            </a:r>
          </a:p>
        </p:txBody>
      </p:sp>
      <p:sp>
        <p:nvSpPr>
          <p:cNvPr id="31" name="">
            <a:extLst xmlns:a="http://schemas.openxmlformats.org/drawingml/2006/main">
              <a:ext uri="{FF2B5EF4-FFF2-40B4-BE49-F238E27FC236}">
                <a16:creationId xmlns:a16="http://schemas.microsoft.com/office/drawing/2014/main" id="{4FEAB500-474E-4B47-983E-CF415AA944A3}"/>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32" name="">
            <a:extLst xmlns:a="http://schemas.openxmlformats.org/drawingml/2006/main">
              <a:ext uri="{FF2B5EF4-FFF2-40B4-BE49-F238E27FC236}">
                <a16:creationId xmlns:a16="http://schemas.microsoft.com/office/drawing/2014/main" id="{6FDD1C93-C3BB-4E45-91D6-E5B56F6A34B4}"/>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3" name="">
            <a:extLst xmlns:a="http://schemas.openxmlformats.org/drawingml/2006/main">
              <a:ext uri="{FF2B5EF4-FFF2-40B4-BE49-F238E27FC236}">
                <a16:creationId xmlns:a16="http://schemas.microsoft.com/office/drawing/2014/main" id="{C2BD2510-D78A-471A-90AD-99C09B9B64A4}"/>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小型AIの更新は連合平均へ、Qₖ,ᵣは代理データ生成へ。Qₖ,ᵣ自体は平均しない。</a:t>
            </a:r>
          </a:p>
        </p:txBody>
      </p:sp>
    </p:spTree>
    <p:extLst>
      <p:ext uri="{BB962C8B-B14F-4D97-AF65-F5344CB8AC3E}">
        <p14:creationId xmlns:p14="http://schemas.microsoft.com/office/powerpoint/2010/main" val="12071770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DD80BC5-87FA-45BA-89CA-A1C14374CA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8BEE18-E4A2-4AA7-98CF-BE04CCD9B01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74E993-D21D-4866-9707-2120279AA588}"/>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C0530E01-AC5E-4F91-AE8F-8D6209B4F873}"/>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7B69C292-EEA9-47FA-9F03-FBADB883E54A}"/>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4C5B034-CE35-4E82-85C3-DA95C12A19D6}"/>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8D1BAF60-9A9A-4582-A1A6-ED0FBFF8EAB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9</a:t>
            </a:r>
          </a:p>
        </p:txBody>
      </p:sp>
      <p:sp>
        <p:nvSpPr>
          <p:cNvPr id="8" name="">
            <a:extLst xmlns:a="http://schemas.openxmlformats.org/drawingml/2006/main">
              <a:ext uri="{FF2B5EF4-FFF2-40B4-BE49-F238E27FC236}">
                <a16:creationId xmlns:a16="http://schemas.microsoft.com/office/drawing/2014/main" id="{B7BC8D1E-A9DA-4B68-B1A6-2FD0CD25BA42}"/>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65524360-2FA7-4579-AB34-29447246CCA7}"/>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Qₖ,ᵣ</a:t>
            </a:r>
          </a:p>
        </p:txBody>
      </p:sp>
      <p:sp>
        <p:nvSpPr>
          <p:cNvPr id="10" name="">
            <a:extLst xmlns:a="http://schemas.openxmlformats.org/drawingml/2006/main">
              <a:ext uri="{FF2B5EF4-FFF2-40B4-BE49-F238E27FC236}">
                <a16:creationId xmlns:a16="http://schemas.microsoft.com/office/drawing/2014/main" id="{D81E4FB9-11D0-46EF-B84F-9169DD5280FD}"/>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8D1A944D-96DD-4800-B682-CF7DC22494BC}"/>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C5142F-0A00-4453-A693-12A045D3F628}"/>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7EC55620-F9F9-4C2F-9FEB-8871CDC82650}"/>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3d9116f898894e18"/>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18D57FD-89BB-4B6B-87E1-B43616EC841B}"/>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EB07A8DC-3023-4DC9-9AEE-F480DC2ED9B9}"/>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992B881-0840-4DB1-9F23-CDC97817AAB8}"/>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0507B8C2-AC12-403E-A94D-D7B9BF14CFF0}"/>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e6c3e044ab19402e"/>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C693A7ED-DB57-4DFA-B8AA-D72409F88A5D}"/>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348B436C-23A8-4713-AC2F-4CA69E249E67}"/>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5b1a9d52c9404593"/>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D617530C-D230-4452-88ED-879E5F1F7DF6}"/>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e457d94331434b37"/>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53DE0808-9D87-4177-AF88-28F39624DAB7}"/>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86b23b509b7b4c03"/>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67FDE8CB-8E9A-45E1-BA3B-5FC48A4FCD90}"/>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38f6a65ba59a4a77"/>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A0BF9F04-FC4B-4AC3-B968-3565AE52EF27}"/>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63B85BBD-C783-4B48-A3D2-329805DC50FB}"/>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A996A3B-BFF9-4D76-BF5C-13E44C427779}"/>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1FB53808-5B16-4D6C-96FB-0637DA3D64FA}"/>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631C0EDF-EEB2-4CA3-87F7-74D4A94DB5AB}"/>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124AEF3B-3494-4797-8064-91D939E7F6E7}"/>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DBA02CE-114F-4052-9087-650C1234C63A}"/>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Pₖ,ᵣ = ( x̃ₖ,ᵣ,</a:t>
            </a:r>
          </a:p>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μᵖᵒˢᵗₖ,ᵣ )</a:t>
            </a:r>
          </a:p>
        </p:txBody>
      </p:sp>
      <p:sp>
        <p:nvSpPr>
          <p:cNvPr id="36" name="">
            <a:extLst xmlns:a="http://schemas.openxmlformats.org/drawingml/2006/main">
              <a:ext uri="{FF2B5EF4-FFF2-40B4-BE49-F238E27FC236}">
                <a16:creationId xmlns:a16="http://schemas.microsoft.com/office/drawing/2014/main" id="{9465AD31-9CC3-419D-9B7E-CE22A9F4967D}"/>
              </a:ext>
            </a:extLst>
          </p:cNvPr>
          <p:cNvSpPr>
            <a:spLocks xmlns:a="http://schemas.openxmlformats.org/drawingml/2006/main" noGrp="1"/>
          </p:cNvSpPr>
          <p:nvPr/>
        </p:nvSpPr>
        <p:spPr>
          <a:xfrm xmlns:a="http://schemas.openxmlformats.org/drawingml/2006/main">
            <a:off x="9201150" y="52863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x̃ₖ,ᵣ：選ばれた変換後動画</a:t>
            </a:r>
          </a:p>
        </p:txBody>
      </p:sp>
      <p:sp>
        <p:nvSpPr>
          <p:cNvPr id="37" name="">
            <a:extLst xmlns:a="http://schemas.openxmlformats.org/drawingml/2006/main">
              <a:ext uri="{FF2B5EF4-FFF2-40B4-BE49-F238E27FC236}">
                <a16:creationId xmlns:a16="http://schemas.microsoft.com/office/drawing/2014/main" id="{6F754159-2028-45F3-A781-6964D5EC3E31}"/>
              </a:ext>
            </a:extLst>
          </p:cNvPr>
          <p:cNvSpPr>
            <a:spLocks xmlns:a="http://schemas.openxmlformats.org/drawingml/2006/main" noGrp="1"/>
          </p:cNvSpPr>
          <p:nvPr/>
        </p:nvSpPr>
        <p:spPr>
          <a:xfrm xmlns:a="http://schemas.openxmlformats.org/drawingml/2006/main">
            <a:off x="1047750" y="57150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変化量は候補選択に使い、πₖ,ᵣは学習時の重みに使う。教師値は学習後の判定 0.724</a:t>
            </a:r>
          </a:p>
        </p:txBody>
      </p:sp>
      <p:sp>
        <p:nvSpPr>
          <p:cNvPr id="38" name="">
            <a:extLst xmlns:a="http://schemas.openxmlformats.org/drawingml/2006/main">
              <a:ext uri="{FF2B5EF4-FFF2-40B4-BE49-F238E27FC236}">
                <a16:creationId xmlns:a16="http://schemas.microsoft.com/office/drawing/2014/main" id="{49419AB6-6CFF-4861-9F9F-9CF2769B253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54458164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56477D3-F790-4CD8-9CEF-7484FCD91D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C5B1F0-79F3-408A-AE75-61BC4527706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2FA170-A159-49FB-B655-96B633D1E2AD}"/>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今回の実験設定</a:t>
            </a:r>
          </a:p>
        </p:txBody>
      </p:sp>
      <p:sp>
        <p:nvSpPr>
          <p:cNvPr id="4" name="">
            <a:extLst xmlns:a="http://schemas.openxmlformats.org/drawingml/2006/main">
              <a:ext uri="{FF2B5EF4-FFF2-40B4-BE49-F238E27FC236}">
                <a16:creationId xmlns:a16="http://schemas.microsoft.com/office/drawing/2014/main" id="{03D3F0D6-C387-4CCE-A441-63D9472C26A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08BBE96C-875A-41B6-9141-1AE7E9A6F82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076C6A-7962-437D-833B-85A7980A1DC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08D7CF9-9DE9-4B3F-AE8C-6BD6EF85474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9</a:t>
            </a:r>
          </a:p>
        </p:txBody>
      </p:sp>
      <p:sp>
        <p:nvSpPr>
          <p:cNvPr id="8" name="">
            <a:extLst xmlns:a="http://schemas.openxmlformats.org/drawingml/2006/main">
              <a:ext uri="{FF2B5EF4-FFF2-40B4-BE49-F238E27FC236}">
                <a16:creationId xmlns:a16="http://schemas.microsoft.com/office/drawing/2014/main" id="{B2D1FBBE-313E-44A8-9996-24190DF6774E}"/>
              </a:ext>
            </a:extLst>
          </p:cNvPr>
          <p:cNvSpPr>
            <a:spLocks xmlns:a="http://schemas.openxmlformats.org/drawingml/2006/main" noGrp="1"/>
          </p:cNvSpPr>
          <p:nvPr/>
        </p:nvSpPr>
        <p:spPr>
          <a:xfrm xmlns:a="http://schemas.openxmlformats.org/drawingml/2006/main">
            <a:off x="685800" y="1066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第I段階の目的</a:t>
            </a:r>
          </a:p>
        </p:txBody>
      </p:sp>
      <p:sp>
        <p:nvSpPr>
          <p:cNvPr id="9" name="">
            <a:extLst xmlns:a="http://schemas.openxmlformats.org/drawingml/2006/main">
              <a:ext uri="{FF2B5EF4-FFF2-40B4-BE49-F238E27FC236}">
                <a16:creationId xmlns:a16="http://schemas.microsoft.com/office/drawing/2014/main" id="{395EC368-C8D6-466A-AD10-84FAD6135E0F}"/>
              </a:ext>
            </a:extLst>
          </p:cNvPr>
          <p:cNvSpPr>
            <a:spLocks xmlns:a="http://schemas.openxmlformats.org/drawingml/2006/main" noGrp="1"/>
          </p:cNvSpPr>
          <p:nvPr/>
        </p:nvSpPr>
        <p:spPr>
          <a:xfrm xmlns:a="http://schemas.openxmlformats.org/drawingml/2006/main">
            <a:off x="2647950" y="101917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3層の実行・接続と、次のラウンドへの状態継承を確認</a:t>
            </a:r>
          </a:p>
        </p:txBody>
      </p:sp>
      <p:graphicFrame>
        <p:nvGraphicFramePr>
          <p:cNvPr id="23" name=""/>
          <p:cNvGraphicFramePr/>
          <p:nvPr/>
        </p:nvGraphicFramePr>
        <p:xfrm>
          <a:off xmlns:a="http://schemas.openxmlformats.org/drawingml/2006/main" x="628650" y="1600200"/>
          <a:ext xmlns:a="http://schemas.openxmlformats.org/drawingml/2006/main" cx="10953750" cy="3943350"/>
        </p:xfrm>
        <a:graphic xmlns:a="http://schemas.openxmlformats.org/drawingml/2006/main">
          <a:graphicData uri="http://schemas.openxmlformats.org/drawingml/2006/table">
            <a:tbl>
              <a:tblPr/>
              <a:tblGrid>
                <a:gridCol w="1257300"/>
                <a:gridCol w="4305300"/>
                <a:gridCol w="1352550"/>
                <a:gridCol w="4038600"/>
              </a:tblGrid>
              <a:tr h="438150">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予測課題</a:t>
                      </a:r>
                    </a:p>
                  </a:txBody>
                  <a:tcPr marL="91440" marR="91440" marT="45720" marB="45720" anchor="ctr"/>
                </a:tc>
                <a:tc>
                  <a:txBody>
                    <a:bodyPr/>
                    <a:lstStyle/>
                    <a:p>
                      <a:r>
                        <a:rPr sz="1350" b="0">
                          <a:solidFill>
                            <a:srgbClr val="26373D"/>
                          </a:solidFill>
                          <a:latin typeface="Yu Gothic"/>
                          <a:ea typeface="Yu Gothic"/>
                          <a:cs typeface="Yu Gothic"/>
                        </a:rPr>
                        <a:t>NEXAR動画の通常／危険の二値判定</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ラウンド</a:t>
                      </a:r>
                    </a:p>
                  </a:txBody>
                  <a:tcPr marL="91440" marR="91440" marT="45720" marB="45720" anchor="ctr"/>
                </a:tc>
                <a:tc>
                  <a:txBody>
                    <a:bodyPr/>
                    <a:lstStyle/>
                    <a:p>
                      <a:r>
                        <a:rPr sz="1350" b="0">
                          <a:solidFill>
                            <a:srgbClr val="26373D"/>
                          </a:solidFill>
                          <a:latin typeface="Yu Gothic"/>
                          <a:ea typeface="Yu Gothic"/>
                          <a:cs typeface="Yu Gothic"/>
                        </a:rPr>
                        <a:t>3回</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現場側</a:t>
                      </a:r>
                    </a:p>
                  </a:txBody>
                  <a:tcPr marL="91440" marR="91440" marT="45720" marB="45720" anchor="ctr"/>
                </a:tc>
                <a:tc>
                  <a:txBody>
                    <a:bodyPr/>
                    <a:lstStyle/>
                    <a:p>
                      <a:r>
                        <a:rPr sz="1350" b="0">
                          <a:solidFill>
                            <a:srgbClr val="26373D"/>
                          </a:solidFill>
                          <a:latin typeface="Yu Gothic"/>
                          <a:ea typeface="Yu Gothic"/>
                          <a:cs typeface="Yu Gothic"/>
                        </a:rPr>
                        <a:t>2台、各6本（通常3・危険3）</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中央側候補</a:t>
                      </a:r>
                    </a:p>
                  </a:txBody>
                  <a:tcPr marL="91440" marR="91440" marT="45720" marB="45720" anchor="ctr"/>
                </a:tc>
                <a:tc>
                  <a:txBody>
                    <a:bodyPr/>
                    <a:lstStyle/>
                    <a:p>
                      <a:r>
                        <a:rPr sz="1350" b="0">
                          <a:solidFill>
                            <a:srgbClr val="26373D"/>
                          </a:solidFill>
                          <a:latin typeface="Yu Gothic"/>
                          <a:ea typeface="Yu Gothic"/>
                          <a:cs typeface="Yu Gothic"/>
                        </a:rPr>
                        <a:t>60本（通常30・危険30）</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データ分割</a:t>
                      </a:r>
                    </a:p>
                  </a:txBody>
                  <a:tcPr marL="91440" marR="91440" marT="45720" marB="45720" anchor="ctr"/>
                </a:tc>
                <a:tc>
                  <a:txBody>
                    <a:bodyPr/>
                    <a:lstStyle/>
                    <a:p>
                      <a:r>
                        <a:rPr sz="1350" b="0">
                          <a:solidFill>
                            <a:srgbClr val="26373D"/>
                          </a:solidFill>
                          <a:latin typeface="Yu Gothic"/>
                          <a:ea typeface="Yu Gothic"/>
                          <a:cs typeface="Yu Gothic"/>
                        </a:rPr>
                        <a:t>現場側12本・中央側60本・確認用2本・最終評価用2本は動画単位で非重複</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反復条件</a:t>
                      </a:r>
                    </a:p>
                  </a:txBody>
                  <a:tcPr marL="91440" marR="91440" marT="45720" marB="45720" anchor="ctr"/>
                </a:tc>
                <a:tc>
                  <a:txBody>
                    <a:bodyPr/>
                    <a:lstStyle/>
                    <a:p>
                      <a:r>
                        <a:rPr sz="1350" b="0">
                          <a:solidFill>
                            <a:srgbClr val="26373D"/>
                          </a:solidFill>
                          <a:latin typeface="Yu Gothic"/>
                          <a:ea typeface="Yu Gothic"/>
                          <a:cs typeface="Yu Gothic"/>
                        </a:rPr>
                        <a:t>乱数seed 42の1実行。3ラウンドで同じ現場動画を使用し、最適化状態は毎回初期化</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入力画像</a:t>
                      </a:r>
                    </a:p>
                  </a:txBody>
                  <a:tcPr marL="91440" marR="91440" marT="45720" marB="45720" anchor="ctr"/>
                </a:tc>
                <a:tc>
                  <a:txBody>
                    <a:bodyPr/>
                    <a:lstStyle/>
                    <a:p>
                      <a:r>
                        <a:rPr sz="1350" b="0">
                          <a:solidFill>
                            <a:srgbClr val="26373D"/>
                          </a:solidFill>
                          <a:latin typeface="Yu Gothic"/>
                          <a:ea typeface="Yu Gothic"/>
                          <a:cs typeface="Yu Gothic"/>
                        </a:rPr>
                        <a:t>1動画4枚。危険区間の4時刻と、対応する通常動画の同じ4時刻</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要約</a:t>
                      </a:r>
                    </a:p>
                  </a:txBody>
                  <a:tcPr marL="91440" marR="91440" marT="45720" marB="45720" anchor="ctr"/>
                </a:tc>
                <a:tc>
                  <a:txBody>
                    <a:bodyPr/>
                    <a:lstStyle/>
                    <a:p>
                      <a:r>
                        <a:rPr sz="1350" b="0">
                          <a:solidFill>
                            <a:srgbClr val="26373D"/>
                          </a:solidFill>
                          <a:latin typeface="Yu Gothic"/>
                          <a:ea typeface="Yu Gothic"/>
                          <a:cs typeface="Yu Gothic"/>
                        </a:rPr>
                        <a:t>softmax確率（T=1）を各台・各classで平均し、4つのQₖ,ᵣ</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使用モデル</a:t>
                      </a:r>
                    </a:p>
                  </a:txBody>
                  <a:tcPr marL="91440" marR="91440" marT="45720" marB="45720" anchor="ctr"/>
                </a:tc>
                <a:tc>
                  <a:txBody>
                    <a:bodyPr/>
                    <a:lstStyle/>
                    <a:p>
                      <a:r>
                        <a:rPr sz="1350" b="0">
                          <a:solidFill>
                            <a:srgbClr val="26373D"/>
                          </a:solidFill>
                          <a:latin typeface="Yu Gothic"/>
                          <a:ea typeface="Yu Gothic"/>
                          <a:cs typeface="Yu Gothic"/>
                        </a:rPr>
                        <a:t>現場側・中央側とも Qwen2.5-VL-3B-Instruct</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更新対象</a:t>
                      </a:r>
                    </a:p>
                  </a:txBody>
                  <a:tcPr marL="91440" marR="91440" marT="45720" marB="45720" anchor="ctr"/>
                </a:tc>
                <a:tc>
                  <a:txBody>
                    <a:bodyPr/>
                    <a:lstStyle/>
                    <a:p>
                      <a:r>
                        <a:rPr sz="1350" b="0">
                          <a:solidFill>
                            <a:srgbClr val="26373D"/>
                          </a:solidFill>
                          <a:latin typeface="Yu Gothic"/>
                          <a:ea typeface="Yu Gothic"/>
                          <a:cs typeface="Yu Gothic"/>
                        </a:rPr>
                        <a:t>現場側：軽量更新部分（LoRA）＋分類層
中央側：軽量更新部分（LoRA）のみ</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現場側学習</a:t>
                      </a:r>
                    </a:p>
                  </a:txBody>
                  <a:tcPr marL="91440" marR="91440" marT="45720" marB="45720" anchor="ctr"/>
                </a:tc>
                <a:tc>
                  <a:txBody>
                    <a:bodyPr/>
                    <a:lstStyle/>
                    <a:p>
                      <a:r>
                        <a:rPr sz="1350" b="0">
                          <a:solidFill>
                            <a:srgbClr val="26373D"/>
                          </a:solidFill>
                          <a:latin typeface="Yu Gothic"/>
                          <a:ea typeface="Yu Gothic"/>
                          <a:cs typeface="Yu Gothic"/>
                        </a:rPr>
                        <a:t>AdamW、学習率 1×10⁻⁴、1回に1動画、6回更新</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軽量更新</a:t>
                      </a:r>
                    </a:p>
                  </a:txBody>
                  <a:tcPr marL="91440" marR="91440" marT="45720" marB="45720" anchor="ctr"/>
                </a:tc>
                <a:tc>
                  <a:txBody>
                    <a:bodyPr/>
                    <a:lstStyle/>
                    <a:p>
                      <a:r>
                        <a:rPr sz="1350" b="0">
                          <a:solidFill>
                            <a:srgbClr val="26373D"/>
                          </a:solidFill>
                          <a:latin typeface="Yu Gothic"/>
                          <a:ea typeface="Yu Gothic"/>
                          <a:cs typeface="Yu Gothic"/>
                        </a:rPr>
                        <a:t>r=8、α=16、dropout=0</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連合平均</a:t>
                      </a:r>
                    </a:p>
                  </a:txBody>
                  <a:tcPr marL="91440" marR="91440" marT="45720" marB="45720" anchor="ctr"/>
                </a:tc>
                <a:tc>
                  <a:txBody>
                    <a:bodyPr/>
                    <a:lstStyle/>
                    <a:p>
                      <a:r>
                        <a:rPr sz="1350" b="0">
                          <a:solidFill>
                            <a:srgbClr val="26373D"/>
                          </a:solidFill>
                          <a:latin typeface="Yu Gothic"/>
                          <a:ea typeface="Yu Gothic"/>
                          <a:cs typeface="Yu Gothic"/>
                        </a:rPr>
                        <a:t>各台6本のため重みは0.5ずつ</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代理データ</a:t>
                      </a:r>
                    </a:p>
                  </a:txBody>
                  <a:tcPr marL="91440" marR="91440" marT="45720" marB="45720" anchor="ctr"/>
                </a:tc>
                <a:tc>
                  <a:txBody>
                    <a:bodyPr/>
                    <a:lstStyle/>
                    <a:p>
                      <a:r>
                        <a:rPr sz="1350" b="0">
                          <a:solidFill>
                            <a:srgbClr val="26373D"/>
                          </a:solidFill>
                          <a:latin typeface="Yu Gothic"/>
                          <a:ea typeface="Yu Gothic"/>
                          <a:cs typeface="Yu Gothic"/>
                        </a:rPr>
                        <a:t>class制限なしで60本を検索し、上位3本×5変換から4つのPₖ,ᵣを選択</a:t>
                      </a:r>
                    </a:p>
                  </a:txBody>
                  <a:tcPr marL="91440" marR="91440" marT="45720" marB="45720"/>
                </a:tc>
              </a:tr>
              <a:tr h="438150">
                <a:tc>
                  <a:txBody>
                    <a:bodyPr lIns="76200" tIns="38100" rIns="57150" bIns="38100">
                      <a:normAutofit/>
                    </a:bodyPr>
                    <a:lstStyle/>
                    <a:p>
                      <a:pPr algn="l"/>
                      <a:r>
                        <a:rPr sz="1200" b="1">
                          <a:solidFill>
                            <a:srgbClr val="147B78"/>
                          </a:solidFill>
                          <a:latin typeface="Yu Gothic"/>
                          <a:ea typeface="Yu Gothic"/>
                          <a:cs typeface="Yu Gothic"/>
                        </a:rPr>
                        <a:t>中央側更新</a:t>
                      </a:r>
                    </a:p>
                  </a:txBody>
                  <a:tcPr marL="91440" marR="91440" marT="45720" marB="45720" anchor="ctr"/>
                </a:tc>
                <a:tc>
                  <a:txBody>
                    <a:bodyPr/>
                    <a:lstStyle/>
                    <a:p>
                      <a:r>
                        <a:rPr sz="1350" b="0">
                          <a:solidFill>
                            <a:srgbClr val="26373D"/>
                          </a:solidFill>
                          <a:latin typeface="Yu Gothic"/>
                          <a:ea typeface="Yu Gothic"/>
                          <a:cs typeface="Yu Gothic"/>
                        </a:rPr>
                        <a:t>学習率 1×10⁻⁶、1回更新</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更新対象外</a:t>
                      </a:r>
                    </a:p>
                  </a:txBody>
                  <a:tcPr marL="91440" marR="91440" marT="45720" marB="45720" anchor="ctr"/>
                </a:tc>
                <a:tc>
                  <a:txBody>
                    <a:bodyPr/>
                    <a:lstStyle/>
                    <a:p>
                      <a:r>
                        <a:rPr sz="1350" b="0">
                          <a:solidFill>
                            <a:srgbClr val="26373D"/>
                          </a:solidFill>
                          <a:latin typeface="Yu Gothic"/>
                          <a:ea typeface="Yu Gothic"/>
                          <a:cs typeface="Yu Gothic"/>
                        </a:rPr>
                        <a:t>中央側の分類層とその他の部分は固定</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14735F6C-3B9C-4071-BDFB-E3A04F330CD0}"/>
              </a:ext>
            </a:extLst>
          </p:cNvPr>
          <p:cNvSpPr>
            <a:spLocks xmlns:a="http://schemas.openxmlformats.org/drawingml/2006/main" noGrp="1"/>
          </p:cNvSpPr>
          <p:nvPr/>
        </p:nvSpPr>
        <p:spPr>
          <a:xfrm xmlns:a="http://schemas.openxmlformats.org/drawingml/2006/main">
            <a:off x="685800" y="5743575"/>
            <a:ext cx="10820400" cy="4762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A35625-D37C-436B-B733-5E360B3C7C2A}"/>
              </a:ext>
            </a:extLst>
          </p:cNvPr>
          <p:cNvSpPr>
            <a:spLocks xmlns:a="http://schemas.openxmlformats.org/drawingml/2006/main" noGrp="1"/>
          </p:cNvSpPr>
          <p:nvPr/>
        </p:nvSpPr>
        <p:spPr>
          <a:xfrm xmlns:a="http://schemas.openxmlformats.org/drawingml/2006/main">
            <a:off x="914400" y="582930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B94A3A"/>
                </a:solidFill>
                <a:latin typeface="Yu Gothic"/>
                <a:ea typeface="Yu Gothic"/>
                <a:cs typeface="Yu Gothic"/>
              </a:defRPr>
            </a:pPr>
            <a:r>
              <a:rPr sz="1575" b="1">
                <a:solidFill>
                  <a:srgbClr val="B94A3A"/>
                </a:solidFill>
                <a:latin typeface="Yu Gothic"/>
                <a:ea typeface="Yu Gothic"/>
                <a:cs typeface="Yu Gothic"/>
              </a:rPr>
              <a:t>今回の合格条件は実行・接続・状態継承。性能向上と異なる規模のAI間の転移は未確認</a:t>
            </a:r>
          </a:p>
        </p:txBody>
      </p:sp>
      <p:sp>
        <p:nvSpPr>
          <p:cNvPr id="13" name="">
            <a:extLst xmlns:a="http://schemas.openxmlformats.org/drawingml/2006/main">
              <a:ext uri="{FF2B5EF4-FFF2-40B4-BE49-F238E27FC236}">
                <a16:creationId xmlns:a16="http://schemas.microsoft.com/office/drawing/2014/main" id="{A4FAFA71-80CE-4616-9C80-9F5C310A4C0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202600735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8BA73C-8D0F-4EC3-B635-C4038BC5C3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FC72E6-E3F4-4C0F-91FE-270BF552D7D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CD7410-5E66-4F9C-A3A3-416CAD7444F9}"/>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804DA513-A06E-4710-8DC9-E27C3F30E56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A5DA40DA-8B54-4AAE-9E62-F2966CAB0A1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0CFB367-7A24-45C4-94AC-795D9ADB8C51}"/>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7DDE474D-4989-4E9E-8AA9-291183CA104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9</a:t>
            </a:r>
          </a:p>
        </p:txBody>
      </p:sp>
      <p:sp>
        <p:nvSpPr>
          <p:cNvPr id="8" name="">
            <a:extLst xmlns:a="http://schemas.openxmlformats.org/drawingml/2006/main">
              <a:ext uri="{FF2B5EF4-FFF2-40B4-BE49-F238E27FC236}">
                <a16:creationId xmlns:a16="http://schemas.microsoft.com/office/drawing/2014/main" id="{F63D6CEE-C96C-4A7E-A8CF-A13B65DCEFB4}"/>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675E73C8-AA8F-4793-B738-BC1E2D6DD567}"/>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5E486E64-F3A2-4BBC-BC04-80868FCA46EB}"/>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534B7CE7-C4B2-4E9B-91D2-E519FA8B6213}"/>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Qₖ,ᵣ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89F6EBCA-A97B-40A9-A1DD-84FBD94C32F0}"/>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160E82E4-1B68-42FD-852C-6F12E9A31030}"/>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07ADCCBD-E5EA-4305-B8D9-3BEA7DC0A287}"/>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CE05D00-1797-42E1-AA0B-3B02530B37A1}"/>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98667CE4-4954-4F47-8287-ABEEE39290F2}"/>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DEB049E-8B6F-4448-8B6D-3404B1C2E19D}"/>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EEDC28F8-77D3-4155-A781-C63DA01A722D}"/>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4C8665C-0557-43A1-9F39-8FEE1327BC43}"/>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8D6791DE-770B-4591-8BD1-7999072833A4}"/>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19724242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2BD2B36-87C0-4E98-87C7-1B6ABB63C8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4C82E4-D2AB-4A43-B0D2-C87A0416DC2B}"/>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14B865-B87D-440F-8C7C-A0097CD6CFC8}"/>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学習後の判定は一致したが、変化量には差が残った</a:t>
            </a:r>
          </a:p>
        </p:txBody>
      </p:sp>
      <p:sp>
        <p:nvSpPr>
          <p:cNvPr id="4" name="">
            <a:extLst xmlns:a="http://schemas.openxmlformats.org/drawingml/2006/main">
              <a:ext uri="{FF2B5EF4-FFF2-40B4-BE49-F238E27FC236}">
                <a16:creationId xmlns:a16="http://schemas.microsoft.com/office/drawing/2014/main" id="{88DD97C1-7E1A-4FD0-83B7-B91B284BC6F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05544A6D-4BBA-4E28-9562-A7A542CF9F6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AFDC47-2429-42ED-B712-B7A9718E6C01}"/>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906BF3E-5AAF-4FEE-80AA-42A6E84297BB}"/>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9</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2d73930298c4e16"/>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74e21690db74d67"/>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9574147a3814df7"/>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6d0d052923a4784"/>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A175719-1C50-49CF-B679-8CA1301E5BD8}"/>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4枚目で選んだ中央側動画：正解ラベルは通常、変換なし</a:t>
            </a:r>
          </a:p>
        </p:txBody>
      </p:sp>
      <p:sp>
        <p:nvSpPr>
          <p:cNvPr id="13" name="">
            <a:extLst xmlns:a="http://schemas.openxmlformats.org/drawingml/2006/main">
              <a:ext uri="{FF2B5EF4-FFF2-40B4-BE49-F238E27FC236}">
                <a16:creationId xmlns:a16="http://schemas.microsoft.com/office/drawing/2014/main" id="{03EC4C19-18EA-4BFB-9DF6-69DDF9DBB774}"/>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E4A27E8B-A85B-48E7-8DDB-72E71248497F}"/>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5159D1B7-AB9F-4FBC-90D6-BA0F0BD768AD}"/>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6592B851-657C-433A-9AF1-FE5053AC850E}"/>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3FFDC754-B0AD-4892-B56E-CBE13F037362}"/>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F4EC2264-5E71-4E02-AF33-7B937DAD3660}"/>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60FDF7C7-9EFF-4801-B069-634D1AB29829}"/>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F608433-A451-48C4-AFB9-93968FE26C8C}"/>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8079AFC5-5CE9-43C9-82EF-3F5E262CBABA}"/>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B4F1D8D4-5E55-4714-86E2-5468581EA22B}"/>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F22C2315-ED1B-46ED-83F8-43AF527EED4A}"/>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9700BCBD-3286-43EB-8D3F-DCCAE3DF3ED2}"/>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5331F8DE-B5F4-44C9-A06E-FB6351C65DD7}"/>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E6AD95A3-B7D2-43E0-89E1-F14E42D2A1D6}"/>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F5A3EA5B-0DAD-434B-BB4C-BB8561F81868}"/>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3BA9FDB-0133-45F6-817B-912D015A1B03}"/>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A2EC0AFF-C494-481D-BAFE-965DBD7E1CD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3487843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65B0EF-5113-435F-BD7A-15D92F4AC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AC9DE6-A05E-483C-9ACD-6EA8E568127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DD32CB-853C-4BE5-8DB0-FA06A61CB4E0}"/>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228ED5AE-A413-4CCB-9EEA-CAB3CF66EC5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260C9C5C-798A-43A9-926D-D4AFCC010D8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901D08-B78D-43D9-8587-D49E559F227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7BBE86A-D4FD-49FD-9F8B-F900397BBD0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9</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143125"/>
                <a:gridCol w="2381250"/>
                <a:gridCol w="2095500"/>
                <a:gridCol w="3238500"/>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2台の局所更新</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次回入力との照合</a:t>
                      </a:r>
                    </a:p>
                  </a:txBody>
                  <a:tcPr marL="91440" marR="91440" marT="45720" marB="45720"/>
                </a:tc>
                <a:tc>
                  <a:txBody>
                    <a:bodyPr/>
                    <a:lstStyle/>
                    <a:p>
                      <a:r>
                        <a:rPr sz="1150" b="1">
                          <a:solidFill>
                            <a:srgbClr val="173B4B"/>
                          </a:solidFill>
                          <a:latin typeface="Yu Gothic"/>
                          <a:ea typeface="Yu Gothic"/>
                          <a:cs typeface="Yu Gothic"/>
                        </a:rPr>
                        <a:t>中央側AI更新（各ラウンドで選んだ4組）</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1.16 × 10⁻¹⁰</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normAutofit/>
                    </a:bodyPr>
                    <a:lstStyle/>
                    <a:p>
                      <a:pPr algn="ctr"/>
                      <a:r>
                        <a:rPr sz="1350" b="1">
                          <a:solidFill>
                            <a:srgbClr val="B94A3A"/>
                          </a:solidFill>
                          <a:latin typeface="Yu Gothic"/>
                          <a:ea typeface="Yu Gothic"/>
                          <a:cs typeface="Yu Gothic"/>
                        </a:rPr>
                        <a:t>加重KL 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AE4EA7D7-7C6C-44B3-B3B5-C393B1FD17A4}"/>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3DE58E09-8809-4F72-A69D-ED241FF208A8}"/>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8D890E-9E16-471D-AB99-EEB0DABCBA88}"/>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79FEA733-4A1A-4B66-B09F-89171513362D}"/>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E0619141-3C42-4F2D-B06C-8E4FB5C147C9}"/>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39C6C43-B21F-451D-85F7-2B09ECE32A14}"/>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B9913923-8E0A-40DA-B4D2-63E7A8B53682}"/>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40DBFAD2-F317-4630-8EF2-AD79F76D0BED}"/>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128537595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0F548CE-4D2A-4C5C-82AF-6137744201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943392-D458-4E3E-A37C-0BB171D25A2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DE200B-86B9-4273-AD94-8EC943CA3D18}"/>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C0D0D482-FB11-46C0-9DD2-3B4A87432A93}"/>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109EA566-A512-4D09-942A-FC106FE1C34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61CD54-1949-4549-98C2-C587CEC3D283}"/>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5EB3A31-759B-4886-B301-48F30CB2F2D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9</a:t>
            </a:r>
          </a:p>
        </p:txBody>
      </p:sp>
      <p:sp>
        <p:nvSpPr>
          <p:cNvPr id="8" name="">
            <a:extLst xmlns:a="http://schemas.openxmlformats.org/drawingml/2006/main">
              <a:ext uri="{FF2B5EF4-FFF2-40B4-BE49-F238E27FC236}">
                <a16:creationId xmlns:a16="http://schemas.microsoft.com/office/drawing/2014/main" id="{971AEBE0-D506-47CA-83BE-964A315E7094}"/>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0C6932B6-0557-4FB4-82CF-3A70A8096F13}"/>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49EB7A81-D1AD-4B79-A94A-51E9866EE418}"/>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D42AB4-D77D-42A0-8270-DE172F840D0C}"/>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FC82443E-12CE-4000-8EA2-FEB3854F8164}"/>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・情報漏えいへの形式的保証</a:t>
            </a:r>
          </a:p>
        </p:txBody>
      </p:sp>
      <p:sp>
        <p:nvSpPr>
          <p:cNvPr id="13" name="">
            <a:extLst xmlns:a="http://schemas.openxmlformats.org/drawingml/2006/main">
              <a:ext uri="{FF2B5EF4-FFF2-40B4-BE49-F238E27FC236}">
                <a16:creationId xmlns:a16="http://schemas.microsoft.com/office/drawing/2014/main" id="{656C4223-863F-4786-AAB1-EB2291FC01E5}"/>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5AC43E-D28A-4396-A1E7-BA60BDD41270}"/>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1212019B-2221-4A9C-84E6-25FC435ED82D}"/>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BAB8ACC-861B-48F0-94AE-1A5D14AA32C4}"/>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03B4002B-A8B3-46A9-8040-544D7E02B563}"/>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52D54700-F9B3-4CE9-AADE-A884F275633E}"/>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DDA8E3C9-2B24-4029-A063-50BFFB8E5300}"/>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7461000-92BB-4B32-A13E-9FD3D3E8199E}"/>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FA2E9244-D176-4B5B-B471-54045C26576A}"/>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問題解消後に5ラウンド</a:t>
            </a:r>
          </a:p>
        </p:txBody>
      </p:sp>
      <p:sp>
        <p:nvSpPr>
          <p:cNvPr id="22" name="">
            <a:extLst xmlns:a="http://schemas.openxmlformats.org/drawingml/2006/main">
              <a:ext uri="{FF2B5EF4-FFF2-40B4-BE49-F238E27FC236}">
                <a16:creationId xmlns:a16="http://schemas.microsoft.com/office/drawing/2014/main" id="{7440D5B1-D310-4E7A-AA4C-3FA100828E9A}"/>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同じ記録形式で、三層の接続と次回への状態継承を確認</a:t>
            </a:r>
          </a:p>
        </p:txBody>
      </p:sp>
      <p:sp>
        <p:nvSpPr>
          <p:cNvPr id="23" name="">
            <a:extLst xmlns:a="http://schemas.openxmlformats.org/drawingml/2006/main">
              <a:ext uri="{FF2B5EF4-FFF2-40B4-BE49-F238E27FC236}">
                <a16:creationId xmlns:a16="http://schemas.microsoft.com/office/drawing/2014/main" id="{77D2BAFF-09C4-4F56-A000-34EE54CA1EB3}"/>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33E5E58-D94C-4FA9-975F-61862D6B647A}"/>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3F2EB0FE-53F2-46F5-BD6D-A4BF1222848D}"/>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第II段階で比較・独立評価</a:t>
            </a:r>
          </a:p>
        </p:txBody>
      </p:sp>
      <p:sp>
        <p:nvSpPr>
          <p:cNvPr id="26" name="">
            <a:extLst xmlns:a="http://schemas.openxmlformats.org/drawingml/2006/main">
              <a:ext uri="{FF2B5EF4-FFF2-40B4-BE49-F238E27FC236}">
                <a16:creationId xmlns:a16="http://schemas.microsoft.com/office/drawing/2014/main" id="{55E1F36D-47FB-4EDD-B981-68730B38ED08}"/>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中央側動画のみ、学習後、学習後＋変化を未使用動画で比較</a:t>
            </a:r>
          </a:p>
        </p:txBody>
      </p:sp>
      <p:sp>
        <p:nvSpPr>
          <p:cNvPr id="27" name="">
            <a:extLst xmlns:a="http://schemas.openxmlformats.org/drawingml/2006/main">
              <a:ext uri="{FF2B5EF4-FFF2-40B4-BE49-F238E27FC236}">
                <a16:creationId xmlns:a16="http://schemas.microsoft.com/office/drawing/2014/main" id="{928D9253-FE1B-4E21-BD35-07EA4EC85A4E}"/>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0D6EBA8-D765-44A3-AA7A-3A3E2DEC0FC6}"/>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69F0BC47-8AB8-4F56-B7DD-17D931FBE74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4086166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63C9B5-DA21-4C8C-869A-6633298CF3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8F6790-5BD4-4766-821F-D46C47F0076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2C37E5-D372-413F-8798-2FC2610476D7}"/>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付録1　選択した12組の代理データ結果</a:t>
            </a:r>
          </a:p>
        </p:txBody>
      </p:sp>
      <p:sp>
        <p:nvSpPr>
          <p:cNvPr id="4" name="">
            <a:extLst xmlns:a="http://schemas.openxmlformats.org/drawingml/2006/main">
              <a:ext uri="{FF2B5EF4-FFF2-40B4-BE49-F238E27FC236}">
                <a16:creationId xmlns:a16="http://schemas.microsoft.com/office/drawing/2014/main" id="{14C3FAD6-AE45-4EAD-8A18-7C664561FA9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A1</a:t>
            </a:r>
          </a:p>
        </p:txBody>
      </p:sp>
      <p:sp>
        <p:nvSpPr>
          <p:cNvPr id="5" name="">
            <a:extLst xmlns:a="http://schemas.openxmlformats.org/drawingml/2006/main">
              <a:ext uri="{FF2B5EF4-FFF2-40B4-BE49-F238E27FC236}">
                <a16:creationId xmlns:a16="http://schemas.microsoft.com/office/drawing/2014/main" id="{EE8C8446-5123-4F24-AC56-6DB18BB2084A}"/>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278439-855A-422F-9BC7-FF0E509879AC}"/>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17B9069-FD35-473D-8141-1AFF5C5FFB9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1 / 3</a:t>
            </a:r>
          </a:p>
        </p:txBody>
      </p:sp>
      <p:sp>
        <p:nvSpPr>
          <p:cNvPr id="8" name="">
            <a:extLst xmlns:a="http://schemas.openxmlformats.org/drawingml/2006/main">
              <a:ext uri="{FF2B5EF4-FFF2-40B4-BE49-F238E27FC236}">
                <a16:creationId xmlns:a16="http://schemas.microsoft.com/office/drawing/2014/main" id="{46984ABC-24A5-437B-9ECC-D8618074B748}"/>
              </a:ext>
            </a:extLst>
          </p:cNvPr>
          <p:cNvSpPr>
            <a:spLocks xmlns:a="http://schemas.openxmlformats.org/drawingml/2006/main" noGrp="1"/>
          </p:cNvSpPr>
          <p:nvPr/>
        </p:nvSpPr>
        <p:spPr>
          <a:xfrm xmlns:a="http://schemas.openxmlformats.org/drawingml/2006/main">
            <a:off x="666750" y="10287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変化の方向は7／12組で一致。prototypeと選択動画の正解ラベルは6／12組で一致</a:t>
            </a:r>
          </a:p>
        </p:txBody>
      </p:sp>
      <p:graphicFrame>
        <p:nvGraphicFramePr>
          <p:cNvPr id="19" name=""/>
          <p:cNvGraphicFramePr/>
          <p:nvPr/>
        </p:nvGraphicFramePr>
        <p:xfrm>
          <a:off xmlns:a="http://schemas.openxmlformats.org/drawingml/2006/main" x="609600" y="1438275"/>
          <a:ext xmlns:a="http://schemas.openxmlformats.org/drawingml/2006/main" cx="10972800" cy="4362450"/>
        </p:xfrm>
        <a:graphic xmlns:a="http://schemas.openxmlformats.org/drawingml/2006/main">
          <a:graphicData uri="http://schemas.openxmlformats.org/drawingml/2006/table">
            <a:tbl>
              <a:tblPr/>
              <a:tblGrid>
                <a:gridCol w="523875"/>
                <a:gridCol w="1381125"/>
                <a:gridCol w="1000125"/>
                <a:gridCol w="1190625"/>
                <a:gridCol w="1190625"/>
                <a:gridCol w="1095375"/>
                <a:gridCol w="1381125"/>
                <a:gridCol w="1571625"/>
                <a:gridCol w="1638300"/>
              </a:tblGrid>
              <a:tr h="335573">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対象</a:t>
                      </a:r>
                    </a:p>
                  </a:txBody>
                  <a:tcPr marL="91440" marR="91440" marT="45720" marB="45720"/>
                </a:tc>
                <a:tc>
                  <a:txBody>
                    <a:bodyPr/>
                    <a:lstStyle/>
                    <a:p>
                      <a:r>
                        <a:rPr sz="1050" b="1">
                          <a:solidFill>
                            <a:srgbClr val="173B4B"/>
                          </a:solidFill>
                          <a:latin typeface="Yu Gothic"/>
                          <a:ea typeface="Yu Gothic"/>
                          <a:cs typeface="Yu Gothic"/>
                        </a:rPr>
                        <a:t>選択動画</a:t>
                      </a:r>
                    </a:p>
                  </a:txBody>
                  <a:tcPr marL="91440" marR="91440" marT="45720" marB="45720"/>
                </a:tc>
                <a:tc>
                  <a:txBody>
                    <a:bodyPr/>
                    <a:lstStyle/>
                    <a:p>
                      <a:r>
                        <a:rPr sz="1050" b="1">
                          <a:solidFill>
                            <a:srgbClr val="173B4B"/>
                          </a:solidFill>
                          <a:latin typeface="Yu Gothic"/>
                          <a:ea typeface="Yu Gothic"/>
                          <a:cs typeface="Yu Gothic"/>
                        </a:rPr>
                        <a:t>目標Δ危険</a:t>
                      </a:r>
                    </a:p>
                  </a:txBody>
                  <a:tcPr marL="91440" marR="91440" marT="45720" marB="45720"/>
                </a:tc>
                <a:tc>
                  <a:txBody>
                    <a:bodyPr/>
                    <a:lstStyle/>
                    <a:p>
                      <a:r>
                        <a:rPr sz="1050" b="1">
                          <a:solidFill>
                            <a:srgbClr val="173B4B"/>
                          </a:solidFill>
                          <a:latin typeface="Yu Gothic"/>
                          <a:ea typeface="Yu Gothic"/>
                          <a:cs typeface="Yu Gothic"/>
                        </a:rPr>
                        <a:t>代理Δ危険</a:t>
                      </a:r>
                    </a:p>
                  </a:txBody>
                  <a:tcPr marL="91440" marR="91440" marT="45720" marB="45720"/>
                </a:tc>
                <a:tc>
                  <a:txBody>
                    <a:bodyPr/>
                    <a:lstStyle/>
                    <a:p>
                      <a:r>
                        <a:rPr sz="1050" b="1">
                          <a:solidFill>
                            <a:srgbClr val="173B4B"/>
                          </a:solidFill>
                          <a:latin typeface="Yu Gothic"/>
                          <a:ea typeface="Yu Gothic"/>
                          <a:cs typeface="Yu Gothic"/>
                        </a:rPr>
                        <a:t>方向</a:t>
                      </a:r>
                    </a:p>
                  </a:txBody>
                  <a:tcPr marL="91440" marR="91440" marT="45720" marB="45720"/>
                </a:tc>
                <a:tc>
                  <a:txBody>
                    <a:bodyPr/>
                    <a:lstStyle/>
                    <a:p>
                      <a:r>
                        <a:rPr sz="1050" b="1">
                          <a:solidFill>
                            <a:srgbClr val="173B4B"/>
                          </a:solidFill>
                          <a:latin typeface="Yu Gothic"/>
                          <a:ea typeface="Yu Gothic"/>
                          <a:cs typeface="Yu Gothic"/>
                        </a:rPr>
                        <a:t>post KL</a:t>
                      </a:r>
                    </a:p>
                  </a:txBody>
                  <a:tcPr marL="91440" marR="91440" marT="45720" marB="45720"/>
                </a:tc>
                <a:tc>
                  <a:txBody>
                    <a:bodyPr/>
                    <a:lstStyle/>
                    <a:p>
                      <a:r>
                        <a:rPr sz="1050" b="1">
                          <a:solidFill>
                            <a:srgbClr val="173B4B"/>
                          </a:solidFill>
                          <a:latin typeface="Yu Gothic"/>
                          <a:ea typeface="Yu Gothic"/>
                          <a:cs typeface="Yu Gothic"/>
                        </a:rPr>
                        <a:t>delta error</a:t>
                      </a:r>
                    </a:p>
                  </a:txBody>
                  <a:tcPr marL="91440" marR="91440" marT="45720" marB="45720"/>
                </a:tc>
                <a:tc>
                  <a:txBody>
                    <a:bodyPr/>
                    <a:lstStyle/>
                    <a:p>
                      <a:r>
                        <a:rPr sz="1050" b="1">
                          <a:solidFill>
                            <a:srgbClr val="173B4B"/>
                          </a:solidFill>
                          <a:latin typeface="Yu Gothic"/>
                          <a:ea typeface="Yu Gothic"/>
                          <a:cs typeface="Yu Gothic"/>
                        </a:rPr>
                        <a:t>L_match</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+0.0938</a:t>
                      </a:r>
                    </a:p>
                  </a:txBody>
                  <a:tcPr marL="91440" marR="91440" marT="45720" marB="45720"/>
                </a:tc>
                <a:tc>
                  <a:txBody>
                    <a:bodyPr/>
                    <a:lstStyle/>
                    <a:p>
                      <a:r>
                        <a:rPr sz="1050" b="0">
                          <a:solidFill>
                            <a:srgbClr val="26373D"/>
                          </a:solidFill>
                          <a:latin typeface="Yu Gothic"/>
                          <a:ea typeface="Yu Gothic"/>
                          <a:cs typeface="Yu Gothic"/>
                        </a:rPr>
                        <a:t>+0.0716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2.04×10⁻⁴</a:t>
                      </a:r>
                    </a:p>
                  </a:txBody>
                  <a:tcPr marL="91440" marR="91440" marT="45720" marB="45720"/>
                </a:tc>
                <a:tc>
                  <a:txBody>
                    <a:bodyPr/>
                    <a:lstStyle/>
                    <a:p>
                      <a:r>
                        <a:rPr sz="1050" b="0">
                          <a:solidFill>
                            <a:srgbClr val="26373D"/>
                          </a:solidFill>
                          <a:latin typeface="Yu Gothic"/>
                          <a:ea typeface="Yu Gothic"/>
                          <a:cs typeface="Yu Gothic"/>
                        </a:rPr>
                        <a:t>4.94×10⁻⁴</a:t>
                      </a:r>
                    </a:p>
                  </a:txBody>
                  <a:tcPr marL="91440" marR="91440" marT="45720" marB="45720"/>
                </a:tc>
                <a:tc>
                  <a:txBody>
                    <a:bodyPr/>
                    <a:lstStyle/>
                    <a:p>
                      <a:r>
                        <a:rPr sz="1050" b="0">
                          <a:solidFill>
                            <a:srgbClr val="26373D"/>
                          </a:solidFill>
                          <a:latin typeface="Yu Gothic"/>
                          <a:ea typeface="Yu Gothic"/>
                          <a:cs typeface="Yu Gothic"/>
                        </a:rPr>
                        <a:t>6.99×10⁻⁴</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+0.2377</a:t>
                      </a:r>
                    </a:p>
                  </a:txBody>
                  <a:tcPr marL="91440" marR="91440" marT="45720" marB="45720"/>
                </a:tc>
                <a:tc>
                  <a:txBody>
                    <a:bodyPr/>
                    <a:lstStyle/>
                    <a:p>
                      <a:r>
                        <a:rPr sz="1050" b="0">
                          <a:solidFill>
                            <a:srgbClr val="26373D"/>
                          </a:solidFill>
                          <a:latin typeface="Yu Gothic"/>
                          <a:ea typeface="Yu Gothic"/>
                          <a:cs typeface="Yu Gothic"/>
                        </a:rPr>
                        <a:t>+0.0509</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8.35×10⁻¹⁰</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−0.1027</a:t>
                      </a:r>
                    </a:p>
                  </a:txBody>
                  <a:tcPr marL="91440" marR="91440" marT="45720" marB="45720"/>
                </a:tc>
                <a:tc>
                  <a:txBody>
                    <a:bodyPr/>
                    <a:lstStyle/>
                    <a:p>
                      <a:r>
                        <a:rPr sz="1050" b="0">
                          <a:solidFill>
                            <a:srgbClr val="26373D"/>
                          </a:solidFill>
                          <a:latin typeface="Yu Gothic"/>
                          <a:ea typeface="Yu Gothic"/>
                          <a:cs typeface="Yu Gothic"/>
                        </a:rPr>
                        <a:t>+0.0559</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3.51×10⁻⁴</a:t>
                      </a:r>
                    </a:p>
                  </a:txBody>
                  <a:tcPr marL="91440" marR="91440" marT="45720" marB="45720"/>
                </a:tc>
                <a:tc>
                  <a:txBody>
                    <a:bodyPr/>
                    <a:lstStyle/>
                    <a:p>
                      <a:r>
                        <a:rPr sz="1050" b="0">
                          <a:solidFill>
                            <a:srgbClr val="26373D"/>
                          </a:solidFill>
                          <a:latin typeface="Yu Gothic"/>
                          <a:ea typeface="Yu Gothic"/>
                          <a:cs typeface="Yu Gothic"/>
                        </a:rPr>
                        <a:t>2.514×10⁻²</a:t>
                      </a:r>
                    </a:p>
                  </a:txBody>
                  <a:tcPr marL="91440" marR="91440" marT="45720" marB="45720"/>
                </a:tc>
                <a:tc>
                  <a:txBody>
                    <a:bodyPr/>
                    <a:lstStyle/>
                    <a:p>
                      <a:r>
                        <a:rPr sz="1050" b="0">
                          <a:solidFill>
                            <a:srgbClr val="26373D"/>
                          </a:solidFill>
                          <a:latin typeface="Yu Gothic"/>
                          <a:ea typeface="Yu Gothic"/>
                          <a:cs typeface="Yu Gothic"/>
                        </a:rPr>
                        <a:t>2.549×10⁻²</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+0.00546</a:t>
                      </a:r>
                    </a:p>
                  </a:txBody>
                  <a:tcPr marL="91440" marR="91440" marT="45720" marB="45720"/>
                </a:tc>
                <a:tc>
                  <a:txBody>
                    <a:bodyPr/>
                    <a:lstStyle/>
                    <a:p>
                      <a:r>
                        <a:rPr sz="1050" b="0">
                          <a:solidFill>
                            <a:srgbClr val="26373D"/>
                          </a:solidFill>
                          <a:latin typeface="Yu Gothic"/>
                          <a:ea typeface="Yu Gothic"/>
                          <a:cs typeface="Yu Gothic"/>
                        </a:rPr>
                        <a:t>+0.00968</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9.45×10⁻⁵</a:t>
                      </a:r>
                    </a:p>
                  </a:txBody>
                  <a:tcPr marL="91440" marR="91440" marT="45720" marB="45720"/>
                </a:tc>
                <a:tc>
                  <a:txBody>
                    <a:bodyPr/>
                    <a:lstStyle/>
                    <a:p>
                      <a:r>
                        <a:rPr sz="1050" b="0">
                          <a:solidFill>
                            <a:srgbClr val="26373D"/>
                          </a:solidFill>
                          <a:latin typeface="Yu Gothic"/>
                          <a:ea typeface="Yu Gothic"/>
                          <a:cs typeface="Yu Gothic"/>
                        </a:rPr>
                        <a:t>1.78×10⁻⁵</a:t>
                      </a:r>
                    </a:p>
                  </a:txBody>
                  <a:tcPr marL="91440" marR="91440" marT="45720" marB="45720"/>
                </a:tc>
                <a:tc>
                  <a:txBody>
                    <a:bodyPr/>
                    <a:lstStyle/>
                    <a:p>
                      <a:r>
                        <a:rPr sz="1050" b="0">
                          <a:solidFill>
                            <a:srgbClr val="26373D"/>
                          </a:solidFill>
                          <a:latin typeface="Yu Gothic"/>
                          <a:ea typeface="Yu Gothic"/>
                          <a:cs typeface="Yu Gothic"/>
                        </a:rPr>
                        <a:t>1.12×10⁻⁴</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+0.03448</a:t>
                      </a:r>
                    </a:p>
                  </a:txBody>
                  <a:tcPr marL="91440" marR="91440" marT="45720" marB="45720"/>
                </a:tc>
                <a:tc>
                  <a:txBody>
                    <a:bodyPr/>
                    <a:lstStyle/>
                    <a:p>
                      <a:r>
                        <a:rPr sz="1050" b="0">
                          <a:solidFill>
                            <a:srgbClr val="26373D"/>
                          </a:solidFill>
                          <a:latin typeface="Yu Gothic"/>
                          <a:ea typeface="Yu Gothic"/>
                          <a:cs typeface="Yu Gothic"/>
                        </a:rPr>
                        <a:t>+0.01343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2.27×10⁻⁷</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+0.17458</a:t>
                      </a:r>
                    </a:p>
                  </a:txBody>
                  <a:tcPr marL="91440" marR="91440" marT="45720" marB="45720"/>
                </a:tc>
                <a:tc>
                  <a:txBody>
                    <a:bodyPr/>
                    <a:lstStyle/>
                    <a:p>
                      <a:r>
                        <a:rPr sz="1050" b="0">
                          <a:solidFill>
                            <a:srgbClr val="26373D"/>
                          </a:solidFill>
                          <a:latin typeface="Yu Gothic"/>
                          <a:ea typeface="Yu Gothic"/>
                          <a:cs typeface="Yu Gothic"/>
                        </a:rPr>
                        <a:t>+0.00516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2.67×10⁻⁵</a:t>
                      </a:r>
                    </a:p>
                  </a:txBody>
                  <a:tcPr marL="91440" marR="91440" marT="45720" marB="45720"/>
                </a:tc>
                <a:tc>
                  <a:txBody>
                    <a:bodyPr/>
                    <a:lstStyle/>
                    <a:p>
                      <a:r>
                        <a:rPr sz="1050" b="0">
                          <a:solidFill>
                            <a:srgbClr val="26373D"/>
                          </a:solidFill>
                          <a:latin typeface="Yu Gothic"/>
                          <a:ea typeface="Yu Gothic"/>
                          <a:cs typeface="Yu Gothic"/>
                        </a:rPr>
                        <a:t>2.870×10⁻²</a:t>
                      </a:r>
                    </a:p>
                  </a:txBody>
                  <a:tcPr marL="91440" marR="91440" marT="45720" marB="45720"/>
                </a:tc>
                <a:tc>
                  <a:txBody>
                    <a:bodyPr/>
                    <a:lstStyle/>
                    <a:p>
                      <a:r>
                        <a:rPr sz="1050" b="0">
                          <a:solidFill>
                            <a:srgbClr val="26373D"/>
                          </a:solidFill>
                          <a:latin typeface="Yu Gothic"/>
                          <a:ea typeface="Yu Gothic"/>
                          <a:cs typeface="Yu Gothic"/>
                        </a:rPr>
                        <a:t>2.873×10⁻²</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−0.11137</a:t>
                      </a:r>
                    </a:p>
                  </a:txBody>
                  <a:tcPr marL="91440" marR="91440" marT="45720" marB="45720"/>
                </a:tc>
                <a:tc>
                  <a:txBody>
                    <a:bodyPr/>
                    <a:lstStyle/>
                    <a:p>
                      <a:r>
                        <a:rPr sz="1050" b="0">
                          <a:solidFill>
                            <a:srgbClr val="26373D"/>
                          </a:solidFill>
                          <a:latin typeface="Yu Gothic"/>
                          <a:ea typeface="Yu Gothic"/>
                          <a:cs typeface="Yu Gothic"/>
                        </a:rPr>
                        <a:t>+0.00511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9.15×10⁻⁵</a:t>
                      </a:r>
                    </a:p>
                  </a:txBody>
                  <a:tcPr marL="91440" marR="91440" marT="45720" marB="45720"/>
                </a:tc>
                <a:tc>
                  <a:txBody>
                    <a:bodyPr/>
                    <a:lstStyle/>
                    <a:p>
                      <a:r>
                        <a:rPr sz="1050" b="0">
                          <a:solidFill>
                            <a:srgbClr val="26373D"/>
                          </a:solidFill>
                          <a:latin typeface="Yu Gothic"/>
                          <a:ea typeface="Yu Gothic"/>
                          <a:cs typeface="Yu Gothic"/>
                        </a:rPr>
                        <a:t>1.357×10⁻²</a:t>
                      </a:r>
                    </a:p>
                  </a:txBody>
                  <a:tcPr marL="91440" marR="91440" marT="45720" marB="45720"/>
                </a:tc>
                <a:tc>
                  <a:txBody>
                    <a:bodyPr/>
                    <a:lstStyle/>
                    <a:p>
                      <a:r>
                        <a:rPr sz="1050" b="0">
                          <a:solidFill>
                            <a:srgbClr val="26373D"/>
                          </a:solidFill>
                          <a:latin typeface="Yu Gothic"/>
                          <a:ea typeface="Yu Gothic"/>
                          <a:cs typeface="Yu Gothic"/>
                        </a:rPr>
                        <a:t>1.366×10⁻²</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−0.00697</a:t>
                      </a:r>
                    </a:p>
                  </a:txBody>
                  <a:tcPr marL="91440" marR="91440" marT="45720" marB="45720"/>
                </a:tc>
                <a:tc>
                  <a:txBody>
                    <a:bodyPr/>
                    <a:lstStyle/>
                    <a:p>
                      <a:r>
                        <a:rPr sz="1050" b="0">
                          <a:solidFill>
                            <a:srgbClr val="26373D"/>
                          </a:solidFill>
                          <a:latin typeface="Yu Gothic"/>
                          <a:ea typeface="Yu Gothic"/>
                          <a:cs typeface="Yu Gothic"/>
                        </a:rPr>
                        <a:t>+0.00882</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1.16×10⁻⁴</a:t>
                      </a:r>
                    </a:p>
                  </a:txBody>
                  <a:tcPr marL="91440" marR="91440" marT="45720" marB="45720"/>
                </a:tc>
                <a:tc>
                  <a:txBody>
                    <a:bodyPr/>
                    <a:lstStyle/>
                    <a:p>
                      <a:r>
                        <a:rPr sz="1050" b="0">
                          <a:solidFill>
                            <a:srgbClr val="26373D"/>
                          </a:solidFill>
                          <a:latin typeface="Yu Gothic"/>
                          <a:ea typeface="Yu Gothic"/>
                          <a:cs typeface="Yu Gothic"/>
                        </a:rPr>
                        <a:t>2.49×10⁻⁴</a:t>
                      </a:r>
                    </a:p>
                  </a:txBody>
                  <a:tcPr marL="91440" marR="91440" marT="45720" marB="45720"/>
                </a:tc>
                <a:tc>
                  <a:txBody>
                    <a:bodyPr/>
                    <a:lstStyle/>
                    <a:p>
                      <a:r>
                        <a:rPr sz="1050" b="0">
                          <a:solidFill>
                            <a:srgbClr val="26373D"/>
                          </a:solidFill>
                          <a:latin typeface="Yu Gothic"/>
                          <a:ea typeface="Yu Gothic"/>
                          <a:cs typeface="Yu Gothic"/>
                        </a:rPr>
                        <a:t>3.66×10⁻⁴</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+0.00723</a:t>
                      </a:r>
                    </a:p>
                  </a:txBody>
                  <a:tcPr marL="91440" marR="91440" marT="45720" marB="45720"/>
                </a:tc>
                <a:tc>
                  <a:txBody>
                    <a:bodyPr/>
                    <a:lstStyle/>
                    <a:p>
                      <a:r>
                        <a:rPr sz="1050" b="0">
                          <a:solidFill>
                            <a:srgbClr val="26373D"/>
                          </a:solidFill>
                          <a:latin typeface="Yu Gothic"/>
                          <a:ea typeface="Yu Gothic"/>
                          <a:cs typeface="Yu Gothic"/>
                        </a:rPr>
                        <a:t>−0.00603</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2.55×10⁻⁵</a:t>
                      </a:r>
                    </a:p>
                  </a:txBody>
                  <a:tcPr marL="91440" marR="91440" marT="45720" marB="45720"/>
                </a:tc>
                <a:tc>
                  <a:txBody>
                    <a:bodyPr/>
                    <a:lstStyle/>
                    <a:p>
                      <a:r>
                        <a:rPr sz="1050" b="0">
                          <a:solidFill>
                            <a:srgbClr val="26373D"/>
                          </a:solidFill>
                          <a:latin typeface="Yu Gothic"/>
                          <a:ea typeface="Yu Gothic"/>
                          <a:cs typeface="Yu Gothic"/>
                        </a:rPr>
                        <a:t>1.76×10⁻⁴</a:t>
                      </a:r>
                    </a:p>
                  </a:txBody>
                  <a:tcPr marL="91440" marR="91440" marT="45720" marB="45720"/>
                </a:tc>
                <a:tc>
                  <a:txBody>
                    <a:bodyPr/>
                    <a:lstStyle/>
                    <a:p>
                      <a:r>
                        <a:rPr sz="1050" b="0">
                          <a:solidFill>
                            <a:srgbClr val="26373D"/>
                          </a:solidFill>
                          <a:latin typeface="Yu Gothic"/>
                          <a:ea typeface="Yu Gothic"/>
                          <a:cs typeface="Yu Gothic"/>
                        </a:rPr>
                        <a:t>2.01×10⁻⁴</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+0.14805</a:t>
                      </a:r>
                    </a:p>
                  </a:txBody>
                  <a:tcPr marL="91440" marR="91440" marT="45720" marB="45720"/>
                </a:tc>
                <a:tc>
                  <a:txBody>
                    <a:bodyPr/>
                    <a:lstStyle/>
                    <a:p>
                      <a:r>
                        <a:rPr sz="1050" b="0">
                          <a:solidFill>
                            <a:srgbClr val="26373D"/>
                          </a:solidFill>
                          <a:latin typeface="Yu Gothic"/>
                          <a:ea typeface="Yu Gothic"/>
                          <a:cs typeface="Yu Gothic"/>
                        </a:rPr>
                        <a:t>+0.00013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8.30×10⁻⁵</a:t>
                      </a:r>
                    </a:p>
                  </a:txBody>
                  <a:tcPr marL="91440" marR="91440" marT="45720" marB="45720"/>
                </a:tc>
                <a:tc>
                  <a:txBody>
                    <a:bodyPr/>
                    <a:lstStyle/>
                    <a:p>
                      <a:r>
                        <a:rPr sz="1050" b="0">
                          <a:solidFill>
                            <a:srgbClr val="26373D"/>
                          </a:solidFill>
                          <a:latin typeface="Yu Gothic"/>
                          <a:ea typeface="Yu Gothic"/>
                          <a:cs typeface="Yu Gothic"/>
                        </a:rPr>
                        <a:t>2.188×10⁻²</a:t>
                      </a:r>
                    </a:p>
                  </a:txBody>
                  <a:tcPr marL="91440" marR="91440" marT="45720" marB="45720"/>
                </a:tc>
                <a:tc>
                  <a:txBody>
                    <a:bodyPr/>
                    <a:lstStyle/>
                    <a:p>
                      <a:r>
                        <a:rPr sz="1050" b="0">
                          <a:solidFill>
                            <a:srgbClr val="26373D"/>
                          </a:solidFill>
                          <a:latin typeface="Yu Gothic"/>
                          <a:ea typeface="Yu Gothic"/>
                          <a:cs typeface="Yu Gothic"/>
                        </a:rPr>
                        <a:t>2.196×10⁻²</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−0.11538</a:t>
                      </a:r>
                    </a:p>
                  </a:txBody>
                  <a:tcPr marL="91440" marR="91440" marT="45720" marB="45720"/>
                </a:tc>
                <a:tc>
                  <a:txBody>
                    <a:bodyPr/>
                    <a:lstStyle/>
                    <a:p>
                      <a:r>
                        <a:rPr sz="1050" b="0">
                          <a:solidFill>
                            <a:srgbClr val="26373D"/>
                          </a:solidFill>
                          <a:latin typeface="Yu Gothic"/>
                          <a:ea typeface="Yu Gothic"/>
                          <a:cs typeface="Yu Gothic"/>
                        </a:rPr>
                        <a:t>−0.02566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4.62×10⁻⁴</a:t>
                      </a:r>
                    </a:p>
                  </a:txBody>
                  <a:tcPr marL="91440" marR="91440" marT="45720" marB="45720"/>
                </a:tc>
                <a:tc>
                  <a:txBody>
                    <a:bodyPr/>
                    <a:lstStyle/>
                    <a:p>
                      <a:r>
                        <a:rPr sz="1050" b="0">
                          <a:solidFill>
                            <a:srgbClr val="26373D"/>
                          </a:solidFill>
                          <a:latin typeface="Yu Gothic"/>
                          <a:ea typeface="Yu Gothic"/>
                          <a:cs typeface="Yu Gothic"/>
                        </a:rPr>
                        <a:t>8.05×10⁻³</a:t>
                      </a:r>
                    </a:p>
                  </a:txBody>
                  <a:tcPr marL="91440" marR="91440" marT="45720" marB="45720"/>
                </a:tc>
                <a:tc>
                  <a:txBody>
                    <a:bodyPr/>
                    <a:lstStyle/>
                    <a:p>
                      <a:r>
                        <a:rPr sz="1050" b="0">
                          <a:solidFill>
                            <a:srgbClr val="26373D"/>
                          </a:solidFill>
                          <a:latin typeface="Yu Gothic"/>
                          <a:ea typeface="Yu Gothic"/>
                          <a:cs typeface="Yu Gothic"/>
                        </a:rPr>
                        <a:t>8.51×10⁻³</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−0.01229</a:t>
                      </a:r>
                    </a:p>
                  </a:txBody>
                  <a:tcPr marL="91440" marR="91440" marT="45720" marB="45720"/>
                </a:tc>
                <a:tc>
                  <a:txBody>
                    <a:bodyPr/>
                    <a:lstStyle/>
                    <a:p>
                      <a:r>
                        <a:rPr sz="1050" b="0">
                          <a:solidFill>
                            <a:srgbClr val="26373D"/>
                          </a:solidFill>
                          <a:latin typeface="Yu Gothic"/>
                          <a:ea typeface="Yu Gothic"/>
                          <a:cs typeface="Yu Gothic"/>
                        </a:rPr>
                        <a:t>+0.00081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4.74×10⁻⁴</a:t>
                      </a:r>
                    </a:p>
                  </a:txBody>
                  <a:tcPr marL="91440" marR="91440" marT="45720" marB="45720"/>
                </a:tc>
                <a:tc>
                  <a:txBody>
                    <a:bodyPr/>
                    <a:lstStyle/>
                    <a:p>
                      <a:r>
                        <a:rPr sz="1050" b="0">
                          <a:solidFill>
                            <a:srgbClr val="26373D"/>
                          </a:solidFill>
                          <a:latin typeface="Yu Gothic"/>
                          <a:ea typeface="Yu Gothic"/>
                          <a:cs typeface="Yu Gothic"/>
                        </a:rPr>
                        <a:t>1.71×10⁻⁴</a:t>
                      </a:r>
                    </a:p>
                  </a:txBody>
                  <a:tcPr marL="91440" marR="91440" marT="45720" marB="45720"/>
                </a:tc>
                <a:tc>
                  <a:txBody>
                    <a:bodyPr/>
                    <a:lstStyle/>
                    <a:p>
                      <a:r>
                        <a:rPr sz="1050" b="0">
                          <a:solidFill>
                            <a:srgbClr val="26373D"/>
                          </a:solidFill>
                          <a:latin typeface="Yu Gothic"/>
                          <a:ea typeface="Yu Gothic"/>
                          <a:cs typeface="Yu Gothic"/>
                        </a:rPr>
                        <a:t>6.46×10⁻⁴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61E0BD7E-283F-4588-8E90-7D2E9FAD6904}"/>
              </a:ext>
            </a:extLst>
          </p:cNvPr>
          <p:cNvSpPr>
            <a:spLocks xmlns:a="http://schemas.openxmlformats.org/drawingml/2006/main" noGrp="1"/>
          </p:cNvSpPr>
          <p:nvPr/>
        </p:nvSpPr>
        <p:spPr>
          <a:xfrm xmlns:a="http://schemas.openxmlformats.org/drawingml/2006/main">
            <a:off x="723900" y="59340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Δ危険は危険確率の変化。値が小さいだけでは、動画内容の意味が一致したとは判断しない</a:t>
            </a:r>
          </a:p>
        </p:txBody>
      </p:sp>
    </p:spTree>
    <p:extLst>
      <p:ext uri="{BB962C8B-B14F-4D97-AF65-F5344CB8AC3E}">
        <p14:creationId xmlns:p14="http://schemas.microsoft.com/office/powerpoint/2010/main" val="128382378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5ED573-7B82-4EBE-930D-781D957A03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614DD5-4712-4126-AA45-CCC7DC5228A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867063-11AC-4645-BF56-258CC3385F60}"/>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付録2　更新量と状態継承の数値</a:t>
            </a:r>
          </a:p>
        </p:txBody>
      </p:sp>
      <p:sp>
        <p:nvSpPr>
          <p:cNvPr id="4" name="">
            <a:extLst xmlns:a="http://schemas.openxmlformats.org/drawingml/2006/main">
              <a:ext uri="{FF2B5EF4-FFF2-40B4-BE49-F238E27FC236}">
                <a16:creationId xmlns:a16="http://schemas.microsoft.com/office/drawing/2014/main" id="{AB154629-BB6A-4CAE-BFA9-61AC0F6FC8B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A2</a:t>
            </a:r>
          </a:p>
        </p:txBody>
      </p:sp>
      <p:sp>
        <p:nvSpPr>
          <p:cNvPr id="5" name="">
            <a:extLst xmlns:a="http://schemas.openxmlformats.org/drawingml/2006/main">
              <a:ext uri="{FF2B5EF4-FFF2-40B4-BE49-F238E27FC236}">
                <a16:creationId xmlns:a16="http://schemas.microsoft.com/office/drawing/2014/main" id="{8571DA78-B133-457F-8FB5-D6A48290951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52623B-C63D-4935-A760-95464544B92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F17FC40-CFAE-4B2C-854B-40EB47A56C3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2 / 3</a:t>
            </a:r>
          </a:p>
        </p:txBody>
      </p:sp>
      <p:sp>
        <p:nvSpPr>
          <p:cNvPr id="8" name="">
            <a:extLst xmlns:a="http://schemas.openxmlformats.org/drawingml/2006/main">
              <a:ext uri="{FF2B5EF4-FFF2-40B4-BE49-F238E27FC236}">
                <a16:creationId xmlns:a16="http://schemas.microsoft.com/office/drawing/2014/main" id="{BC9CCDB7-49BA-4F04-A07B-AEFA76CE8D22}"/>
              </a:ext>
            </a:extLst>
          </p:cNvPr>
          <p:cNvSpPr>
            <a:spLocks xmlns:a="http://schemas.openxmlformats.org/drawingml/2006/main" noGrp="1"/>
          </p:cNvSpPr>
          <p:nvPr/>
        </p:nvSpPr>
        <p:spPr>
          <a:xfrm xmlns:a="http://schemas.openxmlformats.org/drawingml/2006/main">
            <a:off x="685800" y="1028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現場側の更新と連合平均</a:t>
            </a:r>
          </a:p>
        </p:txBody>
      </p:sp>
      <p:graphicFrame>
        <p:nvGraphicFramePr>
          <p:cNvPr id="21" name=""/>
          <p:cNvGraphicFramePr/>
          <p:nvPr/>
        </p:nvGraphicFramePr>
        <p:xfrm>
          <a:off xmlns:a="http://schemas.openxmlformats.org/drawingml/2006/main" x="647700" y="1409700"/>
          <a:ext xmlns:a="http://schemas.openxmlformats.org/drawingml/2006/main" cx="10896600" cy="1676400"/>
        </p:xfrm>
        <a:graphic xmlns:a="http://schemas.openxmlformats.org/drawingml/2006/main">
          <a:graphicData uri="http://schemas.openxmlformats.org/drawingml/2006/table">
            <a:tbl>
              <a:tblPr/>
              <a:tblGrid>
                <a:gridCol w="552450"/>
                <a:gridCol w="1571625"/>
                <a:gridCol w="1571625"/>
                <a:gridCol w="1714500"/>
                <a:gridCol w="1714500"/>
                <a:gridCol w="20002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軽量更新量
現場0</a:t>
                      </a:r>
                    </a:p>
                  </a:txBody>
                  <a:tcPr marL="91440" marR="91440" marT="45720" marB="45720"/>
                </a:tc>
                <a:tc>
                  <a:txBody>
                    <a:bodyPr/>
                    <a:lstStyle/>
                    <a:p>
                      <a:r>
                        <a:rPr sz="1050" b="1">
                          <a:solidFill>
                            <a:srgbClr val="173B4B"/>
                          </a:solidFill>
                          <a:latin typeface="Yu Gothic"/>
                          <a:ea typeface="Yu Gothic"/>
                          <a:cs typeface="Yu Gothic"/>
                        </a:rPr>
                        <a:t>軽量更新量
現場1</a:t>
                      </a:r>
                    </a:p>
                  </a:txBody>
                  <a:tcPr marL="91440" marR="91440" marT="45720" marB="45720"/>
                </a:tc>
                <a:tc>
                  <a:txBody>
                    <a:bodyPr/>
                    <a:lstStyle/>
                    <a:p>
                      <a:r>
                        <a:rPr sz="1050" b="1">
                          <a:solidFill>
                            <a:srgbClr val="173B4B"/>
                          </a:solidFill>
                          <a:latin typeface="Yu Gothic"/>
                          <a:ea typeface="Yu Gothic"/>
                          <a:cs typeface="Yu Gothic"/>
                        </a:rPr>
                        <a:t>分類層更新量
現場0</a:t>
                      </a:r>
                    </a:p>
                  </a:txBody>
                  <a:tcPr marL="91440" marR="91440" marT="45720" marB="45720"/>
                </a:tc>
                <a:tc>
                  <a:txBody>
                    <a:bodyPr/>
                    <a:lstStyle/>
                    <a:p>
                      <a:r>
                        <a:rPr sz="1050" b="1">
                          <a:solidFill>
                            <a:srgbClr val="173B4B"/>
                          </a:solidFill>
                          <a:latin typeface="Yu Gothic"/>
                          <a:ea typeface="Yu Gothic"/>
                          <a:cs typeface="Yu Gothic"/>
                        </a:rPr>
                        <a:t>分類層更新量
現場1</a:t>
                      </a:r>
                    </a:p>
                  </a:txBody>
                  <a:tcPr marL="91440" marR="91440" marT="45720" marB="45720"/>
                </a:tc>
                <a:tc>
                  <a:txBody>
                    <a:bodyPr/>
                    <a:lstStyle/>
                    <a:p>
                      <a:r>
                        <a:rPr sz="1050" b="1">
                          <a:solidFill>
                            <a:srgbClr val="173B4B"/>
                          </a:solidFill>
                          <a:latin typeface="Yu Gothic"/>
                          <a:ea typeface="Yu Gothic"/>
                          <a:cs typeface="Yu Gothic"/>
                        </a:rPr>
                        <a:t>連合平均の
再計算差</a:t>
                      </a:r>
                    </a:p>
                  </a:txBody>
                  <a:tcPr marL="91440" marR="91440" marT="45720" marB="45720"/>
                </a:tc>
                <a:tc>
                  <a:txBody>
                    <a:bodyPr/>
                    <a:lstStyle/>
                    <a:p>
                      <a:r>
                        <a:rPr sz="1050" b="1">
                          <a:solidFill>
                            <a:srgbClr val="173B4B"/>
                          </a:solidFill>
                          <a:latin typeface="Yu Gothic"/>
                          <a:ea typeface="Yu Gothic"/>
                          <a:cs typeface="Yu Gothic"/>
                        </a:rPr>
                        <a:t>次回入力</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0.346093</a:t>
                      </a:r>
                    </a:p>
                  </a:txBody>
                  <a:tcPr marL="91440" marR="91440" marT="45720" marB="45720"/>
                </a:tc>
                <a:tc>
                  <a:txBody>
                    <a:bodyPr/>
                    <a:lstStyle/>
                    <a:p>
                      <a:r>
                        <a:rPr sz="1200" b="0">
                          <a:solidFill>
                            <a:srgbClr val="26373D"/>
                          </a:solidFill>
                          <a:latin typeface="Yu Gothic"/>
                          <a:ea typeface="Yu Gothic"/>
                          <a:cs typeface="Yu Gothic"/>
                        </a:rPr>
                        <a:t>0.291624</a:t>
                      </a:r>
                    </a:p>
                  </a:txBody>
                  <a:tcPr marL="91440" marR="91440" marT="45720" marB="45720"/>
                </a:tc>
                <a:tc>
                  <a:txBody>
                    <a:bodyPr/>
                    <a:lstStyle/>
                    <a:p>
                      <a:r>
                        <a:rPr sz="1200" b="0">
                          <a:solidFill>
                            <a:srgbClr val="26373D"/>
                          </a:solidFill>
                          <a:latin typeface="Yu Gothic"/>
                          <a:ea typeface="Yu Gothic"/>
                          <a:cs typeface="Yu Gothic"/>
                        </a:rPr>
                        <a:t>0.012345</a:t>
                      </a:r>
                    </a:p>
                  </a:txBody>
                  <a:tcPr marL="91440" marR="91440" marT="45720" marB="45720"/>
                </a:tc>
                <a:tc>
                  <a:txBody>
                    <a:bodyPr/>
                    <a:lstStyle/>
                    <a:p>
                      <a:r>
                        <a:rPr sz="1200" b="0">
                          <a:solidFill>
                            <a:srgbClr val="26373D"/>
                          </a:solidFill>
                          <a:latin typeface="Yu Gothic"/>
                          <a:ea typeface="Yu Gothic"/>
                          <a:cs typeface="Yu Gothic"/>
                        </a:rPr>
                        <a:t>0.009560</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0.322764</a:t>
                      </a:r>
                    </a:p>
                  </a:txBody>
                  <a:tcPr marL="91440" marR="91440" marT="45720" marB="45720"/>
                </a:tc>
                <a:tc>
                  <a:txBody>
                    <a:bodyPr/>
                    <a:lstStyle/>
                    <a:p>
                      <a:r>
                        <a:rPr sz="1200" b="0">
                          <a:solidFill>
                            <a:srgbClr val="26373D"/>
                          </a:solidFill>
                          <a:latin typeface="Yu Gothic"/>
                          <a:ea typeface="Yu Gothic"/>
                          <a:cs typeface="Yu Gothic"/>
                        </a:rPr>
                        <a:t>0.280291</a:t>
                      </a:r>
                    </a:p>
                  </a:txBody>
                  <a:tcPr marL="91440" marR="91440" marT="45720" marB="45720"/>
                </a:tc>
                <a:tc>
                  <a:txBody>
                    <a:bodyPr/>
                    <a:lstStyle/>
                    <a:p>
                      <a:r>
                        <a:rPr sz="1200" b="0">
                          <a:solidFill>
                            <a:srgbClr val="26373D"/>
                          </a:solidFill>
                          <a:latin typeface="Yu Gothic"/>
                          <a:ea typeface="Yu Gothic"/>
                          <a:cs typeface="Yu Gothic"/>
                        </a:rPr>
                        <a:t>0.011066</a:t>
                      </a:r>
                    </a:p>
                  </a:txBody>
                  <a:tcPr marL="91440" marR="91440" marT="45720" marB="45720"/>
                </a:tc>
                <a:tc>
                  <a:txBody>
                    <a:bodyPr/>
                    <a:lstStyle/>
                    <a:p>
                      <a:r>
                        <a:rPr sz="1200" b="0">
                          <a:solidFill>
                            <a:srgbClr val="26373D"/>
                          </a:solidFill>
                          <a:latin typeface="Yu Gothic"/>
                          <a:ea typeface="Yu Gothic"/>
                          <a:cs typeface="Yu Gothic"/>
                        </a:rPr>
                        <a:t>0.009495</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0.320213</a:t>
                      </a:r>
                    </a:p>
                  </a:txBody>
                  <a:tcPr marL="91440" marR="91440" marT="45720" marB="45720"/>
                </a:tc>
                <a:tc>
                  <a:txBody>
                    <a:bodyPr/>
                    <a:lstStyle/>
                    <a:p>
                      <a:r>
                        <a:rPr sz="1200" b="0">
                          <a:solidFill>
                            <a:srgbClr val="26373D"/>
                          </a:solidFill>
                          <a:latin typeface="Yu Gothic"/>
                          <a:ea typeface="Yu Gothic"/>
                          <a:cs typeface="Yu Gothic"/>
                        </a:rPr>
                        <a:t>0.280363</a:t>
                      </a:r>
                    </a:p>
                  </a:txBody>
                  <a:tcPr marL="91440" marR="91440" marT="45720" marB="45720"/>
                </a:tc>
                <a:tc>
                  <a:txBody>
                    <a:bodyPr/>
                    <a:lstStyle/>
                    <a:p>
                      <a:r>
                        <a:rPr sz="1200" b="0">
                          <a:solidFill>
                            <a:srgbClr val="26373D"/>
                          </a:solidFill>
                          <a:latin typeface="Yu Gothic"/>
                          <a:ea typeface="Yu Gothic"/>
                          <a:cs typeface="Yu Gothic"/>
                        </a:rPr>
                        <a:t>0.010754</a:t>
                      </a:r>
                    </a:p>
                  </a:txBody>
                  <a:tcPr marL="91440" marR="91440" marT="45720" marB="45720"/>
                </a:tc>
                <a:tc>
                  <a:txBody>
                    <a:bodyPr/>
                    <a:lstStyle/>
                    <a:p>
                      <a:r>
                        <a:rPr sz="1200" b="0">
                          <a:solidFill>
                            <a:srgbClr val="26373D"/>
                          </a:solidFill>
                          <a:latin typeface="Yu Gothic"/>
                          <a:ea typeface="Yu Gothic"/>
                          <a:cs typeface="Yu Gothic"/>
                        </a:rPr>
                        <a:t>0.009461</a:t>
                      </a:r>
                    </a:p>
                  </a:txBody>
                  <a:tcPr marL="91440" marR="91440" marT="45720" marB="45720"/>
                </a:tc>
                <a:tc>
                  <a:txBody>
                    <a:bodyPr/>
                    <a:lstStyle/>
                    <a:p>
                      <a:r>
                        <a:rPr sz="1200" b="0">
                          <a:solidFill>
                            <a:srgbClr val="26373D"/>
                          </a:solidFill>
                          <a:latin typeface="Yu Gothic"/>
                          <a:ea typeface="Yu Gothic"/>
                          <a:cs typeface="Yu Gothic"/>
                        </a:rPr>
                        <a:t>1.16×10⁻¹⁰</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59DA4150-AC78-45B7-AB75-D57E30AB3B4F}"/>
              </a:ext>
            </a:extLst>
          </p:cNvPr>
          <p:cNvSpPr>
            <a:spLocks xmlns:a="http://schemas.openxmlformats.org/drawingml/2006/main" noGrp="1"/>
          </p:cNvSpPr>
          <p:nvPr/>
        </p:nvSpPr>
        <p:spPr>
          <a:xfrm xmlns:a="http://schemas.openxmlformats.org/drawingml/2006/main">
            <a:off x="685800" y="33718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中央側AIの更新</a:t>
            </a:r>
          </a:p>
        </p:txBody>
      </p:sp>
      <p:graphicFrame>
        <p:nvGraphicFramePr>
          <p:cNvPr id="23" name=""/>
          <p:cNvGraphicFramePr/>
          <p:nvPr/>
        </p:nvGraphicFramePr>
        <p:xfrm>
          <a:off xmlns:a="http://schemas.openxmlformats.org/drawingml/2006/main" x="647700" y="3752850"/>
          <a:ext xmlns:a="http://schemas.openxmlformats.org/drawingml/2006/main" cx="10896600" cy="1676400"/>
        </p:xfrm>
        <a:graphic xmlns:a="http://schemas.openxmlformats.org/drawingml/2006/main">
          <a:graphicData uri="http://schemas.openxmlformats.org/drawingml/2006/table">
            <a:tbl>
              <a:tblPr/>
              <a:tblGrid>
                <a:gridCol w="552450"/>
                <a:gridCol w="1619250"/>
                <a:gridCol w="1524000"/>
                <a:gridCol w="1809750"/>
                <a:gridCol w="1809750"/>
                <a:gridCol w="18097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勾配の大きさ</a:t>
                      </a:r>
                    </a:p>
                  </a:txBody>
                  <a:tcPr marL="91440" marR="91440" marT="45720" marB="45720"/>
                </a:tc>
                <a:tc>
                  <a:txBody>
                    <a:bodyPr/>
                    <a:lstStyle/>
                    <a:p>
                      <a:r>
                        <a:rPr sz="1050" b="1">
                          <a:solidFill>
                            <a:srgbClr val="173B4B"/>
                          </a:solidFill>
                          <a:latin typeface="Yu Gothic"/>
                          <a:ea typeface="Yu Gothic"/>
                          <a:cs typeface="Yu Gothic"/>
                        </a:rPr>
                        <a:t>更新量</a:t>
                      </a:r>
                    </a:p>
                  </a:txBody>
                  <a:tcPr marL="91440" marR="91440" marT="45720" marB="45720"/>
                </a:tc>
                <a:tc>
                  <a:txBody>
                    <a:bodyPr/>
                    <a:lstStyle/>
                    <a:p>
                      <a:r>
                        <a:rPr sz="1050" b="1">
                          <a:solidFill>
                            <a:srgbClr val="173B4B"/>
                          </a:solidFill>
                          <a:latin typeface="Yu Gothic"/>
                          <a:ea typeface="Yu Gothic"/>
                          <a:cs typeface="Yu Gothic"/>
                        </a:rPr>
                        <a:t>加重KL 更新前</a:t>
                      </a:r>
                    </a:p>
                  </a:txBody>
                  <a:tcPr marL="91440" marR="91440" marT="45720" marB="45720"/>
                </a:tc>
                <a:tc>
                  <a:txBody>
                    <a:bodyPr/>
                    <a:lstStyle/>
                    <a:p>
                      <a:r>
                        <a:rPr sz="1050" b="1">
                          <a:solidFill>
                            <a:srgbClr val="173B4B"/>
                          </a:solidFill>
                          <a:latin typeface="Yu Gothic"/>
                          <a:ea typeface="Yu Gothic"/>
                          <a:cs typeface="Yu Gothic"/>
                        </a:rPr>
                        <a:t>加重KL 更新後</a:t>
                      </a:r>
                    </a:p>
                  </a:txBody>
                  <a:tcPr marL="91440" marR="91440" marT="45720" marB="45720"/>
                </a:tc>
                <a:tc>
                  <a:txBody>
                    <a:bodyPr/>
                    <a:lstStyle/>
                    <a:p>
                      <a:r>
                        <a:rPr sz="1050" b="1">
                          <a:solidFill>
                            <a:srgbClr val="173B4B"/>
                          </a:solidFill>
                          <a:latin typeface="Yu Gothic"/>
                          <a:ea typeface="Yu Gothic"/>
                          <a:cs typeface="Yu Gothic"/>
                        </a:rPr>
                        <a:t>受理条件</a:t>
                      </a:r>
                    </a:p>
                  </a:txBody>
                  <a:tcPr marL="91440" marR="91440" marT="45720" marB="45720"/>
                </a:tc>
                <a:tc>
                  <a:txBody>
                    <a:bodyPr/>
                    <a:lstStyle/>
                    <a:p>
                      <a:r>
                        <a:rPr sz="1050" b="1">
                          <a:solidFill>
                            <a:srgbClr val="173B4B"/>
                          </a:solidFill>
                          <a:latin typeface="Yu Gothic"/>
                          <a:ea typeface="Yu Gothic"/>
                          <a:cs typeface="Yu Gothic"/>
                        </a:rPr>
                        <a:t>更新対象外</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4.37146</a:t>
                      </a:r>
                    </a:p>
                  </a:txBody>
                  <a:tcPr marL="91440" marR="91440" marT="45720" marB="45720"/>
                </a:tc>
                <a:tc>
                  <a:txBody>
                    <a:bodyPr/>
                    <a:lstStyle/>
                    <a:p>
                      <a:r>
                        <a:rPr sz="1200" b="0">
                          <a:solidFill>
                            <a:srgbClr val="26373D"/>
                          </a:solidFill>
                          <a:latin typeface="Yu Gothic"/>
                          <a:ea typeface="Yu Gothic"/>
                          <a:cs typeface="Yu Gothic"/>
                        </a:rPr>
                        <a:t>0.00135671</a:t>
                      </a:r>
                    </a:p>
                  </a:txBody>
                  <a:tcPr marL="91440" marR="91440" marT="45720" marB="45720"/>
                </a:tc>
                <a:tc>
                  <a:txBody>
                    <a:bodyPr/>
                    <a:lstStyle/>
                    <a:p>
                      <a:r>
                        <a:rPr sz="1200" b="0">
                          <a:solidFill>
                            <a:srgbClr val="26373D"/>
                          </a:solidFill>
                          <a:latin typeface="Yu Gothic"/>
                          <a:ea typeface="Yu Gothic"/>
                          <a:cs typeface="Yu Gothic"/>
                        </a:rPr>
                        <a:t>0.054042</a:t>
                      </a:r>
                    </a:p>
                  </a:txBody>
                  <a:tcPr marL="91440" marR="91440" marT="45720" marB="45720"/>
                </a:tc>
                <a:tc>
                  <a:txBody>
                    <a:bodyPr/>
                    <a:lstStyle/>
                    <a:p>
                      <a:r>
                        <a:rPr sz="1200" b="0">
                          <a:solidFill>
                            <a:srgbClr val="26373D"/>
                          </a:solidFill>
                          <a:latin typeface="Yu Gothic"/>
                          <a:ea typeface="Yu Gothic"/>
                          <a:cs typeface="Yu Gothic"/>
                        </a:rPr>
                        <a:t>0.053431</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65.9988</a:t>
                      </a:r>
                    </a:p>
                  </a:txBody>
                  <a:tcPr marL="91440" marR="91440" marT="45720" marB="45720"/>
                </a:tc>
                <a:tc>
                  <a:txBody>
                    <a:bodyPr/>
                    <a:lstStyle/>
                    <a:p>
                      <a:r>
                        <a:rPr sz="1200" b="0">
                          <a:solidFill>
                            <a:srgbClr val="26373D"/>
                          </a:solidFill>
                          <a:latin typeface="Yu Gothic"/>
                          <a:ea typeface="Yu Gothic"/>
                          <a:cs typeface="Yu Gothic"/>
                        </a:rPr>
                        <a:t>0.00135747</a:t>
                      </a:r>
                    </a:p>
                  </a:txBody>
                  <a:tcPr marL="91440" marR="91440" marT="45720" marB="45720"/>
                </a:tc>
                <a:tc>
                  <a:txBody>
                    <a:bodyPr/>
                    <a:lstStyle/>
                    <a:p>
                      <a:r>
                        <a:rPr sz="1200" b="0">
                          <a:solidFill>
                            <a:srgbClr val="26373D"/>
                          </a:solidFill>
                          <a:latin typeface="Yu Gothic"/>
                          <a:ea typeface="Yu Gothic"/>
                          <a:cs typeface="Yu Gothic"/>
                        </a:rPr>
                        <a:t>18.4783</a:t>
                      </a:r>
                    </a:p>
                  </a:txBody>
                  <a:tcPr marL="91440" marR="91440" marT="45720" marB="45720"/>
                </a:tc>
                <a:tc>
                  <a:txBody>
                    <a:bodyPr/>
                    <a:lstStyle/>
                    <a:p>
                      <a:r>
                        <a:rPr sz="1200" b="0">
                          <a:solidFill>
                            <a:srgbClr val="26373D"/>
                          </a:solidFill>
                          <a:latin typeface="Yu Gothic"/>
                          <a:ea typeface="Yu Gothic"/>
                          <a:cs typeface="Yu Gothic"/>
                        </a:rPr>
                        <a:t>18.3390</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66.4649</a:t>
                      </a:r>
                    </a:p>
                  </a:txBody>
                  <a:tcPr marL="91440" marR="91440" marT="45720" marB="45720"/>
                </a:tc>
                <a:tc>
                  <a:txBody>
                    <a:bodyPr/>
                    <a:lstStyle/>
                    <a:p>
                      <a:r>
                        <a:rPr sz="1200" b="0">
                          <a:solidFill>
                            <a:srgbClr val="26373D"/>
                          </a:solidFill>
                          <a:latin typeface="Yu Gothic"/>
                          <a:ea typeface="Yu Gothic"/>
                          <a:cs typeface="Yu Gothic"/>
                        </a:rPr>
                        <a:t>0.00135746</a:t>
                      </a:r>
                    </a:p>
                  </a:txBody>
                  <a:tcPr marL="91440" marR="91440" marT="45720" marB="45720"/>
                </a:tc>
                <a:tc>
                  <a:txBody>
                    <a:bodyPr/>
                    <a:lstStyle/>
                    <a:p>
                      <a:r>
                        <a:rPr sz="1200" b="0">
                          <a:solidFill>
                            <a:srgbClr val="26373D"/>
                          </a:solidFill>
                          <a:latin typeface="Yu Gothic"/>
                          <a:ea typeface="Yu Gothic"/>
                          <a:cs typeface="Yu Gothic"/>
                        </a:rPr>
                        <a:t>16.1307</a:t>
                      </a:r>
                    </a:p>
                  </a:txBody>
                  <a:tcPr marL="91440" marR="91440" marT="45720" marB="45720"/>
                </a:tc>
                <a:tc>
                  <a:txBody>
                    <a:bodyPr>
                      <a:normAutofit/>
                    </a:bodyPr>
                    <a:lstStyle/>
                    <a:p>
                      <a:pPr algn="ctr"/>
                      <a:r>
                        <a:rPr sz="1125" b="1">
                          <a:solidFill>
                            <a:srgbClr val="B94A3A"/>
                          </a:solidFill>
                          <a:latin typeface="Yu Gothic"/>
                          <a:ea typeface="Yu Gothic"/>
                          <a:cs typeface="Yu Gothic"/>
                        </a:rPr>
                        <a:t>16.1776</a:t>
                      </a:r>
                    </a:p>
                  </a:txBody>
                  <a:tcPr marL="91440" marR="91440" marT="45720" marB="45720" anchor="ctr">
                    <a:solidFill>
                      <a:srgbClr val="F5DFDA"/>
                    </a:solidFill>
                  </a:tcPr>
                </a:tc>
                <a:tc>
                  <a:txBody>
                    <a:bodyPr/>
                    <a:lstStyle/>
                    <a:p>
                      <a:r>
                        <a:rPr sz="1200" b="0">
                          <a:solidFill>
                            <a:srgbClr val="26373D"/>
                          </a:solidFill>
                          <a:latin typeface="Yu Gothic"/>
                          <a:ea typeface="Yu Gothic"/>
                          <a:cs typeface="Yu Gothic"/>
                        </a:rPr>
                        <a:t>実行確認</a:t>
                      </a:r>
                    </a:p>
                  </a:txBody>
                  <a:tcPr marL="91440" marR="91440" marT="45720" marB="45720">
                    <a:solidFill>
                      <a:srgbClr val="FAE9D8"/>
                    </a:solidFill>
                  </a:tcPr>
                </a:tc>
                <a:tc>
                  <a:txBody>
                    <a:bodyPr/>
                    <a:lstStyle/>
                    <a:p>
                      <a:r>
                        <a:rPr sz="1200" b="0">
                          <a:solidFill>
                            <a:srgbClr val="26373D"/>
                          </a:solidFill>
                          <a:latin typeface="Yu Gothic"/>
                          <a:ea typeface="Yu Gothic"/>
                          <a:cs typeface="Yu Gothic"/>
                        </a:rPr>
                        <a:t>不変</a:t>
                      </a:r>
                    </a:p>
                  </a:txBody>
                  <a:tcPr marL="91440" marR="91440" marT="45720" marB="45720"/>
                </a:tc>
              </a:tr>
            </a:tbl>
          </a:graphicData>
        </a:graphic>
      </p:graphicFrame>
      <p:sp>
        <p:nvSpPr>
          <p:cNvPr id="12" name="">
            <a:extLst xmlns:a="http://schemas.openxmlformats.org/drawingml/2006/main">
              <a:ext uri="{FF2B5EF4-FFF2-40B4-BE49-F238E27FC236}">
                <a16:creationId xmlns:a16="http://schemas.microsoft.com/office/drawing/2014/main" id="{2E2ED536-8E71-43B1-85B5-50CE5D00013F}"/>
              </a:ext>
            </a:extLst>
          </p:cNvPr>
          <p:cNvSpPr>
            <a:spLocks xmlns:a="http://schemas.openxmlformats.org/drawingml/2006/main" noGrp="1"/>
          </p:cNvSpPr>
          <p:nvPr/>
        </p:nvSpPr>
        <p:spPr>
          <a:xfrm xmlns:a="http://schemas.openxmlformats.org/drawingml/2006/main">
            <a:off x="723900" y="572452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各ラウンドで選択した4組が異なるため、加重KLをラウンド間の性能推移として比較しない</a:t>
            </a:r>
          </a:p>
        </p:txBody>
      </p:sp>
    </p:spTree>
    <p:extLst>
      <p:ext uri="{BB962C8B-B14F-4D97-AF65-F5344CB8AC3E}">
        <p14:creationId xmlns:p14="http://schemas.microsoft.com/office/powerpoint/2010/main" val="18221880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160B0D0-308B-4EF9-931A-1671F3591D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59BDE9-98A0-4BCC-A892-859436121F4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A4A255-111F-4D72-9B03-0916A7508CE6}"/>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付録3　処理時間と通信監査</a:t>
            </a:r>
          </a:p>
        </p:txBody>
      </p:sp>
      <p:sp>
        <p:nvSpPr>
          <p:cNvPr id="4" name="">
            <a:extLst xmlns:a="http://schemas.openxmlformats.org/drawingml/2006/main">
              <a:ext uri="{FF2B5EF4-FFF2-40B4-BE49-F238E27FC236}">
                <a16:creationId xmlns:a16="http://schemas.microsoft.com/office/drawing/2014/main" id="{88C19EEC-7A72-4B34-8A78-09381F4606BD}"/>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A3</a:t>
            </a:r>
          </a:p>
        </p:txBody>
      </p:sp>
      <p:sp>
        <p:nvSpPr>
          <p:cNvPr id="5" name="">
            <a:extLst xmlns:a="http://schemas.openxmlformats.org/drawingml/2006/main">
              <a:ext uri="{FF2B5EF4-FFF2-40B4-BE49-F238E27FC236}">
                <a16:creationId xmlns:a16="http://schemas.microsoft.com/office/drawing/2014/main" id="{55835B26-B525-4387-BE12-278B5508D75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ED736E-59A6-45D4-B9E8-5523969FBB5C}"/>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9D58C7A-034B-41CD-93EF-A261D5A3B32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3 / 3</a:t>
            </a:r>
          </a:p>
        </p:txBody>
      </p:sp>
      <p:sp>
        <p:nvSpPr>
          <p:cNvPr id="8" name="">
            <a:extLst xmlns:a="http://schemas.openxmlformats.org/drawingml/2006/main">
              <a:ext uri="{FF2B5EF4-FFF2-40B4-BE49-F238E27FC236}">
                <a16:creationId xmlns:a16="http://schemas.microsoft.com/office/drawing/2014/main" id="{DC441C4E-CB28-4E60-BFEC-7914653FF5A2}"/>
              </a:ext>
            </a:extLst>
          </p:cNvPr>
          <p:cNvSpPr>
            <a:spLocks xmlns:a="http://schemas.openxmlformats.org/drawingml/2006/main" noGrp="1"/>
          </p:cNvSpPr>
          <p:nvPr/>
        </p:nvSpPr>
        <p:spPr>
          <a:xfrm xmlns:a="http://schemas.openxmlformats.org/drawingml/2006/main">
            <a:off x="685800" y="10287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処理時間（秒）</a:t>
            </a:r>
          </a:p>
        </p:txBody>
      </p:sp>
      <p:graphicFrame>
        <p:nvGraphicFramePr>
          <p:cNvPr id="24" name=""/>
          <p:cNvGraphicFramePr/>
          <p:nvPr/>
        </p:nvGraphicFramePr>
        <p:xfrm>
          <a:off xmlns:a="http://schemas.openxmlformats.org/drawingml/2006/main" x="647700" y="1409700"/>
          <a:ext xmlns:a="http://schemas.openxmlformats.org/drawingml/2006/main" cx="10896600" cy="1752600"/>
        </p:xfrm>
        <a:graphic xmlns:a="http://schemas.openxmlformats.org/drawingml/2006/main">
          <a:graphicData uri="http://schemas.openxmlformats.org/drawingml/2006/table">
            <a:tbl>
              <a:tblPr/>
              <a:tblGrid>
                <a:gridCol w="552450"/>
                <a:gridCol w="1571625"/>
                <a:gridCol w="1381125"/>
                <a:gridCol w="1381125"/>
                <a:gridCol w="1952625"/>
                <a:gridCol w="2238375"/>
                <a:gridCol w="1819275"/>
              </a:tblGrid>
              <a:tr h="43815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現場側学習</a:t>
                      </a:r>
                    </a:p>
                  </a:txBody>
                  <a:tcPr marL="91440" marR="91440" marT="45720" marB="45720"/>
                </a:tc>
                <a:tc>
                  <a:txBody>
                    <a:bodyPr/>
                    <a:lstStyle/>
                    <a:p>
                      <a:r>
                        <a:rPr sz="1050" b="1">
                          <a:solidFill>
                            <a:srgbClr val="173B4B"/>
                          </a:solidFill>
                          <a:latin typeface="Yu Gothic"/>
                          <a:ea typeface="Yu Gothic"/>
                          <a:cs typeface="Yu Gothic"/>
                        </a:rPr>
                        <a:t>60本検索</a:t>
                      </a:r>
                    </a:p>
                  </a:txBody>
                  <a:tcPr marL="91440" marR="91440" marT="45720" marB="45720"/>
                </a:tc>
                <a:tc>
                  <a:txBody>
                    <a:bodyPr/>
                    <a:lstStyle/>
                    <a:p>
                      <a:r>
                        <a:rPr sz="1050" b="1">
                          <a:solidFill>
                            <a:srgbClr val="173B4B"/>
                          </a:solidFill>
                          <a:latin typeface="Yu Gothic"/>
                          <a:ea typeface="Yu Gothic"/>
                          <a:cs typeface="Yu Gothic"/>
                        </a:rPr>
                        <a:t>変換保存</a:t>
                      </a:r>
                    </a:p>
                  </a:txBody>
                  <a:tcPr marL="91440" marR="91440" marT="45720" marB="45720"/>
                </a:tc>
                <a:tc>
                  <a:txBody>
                    <a:bodyPr/>
                    <a:lstStyle/>
                    <a:p>
                      <a:r>
                        <a:rPr sz="1050" b="1">
                          <a:solidFill>
                            <a:srgbClr val="173B4B"/>
                          </a:solidFill>
                          <a:latin typeface="Yu Gothic"/>
                          <a:ea typeface="Yu Gothic"/>
                          <a:cs typeface="Yu Gothic"/>
                        </a:rPr>
                        <a:t>変化量・目的関数</a:t>
                      </a:r>
                    </a:p>
                  </a:txBody>
                  <a:tcPr marL="91440" marR="91440" marT="45720" marB="45720"/>
                </a:tc>
                <a:tc>
                  <a:txBody>
                    <a:bodyPr/>
                    <a:lstStyle/>
                    <a:p>
                      <a:r>
                        <a:rPr sz="1050" b="1">
                          <a:solidFill>
                            <a:srgbClr val="173B4B"/>
                          </a:solidFill>
                          <a:latin typeface="Yu Gothic"/>
                          <a:ea typeface="Yu Gothic"/>
                          <a:cs typeface="Yu Gothic"/>
                        </a:rPr>
                        <a:t>中央側AI読込・更新</a:t>
                      </a:r>
                    </a:p>
                  </a:txBody>
                  <a:tcPr marL="91440" marR="91440" marT="45720" marB="45720"/>
                </a:tc>
                <a:tc>
                  <a:txBody>
                    <a:bodyPr/>
                    <a:lstStyle/>
                    <a:p>
                      <a:r>
                        <a:rPr sz="1050" b="1">
                          <a:solidFill>
                            <a:srgbClr val="173B4B"/>
                          </a:solidFill>
                          <a:latin typeface="Yu Gothic"/>
                          <a:ea typeface="Yu Gothic"/>
                          <a:cs typeface="Yu Gothic"/>
                        </a:rPr>
                        <a:t>第2・3層合計</a:t>
                      </a:r>
                    </a:p>
                  </a:txBody>
                  <a:tcPr marL="91440" marR="91440" marT="45720" marB="45720"/>
                </a:tc>
              </a:tr>
              <a:tr h="43815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96.5</a:t>
                      </a:r>
                    </a:p>
                  </a:txBody>
                  <a:tcPr marL="91440" marR="91440" marT="45720" marB="45720"/>
                </a:tc>
                <a:tc>
                  <a:txBody>
                    <a:bodyPr/>
                    <a:lstStyle/>
                    <a:p>
                      <a:r>
                        <a:rPr sz="1200" b="0">
                          <a:solidFill>
                            <a:srgbClr val="26373D"/>
                          </a:solidFill>
                          <a:latin typeface="Yu Gothic"/>
                          <a:ea typeface="Yu Gothic"/>
                          <a:cs typeface="Yu Gothic"/>
                        </a:rPr>
                        <a:t>28.6</a:t>
                      </a:r>
                    </a:p>
                  </a:txBody>
                  <a:tcPr marL="91440" marR="91440" marT="45720" marB="45720"/>
                </a:tc>
                <a:tc>
                  <a:txBody>
                    <a:bodyPr/>
                    <a:lstStyle/>
                    <a:p>
                      <a:r>
                        <a:rPr sz="1200" b="0">
                          <a:solidFill>
                            <a:srgbClr val="26373D"/>
                          </a:solidFill>
                          <a:latin typeface="Yu Gothic"/>
                          <a:ea typeface="Yu Gothic"/>
                          <a:cs typeface="Yu Gothic"/>
                        </a:rPr>
                        <a:t>4.0</a:t>
                      </a:r>
                    </a:p>
                  </a:txBody>
                  <a:tcPr marL="91440" marR="91440" marT="45720" marB="45720"/>
                </a:tc>
                <a:tc>
                  <a:txBody>
                    <a:bodyPr/>
                    <a:lstStyle/>
                    <a:p>
                      <a:r>
                        <a:rPr sz="1200" b="0">
                          <a:solidFill>
                            <a:srgbClr val="26373D"/>
                          </a:solidFill>
                          <a:latin typeface="Yu Gothic"/>
                          <a:ea typeface="Yu Gothic"/>
                          <a:cs typeface="Yu Gothic"/>
                        </a:rPr>
                        <a:t>52.9</a:t>
                      </a:r>
                    </a:p>
                  </a:txBody>
                  <a:tcPr marL="91440" marR="91440" marT="45720" marB="45720"/>
                </a:tc>
                <a:tc>
                  <a:txBody>
                    <a:bodyPr/>
                    <a:lstStyle/>
                    <a:p>
                      <a:r>
                        <a:rPr sz="1200" b="0">
                          <a:solidFill>
                            <a:srgbClr val="26373D"/>
                          </a:solidFill>
                          <a:latin typeface="Yu Gothic"/>
                          <a:ea typeface="Yu Gothic"/>
                          <a:cs typeface="Yu Gothic"/>
                        </a:rPr>
                        <a:t>171.8</a:t>
                      </a:r>
                    </a:p>
                  </a:txBody>
                  <a:tcPr marL="91440" marR="91440" marT="45720" marB="45720"/>
                </a:tc>
                <a:tc>
                  <a:txBody>
                    <a:bodyPr/>
                    <a:lstStyle/>
                    <a:p>
                      <a:r>
                        <a:rPr sz="1200" b="0">
                          <a:solidFill>
                            <a:srgbClr val="26373D"/>
                          </a:solidFill>
                          <a:latin typeface="Yu Gothic"/>
                          <a:ea typeface="Yu Gothic"/>
                          <a:cs typeface="Yu Gothic"/>
                        </a:rPr>
                        <a:t>279.1</a:t>
                      </a:r>
                    </a:p>
                  </a:txBody>
                  <a:tcPr marL="91440" marR="91440" marT="45720" marB="45720"/>
                </a:tc>
              </a:tr>
              <a:tr h="43815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97.1</a:t>
                      </a:r>
                    </a:p>
                  </a:txBody>
                  <a:tcPr marL="91440" marR="91440" marT="45720" marB="45720"/>
                </a:tc>
                <a:tc>
                  <a:txBody>
                    <a:bodyPr/>
                    <a:lstStyle/>
                    <a:p>
                      <a:r>
                        <a:rPr sz="1200" b="0">
                          <a:solidFill>
                            <a:srgbClr val="26373D"/>
                          </a:solidFill>
                          <a:latin typeface="Yu Gothic"/>
                          <a:ea typeface="Yu Gothic"/>
                          <a:cs typeface="Yu Gothic"/>
                        </a:rPr>
                        <a:t>27.0</a:t>
                      </a:r>
                    </a:p>
                  </a:txBody>
                  <a:tcPr marL="91440" marR="91440" marT="45720" marB="45720"/>
                </a:tc>
                <a:tc>
                  <a:txBody>
                    <a:bodyPr/>
                    <a:lstStyle/>
                    <a:p>
                      <a:r>
                        <a:rPr sz="1200" b="0">
                          <a:solidFill>
                            <a:srgbClr val="26373D"/>
                          </a:solidFill>
                          <a:latin typeface="Yu Gothic"/>
                          <a:ea typeface="Yu Gothic"/>
                          <a:cs typeface="Yu Gothic"/>
                        </a:rPr>
                        <a:t>4.1</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173.6</a:t>
                      </a:r>
                    </a:p>
                  </a:txBody>
                  <a:tcPr marL="91440" marR="91440" marT="45720" marB="45720"/>
                </a:tc>
                <a:tc>
                  <a:txBody>
                    <a:bodyPr/>
                    <a:lstStyle/>
                    <a:p>
                      <a:r>
                        <a:rPr sz="1200" b="0">
                          <a:solidFill>
                            <a:srgbClr val="26373D"/>
                          </a:solidFill>
                          <a:latin typeface="Yu Gothic"/>
                          <a:ea typeface="Yu Gothic"/>
                          <a:cs typeface="Yu Gothic"/>
                        </a:rPr>
                        <a:t>272.5</a:t>
                      </a:r>
                    </a:p>
                  </a:txBody>
                  <a:tcPr marL="91440" marR="91440" marT="45720" marB="45720"/>
                </a:tc>
              </a:tr>
              <a:tr h="43815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131.0</a:t>
                      </a:r>
                    </a:p>
                  </a:txBody>
                  <a:tcPr marL="91440" marR="91440" marT="45720" marB="45720"/>
                </a:tc>
                <a:tc>
                  <a:txBody>
                    <a:bodyPr/>
                    <a:lstStyle/>
                    <a:p>
                      <a:r>
                        <a:rPr sz="1200" b="0">
                          <a:solidFill>
                            <a:srgbClr val="26373D"/>
                          </a:solidFill>
                          <a:latin typeface="Yu Gothic"/>
                          <a:ea typeface="Yu Gothic"/>
                          <a:cs typeface="Yu Gothic"/>
                        </a:rPr>
                        <a:t>27.1</a:t>
                      </a:r>
                    </a:p>
                  </a:txBody>
                  <a:tcPr marL="91440" marR="91440" marT="45720" marB="45720"/>
                </a:tc>
                <a:tc>
                  <a:txBody>
                    <a:bodyPr/>
                    <a:lstStyle/>
                    <a:p>
                      <a:r>
                        <a:rPr sz="1200" b="0">
                          <a:solidFill>
                            <a:srgbClr val="26373D"/>
                          </a:solidFill>
                          <a:latin typeface="Yu Gothic"/>
                          <a:ea typeface="Yu Gothic"/>
                          <a:cs typeface="Yu Gothic"/>
                        </a:rPr>
                        <a:t>4.2</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178.2</a:t>
                      </a:r>
                    </a:p>
                  </a:txBody>
                  <a:tcPr marL="91440" marR="91440" marT="45720" marB="45720"/>
                </a:tc>
                <a:tc>
                  <a:txBody>
                    <a:bodyPr/>
                    <a:lstStyle/>
                    <a:p>
                      <a:r>
                        <a:rPr sz="1200" b="0">
                          <a:solidFill>
                            <a:srgbClr val="26373D"/>
                          </a:solidFill>
                          <a:latin typeface="Yu Gothic"/>
                          <a:ea typeface="Yu Gothic"/>
                          <a:cs typeface="Yu Gothic"/>
                        </a:rPr>
                        <a:t>277.3</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A917CEDC-4855-43AC-B63A-C554E6353E1D}"/>
              </a:ext>
            </a:extLst>
          </p:cNvPr>
          <p:cNvSpPr>
            <a:spLocks xmlns:a="http://schemas.openxmlformats.org/drawingml/2006/main" noGrp="1"/>
          </p:cNvSpPr>
          <p:nvPr/>
        </p:nvSpPr>
        <p:spPr>
          <a:xfrm xmlns:a="http://schemas.openxmlformats.org/drawingml/2006/main">
            <a:off x="704850" y="34861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中央側候補60本の正解ラベルと、連合集約後の小型AIの判定</a:t>
            </a:r>
          </a:p>
        </p:txBody>
      </p:sp>
      <p:graphicFrame>
        <p:nvGraphicFramePr>
          <p:cNvPr id="26" name=""/>
          <p:cNvGraphicFramePr/>
          <p:nvPr/>
        </p:nvGraphicFramePr>
        <p:xfrm>
          <a:off xmlns:a="http://schemas.openxmlformats.org/drawingml/2006/main" x="723900" y="3943350"/>
          <a:ext xmlns:a="http://schemas.openxmlformats.org/drawingml/2006/main" cx="4762500" cy="1676400"/>
        </p:xfrm>
        <a:graphic xmlns:a="http://schemas.openxmlformats.org/drawingml/2006/main">
          <a:graphicData uri="http://schemas.openxmlformats.org/drawingml/2006/table">
            <a:tbl>
              <a:tblPr/>
              <a:tblGrid>
                <a:gridCol w="1428750"/>
                <a:gridCol w="1714500"/>
                <a:gridCol w="1619250"/>
              </a:tblGrid>
              <a:tr h="419100">
                <a:tc>
                  <a:txBody>
                    <a:bodyPr/>
                    <a:lstStyle/>
                    <a:p>
                      <a:r>
                        <a:rPr sz="1100" b="1">
                          <a:solidFill>
                            <a:srgbClr val="173B4B"/>
                          </a:solidFill>
                          <a:latin typeface="Yu Gothic"/>
                          <a:ea typeface="Yu Gothic"/>
                          <a:cs typeface="Yu Gothic"/>
                        </a:rPr>
                        <a:t>ラウンド</a:t>
                      </a:r>
                    </a:p>
                  </a:txBody>
                  <a:tcPr marL="91440" marR="91440" marT="45720" marB="45720"/>
                </a:tc>
                <a:tc>
                  <a:txBody>
                    <a:bodyPr/>
                    <a:lstStyle/>
                    <a:p>
                      <a:r>
                        <a:rPr sz="1100" b="1">
                          <a:solidFill>
                            <a:srgbClr val="173B4B"/>
                          </a:solidFill>
                          <a:latin typeface="Yu Gothic"/>
                          <a:ea typeface="Yu Gothic"/>
                          <a:cs typeface="Yu Gothic"/>
                        </a:rPr>
                        <a:t>一致本数</a:t>
                      </a:r>
                    </a:p>
                  </a:txBody>
                  <a:tcPr marL="91440" marR="91440" marT="45720" marB="45720"/>
                </a:tc>
                <a:tc>
                  <a:txBody>
                    <a:bodyPr/>
                    <a:lstStyle/>
                    <a:p>
                      <a:r>
                        <a:rPr sz="1100" b="1">
                          <a:solidFill>
                            <a:srgbClr val="173B4B"/>
                          </a:solidFill>
                          <a:latin typeface="Yu Gothic"/>
                          <a:ea typeface="Yu Gothic"/>
                          <a:cs typeface="Yu Gothic"/>
                        </a:rPr>
                        <a:t>割合</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44／60</a:t>
                      </a:r>
                    </a:p>
                  </a:txBody>
                  <a:tcPr marL="91440" marR="91440" marT="45720" marB="45720"/>
                </a:tc>
                <a:tc>
                  <a:txBody>
                    <a:bodyPr/>
                    <a:lstStyle/>
                    <a:p>
                      <a:r>
                        <a:rPr sz="1200" b="0">
                          <a:solidFill>
                            <a:srgbClr val="26373D"/>
                          </a:solidFill>
                          <a:latin typeface="Yu Gothic"/>
                          <a:ea typeface="Yu Gothic"/>
                          <a:cs typeface="Yu Gothic"/>
                        </a:rPr>
                        <a:t>73.3%</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bl>
          </a:graphicData>
        </a:graphic>
      </p:graphicFrame>
      <p:sp>
        <p:nvSpPr>
          <p:cNvPr id="12" name="">
            <a:extLst xmlns:a="http://schemas.openxmlformats.org/drawingml/2006/main">
              <a:ext uri="{FF2B5EF4-FFF2-40B4-BE49-F238E27FC236}">
                <a16:creationId xmlns:a16="http://schemas.microsoft.com/office/drawing/2014/main" id="{892049BD-EDA6-4E97-BA49-9A47143E42CE}"/>
              </a:ext>
            </a:extLst>
          </p:cNvPr>
          <p:cNvSpPr>
            <a:spLocks xmlns:a="http://schemas.openxmlformats.org/drawingml/2006/main" noGrp="1"/>
          </p:cNvSpPr>
          <p:nvPr/>
        </p:nvSpPr>
        <p:spPr>
          <a:xfrm xmlns:a="http://schemas.openxmlformats.org/drawingml/2006/main">
            <a:off x="6324600" y="34861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通信・更新対象の監査</a:t>
            </a:r>
          </a:p>
        </p:txBody>
      </p:sp>
      <p:sp>
        <p:nvSpPr>
          <p:cNvPr id="13" name="">
            <a:extLst xmlns:a="http://schemas.openxmlformats.org/drawingml/2006/main">
              <a:ext uri="{FF2B5EF4-FFF2-40B4-BE49-F238E27FC236}">
                <a16:creationId xmlns:a16="http://schemas.microsoft.com/office/drawing/2014/main" id="{6D83D7E4-5416-43CF-8484-9C66F9CEEEEB}"/>
              </a:ext>
            </a:extLst>
          </p:cNvPr>
          <p:cNvSpPr>
            <a:spLocks xmlns:a="http://schemas.openxmlformats.org/drawingml/2006/main" noGrp="1"/>
          </p:cNvSpPr>
          <p:nvPr/>
        </p:nvSpPr>
        <p:spPr>
          <a:xfrm xmlns:a="http://schemas.openxmlformats.org/drawingml/2006/main">
            <a:off x="6324600" y="3981450"/>
            <a:ext cx="4953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生の動画・画像・現場内sample IDを中央側へ保存していない</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6／6 payload　許可した項目だけを送信</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中央側AIの分類層と更新対象外部分は不変</a:t>
            </a:r>
          </a:p>
        </p:txBody>
      </p:sp>
      <p:sp>
        <p:nvSpPr>
          <p:cNvPr id="14" name="">
            <a:extLst xmlns:a="http://schemas.openxmlformats.org/drawingml/2006/main">
              <a:ext uri="{FF2B5EF4-FFF2-40B4-BE49-F238E27FC236}">
                <a16:creationId xmlns:a16="http://schemas.microsoft.com/office/drawing/2014/main" id="{89989397-6050-46F9-9CA1-AAD08D658573}"/>
              </a:ext>
            </a:extLst>
          </p:cNvPr>
          <p:cNvSpPr>
            <a:spLocks xmlns:a="http://schemas.openxmlformats.org/drawingml/2006/main" noGrp="1"/>
          </p:cNvSpPr>
          <p:nvPr/>
        </p:nvSpPr>
        <p:spPr>
          <a:xfrm xmlns:a="http://schemas.openxmlformats.org/drawingml/2006/main">
            <a:off x="6267450" y="5619750"/>
            <a:ext cx="5086350" cy="5143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4874207-5F43-4919-ABF3-5ED8F5EC1667}"/>
              </a:ext>
            </a:extLst>
          </p:cNvPr>
          <p:cNvSpPr>
            <a:spLocks xmlns:a="http://schemas.openxmlformats.org/drawingml/2006/main" noGrp="1"/>
          </p:cNvSpPr>
          <p:nvPr/>
        </p:nvSpPr>
        <p:spPr>
          <a:xfrm xmlns:a="http://schemas.openxmlformats.org/drawingml/2006/main">
            <a:off x="6438900" y="57435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75"/>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通信監査は実装確認であり、形式的なプライバシー保証ではない</a:t>
            </a:r>
          </a:p>
        </p:txBody>
      </p:sp>
    </p:spTree>
    <p:extLst>
      <p:ext uri="{BB962C8B-B14F-4D97-AF65-F5344CB8AC3E}">
        <p14:creationId xmlns:p14="http://schemas.microsoft.com/office/powerpoint/2010/main" val="18947662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2026-09-18T00:21:11.7140000Z</dcterms:created>
  <dcterms:modified xsi:type="dcterms:W3CDTF">2026-09-18T00:21:11.7140000Z</dcterms:modified>
</coreProperties>
</file>