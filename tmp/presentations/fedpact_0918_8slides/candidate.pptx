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835ff5a0474ace" /><Relationship Type="http://schemas.openxmlformats.org/officeDocument/2006/relationships/extended-properties" Target="/docProps/app.xml" Id="R869c26501e92420d" /><Relationship Type="http://schemas.openxmlformats.org/officeDocument/2006/relationships/officeDocument" Target="/ppt/presentation.xml" Id="Rb43613695f4c4974" /></Relationships>
</file>

<file path=ppt/presentation.xml><?xml version="1.0" encoding="utf-8"?>
<p:presentation xmlns:p="http://schemas.openxmlformats.org/presentationml/2006/main">
  <p:sldMasterIdLst>
    <p:sldMasterId xmlns:r="http://schemas.openxmlformats.org/officeDocument/2006/relationships" id="2147483648" r:id="R1be9323a02b5420e"/>
  </p:sldMasterIdLst>
  <p:notesMasterIdLst>
    <p:notesMasterId xmlns:r="http://schemas.openxmlformats.org/officeDocument/2006/relationships" r:id="R1322a01ca9614233"/>
  </p:notesMasterIdLst>
  <p:sldIdLst>
    <p:sldId xmlns:r="http://schemas.openxmlformats.org/officeDocument/2006/relationships" id="256" r:id="Rc335215eaa544c11"/>
    <p:sldId xmlns:r="http://schemas.openxmlformats.org/officeDocument/2006/relationships" id="257" r:id="R0ac12af26d4b4384"/>
    <p:sldId xmlns:r="http://schemas.openxmlformats.org/officeDocument/2006/relationships" id="258" r:id="R634a5313aadb449a"/>
    <p:sldId xmlns:r="http://schemas.openxmlformats.org/officeDocument/2006/relationships" id="259" r:id="R240d17449fc74df0"/>
    <p:sldId xmlns:r="http://schemas.openxmlformats.org/officeDocument/2006/relationships" id="260" r:id="R36e87a0466964a79"/>
    <p:sldId xmlns:r="http://schemas.openxmlformats.org/officeDocument/2006/relationships" id="261" r:id="R5cf849ca8d1f4e92"/>
    <p:sldId xmlns:r="http://schemas.openxmlformats.org/officeDocument/2006/relationships" id="262" r:id="Rf26e4c49426746c8"/>
    <p:sldId xmlns:r="http://schemas.openxmlformats.org/officeDocument/2006/relationships" id="263" r:id="Re7d697ac12744b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412b62b6b840c1" /><Relationship Type="http://schemas.openxmlformats.org/officeDocument/2006/relationships/slideMaster" Target="/ppt/slideMasters/slideMaster1.xml" Id="R1be9323a02b5420e" /><Relationship Type="http://schemas.openxmlformats.org/officeDocument/2006/relationships/notesMaster" Target="/ppt/notesMasters/notesMaster1.xml" Id="R1322a01ca9614233" /><Relationship Type="http://schemas.openxmlformats.org/officeDocument/2006/relationships/presProps" Target="/ppt/presProps.xml" Id="Rb1efaf2c712c491a" /><Relationship Type="http://schemas.openxmlformats.org/officeDocument/2006/relationships/tableStyles" Target="/ppt/tableStyles.xml" Id="R9260daf651734aa7" /><Relationship Type="http://schemas.openxmlformats.org/officeDocument/2006/relationships/slide" Target="/ppt/slides/slide1.xml" Id="Rc335215eaa544c11" /><Relationship Type="http://schemas.openxmlformats.org/officeDocument/2006/relationships/slide" Target="/ppt/slides/slide2.xml" Id="R0ac12af26d4b4384" /><Relationship Type="http://schemas.openxmlformats.org/officeDocument/2006/relationships/slide" Target="/ppt/slides/slide3.xml" Id="R634a5313aadb449a" /><Relationship Type="http://schemas.openxmlformats.org/officeDocument/2006/relationships/slide" Target="/ppt/slides/slide4.xml" Id="R240d17449fc74df0" /><Relationship Type="http://schemas.openxmlformats.org/officeDocument/2006/relationships/slide" Target="/ppt/slides/slide5.xml" Id="R36e87a0466964a79" /><Relationship Type="http://schemas.openxmlformats.org/officeDocument/2006/relationships/slide" Target="/ppt/slides/slide6.xml" Id="R5cf849ca8d1f4e92" /><Relationship Type="http://schemas.openxmlformats.org/officeDocument/2006/relationships/slide" Target="/ppt/slides/slide7.xml" Id="Rf26e4c49426746c8" /><Relationship Type="http://schemas.openxmlformats.org/officeDocument/2006/relationships/slide" Target="/ppt/slides/slide8.xml" Id="Re7d697ac12744b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421e00bc0249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f64fd2cd0e448a" /><Relationship Type="http://schemas.openxmlformats.org/officeDocument/2006/relationships/notesMaster" Target="/ppt/notesMasters/notesMaster1.xml" Id="Ra51b1adf9ae947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afa4eb5a9a4b45" /><Relationship Type="http://schemas.openxmlformats.org/officeDocument/2006/relationships/notesMaster" Target="/ppt/notesMasters/notesMaster1.xml" Id="R9db44f59665e41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b328d3203349f7" /><Relationship Type="http://schemas.openxmlformats.org/officeDocument/2006/relationships/notesMaster" Target="/ppt/notesMasters/notesMaster1.xml" Id="R23bcb653381f4f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0b9f7f9f184e51" /><Relationship Type="http://schemas.openxmlformats.org/officeDocument/2006/relationships/notesMaster" Target="/ppt/notesMasters/notesMaster1.xml" Id="Rc1437e60510545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187708da684771" /><Relationship Type="http://schemas.openxmlformats.org/officeDocument/2006/relationships/notesMaster" Target="/ppt/notesMasters/notesMaster1.xml" Id="R1e8bbbfdc31f48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b5bfd40dab4f40" /><Relationship Type="http://schemas.openxmlformats.org/officeDocument/2006/relationships/notesMaster" Target="/ppt/notesMasters/notesMaster1.xml" Id="R42561596779e46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c99dde2ad449f3" /><Relationship Type="http://schemas.openxmlformats.org/officeDocument/2006/relationships/notesMaster" Target="/ppt/notesMasters/notesMaster1.xml" Id="R3ed9794cf85645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60c6c6e1264ffb" /><Relationship Type="http://schemas.openxmlformats.org/officeDocument/2006/relationships/notesMaster" Target="/ppt/notesMasters/notesMaster1.xml" Id="Reb405bc862934d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0:00–1:10】</a:t>
            </a:r>
          </a:p>
          <a:p xmlns:a="http://schemas.openxmlformats.org/drawingml/2006/main">
            <a:r>
              <a:t>今回は、複数の自動運転車やロボットが、同じ危険判定を行う場面を想定しています。判定内容は共通でも、場所や時間、天候が違うため、それぞれが経験する動画は異なります。ある現場で得た経験をサービス全体へ反映できれば、中央側のAIも継続的に更新できます。しかし、現場の動画をそのまま中央へ集めることは難しく、連合平均でまとめた小型AIの更新を、構造や規模が異なる中央側AIへ直接渡すこともできません。そこでFedPACTでは、現場でAIの判定がどのように変わったかを数値で受け取り、その変化を中央側が持つ動画上に表して学習へ使います。この後は、変化を測る、複数動画をまとめる、中央側の動画上に表す、中央側AIを更新する、という順番で説明しま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notes/advisor/sources/raw/2026-09-16/slack_zettsu_reply_to_chen_ja_date_unknown_received_2026-09-16.md（利用場面、接続問題、適用範囲）</a:t>
            </a:r>
          </a:p>
          <a:p xmlns:a="http://schemas.openxmlformats.org/drawingml/2006/main">
            <a:r>
              <a:t>notes/advisor/sources/raw/2026-09-01/FedPACT手法提案260901.pdf（研究目的、三層構造）</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1:10–2:10】</a:t>
            </a:r>
          </a:p>
          <a:p xmlns:a="http://schemas.openxmlformats.org/drawingml/2006/main">
            <a:r>
              <a:t>ここでは、白い車が横から接近する危険動画を例にします。この実験では、AIが出した通常と危険の確率を記録しています。q^{pre}は局所学習前、q^{post}は局所学習後に同じ動画を判定した結果です。この動画では、危険確率が0.349から0.644へ変わり、Δqはプラス0.295でした。つまり、この入力に対するAIの出力が危険側へ動いたことが分かります。ただし、この値だけから危険を正しく学習した、あるいは危険原因を理解したとは言えません。次に、このような1本ごとの反応を複数動画からまとめ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artifacts/datasets/fedpact_stage1/manifest_paired_alert_quartiles.jsonl（危険区間、4フレーム）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2:10–3:10】</a:t>
            </a:r>
          </a:p>
          <a:p xmlns:a="http://schemas.openxmlformats.org/drawingml/2006/main">
            <a:r>
              <a:t>1本の動画の結果をそのまま中央側へ送るわけではありません。先ほどの動画を含む危険動画3本について、学習後の危険確率を平均すると0.724になります。これがμ^{post}_{k,r}です。学習前後の変化量の平均はプラス0.238で、これがΔμ_{k,r}です。まとめた本数π_{k,r}は3です。この三つをQ_{k,r}として送ります。中央側へ送るのは、この要約と小型AIの更新情報です。元の動画、画像、動画ごとの識別情報は送りません。また、小型AIの更新は連合平均へ渡しますが、Q_{k,r}は平均せず、次の代理データ生成へ渡し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a:t>
            </a:r>
          </a:p>
          <a:p xmlns:a="http://schemas.openxmlformats.org/drawingml/2006/main">
            <a:r>
              <a:t>artifacts/runs/fedpact_stage1/p1d_layer1_20260917_01/communication/client-0/payload.json（r1-client-0-class1）</a:t>
            </a:r>
          </a:p>
          <a:p xmlns:a="http://schemas.openxmlformats.org/drawingml/2006/main">
            <a:r>
              <a:t>notes/advisor/sources/raw/2026-09-16/slack_zettsu_flow_feedback_date_unknown_received_2026-09-16.md（Q生成と別経路）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3:10–4:35】</a:t>
            </a:r>
          </a:p>
          <a:p xmlns:a="http://schemas.openxmlformats.org/drawingml/2006/main">
            <a:r>
              <a:t>ここでも、2枚目と3枚目で追った同じr1-client-0-class1を使います。中央側には通常動画30本と危険動画30本、合計60本を用意しています。これは現場の知識そのものではなく、現場側の判定変化を表すための材料です。まず、連合平均後の小型AIを使い、μ^{post}_{k,r}に近い判定を出す動画を探します。上位3本について、変更なし、暗くする、明るくする、コントラストを上げる、中央を切り出す、という5種類を試します。一つのQにつき15候補で、四つのQでは合計60候補です。候補を選ぶときは、学習後の判定だけでなく、連合平均前後の変化がΔμ_{k,r}に近いかも確認します。選んだ入力x̃_{k,r}と学習後の目標値μ^{post}_{k,r}からP_{k,r}を作り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artifacts/runs/fedpact_stage1/p1d_full_20260917_02/server/layer2_trace.json（60 seed、top 3、5変換、選択）</a:t>
            </a:r>
          </a:p>
          <a:p xmlns:a="http://schemas.openxmlformats.org/drawingml/2006/main">
            <a:r>
              <a:t>artifacts/runs/fedpact_stage1/p1d_full_20260917_02/server/proxy_pairs.json（Pの構成）</a:t>
            </a:r>
          </a:p>
          <a:p xmlns:a="http://schemas.openxmlformats.org/drawingml/2006/main">
            <a:r>
              <a:t>画像: artifacts/runs/fedpact_stage1/p1d_full_20260917_02/server/transformation_candidates/r1-client-0-class1-rank01-*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4:35–5:30】</a:t>
            </a:r>
          </a:p>
          <a:p xmlns:a="http://schemas.openxmlformats.org/drawingml/2006/main">
            <a:r>
              <a:t>ここまでの処理を全体図の中で整理します。第1層では二つの現場側AIが局所学習を行い、小型AIの更新情報を連合平均します。一方、判定の変化をまとめたQ_{k,r}は別経路で第2層へ渡します。第2層が本研究の中心で、Q_{k,r}を中央側が持つ動画上の代理データとして表します。第3層ではP_{k,r}を使って中央側AIを更新し、その状態を次のラウンドへ引き継ぎます。今回の合格は処理の接続に対するものであり、性能の良さを示すものではありません。</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5:30–6:50】</a:t>
            </a:r>
          </a:p>
          <a:p xmlns:a="http://schemas.openxmlformats.org/drawingml/2006/main">
            <a:r>
              <a:t>2枚目から追ってきた危険動画3本の要約を、そのまま追跡します。現場側で求めた学習後の危険確率は0.724でした。中央側で選んだ代理データについて、連合平均後の小型AIが出した危険確率も0.724で、学習後の判定はほぼ一致しています。一方、現場側の変化量はプラス0.238でしたが、代理データでは危険確率が0.673から0.724へ変化しており、その差はプラス0.051でした。方向は同じですが、変化量は十分に再現できていません。また、元動画の正解ラベルは通常でした。ただし、中央側の60本では正解ラベルと小型AIの判定が一致したものが43本だけなので、通常動画が選ばれた原因を検索処理だけに求めることはできません。</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a:t>
            </a:r>
          </a:p>
          <a:p xmlns:a="http://schemas.openxmlformats.org/drawingml/2006/main">
            <a:r>
              <a:t>artifacts/runs/fedpact_stage1/p1d_full_20260917_02/server/proxy_pairs.json</a:t>
            </a:r>
          </a:p>
          <a:p xmlns:a="http://schemas.openxmlformats.org/drawingml/2006/main">
            <a:r>
              <a:t>artifacts/reports/fedpact_stage1_20260917/slack_report.md（labelと予測の一致43/60）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6:50–8:35】</a:t>
            </a:r>
          </a:p>
          <a:p xmlns:a="http://schemas.openxmlformats.org/drawingml/2006/main">
            <a:r>
              <a:t>3ラウンド全体の結果です。各ラウンドで二つの現場側AIが同じ状態から開始し、両方の小型AIが実際に更新されたことを確認しました。連合平均を別に再計算した差は、最大でも約1.16掛ける10のマイナス10でした。また、前のラウンドの出力と次のラウンドの入力が一致していることを、モデルの照合値から確認しました。一方、代理データの再現結果には問題が残っています。1ラウンド目では四つのうち三つで変化の方向が一致しましたが、一つは逆方向でした。さらに3ラウンド目では、中央側AIを更新した後のずれが16.1307から16.1776へ増加しました。今回確認できたのは3ラウンドの処理と状態継承であり、性能が改善した、安定して知識を移せた、という結論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8:35–10:00】</a:t>
            </a:r>
          </a:p>
          <a:p xmlns:a="http://schemas.openxmlformats.org/drawingml/2006/main">
            <a:r>
              <a:t>今回の第I段階では、代表動画の学習前後の判定からQ_{k,r}を作り、中央側で代理データを生成し、中央側AIを更新して次のラウンドへ状態を渡すところまでを対応付けました。三層の処理と3ラウンドの状態継承を、ログから追跡できるようになったことは言えます。一方で、性能向上、代理データの品質、未知動画への転移はまだ言えません。今回の第I段階は同じ3B基盤を使用しているため、構造や規模の異なるAI間で移せたとも言えません。今後は、まず同じ四つの教師データを固定し、ごく小さい1回の更新で中央側AIのずれが減ることを確認します。問題を解消した後に5ラウンドの接続と状態継承を確認します。その後、第II段階で中央側動画だけの場合、学習後の判定を使う場合、学習前後の変化も使う場合を同じ条件で比較し、選択に使っていない動画で評価します。最後に構造や規模が異なるAIへ進みま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590a55064b45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26df65d6f146ac" /><Relationship Type="http://schemas.openxmlformats.org/officeDocument/2006/relationships/slideLayout" Target="/ppt/slideLayouts/slideLayout1.xml" Id="R6d4e1750d6cc46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4e1750d6cc46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708d4f44a247e8" /><Relationship Type="http://schemas.openxmlformats.org/officeDocument/2006/relationships/image" Target="/ppt/media/image.jpeg" Id="R70ff12adcdd24a6b" /><Relationship Type="http://schemas.openxmlformats.org/officeDocument/2006/relationships/image" Target="/ppt/media/image2.jpeg" Id="Rc451248d08f74d14" /><Relationship Type="http://schemas.openxmlformats.org/officeDocument/2006/relationships/notesSlide" Target="/ppt/notesSlides/notesSlide1.xml" Id="Rcb2abfe8e3f546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f4a172076d4455" /><Relationship Type="http://schemas.openxmlformats.org/officeDocument/2006/relationships/image" Target="/ppt/media/image3.jpeg" Id="R7f625733ec2d4aa2" /><Relationship Type="http://schemas.openxmlformats.org/officeDocument/2006/relationships/image" Target="/ppt/media/image4.jpeg" Id="R3732f13c4cd647b3" /><Relationship Type="http://schemas.openxmlformats.org/officeDocument/2006/relationships/image" Target="/ppt/media/image5.jpeg" Id="R9f591841727f40eb" /><Relationship Type="http://schemas.openxmlformats.org/officeDocument/2006/relationships/image" Target="/ppt/media/image6.jpeg" Id="R54c60df18bdf4331" /><Relationship Type="http://schemas.openxmlformats.org/officeDocument/2006/relationships/notesSlide" Target="/ppt/notesSlides/notesSlide2.xml" Id="R9bddb736056e46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37884afe104fac" /><Relationship Type="http://schemas.openxmlformats.org/officeDocument/2006/relationships/image" Target="/ppt/media/image7.jpeg" Id="R033784ff922d44f1" /><Relationship Type="http://schemas.openxmlformats.org/officeDocument/2006/relationships/image" Target="/ppt/media/image8.jpeg" Id="Rf8c4506afe7f4dbc" /><Relationship Type="http://schemas.openxmlformats.org/officeDocument/2006/relationships/image" Target="/ppt/media/image9.jpeg" Id="R852339882cfb4991" /><Relationship Type="http://schemas.openxmlformats.org/officeDocument/2006/relationships/notesSlide" Target="/ppt/notesSlides/notesSlide3.xml" Id="R62fb154202554c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9b293303f24454" /><Relationship Type="http://schemas.openxmlformats.org/officeDocument/2006/relationships/image" Target="/ppt/media/image10.jpeg" Id="Rc8ba8458c07c4de8" /><Relationship Type="http://schemas.openxmlformats.org/officeDocument/2006/relationships/image" Target="/ppt/media/image.png" Id="R9fd7c00870644c68" /><Relationship Type="http://schemas.openxmlformats.org/officeDocument/2006/relationships/image" Target="/ppt/media/image2.png" Id="R7821b3ed3e634a8a" /><Relationship Type="http://schemas.openxmlformats.org/officeDocument/2006/relationships/image" Target="/ppt/media/image3.png" Id="R45f6770144f3444d" /><Relationship Type="http://schemas.openxmlformats.org/officeDocument/2006/relationships/image" Target="/ppt/media/image4.png" Id="Ra42cbb51aa954155" /><Relationship Type="http://schemas.openxmlformats.org/officeDocument/2006/relationships/image" Target="/ppt/media/image5.png" Id="R7f44093ea73d40a0" /><Relationship Type="http://schemas.openxmlformats.org/officeDocument/2006/relationships/notesSlide" Target="/ppt/notesSlides/notesSlide4.xml" Id="R9ac099205f7648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99947973c941d1" /><Relationship Type="http://schemas.openxmlformats.org/officeDocument/2006/relationships/notesSlide" Target="/ppt/notesSlides/notesSlide5.xml" Id="R451f701cc68e46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88be93fbda4c57" /><Relationship Type="http://schemas.openxmlformats.org/officeDocument/2006/relationships/image" Target="/ppt/media/image6.png" Id="Recafb1ac4e2a4726" /><Relationship Type="http://schemas.openxmlformats.org/officeDocument/2006/relationships/image" Target="/ppt/media/image7.png" Id="R6e1794b9df514608" /><Relationship Type="http://schemas.openxmlformats.org/officeDocument/2006/relationships/image" Target="/ppt/media/image8.png" Id="Ra03bbfaed2cc4052" /><Relationship Type="http://schemas.openxmlformats.org/officeDocument/2006/relationships/image" Target="/ppt/media/image9.png" Id="Rf70fd6a5830e4fcc" /><Relationship Type="http://schemas.openxmlformats.org/officeDocument/2006/relationships/notesSlide" Target="/ppt/notesSlides/notesSlide6.xml" Id="R4f54d320ad7e4b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e6ffbc939f4f94" /><Relationship Type="http://schemas.openxmlformats.org/officeDocument/2006/relationships/notesSlide" Target="/ppt/notesSlides/notesSlide7.xml" Id="R654581a83e114e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b24b6dfd42417a" /><Relationship Type="http://schemas.openxmlformats.org/officeDocument/2006/relationships/notesSlide" Target="/ppt/notesSlides/notesSlide8.xml" Id="Re360570489f2447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E6AABCED-4147-46E0-A283-FB2EF715DF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83E404-6859-484F-9D69-D7F545B98B94}"/>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A24826-B017-49A4-A439-A10B314B12EF}"/>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複数の現場で得た経験を、中央側AIへ生かす</a:t>
            </a:r>
          </a:p>
        </p:txBody>
      </p:sp>
      <p:sp>
        <p:nvSpPr>
          <p:cNvPr id="4" name="">
            <a:extLst xmlns:a="http://schemas.openxmlformats.org/drawingml/2006/main">
              <a:ext uri="{FF2B5EF4-FFF2-40B4-BE49-F238E27FC236}">
                <a16:creationId xmlns:a16="http://schemas.microsoft.com/office/drawing/2014/main" id="{DA8D4503-229A-4ABB-8A35-903D83814A60}"/>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55790702-6F60-41DA-ACFE-2362225E34A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88A7C11-9C21-4C8C-918B-AF24FBAF1592}"/>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91241B5C-CFA4-4ABD-8142-6623E302E9D2}"/>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8</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70ff12adcdd24a6b"/>
          <a:srcRect xmlns:a="http://schemas.openxmlformats.org/drawingml/2006/main" l="0" t="85" r="0" b="85"/>
          <a:stretch xmlns:a="http://schemas.openxmlformats.org/drawingml/2006/main">
            <a:fillRect l="0" t="0" r="0" b="0"/>
          </a:stretch>
        </p:blipFill>
        <p:spPr>
          <a:xfrm xmlns:a="http://schemas.openxmlformats.org/drawingml/2006/main">
            <a:off x="590550" y="1162050"/>
            <a:ext cx="2476500" cy="139065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c451248d08f74d14"/>
          <a:srcRect xmlns:a="http://schemas.openxmlformats.org/drawingml/2006/main" l="0" t="85" r="0" b="85"/>
          <a:stretch xmlns:a="http://schemas.openxmlformats.org/drawingml/2006/main">
            <a:fillRect l="0" t="0" r="0" b="0"/>
          </a:stretch>
        </p:blipFill>
        <p:spPr>
          <a:xfrm xmlns:a="http://schemas.openxmlformats.org/drawingml/2006/main">
            <a:off x="3219450" y="1162050"/>
            <a:ext cx="2476500" cy="1390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E25BBD4-DC2B-431D-B3F1-37A61537D2FD}"/>
              </a:ext>
            </a:extLst>
          </p:cNvPr>
          <p:cNvSpPr>
            <a:spLocks xmlns:a="http://schemas.openxmlformats.org/drawingml/2006/main" noGrp="1"/>
          </p:cNvSpPr>
          <p:nvPr/>
        </p:nvSpPr>
        <p:spPr>
          <a:xfrm xmlns:a="http://schemas.openxmlformats.org/drawingml/2006/main">
            <a:off x="5905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現場A　昼間・市街地</a:t>
            </a:r>
          </a:p>
        </p:txBody>
      </p:sp>
      <p:sp>
        <p:nvSpPr>
          <p:cNvPr id="11" name="">
            <a:extLst xmlns:a="http://schemas.openxmlformats.org/drawingml/2006/main">
              <a:ext uri="{FF2B5EF4-FFF2-40B4-BE49-F238E27FC236}">
                <a16:creationId xmlns:a16="http://schemas.microsoft.com/office/drawing/2014/main" id="{2F20DD42-BF22-4435-B03C-2ACA2DCC56E3}"/>
              </a:ext>
            </a:extLst>
          </p:cNvPr>
          <p:cNvSpPr>
            <a:spLocks xmlns:a="http://schemas.openxmlformats.org/drawingml/2006/main" noGrp="1"/>
          </p:cNvSpPr>
          <p:nvPr/>
        </p:nvSpPr>
        <p:spPr>
          <a:xfrm xmlns:a="http://schemas.openxmlformats.org/drawingml/2006/main">
            <a:off x="32194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現場B　夜間・道路</a:t>
            </a:r>
          </a:p>
        </p:txBody>
      </p:sp>
      <p:sp>
        <p:nvSpPr>
          <p:cNvPr id="12" name="">
            <a:extLst xmlns:a="http://schemas.openxmlformats.org/drawingml/2006/main">
              <a:ext uri="{FF2B5EF4-FFF2-40B4-BE49-F238E27FC236}">
                <a16:creationId xmlns:a16="http://schemas.microsoft.com/office/drawing/2014/main" id="{C1882E61-6DBA-4122-8ABB-EEB8D1033AE4}"/>
              </a:ext>
            </a:extLst>
          </p:cNvPr>
          <p:cNvSpPr>
            <a:spLocks xmlns:a="http://schemas.openxmlformats.org/drawingml/2006/main" noGrp="1"/>
          </p:cNvSpPr>
          <p:nvPr/>
        </p:nvSpPr>
        <p:spPr>
          <a:xfrm xmlns:a="http://schemas.openxmlformats.org/drawingml/2006/main">
            <a:off x="666750" y="30289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73B4B"/>
                </a:solidFill>
                <a:latin typeface="Yu Gothic"/>
                <a:ea typeface="Yu Gothic"/>
                <a:cs typeface="Yu Gothic"/>
              </a:defRPr>
            </a:pPr>
            <a:r>
              <a:rPr sz="1800" b="1">
                <a:solidFill>
                  <a:srgbClr val="173B4B"/>
                </a:solidFill>
                <a:latin typeface="Yu Gothic"/>
                <a:ea typeface="Yu Gothic"/>
                <a:cs typeface="Yu Gothic"/>
              </a:rPr>
              <a:t>同じ危険判定でも、場所・時間・天候により経験する動画が異なる</a:t>
            </a:r>
          </a:p>
        </p:txBody>
      </p:sp>
      <p:sp>
        <p:nvSpPr>
          <p:cNvPr id="13" name="">
            <a:extLst xmlns:a="http://schemas.openxmlformats.org/drawingml/2006/main">
              <a:ext uri="{FF2B5EF4-FFF2-40B4-BE49-F238E27FC236}">
                <a16:creationId xmlns:a16="http://schemas.microsoft.com/office/drawing/2014/main" id="{672E4E5F-BFDD-40CF-91B9-13CBEDD20AD9}"/>
              </a:ext>
            </a:extLst>
          </p:cNvPr>
          <p:cNvSpPr>
            <a:spLocks xmlns:a="http://schemas.openxmlformats.org/drawingml/2006/main" noGrp="1"/>
          </p:cNvSpPr>
          <p:nvPr/>
        </p:nvSpPr>
        <p:spPr>
          <a:xfrm xmlns:a="http://schemas.openxmlformats.org/drawingml/2006/main">
            <a:off x="704850" y="390525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47B78"/>
                </a:solidFill>
                <a:latin typeface="Yu Gothic"/>
                <a:ea typeface="Yu Gothic"/>
                <a:cs typeface="Yu Gothic"/>
              </a:defRPr>
            </a:pPr>
            <a:r>
              <a:rPr sz="1425" b="1">
                <a:solidFill>
                  <a:srgbClr val="147B78"/>
                </a:solidFill>
                <a:latin typeface="Yu Gothic"/>
                <a:ea typeface="Yu Gothic"/>
                <a:cs typeface="Yu Gothic"/>
              </a:rPr>
              <a:t>価値</a:t>
            </a:r>
          </a:p>
        </p:txBody>
      </p:sp>
      <p:sp>
        <p:nvSpPr>
          <p:cNvPr id="14" name="">
            <a:extLst xmlns:a="http://schemas.openxmlformats.org/drawingml/2006/main">
              <a:ext uri="{FF2B5EF4-FFF2-40B4-BE49-F238E27FC236}">
                <a16:creationId xmlns:a16="http://schemas.microsoft.com/office/drawing/2014/main" id="{426C5440-DDC2-4476-9362-B60B96EC80C2}"/>
              </a:ext>
            </a:extLst>
          </p:cNvPr>
          <p:cNvSpPr>
            <a:spLocks xmlns:a="http://schemas.openxmlformats.org/drawingml/2006/main" noGrp="1"/>
          </p:cNvSpPr>
          <p:nvPr/>
        </p:nvSpPr>
        <p:spPr>
          <a:xfrm xmlns:a="http://schemas.openxmlformats.org/drawingml/2006/main">
            <a:off x="704850" y="4238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6373D"/>
                </a:solidFill>
                <a:latin typeface="Yu Gothic"/>
                <a:ea typeface="Yu Gothic"/>
                <a:cs typeface="Yu Gothic"/>
              </a:defRPr>
            </a:pPr>
            <a:r>
              <a:rPr sz="1875" b="1">
                <a:solidFill>
                  <a:srgbClr val="26373D"/>
                </a:solidFill>
                <a:latin typeface="Yu Gothic"/>
                <a:ea typeface="Yu Gothic"/>
                <a:cs typeface="Yu Gothic"/>
              </a:rPr>
              <a:t>各現場が学んだ判定の変化を、サービス全体の更新に使う</a:t>
            </a:r>
          </a:p>
        </p:txBody>
      </p:sp>
      <p:sp>
        <p:nvSpPr>
          <p:cNvPr id="15" name="">
            <a:extLst xmlns:a="http://schemas.openxmlformats.org/drawingml/2006/main">
              <a:ext uri="{FF2B5EF4-FFF2-40B4-BE49-F238E27FC236}">
                <a16:creationId xmlns:a16="http://schemas.microsoft.com/office/drawing/2014/main" id="{A7035383-B5C9-4B3A-9376-E047BC31BB73}"/>
              </a:ext>
            </a:extLst>
          </p:cNvPr>
          <p:cNvSpPr>
            <a:spLocks xmlns:a="http://schemas.openxmlformats.org/drawingml/2006/main" noGrp="1"/>
          </p:cNvSpPr>
          <p:nvPr/>
        </p:nvSpPr>
        <p:spPr>
          <a:xfrm xmlns:a="http://schemas.openxmlformats.org/drawingml/2006/main">
            <a:off x="6057900" y="1162050"/>
            <a:ext cx="19050" cy="38862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49891C8-DE18-4318-A67E-D82D36FC28A0}"/>
              </a:ext>
            </a:extLst>
          </p:cNvPr>
          <p:cNvSpPr>
            <a:spLocks xmlns:a="http://schemas.openxmlformats.org/drawingml/2006/main" noGrp="1"/>
          </p:cNvSpPr>
          <p:nvPr/>
        </p:nvSpPr>
        <p:spPr>
          <a:xfrm xmlns:a="http://schemas.openxmlformats.org/drawingml/2006/main">
            <a:off x="6419850" y="1162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現在の接続問題</a:t>
            </a:r>
          </a:p>
        </p:txBody>
      </p:sp>
      <p:sp>
        <p:nvSpPr>
          <p:cNvPr id="17" name="">
            <a:extLst xmlns:a="http://schemas.openxmlformats.org/drawingml/2006/main">
              <a:ext uri="{FF2B5EF4-FFF2-40B4-BE49-F238E27FC236}">
                <a16:creationId xmlns:a16="http://schemas.microsoft.com/office/drawing/2014/main" id="{047AB93F-6C8E-4F8E-843A-E0A0DCB3A173}"/>
              </a:ext>
            </a:extLst>
          </p:cNvPr>
          <p:cNvSpPr>
            <a:spLocks xmlns:a="http://schemas.openxmlformats.org/drawingml/2006/main" noGrp="1"/>
          </p:cNvSpPr>
          <p:nvPr/>
        </p:nvSpPr>
        <p:spPr>
          <a:xfrm xmlns:a="http://schemas.openxmlformats.org/drawingml/2006/main">
            <a:off x="6477000" y="1790700"/>
            <a:ext cx="1333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連合平均</a:t>
            </a:r>
          </a:p>
        </p:txBody>
      </p:sp>
      <p:sp>
        <p:nvSpPr>
          <p:cNvPr id="18" name="">
            <a:extLst xmlns:a="http://schemas.openxmlformats.org/drawingml/2006/main">
              <a:ext uri="{FF2B5EF4-FFF2-40B4-BE49-F238E27FC236}">
                <a16:creationId xmlns:a16="http://schemas.microsoft.com/office/drawing/2014/main" id="{9506D8DB-7315-492F-82D5-31438FAC914B}"/>
              </a:ext>
            </a:extLst>
          </p:cNvPr>
          <p:cNvSpPr>
            <a:spLocks xmlns:a="http://schemas.openxmlformats.org/drawingml/2006/main" noGrp="1"/>
          </p:cNvSpPr>
          <p:nvPr/>
        </p:nvSpPr>
        <p:spPr>
          <a:xfrm xmlns:a="http://schemas.openxmlformats.org/drawingml/2006/main">
            <a:off x="8020050" y="17907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同じ構造の小型AI同士はまとめられる</a:t>
            </a:r>
          </a:p>
        </p:txBody>
      </p:sp>
      <p:sp>
        <p:nvSpPr>
          <p:cNvPr id="19" name="">
            <a:extLst xmlns:a="http://schemas.openxmlformats.org/drawingml/2006/main">
              <a:ext uri="{FF2B5EF4-FFF2-40B4-BE49-F238E27FC236}">
                <a16:creationId xmlns:a16="http://schemas.microsoft.com/office/drawing/2014/main" id="{9F126582-F59C-4A7D-BE39-E30D5A5EBAB9}"/>
              </a:ext>
            </a:extLst>
          </p:cNvPr>
          <p:cNvSpPr>
            <a:spLocks xmlns:a="http://schemas.openxmlformats.org/drawingml/2006/main" noGrp="1"/>
          </p:cNvSpPr>
          <p:nvPr/>
        </p:nvSpPr>
        <p:spPr>
          <a:xfrm xmlns:a="http://schemas.openxmlformats.org/drawingml/2006/main">
            <a:off x="6486525" y="2514600"/>
            <a:ext cx="89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94A3A"/>
                </a:solidFill>
                <a:latin typeface="Yu Gothic"/>
                <a:ea typeface="Yu Gothic"/>
                <a:cs typeface="Yu Gothic"/>
              </a:defRPr>
            </a:pPr>
            <a:r>
              <a:rPr sz="1350" b="1">
                <a:solidFill>
                  <a:srgbClr val="B94A3A"/>
                </a:solidFill>
                <a:latin typeface="Yu Gothic"/>
                <a:ea typeface="Yu Gothic"/>
                <a:cs typeface="Yu Gothic"/>
              </a:rPr>
              <a:t>しかし</a:t>
            </a:r>
          </a:p>
        </p:txBody>
      </p:sp>
      <p:sp>
        <p:nvSpPr>
          <p:cNvPr id="20" name="">
            <a:extLst xmlns:a="http://schemas.openxmlformats.org/drawingml/2006/main">
              <a:ext uri="{FF2B5EF4-FFF2-40B4-BE49-F238E27FC236}">
                <a16:creationId xmlns:a16="http://schemas.microsoft.com/office/drawing/2014/main" id="{334AF34D-BBD1-4EED-A6F4-C21B9C6ED49D}"/>
              </a:ext>
            </a:extLst>
          </p:cNvPr>
          <p:cNvSpPr>
            <a:spLocks xmlns:a="http://schemas.openxmlformats.org/drawingml/2006/main" noGrp="1"/>
          </p:cNvSpPr>
          <p:nvPr/>
        </p:nvSpPr>
        <p:spPr>
          <a:xfrm xmlns:a="http://schemas.openxmlformats.org/drawingml/2006/main">
            <a:off x="6486525" y="287655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構造や規模が異なる中央側AIへ、更新値をそのまま渡せない</a:t>
            </a:r>
          </a:p>
        </p:txBody>
      </p:sp>
      <p:sp>
        <p:nvSpPr>
          <p:cNvPr id="21" name="">
            <a:extLst xmlns:a="http://schemas.openxmlformats.org/drawingml/2006/main">
              <a:ext uri="{FF2B5EF4-FFF2-40B4-BE49-F238E27FC236}">
                <a16:creationId xmlns:a16="http://schemas.microsoft.com/office/drawing/2014/main" id="{740077EC-6145-407B-AA5A-3B3C284B1E49}"/>
              </a:ext>
            </a:extLst>
          </p:cNvPr>
          <p:cNvSpPr>
            <a:spLocks xmlns:a="http://schemas.openxmlformats.org/drawingml/2006/main" noGrp="1"/>
          </p:cNvSpPr>
          <p:nvPr/>
        </p:nvSpPr>
        <p:spPr>
          <a:xfrm xmlns:a="http://schemas.openxmlformats.org/drawingml/2006/main">
            <a:off x="6486525" y="38671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17078"/>
                </a:solidFill>
                <a:latin typeface="Yu Gothic"/>
                <a:ea typeface="Yu Gothic"/>
                <a:cs typeface="Yu Gothic"/>
              </a:defRPr>
            </a:pPr>
            <a:r>
              <a:rPr sz="1500" b="0">
                <a:solidFill>
                  <a:srgbClr val="617078"/>
                </a:solidFill>
                <a:latin typeface="Yu Gothic"/>
                <a:ea typeface="Yu Gothic"/>
                <a:cs typeface="Yu Gothic"/>
              </a:rPr>
              <a:t>現場動画を中央へ集めない条件では、共通の入力を使った橋渡しも難しい</a:t>
            </a:r>
          </a:p>
        </p:txBody>
      </p:sp>
      <p:sp>
        <p:nvSpPr>
          <p:cNvPr id="22" name="">
            <a:extLst xmlns:a="http://schemas.openxmlformats.org/drawingml/2006/main">
              <a:ext uri="{FF2B5EF4-FFF2-40B4-BE49-F238E27FC236}">
                <a16:creationId xmlns:a16="http://schemas.microsoft.com/office/drawing/2014/main" id="{A2AFCA31-0AA5-4E81-835F-F96D9128A63E}"/>
              </a:ext>
            </a:extLst>
          </p:cNvPr>
          <p:cNvSpPr>
            <a:spLocks xmlns:a="http://schemas.openxmlformats.org/drawingml/2006/main" noGrp="1"/>
          </p:cNvSpPr>
          <p:nvPr/>
        </p:nvSpPr>
        <p:spPr>
          <a:xfrm xmlns:a="http://schemas.openxmlformats.org/drawingml/2006/main">
            <a:off x="6429375" y="4714875"/>
            <a:ext cx="4762500" cy="6858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C5CC717-287F-4C2B-AAFE-604B8AA84D9B}"/>
              </a:ext>
            </a:extLst>
          </p:cNvPr>
          <p:cNvSpPr>
            <a:spLocks xmlns:a="http://schemas.openxmlformats.org/drawingml/2006/main" noGrp="1"/>
          </p:cNvSpPr>
          <p:nvPr/>
        </p:nvSpPr>
        <p:spPr>
          <a:xfrm xmlns:a="http://schemas.openxmlformats.org/drawingml/2006/main">
            <a:off x="6667500" y="48672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439"/>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FedPACT：現場で生じた判定の変化を、中央側の動画上に表して学習へ使う</a:t>
            </a:r>
          </a:p>
        </p:txBody>
      </p:sp>
      <p:sp>
        <p:nvSpPr>
          <p:cNvPr id="24" name="">
            <a:extLst xmlns:a="http://schemas.openxmlformats.org/drawingml/2006/main">
              <a:ext uri="{FF2B5EF4-FFF2-40B4-BE49-F238E27FC236}">
                <a16:creationId xmlns:a16="http://schemas.microsoft.com/office/drawing/2014/main" id="{B5FC0A6B-6E7D-4F1E-9CA8-69CED45F4829}"/>
              </a:ext>
            </a:extLst>
          </p:cNvPr>
          <p:cNvSpPr>
            <a:spLocks xmlns:a="http://schemas.openxmlformats.org/drawingml/2006/main" noGrp="1"/>
          </p:cNvSpPr>
          <p:nvPr/>
        </p:nvSpPr>
        <p:spPr>
          <a:xfrm xmlns:a="http://schemas.openxmlformats.org/drawingml/2006/main">
            <a:off x="628650" y="56102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17078"/>
                </a:solidFill>
                <a:latin typeface="Yu Gothic"/>
                <a:ea typeface="Yu Gothic"/>
                <a:cs typeface="Yu Gothic"/>
              </a:defRPr>
            </a:pPr>
            <a:r>
              <a:rPr sz="1275" b="1">
                <a:solidFill>
                  <a:srgbClr val="617078"/>
                </a:solidFill>
                <a:latin typeface="Yu Gothic"/>
                <a:ea typeface="Yu Gothic"/>
                <a:cs typeface="Yu Gothic"/>
              </a:rPr>
              <a:t>発表の順番</a:t>
            </a:r>
          </a:p>
        </p:txBody>
      </p:sp>
      <p:sp>
        <p:nvSpPr>
          <p:cNvPr id="25" name="">
            <a:extLst xmlns:a="http://schemas.openxmlformats.org/drawingml/2006/main">
              <a:ext uri="{FF2B5EF4-FFF2-40B4-BE49-F238E27FC236}">
                <a16:creationId xmlns:a16="http://schemas.microsoft.com/office/drawing/2014/main" id="{FA24F3F4-4BED-44C3-A9A7-0F2A1C7CDD47}"/>
              </a:ext>
            </a:extLst>
          </p:cNvPr>
          <p:cNvSpPr>
            <a:spLocks xmlns:a="http://schemas.openxmlformats.org/drawingml/2006/main" noGrp="1"/>
          </p:cNvSpPr>
          <p:nvPr/>
        </p:nvSpPr>
        <p:spPr>
          <a:xfrm xmlns:a="http://schemas.openxmlformats.org/drawingml/2006/main">
            <a:off x="21336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CB469C3-A392-4F49-9078-AFB4BF843A32}"/>
              </a:ext>
            </a:extLst>
          </p:cNvPr>
          <p:cNvSpPr>
            <a:spLocks xmlns:a="http://schemas.openxmlformats.org/drawingml/2006/main" noGrp="1"/>
          </p:cNvSpPr>
          <p:nvPr/>
        </p:nvSpPr>
        <p:spPr>
          <a:xfrm xmlns:a="http://schemas.openxmlformats.org/drawingml/2006/main">
            <a:off x="21336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27" name="">
            <a:extLst xmlns:a="http://schemas.openxmlformats.org/drawingml/2006/main">
              <a:ext uri="{FF2B5EF4-FFF2-40B4-BE49-F238E27FC236}">
                <a16:creationId xmlns:a16="http://schemas.microsoft.com/office/drawing/2014/main" id="{E95BC361-A547-4828-AD26-82A99F4EF71F}"/>
              </a:ext>
            </a:extLst>
          </p:cNvPr>
          <p:cNvSpPr>
            <a:spLocks xmlns:a="http://schemas.openxmlformats.org/drawingml/2006/main" noGrp="1"/>
          </p:cNvSpPr>
          <p:nvPr/>
        </p:nvSpPr>
        <p:spPr>
          <a:xfrm xmlns:a="http://schemas.openxmlformats.org/drawingml/2006/main">
            <a:off x="26479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変化を測る</a:t>
            </a:r>
          </a:p>
        </p:txBody>
      </p:sp>
      <p:sp>
        <p:nvSpPr>
          <p:cNvPr id="28" name="">
            <a:extLst xmlns:a="http://schemas.openxmlformats.org/drawingml/2006/main">
              <a:ext uri="{FF2B5EF4-FFF2-40B4-BE49-F238E27FC236}">
                <a16:creationId xmlns:a16="http://schemas.microsoft.com/office/drawing/2014/main" id="{79A7D882-EEB1-42B7-88CD-B63C6CC7BEA2}"/>
              </a:ext>
            </a:extLst>
          </p:cNvPr>
          <p:cNvSpPr>
            <a:spLocks xmlns:a="http://schemas.openxmlformats.org/drawingml/2006/main" noGrp="1"/>
          </p:cNvSpPr>
          <p:nvPr/>
        </p:nvSpPr>
        <p:spPr>
          <a:xfrm xmlns:a="http://schemas.openxmlformats.org/drawingml/2006/main">
            <a:off x="41624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7A1C9EE-CD09-415D-9449-03402A666E07}"/>
              </a:ext>
            </a:extLst>
          </p:cNvPr>
          <p:cNvSpPr>
            <a:spLocks xmlns:a="http://schemas.openxmlformats.org/drawingml/2006/main" noGrp="1"/>
          </p:cNvSpPr>
          <p:nvPr/>
        </p:nvSpPr>
        <p:spPr>
          <a:xfrm xmlns:a="http://schemas.openxmlformats.org/drawingml/2006/main">
            <a:off x="44958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BEA8219-52E3-4605-BAEA-BE5F3D6F8ABD}"/>
              </a:ext>
            </a:extLst>
          </p:cNvPr>
          <p:cNvSpPr>
            <a:spLocks xmlns:a="http://schemas.openxmlformats.org/drawingml/2006/main" noGrp="1"/>
          </p:cNvSpPr>
          <p:nvPr/>
        </p:nvSpPr>
        <p:spPr>
          <a:xfrm xmlns:a="http://schemas.openxmlformats.org/drawingml/2006/main">
            <a:off x="44958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31" name="">
            <a:extLst xmlns:a="http://schemas.openxmlformats.org/drawingml/2006/main">
              <a:ext uri="{FF2B5EF4-FFF2-40B4-BE49-F238E27FC236}">
                <a16:creationId xmlns:a16="http://schemas.microsoft.com/office/drawing/2014/main" id="{B4E0D79C-186E-4F92-8B1C-E347DCB91C43}"/>
              </a:ext>
            </a:extLst>
          </p:cNvPr>
          <p:cNvSpPr>
            <a:spLocks xmlns:a="http://schemas.openxmlformats.org/drawingml/2006/main" noGrp="1"/>
          </p:cNvSpPr>
          <p:nvPr/>
        </p:nvSpPr>
        <p:spPr>
          <a:xfrm xmlns:a="http://schemas.openxmlformats.org/drawingml/2006/main">
            <a:off x="50101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複数動画を要約</a:t>
            </a:r>
          </a:p>
        </p:txBody>
      </p:sp>
      <p:sp>
        <p:nvSpPr>
          <p:cNvPr id="32" name="">
            <a:extLst xmlns:a="http://schemas.openxmlformats.org/drawingml/2006/main">
              <a:ext uri="{FF2B5EF4-FFF2-40B4-BE49-F238E27FC236}">
                <a16:creationId xmlns:a16="http://schemas.microsoft.com/office/drawing/2014/main" id="{C59AE305-CA33-4CCB-A65C-BA5BD88B2B55}"/>
              </a:ext>
            </a:extLst>
          </p:cNvPr>
          <p:cNvSpPr>
            <a:spLocks xmlns:a="http://schemas.openxmlformats.org/drawingml/2006/main" noGrp="1"/>
          </p:cNvSpPr>
          <p:nvPr/>
        </p:nvSpPr>
        <p:spPr>
          <a:xfrm xmlns:a="http://schemas.openxmlformats.org/drawingml/2006/main">
            <a:off x="65246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7160E64-314D-4CA2-8F30-D2DB83CBDE6F}"/>
              </a:ext>
            </a:extLst>
          </p:cNvPr>
          <p:cNvSpPr>
            <a:spLocks xmlns:a="http://schemas.openxmlformats.org/drawingml/2006/main" noGrp="1"/>
          </p:cNvSpPr>
          <p:nvPr/>
        </p:nvSpPr>
        <p:spPr>
          <a:xfrm xmlns:a="http://schemas.openxmlformats.org/drawingml/2006/main">
            <a:off x="6858000" y="5514975"/>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CE4E9FE-DA33-4AF7-B605-EE8AE7AE1060}"/>
              </a:ext>
            </a:extLst>
          </p:cNvPr>
          <p:cNvSpPr>
            <a:spLocks xmlns:a="http://schemas.openxmlformats.org/drawingml/2006/main" noGrp="1"/>
          </p:cNvSpPr>
          <p:nvPr/>
        </p:nvSpPr>
        <p:spPr>
          <a:xfrm xmlns:a="http://schemas.openxmlformats.org/drawingml/2006/main">
            <a:off x="68580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35" name="">
            <a:extLst xmlns:a="http://schemas.openxmlformats.org/drawingml/2006/main">
              <a:ext uri="{FF2B5EF4-FFF2-40B4-BE49-F238E27FC236}">
                <a16:creationId xmlns:a16="http://schemas.microsoft.com/office/drawing/2014/main" id="{FBEBD238-DB44-4359-B88B-D7ECC3488BCE}"/>
              </a:ext>
            </a:extLst>
          </p:cNvPr>
          <p:cNvSpPr>
            <a:spLocks xmlns:a="http://schemas.openxmlformats.org/drawingml/2006/main" noGrp="1"/>
          </p:cNvSpPr>
          <p:nvPr/>
        </p:nvSpPr>
        <p:spPr>
          <a:xfrm xmlns:a="http://schemas.openxmlformats.org/drawingml/2006/main">
            <a:off x="73723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697"/>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中央側の動画上に表す</a:t>
            </a:r>
          </a:p>
        </p:txBody>
      </p:sp>
      <p:sp>
        <p:nvSpPr>
          <p:cNvPr id="36" name="">
            <a:extLst xmlns:a="http://schemas.openxmlformats.org/drawingml/2006/main">
              <a:ext uri="{FF2B5EF4-FFF2-40B4-BE49-F238E27FC236}">
                <a16:creationId xmlns:a16="http://schemas.microsoft.com/office/drawing/2014/main" id="{D949C45B-5F06-410C-B368-2E4EFE929649}"/>
              </a:ext>
            </a:extLst>
          </p:cNvPr>
          <p:cNvSpPr>
            <a:spLocks xmlns:a="http://schemas.openxmlformats.org/drawingml/2006/main" noGrp="1"/>
          </p:cNvSpPr>
          <p:nvPr/>
        </p:nvSpPr>
        <p:spPr>
          <a:xfrm xmlns:a="http://schemas.openxmlformats.org/drawingml/2006/main">
            <a:off x="88868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B232F96-CE2B-4092-8818-27EDE5995639}"/>
              </a:ext>
            </a:extLst>
          </p:cNvPr>
          <p:cNvSpPr>
            <a:spLocks xmlns:a="http://schemas.openxmlformats.org/drawingml/2006/main" noGrp="1"/>
          </p:cNvSpPr>
          <p:nvPr/>
        </p:nvSpPr>
        <p:spPr>
          <a:xfrm xmlns:a="http://schemas.openxmlformats.org/drawingml/2006/main">
            <a:off x="92202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BD24B54-4453-4AF0-B5C2-F1B84AE04751}"/>
              </a:ext>
            </a:extLst>
          </p:cNvPr>
          <p:cNvSpPr>
            <a:spLocks xmlns:a="http://schemas.openxmlformats.org/drawingml/2006/main" noGrp="1"/>
          </p:cNvSpPr>
          <p:nvPr/>
        </p:nvSpPr>
        <p:spPr>
          <a:xfrm xmlns:a="http://schemas.openxmlformats.org/drawingml/2006/main">
            <a:off x="92202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4</a:t>
            </a:r>
          </a:p>
        </p:txBody>
      </p:sp>
      <p:sp>
        <p:nvSpPr>
          <p:cNvPr id="39" name="">
            <a:extLst xmlns:a="http://schemas.openxmlformats.org/drawingml/2006/main">
              <a:ext uri="{FF2B5EF4-FFF2-40B4-BE49-F238E27FC236}">
                <a16:creationId xmlns:a16="http://schemas.microsoft.com/office/drawing/2014/main" id="{E23910DD-FA16-4165-A4EF-52B2D15979F2}"/>
              </a:ext>
            </a:extLst>
          </p:cNvPr>
          <p:cNvSpPr>
            <a:spLocks xmlns:a="http://schemas.openxmlformats.org/drawingml/2006/main" noGrp="1"/>
          </p:cNvSpPr>
          <p:nvPr/>
        </p:nvSpPr>
        <p:spPr>
          <a:xfrm xmlns:a="http://schemas.openxmlformats.org/drawingml/2006/main">
            <a:off x="97345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40" name="">
            <a:extLst xmlns:a="http://schemas.openxmlformats.org/drawingml/2006/main">
              <a:ext uri="{FF2B5EF4-FFF2-40B4-BE49-F238E27FC236}">
                <a16:creationId xmlns:a16="http://schemas.microsoft.com/office/drawing/2014/main" id="{BEA466A0-A752-4A3E-B509-A087B1BD7A82}"/>
              </a:ext>
            </a:extLst>
          </p:cNvPr>
          <p:cNvSpPr>
            <a:spLocks xmlns:a="http://schemas.openxmlformats.org/drawingml/2006/main" noGrp="1"/>
          </p:cNvSpPr>
          <p:nvPr/>
        </p:nvSpPr>
        <p:spPr>
          <a:xfrm xmlns:a="http://schemas.openxmlformats.org/drawingml/2006/main">
            <a:off x="857250" y="6076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対象は共通タスク上の予測挙動。映像の意味内容全体や危険原因の説明は対象外</a:t>
            </a:r>
          </a:p>
        </p:txBody>
      </p:sp>
    </p:spTree>
    <p:extLst>
      <p:ext uri="{BB962C8B-B14F-4D97-AF65-F5344CB8AC3E}">
        <p14:creationId xmlns:p14="http://schemas.microsoft.com/office/powerpoint/2010/main" val="4101084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63227FF-F3A2-4353-B607-58DF0B4139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1CEEE7-E168-4540-A242-BE5FF9A8CE6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F2D221-B59B-4E49-805F-8A9E80586743}"/>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1本の動画で、学習前後の判定変化を測る</a:t>
            </a:r>
          </a:p>
        </p:txBody>
      </p:sp>
      <p:sp>
        <p:nvSpPr>
          <p:cNvPr id="4" name="">
            <a:extLst xmlns:a="http://schemas.openxmlformats.org/drawingml/2006/main">
              <a:ext uri="{FF2B5EF4-FFF2-40B4-BE49-F238E27FC236}">
                <a16:creationId xmlns:a16="http://schemas.microsoft.com/office/drawing/2014/main" id="{DD1E0E23-2EC9-4098-9863-5E28C1434A1C}"/>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9C08E64A-0513-41A3-B750-C57FB1F18D1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D223C99-BBD8-4BC9-8F20-A9A963D2EAAA}"/>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6AAAC28F-7467-4CAD-9B8B-264F5ECC99A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8</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7f625733ec2d4aa2"/>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BDA2D42-5A65-4305-852E-E523DD42C885}"/>
              </a:ext>
            </a:extLst>
          </p:cNvPr>
          <p:cNvSpPr>
            <a:spLocks xmlns:a="http://schemas.openxmlformats.org/drawingml/2006/main" noGrp="1"/>
          </p:cNvSpPr>
          <p:nvPr/>
        </p:nvSpPr>
        <p:spPr>
          <a:xfrm xmlns:a="http://schemas.openxmlformats.org/drawingml/2006/main">
            <a:off x="5524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危険区間の開始</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732f13c4cd647b3"/>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326AE8A-4873-41D3-B2D0-59057CD87311}"/>
              </a:ext>
            </a:extLst>
          </p:cNvPr>
          <p:cNvSpPr>
            <a:spLocks xmlns:a="http://schemas.openxmlformats.org/drawingml/2006/main" noGrp="1"/>
          </p:cNvSpPr>
          <p:nvPr/>
        </p:nvSpPr>
        <p:spPr>
          <a:xfrm xmlns:a="http://schemas.openxmlformats.org/drawingml/2006/main">
            <a:off x="33718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f591841727f40eb"/>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11FB371-3152-45F0-9CC7-D563E8272738}"/>
              </a:ext>
            </a:extLst>
          </p:cNvPr>
          <p:cNvSpPr>
            <a:spLocks xmlns:a="http://schemas.openxmlformats.org/drawingml/2006/main" noGrp="1"/>
          </p:cNvSpPr>
          <p:nvPr/>
        </p:nvSpPr>
        <p:spPr>
          <a:xfrm xmlns:a="http://schemas.openxmlformats.org/drawingml/2006/main">
            <a:off x="61912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54c60df18bdf4331"/>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5759185-6333-458E-AF8B-B82A3E4E70F0}"/>
              </a:ext>
            </a:extLst>
          </p:cNvPr>
          <p:cNvSpPr>
            <a:spLocks xmlns:a="http://schemas.openxmlformats.org/drawingml/2006/main" noGrp="1"/>
          </p:cNvSpPr>
          <p:nvPr/>
        </p:nvSpPr>
        <p:spPr>
          <a:xfrm xmlns:a="http://schemas.openxmlformats.org/drawingml/2006/main">
            <a:off x="90106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危険事象の時点</a:t>
            </a:r>
          </a:p>
        </p:txBody>
      </p:sp>
      <p:sp>
        <p:nvSpPr>
          <p:cNvPr id="16" name="">
            <a:extLst xmlns:a="http://schemas.openxmlformats.org/drawingml/2006/main">
              <a:ext uri="{FF2B5EF4-FFF2-40B4-BE49-F238E27FC236}">
                <a16:creationId xmlns:a16="http://schemas.microsoft.com/office/drawing/2014/main" id="{672F3D26-F288-45AF-A9CA-43DC283CD8F2}"/>
              </a:ext>
            </a:extLst>
          </p:cNvPr>
          <p:cNvSpPr>
            <a:spLocks xmlns:a="http://schemas.openxmlformats.org/drawingml/2006/main" noGrp="1"/>
          </p:cNvSpPr>
          <p:nvPr/>
        </p:nvSpPr>
        <p:spPr>
          <a:xfrm xmlns:a="http://schemas.openxmlformats.org/drawingml/2006/main">
            <a:off x="723900" y="30956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47B78"/>
                </a:solidFill>
                <a:latin typeface="Yu Gothic"/>
                <a:ea typeface="Yu Gothic"/>
                <a:cs typeface="Yu Gothic"/>
              </a:defRPr>
            </a:pPr>
            <a:r>
              <a:rPr sz="1425" b="1">
                <a:solidFill>
                  <a:srgbClr val="147B78"/>
                </a:solidFill>
                <a:latin typeface="Yu Gothic"/>
                <a:ea typeface="Yu Gothic"/>
                <a:cs typeface="Yu Gothic"/>
              </a:rPr>
              <a:t>q = [通常の確率, 危険の確率]　この例では危険の確率だけを表示</a:t>
            </a:r>
          </a:p>
        </p:txBody>
      </p:sp>
      <p:sp>
        <p:nvSpPr>
          <p:cNvPr id="17" name="">
            <a:extLst xmlns:a="http://schemas.openxmlformats.org/drawingml/2006/main">
              <a:ext uri="{FF2B5EF4-FFF2-40B4-BE49-F238E27FC236}">
                <a16:creationId xmlns:a16="http://schemas.microsoft.com/office/drawing/2014/main" id="{F1E7AE3E-2C1D-4139-9F57-C18517366C6D}"/>
              </a:ext>
            </a:extLst>
          </p:cNvPr>
          <p:cNvSpPr>
            <a:spLocks xmlns:a="http://schemas.openxmlformats.org/drawingml/2006/main" noGrp="1"/>
          </p:cNvSpPr>
          <p:nvPr/>
        </p:nvSpPr>
        <p:spPr>
          <a:xfrm xmlns:a="http://schemas.openxmlformats.org/drawingml/2006/main">
            <a:off x="9334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学習前  qᵖʳᵉ</a:t>
            </a:r>
          </a:p>
        </p:txBody>
      </p:sp>
      <p:sp>
        <p:nvSpPr>
          <p:cNvPr id="18" name="">
            <a:extLst xmlns:a="http://schemas.openxmlformats.org/drawingml/2006/main">
              <a:ext uri="{FF2B5EF4-FFF2-40B4-BE49-F238E27FC236}">
                <a16:creationId xmlns:a16="http://schemas.microsoft.com/office/drawing/2014/main" id="{DF7BCF93-3290-41DF-A728-82FECB5F5E4A}"/>
              </a:ext>
            </a:extLst>
          </p:cNvPr>
          <p:cNvSpPr>
            <a:spLocks xmlns:a="http://schemas.openxmlformats.org/drawingml/2006/main" noGrp="1"/>
          </p:cNvSpPr>
          <p:nvPr/>
        </p:nvSpPr>
        <p:spPr>
          <a:xfrm xmlns:a="http://schemas.openxmlformats.org/drawingml/2006/main">
            <a:off x="9334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2DFFAAA6-6750-4542-9247-DEFE8CF581A4}"/>
              </a:ext>
            </a:extLst>
          </p:cNvPr>
          <p:cNvSpPr>
            <a:spLocks xmlns:a="http://schemas.openxmlformats.org/drawingml/2006/main" noGrp="1"/>
          </p:cNvSpPr>
          <p:nvPr/>
        </p:nvSpPr>
        <p:spPr>
          <a:xfrm xmlns:a="http://schemas.openxmlformats.org/drawingml/2006/main">
            <a:off x="9334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局所学習前の危険確率</a:t>
            </a:r>
          </a:p>
        </p:txBody>
      </p:sp>
      <p:sp>
        <p:nvSpPr>
          <p:cNvPr id="20" name="">
            <a:extLst xmlns:a="http://schemas.openxmlformats.org/drawingml/2006/main">
              <a:ext uri="{FF2B5EF4-FFF2-40B4-BE49-F238E27FC236}">
                <a16:creationId xmlns:a16="http://schemas.microsoft.com/office/drawing/2014/main" id="{ABCE9DB4-F857-4267-8186-766A69A313CC}"/>
              </a:ext>
            </a:extLst>
          </p:cNvPr>
          <p:cNvSpPr>
            <a:spLocks xmlns:a="http://schemas.openxmlformats.org/drawingml/2006/main" noGrp="1"/>
          </p:cNvSpPr>
          <p:nvPr/>
        </p:nvSpPr>
        <p:spPr>
          <a:xfrm xmlns:a="http://schemas.openxmlformats.org/drawingml/2006/main">
            <a:off x="417195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3285D50-54B9-4B43-A0A0-BBCFA7670B06}"/>
              </a:ext>
            </a:extLst>
          </p:cNvPr>
          <p:cNvSpPr>
            <a:spLocks xmlns:a="http://schemas.openxmlformats.org/drawingml/2006/main" noGrp="1"/>
          </p:cNvSpPr>
          <p:nvPr/>
        </p:nvSpPr>
        <p:spPr>
          <a:xfrm xmlns:a="http://schemas.openxmlformats.org/drawingml/2006/main">
            <a:off x="464820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学習後  qᵖᵒˢᵗ</a:t>
            </a:r>
          </a:p>
        </p:txBody>
      </p:sp>
      <p:sp>
        <p:nvSpPr>
          <p:cNvPr id="22" name="">
            <a:extLst xmlns:a="http://schemas.openxmlformats.org/drawingml/2006/main">
              <a:ext uri="{FF2B5EF4-FFF2-40B4-BE49-F238E27FC236}">
                <a16:creationId xmlns:a16="http://schemas.microsoft.com/office/drawing/2014/main" id="{675D9E97-3155-44BF-AD60-626558AD3FC4}"/>
              </a:ext>
            </a:extLst>
          </p:cNvPr>
          <p:cNvSpPr>
            <a:spLocks xmlns:a="http://schemas.openxmlformats.org/drawingml/2006/main" noGrp="1"/>
          </p:cNvSpPr>
          <p:nvPr/>
        </p:nvSpPr>
        <p:spPr>
          <a:xfrm xmlns:a="http://schemas.openxmlformats.org/drawingml/2006/main">
            <a:off x="464820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0.644</a:t>
            </a:r>
          </a:p>
        </p:txBody>
      </p:sp>
      <p:sp>
        <p:nvSpPr>
          <p:cNvPr id="23" name="">
            <a:extLst xmlns:a="http://schemas.openxmlformats.org/drawingml/2006/main">
              <a:ext uri="{FF2B5EF4-FFF2-40B4-BE49-F238E27FC236}">
                <a16:creationId xmlns:a16="http://schemas.microsoft.com/office/drawing/2014/main" id="{472EB35C-BCF7-4DA6-A368-859973196A97}"/>
              </a:ext>
            </a:extLst>
          </p:cNvPr>
          <p:cNvSpPr>
            <a:spLocks xmlns:a="http://schemas.openxmlformats.org/drawingml/2006/main" noGrp="1"/>
          </p:cNvSpPr>
          <p:nvPr/>
        </p:nvSpPr>
        <p:spPr>
          <a:xfrm xmlns:a="http://schemas.openxmlformats.org/drawingml/2006/main">
            <a:off x="464820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同じ動画を学習後に再判定</a:t>
            </a:r>
          </a:p>
        </p:txBody>
      </p:sp>
      <p:sp>
        <p:nvSpPr>
          <p:cNvPr id="24" name="">
            <a:extLst xmlns:a="http://schemas.openxmlformats.org/drawingml/2006/main">
              <a:ext uri="{FF2B5EF4-FFF2-40B4-BE49-F238E27FC236}">
                <a16:creationId xmlns:a16="http://schemas.microsoft.com/office/drawing/2014/main" id="{8A7F8112-0413-424F-BBE8-1F3B2D7298C1}"/>
              </a:ext>
            </a:extLst>
          </p:cNvPr>
          <p:cNvSpPr>
            <a:spLocks xmlns:a="http://schemas.openxmlformats.org/drawingml/2006/main" noGrp="1"/>
          </p:cNvSpPr>
          <p:nvPr/>
        </p:nvSpPr>
        <p:spPr>
          <a:xfrm xmlns:a="http://schemas.openxmlformats.org/drawingml/2006/main">
            <a:off x="788670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A453A8A-BA3A-466A-9050-AC199C284785}"/>
              </a:ext>
            </a:extLst>
          </p:cNvPr>
          <p:cNvSpPr>
            <a:spLocks xmlns:a="http://schemas.openxmlformats.org/drawingml/2006/main" noGrp="1"/>
          </p:cNvSpPr>
          <p:nvPr/>
        </p:nvSpPr>
        <p:spPr>
          <a:xfrm xmlns:a="http://schemas.openxmlformats.org/drawingml/2006/main">
            <a:off x="83629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変化量  Δq</a:t>
            </a:r>
          </a:p>
        </p:txBody>
      </p:sp>
      <p:sp>
        <p:nvSpPr>
          <p:cNvPr id="26" name="">
            <a:extLst xmlns:a="http://schemas.openxmlformats.org/drawingml/2006/main">
              <a:ext uri="{FF2B5EF4-FFF2-40B4-BE49-F238E27FC236}">
                <a16:creationId xmlns:a16="http://schemas.microsoft.com/office/drawing/2014/main" id="{A25D5E53-340D-4977-B9E2-B763D2A52B60}"/>
              </a:ext>
            </a:extLst>
          </p:cNvPr>
          <p:cNvSpPr>
            <a:spLocks xmlns:a="http://schemas.openxmlformats.org/drawingml/2006/main" noGrp="1"/>
          </p:cNvSpPr>
          <p:nvPr/>
        </p:nvSpPr>
        <p:spPr>
          <a:xfrm xmlns:a="http://schemas.openxmlformats.org/drawingml/2006/main">
            <a:off x="83629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E7833D"/>
                </a:solidFill>
                <a:latin typeface="Yu Gothic"/>
                <a:ea typeface="Yu Gothic"/>
                <a:cs typeface="Yu Gothic"/>
              </a:defRPr>
            </a:pPr>
            <a:r>
              <a:rPr sz="3150" b="1">
                <a:solidFill>
                  <a:srgbClr val="E7833D"/>
                </a:solidFill>
                <a:latin typeface="Yu Gothic"/>
                <a:ea typeface="Yu Gothic"/>
                <a:cs typeface="Yu Gothic"/>
              </a:rPr>
              <a:t>+0.295</a:t>
            </a:r>
          </a:p>
        </p:txBody>
      </p:sp>
      <p:sp>
        <p:nvSpPr>
          <p:cNvPr id="27" name="">
            <a:extLst xmlns:a="http://schemas.openxmlformats.org/drawingml/2006/main">
              <a:ext uri="{FF2B5EF4-FFF2-40B4-BE49-F238E27FC236}">
                <a16:creationId xmlns:a16="http://schemas.microsoft.com/office/drawing/2014/main" id="{E5C631E2-BCDC-44C5-9AE7-F1720F7AA648}"/>
              </a:ext>
            </a:extLst>
          </p:cNvPr>
          <p:cNvSpPr>
            <a:spLocks xmlns:a="http://schemas.openxmlformats.org/drawingml/2006/main" noGrp="1"/>
          </p:cNvSpPr>
          <p:nvPr/>
        </p:nvSpPr>
        <p:spPr>
          <a:xfrm xmlns:a="http://schemas.openxmlformats.org/drawingml/2006/main">
            <a:off x="83629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危険側へ動いた量</a:t>
            </a:r>
          </a:p>
        </p:txBody>
      </p:sp>
      <p:sp>
        <p:nvSpPr>
          <p:cNvPr id="28" name="">
            <a:extLst xmlns:a="http://schemas.openxmlformats.org/drawingml/2006/main">
              <a:ext uri="{FF2B5EF4-FFF2-40B4-BE49-F238E27FC236}">
                <a16:creationId xmlns:a16="http://schemas.microsoft.com/office/drawing/2014/main" id="{B63C586C-2C9A-46B8-BC58-D03DDE92AE29}"/>
              </a:ext>
            </a:extLst>
          </p:cNvPr>
          <p:cNvSpPr>
            <a:spLocks xmlns:a="http://schemas.openxmlformats.org/drawingml/2006/main" noGrp="1"/>
          </p:cNvSpPr>
          <p:nvPr/>
        </p:nvSpPr>
        <p:spPr>
          <a:xfrm xmlns:a="http://schemas.openxmlformats.org/drawingml/2006/main">
            <a:off x="704850" y="5419725"/>
            <a:ext cx="10782300" cy="666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55F7836-E2EA-4E63-AD02-83159F67A49B}"/>
              </a:ext>
            </a:extLst>
          </p:cNvPr>
          <p:cNvSpPr>
            <a:spLocks xmlns:a="http://schemas.openxmlformats.org/drawingml/2006/main" noGrp="1"/>
          </p:cNvSpPr>
          <p:nvPr/>
        </p:nvSpPr>
        <p:spPr>
          <a:xfrm xmlns:a="http://schemas.openxmlformats.org/drawingml/2006/main">
            <a:off x="952500"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26373D"/>
                </a:solidFill>
                <a:latin typeface="Yu Gothic"/>
                <a:ea typeface="Yu Gothic"/>
                <a:cs typeface="Yu Gothic"/>
              </a:defRPr>
            </a:pPr>
            <a:r>
              <a:rPr sz="1500" b="1">
                <a:solidFill>
                  <a:srgbClr val="26373D"/>
                </a:solidFill>
                <a:latin typeface="Yu Gothic"/>
                <a:ea typeface="Yu Gothic"/>
                <a:cs typeface="Yu Gothic"/>
              </a:rPr>
              <a:t>ここで分かるのは、同じ入力への判定が危険側へ動いたことまで。危険理由や性能向上はまだ分からない。</a:t>
            </a:r>
          </a:p>
        </p:txBody>
      </p:sp>
      <p:sp>
        <p:nvSpPr>
          <p:cNvPr id="30" name="">
            <a:extLst xmlns:a="http://schemas.openxmlformats.org/drawingml/2006/main">
              <a:ext uri="{FF2B5EF4-FFF2-40B4-BE49-F238E27FC236}">
                <a16:creationId xmlns:a16="http://schemas.microsoft.com/office/drawing/2014/main" id="{3A6ED0FC-E49C-437E-BE16-D39E7B936D1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89380384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02D70B6-618B-4E0E-B93E-3D10774DFD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CF6F44-8D96-40F3-863E-15389A54F36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615F40-C74F-4CE5-8E73-DD4DDD215CF4}"/>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複数動画の反応を、3つの値に要約する</a:t>
            </a:r>
          </a:p>
        </p:txBody>
      </p:sp>
      <p:sp>
        <p:nvSpPr>
          <p:cNvPr id="4" name="">
            <a:extLst xmlns:a="http://schemas.openxmlformats.org/drawingml/2006/main">
              <a:ext uri="{FF2B5EF4-FFF2-40B4-BE49-F238E27FC236}">
                <a16:creationId xmlns:a16="http://schemas.microsoft.com/office/drawing/2014/main" id="{FB7BD226-7EA5-44E1-8CA2-92CE7C4EC648}"/>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3D92C827-EBC1-41A2-9454-70E1DF8F7104}"/>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88539A9-DE24-42B7-8E40-0148CD683DE6}"/>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FE32773-628D-432E-B3A2-62C5A182B12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8</a:t>
            </a:r>
          </a:p>
        </p:txBody>
      </p:sp>
      <p:sp>
        <p:nvSpPr>
          <p:cNvPr id="8" name="">
            <a:extLst xmlns:a="http://schemas.openxmlformats.org/drawingml/2006/main">
              <a:ext uri="{FF2B5EF4-FFF2-40B4-BE49-F238E27FC236}">
                <a16:creationId xmlns:a16="http://schemas.microsoft.com/office/drawing/2014/main" id="{FD64B756-B5E3-4475-AF8F-12D3E9FC17DA}"/>
              </a:ext>
            </a:extLst>
          </p:cNvPr>
          <p:cNvSpPr>
            <a:spLocks xmlns:a="http://schemas.openxmlformats.org/drawingml/2006/main" noGrp="1"/>
          </p:cNvSpPr>
          <p:nvPr/>
        </p:nvSpPr>
        <p:spPr>
          <a:xfrm xmlns:a="http://schemas.openxmlformats.org/drawingml/2006/main">
            <a:off x="609600" y="106680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同じ現場側AIの危険動画3本</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33784ff922d44f1"/>
          <a:srcRect xmlns:a="http://schemas.openxmlformats.org/drawingml/2006/main" l="58" t="0" r="58" b="0"/>
          <a:stretch xmlns:a="http://schemas.openxmlformats.org/drawingml/2006/main">
            <a:fillRect l="0" t="0" r="0" b="0"/>
          </a:stretch>
        </p:blipFill>
        <p:spPr>
          <a:xfrm xmlns:a="http://schemas.openxmlformats.org/drawingml/2006/main">
            <a:off x="609600" y="1466850"/>
            <a:ext cx="1809750" cy="1019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2CE4A7F-623B-462E-BAD5-B204F7F4E893}"/>
              </a:ext>
            </a:extLst>
          </p:cNvPr>
          <p:cNvSpPr>
            <a:spLocks xmlns:a="http://schemas.openxmlformats.org/drawingml/2006/main" noGrp="1"/>
          </p:cNvSpPr>
          <p:nvPr/>
        </p:nvSpPr>
        <p:spPr>
          <a:xfrm xmlns:a="http://schemas.openxmlformats.org/drawingml/2006/main">
            <a:off x="6096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0.600</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+0.336</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f8c4506afe7f4dbc"/>
          <a:srcRect xmlns:a="http://schemas.openxmlformats.org/drawingml/2006/main" l="58" t="0" r="58" b="0"/>
          <a:stretch xmlns:a="http://schemas.openxmlformats.org/drawingml/2006/main">
            <a:fillRect l="0" t="0" r="0" b="0"/>
          </a:stretch>
        </p:blipFill>
        <p:spPr>
          <a:xfrm xmlns:a="http://schemas.openxmlformats.org/drawingml/2006/main">
            <a:off x="2609850" y="1466850"/>
            <a:ext cx="1809750" cy="10191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FB5CEED-0B0F-4AF3-B7B7-9347DDD16EB7}"/>
              </a:ext>
            </a:extLst>
          </p:cNvPr>
          <p:cNvSpPr>
            <a:spLocks xmlns:a="http://schemas.openxmlformats.org/drawingml/2006/main" noGrp="1"/>
          </p:cNvSpPr>
          <p:nvPr/>
        </p:nvSpPr>
        <p:spPr>
          <a:xfrm xmlns:a="http://schemas.openxmlformats.org/drawingml/2006/main">
            <a:off x="260985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0.644</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+0.295</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52339882cfb4991"/>
          <a:srcRect xmlns:a="http://schemas.openxmlformats.org/drawingml/2006/main" l="58" t="0" r="58" b="0"/>
          <a:stretch xmlns:a="http://schemas.openxmlformats.org/drawingml/2006/main">
            <a:fillRect l="0" t="0" r="0" b="0"/>
          </a:stretch>
        </p:blipFill>
        <p:spPr>
          <a:xfrm xmlns:a="http://schemas.openxmlformats.org/drawingml/2006/main">
            <a:off x="4610100" y="1466850"/>
            <a:ext cx="1809750" cy="10191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456A3E95-8178-4756-A0AC-3A69EA7C628A}"/>
              </a:ext>
            </a:extLst>
          </p:cNvPr>
          <p:cNvSpPr>
            <a:spLocks xmlns:a="http://schemas.openxmlformats.org/drawingml/2006/main" noGrp="1"/>
          </p:cNvSpPr>
          <p:nvPr/>
        </p:nvSpPr>
        <p:spPr>
          <a:xfrm xmlns:a="http://schemas.openxmlformats.org/drawingml/2006/main">
            <a:off x="46101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0.929</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+0.082</a:t>
            </a:r>
          </a:p>
        </p:txBody>
      </p:sp>
      <p:sp>
        <p:nvSpPr>
          <p:cNvPr id="15" name="">
            <a:extLst xmlns:a="http://schemas.openxmlformats.org/drawingml/2006/main">
              <a:ext uri="{FF2B5EF4-FFF2-40B4-BE49-F238E27FC236}">
                <a16:creationId xmlns:a16="http://schemas.microsoft.com/office/drawing/2014/main" id="{958D1BA0-39B2-46A3-B772-B86D002A8D49}"/>
              </a:ext>
            </a:extLst>
          </p:cNvPr>
          <p:cNvSpPr>
            <a:spLocks xmlns:a="http://schemas.openxmlformats.org/drawingml/2006/main" noGrp="1"/>
          </p:cNvSpPr>
          <p:nvPr/>
        </p:nvSpPr>
        <p:spPr>
          <a:xfrm xmlns:a="http://schemas.openxmlformats.org/drawingml/2006/main">
            <a:off x="2581275" y="1438275"/>
            <a:ext cx="1866900" cy="1076325"/>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16" name="">
            <a:extLst xmlns:a="http://schemas.openxmlformats.org/drawingml/2006/main">
              <a:ext uri="{FF2B5EF4-FFF2-40B4-BE49-F238E27FC236}">
                <a16:creationId xmlns:a16="http://schemas.microsoft.com/office/drawing/2014/main" id="{94570DA8-C649-45E4-8517-AF388775BDEA}"/>
              </a:ext>
            </a:extLst>
          </p:cNvPr>
          <p:cNvSpPr>
            <a:spLocks xmlns:a="http://schemas.openxmlformats.org/drawingml/2006/main" noGrp="1"/>
          </p:cNvSpPr>
          <p:nvPr/>
        </p:nvSpPr>
        <p:spPr>
          <a:xfrm xmlns:a="http://schemas.openxmlformats.org/drawingml/2006/main">
            <a:off x="2647950" y="1504950"/>
            <a:ext cx="876300" cy="20955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Yu Gothic"/>
                <a:ea typeface="Yu Gothic"/>
                <a:cs typeface="Yu Gothic"/>
              </a:defRPr>
            </a:pPr>
            <a:r>
              <a:rPr sz="900" b="1">
                <a:solidFill>
                  <a:srgbClr val="FFFFFF"/>
                </a:solidFill>
                <a:latin typeface="Yu Gothic"/>
                <a:ea typeface="Yu Gothic"/>
                <a:cs typeface="Yu Gothic"/>
              </a:rPr>
              <a:t>2枚目の動画</a:t>
            </a:r>
          </a:p>
        </p:txBody>
      </p:sp>
      <p:sp>
        <p:nvSpPr>
          <p:cNvPr id="17" name="">
            <a:extLst xmlns:a="http://schemas.openxmlformats.org/drawingml/2006/main">
              <a:ext uri="{FF2B5EF4-FFF2-40B4-BE49-F238E27FC236}">
                <a16:creationId xmlns:a16="http://schemas.microsoft.com/office/drawing/2014/main" id="{2BF3938B-B11F-42DA-8B78-D51353988E78}"/>
              </a:ext>
            </a:extLst>
          </p:cNvPr>
          <p:cNvSpPr>
            <a:spLocks xmlns:a="http://schemas.openxmlformats.org/drawingml/2006/main" noGrp="1"/>
          </p:cNvSpPr>
          <p:nvPr/>
        </p:nvSpPr>
        <p:spPr>
          <a:xfrm xmlns:a="http://schemas.openxmlformats.org/drawingml/2006/main">
            <a:off x="6762750" y="1123950"/>
            <a:ext cx="19050" cy="2476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197F84C-EA61-45ED-89D5-E95C48E81EB4}"/>
              </a:ext>
            </a:extLst>
          </p:cNvPr>
          <p:cNvSpPr>
            <a:spLocks xmlns:a="http://schemas.openxmlformats.org/drawingml/2006/main" noGrp="1"/>
          </p:cNvSpPr>
          <p:nvPr/>
        </p:nvSpPr>
        <p:spPr>
          <a:xfrm xmlns:a="http://schemas.openxmlformats.org/drawingml/2006/main">
            <a:off x="7143750" y="11239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3B4B"/>
                </a:solidFill>
                <a:latin typeface="Yu Gothic"/>
                <a:ea typeface="Yu Gothic"/>
                <a:cs typeface="Yu Gothic"/>
              </a:defRPr>
            </a:pPr>
            <a:r>
              <a:rPr sz="1875" b="1">
                <a:solidFill>
                  <a:srgbClr val="173B4B"/>
                </a:solidFill>
                <a:latin typeface="Yu Gothic"/>
                <a:ea typeface="Yu Gothic"/>
                <a:cs typeface="Yu Gothic"/>
              </a:rPr>
              <a:t>3本を平均して作る Qₖ,ᵣ</a:t>
            </a:r>
          </a:p>
        </p:txBody>
      </p:sp>
      <p:sp>
        <p:nvSpPr>
          <p:cNvPr id="19" name="">
            <a:extLst xmlns:a="http://schemas.openxmlformats.org/drawingml/2006/main">
              <a:ext uri="{FF2B5EF4-FFF2-40B4-BE49-F238E27FC236}">
                <a16:creationId xmlns:a16="http://schemas.microsoft.com/office/drawing/2014/main" id="{AC624443-0EBB-4F04-842C-A6178CE95303}"/>
              </a:ext>
            </a:extLst>
          </p:cNvPr>
          <p:cNvSpPr>
            <a:spLocks xmlns:a="http://schemas.openxmlformats.org/drawingml/2006/main" noGrp="1"/>
          </p:cNvSpPr>
          <p:nvPr/>
        </p:nvSpPr>
        <p:spPr>
          <a:xfrm xmlns:a="http://schemas.openxmlformats.org/drawingml/2006/main">
            <a:off x="73342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μᵖᵒˢᵗₖ,ᵣ</a:t>
            </a:r>
          </a:p>
        </p:txBody>
      </p:sp>
      <p:sp>
        <p:nvSpPr>
          <p:cNvPr id="20" name="">
            <a:extLst xmlns:a="http://schemas.openxmlformats.org/drawingml/2006/main">
              <a:ext uri="{FF2B5EF4-FFF2-40B4-BE49-F238E27FC236}">
                <a16:creationId xmlns:a16="http://schemas.microsoft.com/office/drawing/2014/main" id="{0B699B6E-69CB-4E05-9B6C-59821A577DD6}"/>
              </a:ext>
            </a:extLst>
          </p:cNvPr>
          <p:cNvSpPr>
            <a:spLocks xmlns:a="http://schemas.openxmlformats.org/drawingml/2006/main" noGrp="1"/>
          </p:cNvSpPr>
          <p:nvPr/>
        </p:nvSpPr>
        <p:spPr>
          <a:xfrm xmlns:a="http://schemas.openxmlformats.org/drawingml/2006/main">
            <a:off x="73342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0.724</a:t>
            </a:r>
          </a:p>
        </p:txBody>
      </p:sp>
      <p:sp>
        <p:nvSpPr>
          <p:cNvPr id="21" name="">
            <a:extLst xmlns:a="http://schemas.openxmlformats.org/drawingml/2006/main">
              <a:ext uri="{FF2B5EF4-FFF2-40B4-BE49-F238E27FC236}">
                <a16:creationId xmlns:a16="http://schemas.microsoft.com/office/drawing/2014/main" id="{FB1EE8E6-FE67-469A-83F8-A14DA7AC27E6}"/>
              </a:ext>
            </a:extLst>
          </p:cNvPr>
          <p:cNvSpPr>
            <a:spLocks xmlns:a="http://schemas.openxmlformats.org/drawingml/2006/main" noGrp="1"/>
          </p:cNvSpPr>
          <p:nvPr/>
        </p:nvSpPr>
        <p:spPr>
          <a:xfrm xmlns:a="http://schemas.openxmlformats.org/drawingml/2006/main">
            <a:off x="73342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学習後の危険確率</a:t>
            </a:r>
          </a:p>
        </p:txBody>
      </p:sp>
      <p:sp>
        <p:nvSpPr>
          <p:cNvPr id="22" name="">
            <a:extLst xmlns:a="http://schemas.openxmlformats.org/drawingml/2006/main">
              <a:ext uri="{FF2B5EF4-FFF2-40B4-BE49-F238E27FC236}">
                <a16:creationId xmlns:a16="http://schemas.microsoft.com/office/drawing/2014/main" id="{BB4ABD15-A95C-4A24-A552-5339A5293918}"/>
              </a:ext>
            </a:extLst>
          </p:cNvPr>
          <p:cNvSpPr>
            <a:spLocks xmlns:a="http://schemas.openxmlformats.org/drawingml/2006/main" noGrp="1"/>
          </p:cNvSpPr>
          <p:nvPr/>
        </p:nvSpPr>
        <p:spPr>
          <a:xfrm xmlns:a="http://schemas.openxmlformats.org/drawingml/2006/main">
            <a:off x="94297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Δμₖ,ᵣ</a:t>
            </a:r>
          </a:p>
        </p:txBody>
      </p:sp>
      <p:sp>
        <p:nvSpPr>
          <p:cNvPr id="23" name="">
            <a:extLst xmlns:a="http://schemas.openxmlformats.org/drawingml/2006/main">
              <a:ext uri="{FF2B5EF4-FFF2-40B4-BE49-F238E27FC236}">
                <a16:creationId xmlns:a16="http://schemas.microsoft.com/office/drawing/2014/main" id="{1DB3768C-A61D-4E4D-88DA-E227C9E30434}"/>
              </a:ext>
            </a:extLst>
          </p:cNvPr>
          <p:cNvSpPr>
            <a:spLocks xmlns:a="http://schemas.openxmlformats.org/drawingml/2006/main" noGrp="1"/>
          </p:cNvSpPr>
          <p:nvPr/>
        </p:nvSpPr>
        <p:spPr>
          <a:xfrm xmlns:a="http://schemas.openxmlformats.org/drawingml/2006/main">
            <a:off x="94297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+0.238</a:t>
            </a:r>
          </a:p>
        </p:txBody>
      </p:sp>
      <p:sp>
        <p:nvSpPr>
          <p:cNvPr id="24" name="">
            <a:extLst xmlns:a="http://schemas.openxmlformats.org/drawingml/2006/main">
              <a:ext uri="{FF2B5EF4-FFF2-40B4-BE49-F238E27FC236}">
                <a16:creationId xmlns:a16="http://schemas.microsoft.com/office/drawing/2014/main" id="{4B50AAA7-3972-4A19-B39B-873BDD84E9B6}"/>
              </a:ext>
            </a:extLst>
          </p:cNvPr>
          <p:cNvSpPr>
            <a:spLocks xmlns:a="http://schemas.openxmlformats.org/drawingml/2006/main" noGrp="1"/>
          </p:cNvSpPr>
          <p:nvPr/>
        </p:nvSpPr>
        <p:spPr>
          <a:xfrm xmlns:a="http://schemas.openxmlformats.org/drawingml/2006/main">
            <a:off x="94297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平均した変化量</a:t>
            </a:r>
          </a:p>
        </p:txBody>
      </p:sp>
      <p:sp>
        <p:nvSpPr>
          <p:cNvPr id="25" name="">
            <a:extLst xmlns:a="http://schemas.openxmlformats.org/drawingml/2006/main">
              <a:ext uri="{FF2B5EF4-FFF2-40B4-BE49-F238E27FC236}">
                <a16:creationId xmlns:a16="http://schemas.microsoft.com/office/drawing/2014/main" id="{1470369A-76D8-499D-AC4E-A2B1EC7BD3E0}"/>
              </a:ext>
            </a:extLst>
          </p:cNvPr>
          <p:cNvSpPr>
            <a:spLocks xmlns:a="http://schemas.openxmlformats.org/drawingml/2006/main" noGrp="1"/>
          </p:cNvSpPr>
          <p:nvPr/>
        </p:nvSpPr>
        <p:spPr>
          <a:xfrm xmlns:a="http://schemas.openxmlformats.org/drawingml/2006/main">
            <a:off x="7334250" y="308610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πₖ,ᵣ = 3　まとめた動画の本数</a:t>
            </a:r>
          </a:p>
        </p:txBody>
      </p:sp>
      <p:sp>
        <p:nvSpPr>
          <p:cNvPr id="26" name="">
            <a:extLst xmlns:a="http://schemas.openxmlformats.org/drawingml/2006/main">
              <a:ext uri="{FF2B5EF4-FFF2-40B4-BE49-F238E27FC236}">
                <a16:creationId xmlns:a16="http://schemas.microsoft.com/office/drawing/2014/main" id="{0AB6E6C7-1A62-4B6B-8FA0-D4A48EABEE05}"/>
              </a:ext>
            </a:extLst>
          </p:cNvPr>
          <p:cNvSpPr>
            <a:spLocks xmlns:a="http://schemas.openxmlformats.org/drawingml/2006/main" noGrp="1"/>
          </p:cNvSpPr>
          <p:nvPr/>
        </p:nvSpPr>
        <p:spPr>
          <a:xfrm xmlns:a="http://schemas.openxmlformats.org/drawingml/2006/main">
            <a:off x="7286625" y="3514725"/>
            <a:ext cx="390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k：現場側AI　　r：通常・危険の動画群</a:t>
            </a:r>
          </a:p>
        </p:txBody>
      </p:sp>
      <p:sp>
        <p:nvSpPr>
          <p:cNvPr id="27" name="">
            <a:extLst xmlns:a="http://schemas.openxmlformats.org/drawingml/2006/main">
              <a:ext uri="{FF2B5EF4-FFF2-40B4-BE49-F238E27FC236}">
                <a16:creationId xmlns:a16="http://schemas.microsoft.com/office/drawing/2014/main" id="{75422F0E-EF49-4006-984D-EFC882F6DB03}"/>
              </a:ext>
            </a:extLst>
          </p:cNvPr>
          <p:cNvSpPr>
            <a:spLocks xmlns:a="http://schemas.openxmlformats.org/drawingml/2006/main" noGrp="1"/>
          </p:cNvSpPr>
          <p:nvPr/>
        </p:nvSpPr>
        <p:spPr>
          <a:xfrm xmlns:a="http://schemas.openxmlformats.org/drawingml/2006/main">
            <a:off x="609600" y="3810000"/>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1A5FA4A-3442-463F-B900-92FDE9A03A2C}"/>
              </a:ext>
            </a:extLst>
          </p:cNvPr>
          <p:cNvSpPr>
            <a:spLocks xmlns:a="http://schemas.openxmlformats.org/drawingml/2006/main" noGrp="1"/>
          </p:cNvSpPr>
          <p:nvPr/>
        </p:nvSpPr>
        <p:spPr>
          <a:xfrm xmlns:a="http://schemas.openxmlformats.org/drawingml/2006/main">
            <a:off x="857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中央側へ送る</a:t>
            </a:r>
          </a:p>
        </p:txBody>
      </p:sp>
      <p:sp>
        <p:nvSpPr>
          <p:cNvPr id="29" name="">
            <a:extLst xmlns:a="http://schemas.openxmlformats.org/drawingml/2006/main">
              <a:ext uri="{FF2B5EF4-FFF2-40B4-BE49-F238E27FC236}">
                <a16:creationId xmlns:a16="http://schemas.microsoft.com/office/drawing/2014/main" id="{22119423-1346-4AF6-9D15-1E71C8049927}"/>
              </a:ext>
            </a:extLst>
          </p:cNvPr>
          <p:cNvSpPr>
            <a:spLocks xmlns:a="http://schemas.openxmlformats.org/drawingml/2006/main" noGrp="1"/>
          </p:cNvSpPr>
          <p:nvPr/>
        </p:nvSpPr>
        <p:spPr>
          <a:xfrm xmlns:a="http://schemas.openxmlformats.org/drawingml/2006/main">
            <a:off x="876300" y="4619625"/>
            <a:ext cx="2857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小型AIの更新情報</a:t>
            </a:r>
          </a:p>
        </p:txBody>
      </p:sp>
      <p:sp>
        <p:nvSpPr>
          <p:cNvPr id="30" name="">
            <a:extLst xmlns:a="http://schemas.openxmlformats.org/drawingml/2006/main">
              <a:ext uri="{FF2B5EF4-FFF2-40B4-BE49-F238E27FC236}">
                <a16:creationId xmlns:a16="http://schemas.microsoft.com/office/drawing/2014/main" id="{FAD4F0CD-3F9B-4872-A01B-8B2854A1A6C7}"/>
              </a:ext>
            </a:extLst>
          </p:cNvPr>
          <p:cNvSpPr>
            <a:spLocks xmlns:a="http://schemas.openxmlformats.org/drawingml/2006/main" noGrp="1"/>
          </p:cNvSpPr>
          <p:nvPr/>
        </p:nvSpPr>
        <p:spPr>
          <a:xfrm xmlns:a="http://schemas.openxmlformats.org/drawingml/2006/main">
            <a:off x="4000500" y="4619625"/>
            <a:ext cx="4667250" cy="4572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Qₖ,ᵣ = ( μᵖᵒˢᵗₖ,ᵣ,  Δμₖ,ᵣ,  πₖ,ᵣ )</a:t>
            </a:r>
          </a:p>
        </p:txBody>
      </p:sp>
      <p:sp>
        <p:nvSpPr>
          <p:cNvPr id="31" name="">
            <a:extLst xmlns:a="http://schemas.openxmlformats.org/drawingml/2006/main">
              <a:ext uri="{FF2B5EF4-FFF2-40B4-BE49-F238E27FC236}">
                <a16:creationId xmlns:a16="http://schemas.microsoft.com/office/drawing/2014/main" id="{CACDE087-08D1-4E9C-A306-76CEEC643F15}"/>
              </a:ext>
            </a:extLst>
          </p:cNvPr>
          <p:cNvSpPr>
            <a:spLocks xmlns:a="http://schemas.openxmlformats.org/drawingml/2006/main" noGrp="1"/>
          </p:cNvSpPr>
          <p:nvPr/>
        </p:nvSpPr>
        <p:spPr>
          <a:xfrm xmlns:a="http://schemas.openxmlformats.org/drawingml/2006/main">
            <a:off x="8858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A3A"/>
                </a:solidFill>
                <a:latin typeface="Yu Gothic"/>
                <a:ea typeface="Yu Gothic"/>
                <a:cs typeface="Yu Gothic"/>
              </a:defRPr>
            </a:pPr>
            <a:r>
              <a:rPr sz="1650" b="1">
                <a:solidFill>
                  <a:srgbClr val="B94A3A"/>
                </a:solidFill>
                <a:latin typeface="Yu Gothic"/>
                <a:ea typeface="Yu Gothic"/>
                <a:cs typeface="Yu Gothic"/>
              </a:rPr>
              <a:t>中央側へ送らない</a:t>
            </a:r>
          </a:p>
        </p:txBody>
      </p:sp>
      <p:sp>
        <p:nvSpPr>
          <p:cNvPr id="32" name="">
            <a:extLst xmlns:a="http://schemas.openxmlformats.org/drawingml/2006/main">
              <a:ext uri="{FF2B5EF4-FFF2-40B4-BE49-F238E27FC236}">
                <a16:creationId xmlns:a16="http://schemas.microsoft.com/office/drawing/2014/main" id="{8DB4109A-1491-4C75-BC3F-0CA01C86EFC1}"/>
              </a:ext>
            </a:extLst>
          </p:cNvPr>
          <p:cNvSpPr>
            <a:spLocks xmlns:a="http://schemas.openxmlformats.org/drawingml/2006/main" noGrp="1"/>
          </p:cNvSpPr>
          <p:nvPr/>
        </p:nvSpPr>
        <p:spPr>
          <a:xfrm xmlns:a="http://schemas.openxmlformats.org/drawingml/2006/main">
            <a:off x="8858250" y="4619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B94A3A"/>
                </a:solidFill>
                <a:latin typeface="Yu Gothic"/>
                <a:ea typeface="Yu Gothic"/>
                <a:cs typeface="Yu Gothic"/>
              </a:defRPr>
            </a:pPr>
            <a:r>
              <a:rPr sz="1500" b="1">
                <a:solidFill>
                  <a:srgbClr val="B94A3A"/>
                </a:solidFill>
                <a:latin typeface="Yu Gothic"/>
                <a:ea typeface="Yu Gothic"/>
                <a:cs typeface="Yu Gothic"/>
              </a:rPr>
              <a:t>元動画・画像・動画ごとの識別情報</a:t>
            </a:r>
          </a:p>
        </p:txBody>
      </p:sp>
      <p:sp>
        <p:nvSpPr>
          <p:cNvPr id="33" name="">
            <a:extLst xmlns:a="http://schemas.openxmlformats.org/drawingml/2006/main">
              <a:ext uri="{FF2B5EF4-FFF2-40B4-BE49-F238E27FC236}">
                <a16:creationId xmlns:a16="http://schemas.microsoft.com/office/drawing/2014/main" id="{0E5C345D-EC8E-43AA-A827-D8E8B49865D5}"/>
              </a:ext>
            </a:extLst>
          </p:cNvPr>
          <p:cNvSpPr>
            <a:spLocks xmlns:a="http://schemas.openxmlformats.org/drawingml/2006/main" noGrp="1"/>
          </p:cNvSpPr>
          <p:nvPr/>
        </p:nvSpPr>
        <p:spPr>
          <a:xfrm xmlns:a="http://schemas.openxmlformats.org/drawingml/2006/main">
            <a:off x="952500" y="55911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小型AIの更新は連合平均へ、Qₖ,ᵣは代理データ生成へ。Qₖ,ᵣ自体は平均しない。</a:t>
            </a:r>
          </a:p>
        </p:txBody>
      </p:sp>
    </p:spTree>
    <p:extLst>
      <p:ext uri="{BB962C8B-B14F-4D97-AF65-F5344CB8AC3E}">
        <p14:creationId xmlns:p14="http://schemas.microsoft.com/office/powerpoint/2010/main" val="12086289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3F97000-5B55-41E1-A1C4-144698E16C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7E1910-C986-4C89-B7F8-0936CDCD677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FB875E-8562-4415-8EB8-DCC456DD8F39}"/>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中央側の動画から、代理データを選ぶ</a:t>
            </a:r>
          </a:p>
        </p:txBody>
      </p:sp>
      <p:sp>
        <p:nvSpPr>
          <p:cNvPr id="4" name="">
            <a:extLst xmlns:a="http://schemas.openxmlformats.org/drawingml/2006/main">
              <a:ext uri="{FF2B5EF4-FFF2-40B4-BE49-F238E27FC236}">
                <a16:creationId xmlns:a16="http://schemas.microsoft.com/office/drawing/2014/main" id="{396368AC-39E9-476F-8D0C-75C56BCA4E90}"/>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29E8BE28-D897-4E5F-9CCB-FE37B6E12F8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0F365AB-C3C5-45C2-A153-398DD5AF2242}"/>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8A1D4312-94C9-47AF-95D5-42F2F139E1AC}"/>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8</a:t>
            </a:r>
          </a:p>
        </p:txBody>
      </p:sp>
      <p:sp>
        <p:nvSpPr>
          <p:cNvPr id="8" name="">
            <a:extLst xmlns:a="http://schemas.openxmlformats.org/drawingml/2006/main">
              <a:ext uri="{FF2B5EF4-FFF2-40B4-BE49-F238E27FC236}">
                <a16:creationId xmlns:a16="http://schemas.microsoft.com/office/drawing/2014/main" id="{15F5B255-4B4A-42A2-98C1-94690A4BA139}"/>
              </a:ext>
            </a:extLst>
          </p:cNvPr>
          <p:cNvSpPr>
            <a:spLocks xmlns:a="http://schemas.openxmlformats.org/drawingml/2006/main" noGrp="1"/>
          </p:cNvSpPr>
          <p:nvPr/>
        </p:nvSpPr>
        <p:spPr>
          <a:xfrm xmlns:a="http://schemas.openxmlformats.org/drawingml/2006/main">
            <a:off x="609600" y="1066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17078"/>
                </a:solidFill>
                <a:latin typeface="Yu Gothic"/>
                <a:ea typeface="Yu Gothic"/>
                <a:cs typeface="Yu Gothic"/>
              </a:defRPr>
            </a:pPr>
            <a:r>
              <a:rPr sz="1425" b="1">
                <a:solidFill>
                  <a:srgbClr val="617078"/>
                </a:solidFill>
                <a:latin typeface="Yu Gothic"/>
                <a:ea typeface="Yu Gothic"/>
                <a:cs typeface="Yu Gothic"/>
              </a:rPr>
              <a:t>入力</a:t>
            </a:r>
          </a:p>
        </p:txBody>
      </p:sp>
      <p:sp>
        <p:nvSpPr>
          <p:cNvPr id="9" name="">
            <a:extLst xmlns:a="http://schemas.openxmlformats.org/drawingml/2006/main">
              <a:ext uri="{FF2B5EF4-FFF2-40B4-BE49-F238E27FC236}">
                <a16:creationId xmlns:a16="http://schemas.microsoft.com/office/drawing/2014/main" id="{772A0BE3-8A58-4415-B0C2-3AA8EAD52ACC}"/>
              </a:ext>
            </a:extLst>
          </p:cNvPr>
          <p:cNvSpPr>
            <a:spLocks xmlns:a="http://schemas.openxmlformats.org/drawingml/2006/main" noGrp="1"/>
          </p:cNvSpPr>
          <p:nvPr/>
        </p:nvSpPr>
        <p:spPr>
          <a:xfrm xmlns:a="http://schemas.openxmlformats.org/drawingml/2006/main">
            <a:off x="628650" y="1457325"/>
            <a:ext cx="1714500" cy="51435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73B4B"/>
                </a:solidFill>
                <a:latin typeface="Yu Gothic"/>
                <a:ea typeface="Yu Gothic"/>
                <a:cs typeface="Yu Gothic"/>
              </a:defRPr>
            </a:pPr>
            <a:r>
              <a:rPr sz="2025" b="1">
                <a:solidFill>
                  <a:srgbClr val="173B4B"/>
                </a:solidFill>
                <a:latin typeface="Yu Gothic"/>
                <a:ea typeface="Yu Gothic"/>
                <a:cs typeface="Yu Gothic"/>
              </a:rPr>
              <a:t>Qₖ,ᵣ</a:t>
            </a:r>
          </a:p>
        </p:txBody>
      </p:sp>
      <p:sp>
        <p:nvSpPr>
          <p:cNvPr id="10" name="">
            <a:extLst xmlns:a="http://schemas.openxmlformats.org/drawingml/2006/main">
              <a:ext uri="{FF2B5EF4-FFF2-40B4-BE49-F238E27FC236}">
                <a16:creationId xmlns:a16="http://schemas.microsoft.com/office/drawing/2014/main" id="{1FE2AD99-651C-4861-86A6-DC6365A3B437}"/>
              </a:ext>
            </a:extLst>
          </p:cNvPr>
          <p:cNvSpPr>
            <a:spLocks xmlns:a="http://schemas.openxmlformats.org/drawingml/2006/main" noGrp="1"/>
          </p:cNvSpPr>
          <p:nvPr/>
        </p:nvSpPr>
        <p:spPr>
          <a:xfrm xmlns:a="http://schemas.openxmlformats.org/drawingml/2006/main">
            <a:off x="628650" y="20955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危険 0.724</a:t>
            </a:r>
          </a:p>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変化 +0.238</a:t>
            </a:r>
          </a:p>
        </p:txBody>
      </p:sp>
      <p:sp>
        <p:nvSpPr>
          <p:cNvPr id="11" name="">
            <a:extLst xmlns:a="http://schemas.openxmlformats.org/drawingml/2006/main">
              <a:ext uri="{FF2B5EF4-FFF2-40B4-BE49-F238E27FC236}">
                <a16:creationId xmlns:a16="http://schemas.microsoft.com/office/drawing/2014/main" id="{3F514947-CF94-4153-BFB5-85670928338B}"/>
              </a:ext>
            </a:extLst>
          </p:cNvPr>
          <p:cNvSpPr>
            <a:spLocks xmlns:a="http://schemas.openxmlformats.org/drawingml/2006/main" noGrp="1"/>
          </p:cNvSpPr>
          <p:nvPr/>
        </p:nvSpPr>
        <p:spPr>
          <a:xfrm xmlns:a="http://schemas.openxmlformats.org/drawingml/2006/main">
            <a:off x="2562225"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E42E613-2A4A-4F47-BDCC-841512F9001A}"/>
              </a:ext>
            </a:extLst>
          </p:cNvPr>
          <p:cNvSpPr>
            <a:spLocks xmlns:a="http://schemas.openxmlformats.org/drawingml/2006/main" noGrp="1"/>
          </p:cNvSpPr>
          <p:nvPr/>
        </p:nvSpPr>
        <p:spPr>
          <a:xfrm xmlns:a="http://schemas.openxmlformats.org/drawingml/2006/main">
            <a:off x="3219450" y="11715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中央側の候補動画 60本</a:t>
            </a:r>
          </a:p>
        </p:txBody>
      </p:sp>
      <p:sp>
        <p:nvSpPr>
          <p:cNvPr id="13" name="">
            <a:extLst xmlns:a="http://schemas.openxmlformats.org/drawingml/2006/main">
              <a:ext uri="{FF2B5EF4-FFF2-40B4-BE49-F238E27FC236}">
                <a16:creationId xmlns:a16="http://schemas.microsoft.com/office/drawing/2014/main" id="{DD4089B3-6B36-443C-8B1A-180FA6E67D57}"/>
              </a:ext>
            </a:extLst>
          </p:cNvPr>
          <p:cNvSpPr>
            <a:spLocks xmlns:a="http://schemas.openxmlformats.org/drawingml/2006/main" noGrp="1"/>
          </p:cNvSpPr>
          <p:nvPr/>
        </p:nvSpPr>
        <p:spPr>
          <a:xfrm xmlns:a="http://schemas.openxmlformats.org/drawingml/2006/main">
            <a:off x="3219450" y="1543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通常30本　危険30本</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c8ba8458c07c4de8"/>
          <a:srcRect xmlns:a="http://schemas.openxmlformats.org/drawingml/2006/main" l="68" t="0" r="68" b="0"/>
          <a:stretch xmlns:a="http://schemas.openxmlformats.org/drawingml/2006/main">
            <a:fillRect l="0" t="0" r="0" b="0"/>
          </a:stretch>
        </p:blipFill>
        <p:spPr>
          <a:xfrm xmlns:a="http://schemas.openxmlformats.org/drawingml/2006/main">
            <a:off x="3295650" y="1981200"/>
            <a:ext cx="2333625" cy="13144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3FBFF94-CCAA-4C2F-B353-293047D3F6B0}"/>
              </a:ext>
            </a:extLst>
          </p:cNvPr>
          <p:cNvSpPr>
            <a:spLocks xmlns:a="http://schemas.openxmlformats.org/drawingml/2006/main" noGrp="1"/>
          </p:cNvSpPr>
          <p:nvPr/>
        </p:nvSpPr>
        <p:spPr>
          <a:xfrm xmlns:a="http://schemas.openxmlformats.org/drawingml/2006/main">
            <a:off x="3295650" y="33813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検索1位：正解ラベルは通常</a:t>
            </a:r>
          </a:p>
        </p:txBody>
      </p:sp>
      <p:sp>
        <p:nvSpPr>
          <p:cNvPr id="16" name="">
            <a:extLst xmlns:a="http://schemas.openxmlformats.org/drawingml/2006/main">
              <a:ext uri="{FF2B5EF4-FFF2-40B4-BE49-F238E27FC236}">
                <a16:creationId xmlns:a16="http://schemas.microsoft.com/office/drawing/2014/main" id="{E6803B6E-6192-4FA2-840D-CB6D3104AAA4}"/>
              </a:ext>
            </a:extLst>
          </p:cNvPr>
          <p:cNvSpPr>
            <a:spLocks xmlns:a="http://schemas.openxmlformats.org/drawingml/2006/main" noGrp="1"/>
          </p:cNvSpPr>
          <p:nvPr/>
        </p:nvSpPr>
        <p:spPr>
          <a:xfrm xmlns:a="http://schemas.openxmlformats.org/drawingml/2006/main">
            <a:off x="5848350"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D1EC4E5-9C28-4C41-AFB6-25BFABD8F60E}"/>
              </a:ext>
            </a:extLst>
          </p:cNvPr>
          <p:cNvSpPr>
            <a:spLocks xmlns:a="http://schemas.openxmlformats.org/drawingml/2006/main" noGrp="1"/>
          </p:cNvSpPr>
          <p:nvPr/>
        </p:nvSpPr>
        <p:spPr>
          <a:xfrm xmlns:a="http://schemas.openxmlformats.org/drawingml/2006/main">
            <a:off x="6515100" y="1171575"/>
            <a:ext cx="481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上位3本を5通りに変換</a:t>
            </a:r>
          </a:p>
        </p:txBody>
      </p:sp>
      <p:sp>
        <p:nvSpPr>
          <p:cNvPr id="18" name="">
            <a:extLst xmlns:a="http://schemas.openxmlformats.org/drawingml/2006/main">
              <a:ext uri="{FF2B5EF4-FFF2-40B4-BE49-F238E27FC236}">
                <a16:creationId xmlns:a16="http://schemas.microsoft.com/office/drawing/2014/main" id="{04109215-A88D-47FA-873F-1EAFBDBB0503}"/>
              </a:ext>
            </a:extLst>
          </p:cNvPr>
          <p:cNvSpPr>
            <a:spLocks xmlns:a="http://schemas.openxmlformats.org/drawingml/2006/main" noGrp="1"/>
          </p:cNvSpPr>
          <p:nvPr/>
        </p:nvSpPr>
        <p:spPr>
          <a:xfrm xmlns:a="http://schemas.openxmlformats.org/drawingml/2006/main">
            <a:off x="6515100" y="15430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1つのQにつき15候補　4つのQで合計60候補</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9fd7c00870644c68"/>
          <a:srcRect xmlns:a="http://schemas.openxmlformats.org/drawingml/2006/main" l="10156" t="0" r="10156" b="0"/>
          <a:stretch xmlns:a="http://schemas.openxmlformats.org/drawingml/2006/main">
            <a:fillRect l="0" t="0" r="0" b="0"/>
          </a:stretch>
        </p:blipFill>
        <p:spPr>
          <a:xfrm xmlns:a="http://schemas.openxmlformats.org/drawingml/2006/main">
            <a:off x="6353175" y="1981200"/>
            <a:ext cx="971550" cy="685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0B61CFAB-9705-4E3B-B042-046C23A77750}"/>
              </a:ext>
            </a:extLst>
          </p:cNvPr>
          <p:cNvSpPr>
            <a:spLocks xmlns:a="http://schemas.openxmlformats.org/drawingml/2006/main" noGrp="1"/>
          </p:cNvSpPr>
          <p:nvPr/>
        </p:nvSpPr>
        <p:spPr>
          <a:xfrm xmlns:a="http://schemas.openxmlformats.org/drawingml/2006/main">
            <a:off x="6324600" y="1952625"/>
            <a:ext cx="1028700" cy="742950"/>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21" name="">
            <a:extLst xmlns:a="http://schemas.openxmlformats.org/drawingml/2006/main">
              <a:ext uri="{FF2B5EF4-FFF2-40B4-BE49-F238E27FC236}">
                <a16:creationId xmlns:a16="http://schemas.microsoft.com/office/drawing/2014/main" id="{32875FA9-5063-439A-AD5A-03FD7C75AE21}"/>
              </a:ext>
            </a:extLst>
          </p:cNvPr>
          <p:cNvSpPr>
            <a:spLocks xmlns:a="http://schemas.openxmlformats.org/drawingml/2006/main" noGrp="1"/>
          </p:cNvSpPr>
          <p:nvPr/>
        </p:nvSpPr>
        <p:spPr>
          <a:xfrm xmlns:a="http://schemas.openxmlformats.org/drawingml/2006/main">
            <a:off x="63150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7833D"/>
                </a:solidFill>
                <a:latin typeface="Yu Gothic"/>
                <a:ea typeface="Yu Gothic"/>
                <a:cs typeface="Yu Gothic"/>
              </a:defRPr>
            </a:pPr>
            <a:r>
              <a:rPr sz="1050" b="1">
                <a:solidFill>
                  <a:srgbClr val="E7833D"/>
                </a:solidFill>
                <a:latin typeface="Yu Gothic"/>
                <a:ea typeface="Yu Gothic"/>
                <a:cs typeface="Yu Gothic"/>
              </a:rPr>
              <a:t>変更なし</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7821b3ed3e634a8a"/>
          <a:srcRect xmlns:a="http://schemas.openxmlformats.org/drawingml/2006/main" l="10156" t="0" r="10156" b="0"/>
          <a:stretch xmlns:a="http://schemas.openxmlformats.org/drawingml/2006/main">
            <a:fillRect l="0" t="0" r="0" b="0"/>
          </a:stretch>
        </p:blipFill>
        <p:spPr>
          <a:xfrm xmlns:a="http://schemas.openxmlformats.org/drawingml/2006/main">
            <a:off x="7410450" y="1981200"/>
            <a:ext cx="971550" cy="6858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81503F04-3786-460B-BC26-A071E4A42B04}"/>
              </a:ext>
            </a:extLst>
          </p:cNvPr>
          <p:cNvSpPr>
            <a:spLocks xmlns:a="http://schemas.openxmlformats.org/drawingml/2006/main" noGrp="1"/>
          </p:cNvSpPr>
          <p:nvPr/>
        </p:nvSpPr>
        <p:spPr>
          <a:xfrm xmlns:a="http://schemas.openxmlformats.org/drawingml/2006/main">
            <a:off x="737235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暗くする</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45f6770144f3444d"/>
          <a:srcRect xmlns:a="http://schemas.openxmlformats.org/drawingml/2006/main" l="10156" t="0" r="10156" b="0"/>
          <a:stretch xmlns:a="http://schemas.openxmlformats.org/drawingml/2006/main">
            <a:fillRect l="0" t="0" r="0" b="0"/>
          </a:stretch>
        </p:blipFill>
        <p:spPr>
          <a:xfrm xmlns:a="http://schemas.openxmlformats.org/drawingml/2006/main">
            <a:off x="8467725" y="1981200"/>
            <a:ext cx="971550" cy="685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3C9780F5-F726-40B8-ABBB-4C518F259756}"/>
              </a:ext>
            </a:extLst>
          </p:cNvPr>
          <p:cNvSpPr>
            <a:spLocks xmlns:a="http://schemas.openxmlformats.org/drawingml/2006/main" noGrp="1"/>
          </p:cNvSpPr>
          <p:nvPr/>
        </p:nvSpPr>
        <p:spPr>
          <a:xfrm xmlns:a="http://schemas.openxmlformats.org/drawingml/2006/main">
            <a:off x="842962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明るくする</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a42cbb51aa954155"/>
          <a:srcRect xmlns:a="http://schemas.openxmlformats.org/drawingml/2006/main" l="10156" t="0" r="10156" b="0"/>
          <a:stretch xmlns:a="http://schemas.openxmlformats.org/drawingml/2006/main">
            <a:fillRect l="0" t="0" r="0" b="0"/>
          </a:stretch>
        </p:blipFill>
        <p:spPr>
          <a:xfrm xmlns:a="http://schemas.openxmlformats.org/drawingml/2006/main">
            <a:off x="9525000" y="1981200"/>
            <a:ext cx="971550" cy="685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F53DA56C-8A2D-42C0-ACF4-40586402AAB5}"/>
              </a:ext>
            </a:extLst>
          </p:cNvPr>
          <p:cNvSpPr>
            <a:spLocks xmlns:a="http://schemas.openxmlformats.org/drawingml/2006/main" noGrp="1"/>
          </p:cNvSpPr>
          <p:nvPr/>
        </p:nvSpPr>
        <p:spPr>
          <a:xfrm xmlns:a="http://schemas.openxmlformats.org/drawingml/2006/main">
            <a:off x="948690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コントラスト</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7f44093ea73d40a0"/>
          <a:srcRect xmlns:a="http://schemas.openxmlformats.org/drawingml/2006/main" l="10156" t="0" r="10156" b="0"/>
          <a:stretch xmlns:a="http://schemas.openxmlformats.org/drawingml/2006/main">
            <a:fillRect l="0" t="0" r="0" b="0"/>
          </a:stretch>
        </p:blipFill>
        <p:spPr>
          <a:xfrm xmlns:a="http://schemas.openxmlformats.org/drawingml/2006/main">
            <a:off x="10582275" y="1981200"/>
            <a:ext cx="971550" cy="6858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982F1961-A21F-4AD3-AADF-626FCE715ED2}"/>
              </a:ext>
            </a:extLst>
          </p:cNvPr>
          <p:cNvSpPr>
            <a:spLocks xmlns:a="http://schemas.openxmlformats.org/drawingml/2006/main" noGrp="1"/>
          </p:cNvSpPr>
          <p:nvPr/>
        </p:nvSpPr>
        <p:spPr>
          <a:xfrm xmlns:a="http://schemas.openxmlformats.org/drawingml/2006/main">
            <a:off x="105441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中央を切り出す</a:t>
            </a:r>
          </a:p>
        </p:txBody>
      </p:sp>
      <p:sp>
        <p:nvSpPr>
          <p:cNvPr id="30" name="">
            <a:extLst xmlns:a="http://schemas.openxmlformats.org/drawingml/2006/main">
              <a:ext uri="{FF2B5EF4-FFF2-40B4-BE49-F238E27FC236}">
                <a16:creationId xmlns:a16="http://schemas.microsoft.com/office/drawing/2014/main" id="{CA3F00D7-A794-44BB-8CE8-C8D688A34454}"/>
              </a:ext>
            </a:extLst>
          </p:cNvPr>
          <p:cNvSpPr>
            <a:spLocks xmlns:a="http://schemas.openxmlformats.org/drawingml/2006/main" noGrp="1"/>
          </p:cNvSpPr>
          <p:nvPr/>
        </p:nvSpPr>
        <p:spPr>
          <a:xfrm xmlns:a="http://schemas.openxmlformats.org/drawingml/2006/main">
            <a:off x="609600" y="3838575"/>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51A52B0-BE92-4B76-83AB-5DBE7ACEFCAA}"/>
              </a:ext>
            </a:extLst>
          </p:cNvPr>
          <p:cNvSpPr>
            <a:spLocks xmlns:a="http://schemas.openxmlformats.org/drawingml/2006/main" noGrp="1"/>
          </p:cNvSpPr>
          <p:nvPr/>
        </p:nvSpPr>
        <p:spPr>
          <a:xfrm xmlns:a="http://schemas.openxmlformats.org/drawingml/2006/main">
            <a:off x="666750" y="40957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選択基準</a:t>
            </a:r>
          </a:p>
        </p:txBody>
      </p:sp>
      <p:sp>
        <p:nvSpPr>
          <p:cNvPr id="32" name="">
            <a:extLst xmlns:a="http://schemas.openxmlformats.org/drawingml/2006/main">
              <a:ext uri="{FF2B5EF4-FFF2-40B4-BE49-F238E27FC236}">
                <a16:creationId xmlns:a16="http://schemas.microsoft.com/office/drawing/2014/main" id="{079507BC-6AC6-4B6F-8663-541731921FBF}"/>
              </a:ext>
            </a:extLst>
          </p:cNvPr>
          <p:cNvSpPr>
            <a:spLocks xmlns:a="http://schemas.openxmlformats.org/drawingml/2006/main" noGrp="1"/>
          </p:cNvSpPr>
          <p:nvPr/>
        </p:nvSpPr>
        <p:spPr>
          <a:xfrm xmlns:a="http://schemas.openxmlformats.org/drawingml/2006/main">
            <a:off x="762000" y="4552950"/>
            <a:ext cx="333375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① 学習後の判定が 0.724 に近い</a:t>
            </a:r>
          </a:p>
        </p:txBody>
      </p:sp>
      <p:sp>
        <p:nvSpPr>
          <p:cNvPr id="33" name="">
            <a:extLst xmlns:a="http://schemas.openxmlformats.org/drawingml/2006/main">
              <a:ext uri="{FF2B5EF4-FFF2-40B4-BE49-F238E27FC236}">
                <a16:creationId xmlns:a16="http://schemas.microsoft.com/office/drawing/2014/main" id="{EEB66FE7-5FDA-4CF8-9CF2-53851A99B2D1}"/>
              </a:ext>
            </a:extLst>
          </p:cNvPr>
          <p:cNvSpPr>
            <a:spLocks xmlns:a="http://schemas.openxmlformats.org/drawingml/2006/main" noGrp="1"/>
          </p:cNvSpPr>
          <p:nvPr/>
        </p:nvSpPr>
        <p:spPr>
          <a:xfrm xmlns:a="http://schemas.openxmlformats.org/drawingml/2006/main">
            <a:off x="4400550" y="4552950"/>
            <a:ext cx="4000500" cy="4572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② 連合平均前後の変化が +0.238 に近い</a:t>
            </a:r>
          </a:p>
        </p:txBody>
      </p:sp>
      <p:sp>
        <p:nvSpPr>
          <p:cNvPr id="34" name="">
            <a:extLst xmlns:a="http://schemas.openxmlformats.org/drawingml/2006/main">
              <a:ext uri="{FF2B5EF4-FFF2-40B4-BE49-F238E27FC236}">
                <a16:creationId xmlns:a16="http://schemas.microsoft.com/office/drawing/2014/main" id="{4F4527E2-651B-40D6-AB7A-7907F72E2193}"/>
              </a:ext>
            </a:extLst>
          </p:cNvPr>
          <p:cNvSpPr>
            <a:spLocks xmlns:a="http://schemas.openxmlformats.org/drawingml/2006/main" noGrp="1"/>
          </p:cNvSpPr>
          <p:nvPr/>
        </p:nvSpPr>
        <p:spPr>
          <a:xfrm xmlns:a="http://schemas.openxmlformats.org/drawingml/2006/main">
            <a:off x="8591550" y="4772025"/>
            <a:ext cx="428625"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1C45087-8A81-418A-8AAA-791225A67F31}"/>
              </a:ext>
            </a:extLst>
          </p:cNvPr>
          <p:cNvSpPr>
            <a:spLocks xmlns:a="http://schemas.openxmlformats.org/drawingml/2006/main" noGrp="1"/>
          </p:cNvSpPr>
          <p:nvPr/>
        </p:nvSpPr>
        <p:spPr>
          <a:xfrm xmlns:a="http://schemas.openxmlformats.org/drawingml/2006/main">
            <a:off x="9201150" y="4343400"/>
            <a:ext cx="2266950" cy="8763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Pₖ,ᵣ = ( x̃ₖ,ᵣ,</a:t>
            </a:r>
          </a:p>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μᵖᵒˢᵗₖ,ᵣ )</a:t>
            </a:r>
          </a:p>
        </p:txBody>
      </p:sp>
      <p:sp>
        <p:nvSpPr>
          <p:cNvPr id="36" name="">
            <a:extLst xmlns:a="http://schemas.openxmlformats.org/drawingml/2006/main">
              <a:ext uri="{FF2B5EF4-FFF2-40B4-BE49-F238E27FC236}">
                <a16:creationId xmlns:a16="http://schemas.microsoft.com/office/drawing/2014/main" id="{C6835081-44D7-48EC-A21A-2D066AD40A9F}"/>
              </a:ext>
            </a:extLst>
          </p:cNvPr>
          <p:cNvSpPr>
            <a:spLocks xmlns:a="http://schemas.openxmlformats.org/drawingml/2006/main" noGrp="1"/>
          </p:cNvSpPr>
          <p:nvPr/>
        </p:nvSpPr>
        <p:spPr>
          <a:xfrm xmlns:a="http://schemas.openxmlformats.org/drawingml/2006/main">
            <a:off x="9201150" y="52863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x̃ₖ,ᵣ：選ばれた変換後動画</a:t>
            </a:r>
          </a:p>
        </p:txBody>
      </p:sp>
      <p:sp>
        <p:nvSpPr>
          <p:cNvPr id="37" name="">
            <a:extLst xmlns:a="http://schemas.openxmlformats.org/drawingml/2006/main">
              <a:ext uri="{FF2B5EF4-FFF2-40B4-BE49-F238E27FC236}">
                <a16:creationId xmlns:a16="http://schemas.microsoft.com/office/drawing/2014/main" id="{609CAE0E-3348-4371-A457-818A6952573F}"/>
              </a:ext>
            </a:extLst>
          </p:cNvPr>
          <p:cNvSpPr>
            <a:spLocks xmlns:a="http://schemas.openxmlformats.org/drawingml/2006/main" noGrp="1"/>
          </p:cNvSpPr>
          <p:nvPr/>
        </p:nvSpPr>
        <p:spPr>
          <a:xfrm xmlns:a="http://schemas.openxmlformats.org/drawingml/2006/main">
            <a:off x="1047750" y="57150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変化量は候補選択に使い、πₖ,ᵣは学習時の重みに使う。教師値は学習後の判定 0.724</a:t>
            </a:r>
          </a:p>
        </p:txBody>
      </p:sp>
      <p:sp>
        <p:nvSpPr>
          <p:cNvPr id="38" name="">
            <a:extLst xmlns:a="http://schemas.openxmlformats.org/drawingml/2006/main">
              <a:ext uri="{FF2B5EF4-FFF2-40B4-BE49-F238E27FC236}">
                <a16:creationId xmlns:a16="http://schemas.microsoft.com/office/drawing/2014/main" id="{6B82CE35-ECA5-4665-8FD0-26B9C34C2C0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211767578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599DB40-E567-44C0-8674-69413E514E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880DF9-2571-4D14-AA76-5277052608C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6A413B3-555A-4140-8D93-A3488165CFE4}"/>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FedPACT全体フローと今回の実験位置</a:t>
            </a:r>
          </a:p>
        </p:txBody>
      </p:sp>
      <p:sp>
        <p:nvSpPr>
          <p:cNvPr id="4" name="">
            <a:extLst xmlns:a="http://schemas.openxmlformats.org/drawingml/2006/main">
              <a:ext uri="{FF2B5EF4-FFF2-40B4-BE49-F238E27FC236}">
                <a16:creationId xmlns:a16="http://schemas.microsoft.com/office/drawing/2014/main" id="{4EBBB81A-E439-4B3E-8F00-41E3CEEFDD86}"/>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FC535DDC-7862-4FC5-992A-A9EE76F8D519}"/>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F13BD1-67B1-4163-9654-D39BDDD8A0E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94206295-4B62-4CF8-B5C4-575A6CE4DDA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8</a:t>
            </a:r>
          </a:p>
        </p:txBody>
      </p:sp>
      <p:sp>
        <p:nvSpPr>
          <p:cNvPr id="8" name="">
            <a:extLst xmlns:a="http://schemas.openxmlformats.org/drawingml/2006/main">
              <a:ext uri="{FF2B5EF4-FFF2-40B4-BE49-F238E27FC236}">
                <a16:creationId xmlns:a16="http://schemas.microsoft.com/office/drawing/2014/main" id="{A0C228B3-6B8D-4ADD-938C-29610D555297}"/>
              </a:ext>
            </a:extLst>
          </p:cNvPr>
          <p:cNvSpPr>
            <a:spLocks xmlns:a="http://schemas.openxmlformats.org/drawingml/2006/main" noGrp="1"/>
          </p:cNvSpPr>
          <p:nvPr/>
        </p:nvSpPr>
        <p:spPr>
          <a:xfrm xmlns:a="http://schemas.openxmlformats.org/drawingml/2006/main">
            <a:off x="704850" y="1143000"/>
            <a:ext cx="10782300" cy="41910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813CC49E-6657-4A53-BDAD-04AB71633519}"/>
              </a:ext>
            </a:extLst>
          </p:cNvPr>
          <p:cNvSpPr>
            <a:spLocks xmlns:a="http://schemas.openxmlformats.org/drawingml/2006/main" noGrp="1"/>
          </p:cNvSpPr>
          <p:nvPr/>
        </p:nvSpPr>
        <p:spPr>
          <a:xfrm xmlns:a="http://schemas.openxmlformats.org/drawingml/2006/main">
            <a:off x="2238375" y="2705100"/>
            <a:ext cx="771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ここに9月16日Slack共有版の</a:t>
            </a:r>
          </a:p>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フローチャートを挿入</a:t>
            </a:r>
          </a:p>
        </p:txBody>
      </p:sp>
      <p:sp>
        <p:nvSpPr>
          <p:cNvPr id="10" name="">
            <a:extLst xmlns:a="http://schemas.openxmlformats.org/drawingml/2006/main">
              <a:ext uri="{FF2B5EF4-FFF2-40B4-BE49-F238E27FC236}">
                <a16:creationId xmlns:a16="http://schemas.microsoft.com/office/drawing/2014/main" id="{74FDDB60-D59A-4556-914F-82295219D90E}"/>
              </a:ext>
            </a:extLst>
          </p:cNvPr>
          <p:cNvSpPr>
            <a:spLocks xmlns:a="http://schemas.openxmlformats.org/drawingml/2006/main" noGrp="1"/>
          </p:cNvSpPr>
          <p:nvPr/>
        </p:nvSpPr>
        <p:spPr>
          <a:xfrm xmlns:a="http://schemas.openxmlformats.org/drawingml/2006/main">
            <a:off x="895350" y="1314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7B78"/>
                </a:solidFill>
                <a:latin typeface="Yu Gothic"/>
                <a:ea typeface="Yu Gothic"/>
                <a:cs typeface="Yu Gothic"/>
              </a:defRPr>
            </a:pPr>
            <a:r>
              <a:rPr sz="1350" b="1">
                <a:solidFill>
                  <a:srgbClr val="147B78"/>
                </a:solidFill>
                <a:latin typeface="Yu Gothic"/>
                <a:ea typeface="Yu Gothic"/>
                <a:cs typeface="Yu Gothic"/>
              </a:rPr>
              <a:t>差し替え時の確認</a:t>
            </a:r>
          </a:p>
        </p:txBody>
      </p:sp>
      <p:sp>
        <p:nvSpPr>
          <p:cNvPr id="11" name="">
            <a:extLst xmlns:a="http://schemas.openxmlformats.org/drawingml/2006/main">
              <a:ext uri="{FF2B5EF4-FFF2-40B4-BE49-F238E27FC236}">
                <a16:creationId xmlns:a16="http://schemas.microsoft.com/office/drawing/2014/main" id="{2E1241F1-AF23-4988-91F9-9ADAD60A3044}"/>
              </a:ext>
            </a:extLst>
          </p:cNvPr>
          <p:cNvSpPr>
            <a:spLocks xmlns:a="http://schemas.openxmlformats.org/drawingml/2006/main" noGrp="1"/>
          </p:cNvSpPr>
          <p:nvPr/>
        </p:nvSpPr>
        <p:spPr>
          <a:xfrm xmlns:a="http://schemas.openxmlformats.org/drawingml/2006/main">
            <a:off x="2914650" y="13335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17078"/>
                </a:solidFill>
                <a:latin typeface="Yu Gothic"/>
                <a:ea typeface="Yu Gothic"/>
                <a:cs typeface="Yu Gothic"/>
              </a:defRPr>
            </a:pPr>
            <a:r>
              <a:rPr sz="1275" b="0">
                <a:solidFill>
                  <a:srgbClr val="617078"/>
                </a:solidFill>
                <a:latin typeface="Yu Gothic"/>
                <a:ea typeface="Yu Gothic"/>
                <a:cs typeface="Yu Gothic"/>
              </a:rPr>
              <a:t>小型AIの更新と Qₖ,ᵣ を別経路で表示　／　Layer 2を今回の中心として表示</a:t>
            </a:r>
          </a:p>
        </p:txBody>
      </p:sp>
      <p:sp>
        <p:nvSpPr>
          <p:cNvPr id="12" name="">
            <a:extLst xmlns:a="http://schemas.openxmlformats.org/drawingml/2006/main">
              <a:ext uri="{FF2B5EF4-FFF2-40B4-BE49-F238E27FC236}">
                <a16:creationId xmlns:a16="http://schemas.microsoft.com/office/drawing/2014/main" id="{08C141DB-B5BD-479C-BF4A-579EC8C20EE5}"/>
              </a:ext>
            </a:extLst>
          </p:cNvPr>
          <p:cNvSpPr>
            <a:spLocks xmlns:a="http://schemas.openxmlformats.org/drawingml/2006/main" noGrp="1"/>
          </p:cNvSpPr>
          <p:nvPr/>
        </p:nvSpPr>
        <p:spPr>
          <a:xfrm xmlns:a="http://schemas.openxmlformats.org/drawingml/2006/main">
            <a:off x="781050" y="56388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今回の確認範囲</a:t>
            </a:r>
          </a:p>
        </p:txBody>
      </p:sp>
      <p:sp>
        <p:nvSpPr>
          <p:cNvPr id="13" name="">
            <a:extLst xmlns:a="http://schemas.openxmlformats.org/drawingml/2006/main">
              <a:ext uri="{FF2B5EF4-FFF2-40B4-BE49-F238E27FC236}">
                <a16:creationId xmlns:a16="http://schemas.microsoft.com/office/drawing/2014/main" id="{75CFEE5D-0B4C-4A49-8D23-AF7C912540AB}"/>
              </a:ext>
            </a:extLst>
          </p:cNvPr>
          <p:cNvSpPr>
            <a:spLocks xmlns:a="http://schemas.openxmlformats.org/drawingml/2006/main" noGrp="1"/>
          </p:cNvSpPr>
          <p:nvPr/>
        </p:nvSpPr>
        <p:spPr>
          <a:xfrm xmlns:a="http://schemas.openxmlformats.org/drawingml/2006/main">
            <a:off x="268605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1</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2台の小型AIを連合平均</a:t>
            </a:r>
          </a:p>
        </p:txBody>
      </p:sp>
      <p:sp>
        <p:nvSpPr>
          <p:cNvPr id="14" name="">
            <a:extLst xmlns:a="http://schemas.openxmlformats.org/drawingml/2006/main">
              <a:ext uri="{FF2B5EF4-FFF2-40B4-BE49-F238E27FC236}">
                <a16:creationId xmlns:a16="http://schemas.microsoft.com/office/drawing/2014/main" id="{2C95123F-AFAF-4F76-853E-276F9DDB5FE6}"/>
              </a:ext>
            </a:extLst>
          </p:cNvPr>
          <p:cNvSpPr>
            <a:spLocks xmlns:a="http://schemas.openxmlformats.org/drawingml/2006/main" noGrp="1"/>
          </p:cNvSpPr>
          <p:nvPr/>
        </p:nvSpPr>
        <p:spPr>
          <a:xfrm xmlns:a="http://schemas.openxmlformats.org/drawingml/2006/main">
            <a:off x="461010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47973A7-4E05-4B01-BB49-5B4B92D67CA7}"/>
              </a:ext>
            </a:extLst>
          </p:cNvPr>
          <p:cNvSpPr>
            <a:spLocks xmlns:a="http://schemas.openxmlformats.org/drawingml/2006/main" noGrp="1"/>
          </p:cNvSpPr>
          <p:nvPr/>
        </p:nvSpPr>
        <p:spPr>
          <a:xfrm xmlns:a="http://schemas.openxmlformats.org/drawingml/2006/main">
            <a:off x="492442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Layer 2</a:t>
            </a:r>
          </a:p>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代理データを生成</a:t>
            </a:r>
          </a:p>
        </p:txBody>
      </p:sp>
      <p:sp>
        <p:nvSpPr>
          <p:cNvPr id="16" name="">
            <a:extLst xmlns:a="http://schemas.openxmlformats.org/drawingml/2006/main">
              <a:ext uri="{FF2B5EF4-FFF2-40B4-BE49-F238E27FC236}">
                <a16:creationId xmlns:a16="http://schemas.microsoft.com/office/drawing/2014/main" id="{A43414B7-377F-46DD-B3B3-6F7E3FCD8A8B}"/>
              </a:ext>
            </a:extLst>
          </p:cNvPr>
          <p:cNvSpPr>
            <a:spLocks xmlns:a="http://schemas.openxmlformats.org/drawingml/2006/main" noGrp="1"/>
          </p:cNvSpPr>
          <p:nvPr/>
        </p:nvSpPr>
        <p:spPr>
          <a:xfrm xmlns:a="http://schemas.openxmlformats.org/drawingml/2006/main">
            <a:off x="6848475"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DF3684-4841-40FF-AA12-582D325C87E9}"/>
              </a:ext>
            </a:extLst>
          </p:cNvPr>
          <p:cNvSpPr>
            <a:spLocks xmlns:a="http://schemas.openxmlformats.org/drawingml/2006/main" noGrp="1"/>
          </p:cNvSpPr>
          <p:nvPr/>
        </p:nvSpPr>
        <p:spPr>
          <a:xfrm xmlns:a="http://schemas.openxmlformats.org/drawingml/2006/main">
            <a:off x="716280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3</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18" name="">
            <a:extLst xmlns:a="http://schemas.openxmlformats.org/drawingml/2006/main">
              <a:ext uri="{FF2B5EF4-FFF2-40B4-BE49-F238E27FC236}">
                <a16:creationId xmlns:a16="http://schemas.microsoft.com/office/drawing/2014/main" id="{0E9AC120-654F-4106-B982-0AC3209F5884}"/>
              </a:ext>
            </a:extLst>
          </p:cNvPr>
          <p:cNvSpPr>
            <a:spLocks xmlns:a="http://schemas.openxmlformats.org/drawingml/2006/main" noGrp="1"/>
          </p:cNvSpPr>
          <p:nvPr/>
        </p:nvSpPr>
        <p:spPr>
          <a:xfrm xmlns:a="http://schemas.openxmlformats.org/drawingml/2006/main">
            <a:off x="908685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BA8F01E-8FE8-4882-8D91-4A6A46072781}"/>
              </a:ext>
            </a:extLst>
          </p:cNvPr>
          <p:cNvSpPr>
            <a:spLocks xmlns:a="http://schemas.openxmlformats.org/drawingml/2006/main" noGrp="1"/>
          </p:cNvSpPr>
          <p:nvPr/>
        </p:nvSpPr>
        <p:spPr>
          <a:xfrm xmlns:a="http://schemas.openxmlformats.org/drawingml/2006/main">
            <a:off x="940117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次のラウンド</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状態を引き継ぐ</a:t>
            </a:r>
          </a:p>
        </p:txBody>
      </p:sp>
      <p:sp>
        <p:nvSpPr>
          <p:cNvPr id="20" name="">
            <a:extLst xmlns:a="http://schemas.openxmlformats.org/drawingml/2006/main">
              <a:ext uri="{FF2B5EF4-FFF2-40B4-BE49-F238E27FC236}">
                <a16:creationId xmlns:a16="http://schemas.microsoft.com/office/drawing/2014/main" id="{E1F9EFAC-711C-47E1-839A-EF420DDC8745}"/>
              </a:ext>
            </a:extLst>
          </p:cNvPr>
          <p:cNvSpPr>
            <a:spLocks xmlns:a="http://schemas.openxmlformats.org/drawingml/2006/main" noGrp="1"/>
          </p:cNvSpPr>
          <p:nvPr/>
        </p:nvSpPr>
        <p:spPr>
          <a:xfrm xmlns:a="http://schemas.openxmlformats.org/drawingml/2006/main">
            <a:off x="952500" y="61531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26373D"/>
                </a:solidFill>
                <a:latin typeface="Yu Gothic"/>
                <a:ea typeface="Yu Gothic"/>
                <a:cs typeface="Yu Gothic"/>
              </a:defRPr>
            </a:pPr>
            <a:r>
              <a:rPr sz="1350" b="1">
                <a:solidFill>
                  <a:srgbClr val="26373D"/>
                </a:solidFill>
                <a:latin typeface="Yu Gothic"/>
                <a:ea typeface="Yu Gothic"/>
                <a:cs typeface="Yu Gothic"/>
              </a:rPr>
              <a:t>合格条件：3層と次のラウンドが正しくつながり、入力・出力・状態をログから追えること</a:t>
            </a:r>
          </a:p>
        </p:txBody>
      </p:sp>
    </p:spTree>
    <p:extLst>
      <p:ext uri="{BB962C8B-B14F-4D97-AF65-F5344CB8AC3E}">
        <p14:creationId xmlns:p14="http://schemas.microsoft.com/office/powerpoint/2010/main" val="94401743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9788C2C-04CA-4A70-BC57-DDB81B7067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1EB42D-1F13-4206-AEAE-2EFE136B87E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0FB2EC7-5DDD-4BA9-8DB3-42CDEF70B51D}"/>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学習後の判定は一致したが、変化量には差が残った</a:t>
            </a:r>
          </a:p>
        </p:txBody>
      </p:sp>
      <p:sp>
        <p:nvSpPr>
          <p:cNvPr id="4" name="">
            <a:extLst xmlns:a="http://schemas.openxmlformats.org/drawingml/2006/main">
              <a:ext uri="{FF2B5EF4-FFF2-40B4-BE49-F238E27FC236}">
                <a16:creationId xmlns:a16="http://schemas.microsoft.com/office/drawing/2014/main" id="{A03F243C-816E-43F5-9486-598244D9580C}"/>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2473C359-8266-4501-9A7E-5208ADCBC8AB}"/>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796207-2076-4CBB-8DB5-A02BD7AB52CC}"/>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44EDC73-1FA2-4004-8E7C-C01A8BF6F22C}"/>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8</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cafb1ac4e2a4726"/>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e1794b9df514608"/>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03bbfaed2cc4052"/>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70fd6a5830e4fcc"/>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6B2896C-5725-4BBB-9245-2BC6CC1ED9F4}"/>
              </a:ext>
            </a:extLst>
          </p:cNvPr>
          <p:cNvSpPr>
            <a:spLocks xmlns:a="http://schemas.openxmlformats.org/drawingml/2006/main" noGrp="1"/>
          </p:cNvSpPr>
          <p:nvPr/>
        </p:nvSpPr>
        <p:spPr>
          <a:xfrm xmlns:a="http://schemas.openxmlformats.org/drawingml/2006/main">
            <a:off x="552450" y="2705100"/>
            <a:ext cx="11029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4枚目で選んだ中央側動画：正解ラベルは通常、変換なし</a:t>
            </a:r>
          </a:p>
        </p:txBody>
      </p:sp>
      <p:sp>
        <p:nvSpPr>
          <p:cNvPr id="13" name="">
            <a:extLst xmlns:a="http://schemas.openxmlformats.org/drawingml/2006/main">
              <a:ext uri="{FF2B5EF4-FFF2-40B4-BE49-F238E27FC236}">
                <a16:creationId xmlns:a16="http://schemas.microsoft.com/office/drawing/2014/main" id="{65DF1032-8252-4CAC-B9AE-49EC13B6C96B}"/>
              </a:ext>
            </a:extLst>
          </p:cNvPr>
          <p:cNvSpPr>
            <a:spLocks xmlns:a="http://schemas.openxmlformats.org/drawingml/2006/main" noGrp="1"/>
          </p:cNvSpPr>
          <p:nvPr/>
        </p:nvSpPr>
        <p:spPr>
          <a:xfrm xmlns:a="http://schemas.openxmlformats.org/drawingml/2006/main">
            <a:off x="857250" y="3333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学習後の危険確率</a:t>
            </a:r>
          </a:p>
        </p:txBody>
      </p:sp>
      <p:sp>
        <p:nvSpPr>
          <p:cNvPr id="14" name="">
            <a:extLst xmlns:a="http://schemas.openxmlformats.org/drawingml/2006/main">
              <a:ext uri="{FF2B5EF4-FFF2-40B4-BE49-F238E27FC236}">
                <a16:creationId xmlns:a16="http://schemas.microsoft.com/office/drawing/2014/main" id="{5BC469D8-5F3B-4F63-A3D5-853DAC085E73}"/>
              </a:ext>
            </a:extLst>
          </p:cNvPr>
          <p:cNvSpPr>
            <a:spLocks xmlns:a="http://schemas.openxmlformats.org/drawingml/2006/main" noGrp="1"/>
          </p:cNvSpPr>
          <p:nvPr/>
        </p:nvSpPr>
        <p:spPr>
          <a:xfrm xmlns:a="http://schemas.openxmlformats.org/drawingml/2006/main">
            <a:off x="1047750"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15" name="">
            <a:extLst xmlns:a="http://schemas.openxmlformats.org/drawingml/2006/main">
              <a:ext uri="{FF2B5EF4-FFF2-40B4-BE49-F238E27FC236}">
                <a16:creationId xmlns:a16="http://schemas.microsoft.com/office/drawing/2014/main" id="{47DA0BE4-5711-4002-AB92-D4639FD9FC6F}"/>
              </a:ext>
            </a:extLst>
          </p:cNvPr>
          <p:cNvSpPr>
            <a:spLocks xmlns:a="http://schemas.openxmlformats.org/drawingml/2006/main" noGrp="1"/>
          </p:cNvSpPr>
          <p:nvPr/>
        </p:nvSpPr>
        <p:spPr>
          <a:xfrm xmlns:a="http://schemas.openxmlformats.org/drawingml/2006/main">
            <a:off x="1047750"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0.724</a:t>
            </a:r>
          </a:p>
        </p:txBody>
      </p:sp>
      <p:sp>
        <p:nvSpPr>
          <p:cNvPr id="16" name="">
            <a:extLst xmlns:a="http://schemas.openxmlformats.org/drawingml/2006/main">
              <a:ext uri="{FF2B5EF4-FFF2-40B4-BE49-F238E27FC236}">
                <a16:creationId xmlns:a16="http://schemas.microsoft.com/office/drawing/2014/main" id="{077F391F-D75E-4A61-B1FA-965733201E40}"/>
              </a:ext>
            </a:extLst>
          </p:cNvPr>
          <p:cNvSpPr>
            <a:spLocks xmlns:a="http://schemas.openxmlformats.org/drawingml/2006/main" noGrp="1"/>
          </p:cNvSpPr>
          <p:nvPr/>
        </p:nvSpPr>
        <p:spPr>
          <a:xfrm xmlns:a="http://schemas.openxmlformats.org/drawingml/2006/main">
            <a:off x="3381375"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17" name="">
            <a:extLst xmlns:a="http://schemas.openxmlformats.org/drawingml/2006/main">
              <a:ext uri="{FF2B5EF4-FFF2-40B4-BE49-F238E27FC236}">
                <a16:creationId xmlns:a16="http://schemas.microsoft.com/office/drawing/2014/main" id="{C64AF625-8D98-4863-8FD1-B0B2BC577913}"/>
              </a:ext>
            </a:extLst>
          </p:cNvPr>
          <p:cNvSpPr>
            <a:spLocks xmlns:a="http://schemas.openxmlformats.org/drawingml/2006/main" noGrp="1"/>
          </p:cNvSpPr>
          <p:nvPr/>
        </p:nvSpPr>
        <p:spPr>
          <a:xfrm xmlns:a="http://schemas.openxmlformats.org/drawingml/2006/main">
            <a:off x="3381375"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47B78"/>
                </a:solidFill>
                <a:latin typeface="Yu Gothic"/>
                <a:ea typeface="Yu Gothic"/>
                <a:cs typeface="Yu Gothic"/>
              </a:defRPr>
            </a:pPr>
            <a:r>
              <a:rPr sz="3000" b="1">
                <a:solidFill>
                  <a:srgbClr val="147B78"/>
                </a:solidFill>
                <a:latin typeface="Yu Gothic"/>
                <a:ea typeface="Yu Gothic"/>
                <a:cs typeface="Yu Gothic"/>
              </a:rPr>
              <a:t>0.724</a:t>
            </a:r>
          </a:p>
        </p:txBody>
      </p:sp>
      <p:sp>
        <p:nvSpPr>
          <p:cNvPr id="18" name="">
            <a:extLst xmlns:a="http://schemas.openxmlformats.org/drawingml/2006/main">
              <a:ext uri="{FF2B5EF4-FFF2-40B4-BE49-F238E27FC236}">
                <a16:creationId xmlns:a16="http://schemas.microsoft.com/office/drawing/2014/main" id="{0B7DB121-F8F6-4C8F-AE44-05A95631A5A9}"/>
              </a:ext>
            </a:extLst>
          </p:cNvPr>
          <p:cNvSpPr>
            <a:spLocks xmlns:a="http://schemas.openxmlformats.org/drawingml/2006/main" noGrp="1"/>
          </p:cNvSpPr>
          <p:nvPr/>
        </p:nvSpPr>
        <p:spPr>
          <a:xfrm xmlns:a="http://schemas.openxmlformats.org/drawingml/2006/main">
            <a:off x="20955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ほぼ一致</a:t>
            </a:r>
          </a:p>
        </p:txBody>
      </p:sp>
      <p:sp>
        <p:nvSpPr>
          <p:cNvPr id="19" name="">
            <a:extLst xmlns:a="http://schemas.openxmlformats.org/drawingml/2006/main">
              <a:ext uri="{FF2B5EF4-FFF2-40B4-BE49-F238E27FC236}">
                <a16:creationId xmlns:a16="http://schemas.microsoft.com/office/drawing/2014/main" id="{4B22988B-C4EC-4F6D-9CA8-12EC684EEDD8}"/>
              </a:ext>
            </a:extLst>
          </p:cNvPr>
          <p:cNvSpPr>
            <a:spLocks xmlns:a="http://schemas.openxmlformats.org/drawingml/2006/main" noGrp="1"/>
          </p:cNvSpPr>
          <p:nvPr/>
        </p:nvSpPr>
        <p:spPr>
          <a:xfrm xmlns:a="http://schemas.openxmlformats.org/drawingml/2006/main">
            <a:off x="5905500" y="3286125"/>
            <a:ext cx="19050" cy="200025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4E4565E-8B8F-4F10-8C86-E3D0BE34C876}"/>
              </a:ext>
            </a:extLst>
          </p:cNvPr>
          <p:cNvSpPr>
            <a:spLocks xmlns:a="http://schemas.openxmlformats.org/drawingml/2006/main" noGrp="1"/>
          </p:cNvSpPr>
          <p:nvPr/>
        </p:nvSpPr>
        <p:spPr>
          <a:xfrm xmlns:a="http://schemas.openxmlformats.org/drawingml/2006/main">
            <a:off x="6286500" y="3333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学習による危険方向の変化</a:t>
            </a:r>
          </a:p>
        </p:txBody>
      </p:sp>
      <p:sp>
        <p:nvSpPr>
          <p:cNvPr id="21" name="">
            <a:extLst xmlns:a="http://schemas.openxmlformats.org/drawingml/2006/main">
              <a:ext uri="{FF2B5EF4-FFF2-40B4-BE49-F238E27FC236}">
                <a16:creationId xmlns:a16="http://schemas.microsoft.com/office/drawing/2014/main" id="{F10B8B25-B15B-48D3-98FE-979845B041C9}"/>
              </a:ext>
            </a:extLst>
          </p:cNvPr>
          <p:cNvSpPr>
            <a:spLocks xmlns:a="http://schemas.openxmlformats.org/drawingml/2006/main" noGrp="1"/>
          </p:cNvSpPr>
          <p:nvPr/>
        </p:nvSpPr>
        <p:spPr>
          <a:xfrm xmlns:a="http://schemas.openxmlformats.org/drawingml/2006/main">
            <a:off x="65722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22" name="">
            <a:extLst xmlns:a="http://schemas.openxmlformats.org/drawingml/2006/main">
              <a:ext uri="{FF2B5EF4-FFF2-40B4-BE49-F238E27FC236}">
                <a16:creationId xmlns:a16="http://schemas.microsoft.com/office/drawing/2014/main" id="{83A6CBAE-1A36-4658-899A-B8E8DFBA2EEB}"/>
              </a:ext>
            </a:extLst>
          </p:cNvPr>
          <p:cNvSpPr>
            <a:spLocks xmlns:a="http://schemas.openxmlformats.org/drawingml/2006/main" noGrp="1"/>
          </p:cNvSpPr>
          <p:nvPr/>
        </p:nvSpPr>
        <p:spPr>
          <a:xfrm xmlns:a="http://schemas.openxmlformats.org/drawingml/2006/main">
            <a:off x="65722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+0.238</a:t>
            </a:r>
          </a:p>
        </p:txBody>
      </p:sp>
      <p:sp>
        <p:nvSpPr>
          <p:cNvPr id="23" name="">
            <a:extLst xmlns:a="http://schemas.openxmlformats.org/drawingml/2006/main">
              <a:ext uri="{FF2B5EF4-FFF2-40B4-BE49-F238E27FC236}">
                <a16:creationId xmlns:a16="http://schemas.microsoft.com/office/drawing/2014/main" id="{F4D56A61-099A-42F7-94B7-89E2D095FF9B}"/>
              </a:ext>
            </a:extLst>
          </p:cNvPr>
          <p:cNvSpPr>
            <a:spLocks xmlns:a="http://schemas.openxmlformats.org/drawingml/2006/main" noGrp="1"/>
          </p:cNvSpPr>
          <p:nvPr/>
        </p:nvSpPr>
        <p:spPr>
          <a:xfrm xmlns:a="http://schemas.openxmlformats.org/drawingml/2006/main">
            <a:off x="90487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24" name="">
            <a:extLst xmlns:a="http://schemas.openxmlformats.org/drawingml/2006/main">
              <a:ext uri="{FF2B5EF4-FFF2-40B4-BE49-F238E27FC236}">
                <a16:creationId xmlns:a16="http://schemas.microsoft.com/office/drawing/2014/main" id="{E092C299-DEE2-464B-9303-6DDC639375D4}"/>
              </a:ext>
            </a:extLst>
          </p:cNvPr>
          <p:cNvSpPr>
            <a:spLocks xmlns:a="http://schemas.openxmlformats.org/drawingml/2006/main" noGrp="1"/>
          </p:cNvSpPr>
          <p:nvPr/>
        </p:nvSpPr>
        <p:spPr>
          <a:xfrm xmlns:a="http://schemas.openxmlformats.org/drawingml/2006/main">
            <a:off x="90487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B94A3A"/>
                </a:solidFill>
                <a:latin typeface="Yu Gothic"/>
                <a:ea typeface="Yu Gothic"/>
                <a:cs typeface="Yu Gothic"/>
              </a:defRPr>
            </a:pPr>
            <a:r>
              <a:rPr sz="3000" b="1">
                <a:solidFill>
                  <a:srgbClr val="B94A3A"/>
                </a:solidFill>
                <a:latin typeface="Yu Gothic"/>
                <a:ea typeface="Yu Gothic"/>
                <a:cs typeface="Yu Gothic"/>
              </a:rPr>
              <a:t>+0.051</a:t>
            </a:r>
          </a:p>
        </p:txBody>
      </p:sp>
      <p:sp>
        <p:nvSpPr>
          <p:cNvPr id="25" name="">
            <a:extLst xmlns:a="http://schemas.openxmlformats.org/drawingml/2006/main">
              <a:ext uri="{FF2B5EF4-FFF2-40B4-BE49-F238E27FC236}">
                <a16:creationId xmlns:a16="http://schemas.microsoft.com/office/drawing/2014/main" id="{0C910158-BE74-4AFC-B841-0CF0F49CBC34}"/>
              </a:ext>
            </a:extLst>
          </p:cNvPr>
          <p:cNvSpPr>
            <a:spLocks xmlns:a="http://schemas.openxmlformats.org/drawingml/2006/main" noGrp="1"/>
          </p:cNvSpPr>
          <p:nvPr/>
        </p:nvSpPr>
        <p:spPr>
          <a:xfrm xmlns:a="http://schemas.openxmlformats.org/drawingml/2006/main">
            <a:off x="9029700" y="4810125"/>
            <a:ext cx="1857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0.673 から 0.724</a:t>
            </a:r>
          </a:p>
        </p:txBody>
      </p:sp>
      <p:sp>
        <p:nvSpPr>
          <p:cNvPr id="26" name="">
            <a:extLst xmlns:a="http://schemas.openxmlformats.org/drawingml/2006/main">
              <a:ext uri="{FF2B5EF4-FFF2-40B4-BE49-F238E27FC236}">
                <a16:creationId xmlns:a16="http://schemas.microsoft.com/office/drawing/2014/main" id="{09C3AB85-CF72-4661-8765-520FE55CBE20}"/>
              </a:ext>
            </a:extLst>
          </p:cNvPr>
          <p:cNvSpPr>
            <a:spLocks xmlns:a="http://schemas.openxmlformats.org/drawingml/2006/main" noGrp="1"/>
          </p:cNvSpPr>
          <p:nvPr/>
        </p:nvSpPr>
        <p:spPr>
          <a:xfrm xmlns:a="http://schemas.openxmlformats.org/drawingml/2006/main">
            <a:off x="7858125" y="5067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差が残る</a:t>
            </a:r>
          </a:p>
        </p:txBody>
      </p:sp>
      <p:sp>
        <p:nvSpPr>
          <p:cNvPr id="27" name="">
            <a:extLst xmlns:a="http://schemas.openxmlformats.org/drawingml/2006/main">
              <a:ext uri="{FF2B5EF4-FFF2-40B4-BE49-F238E27FC236}">
                <a16:creationId xmlns:a16="http://schemas.microsoft.com/office/drawing/2014/main" id="{547806FD-A64D-4E10-B5E3-5A3C28F812B2}"/>
              </a:ext>
            </a:extLst>
          </p:cNvPr>
          <p:cNvSpPr>
            <a:spLocks xmlns:a="http://schemas.openxmlformats.org/drawingml/2006/main" noGrp="1"/>
          </p:cNvSpPr>
          <p:nvPr/>
        </p:nvSpPr>
        <p:spPr>
          <a:xfrm xmlns:a="http://schemas.openxmlformats.org/drawingml/2006/main">
            <a:off x="742950" y="5610225"/>
            <a:ext cx="10706100" cy="590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370D072-7498-4A61-9EC4-3E12AF69C124}"/>
              </a:ext>
            </a:extLst>
          </p:cNvPr>
          <p:cNvSpPr>
            <a:spLocks xmlns:a="http://schemas.openxmlformats.org/drawingml/2006/main" noGrp="1"/>
          </p:cNvSpPr>
          <p:nvPr/>
        </p:nvSpPr>
        <p:spPr>
          <a:xfrm xmlns:a="http://schemas.openxmlformats.org/drawingml/2006/main">
            <a:off x="1000125" y="57531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最終的な判定の一致だけでは、現場で生じた学習変化を再現できたとは判断できない</a:t>
            </a:r>
          </a:p>
        </p:txBody>
      </p:sp>
      <p:sp>
        <p:nvSpPr>
          <p:cNvPr id="29" name="">
            <a:extLst xmlns:a="http://schemas.openxmlformats.org/drawingml/2006/main">
              <a:ext uri="{FF2B5EF4-FFF2-40B4-BE49-F238E27FC236}">
                <a16:creationId xmlns:a16="http://schemas.microsoft.com/office/drawing/2014/main" id="{06ADB187-3751-4953-90E1-689EBE6E4E3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21328630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D8E2B44-6361-4A8B-BA4B-17B6EB4767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1BB22B-9AB0-4CA4-9B01-0247D450BB9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10545E-BAB2-4EE0-90FD-8D4D4F5589C4}"/>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3ラウンドの状態継承を確認、性能改善は未確認</a:t>
            </a:r>
          </a:p>
        </p:txBody>
      </p:sp>
      <p:sp>
        <p:nvSpPr>
          <p:cNvPr id="4" name="">
            <a:extLst xmlns:a="http://schemas.openxmlformats.org/drawingml/2006/main">
              <a:ext uri="{FF2B5EF4-FFF2-40B4-BE49-F238E27FC236}">
                <a16:creationId xmlns:a16="http://schemas.microsoft.com/office/drawing/2014/main" id="{7C3FE33B-FA12-4693-8D87-65EDB1C337AB}"/>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DE31B0B7-BE92-4260-894E-14275698F4A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6651984-42DD-4A62-AFA0-1F6A69A2E5A3}"/>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C0F94279-AD51-4CC0-927C-543101E510B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8</a:t>
            </a:r>
          </a:p>
        </p:txBody>
      </p:sp>
      <p:graphicFrame>
        <p:nvGraphicFramePr>
          <p:cNvPr id="24" name=""/>
          <p:cNvGraphicFramePr/>
          <p:nvPr/>
        </p:nvGraphicFramePr>
        <p:xfrm>
          <a:off xmlns:a="http://schemas.openxmlformats.org/drawingml/2006/main" x="619125" y="1257300"/>
          <a:ext xmlns:a="http://schemas.openxmlformats.org/drawingml/2006/main" cx="10953750" cy="2324100"/>
        </p:xfrm>
        <a:graphic xmlns:a="http://schemas.openxmlformats.org/drawingml/2006/main">
          <a:graphicData uri="http://schemas.openxmlformats.org/drawingml/2006/table">
            <a:tbl>
              <a:tblPr/>
              <a:tblGrid>
                <a:gridCol w="1095375"/>
                <a:gridCol w="2143125"/>
                <a:gridCol w="2381250"/>
                <a:gridCol w="2095500"/>
                <a:gridCol w="3238500"/>
              </a:tblGrid>
              <a:tr h="581025">
                <a:tc>
                  <a:txBody>
                    <a:bodyPr/>
                    <a:lstStyle/>
                    <a:p>
                      <a:r>
                        <a:rPr sz="1150" b="1">
                          <a:solidFill>
                            <a:srgbClr val="173B4B"/>
                          </a:solidFill>
                          <a:latin typeface="Yu Gothic"/>
                          <a:ea typeface="Yu Gothic"/>
                          <a:cs typeface="Yu Gothic"/>
                        </a:rPr>
                        <a:t>ラウンド</a:t>
                      </a:r>
                    </a:p>
                  </a:txBody>
                  <a:tcPr marL="91440" marR="91440" marT="45720" marB="45720"/>
                </a:tc>
                <a:tc>
                  <a:txBody>
                    <a:bodyPr/>
                    <a:lstStyle/>
                    <a:p>
                      <a:r>
                        <a:rPr sz="1150" b="1">
                          <a:solidFill>
                            <a:srgbClr val="173B4B"/>
                          </a:solidFill>
                          <a:latin typeface="Yu Gothic"/>
                          <a:ea typeface="Yu Gothic"/>
                          <a:cs typeface="Yu Gothic"/>
                        </a:rPr>
                        <a:t>2台の局所更新</a:t>
                      </a:r>
                    </a:p>
                  </a:txBody>
                  <a:tcPr marL="91440" marR="91440" marT="45720" marB="45720"/>
                </a:tc>
                <a:tc>
                  <a:txBody>
                    <a:bodyPr/>
                    <a:lstStyle/>
                    <a:p>
                      <a:r>
                        <a:rPr sz="1150" b="1">
                          <a:solidFill>
                            <a:srgbClr val="173B4B"/>
                          </a:solidFill>
                          <a:latin typeface="Yu Gothic"/>
                          <a:ea typeface="Yu Gothic"/>
                          <a:cs typeface="Yu Gothic"/>
                        </a:rPr>
                        <a:t>連合平均の再計算差</a:t>
                      </a:r>
                    </a:p>
                  </a:txBody>
                  <a:tcPr marL="91440" marR="91440" marT="45720" marB="45720"/>
                </a:tc>
                <a:tc>
                  <a:txBody>
                    <a:bodyPr/>
                    <a:lstStyle/>
                    <a:p>
                      <a:r>
                        <a:rPr sz="1150" b="1">
                          <a:solidFill>
                            <a:srgbClr val="173B4B"/>
                          </a:solidFill>
                          <a:latin typeface="Yu Gothic"/>
                          <a:ea typeface="Yu Gothic"/>
                          <a:cs typeface="Yu Gothic"/>
                        </a:rPr>
                        <a:t>次回入力との照合</a:t>
                      </a:r>
                    </a:p>
                  </a:txBody>
                  <a:tcPr marL="91440" marR="91440" marT="45720" marB="45720"/>
                </a:tc>
                <a:tc>
                  <a:txBody>
                    <a:bodyPr/>
                    <a:lstStyle/>
                    <a:p>
                      <a:r>
                        <a:rPr sz="1150" b="1">
                          <a:solidFill>
                            <a:srgbClr val="173B4B"/>
                          </a:solidFill>
                          <a:latin typeface="Yu Gothic"/>
                          <a:ea typeface="Yu Gothic"/>
                          <a:cs typeface="Yu Gothic"/>
                        </a:rPr>
                        <a:t>中央側AI更新（同じ4組）</a:t>
                      </a:r>
                    </a:p>
                  </a:txBody>
                  <a:tcPr marL="91440" marR="91440" marT="45720" marB="45720"/>
                </a:tc>
              </a:tr>
              <a:tr h="581025">
                <a:tc>
                  <a:txBody>
                    <a:bodyPr/>
                    <a:lstStyle/>
                    <a:p>
                      <a:r>
                        <a:rPr sz="1400" b="0">
                          <a:solidFill>
                            <a:srgbClr val="26373D"/>
                          </a:solidFill>
                          <a:latin typeface="Yu Gothic"/>
                          <a:ea typeface="Yu Gothic"/>
                          <a:cs typeface="Yu Gothic"/>
                        </a:rPr>
                        <a:t>1</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10⁻¹¹</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0.0540 から 0.0534</a:t>
                      </a:r>
                    </a:p>
                  </a:txBody>
                  <a:tcPr marL="91440" marR="91440" marT="45720" marB="45720"/>
                </a:tc>
              </a:tr>
              <a:tr h="581025">
                <a:tc>
                  <a:txBody>
                    <a:bodyPr/>
                    <a:lstStyle/>
                    <a:p>
                      <a:r>
                        <a:rPr sz="1400" b="0">
                          <a:solidFill>
                            <a:srgbClr val="26373D"/>
                          </a:solidFill>
                          <a:latin typeface="Yu Gothic"/>
                          <a:ea typeface="Yu Gothic"/>
                          <a:cs typeface="Yu Gothic"/>
                        </a:rPr>
                        <a:t>2</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10⁻¹¹</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18.478 から 18.339</a:t>
                      </a:r>
                    </a:p>
                  </a:txBody>
                  <a:tcPr marL="91440" marR="91440" marT="45720" marB="45720"/>
                </a:tc>
              </a:tr>
              <a:tr h="581025">
                <a:tc>
                  <a:txBody>
                    <a:bodyPr/>
                    <a:lstStyle/>
                    <a:p>
                      <a:r>
                        <a:rPr sz="1400" b="0">
                          <a:solidFill>
                            <a:srgbClr val="26373D"/>
                          </a:solidFill>
                          <a:latin typeface="Yu Gothic"/>
                          <a:ea typeface="Yu Gothic"/>
                          <a:cs typeface="Yu Gothic"/>
                        </a:rPr>
                        <a:t>3</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1.16 × 10⁻¹⁰</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normAutofit/>
                    </a:bodyPr>
                    <a:lstStyle/>
                    <a:p>
                      <a:pPr algn="ctr"/>
                      <a:r>
                        <a:rPr sz="1350" b="1">
                          <a:solidFill>
                            <a:srgbClr val="B94A3A"/>
                          </a:solidFill>
                          <a:latin typeface="Yu Gothic"/>
                          <a:ea typeface="Yu Gothic"/>
                          <a:cs typeface="Yu Gothic"/>
                        </a:rPr>
                        <a:t>加重KL 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DB669C07-9539-4ADC-93A8-5D1836057377}"/>
              </a:ext>
            </a:extLst>
          </p:cNvPr>
          <p:cNvSpPr>
            <a:spLocks xmlns:a="http://schemas.openxmlformats.org/drawingml/2006/main" noGrp="1"/>
          </p:cNvSpPr>
          <p:nvPr/>
        </p:nvSpPr>
        <p:spPr>
          <a:xfrm xmlns:a="http://schemas.openxmlformats.org/drawingml/2006/main">
            <a:off x="857250" y="3714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各ラウンドで代理データが異なるため、ずれの値をラウンド間の性能推移として比較しない</a:t>
            </a:r>
          </a:p>
        </p:txBody>
      </p:sp>
      <p:sp>
        <p:nvSpPr>
          <p:cNvPr id="10" name="">
            <a:extLst xmlns:a="http://schemas.openxmlformats.org/drawingml/2006/main">
              <a:ext uri="{FF2B5EF4-FFF2-40B4-BE49-F238E27FC236}">
                <a16:creationId xmlns:a16="http://schemas.microsoft.com/office/drawing/2014/main" id="{2147CD20-80B6-4916-873A-A5EAB02B25F4}"/>
              </a:ext>
            </a:extLst>
          </p:cNvPr>
          <p:cNvSpPr>
            <a:spLocks xmlns:a="http://schemas.openxmlformats.org/drawingml/2006/main" noGrp="1"/>
          </p:cNvSpPr>
          <p:nvPr/>
        </p:nvSpPr>
        <p:spPr>
          <a:xfrm xmlns:a="http://schemas.openxmlformats.org/drawingml/2006/main">
            <a:off x="685800" y="4191000"/>
            <a:ext cx="4953000" cy="1257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8CD602C-28BF-4BC1-A531-315A07258B0F}"/>
              </a:ext>
            </a:extLst>
          </p:cNvPr>
          <p:cNvSpPr>
            <a:spLocks xmlns:a="http://schemas.openxmlformats.org/drawingml/2006/main" noGrp="1"/>
          </p:cNvSpPr>
          <p:nvPr/>
        </p:nvSpPr>
        <p:spPr>
          <a:xfrm xmlns:a="http://schemas.openxmlformats.org/drawingml/2006/main">
            <a:off x="933450" y="43719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F95B7EE7-0BA3-4F99-A7ED-F3ECA6AB5A1B}"/>
              </a:ext>
            </a:extLst>
          </p:cNvPr>
          <p:cNvSpPr>
            <a:spLocks xmlns:a="http://schemas.openxmlformats.org/drawingml/2006/main" noGrp="1"/>
          </p:cNvSpPr>
          <p:nvPr/>
        </p:nvSpPr>
        <p:spPr>
          <a:xfrm xmlns:a="http://schemas.openxmlformats.org/drawingml/2006/main">
            <a:off x="933450" y="475297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2台の更新は毎回ゼロではない</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連合平均を別計算で再現</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小型AIと中央側AIの状態が次回へ一致</a:t>
            </a:r>
          </a:p>
        </p:txBody>
      </p:sp>
      <p:sp>
        <p:nvSpPr>
          <p:cNvPr id="13" name="">
            <a:extLst xmlns:a="http://schemas.openxmlformats.org/drawingml/2006/main">
              <a:ext uri="{FF2B5EF4-FFF2-40B4-BE49-F238E27FC236}">
                <a16:creationId xmlns:a16="http://schemas.microsoft.com/office/drawing/2014/main" id="{307E3A98-6881-4807-BFA7-190172AAFBCC}"/>
              </a:ext>
            </a:extLst>
          </p:cNvPr>
          <p:cNvSpPr>
            <a:spLocks xmlns:a="http://schemas.openxmlformats.org/drawingml/2006/main" noGrp="1"/>
          </p:cNvSpPr>
          <p:nvPr/>
        </p:nvSpPr>
        <p:spPr>
          <a:xfrm xmlns:a="http://schemas.openxmlformats.org/drawingml/2006/main">
            <a:off x="5943600" y="4191000"/>
            <a:ext cx="5562600" cy="12573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F86E036-1BB3-4E8B-A4AB-D9859E213EB0}"/>
              </a:ext>
            </a:extLst>
          </p:cNvPr>
          <p:cNvSpPr>
            <a:spLocks xmlns:a="http://schemas.openxmlformats.org/drawingml/2006/main" noGrp="1"/>
          </p:cNvSpPr>
          <p:nvPr/>
        </p:nvSpPr>
        <p:spPr>
          <a:xfrm xmlns:a="http://schemas.openxmlformats.org/drawingml/2006/main">
            <a:off x="6191250" y="4371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残った診断点</a:t>
            </a:r>
          </a:p>
        </p:txBody>
      </p:sp>
      <p:sp>
        <p:nvSpPr>
          <p:cNvPr id="15" name="">
            <a:extLst xmlns:a="http://schemas.openxmlformats.org/drawingml/2006/main">
              <a:ext uri="{FF2B5EF4-FFF2-40B4-BE49-F238E27FC236}">
                <a16:creationId xmlns:a16="http://schemas.microsoft.com/office/drawing/2014/main" id="{413D5C33-53F0-499D-A48B-3E83A6821E02}"/>
              </a:ext>
            </a:extLst>
          </p:cNvPr>
          <p:cNvSpPr>
            <a:spLocks xmlns:a="http://schemas.openxmlformats.org/drawingml/2006/main" noGrp="1"/>
          </p:cNvSpPr>
          <p:nvPr/>
        </p:nvSpPr>
        <p:spPr>
          <a:xfrm xmlns:a="http://schemas.openxmlformats.org/drawingml/2006/main">
            <a:off x="6191250" y="47529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1ラウンド目は変化の方向が4件中3件一致</a:t>
            </a:r>
          </a:p>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3ラウンド目は中央側AIのずれが増加</a:t>
            </a:r>
          </a:p>
        </p:txBody>
      </p:sp>
      <p:sp>
        <p:nvSpPr>
          <p:cNvPr id="16" name="">
            <a:extLst xmlns:a="http://schemas.openxmlformats.org/drawingml/2006/main">
              <a:ext uri="{FF2B5EF4-FFF2-40B4-BE49-F238E27FC236}">
                <a16:creationId xmlns:a16="http://schemas.microsoft.com/office/drawing/2014/main" id="{5D0C5784-C795-4E1C-AEDC-8833F9CC29A5}"/>
              </a:ext>
            </a:extLst>
          </p:cNvPr>
          <p:cNvSpPr>
            <a:spLocks xmlns:a="http://schemas.openxmlformats.org/drawingml/2006/main" noGrp="1"/>
          </p:cNvSpPr>
          <p:nvPr/>
        </p:nvSpPr>
        <p:spPr>
          <a:xfrm xmlns:a="http://schemas.openxmlformats.org/drawingml/2006/main">
            <a:off x="914400" y="583882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今回の合格は『実行・接続・状態継承』。代理データの品質や学習効果の合格ではない。</a:t>
            </a:r>
          </a:p>
        </p:txBody>
      </p:sp>
    </p:spTree>
    <p:extLst>
      <p:ext uri="{BB962C8B-B14F-4D97-AF65-F5344CB8AC3E}">
        <p14:creationId xmlns:p14="http://schemas.microsoft.com/office/powerpoint/2010/main" val="27878622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65EE942-2638-42AA-9207-25228B1ABF1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B6FEA6-BA3A-4432-B16B-88A254E4598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4829A5-FB00-4BE7-8F2A-983E30780D1E}"/>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結論と今後</a:t>
            </a:r>
          </a:p>
        </p:txBody>
      </p:sp>
      <p:sp>
        <p:nvSpPr>
          <p:cNvPr id="4" name="">
            <a:extLst xmlns:a="http://schemas.openxmlformats.org/drawingml/2006/main">
              <a:ext uri="{FF2B5EF4-FFF2-40B4-BE49-F238E27FC236}">
                <a16:creationId xmlns:a16="http://schemas.microsoft.com/office/drawing/2014/main" id="{4628C138-C4B0-4657-8FE2-54763C0B2CDE}"/>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261F5E87-0BB7-47B8-B7D3-A86830F1BF9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23E9B3C-0F9B-4B14-9F90-A062B05B4121}"/>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1D9464A-2D4D-47AA-9820-A3012275252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8</a:t>
            </a:r>
          </a:p>
        </p:txBody>
      </p:sp>
      <p:sp>
        <p:nvSpPr>
          <p:cNvPr id="8" name="">
            <a:extLst xmlns:a="http://schemas.openxmlformats.org/drawingml/2006/main">
              <a:ext uri="{FF2B5EF4-FFF2-40B4-BE49-F238E27FC236}">
                <a16:creationId xmlns:a16="http://schemas.microsoft.com/office/drawing/2014/main" id="{0605C839-CC44-4494-B584-D1343C45725C}"/>
              </a:ext>
            </a:extLst>
          </p:cNvPr>
          <p:cNvSpPr>
            <a:spLocks xmlns:a="http://schemas.openxmlformats.org/drawingml/2006/main" noGrp="1"/>
          </p:cNvSpPr>
          <p:nvPr/>
        </p:nvSpPr>
        <p:spPr>
          <a:xfrm xmlns:a="http://schemas.openxmlformats.org/drawingml/2006/main">
            <a:off x="7239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今回確認できたこと</a:t>
            </a:r>
          </a:p>
        </p:txBody>
      </p:sp>
      <p:sp>
        <p:nvSpPr>
          <p:cNvPr id="9" name="">
            <a:extLst xmlns:a="http://schemas.openxmlformats.org/drawingml/2006/main">
              <a:ext uri="{FF2B5EF4-FFF2-40B4-BE49-F238E27FC236}">
                <a16:creationId xmlns:a16="http://schemas.microsoft.com/office/drawing/2014/main" id="{376FBC94-C88E-4F47-B561-24F629DB2A46}"/>
              </a:ext>
            </a:extLst>
          </p:cNvPr>
          <p:cNvSpPr>
            <a:spLocks xmlns:a="http://schemas.openxmlformats.org/drawingml/2006/main" noGrp="1"/>
          </p:cNvSpPr>
          <p:nvPr/>
        </p:nvSpPr>
        <p:spPr>
          <a:xfrm xmlns:a="http://schemas.openxmlformats.org/drawingml/2006/main">
            <a:off x="781050" y="16383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・代表動画の反応を要約し、代理データへ対応付け</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・3層を接続して中央側AIを更新</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・3ラウンドの状態をログから追跡</a:t>
            </a:r>
          </a:p>
        </p:txBody>
      </p:sp>
      <p:sp>
        <p:nvSpPr>
          <p:cNvPr id="10" name="">
            <a:extLst xmlns:a="http://schemas.openxmlformats.org/drawingml/2006/main">
              <a:ext uri="{FF2B5EF4-FFF2-40B4-BE49-F238E27FC236}">
                <a16:creationId xmlns:a16="http://schemas.microsoft.com/office/drawing/2014/main" id="{EA4BE7F1-3CB6-4E9F-BA22-A88DD3DA7774}"/>
              </a:ext>
            </a:extLst>
          </p:cNvPr>
          <p:cNvSpPr>
            <a:spLocks xmlns:a="http://schemas.openxmlformats.org/drawingml/2006/main" noGrp="1"/>
          </p:cNvSpPr>
          <p:nvPr/>
        </p:nvSpPr>
        <p:spPr>
          <a:xfrm xmlns:a="http://schemas.openxmlformats.org/drawingml/2006/main">
            <a:off x="5924550" y="1123950"/>
            <a:ext cx="19050" cy="2095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EDDD266-3443-426F-8699-A376CEB0AD49}"/>
              </a:ext>
            </a:extLst>
          </p:cNvPr>
          <p:cNvSpPr>
            <a:spLocks xmlns:a="http://schemas.openxmlformats.org/drawingml/2006/main" noGrp="1"/>
          </p:cNvSpPr>
          <p:nvPr/>
        </p:nvSpPr>
        <p:spPr>
          <a:xfrm xmlns:a="http://schemas.openxmlformats.org/drawingml/2006/main">
            <a:off x="63246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94A3A"/>
                </a:solidFill>
                <a:latin typeface="Yu Gothic"/>
                <a:ea typeface="Yu Gothic"/>
                <a:cs typeface="Yu Gothic"/>
              </a:defRPr>
            </a:pPr>
            <a:r>
              <a:rPr sz="1800" b="1">
                <a:solidFill>
                  <a:srgbClr val="B94A3A"/>
                </a:solidFill>
                <a:latin typeface="Yu Gothic"/>
                <a:ea typeface="Yu Gothic"/>
                <a:cs typeface="Yu Gothic"/>
              </a:rPr>
              <a:t>まだ言えないこと</a:t>
            </a:r>
          </a:p>
        </p:txBody>
      </p:sp>
      <p:sp>
        <p:nvSpPr>
          <p:cNvPr id="12" name="">
            <a:extLst xmlns:a="http://schemas.openxmlformats.org/drawingml/2006/main">
              <a:ext uri="{FF2B5EF4-FFF2-40B4-BE49-F238E27FC236}">
                <a16:creationId xmlns:a16="http://schemas.microsoft.com/office/drawing/2014/main" id="{54AD3692-ECE3-4DED-88EB-866F66E3BB10}"/>
              </a:ext>
            </a:extLst>
          </p:cNvPr>
          <p:cNvSpPr>
            <a:spLocks xmlns:a="http://schemas.openxmlformats.org/drawingml/2006/main" noGrp="1"/>
          </p:cNvSpPr>
          <p:nvPr/>
        </p:nvSpPr>
        <p:spPr>
          <a:xfrm xmlns:a="http://schemas.openxmlformats.org/drawingml/2006/main">
            <a:off x="6381750" y="1638300"/>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・性能向上と未知動画への転移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・代理データが現場の学習を十分に再現したこと</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・構造や規模が異なるAI間の転移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・情報漏えいへの形式的保証</a:t>
            </a:r>
          </a:p>
        </p:txBody>
      </p:sp>
      <p:sp>
        <p:nvSpPr>
          <p:cNvPr id="13" name="">
            <a:extLst xmlns:a="http://schemas.openxmlformats.org/drawingml/2006/main">
              <a:ext uri="{FF2B5EF4-FFF2-40B4-BE49-F238E27FC236}">
                <a16:creationId xmlns:a16="http://schemas.microsoft.com/office/drawing/2014/main" id="{7EDA5AEB-32B8-49B8-9ED7-84644828AF46}"/>
              </a:ext>
            </a:extLst>
          </p:cNvPr>
          <p:cNvSpPr>
            <a:spLocks xmlns:a="http://schemas.openxmlformats.org/drawingml/2006/main" noGrp="1"/>
          </p:cNvSpPr>
          <p:nvPr/>
        </p:nvSpPr>
        <p:spPr>
          <a:xfrm xmlns:a="http://schemas.openxmlformats.org/drawingml/2006/main">
            <a:off x="685800" y="3486150"/>
            <a:ext cx="108204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F56C97A-CF09-4A8D-BDE8-6726BF8B984B}"/>
              </a:ext>
            </a:extLst>
          </p:cNvPr>
          <p:cNvSpPr>
            <a:spLocks xmlns:a="http://schemas.openxmlformats.org/drawingml/2006/main" noGrp="1"/>
          </p:cNvSpPr>
          <p:nvPr/>
        </p:nvSpPr>
        <p:spPr>
          <a:xfrm xmlns:a="http://schemas.openxmlformats.org/drawingml/2006/main">
            <a:off x="742950" y="37242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今後の順序</a:t>
            </a:r>
          </a:p>
        </p:txBody>
      </p:sp>
      <p:sp>
        <p:nvSpPr>
          <p:cNvPr id="15" name="">
            <a:extLst xmlns:a="http://schemas.openxmlformats.org/drawingml/2006/main">
              <a:ext uri="{FF2B5EF4-FFF2-40B4-BE49-F238E27FC236}">
                <a16:creationId xmlns:a16="http://schemas.microsoft.com/office/drawing/2014/main" id="{1A8642CA-B20B-449B-B983-CAB3F893B3B8}"/>
              </a:ext>
            </a:extLst>
          </p:cNvPr>
          <p:cNvSpPr>
            <a:spLocks xmlns:a="http://schemas.openxmlformats.org/drawingml/2006/main" noGrp="1"/>
          </p:cNvSpPr>
          <p:nvPr/>
        </p:nvSpPr>
        <p:spPr>
          <a:xfrm xmlns:a="http://schemas.openxmlformats.org/drawingml/2006/main">
            <a:off x="800100" y="4171950"/>
            <a:ext cx="400050" cy="400050"/>
          </a:xfrm>
          <a:prstGeom xmlns:a="http://schemas.openxmlformats.org/drawingml/2006/main" prst="ellipse">
            <a:avLst/>
          </a:prstGeom>
          <a:solidFill xmlns:a="http://schemas.openxmlformats.org/drawingml/2006/main">
            <a:srgbClr val="B94A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4CCB0D9-56C7-48F4-9ADB-EA08B1ADFB66}"/>
              </a:ext>
            </a:extLst>
          </p:cNvPr>
          <p:cNvSpPr>
            <a:spLocks xmlns:a="http://schemas.openxmlformats.org/drawingml/2006/main" noGrp="1"/>
          </p:cNvSpPr>
          <p:nvPr/>
        </p:nvSpPr>
        <p:spPr>
          <a:xfrm xmlns:a="http://schemas.openxmlformats.org/drawingml/2006/main">
            <a:off x="800100" y="42195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17" name="">
            <a:extLst xmlns:a="http://schemas.openxmlformats.org/drawingml/2006/main">
              <a:ext uri="{FF2B5EF4-FFF2-40B4-BE49-F238E27FC236}">
                <a16:creationId xmlns:a16="http://schemas.microsoft.com/office/drawing/2014/main" id="{E19ADCA3-AC75-4936-9577-F83559211D7A}"/>
              </a:ext>
            </a:extLst>
          </p:cNvPr>
          <p:cNvSpPr>
            <a:spLocks xmlns:a="http://schemas.openxmlformats.org/drawingml/2006/main" noGrp="1"/>
          </p:cNvSpPr>
          <p:nvPr/>
        </p:nvSpPr>
        <p:spPr>
          <a:xfrm xmlns:a="http://schemas.openxmlformats.org/drawingml/2006/main">
            <a:off x="1428750" y="4152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中央側AIの更新方向を確認</a:t>
            </a:r>
          </a:p>
        </p:txBody>
      </p:sp>
      <p:sp>
        <p:nvSpPr>
          <p:cNvPr id="18" name="">
            <a:extLst xmlns:a="http://schemas.openxmlformats.org/drawingml/2006/main">
              <a:ext uri="{FF2B5EF4-FFF2-40B4-BE49-F238E27FC236}">
                <a16:creationId xmlns:a16="http://schemas.microsoft.com/office/drawing/2014/main" id="{50FE67E7-5570-46A5-B3C8-894FE0A46358}"/>
              </a:ext>
            </a:extLst>
          </p:cNvPr>
          <p:cNvSpPr>
            <a:spLocks xmlns:a="http://schemas.openxmlformats.org/drawingml/2006/main" noGrp="1"/>
          </p:cNvSpPr>
          <p:nvPr/>
        </p:nvSpPr>
        <p:spPr>
          <a:xfrm xmlns:a="http://schemas.openxmlformats.org/drawingml/2006/main">
            <a:off x="4686300" y="41529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同じ4組を固定し、ごく小さい1回の更新でずれが減るかを確認</a:t>
            </a:r>
          </a:p>
        </p:txBody>
      </p:sp>
      <p:sp>
        <p:nvSpPr>
          <p:cNvPr id="19" name="">
            <a:extLst xmlns:a="http://schemas.openxmlformats.org/drawingml/2006/main">
              <a:ext uri="{FF2B5EF4-FFF2-40B4-BE49-F238E27FC236}">
                <a16:creationId xmlns:a16="http://schemas.microsoft.com/office/drawing/2014/main" id="{C602973A-DB43-4273-A640-85ED44CC8336}"/>
              </a:ext>
            </a:extLst>
          </p:cNvPr>
          <p:cNvSpPr>
            <a:spLocks xmlns:a="http://schemas.openxmlformats.org/drawingml/2006/main" noGrp="1"/>
          </p:cNvSpPr>
          <p:nvPr/>
        </p:nvSpPr>
        <p:spPr>
          <a:xfrm xmlns:a="http://schemas.openxmlformats.org/drawingml/2006/main">
            <a:off x="800100" y="4800600"/>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424B0F2-107B-468A-935F-D76D3A267A83}"/>
              </a:ext>
            </a:extLst>
          </p:cNvPr>
          <p:cNvSpPr>
            <a:spLocks xmlns:a="http://schemas.openxmlformats.org/drawingml/2006/main" noGrp="1"/>
          </p:cNvSpPr>
          <p:nvPr/>
        </p:nvSpPr>
        <p:spPr>
          <a:xfrm xmlns:a="http://schemas.openxmlformats.org/drawingml/2006/main">
            <a:off x="800100" y="48482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21" name="">
            <a:extLst xmlns:a="http://schemas.openxmlformats.org/drawingml/2006/main">
              <a:ext uri="{FF2B5EF4-FFF2-40B4-BE49-F238E27FC236}">
                <a16:creationId xmlns:a16="http://schemas.microsoft.com/office/drawing/2014/main" id="{DF2138F0-8432-45D2-9F23-B7A2FAC19F80}"/>
              </a:ext>
            </a:extLst>
          </p:cNvPr>
          <p:cNvSpPr>
            <a:spLocks xmlns:a="http://schemas.openxmlformats.org/drawingml/2006/main" noGrp="1"/>
          </p:cNvSpPr>
          <p:nvPr/>
        </p:nvSpPr>
        <p:spPr>
          <a:xfrm xmlns:a="http://schemas.openxmlformats.org/drawingml/2006/main">
            <a:off x="1428750" y="47815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問題解消後に5ラウンド</a:t>
            </a:r>
          </a:p>
        </p:txBody>
      </p:sp>
      <p:sp>
        <p:nvSpPr>
          <p:cNvPr id="22" name="">
            <a:extLst xmlns:a="http://schemas.openxmlformats.org/drawingml/2006/main">
              <a:ext uri="{FF2B5EF4-FFF2-40B4-BE49-F238E27FC236}">
                <a16:creationId xmlns:a16="http://schemas.microsoft.com/office/drawing/2014/main" id="{53F07048-FC02-4763-9148-050627D90AF7}"/>
              </a:ext>
            </a:extLst>
          </p:cNvPr>
          <p:cNvSpPr>
            <a:spLocks xmlns:a="http://schemas.openxmlformats.org/drawingml/2006/main" noGrp="1"/>
          </p:cNvSpPr>
          <p:nvPr/>
        </p:nvSpPr>
        <p:spPr>
          <a:xfrm xmlns:a="http://schemas.openxmlformats.org/drawingml/2006/main">
            <a:off x="4686300" y="47815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同じ記録形式で、三層の接続と次回への状態継承を確認</a:t>
            </a:r>
          </a:p>
        </p:txBody>
      </p:sp>
      <p:sp>
        <p:nvSpPr>
          <p:cNvPr id="23" name="">
            <a:extLst xmlns:a="http://schemas.openxmlformats.org/drawingml/2006/main">
              <a:ext uri="{FF2B5EF4-FFF2-40B4-BE49-F238E27FC236}">
                <a16:creationId xmlns:a16="http://schemas.microsoft.com/office/drawing/2014/main" id="{C416B77E-58E6-49B4-ABA8-B2BF66109FE5}"/>
              </a:ext>
            </a:extLst>
          </p:cNvPr>
          <p:cNvSpPr>
            <a:spLocks xmlns:a="http://schemas.openxmlformats.org/drawingml/2006/main" noGrp="1"/>
          </p:cNvSpPr>
          <p:nvPr/>
        </p:nvSpPr>
        <p:spPr>
          <a:xfrm xmlns:a="http://schemas.openxmlformats.org/drawingml/2006/main">
            <a:off x="800100" y="5429250"/>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4B6A1ED-73A7-40F9-8EF4-F36CCB405575}"/>
              </a:ext>
            </a:extLst>
          </p:cNvPr>
          <p:cNvSpPr>
            <a:spLocks xmlns:a="http://schemas.openxmlformats.org/drawingml/2006/main" noGrp="1"/>
          </p:cNvSpPr>
          <p:nvPr/>
        </p:nvSpPr>
        <p:spPr>
          <a:xfrm xmlns:a="http://schemas.openxmlformats.org/drawingml/2006/main">
            <a:off x="800100" y="54768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25" name="">
            <a:extLst xmlns:a="http://schemas.openxmlformats.org/drawingml/2006/main">
              <a:ext uri="{FF2B5EF4-FFF2-40B4-BE49-F238E27FC236}">
                <a16:creationId xmlns:a16="http://schemas.microsoft.com/office/drawing/2014/main" id="{80CB74B2-6776-4684-8BE8-DE4C7B83BB40}"/>
              </a:ext>
            </a:extLst>
          </p:cNvPr>
          <p:cNvSpPr>
            <a:spLocks xmlns:a="http://schemas.openxmlformats.org/drawingml/2006/main" noGrp="1"/>
          </p:cNvSpPr>
          <p:nvPr/>
        </p:nvSpPr>
        <p:spPr>
          <a:xfrm xmlns:a="http://schemas.openxmlformats.org/drawingml/2006/main">
            <a:off x="1428750" y="54102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第II段階で比較・独立評価</a:t>
            </a:r>
          </a:p>
        </p:txBody>
      </p:sp>
      <p:sp>
        <p:nvSpPr>
          <p:cNvPr id="26" name="">
            <a:extLst xmlns:a="http://schemas.openxmlformats.org/drawingml/2006/main">
              <a:ext uri="{FF2B5EF4-FFF2-40B4-BE49-F238E27FC236}">
                <a16:creationId xmlns:a16="http://schemas.microsoft.com/office/drawing/2014/main" id="{2D5DDA62-2986-4BF9-84D5-F7A31861ECB6}"/>
              </a:ext>
            </a:extLst>
          </p:cNvPr>
          <p:cNvSpPr>
            <a:spLocks xmlns:a="http://schemas.openxmlformats.org/drawingml/2006/main" noGrp="1"/>
          </p:cNvSpPr>
          <p:nvPr/>
        </p:nvSpPr>
        <p:spPr>
          <a:xfrm xmlns:a="http://schemas.openxmlformats.org/drawingml/2006/main">
            <a:off x="4686300" y="5410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中央側動画のみ、学習後、学習後＋変化を未使用動画で比較</a:t>
            </a:r>
          </a:p>
        </p:txBody>
      </p:sp>
      <p:sp>
        <p:nvSpPr>
          <p:cNvPr id="27" name="">
            <a:extLst xmlns:a="http://schemas.openxmlformats.org/drawingml/2006/main">
              <a:ext uri="{FF2B5EF4-FFF2-40B4-BE49-F238E27FC236}">
                <a16:creationId xmlns:a16="http://schemas.microsoft.com/office/drawing/2014/main" id="{54AD0C37-5211-43CB-8236-701B78EE8E11}"/>
              </a:ext>
            </a:extLst>
          </p:cNvPr>
          <p:cNvSpPr>
            <a:spLocks xmlns:a="http://schemas.openxmlformats.org/drawingml/2006/main" noGrp="1"/>
          </p:cNvSpPr>
          <p:nvPr/>
        </p:nvSpPr>
        <p:spPr>
          <a:xfrm xmlns:a="http://schemas.openxmlformats.org/drawingml/2006/main">
            <a:off x="685800" y="6029325"/>
            <a:ext cx="10820400" cy="3619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B41EF5C-F53B-4AF6-9565-CFA7CD3046EB}"/>
              </a:ext>
            </a:extLst>
          </p:cNvPr>
          <p:cNvSpPr>
            <a:spLocks xmlns:a="http://schemas.openxmlformats.org/drawingml/2006/main" noGrp="1"/>
          </p:cNvSpPr>
          <p:nvPr/>
        </p:nvSpPr>
        <p:spPr>
          <a:xfrm xmlns:a="http://schemas.openxmlformats.org/drawingml/2006/main">
            <a:off x="876300" y="609600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到達点：効果を正しく検証できる土台と、次に確認すべき失敗箇所を特定した</a:t>
            </a:r>
          </a:p>
        </p:txBody>
      </p:sp>
      <p:sp>
        <p:nvSpPr>
          <p:cNvPr id="29" name="">
            <a:extLst xmlns:a="http://schemas.openxmlformats.org/drawingml/2006/main">
              <a:ext uri="{FF2B5EF4-FFF2-40B4-BE49-F238E27FC236}">
                <a16:creationId xmlns:a16="http://schemas.microsoft.com/office/drawing/2014/main" id="{91F75A83-E567-45CA-A76A-AE03BB26AFB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591902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2026-09-17T18:52:35.1590000Z</dcterms:created>
  <dcterms:modified xsi:type="dcterms:W3CDTF">2026-09-17T18:52:35.1590000Z</dcterms:modified>
</coreProperties>
</file>