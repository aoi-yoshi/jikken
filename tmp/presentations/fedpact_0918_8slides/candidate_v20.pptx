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3f0e9ed150c4065" /><Relationship Type="http://schemas.openxmlformats.org/officeDocument/2006/relationships/extended-properties" Target="/docProps/app.xml" Id="R154aad1f6794475b" /><Relationship Type="http://schemas.openxmlformats.org/officeDocument/2006/relationships/officeDocument" Target="/ppt/presentation.xml" Id="R208f4f110ae848bd" /></Relationships>
</file>

<file path=ppt/presentation.xml><?xml version="1.0" encoding="utf-8"?>
<p:presentation xmlns:p="http://schemas.openxmlformats.org/presentationml/2006/main">
  <p:sldMasterIdLst>
    <p:sldMasterId xmlns:r="http://schemas.openxmlformats.org/officeDocument/2006/relationships" id="2147483648" r:id="R134e9eab81a943e2"/>
  </p:sldMasterIdLst>
  <p:notesMasterIdLst>
    <p:notesMasterId xmlns:r="http://schemas.openxmlformats.org/officeDocument/2006/relationships" r:id="Rbffc23427411446c"/>
  </p:notesMasterIdLst>
  <p:sldIdLst>
    <p:sldId xmlns:r="http://schemas.openxmlformats.org/officeDocument/2006/relationships" id="256" r:id="R5a59649f5eb3421a"/>
    <p:sldId xmlns:r="http://schemas.openxmlformats.org/officeDocument/2006/relationships" id="257" r:id="Rcdb31bf18986470b"/>
    <p:sldId xmlns:r="http://schemas.openxmlformats.org/officeDocument/2006/relationships" id="258" r:id="R4608297e4be44649"/>
    <p:sldId xmlns:r="http://schemas.openxmlformats.org/officeDocument/2006/relationships" id="259" r:id="R4f79fc732d0c4382"/>
    <p:sldId xmlns:r="http://schemas.openxmlformats.org/officeDocument/2006/relationships" id="260" r:id="R5b231f70efc44f18"/>
    <p:sldId xmlns:r="http://schemas.openxmlformats.org/officeDocument/2006/relationships" id="261" r:id="R76766c685704438c"/>
    <p:sldId xmlns:r="http://schemas.openxmlformats.org/officeDocument/2006/relationships" id="262" r:id="R788089cbd66642a1"/>
    <p:sldId xmlns:r="http://schemas.openxmlformats.org/officeDocument/2006/relationships" id="263" r:id="Rdb268ea33c8a41c6"/>
    <p:sldId xmlns:r="http://schemas.openxmlformats.org/officeDocument/2006/relationships" id="264" r:id="Rbfd6423b332c479e"/>
    <p:sldId xmlns:r="http://schemas.openxmlformats.org/officeDocument/2006/relationships" id="265" r:id="Re67363f407d341d1"/>
    <p:sldId xmlns:r="http://schemas.openxmlformats.org/officeDocument/2006/relationships" id="266" r:id="Rb789bb4f37e04bb0"/>
    <p:sldId xmlns:r="http://schemas.openxmlformats.org/officeDocument/2006/relationships" id="267" r:id="R957f0c5c0d6041f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156cdcc866d4d1f" /><Relationship Type="http://schemas.openxmlformats.org/officeDocument/2006/relationships/slideMaster" Target="/ppt/slideMasters/slideMaster1.xml" Id="R134e9eab81a943e2" /><Relationship Type="http://schemas.openxmlformats.org/officeDocument/2006/relationships/notesMaster" Target="/ppt/notesMasters/notesMaster1.xml" Id="Rbffc23427411446c" /><Relationship Type="http://schemas.openxmlformats.org/officeDocument/2006/relationships/presProps" Target="/ppt/presProps.xml" Id="Rd3634bdd41ef4975" /><Relationship Type="http://schemas.openxmlformats.org/officeDocument/2006/relationships/tableStyles" Target="/ppt/tableStyles.xml" Id="Reb757bab269045a4" /><Relationship Type="http://schemas.openxmlformats.org/officeDocument/2006/relationships/slide" Target="/ppt/slides/slide1.xml" Id="R5a59649f5eb3421a" /><Relationship Type="http://schemas.openxmlformats.org/officeDocument/2006/relationships/slide" Target="/ppt/slides/slide2.xml" Id="Rcdb31bf18986470b" /><Relationship Type="http://schemas.openxmlformats.org/officeDocument/2006/relationships/slide" Target="/ppt/slides/slide3.xml" Id="R4608297e4be44649" /><Relationship Type="http://schemas.openxmlformats.org/officeDocument/2006/relationships/slide" Target="/ppt/slides/slide4.xml" Id="R4f79fc732d0c4382" /><Relationship Type="http://schemas.openxmlformats.org/officeDocument/2006/relationships/slide" Target="/ppt/slides/slide5.xml" Id="R5b231f70efc44f18" /><Relationship Type="http://schemas.openxmlformats.org/officeDocument/2006/relationships/slide" Target="/ppt/slides/slide6.xml" Id="R76766c685704438c" /><Relationship Type="http://schemas.openxmlformats.org/officeDocument/2006/relationships/slide" Target="/ppt/slides/slide7.xml" Id="R788089cbd66642a1" /><Relationship Type="http://schemas.openxmlformats.org/officeDocument/2006/relationships/slide" Target="/ppt/slides/slide8.xml" Id="Rdb268ea33c8a41c6" /><Relationship Type="http://schemas.openxmlformats.org/officeDocument/2006/relationships/slide" Target="/ppt/slides/slide9.xml" Id="Rbfd6423b332c479e" /><Relationship Type="http://schemas.openxmlformats.org/officeDocument/2006/relationships/slide" Target="/ppt/slides/slide10.xml" Id="Re67363f407d341d1" /><Relationship Type="http://schemas.openxmlformats.org/officeDocument/2006/relationships/slide" Target="/ppt/slides/slide11.xml" Id="Rb789bb4f37e04bb0" /><Relationship Type="http://schemas.openxmlformats.org/officeDocument/2006/relationships/slide" Target="/ppt/slides/slide12.xml" Id="R957f0c5c0d6041f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91b11662e0a4f4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321d2e5ae5c4d74" /><Relationship Type="http://schemas.openxmlformats.org/officeDocument/2006/relationships/notesMaster" Target="/ppt/notesMasters/notesMaster1.xml" Id="Rb00692cee7bb455d" /></Relationships>
</file>

<file path=ppt/notesSlides/_rels/notesSlide2.xml.rels>&#65279;<?xml version="1.0" encoding="utf-8"?><Relationships xmlns="http://schemas.openxmlformats.org/package/2006/relationships"><Relationship Type="http://schemas.openxmlformats.org/officeDocument/2006/relationships/slide" Target="/ppt/slides/slide2.xml" Id="R3157a545441044cf" /><Relationship Type="http://schemas.openxmlformats.org/officeDocument/2006/relationships/notesMaster" Target="/ppt/notesMasters/notesMaster1.xml" Id="Rfbb28ad8818746ad" /></Relationships>
</file>

<file path=ppt/notesSlides/_rels/notesSlide3.xml.rels>&#65279;<?xml version="1.0" encoding="utf-8"?><Relationships xmlns="http://schemas.openxmlformats.org/package/2006/relationships"><Relationship Type="http://schemas.openxmlformats.org/officeDocument/2006/relationships/slide" Target="/ppt/slides/slide3.xml" Id="R8047e25ee4cf4493" /><Relationship Type="http://schemas.openxmlformats.org/officeDocument/2006/relationships/notesMaster" Target="/ppt/notesMasters/notesMaster1.xml" Id="R46f6f7272e1347c1" /></Relationships>
</file>

<file path=ppt/notesSlides/_rels/notesSlide4.xml.rels>&#65279;<?xml version="1.0" encoding="utf-8"?><Relationships xmlns="http://schemas.openxmlformats.org/package/2006/relationships"><Relationship Type="http://schemas.openxmlformats.org/officeDocument/2006/relationships/slide" Target="/ppt/slides/slide4.xml" Id="R21f1b949930e4245" /><Relationship Type="http://schemas.openxmlformats.org/officeDocument/2006/relationships/notesMaster" Target="/ppt/notesMasters/notesMaster1.xml" Id="R5952c875d1734319" /></Relationships>
</file>

<file path=ppt/notesSlides/_rels/notesSlide5.xml.rels>&#65279;<?xml version="1.0" encoding="utf-8"?><Relationships xmlns="http://schemas.openxmlformats.org/package/2006/relationships"><Relationship Type="http://schemas.openxmlformats.org/officeDocument/2006/relationships/slide" Target="/ppt/slides/slide5.xml" Id="Rd61034d32c244f98" /><Relationship Type="http://schemas.openxmlformats.org/officeDocument/2006/relationships/notesMaster" Target="/ppt/notesMasters/notesMaster1.xml" Id="R19d72e22ad0d4698" /></Relationships>
</file>

<file path=ppt/notesSlides/_rels/notesSlide6.xml.rels>&#65279;<?xml version="1.0" encoding="utf-8"?><Relationships xmlns="http://schemas.openxmlformats.org/package/2006/relationships"><Relationship Type="http://schemas.openxmlformats.org/officeDocument/2006/relationships/slide" Target="/ppt/slides/slide6.xml" Id="Rd1828f5c6eaa45c3" /><Relationship Type="http://schemas.openxmlformats.org/officeDocument/2006/relationships/notesMaster" Target="/ppt/notesMasters/notesMaster1.xml" Id="Rb4e54f441ce2452c" /></Relationships>
</file>

<file path=ppt/notesSlides/_rels/notesSlide7.xml.rels>&#65279;<?xml version="1.0" encoding="utf-8"?><Relationships xmlns="http://schemas.openxmlformats.org/package/2006/relationships"><Relationship Type="http://schemas.openxmlformats.org/officeDocument/2006/relationships/slide" Target="/ppt/slides/slide7.xml" Id="R24d9cca460a8472d" /><Relationship Type="http://schemas.openxmlformats.org/officeDocument/2006/relationships/notesMaster" Target="/ppt/notesMasters/notesMaster1.xml" Id="R5c809fb45fc1435a" /></Relationships>
</file>

<file path=ppt/notesSlides/_rels/notesSlide8.xml.rels>&#65279;<?xml version="1.0" encoding="utf-8"?><Relationships xmlns="http://schemas.openxmlformats.org/package/2006/relationships"><Relationship Type="http://schemas.openxmlformats.org/officeDocument/2006/relationships/slide" Target="/ppt/slides/slide8.xml" Id="R3b41765bf3384cf1" /><Relationship Type="http://schemas.openxmlformats.org/officeDocument/2006/relationships/notesMaster" Target="/ppt/notesMasters/notesMaster1.xml" Id="Raab125509a9d43bc" /></Relationships>
</file>

<file path=ppt/notesSlides/_rels/notesSlide9.xml.rels>&#65279;<?xml version="1.0" encoding="utf-8"?><Relationships xmlns="http://schemas.openxmlformats.org/package/2006/relationships"><Relationship Type="http://schemas.openxmlformats.org/officeDocument/2006/relationships/slide" Target="/ppt/slides/slide9.xml" Id="Rad7dc33e86db437a" /><Relationship Type="http://schemas.openxmlformats.org/officeDocument/2006/relationships/notesMaster" Target="/ppt/notesMasters/notesMaster1.xml" Id="R107b0221fbad41bb"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324313e6721d4869" /><Relationship Type="http://schemas.openxmlformats.org/officeDocument/2006/relationships/notesMaster" Target="/ppt/notesMasters/notesMaster1.xml" Id="Reab4b4a271c64278"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85b42c3c54454022" /><Relationship Type="http://schemas.openxmlformats.org/officeDocument/2006/relationships/notesMaster" Target="/ppt/notesMasters/notesMaster1.xml" Id="Rc9b6127257124738"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d5e8daafc2b94234" /><Relationship Type="http://schemas.openxmlformats.org/officeDocument/2006/relationships/notesMaster" Target="/ppt/notesMasters/notesMaster1.xml" Id="R90a852839b114d1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【目安 0:00–1:10】</a:t>
            </a:r>
          </a:p>
          <a:p xmlns:a="http://schemas.openxmlformats.org/drawingml/2006/main">
            <a:r>
              <a:t>今回は、複数の自動運転車やロボットが、同じ危険判定を行う場面を想定しています。判定内容は共通でも、場所や時間、天候が違うため、それぞれが経験する動画は異なります。ある現場で得た経験をサービス全体へ反映できれば、中央側のAIも継続的に更新できます。しかし、現場の動画をそのまま中央へ集めることは難しく、連合平均でまとめた小型AIの更新を、構造や規模が異なる中央側AIへ直接渡すこともできません。そこでFedPACTでは、現場でAIの判定がどのように変わったかを数値で受け取り、その変化を中央側が持つ動画上に表して学習へ使います。この後は、変化を測る、複数動画をまとめる、中央側の動画上に表す、中央側AIを更新する、という順番で説明します。</a:t>
            </a:r>
          </a:p>
          <a:p xmlns:a="http://schemas.openxmlformats.org/drawingml/2006/main">
            <a:r>
              <a:t/>
            </a:r>
          </a:p>
          <a:p xmlns:a="http://schemas.openxmlformats.org/drawingml/2006/main">
            <a:r>
              <a:t>【根拠】</a:t>
            </a:r>
          </a:p>
          <a:p xmlns:a="http://schemas.openxmlformats.org/drawingml/2006/main">
            <a:r>
              <a:t>notes/advisor/sources/raw/2026-09-16/slack_zettsu_reply_to_chen_ja_date_unknown_received_2026-09-16.md（利用場面、接続問題、適用範囲）</a:t>
            </a:r>
          </a:p>
          <a:p xmlns:a="http://schemas.openxmlformats.org/drawingml/2006/main">
            <a:r>
              <a:t>notes/advisor/sources/raw/2026-09-01/FedPACT手法提案260901.pdf（研究目的、三層構造）</a:t>
            </a:r>
          </a:p>
          <a:p xmlns:a="http://schemas.openxmlformats.org/drawingml/2006/main">
            <a:r>
              <a:t>画像: artifacts/datasets/frames/train/003d6c3909/003.jpg, artifacts/datasets/frames/train/b82e955a9fdf13e2/003.jpg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【目安 1:10–2:10】</a:t>
            </a:r>
          </a:p>
          <a:p xmlns:a="http://schemas.openxmlformats.org/drawingml/2006/main">
            <a:r>
              <a:t>ここでは、白い車が横から接近する危険動画を例にします。この実験では、AIが出した通常と危険の確率を記録しています。q^{pre}は局所学習前、q^{post}は局所学習後に同じ動画を判定した結果です。この動画では、危険確率が0.349から0.644へ変わり、Δqはプラス0.295でした。つまり、この入力に対するAIの出力が危険側へ動いたことが分かります。ただし、この値だけから危険を正しく学習した、あるいは危険原因を理解したとは言えません。次に、このような1本ごとの反応を複数動画からまとめます。</a:t>
            </a:r>
          </a:p>
          <a:p xmlns:a="http://schemas.openxmlformats.org/drawingml/2006/main">
            <a:r>
              <a:t/>
            </a:r>
          </a:p>
          <a:p xmlns:a="http://schemas.openxmlformats.org/drawingml/2006/main">
            <a:r>
              <a:t>【根拠】</a:t>
            </a:r>
          </a:p>
          <a:p xmlns:a="http://schemas.openxmlformats.org/drawingml/2006/main">
            <a:r>
              <a:t>artifacts/runs/fedpact_stage1/p1d_layer1_20260917_01/client_local/client-0/private_trace.json（sample 15a4f810cc4c2aef）</a:t>
            </a:r>
          </a:p>
          <a:p xmlns:a="http://schemas.openxmlformats.org/drawingml/2006/main">
            <a:r>
              <a:t>artifacts/datasets/fedpact_stage1/manifest_paired_alert_quartiles.jsonl（危険区間、4フレーム）</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【目安 2:10–3:10】</a:t>
            </a:r>
          </a:p>
          <a:p xmlns:a="http://schemas.openxmlformats.org/drawingml/2006/main">
            <a:r>
              <a:t>1本の動画の結果をそのまま中央側へ送るわけではありません。先ほどの動画を含む危険動画3本について、学習後の危険確率を平均すると0.724になります。これがμ^{post}_{k,r}です。学習前後の変化量の平均はプラス0.238で、これがΔμ_{k,r}です。まとめた本数π_{k,r}は3です。この三つをQ_{k,r}として送ります。中央側へ送るのは、この要約と小型AIの更新情報です。元の動画、画像、動画ごとの識別情報は送りません。また、小型AIの更新は連合平均へ渡しますが、Q_{k,r}は平均せず、次の代理データ生成へ渡します。</a:t>
            </a:r>
          </a:p>
          <a:p xmlns:a="http://schemas.openxmlformats.org/drawingml/2006/main">
            <a:r>
              <a:t/>
            </a:r>
          </a:p>
          <a:p xmlns:a="http://schemas.openxmlformats.org/drawingml/2006/main">
            <a:r>
              <a:t>【根拠】</a:t>
            </a:r>
          </a:p>
          <a:p xmlns:a="http://schemas.openxmlformats.org/drawingml/2006/main">
            <a:r>
              <a:t>artifacts/runs/fedpact_stage1/p1d_layer1_20260917_01/client_local/client-0/private_trace.json</a:t>
            </a:r>
          </a:p>
          <a:p xmlns:a="http://schemas.openxmlformats.org/drawingml/2006/main">
            <a:r>
              <a:t>artifacts/runs/fedpact_stage1/p1d_layer1_20260917_01/communication/client-0/payload.json（r1-client-0-class1）</a:t>
            </a:r>
          </a:p>
          <a:p xmlns:a="http://schemas.openxmlformats.org/drawingml/2006/main">
            <a:r>
              <a:t>notes/advisor/sources/raw/2026-09-16/slack_zettsu_flow_feedback_date_unknown_received_2026-09-16.md（Q生成と別経路）</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【目安 3:10–4:35】</a:t>
            </a:r>
          </a:p>
          <a:p xmlns:a="http://schemas.openxmlformats.org/drawingml/2006/main">
            <a:r>
              <a:t>ここでも、2枚目と3枚目で追った同じr1-client-0-class1を使います。中央側には通常動画30本と危険動画30本、合計60本を用意しています。これは現場の知識そのものではなく、現場側の判定変化を表すための材料です。まず、連合平均後の小型AIを使い、μ^{post}_{k,r}に近い判定を出す動画を探します。上位3本について、変更なし、暗くする、明るくする、コントラストを上げる、中央を切り出す、という5種類を試します。一つのQにつき15候補で、四つのQでは合計60候補です。候補を選ぶときは、学習後の判定だけでなく、連合平均前後の変化がΔμ_{k,r}に近いかも確認します。選んだ入力x̃_{k,r}と学習後の目標値μ^{post}_{k,r}からP_{k,r}を作ります。</a:t>
            </a:r>
          </a:p>
          <a:p xmlns:a="http://schemas.openxmlformats.org/drawingml/2006/main">
            <a:r>
              <a:t/>
            </a:r>
          </a:p>
          <a:p xmlns:a="http://schemas.openxmlformats.org/drawingml/2006/main">
            <a:r>
              <a:t>【根拠】</a:t>
            </a:r>
          </a:p>
          <a:p xmlns:a="http://schemas.openxmlformats.org/drawingml/2006/main">
            <a:r>
              <a:t>artifacts/runs/fedpact_stage1/p1d_full_20260917_02/server/layer2_trace.json（60 seed、top 3、5変換、選択）</a:t>
            </a:r>
          </a:p>
          <a:p xmlns:a="http://schemas.openxmlformats.org/drawingml/2006/main">
            <a:r>
              <a:t>artifacts/runs/fedpact_stage1/p1d_full_20260917_02/server/proxy_pairs.json（Pの構成）</a:t>
            </a:r>
          </a:p>
          <a:p xmlns:a="http://schemas.openxmlformats.org/drawingml/2006/main">
            <a:r>
              <a:t>画像: artifacts/runs/fedpact_stage1/p1d_full_20260917_02/server/transformation_candidates/r1-client-0-class1-rank01-*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【目安 4:35–5:15】</a:t>
            </a:r>
          </a:p>
          <a:p xmlns:a="http://schemas.openxmlformats.org/drawingml/2006/main">
            <a:r>
              <a:t>ここで、後半の結果を読むための実験条件を整理します。今回はNEXAR動画の通常と危険の二値判定を扱い、現場側AIを二台、三ラウンドで動かしました。各台は通常三本、危険三本を使い、一動画から四枚を入力します。危険動画は警告から事象までの区間を四分割し、通常動画も対応する同じ時刻を使いました。中央側には通常三十本と危険三十本、合計六十本を用意しました。各ラウンドでは四つのQ_{k,r}を作り、六十本を検索した後、上位三本を五通りに変換して四つのP_{k,r}を選びます。第I段階なので現場側と中央側は同じ3Bモデルです。今回の結果は接続確認であり、性能向上や異なる規模のAI間の転移を示すものではありません。</a:t>
            </a:r>
          </a:p>
          <a:p xmlns:a="http://schemas.openxmlformats.org/drawingml/2006/main">
            <a:r>
              <a:t/>
            </a:r>
          </a:p>
          <a:p xmlns:a="http://schemas.openxmlformats.org/drawingml/2006/main">
            <a:r>
              <a:t>【根拠】</a:t>
            </a:r>
          </a:p>
          <a:p xmlns:a="http://schemas.openxmlformats.org/drawingml/2006/main">
            <a:r>
              <a:t>config/fedpact_stage1.yaml</a:t>
            </a:r>
          </a:p>
          <a:p xmlns:a="http://schemas.openxmlformats.org/drawingml/2006/main">
            <a:r>
              <a:t>artifacts/runs/fedpact_stage1/p1d_full_20260917_02/summary.json</a:t>
            </a:r>
          </a:p>
          <a:p xmlns:a="http://schemas.openxmlformats.org/drawingml/2006/main">
            <a:r>
              <a:t>artifacts/reports/fedpact_stage1_20260917/three_round_state_lineage.json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【目安 5:15–5:50】</a:t>
            </a:r>
          </a:p>
          <a:p xmlns:a="http://schemas.openxmlformats.org/drawingml/2006/main">
            <a:r>
              <a:t>ここまでの処理を全体図の中で整理します。第1層では二つの現場側AIが局所学習を行い、小型AIの更新情報を連合平均します。一方、判定の変化をまとめたQ_{k,r}は別経路で第2層へ渡します。第2層が本研究の中心で、Q_{k,r}を中央側が持つ動画上の代理データとして表します。第3層ではP_{k,r}を使って中央側AIを更新し、その状態を次のラウンドへ引き継ぎます。今回の合格は処理の接続に対するものであり、性能の良さを示すものではありません。</a:t>
            </a:r>
          </a:p>
          <a:p xmlns:a="http://schemas.openxmlformats.org/drawingml/2006/main">
            <a:r>
              <a:t/>
            </a:r>
          </a:p>
          <a:p xmlns:a="http://schemas.openxmlformats.org/drawingml/2006/main">
            <a:r>
              <a:t>【根拠】</a:t>
            </a:r>
          </a:p>
          <a:p xmlns:a="http://schemas.openxmlformats.org/drawingml/2006/main">
            <a:r>
              <a:t>notes/advisor/sources/raw/2026-09-16/slack_zettsu_flow_feedback_date_unknown_received_2026-09-16.md</a:t>
            </a:r>
          </a:p>
          <a:p xmlns:a="http://schemas.openxmlformats.org/drawingml/2006/main">
            <a:r>
              <a:t>notes/advisor/sources/raw/2026-09-16/slack_zettsu_experiment_feedback_date_unknown_received_2026-09-16.md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【目安 5:50–7:00】</a:t>
            </a:r>
          </a:p>
          <a:p xmlns:a="http://schemas.openxmlformats.org/drawingml/2006/main">
            <a:r>
              <a:t>2枚目から追ってきた危険動画3本の要約を、そのまま追跡します。現場側で求めた学習後の危険確率は0.724でした。中央側で選んだ代理データについて、連合平均後の小型AIが出した危険確率も0.724で、学習後の判定はほぼ一致しています。一方、現場側の変化量はプラス0.238でしたが、代理データでは危険確率が0.673から0.724へ変化しており、その差はプラス0.051でした。方向は同じですが、変化量は十分に再現できていません。また、元動画の正解ラベルは通常でした。ただし、中央側の60本では正解ラベルと小型AIの判定が一致したものが43本だけなので、通常動画が選ばれた原因を検索処理だけに求めることはできません。</a:t>
            </a:r>
          </a:p>
          <a:p xmlns:a="http://schemas.openxmlformats.org/drawingml/2006/main">
            <a:r>
              <a:t/>
            </a:r>
          </a:p>
          <a:p xmlns:a="http://schemas.openxmlformats.org/drawingml/2006/main">
            <a:r>
              <a:t>【根拠】</a:t>
            </a:r>
          </a:p>
          <a:p xmlns:a="http://schemas.openxmlformats.org/drawingml/2006/main">
            <a:r>
              <a:t>artifacts/runs/fedpact_stage1/p1d_full_20260917_02/server/layer2_trace.json（r1-client-0-class1）</a:t>
            </a:r>
          </a:p>
          <a:p xmlns:a="http://schemas.openxmlformats.org/drawingml/2006/main">
            <a:r>
              <a:t>artifacts/runs/fedpact_stage1/p1d_full_20260917_02/server/proxy_pairs.json</a:t>
            </a:r>
          </a:p>
          <a:p xmlns:a="http://schemas.openxmlformats.org/drawingml/2006/main">
            <a:r>
              <a:t>artifacts/reports/fedpact_stage1_20260917/slack_report.md（labelと予測の一致43/60）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【目安 7:00–8:25】</a:t>
            </a:r>
          </a:p>
          <a:p xmlns:a="http://schemas.openxmlformats.org/drawingml/2006/main">
            <a:r>
              <a:t>3ラウンド全体の結果です。各ラウンドで二つの現場側AIが同じ状態から開始し、両方の小型AIが実際に更新されたことを確認しました。連合平均を別に再計算した差は、最大でも約1.16掛ける10のマイナス10でした。また、前のラウンドの出力と次のラウンドの入力が一致していることを、モデルの照合値から確認しました。一方、代理データの再現結果には問題が残っています。1ラウンド目では四つのうち三つで変化の方向が一致しましたが、一つは逆方向でした。さらに3ラウンド目では、中央側AIを更新した後のずれが16.1307から16.1776へ増加しました。今回確認できたのは3ラウンドの処理と状態継承であり、性能が改善した、安定して知識を移せた、という結論ではありません。</a:t>
            </a:r>
          </a:p>
          <a:p xmlns:a="http://schemas.openxmlformats.org/drawingml/2006/main">
            <a:r>
              <a:t/>
            </a:r>
          </a:p>
          <a:p xmlns:a="http://schemas.openxmlformats.org/drawingml/2006/main">
            <a:r>
              <a:t>【根拠】</a:t>
            </a:r>
          </a:p>
          <a:p xmlns:a="http://schemas.openxmlformats.org/drawingml/2006/main">
            <a:r>
              <a:t>artifacts/reports/fedpact_stage1_20260917/three_round_state_lineage.md</a:t>
            </a:r>
          </a:p>
          <a:p xmlns:a="http://schemas.openxmlformats.org/drawingml/2006/main">
            <a:r>
              <a:t>artifacts/reports/fedpact_stage1_20260917/three_round_state_lineage.json</a:t>
            </a:r>
          </a:p>
          <a:p xmlns:a="http://schemas.openxmlformats.org/drawingml/2006/main">
            <a:r>
              <a:t>artifacts/reports/fedpact_stage1_20260917/slack_report.md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【目安 8:25–10:00】</a:t>
            </a:r>
          </a:p>
          <a:p xmlns:a="http://schemas.openxmlformats.org/drawingml/2006/main">
            <a:r>
              <a:t>今回の第I段階では、代表動画の学習前後の判定からQ_{k,r}を作り、中央側で代理データを生成し、中央側AIを更新して次のラウンドへ状態を渡すところまでを対応付けました。三層の処理と3ラウンドの状態継承を、ログから追跡できるようになったことは言えます。一方で、性能向上、代理データの品質、未知動画への転移はまだ言えません。今回の第I段階は同じ3B基盤を使用しているため、構造や規模の異なるAI間で移せたとも言えません。今後は、まず同じ四つの教師データを固定し、ごく小さい1回の更新で中央側AIのずれが減ることを確認します。問題を解消した後に5ラウンドの接続と状態継承を確認します。その後、第II段階で中央側動画だけの場合、学習後の判定を使う場合、学習前後の変化も使う場合を同じ条件で比較し、選択に使っていない動画で評価します。最後に構造や規模が異なるAIへ進みます。</a:t>
            </a:r>
          </a:p>
          <a:p xmlns:a="http://schemas.openxmlformats.org/drawingml/2006/main">
            <a:r>
              <a:t/>
            </a:r>
          </a:p>
          <a:p xmlns:a="http://schemas.openxmlformats.org/drawingml/2006/main">
            <a:r>
              <a:t>【根拠】</a:t>
            </a:r>
          </a:p>
          <a:p xmlns:a="http://schemas.openxmlformats.org/drawingml/2006/main">
            <a:r>
              <a:t>notes/advisor/sources/raw/2026-09-16/slack_zettsu_experiment_feedback_date_unknown_received_2026-09-16.md</a:t>
            </a:r>
          </a:p>
          <a:p xmlns:a="http://schemas.openxmlformats.org/drawingml/2006/main">
            <a:r>
              <a:t>notes/advisor/sources/raw/2026-09-16/slack_zettsu_reply_to_chen_ja_date_unknown_received_2026-09-16.md</a:t>
            </a:r>
          </a:p>
          <a:p xmlns:a="http://schemas.openxmlformats.org/drawingml/2006/main">
            <a:r>
              <a:t>artifacts/reports/fedpact_stage1_20260917/three_round_state_lineage.md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【目安 質疑用】</a:t>
            </a:r>
          </a:p>
          <a:p xmlns:a="http://schemas.openxmlformats.org/drawingml/2006/main">
            <a:r>
              <a:t>各ラウンドで選択した四組、合計十二組の代理データについて、現場側が示した危険確率の変化と、代理データ上で連合集約前後の小型AIが示した危険確率の変化を並べています。方向一致は十二組中七組でした。post KLが小さくてもdelta errorが大きい組があるため、学習後の判定だけの一致を代理データ再現の成功とは扱いません。</a:t>
            </a:r>
          </a:p>
          <a:p xmlns:a="http://schemas.openxmlformats.org/drawingml/2006/main">
            <a:r>
              <a:t/>
            </a:r>
          </a:p>
          <a:p xmlns:a="http://schemas.openxmlformats.org/drawingml/2006/main">
            <a:r>
              <a:t>【根拠】</a:t>
            </a:r>
          </a:p>
          <a:p xmlns:a="http://schemas.openxmlformats.org/drawingml/2006/main">
            <a:r>
              <a:t>artifacts/reports/fedpact_stage1_20260917/three_round_state_lineage.json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【目安 質疑用】</a:t>
            </a:r>
          </a:p>
          <a:p xmlns:a="http://schemas.openxmlformats.org/drawingml/2006/main">
            <a:r>
              <a:t>上段は二台の現場側AIの軽量更新量と分類層更新量、連合平均を別計算したときの最大差です。下段は中央側AIの軽量更新部分に対する勾配、更新量、同じ四組上の加重KLです。三ラウンド目は非増加条件を満たさなかったため、性能確認ではなく有限でゼロではない更新の実行確認として保存しました。</a:t>
            </a:r>
          </a:p>
          <a:p xmlns:a="http://schemas.openxmlformats.org/drawingml/2006/main">
            <a:r>
              <a:t/>
            </a:r>
          </a:p>
          <a:p xmlns:a="http://schemas.openxmlformats.org/drawingml/2006/main">
            <a:r>
              <a:t>【根拠】</a:t>
            </a:r>
          </a:p>
          <a:p xmlns:a="http://schemas.openxmlformats.org/drawingml/2006/main">
            <a:r>
              <a:t>artifacts/reports/fedpact_stage1_20260917/three_round_state_lineage.json</a:t>
            </a:r>
          </a:p>
          <a:p xmlns:a="http://schemas.openxmlformats.org/drawingml/2006/main">
            <a:r>
              <a:t>artifacts/runs/fedpact_stage1/p1d_round3_full_20260917_02/summary.json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【目安 質疑用】</a:t>
            </a:r>
          </a:p>
          <a:p xmlns:a="http://schemas.openxmlformats.org/drawingml/2006/main">
            <a:r>
              <a:t>各処理時間は実行確認と異常検出のために記録した値で、他方式との速度比較ではありません。正解ラベルと小型AIの判定が一致した中央側動画は、各ラウンドで六十本中四十三本、四十四本、四十三本でした。選択動画のラベル不一致には検索処理だけでなく、小型AI自体の誤分類も混在します。通信監査は生の動画や画像を送っていないことの実装確認であり、形式的なプライバシー保証ではありません。</a:t>
            </a:r>
          </a:p>
          <a:p xmlns:a="http://schemas.openxmlformats.org/drawingml/2006/main">
            <a:r>
              <a:t/>
            </a:r>
          </a:p>
          <a:p xmlns:a="http://schemas.openxmlformats.org/drawingml/2006/main">
            <a:r>
              <a:t>【根拠】</a:t>
            </a:r>
          </a:p>
          <a:p xmlns:a="http://schemas.openxmlformats.org/drawingml/2006/main">
            <a:r>
              <a:t>artifacts/reports/fedpact_stage1_20260917/three_round_state_lineage.json</a:t>
            </a:r>
          </a:p>
          <a:p xmlns:a="http://schemas.openxmlformats.org/drawingml/2006/main">
            <a:r>
              <a:t>artifacts/reports/fedpact_stage1_20260917/slack_report.md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4074a4f51544bc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6cdbe89a4974659" /><Relationship Type="http://schemas.openxmlformats.org/officeDocument/2006/relationships/slideLayout" Target="/ppt/slideLayouts/slideLayout1.xml" Id="R3ef649e01bdd485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ef649e01bdd485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b81c3d02176e4daf" /><Relationship Type="http://schemas.openxmlformats.org/officeDocument/2006/relationships/image" Target="/ppt/media/image.jpeg" Id="R623c5534fea34fc4" /><Relationship Type="http://schemas.openxmlformats.org/officeDocument/2006/relationships/image" Target="/ppt/media/image2.jpeg" Id="Rc31c0dd5342e4a2d" /><Relationship Type="http://schemas.openxmlformats.org/officeDocument/2006/relationships/notesSlide" Target="/ppt/notesSlides/notesSlide1.xml" Id="R40c96ecd496d4de5"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ed6c555f999c4037" /><Relationship Type="http://schemas.openxmlformats.org/officeDocument/2006/relationships/image" Target="/ppt/media/image3.jpeg" Id="R6001170e3e3e416e" /><Relationship Type="http://schemas.openxmlformats.org/officeDocument/2006/relationships/image" Target="/ppt/media/image4.jpeg" Id="R14648a7061824600" /><Relationship Type="http://schemas.openxmlformats.org/officeDocument/2006/relationships/image" Target="/ppt/media/image5.jpeg" Id="Rfef218e4295245f5" /><Relationship Type="http://schemas.openxmlformats.org/officeDocument/2006/relationships/image" Target="/ppt/media/image6.jpeg" Id="R9d601625864547fa" /><Relationship Type="http://schemas.openxmlformats.org/officeDocument/2006/relationships/notesSlide" Target="/ppt/notesSlides/notesSlide2.xml" Id="Ra679fc66f5f24373"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25fe4c18e71c4bff" /><Relationship Type="http://schemas.openxmlformats.org/officeDocument/2006/relationships/image" Target="/ppt/media/image7.jpeg" Id="Rac0ba0c84bf34ce7" /><Relationship Type="http://schemas.openxmlformats.org/officeDocument/2006/relationships/image" Target="/ppt/media/image8.jpeg" Id="R0113ab0131c445d8" /><Relationship Type="http://schemas.openxmlformats.org/officeDocument/2006/relationships/image" Target="/ppt/media/image9.jpeg" Id="R2529dbbfca164fbd" /><Relationship Type="http://schemas.openxmlformats.org/officeDocument/2006/relationships/notesSlide" Target="/ppt/notesSlides/notesSlide3.xml" Id="Rbc70a96f5a21418d"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d79c4aa8c49a4baa" /><Relationship Type="http://schemas.openxmlformats.org/officeDocument/2006/relationships/image" Target="/ppt/media/image10.jpeg" Id="R135c74203a5e499f" /><Relationship Type="http://schemas.openxmlformats.org/officeDocument/2006/relationships/image" Target="/ppt/media/image.png" Id="R14ec6864fbf74da0" /><Relationship Type="http://schemas.openxmlformats.org/officeDocument/2006/relationships/image" Target="/ppt/media/image2.png" Id="R53604e87a1a94d73" /><Relationship Type="http://schemas.openxmlformats.org/officeDocument/2006/relationships/image" Target="/ppt/media/image3.png" Id="R32caa7bf16f1438d" /><Relationship Type="http://schemas.openxmlformats.org/officeDocument/2006/relationships/image" Target="/ppt/media/image4.png" Id="R6ef355a5c61a41b9" /><Relationship Type="http://schemas.openxmlformats.org/officeDocument/2006/relationships/image" Target="/ppt/media/image5.png" Id="R8c91a005b33a4d3d" /><Relationship Type="http://schemas.openxmlformats.org/officeDocument/2006/relationships/notesSlide" Target="/ppt/notesSlides/notesSlide4.xml" Id="R4a796c29ba264aca"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1fbe58a4f65a4561" /><Relationship Type="http://schemas.openxmlformats.org/officeDocument/2006/relationships/notesSlide" Target="/ppt/notesSlides/notesSlide5.xml" Id="Ra0fca0537b4d4c10"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1ad1c4af9cdf4ebf" /><Relationship Type="http://schemas.openxmlformats.org/officeDocument/2006/relationships/notesSlide" Target="/ppt/notesSlides/notesSlide6.xml" Id="R62bfefca614e4f82"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630f3fb83b244959" /><Relationship Type="http://schemas.openxmlformats.org/officeDocument/2006/relationships/image" Target="/ppt/media/image6.png" Id="R815531a4aa354ac9" /><Relationship Type="http://schemas.openxmlformats.org/officeDocument/2006/relationships/image" Target="/ppt/media/image7.png" Id="R89b6fe8b1e404254" /><Relationship Type="http://schemas.openxmlformats.org/officeDocument/2006/relationships/image" Target="/ppt/media/image8.png" Id="Rce713d5afce54c0d" /><Relationship Type="http://schemas.openxmlformats.org/officeDocument/2006/relationships/image" Target="/ppt/media/image9.png" Id="Rea9b12d46d1e403b" /><Relationship Type="http://schemas.openxmlformats.org/officeDocument/2006/relationships/notesSlide" Target="/ppt/notesSlides/notesSlide7.xml" Id="R1510c8bbb3d34d14"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91aa7f5782f24095" /><Relationship Type="http://schemas.openxmlformats.org/officeDocument/2006/relationships/notesSlide" Target="/ppt/notesSlides/notesSlide8.xml" Id="Rbe99aa97970c4dde"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1f0e48aef52d4c92" /><Relationship Type="http://schemas.openxmlformats.org/officeDocument/2006/relationships/notesSlide" Target="/ppt/notesSlides/notesSlide9.xml" Id="R61e95783a8974000"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f3ac1694c0e242ff" /><Relationship Type="http://schemas.openxmlformats.org/officeDocument/2006/relationships/notesSlide" Target="/ppt/notesSlides/notesSlide10.xml" Id="R5837f98f1f8c4a56"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90829b1445fe4f01" /><Relationship Type="http://schemas.openxmlformats.org/officeDocument/2006/relationships/notesSlide" Target="/ppt/notesSlides/notesSlide11.xml" Id="R46dd5b98212242c3"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9182f3b240a74f19" /><Relationship Type="http://schemas.openxmlformats.org/officeDocument/2006/relationships/notesSlide" Target="/ppt/notesSlides/notesSlide12.xml" Id="R6e920dec2b554a77"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41" name="">
            <a:extLst xmlns:a="http://schemas.openxmlformats.org/drawingml/2006/main">
              <a:ext uri="{FF2B5EF4-FFF2-40B4-BE49-F238E27FC236}">
                <a16:creationId xmlns:a16="http://schemas.microsoft.com/office/drawing/2014/main" id="{4C7C1A47-5A0D-498F-A36A-7836AA7D20AA}"/>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5E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801B6B8-F621-42ED-B45E-CDCF250320EC}"/>
              </a:ext>
            </a:extLst>
          </p:cNvPr>
          <p:cNvSpPr>
            <a:spLocks xmlns:a="http://schemas.openxmlformats.org/drawingml/2006/main" noGrp="1"/>
          </p:cNvSpPr>
          <p:nvPr/>
        </p:nvSpPr>
        <p:spPr>
          <a:xfrm xmlns:a="http://schemas.openxmlformats.org/drawingml/2006/main">
            <a:off x="381000" y="342900"/>
            <a:ext cx="66675" cy="514350"/>
          </a:xfrm>
          <a:prstGeom xmlns:a="http://schemas.openxmlformats.org/drawingml/2006/main" prst="rect">
            <a:avLst/>
          </a:prstGeom>
          <a:solidFill xmlns:a="http://schemas.openxmlformats.org/drawingml/2006/main">
            <a:srgbClr val="147B78"/>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0E71CC50-7308-4D25-8541-6CA5F3395037}"/>
              </a:ext>
            </a:extLst>
          </p:cNvPr>
          <p:cNvSpPr>
            <a:spLocks xmlns:a="http://schemas.openxmlformats.org/drawingml/2006/main" noGrp="1"/>
          </p:cNvSpPr>
          <p:nvPr/>
        </p:nvSpPr>
        <p:spPr>
          <a:xfrm xmlns:a="http://schemas.openxmlformats.org/drawingml/2006/main">
            <a:off x="590550" y="323850"/>
            <a:ext cx="10572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2850" b="1">
                <a:solidFill>
                  <a:srgbClr val="173B4B"/>
                </a:solidFill>
                <a:latin typeface="Yu Gothic"/>
                <a:ea typeface="Yu Gothic"/>
                <a:cs typeface="Yu Gothic"/>
              </a:defRPr>
            </a:pPr>
            <a:r>
              <a:rPr sz="2850" b="1">
                <a:solidFill>
                  <a:srgbClr val="173B4B"/>
                </a:solidFill>
                <a:latin typeface="Yu Gothic"/>
                <a:ea typeface="Yu Gothic"/>
                <a:cs typeface="Yu Gothic"/>
              </a:rPr>
              <a:t>複数の現場で得た経験を、中央側AIへ生かす</a:t>
            </a:r>
          </a:p>
        </p:txBody>
      </p:sp>
      <p:sp>
        <p:nvSpPr>
          <p:cNvPr id="4" name="">
            <a:extLst xmlns:a="http://schemas.openxmlformats.org/drawingml/2006/main">
              <a:ext uri="{FF2B5EF4-FFF2-40B4-BE49-F238E27FC236}">
                <a16:creationId xmlns:a16="http://schemas.microsoft.com/office/drawing/2014/main" id="{2BBD9757-B2C6-4E5F-A2B4-73BA7CFAE65B}"/>
              </a:ext>
            </a:extLst>
          </p:cNvPr>
          <p:cNvSpPr>
            <a:spLocks xmlns:a="http://schemas.openxmlformats.org/drawingml/2006/main" noGrp="1"/>
          </p:cNvSpPr>
          <p:nvPr/>
        </p:nvSpPr>
        <p:spPr>
          <a:xfrm xmlns:a="http://schemas.openxmlformats.org/drawingml/2006/main">
            <a:off x="11306175" y="428625"/>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200" b="1">
                <a:solidFill>
                  <a:srgbClr val="147B78"/>
                </a:solidFill>
                <a:latin typeface="Yu Gothic"/>
                <a:ea typeface="Yu Gothic"/>
                <a:cs typeface="Yu Gothic"/>
              </a:defRPr>
            </a:pPr>
            <a:r>
              <a:rPr sz="1200" b="1">
                <a:solidFill>
                  <a:srgbClr val="147B78"/>
                </a:solidFill>
                <a:latin typeface="Yu Gothic"/>
                <a:ea typeface="Yu Gothic"/>
                <a:cs typeface="Yu Gothic"/>
              </a:rPr>
              <a:t>01</a:t>
            </a:r>
          </a:p>
        </p:txBody>
      </p:sp>
      <p:sp>
        <p:nvSpPr>
          <p:cNvPr id="5" name="">
            <a:extLst xmlns:a="http://schemas.openxmlformats.org/drawingml/2006/main">
              <a:ext uri="{FF2B5EF4-FFF2-40B4-BE49-F238E27FC236}">
                <a16:creationId xmlns:a16="http://schemas.microsoft.com/office/drawing/2014/main" id="{32538604-C9F4-4595-B633-50E8E84DE360}"/>
              </a:ext>
            </a:extLst>
          </p:cNvPr>
          <p:cNvSpPr>
            <a:spLocks xmlns:a="http://schemas.openxmlformats.org/drawingml/2006/main" noGrp="1"/>
          </p:cNvSpPr>
          <p:nvPr/>
        </p:nvSpPr>
        <p:spPr>
          <a:xfrm xmlns:a="http://schemas.openxmlformats.org/drawingml/2006/main">
            <a:off x="457200" y="6477000"/>
            <a:ext cx="11277600" cy="14288"/>
          </a:xfrm>
          <a:prstGeom xmlns:a="http://schemas.openxmlformats.org/drawingml/2006/main" prst="rect">
            <a:avLst/>
          </a:prstGeom>
          <a:solidFill xmlns:a="http://schemas.openxmlformats.org/drawingml/2006/main">
            <a:srgbClr val="C9D2D3"/>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FE0E5F58-DA25-43AD-9513-E4946B4CE711}"/>
              </a:ext>
            </a:extLst>
          </p:cNvPr>
          <p:cNvSpPr>
            <a:spLocks xmlns:a="http://schemas.openxmlformats.org/drawingml/2006/main" noGrp="1"/>
          </p:cNvSpPr>
          <p:nvPr/>
        </p:nvSpPr>
        <p:spPr>
          <a:xfrm xmlns:a="http://schemas.openxmlformats.org/drawingml/2006/main">
            <a:off x="495300" y="6543675"/>
            <a:ext cx="7239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0">
                <a:solidFill>
                  <a:srgbClr val="617078"/>
                </a:solidFill>
                <a:latin typeface="Yu Gothic"/>
                <a:ea typeface="Yu Gothic"/>
                <a:cs typeface="Yu Gothic"/>
              </a:defRPr>
            </a:pPr>
            <a:r>
              <a:rPr sz="900" b="0">
                <a:solidFill>
                  <a:srgbClr val="617078"/>
                </a:solidFill>
                <a:latin typeface="Yu Gothic"/>
                <a:ea typeface="Yu Gothic"/>
                <a:cs typeface="Yu Gothic"/>
              </a:rPr>
              <a:t>FedPACT / NEXAR　研究会　2026.09.18</a:t>
            </a:r>
          </a:p>
        </p:txBody>
      </p:sp>
      <p:sp>
        <p:nvSpPr>
          <p:cNvPr id="7" name="">
            <a:extLst xmlns:a="http://schemas.openxmlformats.org/drawingml/2006/main">
              <a:ext uri="{FF2B5EF4-FFF2-40B4-BE49-F238E27FC236}">
                <a16:creationId xmlns:a16="http://schemas.microsoft.com/office/drawing/2014/main" id="{EBD7C30A-68DA-473C-8F65-BA3B323F4B70}"/>
              </a:ext>
            </a:extLst>
          </p:cNvPr>
          <p:cNvSpPr>
            <a:spLocks xmlns:a="http://schemas.openxmlformats.org/drawingml/2006/main" noGrp="1"/>
          </p:cNvSpPr>
          <p:nvPr/>
        </p:nvSpPr>
        <p:spPr>
          <a:xfrm xmlns:a="http://schemas.openxmlformats.org/drawingml/2006/main">
            <a:off x="10477500" y="6543675"/>
            <a:ext cx="12001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0">
                <a:solidFill>
                  <a:srgbClr val="617078"/>
                </a:solidFill>
                <a:latin typeface="Yu Gothic"/>
                <a:ea typeface="Yu Gothic"/>
                <a:cs typeface="Yu Gothic"/>
              </a:defRPr>
            </a:pPr>
            <a:r>
              <a:rPr sz="900" b="0">
                <a:solidFill>
                  <a:srgbClr val="617078"/>
                </a:solidFill>
                <a:latin typeface="Yu Gothic"/>
                <a:ea typeface="Yu Gothic"/>
                <a:cs typeface="Yu Gothic"/>
              </a:rPr>
              <a:t>1 / 9</a:t>
            </a:r>
          </a:p>
        </p:txBody>
      </p:sp>
      <p:pic>
        <p:nvPicPr>
          <p:cNvPr id="48" name=""/>
          <p:cNvPicPr>
            <a:picLocks xmlns:a="http://schemas.openxmlformats.org/drawingml/2006/main" noChangeAspect="1"/>
          </p:cNvPicPr>
          <p:nvPr/>
        </p:nvPicPr>
        <p:blipFill>
          <a:blip xmlns:r="http://schemas.openxmlformats.org/officeDocument/2006/relationships" xmlns:a="http://schemas.openxmlformats.org/drawingml/2006/main" r:embed="R623c5534fea34fc4"/>
          <a:srcRect xmlns:a="http://schemas.openxmlformats.org/drawingml/2006/main" l="0" t="85" r="0" b="85"/>
          <a:stretch xmlns:a="http://schemas.openxmlformats.org/drawingml/2006/main">
            <a:fillRect l="0" t="0" r="0" b="0"/>
          </a:stretch>
        </p:blipFill>
        <p:spPr>
          <a:xfrm xmlns:a="http://schemas.openxmlformats.org/drawingml/2006/main">
            <a:off x="590550" y="1162050"/>
            <a:ext cx="2476500" cy="1390650"/>
          </a:xfrm>
          <a:prstGeom xmlns:a="http://schemas.openxmlformats.org/drawingml/2006/main" prst="rect">
            <a:avLst/>
          </a:prstGeom>
        </p:spPr>
      </p:pic>
      <p:pic>
        <p:nvPicPr>
          <p:cNvPr id="49" name=""/>
          <p:cNvPicPr>
            <a:picLocks xmlns:a="http://schemas.openxmlformats.org/drawingml/2006/main" noChangeAspect="1"/>
          </p:cNvPicPr>
          <p:nvPr/>
        </p:nvPicPr>
        <p:blipFill>
          <a:blip xmlns:r="http://schemas.openxmlformats.org/officeDocument/2006/relationships" xmlns:a="http://schemas.openxmlformats.org/drawingml/2006/main" r:embed="Rc31c0dd5342e4a2d"/>
          <a:srcRect xmlns:a="http://schemas.openxmlformats.org/drawingml/2006/main" l="0" t="85" r="0" b="85"/>
          <a:stretch xmlns:a="http://schemas.openxmlformats.org/drawingml/2006/main">
            <a:fillRect l="0" t="0" r="0" b="0"/>
          </a:stretch>
        </p:blipFill>
        <p:spPr>
          <a:xfrm xmlns:a="http://schemas.openxmlformats.org/drawingml/2006/main">
            <a:off x="3219450" y="1162050"/>
            <a:ext cx="2476500" cy="1390650"/>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CD5F083C-4729-4331-97C0-5E0DFD527E0E}"/>
              </a:ext>
            </a:extLst>
          </p:cNvPr>
          <p:cNvSpPr>
            <a:spLocks xmlns:a="http://schemas.openxmlformats.org/drawingml/2006/main" noGrp="1"/>
          </p:cNvSpPr>
          <p:nvPr/>
        </p:nvSpPr>
        <p:spPr>
          <a:xfrm xmlns:a="http://schemas.openxmlformats.org/drawingml/2006/main">
            <a:off x="590550" y="2647950"/>
            <a:ext cx="2476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125" b="1">
                <a:solidFill>
                  <a:srgbClr val="147B78"/>
                </a:solidFill>
                <a:latin typeface="Yu Gothic"/>
                <a:ea typeface="Yu Gothic"/>
                <a:cs typeface="Yu Gothic"/>
              </a:defRPr>
            </a:pPr>
            <a:r>
              <a:rPr sz="1125" b="1">
                <a:solidFill>
                  <a:srgbClr val="147B78"/>
                </a:solidFill>
                <a:latin typeface="Yu Gothic"/>
                <a:ea typeface="Yu Gothic"/>
                <a:cs typeface="Yu Gothic"/>
              </a:rPr>
              <a:t>現場A　昼間・市街地</a:t>
            </a:r>
          </a:p>
        </p:txBody>
      </p:sp>
      <p:sp>
        <p:nvSpPr>
          <p:cNvPr id="11" name="">
            <a:extLst xmlns:a="http://schemas.openxmlformats.org/drawingml/2006/main">
              <a:ext uri="{FF2B5EF4-FFF2-40B4-BE49-F238E27FC236}">
                <a16:creationId xmlns:a16="http://schemas.microsoft.com/office/drawing/2014/main" id="{41C43C55-871A-4FE4-8C2A-B45B69A40A05}"/>
              </a:ext>
            </a:extLst>
          </p:cNvPr>
          <p:cNvSpPr>
            <a:spLocks xmlns:a="http://schemas.openxmlformats.org/drawingml/2006/main" noGrp="1"/>
          </p:cNvSpPr>
          <p:nvPr/>
        </p:nvSpPr>
        <p:spPr>
          <a:xfrm xmlns:a="http://schemas.openxmlformats.org/drawingml/2006/main">
            <a:off x="3219450" y="2647950"/>
            <a:ext cx="2476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125" b="1">
                <a:solidFill>
                  <a:srgbClr val="147B78"/>
                </a:solidFill>
                <a:latin typeface="Yu Gothic"/>
                <a:ea typeface="Yu Gothic"/>
                <a:cs typeface="Yu Gothic"/>
              </a:defRPr>
            </a:pPr>
            <a:r>
              <a:rPr sz="1125" b="1">
                <a:solidFill>
                  <a:srgbClr val="147B78"/>
                </a:solidFill>
                <a:latin typeface="Yu Gothic"/>
                <a:ea typeface="Yu Gothic"/>
                <a:cs typeface="Yu Gothic"/>
              </a:rPr>
              <a:t>現場B　夜間・道路</a:t>
            </a:r>
          </a:p>
        </p:txBody>
      </p:sp>
      <p:sp>
        <p:nvSpPr>
          <p:cNvPr id="12" name="">
            <a:extLst xmlns:a="http://schemas.openxmlformats.org/drawingml/2006/main">
              <a:ext uri="{FF2B5EF4-FFF2-40B4-BE49-F238E27FC236}">
                <a16:creationId xmlns:a16="http://schemas.microsoft.com/office/drawing/2014/main" id="{00B4E601-6CC0-4C58-8FB0-C2B7358E3EE3}"/>
              </a:ext>
            </a:extLst>
          </p:cNvPr>
          <p:cNvSpPr>
            <a:spLocks xmlns:a="http://schemas.openxmlformats.org/drawingml/2006/main" noGrp="1"/>
          </p:cNvSpPr>
          <p:nvPr/>
        </p:nvSpPr>
        <p:spPr>
          <a:xfrm xmlns:a="http://schemas.openxmlformats.org/drawingml/2006/main">
            <a:off x="666750" y="3028950"/>
            <a:ext cx="4953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800" b="1">
                <a:solidFill>
                  <a:srgbClr val="173B4B"/>
                </a:solidFill>
                <a:latin typeface="Yu Gothic"/>
                <a:ea typeface="Yu Gothic"/>
                <a:cs typeface="Yu Gothic"/>
              </a:defRPr>
            </a:pPr>
            <a:r>
              <a:rPr sz="1800" b="1">
                <a:solidFill>
                  <a:srgbClr val="173B4B"/>
                </a:solidFill>
                <a:latin typeface="Yu Gothic"/>
                <a:ea typeface="Yu Gothic"/>
                <a:cs typeface="Yu Gothic"/>
              </a:rPr>
              <a:t>同じ危険判定でも、場所・時間・天候により経験する動画が異なる</a:t>
            </a:r>
          </a:p>
        </p:txBody>
      </p:sp>
      <p:sp>
        <p:nvSpPr>
          <p:cNvPr id="13" name="">
            <a:extLst xmlns:a="http://schemas.openxmlformats.org/drawingml/2006/main">
              <a:ext uri="{FF2B5EF4-FFF2-40B4-BE49-F238E27FC236}">
                <a16:creationId xmlns:a16="http://schemas.microsoft.com/office/drawing/2014/main" id="{3F3B19BC-625F-46EA-8DA6-069148BA9E70}"/>
              </a:ext>
            </a:extLst>
          </p:cNvPr>
          <p:cNvSpPr>
            <a:spLocks xmlns:a="http://schemas.openxmlformats.org/drawingml/2006/main" noGrp="1"/>
          </p:cNvSpPr>
          <p:nvPr/>
        </p:nvSpPr>
        <p:spPr>
          <a:xfrm xmlns:a="http://schemas.openxmlformats.org/drawingml/2006/main">
            <a:off x="704850" y="3905250"/>
            <a:ext cx="685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1">
                <a:solidFill>
                  <a:srgbClr val="147B78"/>
                </a:solidFill>
                <a:latin typeface="Yu Gothic"/>
                <a:ea typeface="Yu Gothic"/>
                <a:cs typeface="Yu Gothic"/>
              </a:defRPr>
            </a:pPr>
            <a:r>
              <a:rPr sz="1425" b="1">
                <a:solidFill>
                  <a:srgbClr val="147B78"/>
                </a:solidFill>
                <a:latin typeface="Yu Gothic"/>
                <a:ea typeface="Yu Gothic"/>
                <a:cs typeface="Yu Gothic"/>
              </a:rPr>
              <a:t>価値</a:t>
            </a:r>
          </a:p>
        </p:txBody>
      </p:sp>
      <p:sp>
        <p:nvSpPr>
          <p:cNvPr id="14" name="">
            <a:extLst xmlns:a="http://schemas.openxmlformats.org/drawingml/2006/main">
              <a:ext uri="{FF2B5EF4-FFF2-40B4-BE49-F238E27FC236}">
                <a16:creationId xmlns:a16="http://schemas.microsoft.com/office/drawing/2014/main" id="{79396E49-7504-4414-B1E0-B877448B96CC}"/>
              </a:ext>
            </a:extLst>
          </p:cNvPr>
          <p:cNvSpPr>
            <a:spLocks xmlns:a="http://schemas.openxmlformats.org/drawingml/2006/main" noGrp="1"/>
          </p:cNvSpPr>
          <p:nvPr/>
        </p:nvSpPr>
        <p:spPr>
          <a:xfrm xmlns:a="http://schemas.openxmlformats.org/drawingml/2006/main">
            <a:off x="704850" y="4238625"/>
            <a:ext cx="4857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75" b="1">
                <a:solidFill>
                  <a:srgbClr val="26373D"/>
                </a:solidFill>
                <a:latin typeface="Yu Gothic"/>
                <a:ea typeface="Yu Gothic"/>
                <a:cs typeface="Yu Gothic"/>
              </a:defRPr>
            </a:pPr>
            <a:r>
              <a:rPr sz="1875" b="1">
                <a:solidFill>
                  <a:srgbClr val="26373D"/>
                </a:solidFill>
                <a:latin typeface="Yu Gothic"/>
                <a:ea typeface="Yu Gothic"/>
                <a:cs typeface="Yu Gothic"/>
              </a:rPr>
              <a:t>各現場が学んだ判定の変化を、サービス全体の更新に使う</a:t>
            </a:r>
          </a:p>
        </p:txBody>
      </p:sp>
      <p:sp>
        <p:nvSpPr>
          <p:cNvPr id="15" name="">
            <a:extLst xmlns:a="http://schemas.openxmlformats.org/drawingml/2006/main">
              <a:ext uri="{FF2B5EF4-FFF2-40B4-BE49-F238E27FC236}">
                <a16:creationId xmlns:a16="http://schemas.microsoft.com/office/drawing/2014/main" id="{557A403B-351E-4FC1-A17D-A38ABF3EBEDC}"/>
              </a:ext>
            </a:extLst>
          </p:cNvPr>
          <p:cNvSpPr>
            <a:spLocks xmlns:a="http://schemas.openxmlformats.org/drawingml/2006/main" noGrp="1"/>
          </p:cNvSpPr>
          <p:nvPr/>
        </p:nvSpPr>
        <p:spPr>
          <a:xfrm xmlns:a="http://schemas.openxmlformats.org/drawingml/2006/main">
            <a:off x="6057900" y="1162050"/>
            <a:ext cx="19050" cy="3886200"/>
          </a:xfrm>
          <a:prstGeom xmlns:a="http://schemas.openxmlformats.org/drawingml/2006/main" prst="rect">
            <a:avLst/>
          </a:prstGeom>
          <a:solidFill xmlns:a="http://schemas.openxmlformats.org/drawingml/2006/main">
            <a:srgbClr val="C9D2D3"/>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98077A14-21D8-4C77-A1CC-6B9CE9180D21}"/>
              </a:ext>
            </a:extLst>
          </p:cNvPr>
          <p:cNvSpPr>
            <a:spLocks xmlns:a="http://schemas.openxmlformats.org/drawingml/2006/main" noGrp="1"/>
          </p:cNvSpPr>
          <p:nvPr/>
        </p:nvSpPr>
        <p:spPr>
          <a:xfrm xmlns:a="http://schemas.openxmlformats.org/drawingml/2006/main">
            <a:off x="6419850" y="1162050"/>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1">
                <a:solidFill>
                  <a:srgbClr val="E7833D"/>
                </a:solidFill>
                <a:latin typeface="Yu Gothic"/>
                <a:ea typeface="Yu Gothic"/>
                <a:cs typeface="Yu Gothic"/>
              </a:defRPr>
            </a:pPr>
            <a:r>
              <a:rPr sz="1650" b="1">
                <a:solidFill>
                  <a:srgbClr val="E7833D"/>
                </a:solidFill>
                <a:latin typeface="Yu Gothic"/>
                <a:ea typeface="Yu Gothic"/>
                <a:cs typeface="Yu Gothic"/>
              </a:rPr>
              <a:t>現在の接続問題</a:t>
            </a:r>
          </a:p>
        </p:txBody>
      </p:sp>
      <p:sp>
        <p:nvSpPr>
          <p:cNvPr id="17" name="">
            <a:extLst xmlns:a="http://schemas.openxmlformats.org/drawingml/2006/main">
              <a:ext uri="{FF2B5EF4-FFF2-40B4-BE49-F238E27FC236}">
                <a16:creationId xmlns:a16="http://schemas.microsoft.com/office/drawing/2014/main" id="{196B2F7E-3E2D-4901-BD8B-38074B1AC4EF}"/>
              </a:ext>
            </a:extLst>
          </p:cNvPr>
          <p:cNvSpPr>
            <a:spLocks xmlns:a="http://schemas.openxmlformats.org/drawingml/2006/main" noGrp="1"/>
          </p:cNvSpPr>
          <p:nvPr/>
        </p:nvSpPr>
        <p:spPr>
          <a:xfrm xmlns:a="http://schemas.openxmlformats.org/drawingml/2006/main">
            <a:off x="6477000" y="1790700"/>
            <a:ext cx="1333500" cy="457200"/>
          </a:xfrm>
          <a:prstGeom xmlns:a="http://schemas.openxmlformats.org/drawingml/2006/main" prst="rect">
            <a:avLst/>
          </a:prstGeom>
          <a:solidFill xmlns:a="http://schemas.openxmlformats.org/drawingml/2006/main">
            <a:srgbClr val="E6F1F3"/>
          </a:solidFill>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575" b="1">
                <a:solidFill>
                  <a:srgbClr val="173B4B"/>
                </a:solidFill>
                <a:latin typeface="Yu Gothic"/>
                <a:ea typeface="Yu Gothic"/>
                <a:cs typeface="Yu Gothic"/>
              </a:defRPr>
            </a:pPr>
            <a:r>
              <a:rPr sz="1575" b="1">
                <a:solidFill>
                  <a:srgbClr val="173B4B"/>
                </a:solidFill>
                <a:latin typeface="Yu Gothic"/>
                <a:ea typeface="Yu Gothic"/>
                <a:cs typeface="Yu Gothic"/>
              </a:rPr>
              <a:t>連合平均</a:t>
            </a:r>
          </a:p>
        </p:txBody>
      </p:sp>
      <p:sp>
        <p:nvSpPr>
          <p:cNvPr id="18" name="">
            <a:extLst xmlns:a="http://schemas.openxmlformats.org/drawingml/2006/main">
              <a:ext uri="{FF2B5EF4-FFF2-40B4-BE49-F238E27FC236}">
                <a16:creationId xmlns:a16="http://schemas.microsoft.com/office/drawing/2014/main" id="{B6FD9C26-1307-4218-9B73-8524CE638899}"/>
              </a:ext>
            </a:extLst>
          </p:cNvPr>
          <p:cNvSpPr>
            <a:spLocks xmlns:a="http://schemas.openxmlformats.org/drawingml/2006/main" noGrp="1"/>
          </p:cNvSpPr>
          <p:nvPr/>
        </p:nvSpPr>
        <p:spPr>
          <a:xfrm xmlns:a="http://schemas.openxmlformats.org/drawingml/2006/main">
            <a:off x="8020050" y="1790700"/>
            <a:ext cx="3143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350" b="0">
                <a:solidFill>
                  <a:srgbClr val="26373D"/>
                </a:solidFill>
                <a:latin typeface="Yu Gothic"/>
                <a:ea typeface="Yu Gothic"/>
                <a:cs typeface="Yu Gothic"/>
              </a:defRPr>
            </a:pPr>
            <a:r>
              <a:rPr sz="1350" b="0">
                <a:solidFill>
                  <a:srgbClr val="26373D"/>
                </a:solidFill>
                <a:latin typeface="Yu Gothic"/>
                <a:ea typeface="Yu Gothic"/>
                <a:cs typeface="Yu Gothic"/>
              </a:rPr>
              <a:t>同じ構造の小型AI同士はまとめられる</a:t>
            </a:r>
          </a:p>
        </p:txBody>
      </p:sp>
      <p:sp>
        <p:nvSpPr>
          <p:cNvPr id="19" name="">
            <a:extLst xmlns:a="http://schemas.openxmlformats.org/drawingml/2006/main">
              <a:ext uri="{FF2B5EF4-FFF2-40B4-BE49-F238E27FC236}">
                <a16:creationId xmlns:a16="http://schemas.microsoft.com/office/drawing/2014/main" id="{5B98B324-DAFC-4DDB-918A-4C8747E33EFE}"/>
              </a:ext>
            </a:extLst>
          </p:cNvPr>
          <p:cNvSpPr>
            <a:spLocks xmlns:a="http://schemas.openxmlformats.org/drawingml/2006/main" noGrp="1"/>
          </p:cNvSpPr>
          <p:nvPr/>
        </p:nvSpPr>
        <p:spPr>
          <a:xfrm xmlns:a="http://schemas.openxmlformats.org/drawingml/2006/main">
            <a:off x="6486525" y="2514600"/>
            <a:ext cx="8953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B94A3A"/>
                </a:solidFill>
                <a:latin typeface="Yu Gothic"/>
                <a:ea typeface="Yu Gothic"/>
                <a:cs typeface="Yu Gothic"/>
              </a:defRPr>
            </a:pPr>
            <a:r>
              <a:rPr sz="1350" b="1">
                <a:solidFill>
                  <a:srgbClr val="B94A3A"/>
                </a:solidFill>
                <a:latin typeface="Yu Gothic"/>
                <a:ea typeface="Yu Gothic"/>
                <a:cs typeface="Yu Gothic"/>
              </a:rPr>
              <a:t>しかし</a:t>
            </a:r>
          </a:p>
        </p:txBody>
      </p:sp>
      <p:sp>
        <p:nvSpPr>
          <p:cNvPr id="20" name="">
            <a:extLst xmlns:a="http://schemas.openxmlformats.org/drawingml/2006/main">
              <a:ext uri="{FF2B5EF4-FFF2-40B4-BE49-F238E27FC236}">
                <a16:creationId xmlns:a16="http://schemas.microsoft.com/office/drawing/2014/main" id="{28222830-994E-427E-8D0C-58CACC80585C}"/>
              </a:ext>
            </a:extLst>
          </p:cNvPr>
          <p:cNvSpPr>
            <a:spLocks xmlns:a="http://schemas.openxmlformats.org/drawingml/2006/main" noGrp="1"/>
          </p:cNvSpPr>
          <p:nvPr/>
        </p:nvSpPr>
        <p:spPr>
          <a:xfrm xmlns:a="http://schemas.openxmlformats.org/drawingml/2006/main">
            <a:off x="6486525" y="2876550"/>
            <a:ext cx="4572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75" b="1">
                <a:solidFill>
                  <a:srgbClr val="173B4B"/>
                </a:solidFill>
                <a:latin typeface="Yu Gothic"/>
                <a:ea typeface="Yu Gothic"/>
                <a:cs typeface="Yu Gothic"/>
              </a:defRPr>
            </a:pPr>
            <a:r>
              <a:rPr sz="1875" b="1">
                <a:solidFill>
                  <a:srgbClr val="173B4B"/>
                </a:solidFill>
                <a:latin typeface="Yu Gothic"/>
                <a:ea typeface="Yu Gothic"/>
                <a:cs typeface="Yu Gothic"/>
              </a:rPr>
              <a:t>構造や規模が異なる中央側AIへ、更新値をそのまま渡せない</a:t>
            </a:r>
          </a:p>
        </p:txBody>
      </p:sp>
      <p:sp>
        <p:nvSpPr>
          <p:cNvPr id="21" name="">
            <a:extLst xmlns:a="http://schemas.openxmlformats.org/drawingml/2006/main">
              <a:ext uri="{FF2B5EF4-FFF2-40B4-BE49-F238E27FC236}">
                <a16:creationId xmlns:a16="http://schemas.microsoft.com/office/drawing/2014/main" id="{5CA90803-D7C7-48BD-B238-BE984BD92425}"/>
              </a:ext>
            </a:extLst>
          </p:cNvPr>
          <p:cNvSpPr>
            <a:spLocks xmlns:a="http://schemas.openxmlformats.org/drawingml/2006/main" noGrp="1"/>
          </p:cNvSpPr>
          <p:nvPr/>
        </p:nvSpPr>
        <p:spPr>
          <a:xfrm xmlns:a="http://schemas.openxmlformats.org/drawingml/2006/main">
            <a:off x="6486525" y="3867150"/>
            <a:ext cx="4572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0">
                <a:solidFill>
                  <a:srgbClr val="617078"/>
                </a:solidFill>
                <a:latin typeface="Yu Gothic"/>
                <a:ea typeface="Yu Gothic"/>
                <a:cs typeface="Yu Gothic"/>
              </a:defRPr>
            </a:pPr>
            <a:r>
              <a:rPr sz="1500" b="0">
                <a:solidFill>
                  <a:srgbClr val="617078"/>
                </a:solidFill>
                <a:latin typeface="Yu Gothic"/>
                <a:ea typeface="Yu Gothic"/>
                <a:cs typeface="Yu Gothic"/>
              </a:rPr>
              <a:t>現場動画を中央へ集めない条件では、共通の入力を使った橋渡しも難しい</a:t>
            </a:r>
          </a:p>
        </p:txBody>
      </p:sp>
      <p:sp>
        <p:nvSpPr>
          <p:cNvPr id="22" name="">
            <a:extLst xmlns:a="http://schemas.openxmlformats.org/drawingml/2006/main">
              <a:ext uri="{FF2B5EF4-FFF2-40B4-BE49-F238E27FC236}">
                <a16:creationId xmlns:a16="http://schemas.microsoft.com/office/drawing/2014/main" id="{0A129FE2-3B6D-467C-B737-989AE5344646}"/>
              </a:ext>
            </a:extLst>
          </p:cNvPr>
          <p:cNvSpPr>
            <a:spLocks xmlns:a="http://schemas.openxmlformats.org/drawingml/2006/main" noGrp="1"/>
          </p:cNvSpPr>
          <p:nvPr/>
        </p:nvSpPr>
        <p:spPr>
          <a:xfrm xmlns:a="http://schemas.openxmlformats.org/drawingml/2006/main">
            <a:off x="6429375" y="4714875"/>
            <a:ext cx="4762500" cy="685800"/>
          </a:xfrm>
          <a:prstGeom xmlns:a="http://schemas.openxmlformats.org/drawingml/2006/main" prst="rect">
            <a:avLst/>
          </a:prstGeom>
          <a:solidFill xmlns:a="http://schemas.openxmlformats.org/drawingml/2006/main">
            <a:srgbClr val="FAE9D8"/>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2FE4A27F-549A-49CF-8531-DD707C5EFF75}"/>
              </a:ext>
            </a:extLst>
          </p:cNvPr>
          <p:cNvSpPr>
            <a:spLocks xmlns:a="http://schemas.openxmlformats.org/drawingml/2006/main" noGrp="1"/>
          </p:cNvSpPr>
          <p:nvPr/>
        </p:nvSpPr>
        <p:spPr>
          <a:xfrm xmlns:a="http://schemas.openxmlformats.org/drawingml/2006/main">
            <a:off x="6667500" y="4867275"/>
            <a:ext cx="4286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81439"/>
          </a:bodyPr>
          <a:lstStyle xmlns:a="http://schemas.openxmlformats.org/drawingml/2006/main"/>
          <a:p xmlns:a="http://schemas.openxmlformats.org/drawingml/2006/main">
            <a:pPr algn="ctr">
              <a:defRPr sz="1650" b="1">
                <a:solidFill>
                  <a:srgbClr val="26373D"/>
                </a:solidFill>
                <a:latin typeface="Yu Gothic"/>
                <a:ea typeface="Yu Gothic"/>
                <a:cs typeface="Yu Gothic"/>
              </a:defRPr>
            </a:pPr>
            <a:r>
              <a:rPr sz="1650" b="1">
                <a:solidFill>
                  <a:srgbClr val="26373D"/>
                </a:solidFill>
                <a:latin typeface="Yu Gothic"/>
                <a:ea typeface="Yu Gothic"/>
                <a:cs typeface="Yu Gothic"/>
              </a:rPr>
              <a:t>FedPACT：現場で生じた判定の変化を、中央側の動画上に表して学習へ使う</a:t>
            </a:r>
          </a:p>
        </p:txBody>
      </p:sp>
      <p:sp>
        <p:nvSpPr>
          <p:cNvPr id="24" name="">
            <a:extLst xmlns:a="http://schemas.openxmlformats.org/drawingml/2006/main">
              <a:ext uri="{FF2B5EF4-FFF2-40B4-BE49-F238E27FC236}">
                <a16:creationId xmlns:a16="http://schemas.microsoft.com/office/drawing/2014/main" id="{1E824D2A-7B7C-4F66-A92B-2D09BC03E260}"/>
              </a:ext>
            </a:extLst>
          </p:cNvPr>
          <p:cNvSpPr>
            <a:spLocks xmlns:a="http://schemas.openxmlformats.org/drawingml/2006/main" noGrp="1"/>
          </p:cNvSpPr>
          <p:nvPr/>
        </p:nvSpPr>
        <p:spPr>
          <a:xfrm xmlns:a="http://schemas.openxmlformats.org/drawingml/2006/main">
            <a:off x="628650" y="5610225"/>
            <a:ext cx="142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a:solidFill>
                  <a:srgbClr val="617078"/>
                </a:solidFill>
                <a:latin typeface="Yu Gothic"/>
                <a:ea typeface="Yu Gothic"/>
                <a:cs typeface="Yu Gothic"/>
              </a:defRPr>
            </a:pPr>
            <a:r>
              <a:rPr sz="1275" b="1">
                <a:solidFill>
                  <a:srgbClr val="617078"/>
                </a:solidFill>
                <a:latin typeface="Yu Gothic"/>
                <a:ea typeface="Yu Gothic"/>
                <a:cs typeface="Yu Gothic"/>
              </a:rPr>
              <a:t>発表の順番</a:t>
            </a:r>
          </a:p>
        </p:txBody>
      </p:sp>
      <p:sp>
        <p:nvSpPr>
          <p:cNvPr id="25" name="">
            <a:extLst xmlns:a="http://schemas.openxmlformats.org/drawingml/2006/main">
              <a:ext uri="{FF2B5EF4-FFF2-40B4-BE49-F238E27FC236}">
                <a16:creationId xmlns:a16="http://schemas.microsoft.com/office/drawing/2014/main" id="{2E6B23FC-6F81-4049-93D4-1D9684837BA2}"/>
              </a:ext>
            </a:extLst>
          </p:cNvPr>
          <p:cNvSpPr>
            <a:spLocks xmlns:a="http://schemas.openxmlformats.org/drawingml/2006/main" noGrp="1"/>
          </p:cNvSpPr>
          <p:nvPr/>
        </p:nvSpPr>
        <p:spPr>
          <a:xfrm xmlns:a="http://schemas.openxmlformats.org/drawingml/2006/main">
            <a:off x="2133600" y="5514975"/>
            <a:ext cx="400050" cy="400050"/>
          </a:xfrm>
          <a:prstGeom xmlns:a="http://schemas.openxmlformats.org/drawingml/2006/main" prst="ellipse">
            <a:avLst/>
          </a:prstGeom>
          <a:solidFill xmlns:a="http://schemas.openxmlformats.org/drawingml/2006/main">
            <a:srgbClr val="147B78"/>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23B88895-F329-473D-A1EF-F5F822557859}"/>
              </a:ext>
            </a:extLst>
          </p:cNvPr>
          <p:cNvSpPr>
            <a:spLocks xmlns:a="http://schemas.openxmlformats.org/drawingml/2006/main" noGrp="1"/>
          </p:cNvSpPr>
          <p:nvPr/>
        </p:nvSpPr>
        <p:spPr>
          <a:xfrm xmlns:a="http://schemas.openxmlformats.org/drawingml/2006/main">
            <a:off x="2133600" y="5562600"/>
            <a:ext cx="4000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425" b="1">
                <a:solidFill>
                  <a:srgbClr val="FFFFFF"/>
                </a:solidFill>
                <a:latin typeface="Yu Gothic"/>
                <a:ea typeface="Yu Gothic"/>
                <a:cs typeface="Yu Gothic"/>
              </a:defRPr>
            </a:pPr>
            <a:r>
              <a:rPr sz="1425" b="1">
                <a:solidFill>
                  <a:srgbClr val="FFFFFF"/>
                </a:solidFill>
                <a:latin typeface="Yu Gothic"/>
                <a:ea typeface="Yu Gothic"/>
                <a:cs typeface="Yu Gothic"/>
              </a:rPr>
              <a:t>1</a:t>
            </a:r>
          </a:p>
        </p:txBody>
      </p:sp>
      <p:sp>
        <p:nvSpPr>
          <p:cNvPr id="27" name="">
            <a:extLst xmlns:a="http://schemas.openxmlformats.org/drawingml/2006/main">
              <a:ext uri="{FF2B5EF4-FFF2-40B4-BE49-F238E27FC236}">
                <a16:creationId xmlns:a16="http://schemas.microsoft.com/office/drawing/2014/main" id="{8455048F-DE9D-4A22-8F8D-1C8974FE5384}"/>
              </a:ext>
            </a:extLst>
          </p:cNvPr>
          <p:cNvSpPr>
            <a:spLocks xmlns:a="http://schemas.openxmlformats.org/drawingml/2006/main" noGrp="1"/>
          </p:cNvSpPr>
          <p:nvPr/>
        </p:nvSpPr>
        <p:spPr>
          <a:xfrm xmlns:a="http://schemas.openxmlformats.org/drawingml/2006/main">
            <a:off x="2647950" y="5553075"/>
            <a:ext cx="16668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350" b="1">
                <a:solidFill>
                  <a:srgbClr val="173B4B"/>
                </a:solidFill>
                <a:latin typeface="Yu Gothic"/>
                <a:ea typeface="Yu Gothic"/>
                <a:cs typeface="Yu Gothic"/>
              </a:defRPr>
            </a:pPr>
            <a:r>
              <a:rPr sz="1350" b="1">
                <a:solidFill>
                  <a:srgbClr val="173B4B"/>
                </a:solidFill>
                <a:latin typeface="Yu Gothic"/>
                <a:ea typeface="Yu Gothic"/>
                <a:cs typeface="Yu Gothic"/>
              </a:rPr>
              <a:t>変化を測る</a:t>
            </a:r>
          </a:p>
        </p:txBody>
      </p:sp>
      <p:sp>
        <p:nvSpPr>
          <p:cNvPr id="28" name="">
            <a:extLst xmlns:a="http://schemas.openxmlformats.org/drawingml/2006/main">
              <a:ext uri="{FF2B5EF4-FFF2-40B4-BE49-F238E27FC236}">
                <a16:creationId xmlns:a16="http://schemas.microsoft.com/office/drawing/2014/main" id="{FD80A7B4-560D-4B4E-B353-37CB24C4DFC6}"/>
              </a:ext>
            </a:extLst>
          </p:cNvPr>
          <p:cNvSpPr>
            <a:spLocks xmlns:a="http://schemas.openxmlformats.org/drawingml/2006/main" noGrp="1"/>
          </p:cNvSpPr>
          <p:nvPr/>
        </p:nvSpPr>
        <p:spPr>
          <a:xfrm xmlns:a="http://schemas.openxmlformats.org/drawingml/2006/main">
            <a:off x="4162425" y="5705475"/>
            <a:ext cx="266700" cy="19050"/>
          </a:xfrm>
          <a:prstGeom xmlns:a="http://schemas.openxmlformats.org/drawingml/2006/main" prst="rect">
            <a:avLst/>
          </a:prstGeom>
          <a:solidFill xmlns:a="http://schemas.openxmlformats.org/drawingml/2006/main">
            <a:srgbClr val="87979C"/>
          </a:solidFill>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FAD2C4BC-D46D-406A-AAD5-90B1D8E3B847}"/>
              </a:ext>
            </a:extLst>
          </p:cNvPr>
          <p:cNvSpPr>
            <a:spLocks xmlns:a="http://schemas.openxmlformats.org/drawingml/2006/main" noGrp="1"/>
          </p:cNvSpPr>
          <p:nvPr/>
        </p:nvSpPr>
        <p:spPr>
          <a:xfrm xmlns:a="http://schemas.openxmlformats.org/drawingml/2006/main">
            <a:off x="4495800" y="5514975"/>
            <a:ext cx="400050" cy="400050"/>
          </a:xfrm>
          <a:prstGeom xmlns:a="http://schemas.openxmlformats.org/drawingml/2006/main" prst="ellipse">
            <a:avLst/>
          </a:prstGeom>
          <a:solidFill xmlns:a="http://schemas.openxmlformats.org/drawingml/2006/main">
            <a:srgbClr val="147B78"/>
          </a:solidFill>
          <a:ln xmlns:a="http://schemas.openxmlformats.org/drawingml/2006/main" w="0">
            <a:noFill/>
          </a:ln>
        </p:spPr>
      </p:sp>
      <p:sp>
        <p:nvSpPr>
          <p:cNvPr id="30" name="">
            <a:extLst xmlns:a="http://schemas.openxmlformats.org/drawingml/2006/main">
              <a:ext uri="{FF2B5EF4-FFF2-40B4-BE49-F238E27FC236}">
                <a16:creationId xmlns:a16="http://schemas.microsoft.com/office/drawing/2014/main" id="{BD13EA75-E08B-4FC7-AA6E-1DDF33D51387}"/>
              </a:ext>
            </a:extLst>
          </p:cNvPr>
          <p:cNvSpPr>
            <a:spLocks xmlns:a="http://schemas.openxmlformats.org/drawingml/2006/main" noGrp="1"/>
          </p:cNvSpPr>
          <p:nvPr/>
        </p:nvSpPr>
        <p:spPr>
          <a:xfrm xmlns:a="http://schemas.openxmlformats.org/drawingml/2006/main">
            <a:off x="4495800" y="5562600"/>
            <a:ext cx="4000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425" b="1">
                <a:solidFill>
                  <a:srgbClr val="FFFFFF"/>
                </a:solidFill>
                <a:latin typeface="Yu Gothic"/>
                <a:ea typeface="Yu Gothic"/>
                <a:cs typeface="Yu Gothic"/>
              </a:defRPr>
            </a:pPr>
            <a:r>
              <a:rPr sz="1425" b="1">
                <a:solidFill>
                  <a:srgbClr val="FFFFFF"/>
                </a:solidFill>
                <a:latin typeface="Yu Gothic"/>
                <a:ea typeface="Yu Gothic"/>
                <a:cs typeface="Yu Gothic"/>
              </a:rPr>
              <a:t>2</a:t>
            </a:r>
          </a:p>
        </p:txBody>
      </p:sp>
      <p:sp>
        <p:nvSpPr>
          <p:cNvPr id="31" name="">
            <a:extLst xmlns:a="http://schemas.openxmlformats.org/drawingml/2006/main">
              <a:ext uri="{FF2B5EF4-FFF2-40B4-BE49-F238E27FC236}">
                <a16:creationId xmlns:a16="http://schemas.microsoft.com/office/drawing/2014/main" id="{DB2C3D9B-2562-4915-962C-15023D3A8103}"/>
              </a:ext>
            </a:extLst>
          </p:cNvPr>
          <p:cNvSpPr>
            <a:spLocks xmlns:a="http://schemas.openxmlformats.org/drawingml/2006/main" noGrp="1"/>
          </p:cNvSpPr>
          <p:nvPr/>
        </p:nvSpPr>
        <p:spPr>
          <a:xfrm xmlns:a="http://schemas.openxmlformats.org/drawingml/2006/main">
            <a:off x="5010150" y="5553075"/>
            <a:ext cx="16668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350" b="1">
                <a:solidFill>
                  <a:srgbClr val="173B4B"/>
                </a:solidFill>
                <a:latin typeface="Yu Gothic"/>
                <a:ea typeface="Yu Gothic"/>
                <a:cs typeface="Yu Gothic"/>
              </a:defRPr>
            </a:pPr>
            <a:r>
              <a:rPr sz="1350" b="1">
                <a:solidFill>
                  <a:srgbClr val="173B4B"/>
                </a:solidFill>
                <a:latin typeface="Yu Gothic"/>
                <a:ea typeface="Yu Gothic"/>
                <a:cs typeface="Yu Gothic"/>
              </a:rPr>
              <a:t>複数動画を要約</a:t>
            </a:r>
          </a:p>
        </p:txBody>
      </p:sp>
      <p:sp>
        <p:nvSpPr>
          <p:cNvPr id="32" name="">
            <a:extLst xmlns:a="http://schemas.openxmlformats.org/drawingml/2006/main">
              <a:ext uri="{FF2B5EF4-FFF2-40B4-BE49-F238E27FC236}">
                <a16:creationId xmlns:a16="http://schemas.microsoft.com/office/drawing/2014/main" id="{5ED4FA28-0BF7-4340-9070-25C5A978DC3A}"/>
              </a:ext>
            </a:extLst>
          </p:cNvPr>
          <p:cNvSpPr>
            <a:spLocks xmlns:a="http://schemas.openxmlformats.org/drawingml/2006/main" noGrp="1"/>
          </p:cNvSpPr>
          <p:nvPr/>
        </p:nvSpPr>
        <p:spPr>
          <a:xfrm xmlns:a="http://schemas.openxmlformats.org/drawingml/2006/main">
            <a:off x="6524625" y="5705475"/>
            <a:ext cx="266700" cy="19050"/>
          </a:xfrm>
          <a:prstGeom xmlns:a="http://schemas.openxmlformats.org/drawingml/2006/main" prst="rect">
            <a:avLst/>
          </a:prstGeom>
          <a:solidFill xmlns:a="http://schemas.openxmlformats.org/drawingml/2006/main">
            <a:srgbClr val="87979C"/>
          </a:solidFill>
          <a:ln xmlns:a="http://schemas.openxmlformats.org/drawingml/2006/main" w="0">
            <a:noFill/>
          </a:ln>
        </p:spPr>
      </p:sp>
      <p:sp>
        <p:nvSpPr>
          <p:cNvPr id="33" name="">
            <a:extLst xmlns:a="http://schemas.openxmlformats.org/drawingml/2006/main">
              <a:ext uri="{FF2B5EF4-FFF2-40B4-BE49-F238E27FC236}">
                <a16:creationId xmlns:a16="http://schemas.microsoft.com/office/drawing/2014/main" id="{EFB1D1B9-964E-4844-BB8E-F8ABC5F67F28}"/>
              </a:ext>
            </a:extLst>
          </p:cNvPr>
          <p:cNvSpPr>
            <a:spLocks xmlns:a="http://schemas.openxmlformats.org/drawingml/2006/main" noGrp="1"/>
          </p:cNvSpPr>
          <p:nvPr/>
        </p:nvSpPr>
        <p:spPr>
          <a:xfrm xmlns:a="http://schemas.openxmlformats.org/drawingml/2006/main">
            <a:off x="6858000" y="5514975"/>
            <a:ext cx="400050" cy="400050"/>
          </a:xfrm>
          <a:prstGeom xmlns:a="http://schemas.openxmlformats.org/drawingml/2006/main" prst="ellipse">
            <a:avLst/>
          </a:prstGeom>
          <a:solidFill xmlns:a="http://schemas.openxmlformats.org/drawingml/2006/main">
            <a:srgbClr val="E7833D"/>
          </a:solidFill>
          <a:ln xmlns:a="http://schemas.openxmlformats.org/drawingml/2006/main" w="0">
            <a:noFill/>
          </a:ln>
        </p:spPr>
      </p:sp>
      <p:sp>
        <p:nvSpPr>
          <p:cNvPr id="34" name="">
            <a:extLst xmlns:a="http://schemas.openxmlformats.org/drawingml/2006/main">
              <a:ext uri="{FF2B5EF4-FFF2-40B4-BE49-F238E27FC236}">
                <a16:creationId xmlns:a16="http://schemas.microsoft.com/office/drawing/2014/main" id="{5A21AD25-57FE-4BCD-A8D3-765594BD9436}"/>
              </a:ext>
            </a:extLst>
          </p:cNvPr>
          <p:cNvSpPr>
            <a:spLocks xmlns:a="http://schemas.openxmlformats.org/drawingml/2006/main" noGrp="1"/>
          </p:cNvSpPr>
          <p:nvPr/>
        </p:nvSpPr>
        <p:spPr>
          <a:xfrm xmlns:a="http://schemas.openxmlformats.org/drawingml/2006/main">
            <a:off x="6858000" y="5562600"/>
            <a:ext cx="4000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425" b="1">
                <a:solidFill>
                  <a:srgbClr val="FFFFFF"/>
                </a:solidFill>
                <a:latin typeface="Yu Gothic"/>
                <a:ea typeface="Yu Gothic"/>
                <a:cs typeface="Yu Gothic"/>
              </a:defRPr>
            </a:pPr>
            <a:r>
              <a:rPr sz="1425" b="1">
                <a:solidFill>
                  <a:srgbClr val="FFFFFF"/>
                </a:solidFill>
                <a:latin typeface="Yu Gothic"/>
                <a:ea typeface="Yu Gothic"/>
                <a:cs typeface="Yu Gothic"/>
              </a:rPr>
              <a:t>3</a:t>
            </a:r>
          </a:p>
        </p:txBody>
      </p:sp>
      <p:sp>
        <p:nvSpPr>
          <p:cNvPr id="35" name="">
            <a:extLst xmlns:a="http://schemas.openxmlformats.org/drawingml/2006/main">
              <a:ext uri="{FF2B5EF4-FFF2-40B4-BE49-F238E27FC236}">
                <a16:creationId xmlns:a16="http://schemas.microsoft.com/office/drawing/2014/main" id="{CC96F05D-6D83-494E-AD56-0D9CC7BB3577}"/>
              </a:ext>
            </a:extLst>
          </p:cNvPr>
          <p:cNvSpPr>
            <a:spLocks xmlns:a="http://schemas.openxmlformats.org/drawingml/2006/main" noGrp="1"/>
          </p:cNvSpPr>
          <p:nvPr/>
        </p:nvSpPr>
        <p:spPr>
          <a:xfrm xmlns:a="http://schemas.openxmlformats.org/drawingml/2006/main">
            <a:off x="7372350" y="5553075"/>
            <a:ext cx="16668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97697"/>
          </a:bodyPr>
          <a:lstStyle xmlns:a="http://schemas.openxmlformats.org/drawingml/2006/main"/>
          <a:p xmlns:a="http://schemas.openxmlformats.org/drawingml/2006/main">
            <a:pPr algn="l">
              <a:defRPr sz="1350" b="1">
                <a:solidFill>
                  <a:srgbClr val="173B4B"/>
                </a:solidFill>
                <a:latin typeface="Yu Gothic"/>
                <a:ea typeface="Yu Gothic"/>
                <a:cs typeface="Yu Gothic"/>
              </a:defRPr>
            </a:pPr>
            <a:r>
              <a:rPr sz="1350" b="1">
                <a:solidFill>
                  <a:srgbClr val="173B4B"/>
                </a:solidFill>
                <a:latin typeface="Yu Gothic"/>
                <a:ea typeface="Yu Gothic"/>
                <a:cs typeface="Yu Gothic"/>
              </a:rPr>
              <a:t>中央側の動画上に表す</a:t>
            </a:r>
          </a:p>
        </p:txBody>
      </p:sp>
      <p:sp>
        <p:nvSpPr>
          <p:cNvPr id="36" name="">
            <a:extLst xmlns:a="http://schemas.openxmlformats.org/drawingml/2006/main">
              <a:ext uri="{FF2B5EF4-FFF2-40B4-BE49-F238E27FC236}">
                <a16:creationId xmlns:a16="http://schemas.microsoft.com/office/drawing/2014/main" id="{113CB934-38F9-41E5-B46D-0D4AB6D11DD3}"/>
              </a:ext>
            </a:extLst>
          </p:cNvPr>
          <p:cNvSpPr>
            <a:spLocks xmlns:a="http://schemas.openxmlformats.org/drawingml/2006/main" noGrp="1"/>
          </p:cNvSpPr>
          <p:nvPr/>
        </p:nvSpPr>
        <p:spPr>
          <a:xfrm xmlns:a="http://schemas.openxmlformats.org/drawingml/2006/main">
            <a:off x="8886825" y="5705475"/>
            <a:ext cx="266700" cy="19050"/>
          </a:xfrm>
          <a:prstGeom xmlns:a="http://schemas.openxmlformats.org/drawingml/2006/main" prst="rect">
            <a:avLst/>
          </a:prstGeom>
          <a:solidFill xmlns:a="http://schemas.openxmlformats.org/drawingml/2006/main">
            <a:srgbClr val="87979C"/>
          </a:solidFill>
          <a:ln xmlns:a="http://schemas.openxmlformats.org/drawingml/2006/main" w="0">
            <a:noFill/>
          </a:ln>
        </p:spPr>
      </p:sp>
      <p:sp>
        <p:nvSpPr>
          <p:cNvPr id="37" name="">
            <a:extLst xmlns:a="http://schemas.openxmlformats.org/drawingml/2006/main">
              <a:ext uri="{FF2B5EF4-FFF2-40B4-BE49-F238E27FC236}">
                <a16:creationId xmlns:a16="http://schemas.microsoft.com/office/drawing/2014/main" id="{0B220C4E-E908-4B17-8390-BD37A4A6F5CC}"/>
              </a:ext>
            </a:extLst>
          </p:cNvPr>
          <p:cNvSpPr>
            <a:spLocks xmlns:a="http://schemas.openxmlformats.org/drawingml/2006/main" noGrp="1"/>
          </p:cNvSpPr>
          <p:nvPr/>
        </p:nvSpPr>
        <p:spPr>
          <a:xfrm xmlns:a="http://schemas.openxmlformats.org/drawingml/2006/main">
            <a:off x="9220200" y="5514975"/>
            <a:ext cx="400050" cy="400050"/>
          </a:xfrm>
          <a:prstGeom xmlns:a="http://schemas.openxmlformats.org/drawingml/2006/main" prst="ellipse">
            <a:avLst/>
          </a:prstGeom>
          <a:solidFill xmlns:a="http://schemas.openxmlformats.org/drawingml/2006/main">
            <a:srgbClr val="147B78"/>
          </a:solidFill>
          <a:ln xmlns:a="http://schemas.openxmlformats.org/drawingml/2006/main" w="0">
            <a:noFill/>
          </a:ln>
        </p:spPr>
      </p:sp>
      <p:sp>
        <p:nvSpPr>
          <p:cNvPr id="38" name="">
            <a:extLst xmlns:a="http://schemas.openxmlformats.org/drawingml/2006/main">
              <a:ext uri="{FF2B5EF4-FFF2-40B4-BE49-F238E27FC236}">
                <a16:creationId xmlns:a16="http://schemas.microsoft.com/office/drawing/2014/main" id="{D04D1917-73F3-4B96-865A-97E7D5EC792C}"/>
              </a:ext>
            </a:extLst>
          </p:cNvPr>
          <p:cNvSpPr>
            <a:spLocks xmlns:a="http://schemas.openxmlformats.org/drawingml/2006/main" noGrp="1"/>
          </p:cNvSpPr>
          <p:nvPr/>
        </p:nvSpPr>
        <p:spPr>
          <a:xfrm xmlns:a="http://schemas.openxmlformats.org/drawingml/2006/main">
            <a:off x="9220200" y="5562600"/>
            <a:ext cx="4000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425" b="1">
                <a:solidFill>
                  <a:srgbClr val="FFFFFF"/>
                </a:solidFill>
                <a:latin typeface="Yu Gothic"/>
                <a:ea typeface="Yu Gothic"/>
                <a:cs typeface="Yu Gothic"/>
              </a:defRPr>
            </a:pPr>
            <a:r>
              <a:rPr sz="1425" b="1">
                <a:solidFill>
                  <a:srgbClr val="FFFFFF"/>
                </a:solidFill>
                <a:latin typeface="Yu Gothic"/>
                <a:ea typeface="Yu Gothic"/>
                <a:cs typeface="Yu Gothic"/>
              </a:rPr>
              <a:t>4</a:t>
            </a:r>
          </a:p>
        </p:txBody>
      </p:sp>
      <p:sp>
        <p:nvSpPr>
          <p:cNvPr id="39" name="">
            <a:extLst xmlns:a="http://schemas.openxmlformats.org/drawingml/2006/main">
              <a:ext uri="{FF2B5EF4-FFF2-40B4-BE49-F238E27FC236}">
                <a16:creationId xmlns:a16="http://schemas.microsoft.com/office/drawing/2014/main" id="{66AAD0DD-84D8-428F-BFD6-F247EED348BC}"/>
              </a:ext>
            </a:extLst>
          </p:cNvPr>
          <p:cNvSpPr>
            <a:spLocks xmlns:a="http://schemas.openxmlformats.org/drawingml/2006/main" noGrp="1"/>
          </p:cNvSpPr>
          <p:nvPr/>
        </p:nvSpPr>
        <p:spPr>
          <a:xfrm xmlns:a="http://schemas.openxmlformats.org/drawingml/2006/main">
            <a:off x="9734550" y="5553075"/>
            <a:ext cx="16668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350" b="1">
                <a:solidFill>
                  <a:srgbClr val="173B4B"/>
                </a:solidFill>
                <a:latin typeface="Yu Gothic"/>
                <a:ea typeface="Yu Gothic"/>
                <a:cs typeface="Yu Gothic"/>
              </a:defRPr>
            </a:pPr>
            <a:r>
              <a:rPr sz="1350" b="1">
                <a:solidFill>
                  <a:srgbClr val="173B4B"/>
                </a:solidFill>
                <a:latin typeface="Yu Gothic"/>
                <a:ea typeface="Yu Gothic"/>
                <a:cs typeface="Yu Gothic"/>
              </a:rPr>
              <a:t>中央側AIを更新</a:t>
            </a:r>
          </a:p>
        </p:txBody>
      </p:sp>
      <p:sp>
        <p:nvSpPr>
          <p:cNvPr id="40" name="">
            <a:extLst xmlns:a="http://schemas.openxmlformats.org/drawingml/2006/main">
              <a:ext uri="{FF2B5EF4-FFF2-40B4-BE49-F238E27FC236}">
                <a16:creationId xmlns:a16="http://schemas.microsoft.com/office/drawing/2014/main" id="{FE51A18D-B1C8-419F-8A37-49050D29EF59}"/>
              </a:ext>
            </a:extLst>
          </p:cNvPr>
          <p:cNvSpPr>
            <a:spLocks xmlns:a="http://schemas.openxmlformats.org/drawingml/2006/main" noGrp="1"/>
          </p:cNvSpPr>
          <p:nvPr/>
        </p:nvSpPr>
        <p:spPr>
          <a:xfrm xmlns:a="http://schemas.openxmlformats.org/drawingml/2006/main">
            <a:off x="857250" y="607695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350" b="1">
                <a:solidFill>
                  <a:srgbClr val="147B78"/>
                </a:solidFill>
                <a:latin typeface="Yu Gothic"/>
                <a:ea typeface="Yu Gothic"/>
                <a:cs typeface="Yu Gothic"/>
              </a:defRPr>
            </a:pPr>
            <a:r>
              <a:rPr sz="1350" b="1">
                <a:solidFill>
                  <a:srgbClr val="147B78"/>
                </a:solidFill>
                <a:latin typeface="Yu Gothic"/>
                <a:ea typeface="Yu Gothic"/>
                <a:cs typeface="Yu Gothic"/>
              </a:rPr>
              <a:t>対象は共通タスク上の予測挙動。映像の意味内容全体や危険原因の説明は対象外</a:t>
            </a:r>
          </a:p>
        </p:txBody>
      </p:sp>
    </p:spTree>
    <p:extLst>
      <p:ext uri="{BB962C8B-B14F-4D97-AF65-F5344CB8AC3E}">
        <p14:creationId xmlns:p14="http://schemas.microsoft.com/office/powerpoint/2010/main" val="1358474688"/>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27F7631B-DC69-4555-8953-ADBE63539F3B}"/>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5E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67D35F4-43F7-4E97-916C-9960CECEFF58}"/>
              </a:ext>
            </a:extLst>
          </p:cNvPr>
          <p:cNvSpPr>
            <a:spLocks xmlns:a="http://schemas.openxmlformats.org/drawingml/2006/main" noGrp="1"/>
          </p:cNvSpPr>
          <p:nvPr/>
        </p:nvSpPr>
        <p:spPr>
          <a:xfrm xmlns:a="http://schemas.openxmlformats.org/drawingml/2006/main">
            <a:off x="381000" y="342900"/>
            <a:ext cx="66675" cy="514350"/>
          </a:xfrm>
          <a:prstGeom xmlns:a="http://schemas.openxmlformats.org/drawingml/2006/main" prst="rect">
            <a:avLst/>
          </a:prstGeom>
          <a:solidFill xmlns:a="http://schemas.openxmlformats.org/drawingml/2006/main">
            <a:srgbClr val="147B78"/>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9D4E1F3C-3C6F-42AE-8DDC-FC52FC81F635}"/>
              </a:ext>
            </a:extLst>
          </p:cNvPr>
          <p:cNvSpPr>
            <a:spLocks xmlns:a="http://schemas.openxmlformats.org/drawingml/2006/main" noGrp="1"/>
          </p:cNvSpPr>
          <p:nvPr/>
        </p:nvSpPr>
        <p:spPr>
          <a:xfrm xmlns:a="http://schemas.openxmlformats.org/drawingml/2006/main">
            <a:off x="590550" y="323850"/>
            <a:ext cx="10572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2850" b="1">
                <a:solidFill>
                  <a:srgbClr val="173B4B"/>
                </a:solidFill>
                <a:latin typeface="Yu Gothic"/>
                <a:ea typeface="Yu Gothic"/>
                <a:cs typeface="Yu Gothic"/>
              </a:defRPr>
            </a:pPr>
            <a:r>
              <a:rPr sz="2850" b="1">
                <a:solidFill>
                  <a:srgbClr val="173B4B"/>
                </a:solidFill>
                <a:latin typeface="Yu Gothic"/>
                <a:ea typeface="Yu Gothic"/>
                <a:cs typeface="Yu Gothic"/>
              </a:rPr>
              <a:t>1本の動画で、学習前後の判定変化を測る</a:t>
            </a:r>
          </a:p>
        </p:txBody>
      </p:sp>
      <p:sp>
        <p:nvSpPr>
          <p:cNvPr id="4" name="">
            <a:extLst xmlns:a="http://schemas.openxmlformats.org/drawingml/2006/main">
              <a:ext uri="{FF2B5EF4-FFF2-40B4-BE49-F238E27FC236}">
                <a16:creationId xmlns:a16="http://schemas.microsoft.com/office/drawing/2014/main" id="{6118EC61-8CC8-4185-8177-BD9033D8443B}"/>
              </a:ext>
            </a:extLst>
          </p:cNvPr>
          <p:cNvSpPr>
            <a:spLocks xmlns:a="http://schemas.openxmlformats.org/drawingml/2006/main" noGrp="1"/>
          </p:cNvSpPr>
          <p:nvPr/>
        </p:nvSpPr>
        <p:spPr>
          <a:xfrm xmlns:a="http://schemas.openxmlformats.org/drawingml/2006/main">
            <a:off x="11306175" y="428625"/>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200" b="1">
                <a:solidFill>
                  <a:srgbClr val="147B78"/>
                </a:solidFill>
                <a:latin typeface="Yu Gothic"/>
                <a:ea typeface="Yu Gothic"/>
                <a:cs typeface="Yu Gothic"/>
              </a:defRPr>
            </a:pPr>
            <a:r>
              <a:rPr sz="1200" b="1">
                <a:solidFill>
                  <a:srgbClr val="147B78"/>
                </a:solidFill>
                <a:latin typeface="Yu Gothic"/>
                <a:ea typeface="Yu Gothic"/>
                <a:cs typeface="Yu Gothic"/>
              </a:rPr>
              <a:t>02</a:t>
            </a:r>
          </a:p>
        </p:txBody>
      </p:sp>
      <p:sp>
        <p:nvSpPr>
          <p:cNvPr id="5" name="">
            <a:extLst xmlns:a="http://schemas.openxmlformats.org/drawingml/2006/main">
              <a:ext uri="{FF2B5EF4-FFF2-40B4-BE49-F238E27FC236}">
                <a16:creationId xmlns:a16="http://schemas.microsoft.com/office/drawing/2014/main" id="{B694ADD0-B694-493B-AE66-FD2D81ECB473}"/>
              </a:ext>
            </a:extLst>
          </p:cNvPr>
          <p:cNvSpPr>
            <a:spLocks xmlns:a="http://schemas.openxmlformats.org/drawingml/2006/main" noGrp="1"/>
          </p:cNvSpPr>
          <p:nvPr/>
        </p:nvSpPr>
        <p:spPr>
          <a:xfrm xmlns:a="http://schemas.openxmlformats.org/drawingml/2006/main">
            <a:off x="457200" y="6477000"/>
            <a:ext cx="11277600" cy="14288"/>
          </a:xfrm>
          <a:prstGeom xmlns:a="http://schemas.openxmlformats.org/drawingml/2006/main" prst="rect">
            <a:avLst/>
          </a:prstGeom>
          <a:solidFill xmlns:a="http://schemas.openxmlformats.org/drawingml/2006/main">
            <a:srgbClr val="C9D2D3"/>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EB480AE2-8AF1-4C52-BD0F-7EA125E2C54F}"/>
              </a:ext>
            </a:extLst>
          </p:cNvPr>
          <p:cNvSpPr>
            <a:spLocks xmlns:a="http://schemas.openxmlformats.org/drawingml/2006/main" noGrp="1"/>
          </p:cNvSpPr>
          <p:nvPr/>
        </p:nvSpPr>
        <p:spPr>
          <a:xfrm xmlns:a="http://schemas.openxmlformats.org/drawingml/2006/main">
            <a:off x="495300" y="6543675"/>
            <a:ext cx="7239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0">
                <a:solidFill>
                  <a:srgbClr val="617078"/>
                </a:solidFill>
                <a:latin typeface="Yu Gothic"/>
                <a:ea typeface="Yu Gothic"/>
                <a:cs typeface="Yu Gothic"/>
              </a:defRPr>
            </a:pPr>
            <a:r>
              <a:rPr sz="900" b="0">
                <a:solidFill>
                  <a:srgbClr val="617078"/>
                </a:solidFill>
                <a:latin typeface="Yu Gothic"/>
                <a:ea typeface="Yu Gothic"/>
                <a:cs typeface="Yu Gothic"/>
              </a:rPr>
              <a:t>FedPACT / NEXAR　研究会　2026.09.18</a:t>
            </a:r>
          </a:p>
        </p:txBody>
      </p:sp>
      <p:sp>
        <p:nvSpPr>
          <p:cNvPr id="7" name="">
            <a:extLst xmlns:a="http://schemas.openxmlformats.org/drawingml/2006/main">
              <a:ext uri="{FF2B5EF4-FFF2-40B4-BE49-F238E27FC236}">
                <a16:creationId xmlns:a16="http://schemas.microsoft.com/office/drawing/2014/main" id="{3FB49581-4243-4339-A63D-8F3F8D943F8D}"/>
              </a:ext>
            </a:extLst>
          </p:cNvPr>
          <p:cNvSpPr>
            <a:spLocks xmlns:a="http://schemas.openxmlformats.org/drawingml/2006/main" noGrp="1"/>
          </p:cNvSpPr>
          <p:nvPr/>
        </p:nvSpPr>
        <p:spPr>
          <a:xfrm xmlns:a="http://schemas.openxmlformats.org/drawingml/2006/main">
            <a:off x="10477500" y="6543675"/>
            <a:ext cx="12001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0">
                <a:solidFill>
                  <a:srgbClr val="617078"/>
                </a:solidFill>
                <a:latin typeface="Yu Gothic"/>
                <a:ea typeface="Yu Gothic"/>
                <a:cs typeface="Yu Gothic"/>
              </a:defRPr>
            </a:pPr>
            <a:r>
              <a:rPr sz="900" b="0">
                <a:solidFill>
                  <a:srgbClr val="617078"/>
                </a:solidFill>
                <a:latin typeface="Yu Gothic"/>
                <a:ea typeface="Yu Gothic"/>
                <a:cs typeface="Yu Gothic"/>
              </a:rPr>
              <a:t>2 / 9</a:t>
            </a:r>
          </a:p>
        </p:txBody>
      </p:sp>
      <p:pic>
        <p:nvPicPr>
          <p:cNvPr id="38" name=""/>
          <p:cNvPicPr>
            <a:picLocks xmlns:a="http://schemas.openxmlformats.org/drawingml/2006/main" noChangeAspect="1"/>
          </p:cNvPicPr>
          <p:nvPr/>
        </p:nvPicPr>
        <p:blipFill>
          <a:blip xmlns:r="http://schemas.openxmlformats.org/officeDocument/2006/relationships" xmlns:a="http://schemas.openxmlformats.org/drawingml/2006/main" r:embed="R6001170e3e3e416e"/>
          <a:srcRect xmlns:a="http://schemas.openxmlformats.org/drawingml/2006/main" l="41" t="0" r="41" b="0"/>
          <a:stretch xmlns:a="http://schemas.openxmlformats.org/drawingml/2006/main">
            <a:fillRect l="0" t="0" r="0" b="0"/>
          </a:stretch>
        </p:blipFill>
        <p:spPr>
          <a:xfrm xmlns:a="http://schemas.openxmlformats.org/drawingml/2006/main">
            <a:off x="552450" y="1162050"/>
            <a:ext cx="2571750" cy="1447800"/>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F6C22F98-A0F3-4102-9EF8-FA327F5C2D46}"/>
              </a:ext>
            </a:extLst>
          </p:cNvPr>
          <p:cNvSpPr>
            <a:spLocks xmlns:a="http://schemas.openxmlformats.org/drawingml/2006/main" noGrp="1"/>
          </p:cNvSpPr>
          <p:nvPr/>
        </p:nvSpPr>
        <p:spPr>
          <a:xfrm xmlns:a="http://schemas.openxmlformats.org/drawingml/2006/main">
            <a:off x="552450" y="2714625"/>
            <a:ext cx="2571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125" b="1">
                <a:solidFill>
                  <a:srgbClr val="617078"/>
                </a:solidFill>
                <a:latin typeface="Yu Gothic"/>
                <a:ea typeface="Yu Gothic"/>
                <a:cs typeface="Yu Gothic"/>
              </a:defRPr>
            </a:pPr>
            <a:r>
              <a:rPr sz="1125" b="1">
                <a:solidFill>
                  <a:srgbClr val="617078"/>
                </a:solidFill>
                <a:latin typeface="Yu Gothic"/>
                <a:ea typeface="Yu Gothic"/>
                <a:cs typeface="Yu Gothic"/>
              </a:rPr>
              <a:t>危険区間の開始</a:t>
            </a:r>
          </a:p>
        </p:txBody>
      </p:sp>
      <p:pic>
        <p:nvPicPr>
          <p:cNvPr id="40" name=""/>
          <p:cNvPicPr>
            <a:picLocks xmlns:a="http://schemas.openxmlformats.org/drawingml/2006/main" noChangeAspect="1"/>
          </p:cNvPicPr>
          <p:nvPr/>
        </p:nvPicPr>
        <p:blipFill>
          <a:blip xmlns:r="http://schemas.openxmlformats.org/officeDocument/2006/relationships" xmlns:a="http://schemas.openxmlformats.org/drawingml/2006/main" r:embed="R14648a7061824600"/>
          <a:srcRect xmlns:a="http://schemas.openxmlformats.org/drawingml/2006/main" l="41" t="0" r="41" b="0"/>
          <a:stretch xmlns:a="http://schemas.openxmlformats.org/drawingml/2006/main">
            <a:fillRect l="0" t="0" r="0" b="0"/>
          </a:stretch>
        </p:blipFill>
        <p:spPr>
          <a:xfrm xmlns:a="http://schemas.openxmlformats.org/drawingml/2006/main">
            <a:off x="3371850" y="1162050"/>
            <a:ext cx="2571750" cy="1447800"/>
          </a:xfrm>
          <a:prstGeom xmlns:a="http://schemas.openxmlformats.org/drawingml/2006/main" prst="rect">
            <a:avLst/>
          </a:prstGeom>
        </p:spPr>
      </p:pic>
      <p:sp>
        <p:nvSpPr>
          <p:cNvPr id="11" name="">
            <a:extLst xmlns:a="http://schemas.openxmlformats.org/drawingml/2006/main">
              <a:ext uri="{FF2B5EF4-FFF2-40B4-BE49-F238E27FC236}">
                <a16:creationId xmlns:a16="http://schemas.microsoft.com/office/drawing/2014/main" id="{8963F286-BCE3-4790-8F5C-43B0336EE81B}"/>
              </a:ext>
            </a:extLst>
          </p:cNvPr>
          <p:cNvSpPr>
            <a:spLocks xmlns:a="http://schemas.openxmlformats.org/drawingml/2006/main" noGrp="1"/>
          </p:cNvSpPr>
          <p:nvPr/>
        </p:nvSpPr>
        <p:spPr>
          <a:xfrm xmlns:a="http://schemas.openxmlformats.org/drawingml/2006/main">
            <a:off x="3371850" y="2714625"/>
            <a:ext cx="2571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125" b="1">
                <a:solidFill>
                  <a:srgbClr val="617078"/>
                </a:solidFill>
                <a:latin typeface="Yu Gothic"/>
                <a:ea typeface="Yu Gothic"/>
                <a:cs typeface="Yu Gothic"/>
              </a:defRPr>
            </a:pPr>
            <a:r>
              <a:rPr sz="1125" b="1">
                <a:solidFill>
                  <a:srgbClr val="617078"/>
                </a:solidFill>
                <a:latin typeface="Yu Gothic"/>
                <a:ea typeface="Yu Gothic"/>
                <a:cs typeface="Yu Gothic"/>
              </a:rPr>
              <a:t>約33%</a:t>
            </a:r>
          </a:p>
        </p:txBody>
      </p:sp>
      <p:pic>
        <p:nvPicPr>
          <p:cNvPr id="42" name=""/>
          <p:cNvPicPr>
            <a:picLocks xmlns:a="http://schemas.openxmlformats.org/drawingml/2006/main" noChangeAspect="1"/>
          </p:cNvPicPr>
          <p:nvPr/>
        </p:nvPicPr>
        <p:blipFill>
          <a:blip xmlns:r="http://schemas.openxmlformats.org/officeDocument/2006/relationships" xmlns:a="http://schemas.openxmlformats.org/drawingml/2006/main" r:embed="Rfef218e4295245f5"/>
          <a:srcRect xmlns:a="http://schemas.openxmlformats.org/drawingml/2006/main" l="41" t="0" r="41" b="0"/>
          <a:stretch xmlns:a="http://schemas.openxmlformats.org/drawingml/2006/main">
            <a:fillRect l="0" t="0" r="0" b="0"/>
          </a:stretch>
        </p:blipFill>
        <p:spPr>
          <a:xfrm xmlns:a="http://schemas.openxmlformats.org/drawingml/2006/main">
            <a:off x="6191250" y="1162050"/>
            <a:ext cx="2571750" cy="1447800"/>
          </a:xfrm>
          <a:prstGeom xmlns:a="http://schemas.openxmlformats.org/drawingml/2006/main" prst="rect">
            <a:avLst/>
          </a:prstGeom>
        </p:spPr>
      </p:pic>
      <p:sp>
        <p:nvSpPr>
          <p:cNvPr id="13" name="">
            <a:extLst xmlns:a="http://schemas.openxmlformats.org/drawingml/2006/main">
              <a:ext uri="{FF2B5EF4-FFF2-40B4-BE49-F238E27FC236}">
                <a16:creationId xmlns:a16="http://schemas.microsoft.com/office/drawing/2014/main" id="{96355DCB-4B1B-45BA-BF0E-6A7BBF833290}"/>
              </a:ext>
            </a:extLst>
          </p:cNvPr>
          <p:cNvSpPr>
            <a:spLocks xmlns:a="http://schemas.openxmlformats.org/drawingml/2006/main" noGrp="1"/>
          </p:cNvSpPr>
          <p:nvPr/>
        </p:nvSpPr>
        <p:spPr>
          <a:xfrm xmlns:a="http://schemas.openxmlformats.org/drawingml/2006/main">
            <a:off x="6191250" y="2714625"/>
            <a:ext cx="2571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125" b="1">
                <a:solidFill>
                  <a:srgbClr val="617078"/>
                </a:solidFill>
                <a:latin typeface="Yu Gothic"/>
                <a:ea typeface="Yu Gothic"/>
                <a:cs typeface="Yu Gothic"/>
              </a:defRPr>
            </a:pPr>
            <a:r>
              <a:rPr sz="1125" b="1">
                <a:solidFill>
                  <a:srgbClr val="617078"/>
                </a:solidFill>
                <a:latin typeface="Yu Gothic"/>
                <a:ea typeface="Yu Gothic"/>
                <a:cs typeface="Yu Gothic"/>
              </a:rPr>
              <a:t>約67%</a:t>
            </a:r>
          </a:p>
        </p:txBody>
      </p:sp>
      <p:pic>
        <p:nvPicPr>
          <p:cNvPr id="44" name=""/>
          <p:cNvPicPr>
            <a:picLocks xmlns:a="http://schemas.openxmlformats.org/drawingml/2006/main" noChangeAspect="1"/>
          </p:cNvPicPr>
          <p:nvPr/>
        </p:nvPicPr>
        <p:blipFill>
          <a:blip xmlns:r="http://schemas.openxmlformats.org/officeDocument/2006/relationships" xmlns:a="http://schemas.openxmlformats.org/drawingml/2006/main" r:embed="R9d601625864547fa"/>
          <a:srcRect xmlns:a="http://schemas.openxmlformats.org/drawingml/2006/main" l="41" t="0" r="41" b="0"/>
          <a:stretch xmlns:a="http://schemas.openxmlformats.org/drawingml/2006/main">
            <a:fillRect l="0" t="0" r="0" b="0"/>
          </a:stretch>
        </p:blipFill>
        <p:spPr>
          <a:xfrm xmlns:a="http://schemas.openxmlformats.org/drawingml/2006/main">
            <a:off x="9010650" y="1162050"/>
            <a:ext cx="2571750" cy="1447800"/>
          </a:xfrm>
          <a:prstGeom xmlns:a="http://schemas.openxmlformats.org/drawingml/2006/main" prst="rect">
            <a:avLst/>
          </a:prstGeom>
        </p:spPr>
      </p:pic>
      <p:sp>
        <p:nvSpPr>
          <p:cNvPr id="15" name="">
            <a:extLst xmlns:a="http://schemas.openxmlformats.org/drawingml/2006/main">
              <a:ext uri="{FF2B5EF4-FFF2-40B4-BE49-F238E27FC236}">
                <a16:creationId xmlns:a16="http://schemas.microsoft.com/office/drawing/2014/main" id="{D9727027-5DA4-4045-974E-0D9DC11C1095}"/>
              </a:ext>
            </a:extLst>
          </p:cNvPr>
          <p:cNvSpPr>
            <a:spLocks xmlns:a="http://schemas.openxmlformats.org/drawingml/2006/main" noGrp="1"/>
          </p:cNvSpPr>
          <p:nvPr/>
        </p:nvSpPr>
        <p:spPr>
          <a:xfrm xmlns:a="http://schemas.openxmlformats.org/drawingml/2006/main">
            <a:off x="9010650" y="2714625"/>
            <a:ext cx="2571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125" b="1">
                <a:solidFill>
                  <a:srgbClr val="E7833D"/>
                </a:solidFill>
                <a:latin typeface="Yu Gothic"/>
                <a:ea typeface="Yu Gothic"/>
                <a:cs typeface="Yu Gothic"/>
              </a:defRPr>
            </a:pPr>
            <a:r>
              <a:rPr sz="1125" b="1">
                <a:solidFill>
                  <a:srgbClr val="E7833D"/>
                </a:solidFill>
                <a:latin typeface="Yu Gothic"/>
                <a:ea typeface="Yu Gothic"/>
                <a:cs typeface="Yu Gothic"/>
              </a:rPr>
              <a:t>危険事象の時点</a:t>
            </a:r>
          </a:p>
        </p:txBody>
      </p:sp>
      <p:sp>
        <p:nvSpPr>
          <p:cNvPr id="16" name="">
            <a:extLst xmlns:a="http://schemas.openxmlformats.org/drawingml/2006/main">
              <a:ext uri="{FF2B5EF4-FFF2-40B4-BE49-F238E27FC236}">
                <a16:creationId xmlns:a16="http://schemas.microsoft.com/office/drawing/2014/main" id="{CAA82D99-A729-4CF5-A440-D53EC44EFE85}"/>
              </a:ext>
            </a:extLst>
          </p:cNvPr>
          <p:cNvSpPr>
            <a:spLocks xmlns:a="http://schemas.openxmlformats.org/drawingml/2006/main" noGrp="1"/>
          </p:cNvSpPr>
          <p:nvPr/>
        </p:nvSpPr>
        <p:spPr>
          <a:xfrm xmlns:a="http://schemas.openxmlformats.org/drawingml/2006/main">
            <a:off x="723900" y="3095625"/>
            <a:ext cx="10744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425" b="1">
                <a:solidFill>
                  <a:srgbClr val="147B78"/>
                </a:solidFill>
                <a:latin typeface="Yu Gothic"/>
                <a:ea typeface="Yu Gothic"/>
                <a:cs typeface="Yu Gothic"/>
              </a:defRPr>
            </a:pPr>
            <a:r>
              <a:rPr sz="1425" b="1">
                <a:solidFill>
                  <a:srgbClr val="147B78"/>
                </a:solidFill>
                <a:latin typeface="Yu Gothic"/>
                <a:ea typeface="Yu Gothic"/>
                <a:cs typeface="Yu Gothic"/>
              </a:rPr>
              <a:t>q = [通常の確率, 危険の確率]　この例では危険の確率だけを表示</a:t>
            </a:r>
          </a:p>
        </p:txBody>
      </p:sp>
      <p:sp>
        <p:nvSpPr>
          <p:cNvPr id="17" name="">
            <a:extLst xmlns:a="http://schemas.openxmlformats.org/drawingml/2006/main">
              <a:ext uri="{FF2B5EF4-FFF2-40B4-BE49-F238E27FC236}">
                <a16:creationId xmlns:a16="http://schemas.microsoft.com/office/drawing/2014/main" id="{34F61DB6-0E8A-4AD0-BBC2-2649637D9715}"/>
              </a:ext>
            </a:extLst>
          </p:cNvPr>
          <p:cNvSpPr>
            <a:spLocks xmlns:a="http://schemas.openxmlformats.org/drawingml/2006/main" noGrp="1"/>
          </p:cNvSpPr>
          <p:nvPr/>
        </p:nvSpPr>
        <p:spPr>
          <a:xfrm xmlns:a="http://schemas.openxmlformats.org/drawingml/2006/main">
            <a:off x="933450" y="3667125"/>
            <a:ext cx="285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500" b="1">
                <a:solidFill>
                  <a:srgbClr val="617078"/>
                </a:solidFill>
                <a:latin typeface="Yu Gothic"/>
                <a:ea typeface="Yu Gothic"/>
                <a:cs typeface="Yu Gothic"/>
              </a:defRPr>
            </a:pPr>
            <a:r>
              <a:rPr sz="1500" b="1">
                <a:solidFill>
                  <a:srgbClr val="617078"/>
                </a:solidFill>
                <a:latin typeface="Yu Gothic"/>
                <a:ea typeface="Yu Gothic"/>
                <a:cs typeface="Yu Gothic"/>
              </a:rPr>
              <a:t>学習前  qᵖʳᵉ</a:t>
            </a:r>
          </a:p>
        </p:txBody>
      </p:sp>
      <p:sp>
        <p:nvSpPr>
          <p:cNvPr id="18" name="">
            <a:extLst xmlns:a="http://schemas.openxmlformats.org/drawingml/2006/main">
              <a:ext uri="{FF2B5EF4-FFF2-40B4-BE49-F238E27FC236}">
                <a16:creationId xmlns:a16="http://schemas.microsoft.com/office/drawing/2014/main" id="{D11D16A2-7612-49BB-8D3D-81BCCF0C1CE6}"/>
              </a:ext>
            </a:extLst>
          </p:cNvPr>
          <p:cNvSpPr>
            <a:spLocks xmlns:a="http://schemas.openxmlformats.org/drawingml/2006/main" noGrp="1"/>
          </p:cNvSpPr>
          <p:nvPr/>
        </p:nvSpPr>
        <p:spPr>
          <a:xfrm xmlns:a="http://schemas.openxmlformats.org/drawingml/2006/main">
            <a:off x="933450" y="4038600"/>
            <a:ext cx="2857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3150" b="1">
                <a:solidFill>
                  <a:srgbClr val="173B4B"/>
                </a:solidFill>
                <a:latin typeface="Yu Gothic"/>
                <a:ea typeface="Yu Gothic"/>
                <a:cs typeface="Yu Gothic"/>
              </a:defRPr>
            </a:pPr>
            <a:r>
              <a:rPr sz="3150" b="1">
                <a:solidFill>
                  <a:srgbClr val="173B4B"/>
                </a:solidFill>
                <a:latin typeface="Yu Gothic"/>
                <a:ea typeface="Yu Gothic"/>
                <a:cs typeface="Yu Gothic"/>
              </a:rPr>
              <a:t>0.349</a:t>
            </a:r>
          </a:p>
        </p:txBody>
      </p:sp>
      <p:sp>
        <p:nvSpPr>
          <p:cNvPr id="19" name="">
            <a:extLst xmlns:a="http://schemas.openxmlformats.org/drawingml/2006/main">
              <a:ext uri="{FF2B5EF4-FFF2-40B4-BE49-F238E27FC236}">
                <a16:creationId xmlns:a16="http://schemas.microsoft.com/office/drawing/2014/main" id="{FED10212-FFF4-4941-B722-5F64FFB19E5B}"/>
              </a:ext>
            </a:extLst>
          </p:cNvPr>
          <p:cNvSpPr>
            <a:spLocks xmlns:a="http://schemas.openxmlformats.org/drawingml/2006/main" noGrp="1"/>
          </p:cNvSpPr>
          <p:nvPr/>
        </p:nvSpPr>
        <p:spPr>
          <a:xfrm xmlns:a="http://schemas.openxmlformats.org/drawingml/2006/main">
            <a:off x="933450" y="4695825"/>
            <a:ext cx="285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350" b="0">
                <a:solidFill>
                  <a:srgbClr val="26373D"/>
                </a:solidFill>
                <a:latin typeface="Yu Gothic"/>
                <a:ea typeface="Yu Gothic"/>
                <a:cs typeface="Yu Gothic"/>
              </a:defRPr>
            </a:pPr>
            <a:r>
              <a:rPr sz="1350" b="0">
                <a:solidFill>
                  <a:srgbClr val="26373D"/>
                </a:solidFill>
                <a:latin typeface="Yu Gothic"/>
                <a:ea typeface="Yu Gothic"/>
                <a:cs typeface="Yu Gothic"/>
              </a:rPr>
              <a:t>局所学習前の危険確率</a:t>
            </a:r>
          </a:p>
        </p:txBody>
      </p:sp>
      <p:sp>
        <p:nvSpPr>
          <p:cNvPr id="20" name="">
            <a:extLst xmlns:a="http://schemas.openxmlformats.org/drawingml/2006/main">
              <a:ext uri="{FF2B5EF4-FFF2-40B4-BE49-F238E27FC236}">
                <a16:creationId xmlns:a16="http://schemas.microsoft.com/office/drawing/2014/main" id="{EC1F50E0-E43D-48DB-822D-9935CF32EBDC}"/>
              </a:ext>
            </a:extLst>
          </p:cNvPr>
          <p:cNvSpPr>
            <a:spLocks xmlns:a="http://schemas.openxmlformats.org/drawingml/2006/main" noGrp="1"/>
          </p:cNvSpPr>
          <p:nvPr/>
        </p:nvSpPr>
        <p:spPr>
          <a:xfrm xmlns:a="http://schemas.openxmlformats.org/drawingml/2006/main">
            <a:off x="4171950" y="3743325"/>
            <a:ext cx="19050" cy="1285875"/>
          </a:xfrm>
          <a:prstGeom xmlns:a="http://schemas.openxmlformats.org/drawingml/2006/main" prst="rect">
            <a:avLst/>
          </a:prstGeom>
          <a:solidFill xmlns:a="http://schemas.openxmlformats.org/drawingml/2006/main">
            <a:srgbClr val="C9D2D3"/>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67BCCFF9-B9E2-4A36-AA51-5338B4AB09C2}"/>
              </a:ext>
            </a:extLst>
          </p:cNvPr>
          <p:cNvSpPr>
            <a:spLocks xmlns:a="http://schemas.openxmlformats.org/drawingml/2006/main" noGrp="1"/>
          </p:cNvSpPr>
          <p:nvPr/>
        </p:nvSpPr>
        <p:spPr>
          <a:xfrm xmlns:a="http://schemas.openxmlformats.org/drawingml/2006/main">
            <a:off x="4648200" y="3667125"/>
            <a:ext cx="285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500" b="1">
                <a:solidFill>
                  <a:srgbClr val="617078"/>
                </a:solidFill>
                <a:latin typeface="Yu Gothic"/>
                <a:ea typeface="Yu Gothic"/>
                <a:cs typeface="Yu Gothic"/>
              </a:defRPr>
            </a:pPr>
            <a:r>
              <a:rPr sz="1500" b="1">
                <a:solidFill>
                  <a:srgbClr val="617078"/>
                </a:solidFill>
                <a:latin typeface="Yu Gothic"/>
                <a:ea typeface="Yu Gothic"/>
                <a:cs typeface="Yu Gothic"/>
              </a:rPr>
              <a:t>学習後  qᵖᵒˢᵗ</a:t>
            </a:r>
          </a:p>
        </p:txBody>
      </p:sp>
      <p:sp>
        <p:nvSpPr>
          <p:cNvPr id="22" name="">
            <a:extLst xmlns:a="http://schemas.openxmlformats.org/drawingml/2006/main">
              <a:ext uri="{FF2B5EF4-FFF2-40B4-BE49-F238E27FC236}">
                <a16:creationId xmlns:a16="http://schemas.microsoft.com/office/drawing/2014/main" id="{5CB8845B-2F5E-4D2F-8BEB-C723FB3E5E86}"/>
              </a:ext>
            </a:extLst>
          </p:cNvPr>
          <p:cNvSpPr>
            <a:spLocks xmlns:a="http://schemas.openxmlformats.org/drawingml/2006/main" noGrp="1"/>
          </p:cNvSpPr>
          <p:nvPr/>
        </p:nvSpPr>
        <p:spPr>
          <a:xfrm xmlns:a="http://schemas.openxmlformats.org/drawingml/2006/main">
            <a:off x="4648200" y="4038600"/>
            <a:ext cx="2857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3150" b="1">
                <a:solidFill>
                  <a:srgbClr val="173B4B"/>
                </a:solidFill>
                <a:latin typeface="Yu Gothic"/>
                <a:ea typeface="Yu Gothic"/>
                <a:cs typeface="Yu Gothic"/>
              </a:defRPr>
            </a:pPr>
            <a:r>
              <a:rPr sz="3150" b="1">
                <a:solidFill>
                  <a:srgbClr val="173B4B"/>
                </a:solidFill>
                <a:latin typeface="Yu Gothic"/>
                <a:ea typeface="Yu Gothic"/>
                <a:cs typeface="Yu Gothic"/>
              </a:rPr>
              <a:t>0.644</a:t>
            </a:r>
          </a:p>
        </p:txBody>
      </p:sp>
      <p:sp>
        <p:nvSpPr>
          <p:cNvPr id="23" name="">
            <a:extLst xmlns:a="http://schemas.openxmlformats.org/drawingml/2006/main">
              <a:ext uri="{FF2B5EF4-FFF2-40B4-BE49-F238E27FC236}">
                <a16:creationId xmlns:a16="http://schemas.microsoft.com/office/drawing/2014/main" id="{92DD1C71-E244-4A8E-8BB8-ED1B0549C635}"/>
              </a:ext>
            </a:extLst>
          </p:cNvPr>
          <p:cNvSpPr>
            <a:spLocks xmlns:a="http://schemas.openxmlformats.org/drawingml/2006/main" noGrp="1"/>
          </p:cNvSpPr>
          <p:nvPr/>
        </p:nvSpPr>
        <p:spPr>
          <a:xfrm xmlns:a="http://schemas.openxmlformats.org/drawingml/2006/main">
            <a:off x="4648200" y="4695825"/>
            <a:ext cx="285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350" b="0">
                <a:solidFill>
                  <a:srgbClr val="26373D"/>
                </a:solidFill>
                <a:latin typeface="Yu Gothic"/>
                <a:ea typeface="Yu Gothic"/>
                <a:cs typeface="Yu Gothic"/>
              </a:defRPr>
            </a:pPr>
            <a:r>
              <a:rPr sz="1350" b="0">
                <a:solidFill>
                  <a:srgbClr val="26373D"/>
                </a:solidFill>
                <a:latin typeface="Yu Gothic"/>
                <a:ea typeface="Yu Gothic"/>
                <a:cs typeface="Yu Gothic"/>
              </a:rPr>
              <a:t>同じ動画を学習後に再判定</a:t>
            </a:r>
          </a:p>
        </p:txBody>
      </p:sp>
      <p:sp>
        <p:nvSpPr>
          <p:cNvPr id="24" name="">
            <a:extLst xmlns:a="http://schemas.openxmlformats.org/drawingml/2006/main">
              <a:ext uri="{FF2B5EF4-FFF2-40B4-BE49-F238E27FC236}">
                <a16:creationId xmlns:a16="http://schemas.microsoft.com/office/drawing/2014/main" id="{D7ED9F38-1457-4A55-8829-53B69F51219A}"/>
              </a:ext>
            </a:extLst>
          </p:cNvPr>
          <p:cNvSpPr>
            <a:spLocks xmlns:a="http://schemas.openxmlformats.org/drawingml/2006/main" noGrp="1"/>
          </p:cNvSpPr>
          <p:nvPr/>
        </p:nvSpPr>
        <p:spPr>
          <a:xfrm xmlns:a="http://schemas.openxmlformats.org/drawingml/2006/main">
            <a:off x="7886700" y="3743325"/>
            <a:ext cx="19050" cy="1285875"/>
          </a:xfrm>
          <a:prstGeom xmlns:a="http://schemas.openxmlformats.org/drawingml/2006/main" prst="rect">
            <a:avLst/>
          </a:prstGeom>
          <a:solidFill xmlns:a="http://schemas.openxmlformats.org/drawingml/2006/main">
            <a:srgbClr val="C9D2D3"/>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91C2B772-D204-42EF-AECF-1B0F616A400A}"/>
              </a:ext>
            </a:extLst>
          </p:cNvPr>
          <p:cNvSpPr>
            <a:spLocks xmlns:a="http://schemas.openxmlformats.org/drawingml/2006/main" noGrp="1"/>
          </p:cNvSpPr>
          <p:nvPr/>
        </p:nvSpPr>
        <p:spPr>
          <a:xfrm xmlns:a="http://schemas.openxmlformats.org/drawingml/2006/main">
            <a:off x="8362950" y="3667125"/>
            <a:ext cx="285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500" b="1">
                <a:solidFill>
                  <a:srgbClr val="617078"/>
                </a:solidFill>
                <a:latin typeface="Yu Gothic"/>
                <a:ea typeface="Yu Gothic"/>
                <a:cs typeface="Yu Gothic"/>
              </a:defRPr>
            </a:pPr>
            <a:r>
              <a:rPr sz="1500" b="1">
                <a:solidFill>
                  <a:srgbClr val="617078"/>
                </a:solidFill>
                <a:latin typeface="Yu Gothic"/>
                <a:ea typeface="Yu Gothic"/>
                <a:cs typeface="Yu Gothic"/>
              </a:rPr>
              <a:t>変化量  Δq</a:t>
            </a:r>
          </a:p>
        </p:txBody>
      </p:sp>
      <p:sp>
        <p:nvSpPr>
          <p:cNvPr id="26" name="">
            <a:extLst xmlns:a="http://schemas.openxmlformats.org/drawingml/2006/main">
              <a:ext uri="{FF2B5EF4-FFF2-40B4-BE49-F238E27FC236}">
                <a16:creationId xmlns:a16="http://schemas.microsoft.com/office/drawing/2014/main" id="{2CE78648-41A1-4741-9412-A18F87BDB14D}"/>
              </a:ext>
            </a:extLst>
          </p:cNvPr>
          <p:cNvSpPr>
            <a:spLocks xmlns:a="http://schemas.openxmlformats.org/drawingml/2006/main" noGrp="1"/>
          </p:cNvSpPr>
          <p:nvPr/>
        </p:nvSpPr>
        <p:spPr>
          <a:xfrm xmlns:a="http://schemas.openxmlformats.org/drawingml/2006/main">
            <a:off x="8362950" y="4038600"/>
            <a:ext cx="2857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3150" b="1">
                <a:solidFill>
                  <a:srgbClr val="E7833D"/>
                </a:solidFill>
                <a:latin typeface="Yu Gothic"/>
                <a:ea typeface="Yu Gothic"/>
                <a:cs typeface="Yu Gothic"/>
              </a:defRPr>
            </a:pPr>
            <a:r>
              <a:rPr sz="3150" b="1">
                <a:solidFill>
                  <a:srgbClr val="E7833D"/>
                </a:solidFill>
                <a:latin typeface="Yu Gothic"/>
                <a:ea typeface="Yu Gothic"/>
                <a:cs typeface="Yu Gothic"/>
              </a:rPr>
              <a:t>+0.295</a:t>
            </a:r>
          </a:p>
        </p:txBody>
      </p:sp>
      <p:sp>
        <p:nvSpPr>
          <p:cNvPr id="27" name="">
            <a:extLst xmlns:a="http://schemas.openxmlformats.org/drawingml/2006/main">
              <a:ext uri="{FF2B5EF4-FFF2-40B4-BE49-F238E27FC236}">
                <a16:creationId xmlns:a16="http://schemas.microsoft.com/office/drawing/2014/main" id="{0E53E353-2638-4EB2-ABA4-426A83550120}"/>
              </a:ext>
            </a:extLst>
          </p:cNvPr>
          <p:cNvSpPr>
            <a:spLocks xmlns:a="http://schemas.openxmlformats.org/drawingml/2006/main" noGrp="1"/>
          </p:cNvSpPr>
          <p:nvPr/>
        </p:nvSpPr>
        <p:spPr>
          <a:xfrm xmlns:a="http://schemas.openxmlformats.org/drawingml/2006/main">
            <a:off x="8362950" y="4695825"/>
            <a:ext cx="285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350" b="0">
                <a:solidFill>
                  <a:srgbClr val="26373D"/>
                </a:solidFill>
                <a:latin typeface="Yu Gothic"/>
                <a:ea typeface="Yu Gothic"/>
                <a:cs typeface="Yu Gothic"/>
              </a:defRPr>
            </a:pPr>
            <a:r>
              <a:rPr sz="1350" b="0">
                <a:solidFill>
                  <a:srgbClr val="26373D"/>
                </a:solidFill>
                <a:latin typeface="Yu Gothic"/>
                <a:ea typeface="Yu Gothic"/>
                <a:cs typeface="Yu Gothic"/>
              </a:rPr>
              <a:t>危険側へ動いた量</a:t>
            </a:r>
          </a:p>
        </p:txBody>
      </p:sp>
      <p:sp>
        <p:nvSpPr>
          <p:cNvPr id="28" name="">
            <a:extLst xmlns:a="http://schemas.openxmlformats.org/drawingml/2006/main">
              <a:ext uri="{FF2B5EF4-FFF2-40B4-BE49-F238E27FC236}">
                <a16:creationId xmlns:a16="http://schemas.microsoft.com/office/drawing/2014/main" id="{554DD7A5-1BC7-49B7-AB9F-DE93DBC367B9}"/>
              </a:ext>
            </a:extLst>
          </p:cNvPr>
          <p:cNvSpPr>
            <a:spLocks xmlns:a="http://schemas.openxmlformats.org/drawingml/2006/main" noGrp="1"/>
          </p:cNvSpPr>
          <p:nvPr/>
        </p:nvSpPr>
        <p:spPr>
          <a:xfrm xmlns:a="http://schemas.openxmlformats.org/drawingml/2006/main">
            <a:off x="704850" y="5419725"/>
            <a:ext cx="10782300" cy="666750"/>
          </a:xfrm>
          <a:prstGeom xmlns:a="http://schemas.openxmlformats.org/drawingml/2006/main" prst="rect">
            <a:avLst/>
          </a:prstGeom>
          <a:solidFill xmlns:a="http://schemas.openxmlformats.org/drawingml/2006/main">
            <a:srgbClr val="E6F1F3"/>
          </a:solidFill>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E1858239-EA6A-45E7-B1AE-D41FEC228709}"/>
              </a:ext>
            </a:extLst>
          </p:cNvPr>
          <p:cNvSpPr>
            <a:spLocks xmlns:a="http://schemas.openxmlformats.org/drawingml/2006/main" noGrp="1"/>
          </p:cNvSpPr>
          <p:nvPr/>
        </p:nvSpPr>
        <p:spPr>
          <a:xfrm xmlns:a="http://schemas.openxmlformats.org/drawingml/2006/main">
            <a:off x="952500" y="5543550"/>
            <a:ext cx="10287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500" b="1">
                <a:solidFill>
                  <a:srgbClr val="26373D"/>
                </a:solidFill>
                <a:latin typeface="Yu Gothic"/>
                <a:ea typeface="Yu Gothic"/>
                <a:cs typeface="Yu Gothic"/>
              </a:defRPr>
            </a:pPr>
            <a:r>
              <a:rPr sz="1500" b="1">
                <a:solidFill>
                  <a:srgbClr val="26373D"/>
                </a:solidFill>
                <a:latin typeface="Yu Gothic"/>
                <a:ea typeface="Yu Gothic"/>
                <a:cs typeface="Yu Gothic"/>
              </a:rPr>
              <a:t>ここで分かるのは、同じ入力への判定が危険側へ動いたことまで。危険理由や性能向上はまだ分からない。</a:t>
            </a:r>
          </a:p>
        </p:txBody>
      </p:sp>
      <p:sp>
        <p:nvSpPr>
          <p:cNvPr id="30" name="">
            <a:extLst xmlns:a="http://schemas.openxmlformats.org/drawingml/2006/main">
              <a:ext uri="{FF2B5EF4-FFF2-40B4-BE49-F238E27FC236}">
                <a16:creationId xmlns:a16="http://schemas.microsoft.com/office/drawing/2014/main" id="{5B354E11-E574-4AE7-9184-3FF22FA70F50}"/>
              </a:ext>
            </a:extLst>
          </p:cNvPr>
          <p:cNvSpPr>
            <a:spLocks xmlns:a="http://schemas.openxmlformats.org/drawingml/2006/main" noGrp="1"/>
          </p:cNvSpPr>
          <p:nvPr/>
        </p:nvSpPr>
        <p:spPr>
          <a:xfrm xmlns:a="http://schemas.openxmlformats.org/drawingml/2006/main">
            <a:off x="381000" y="342900"/>
            <a:ext cx="66675" cy="514350"/>
          </a:xfrm>
          <a:prstGeom xmlns:a="http://schemas.openxmlformats.org/drawingml/2006/main" prst="rect">
            <a:avLst/>
          </a:prstGeom>
          <a:solidFill xmlns:a="http://schemas.openxmlformats.org/drawingml/2006/main">
            <a:srgbClr val="147B78"/>
          </a:solidFill>
          <a:ln xmlns:a="http://schemas.openxmlformats.org/drawingml/2006/main" w="0">
            <a:noFill/>
          </a:ln>
        </p:spPr>
      </p:sp>
    </p:spTree>
    <p:extLst>
      <p:ext uri="{BB962C8B-B14F-4D97-AF65-F5344CB8AC3E}">
        <p14:creationId xmlns:p14="http://schemas.microsoft.com/office/powerpoint/2010/main" val="961176450"/>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2CCA23E3-E2EB-4C52-934A-E2F1CC5E2BA7}"/>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5E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9CDA85A-02AA-4F71-B12D-CE1944FE8727}"/>
              </a:ext>
            </a:extLst>
          </p:cNvPr>
          <p:cNvSpPr>
            <a:spLocks xmlns:a="http://schemas.openxmlformats.org/drawingml/2006/main" noGrp="1"/>
          </p:cNvSpPr>
          <p:nvPr/>
        </p:nvSpPr>
        <p:spPr>
          <a:xfrm xmlns:a="http://schemas.openxmlformats.org/drawingml/2006/main">
            <a:off x="381000" y="342900"/>
            <a:ext cx="66675" cy="514350"/>
          </a:xfrm>
          <a:prstGeom xmlns:a="http://schemas.openxmlformats.org/drawingml/2006/main" prst="rect">
            <a:avLst/>
          </a:prstGeom>
          <a:solidFill xmlns:a="http://schemas.openxmlformats.org/drawingml/2006/main">
            <a:srgbClr val="147B78"/>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4C36510B-9D8D-48DA-8084-B24D0E332EBD}"/>
              </a:ext>
            </a:extLst>
          </p:cNvPr>
          <p:cNvSpPr>
            <a:spLocks xmlns:a="http://schemas.openxmlformats.org/drawingml/2006/main" noGrp="1"/>
          </p:cNvSpPr>
          <p:nvPr/>
        </p:nvSpPr>
        <p:spPr>
          <a:xfrm xmlns:a="http://schemas.openxmlformats.org/drawingml/2006/main">
            <a:off x="590550" y="323850"/>
            <a:ext cx="10572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2850" b="1">
                <a:solidFill>
                  <a:srgbClr val="173B4B"/>
                </a:solidFill>
                <a:latin typeface="Yu Gothic"/>
                <a:ea typeface="Yu Gothic"/>
                <a:cs typeface="Yu Gothic"/>
              </a:defRPr>
            </a:pPr>
            <a:r>
              <a:rPr sz="2850" b="1">
                <a:solidFill>
                  <a:srgbClr val="173B4B"/>
                </a:solidFill>
                <a:latin typeface="Yu Gothic"/>
                <a:ea typeface="Yu Gothic"/>
                <a:cs typeface="Yu Gothic"/>
              </a:rPr>
              <a:t>複数動画の反応を、3つの値に要約する</a:t>
            </a:r>
          </a:p>
        </p:txBody>
      </p:sp>
      <p:sp>
        <p:nvSpPr>
          <p:cNvPr id="4" name="">
            <a:extLst xmlns:a="http://schemas.openxmlformats.org/drawingml/2006/main">
              <a:ext uri="{FF2B5EF4-FFF2-40B4-BE49-F238E27FC236}">
                <a16:creationId xmlns:a16="http://schemas.microsoft.com/office/drawing/2014/main" id="{D8322B5E-64A7-47C3-A87D-E1FDF9944098}"/>
              </a:ext>
            </a:extLst>
          </p:cNvPr>
          <p:cNvSpPr>
            <a:spLocks xmlns:a="http://schemas.openxmlformats.org/drawingml/2006/main" noGrp="1"/>
          </p:cNvSpPr>
          <p:nvPr/>
        </p:nvSpPr>
        <p:spPr>
          <a:xfrm xmlns:a="http://schemas.openxmlformats.org/drawingml/2006/main">
            <a:off x="11306175" y="428625"/>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200" b="1">
                <a:solidFill>
                  <a:srgbClr val="147B78"/>
                </a:solidFill>
                <a:latin typeface="Yu Gothic"/>
                <a:ea typeface="Yu Gothic"/>
                <a:cs typeface="Yu Gothic"/>
              </a:defRPr>
            </a:pPr>
            <a:r>
              <a:rPr sz="1200" b="1">
                <a:solidFill>
                  <a:srgbClr val="147B78"/>
                </a:solidFill>
                <a:latin typeface="Yu Gothic"/>
                <a:ea typeface="Yu Gothic"/>
                <a:cs typeface="Yu Gothic"/>
              </a:rPr>
              <a:t>03</a:t>
            </a:r>
          </a:p>
        </p:txBody>
      </p:sp>
      <p:sp>
        <p:nvSpPr>
          <p:cNvPr id="5" name="">
            <a:extLst xmlns:a="http://schemas.openxmlformats.org/drawingml/2006/main">
              <a:ext uri="{FF2B5EF4-FFF2-40B4-BE49-F238E27FC236}">
                <a16:creationId xmlns:a16="http://schemas.microsoft.com/office/drawing/2014/main" id="{BBD2E5C3-E1A1-4D62-A8ED-4A4B3712DE6B}"/>
              </a:ext>
            </a:extLst>
          </p:cNvPr>
          <p:cNvSpPr>
            <a:spLocks xmlns:a="http://schemas.openxmlformats.org/drawingml/2006/main" noGrp="1"/>
          </p:cNvSpPr>
          <p:nvPr/>
        </p:nvSpPr>
        <p:spPr>
          <a:xfrm xmlns:a="http://schemas.openxmlformats.org/drawingml/2006/main">
            <a:off x="457200" y="6477000"/>
            <a:ext cx="11277600" cy="14288"/>
          </a:xfrm>
          <a:prstGeom xmlns:a="http://schemas.openxmlformats.org/drawingml/2006/main" prst="rect">
            <a:avLst/>
          </a:prstGeom>
          <a:solidFill xmlns:a="http://schemas.openxmlformats.org/drawingml/2006/main">
            <a:srgbClr val="C9D2D3"/>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9EBB4FF7-2E10-4E26-B445-00479503818F}"/>
              </a:ext>
            </a:extLst>
          </p:cNvPr>
          <p:cNvSpPr>
            <a:spLocks xmlns:a="http://schemas.openxmlformats.org/drawingml/2006/main" noGrp="1"/>
          </p:cNvSpPr>
          <p:nvPr/>
        </p:nvSpPr>
        <p:spPr>
          <a:xfrm xmlns:a="http://schemas.openxmlformats.org/drawingml/2006/main">
            <a:off x="495300" y="6543675"/>
            <a:ext cx="7239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0">
                <a:solidFill>
                  <a:srgbClr val="617078"/>
                </a:solidFill>
                <a:latin typeface="Yu Gothic"/>
                <a:ea typeface="Yu Gothic"/>
                <a:cs typeface="Yu Gothic"/>
              </a:defRPr>
            </a:pPr>
            <a:r>
              <a:rPr sz="900" b="0">
                <a:solidFill>
                  <a:srgbClr val="617078"/>
                </a:solidFill>
                <a:latin typeface="Yu Gothic"/>
                <a:ea typeface="Yu Gothic"/>
                <a:cs typeface="Yu Gothic"/>
              </a:rPr>
              <a:t>FedPACT / NEXAR　研究会　2026.09.18</a:t>
            </a:r>
          </a:p>
        </p:txBody>
      </p:sp>
      <p:sp>
        <p:nvSpPr>
          <p:cNvPr id="7" name="">
            <a:extLst xmlns:a="http://schemas.openxmlformats.org/drawingml/2006/main">
              <a:ext uri="{FF2B5EF4-FFF2-40B4-BE49-F238E27FC236}">
                <a16:creationId xmlns:a16="http://schemas.microsoft.com/office/drawing/2014/main" id="{9B9B0CA1-B22D-42ED-B541-36A79758FAC6}"/>
              </a:ext>
            </a:extLst>
          </p:cNvPr>
          <p:cNvSpPr>
            <a:spLocks xmlns:a="http://schemas.openxmlformats.org/drawingml/2006/main" noGrp="1"/>
          </p:cNvSpPr>
          <p:nvPr/>
        </p:nvSpPr>
        <p:spPr>
          <a:xfrm xmlns:a="http://schemas.openxmlformats.org/drawingml/2006/main">
            <a:off x="10477500" y="6543675"/>
            <a:ext cx="12001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0">
                <a:solidFill>
                  <a:srgbClr val="617078"/>
                </a:solidFill>
                <a:latin typeface="Yu Gothic"/>
                <a:ea typeface="Yu Gothic"/>
                <a:cs typeface="Yu Gothic"/>
              </a:defRPr>
            </a:pPr>
            <a:r>
              <a:rPr sz="900" b="0">
                <a:solidFill>
                  <a:srgbClr val="617078"/>
                </a:solidFill>
                <a:latin typeface="Yu Gothic"/>
                <a:ea typeface="Yu Gothic"/>
                <a:cs typeface="Yu Gothic"/>
              </a:rPr>
              <a:t>3 / 9</a:t>
            </a:r>
          </a:p>
        </p:txBody>
      </p:sp>
      <p:sp>
        <p:nvSpPr>
          <p:cNvPr id="8" name="">
            <a:extLst xmlns:a="http://schemas.openxmlformats.org/drawingml/2006/main">
              <a:ext uri="{FF2B5EF4-FFF2-40B4-BE49-F238E27FC236}">
                <a16:creationId xmlns:a16="http://schemas.microsoft.com/office/drawing/2014/main" id="{34325BBA-060A-485F-9019-CE5656BE07DF}"/>
              </a:ext>
            </a:extLst>
          </p:cNvPr>
          <p:cNvSpPr>
            <a:spLocks xmlns:a="http://schemas.openxmlformats.org/drawingml/2006/main" noGrp="1"/>
          </p:cNvSpPr>
          <p:nvPr/>
        </p:nvSpPr>
        <p:spPr>
          <a:xfrm xmlns:a="http://schemas.openxmlformats.org/drawingml/2006/main">
            <a:off x="609600" y="1066800"/>
            <a:ext cx="6000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1">
                <a:solidFill>
                  <a:srgbClr val="147B78"/>
                </a:solidFill>
                <a:latin typeface="Yu Gothic"/>
                <a:ea typeface="Yu Gothic"/>
                <a:cs typeface="Yu Gothic"/>
              </a:defRPr>
            </a:pPr>
            <a:r>
              <a:rPr sz="1575" b="1">
                <a:solidFill>
                  <a:srgbClr val="147B78"/>
                </a:solidFill>
                <a:latin typeface="Yu Gothic"/>
                <a:ea typeface="Yu Gothic"/>
                <a:cs typeface="Yu Gothic"/>
              </a:rPr>
              <a:t>同じ現場側AIの危険動画3本</a:t>
            </a:r>
          </a:p>
        </p:txBody>
      </p:sp>
      <p:pic>
        <p:nvPicPr>
          <p:cNvPr id="42" name=""/>
          <p:cNvPicPr>
            <a:picLocks xmlns:a="http://schemas.openxmlformats.org/drawingml/2006/main" noChangeAspect="1"/>
          </p:cNvPicPr>
          <p:nvPr/>
        </p:nvPicPr>
        <p:blipFill>
          <a:blip xmlns:r="http://schemas.openxmlformats.org/officeDocument/2006/relationships" xmlns:a="http://schemas.openxmlformats.org/drawingml/2006/main" r:embed="Rac0ba0c84bf34ce7"/>
          <a:srcRect xmlns:a="http://schemas.openxmlformats.org/drawingml/2006/main" l="58" t="0" r="58" b="0"/>
          <a:stretch xmlns:a="http://schemas.openxmlformats.org/drawingml/2006/main">
            <a:fillRect l="0" t="0" r="0" b="0"/>
          </a:stretch>
        </p:blipFill>
        <p:spPr>
          <a:xfrm xmlns:a="http://schemas.openxmlformats.org/drawingml/2006/main">
            <a:off x="609600" y="1466850"/>
            <a:ext cx="1809750" cy="1019175"/>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E1ADBC8A-CD2A-4838-80B5-8C2827449FEA}"/>
              </a:ext>
            </a:extLst>
          </p:cNvPr>
          <p:cNvSpPr>
            <a:spLocks xmlns:a="http://schemas.openxmlformats.org/drawingml/2006/main" noGrp="1"/>
          </p:cNvSpPr>
          <p:nvPr/>
        </p:nvSpPr>
        <p:spPr>
          <a:xfrm xmlns:a="http://schemas.openxmlformats.org/drawingml/2006/main">
            <a:off x="609600" y="2590800"/>
            <a:ext cx="18097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75" b="1">
                <a:solidFill>
                  <a:srgbClr val="26373D"/>
                </a:solidFill>
                <a:latin typeface="Yu Gothic"/>
                <a:ea typeface="Yu Gothic"/>
                <a:cs typeface="Yu Gothic"/>
              </a:defRPr>
            </a:pPr>
            <a:r>
              <a:rPr sz="1275" b="1">
                <a:solidFill>
                  <a:srgbClr val="26373D"/>
                </a:solidFill>
                <a:latin typeface="Yu Gothic"/>
                <a:ea typeface="Yu Gothic"/>
                <a:cs typeface="Yu Gothic"/>
              </a:rPr>
              <a:t>学習後 危険 0.600</a:t>
            </a:r>
          </a:p>
          <a:p xmlns:a="http://schemas.openxmlformats.org/drawingml/2006/main">
            <a:pPr algn="ctr">
              <a:defRPr sz="1275" b="1">
                <a:solidFill>
                  <a:srgbClr val="26373D"/>
                </a:solidFill>
                <a:latin typeface="Yu Gothic"/>
                <a:ea typeface="Yu Gothic"/>
                <a:cs typeface="Yu Gothic"/>
              </a:defRPr>
            </a:pPr>
            <a:r>
              <a:rPr sz="1275" b="1">
                <a:solidFill>
                  <a:srgbClr val="26373D"/>
                </a:solidFill>
                <a:latin typeface="Yu Gothic"/>
                <a:ea typeface="Yu Gothic"/>
                <a:cs typeface="Yu Gothic"/>
              </a:rPr>
              <a:t>変化量 +0.336</a:t>
            </a:r>
          </a:p>
        </p:txBody>
      </p:sp>
      <p:pic>
        <p:nvPicPr>
          <p:cNvPr id="44" name=""/>
          <p:cNvPicPr>
            <a:picLocks xmlns:a="http://schemas.openxmlformats.org/drawingml/2006/main" noChangeAspect="1"/>
          </p:cNvPicPr>
          <p:nvPr/>
        </p:nvPicPr>
        <p:blipFill>
          <a:blip xmlns:r="http://schemas.openxmlformats.org/officeDocument/2006/relationships" xmlns:a="http://schemas.openxmlformats.org/drawingml/2006/main" r:embed="R0113ab0131c445d8"/>
          <a:srcRect xmlns:a="http://schemas.openxmlformats.org/drawingml/2006/main" l="58" t="0" r="58" b="0"/>
          <a:stretch xmlns:a="http://schemas.openxmlformats.org/drawingml/2006/main">
            <a:fillRect l="0" t="0" r="0" b="0"/>
          </a:stretch>
        </p:blipFill>
        <p:spPr>
          <a:xfrm xmlns:a="http://schemas.openxmlformats.org/drawingml/2006/main">
            <a:off x="2609850" y="1466850"/>
            <a:ext cx="1809750" cy="1019175"/>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1F85C745-3535-4219-B95E-3568FB7E0861}"/>
              </a:ext>
            </a:extLst>
          </p:cNvPr>
          <p:cNvSpPr>
            <a:spLocks xmlns:a="http://schemas.openxmlformats.org/drawingml/2006/main" noGrp="1"/>
          </p:cNvSpPr>
          <p:nvPr/>
        </p:nvSpPr>
        <p:spPr>
          <a:xfrm xmlns:a="http://schemas.openxmlformats.org/drawingml/2006/main">
            <a:off x="2609850" y="2590800"/>
            <a:ext cx="18097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75" b="1">
                <a:solidFill>
                  <a:srgbClr val="26373D"/>
                </a:solidFill>
                <a:latin typeface="Yu Gothic"/>
                <a:ea typeface="Yu Gothic"/>
                <a:cs typeface="Yu Gothic"/>
              </a:defRPr>
            </a:pPr>
            <a:r>
              <a:rPr sz="1275" b="1">
                <a:solidFill>
                  <a:srgbClr val="26373D"/>
                </a:solidFill>
                <a:latin typeface="Yu Gothic"/>
                <a:ea typeface="Yu Gothic"/>
                <a:cs typeface="Yu Gothic"/>
              </a:rPr>
              <a:t>学習後 危険 0.644</a:t>
            </a:r>
          </a:p>
          <a:p xmlns:a="http://schemas.openxmlformats.org/drawingml/2006/main">
            <a:pPr algn="ctr">
              <a:defRPr sz="1275" b="1">
                <a:solidFill>
                  <a:srgbClr val="26373D"/>
                </a:solidFill>
                <a:latin typeface="Yu Gothic"/>
                <a:ea typeface="Yu Gothic"/>
                <a:cs typeface="Yu Gothic"/>
              </a:defRPr>
            </a:pPr>
            <a:r>
              <a:rPr sz="1275" b="1">
                <a:solidFill>
                  <a:srgbClr val="26373D"/>
                </a:solidFill>
                <a:latin typeface="Yu Gothic"/>
                <a:ea typeface="Yu Gothic"/>
                <a:cs typeface="Yu Gothic"/>
              </a:rPr>
              <a:t>変化量 +0.295</a:t>
            </a:r>
          </a:p>
        </p:txBody>
      </p:sp>
      <p:pic>
        <p:nvPicPr>
          <p:cNvPr id="46" name=""/>
          <p:cNvPicPr>
            <a:picLocks xmlns:a="http://schemas.openxmlformats.org/drawingml/2006/main" noChangeAspect="1"/>
          </p:cNvPicPr>
          <p:nvPr/>
        </p:nvPicPr>
        <p:blipFill>
          <a:blip xmlns:r="http://schemas.openxmlformats.org/officeDocument/2006/relationships" xmlns:a="http://schemas.openxmlformats.org/drawingml/2006/main" r:embed="R2529dbbfca164fbd"/>
          <a:srcRect xmlns:a="http://schemas.openxmlformats.org/drawingml/2006/main" l="58" t="0" r="58" b="0"/>
          <a:stretch xmlns:a="http://schemas.openxmlformats.org/drawingml/2006/main">
            <a:fillRect l="0" t="0" r="0" b="0"/>
          </a:stretch>
        </p:blipFill>
        <p:spPr>
          <a:xfrm xmlns:a="http://schemas.openxmlformats.org/drawingml/2006/main">
            <a:off x="4610100" y="1466850"/>
            <a:ext cx="1809750" cy="1019175"/>
          </a:xfrm>
          <a:prstGeom xmlns:a="http://schemas.openxmlformats.org/drawingml/2006/main" prst="rect">
            <a:avLst/>
          </a:prstGeom>
        </p:spPr>
      </p:pic>
      <p:sp>
        <p:nvSpPr>
          <p:cNvPr id="14" name="">
            <a:extLst xmlns:a="http://schemas.openxmlformats.org/drawingml/2006/main">
              <a:ext uri="{FF2B5EF4-FFF2-40B4-BE49-F238E27FC236}">
                <a16:creationId xmlns:a16="http://schemas.microsoft.com/office/drawing/2014/main" id="{1F60707D-0DCD-49FA-A7A5-2FAFFBE20056}"/>
              </a:ext>
            </a:extLst>
          </p:cNvPr>
          <p:cNvSpPr>
            <a:spLocks xmlns:a="http://schemas.openxmlformats.org/drawingml/2006/main" noGrp="1"/>
          </p:cNvSpPr>
          <p:nvPr/>
        </p:nvSpPr>
        <p:spPr>
          <a:xfrm xmlns:a="http://schemas.openxmlformats.org/drawingml/2006/main">
            <a:off x="4610100" y="2590800"/>
            <a:ext cx="18097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75" b="1">
                <a:solidFill>
                  <a:srgbClr val="26373D"/>
                </a:solidFill>
                <a:latin typeface="Yu Gothic"/>
                <a:ea typeface="Yu Gothic"/>
                <a:cs typeface="Yu Gothic"/>
              </a:defRPr>
            </a:pPr>
            <a:r>
              <a:rPr sz="1275" b="1">
                <a:solidFill>
                  <a:srgbClr val="26373D"/>
                </a:solidFill>
                <a:latin typeface="Yu Gothic"/>
                <a:ea typeface="Yu Gothic"/>
                <a:cs typeface="Yu Gothic"/>
              </a:rPr>
              <a:t>学習後 危険 0.929</a:t>
            </a:r>
          </a:p>
          <a:p xmlns:a="http://schemas.openxmlformats.org/drawingml/2006/main">
            <a:pPr algn="ctr">
              <a:defRPr sz="1275" b="1">
                <a:solidFill>
                  <a:srgbClr val="26373D"/>
                </a:solidFill>
                <a:latin typeface="Yu Gothic"/>
                <a:ea typeface="Yu Gothic"/>
                <a:cs typeface="Yu Gothic"/>
              </a:defRPr>
            </a:pPr>
            <a:r>
              <a:rPr sz="1275" b="1">
                <a:solidFill>
                  <a:srgbClr val="26373D"/>
                </a:solidFill>
                <a:latin typeface="Yu Gothic"/>
                <a:ea typeface="Yu Gothic"/>
                <a:cs typeface="Yu Gothic"/>
              </a:rPr>
              <a:t>変化量 +0.082</a:t>
            </a:r>
          </a:p>
        </p:txBody>
      </p:sp>
      <p:sp>
        <p:nvSpPr>
          <p:cNvPr id="15" name="">
            <a:extLst xmlns:a="http://schemas.openxmlformats.org/drawingml/2006/main">
              <a:ext uri="{FF2B5EF4-FFF2-40B4-BE49-F238E27FC236}">
                <a16:creationId xmlns:a16="http://schemas.microsoft.com/office/drawing/2014/main" id="{2E966A4A-993D-4979-B772-540958E2B155}"/>
              </a:ext>
            </a:extLst>
          </p:cNvPr>
          <p:cNvSpPr>
            <a:spLocks xmlns:a="http://schemas.openxmlformats.org/drawingml/2006/main" noGrp="1"/>
          </p:cNvSpPr>
          <p:nvPr/>
        </p:nvSpPr>
        <p:spPr>
          <a:xfrm xmlns:a="http://schemas.openxmlformats.org/drawingml/2006/main">
            <a:off x="2581275" y="1438275"/>
            <a:ext cx="1866900" cy="1076325"/>
          </a:xfrm>
          <a:prstGeom xmlns:a="http://schemas.openxmlformats.org/drawingml/2006/main" prst="rect">
            <a:avLst/>
          </a:prstGeom>
          <a:noFill xmlns:a="http://schemas.openxmlformats.org/drawingml/2006/main"/>
          <a:ln xmlns:a="http://schemas.openxmlformats.org/drawingml/2006/main" w="28575">
            <a:solidFill>
              <a:srgbClr val="E7833D"/>
            </a:solidFill>
          </a:ln>
        </p:spPr>
      </p:sp>
      <p:sp>
        <p:nvSpPr>
          <p:cNvPr id="16" name="">
            <a:extLst xmlns:a="http://schemas.openxmlformats.org/drawingml/2006/main">
              <a:ext uri="{FF2B5EF4-FFF2-40B4-BE49-F238E27FC236}">
                <a16:creationId xmlns:a16="http://schemas.microsoft.com/office/drawing/2014/main" id="{A18FB5D4-BD23-416D-B340-C279A8096C07}"/>
              </a:ext>
            </a:extLst>
          </p:cNvPr>
          <p:cNvSpPr>
            <a:spLocks xmlns:a="http://schemas.openxmlformats.org/drawingml/2006/main" noGrp="1"/>
          </p:cNvSpPr>
          <p:nvPr/>
        </p:nvSpPr>
        <p:spPr>
          <a:xfrm xmlns:a="http://schemas.openxmlformats.org/drawingml/2006/main">
            <a:off x="2647950" y="1504950"/>
            <a:ext cx="876300" cy="209550"/>
          </a:xfrm>
          <a:prstGeom xmlns:a="http://schemas.openxmlformats.org/drawingml/2006/main" prst="rect">
            <a:avLst/>
          </a:prstGeom>
          <a:solidFill xmlns:a="http://schemas.openxmlformats.org/drawingml/2006/main">
            <a:srgbClr val="E7833D"/>
          </a:solidFill>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00" b="1">
                <a:solidFill>
                  <a:srgbClr val="FFFFFF"/>
                </a:solidFill>
                <a:latin typeface="Yu Gothic"/>
                <a:ea typeface="Yu Gothic"/>
                <a:cs typeface="Yu Gothic"/>
              </a:defRPr>
            </a:pPr>
            <a:r>
              <a:rPr sz="900" b="1">
                <a:solidFill>
                  <a:srgbClr val="FFFFFF"/>
                </a:solidFill>
                <a:latin typeface="Yu Gothic"/>
                <a:ea typeface="Yu Gothic"/>
                <a:cs typeface="Yu Gothic"/>
              </a:rPr>
              <a:t>2枚目の動画</a:t>
            </a:r>
          </a:p>
        </p:txBody>
      </p:sp>
      <p:sp>
        <p:nvSpPr>
          <p:cNvPr id="17" name="">
            <a:extLst xmlns:a="http://schemas.openxmlformats.org/drawingml/2006/main">
              <a:ext uri="{FF2B5EF4-FFF2-40B4-BE49-F238E27FC236}">
                <a16:creationId xmlns:a16="http://schemas.microsoft.com/office/drawing/2014/main" id="{E3837B5C-382B-4F5A-B2B3-4EE2B36DA40F}"/>
              </a:ext>
            </a:extLst>
          </p:cNvPr>
          <p:cNvSpPr>
            <a:spLocks xmlns:a="http://schemas.openxmlformats.org/drawingml/2006/main" noGrp="1"/>
          </p:cNvSpPr>
          <p:nvPr/>
        </p:nvSpPr>
        <p:spPr>
          <a:xfrm xmlns:a="http://schemas.openxmlformats.org/drawingml/2006/main">
            <a:off x="6762750" y="1123950"/>
            <a:ext cx="19050" cy="2476500"/>
          </a:xfrm>
          <a:prstGeom xmlns:a="http://schemas.openxmlformats.org/drawingml/2006/main" prst="rect">
            <a:avLst/>
          </a:prstGeom>
          <a:solidFill xmlns:a="http://schemas.openxmlformats.org/drawingml/2006/main">
            <a:srgbClr val="C9D2D3"/>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A8DBF8A2-DBE3-44E0-99C0-38028394C453}"/>
              </a:ext>
            </a:extLst>
          </p:cNvPr>
          <p:cNvSpPr>
            <a:spLocks xmlns:a="http://schemas.openxmlformats.org/drawingml/2006/main" noGrp="1"/>
          </p:cNvSpPr>
          <p:nvPr/>
        </p:nvSpPr>
        <p:spPr>
          <a:xfrm xmlns:a="http://schemas.openxmlformats.org/drawingml/2006/main">
            <a:off x="7143750" y="1123950"/>
            <a:ext cx="428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875" b="1">
                <a:solidFill>
                  <a:srgbClr val="173B4B"/>
                </a:solidFill>
                <a:latin typeface="Yu Gothic"/>
                <a:ea typeface="Yu Gothic"/>
                <a:cs typeface="Yu Gothic"/>
              </a:defRPr>
            </a:pPr>
            <a:r>
              <a:rPr sz="1875" b="1">
                <a:solidFill>
                  <a:srgbClr val="173B4B"/>
                </a:solidFill>
                <a:latin typeface="Yu Gothic"/>
                <a:ea typeface="Yu Gothic"/>
                <a:cs typeface="Yu Gothic"/>
              </a:rPr>
              <a:t>3本を平均して作る Qₖ,ᵣ</a:t>
            </a:r>
          </a:p>
        </p:txBody>
      </p:sp>
      <p:sp>
        <p:nvSpPr>
          <p:cNvPr id="19" name="">
            <a:extLst xmlns:a="http://schemas.openxmlformats.org/drawingml/2006/main">
              <a:ext uri="{FF2B5EF4-FFF2-40B4-BE49-F238E27FC236}">
                <a16:creationId xmlns:a16="http://schemas.microsoft.com/office/drawing/2014/main" id="{1ABC2BF2-4A4C-4AA8-957A-8954F447BCEB}"/>
              </a:ext>
            </a:extLst>
          </p:cNvPr>
          <p:cNvSpPr>
            <a:spLocks xmlns:a="http://schemas.openxmlformats.org/drawingml/2006/main" noGrp="1"/>
          </p:cNvSpPr>
          <p:nvPr/>
        </p:nvSpPr>
        <p:spPr>
          <a:xfrm xmlns:a="http://schemas.openxmlformats.org/drawingml/2006/main">
            <a:off x="7334250" y="1724025"/>
            <a:ext cx="171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575" b="1">
                <a:solidFill>
                  <a:srgbClr val="617078"/>
                </a:solidFill>
                <a:latin typeface="Yu Gothic"/>
                <a:ea typeface="Yu Gothic"/>
                <a:cs typeface="Yu Gothic"/>
              </a:defRPr>
            </a:pPr>
            <a:r>
              <a:rPr sz="1575" b="1">
                <a:solidFill>
                  <a:srgbClr val="617078"/>
                </a:solidFill>
                <a:latin typeface="Yu Gothic"/>
                <a:ea typeface="Yu Gothic"/>
                <a:cs typeface="Yu Gothic"/>
              </a:rPr>
              <a:t>μᵖᵒˢᵗₖ,ᵣ</a:t>
            </a:r>
          </a:p>
        </p:txBody>
      </p:sp>
      <p:sp>
        <p:nvSpPr>
          <p:cNvPr id="20" name="">
            <a:extLst xmlns:a="http://schemas.openxmlformats.org/drawingml/2006/main">
              <a:ext uri="{FF2B5EF4-FFF2-40B4-BE49-F238E27FC236}">
                <a16:creationId xmlns:a16="http://schemas.microsoft.com/office/drawing/2014/main" id="{3C97EA50-D15A-43A5-A917-39EEA00C765B}"/>
              </a:ext>
            </a:extLst>
          </p:cNvPr>
          <p:cNvSpPr>
            <a:spLocks xmlns:a="http://schemas.openxmlformats.org/drawingml/2006/main" noGrp="1"/>
          </p:cNvSpPr>
          <p:nvPr/>
        </p:nvSpPr>
        <p:spPr>
          <a:xfrm xmlns:a="http://schemas.openxmlformats.org/drawingml/2006/main">
            <a:off x="7334250" y="2076450"/>
            <a:ext cx="1714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2850" b="1">
                <a:solidFill>
                  <a:srgbClr val="173B4B"/>
                </a:solidFill>
                <a:latin typeface="Yu Gothic"/>
                <a:ea typeface="Yu Gothic"/>
                <a:cs typeface="Yu Gothic"/>
              </a:defRPr>
            </a:pPr>
            <a:r>
              <a:rPr sz="2850" b="1">
                <a:solidFill>
                  <a:srgbClr val="173B4B"/>
                </a:solidFill>
                <a:latin typeface="Yu Gothic"/>
                <a:ea typeface="Yu Gothic"/>
                <a:cs typeface="Yu Gothic"/>
              </a:rPr>
              <a:t>0.724</a:t>
            </a:r>
          </a:p>
        </p:txBody>
      </p:sp>
      <p:sp>
        <p:nvSpPr>
          <p:cNvPr id="21" name="">
            <a:extLst xmlns:a="http://schemas.openxmlformats.org/drawingml/2006/main">
              <a:ext uri="{FF2B5EF4-FFF2-40B4-BE49-F238E27FC236}">
                <a16:creationId xmlns:a16="http://schemas.microsoft.com/office/drawing/2014/main" id="{5FBE1EFF-B8CD-4FCD-B4E8-BEF2E45E484B}"/>
              </a:ext>
            </a:extLst>
          </p:cNvPr>
          <p:cNvSpPr>
            <a:spLocks xmlns:a="http://schemas.openxmlformats.org/drawingml/2006/main" noGrp="1"/>
          </p:cNvSpPr>
          <p:nvPr/>
        </p:nvSpPr>
        <p:spPr>
          <a:xfrm xmlns:a="http://schemas.openxmlformats.org/drawingml/2006/main">
            <a:off x="7334250" y="2647950"/>
            <a:ext cx="1714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00" b="0">
                <a:solidFill>
                  <a:srgbClr val="617078"/>
                </a:solidFill>
                <a:latin typeface="Yu Gothic"/>
                <a:ea typeface="Yu Gothic"/>
                <a:cs typeface="Yu Gothic"/>
              </a:defRPr>
            </a:pPr>
            <a:r>
              <a:rPr sz="1200" b="0">
                <a:solidFill>
                  <a:srgbClr val="617078"/>
                </a:solidFill>
                <a:latin typeface="Yu Gothic"/>
                <a:ea typeface="Yu Gothic"/>
                <a:cs typeface="Yu Gothic"/>
              </a:rPr>
              <a:t>学習後の危険確率</a:t>
            </a:r>
          </a:p>
        </p:txBody>
      </p:sp>
      <p:sp>
        <p:nvSpPr>
          <p:cNvPr id="22" name="">
            <a:extLst xmlns:a="http://schemas.openxmlformats.org/drawingml/2006/main">
              <a:ext uri="{FF2B5EF4-FFF2-40B4-BE49-F238E27FC236}">
                <a16:creationId xmlns:a16="http://schemas.microsoft.com/office/drawing/2014/main" id="{B21E6D77-D236-4EDA-8B68-D4426B8578EF}"/>
              </a:ext>
            </a:extLst>
          </p:cNvPr>
          <p:cNvSpPr>
            <a:spLocks xmlns:a="http://schemas.openxmlformats.org/drawingml/2006/main" noGrp="1"/>
          </p:cNvSpPr>
          <p:nvPr/>
        </p:nvSpPr>
        <p:spPr>
          <a:xfrm xmlns:a="http://schemas.openxmlformats.org/drawingml/2006/main">
            <a:off x="9429750" y="1724025"/>
            <a:ext cx="171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575" b="1">
                <a:solidFill>
                  <a:srgbClr val="617078"/>
                </a:solidFill>
                <a:latin typeface="Yu Gothic"/>
                <a:ea typeface="Yu Gothic"/>
                <a:cs typeface="Yu Gothic"/>
              </a:defRPr>
            </a:pPr>
            <a:r>
              <a:rPr sz="1575" b="1">
                <a:solidFill>
                  <a:srgbClr val="617078"/>
                </a:solidFill>
                <a:latin typeface="Yu Gothic"/>
                <a:ea typeface="Yu Gothic"/>
                <a:cs typeface="Yu Gothic"/>
              </a:rPr>
              <a:t>Δμₖ,ᵣ</a:t>
            </a:r>
          </a:p>
        </p:txBody>
      </p:sp>
      <p:sp>
        <p:nvSpPr>
          <p:cNvPr id="23" name="">
            <a:extLst xmlns:a="http://schemas.openxmlformats.org/drawingml/2006/main">
              <a:ext uri="{FF2B5EF4-FFF2-40B4-BE49-F238E27FC236}">
                <a16:creationId xmlns:a16="http://schemas.microsoft.com/office/drawing/2014/main" id="{D3C69692-73E1-4BC3-9642-66706179CC2A}"/>
              </a:ext>
            </a:extLst>
          </p:cNvPr>
          <p:cNvSpPr>
            <a:spLocks xmlns:a="http://schemas.openxmlformats.org/drawingml/2006/main" noGrp="1"/>
          </p:cNvSpPr>
          <p:nvPr/>
        </p:nvSpPr>
        <p:spPr>
          <a:xfrm xmlns:a="http://schemas.openxmlformats.org/drawingml/2006/main">
            <a:off x="9429750" y="2076450"/>
            <a:ext cx="1714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2850" b="1">
                <a:solidFill>
                  <a:srgbClr val="E7833D"/>
                </a:solidFill>
                <a:latin typeface="Yu Gothic"/>
                <a:ea typeface="Yu Gothic"/>
                <a:cs typeface="Yu Gothic"/>
              </a:defRPr>
            </a:pPr>
            <a:r>
              <a:rPr sz="2850" b="1">
                <a:solidFill>
                  <a:srgbClr val="E7833D"/>
                </a:solidFill>
                <a:latin typeface="Yu Gothic"/>
                <a:ea typeface="Yu Gothic"/>
                <a:cs typeface="Yu Gothic"/>
              </a:rPr>
              <a:t>+0.238</a:t>
            </a:r>
          </a:p>
        </p:txBody>
      </p:sp>
      <p:sp>
        <p:nvSpPr>
          <p:cNvPr id="24" name="">
            <a:extLst xmlns:a="http://schemas.openxmlformats.org/drawingml/2006/main">
              <a:ext uri="{FF2B5EF4-FFF2-40B4-BE49-F238E27FC236}">
                <a16:creationId xmlns:a16="http://schemas.microsoft.com/office/drawing/2014/main" id="{218DF6E9-081B-4A3A-9B0C-70BF23A07369}"/>
              </a:ext>
            </a:extLst>
          </p:cNvPr>
          <p:cNvSpPr>
            <a:spLocks xmlns:a="http://schemas.openxmlformats.org/drawingml/2006/main" noGrp="1"/>
          </p:cNvSpPr>
          <p:nvPr/>
        </p:nvSpPr>
        <p:spPr>
          <a:xfrm xmlns:a="http://schemas.openxmlformats.org/drawingml/2006/main">
            <a:off x="9429750" y="2647950"/>
            <a:ext cx="1714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00" b="0">
                <a:solidFill>
                  <a:srgbClr val="617078"/>
                </a:solidFill>
                <a:latin typeface="Yu Gothic"/>
                <a:ea typeface="Yu Gothic"/>
                <a:cs typeface="Yu Gothic"/>
              </a:defRPr>
            </a:pPr>
            <a:r>
              <a:rPr sz="1200" b="0">
                <a:solidFill>
                  <a:srgbClr val="617078"/>
                </a:solidFill>
                <a:latin typeface="Yu Gothic"/>
                <a:ea typeface="Yu Gothic"/>
                <a:cs typeface="Yu Gothic"/>
              </a:rPr>
              <a:t>平均した変化量</a:t>
            </a:r>
          </a:p>
        </p:txBody>
      </p:sp>
      <p:sp>
        <p:nvSpPr>
          <p:cNvPr id="25" name="">
            <a:extLst xmlns:a="http://schemas.openxmlformats.org/drawingml/2006/main">
              <a:ext uri="{FF2B5EF4-FFF2-40B4-BE49-F238E27FC236}">
                <a16:creationId xmlns:a16="http://schemas.microsoft.com/office/drawing/2014/main" id="{2D442480-67C7-408C-AADB-5B0D5C95DC26}"/>
              </a:ext>
            </a:extLst>
          </p:cNvPr>
          <p:cNvSpPr>
            <a:spLocks xmlns:a="http://schemas.openxmlformats.org/drawingml/2006/main" noGrp="1"/>
          </p:cNvSpPr>
          <p:nvPr/>
        </p:nvSpPr>
        <p:spPr>
          <a:xfrm xmlns:a="http://schemas.openxmlformats.org/drawingml/2006/main">
            <a:off x="7334250" y="3086100"/>
            <a:ext cx="3810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650" b="1">
                <a:solidFill>
                  <a:srgbClr val="147B78"/>
                </a:solidFill>
                <a:latin typeface="Yu Gothic"/>
                <a:ea typeface="Yu Gothic"/>
                <a:cs typeface="Yu Gothic"/>
              </a:defRPr>
            </a:pPr>
            <a:r>
              <a:rPr sz="1650" b="1">
                <a:solidFill>
                  <a:srgbClr val="147B78"/>
                </a:solidFill>
                <a:latin typeface="Yu Gothic"/>
                <a:ea typeface="Yu Gothic"/>
                <a:cs typeface="Yu Gothic"/>
              </a:rPr>
              <a:t>πₖ,ᵣ = 3　まとめた動画の本数</a:t>
            </a:r>
          </a:p>
        </p:txBody>
      </p:sp>
      <p:sp>
        <p:nvSpPr>
          <p:cNvPr id="26" name="">
            <a:extLst xmlns:a="http://schemas.openxmlformats.org/drawingml/2006/main">
              <a:ext uri="{FF2B5EF4-FFF2-40B4-BE49-F238E27FC236}">
                <a16:creationId xmlns:a16="http://schemas.microsoft.com/office/drawing/2014/main" id="{6EAD8892-1AF5-41CD-B682-E6BEBA17E081}"/>
              </a:ext>
            </a:extLst>
          </p:cNvPr>
          <p:cNvSpPr>
            <a:spLocks xmlns:a="http://schemas.openxmlformats.org/drawingml/2006/main" noGrp="1"/>
          </p:cNvSpPr>
          <p:nvPr/>
        </p:nvSpPr>
        <p:spPr>
          <a:xfrm xmlns:a="http://schemas.openxmlformats.org/drawingml/2006/main">
            <a:off x="7286625" y="3514725"/>
            <a:ext cx="3905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125" b="0">
                <a:solidFill>
                  <a:srgbClr val="617078"/>
                </a:solidFill>
                <a:latin typeface="Yu Gothic"/>
                <a:ea typeface="Yu Gothic"/>
                <a:cs typeface="Yu Gothic"/>
              </a:defRPr>
            </a:pPr>
            <a:r>
              <a:rPr sz="1125" b="0">
                <a:solidFill>
                  <a:srgbClr val="617078"/>
                </a:solidFill>
                <a:latin typeface="Yu Gothic"/>
                <a:ea typeface="Yu Gothic"/>
                <a:cs typeface="Yu Gothic"/>
              </a:rPr>
              <a:t>k：現場側AI　　r：通常・危険の動画群</a:t>
            </a:r>
          </a:p>
        </p:txBody>
      </p:sp>
      <p:sp>
        <p:nvSpPr>
          <p:cNvPr id="27" name="">
            <a:extLst xmlns:a="http://schemas.openxmlformats.org/drawingml/2006/main">
              <a:ext uri="{FF2B5EF4-FFF2-40B4-BE49-F238E27FC236}">
                <a16:creationId xmlns:a16="http://schemas.microsoft.com/office/drawing/2014/main" id="{D13C41B3-0F49-4A92-8381-1EAA416B6C44}"/>
              </a:ext>
            </a:extLst>
          </p:cNvPr>
          <p:cNvSpPr>
            <a:spLocks xmlns:a="http://schemas.openxmlformats.org/drawingml/2006/main" noGrp="1"/>
          </p:cNvSpPr>
          <p:nvPr/>
        </p:nvSpPr>
        <p:spPr>
          <a:xfrm xmlns:a="http://schemas.openxmlformats.org/drawingml/2006/main">
            <a:off x="609600" y="3810000"/>
            <a:ext cx="10858500" cy="14288"/>
          </a:xfrm>
          <a:prstGeom xmlns:a="http://schemas.openxmlformats.org/drawingml/2006/main" prst="rect">
            <a:avLst/>
          </a:prstGeom>
          <a:solidFill xmlns:a="http://schemas.openxmlformats.org/drawingml/2006/main">
            <a:srgbClr val="87979C"/>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3C37E9CD-04CF-4D59-855A-95A1F4B6599F}"/>
              </a:ext>
            </a:extLst>
          </p:cNvPr>
          <p:cNvSpPr>
            <a:spLocks xmlns:a="http://schemas.openxmlformats.org/drawingml/2006/main" noGrp="1"/>
          </p:cNvSpPr>
          <p:nvPr/>
        </p:nvSpPr>
        <p:spPr>
          <a:xfrm xmlns:a="http://schemas.openxmlformats.org/drawingml/2006/main">
            <a:off x="857250" y="4143375"/>
            <a:ext cx="2286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1">
                <a:solidFill>
                  <a:srgbClr val="147B78"/>
                </a:solidFill>
                <a:latin typeface="Yu Gothic"/>
                <a:ea typeface="Yu Gothic"/>
                <a:cs typeface="Yu Gothic"/>
              </a:defRPr>
            </a:pPr>
            <a:r>
              <a:rPr sz="1650" b="1">
                <a:solidFill>
                  <a:srgbClr val="147B78"/>
                </a:solidFill>
                <a:latin typeface="Yu Gothic"/>
                <a:ea typeface="Yu Gothic"/>
                <a:cs typeface="Yu Gothic"/>
              </a:rPr>
              <a:t>中央側へ送る</a:t>
            </a:r>
          </a:p>
        </p:txBody>
      </p:sp>
      <p:sp>
        <p:nvSpPr>
          <p:cNvPr id="29" name="">
            <a:extLst xmlns:a="http://schemas.openxmlformats.org/drawingml/2006/main">
              <a:ext uri="{FF2B5EF4-FFF2-40B4-BE49-F238E27FC236}">
                <a16:creationId xmlns:a16="http://schemas.microsoft.com/office/drawing/2014/main" id="{638202D2-85BB-4814-B19A-B0B262626C0E}"/>
              </a:ext>
            </a:extLst>
          </p:cNvPr>
          <p:cNvSpPr>
            <a:spLocks xmlns:a="http://schemas.openxmlformats.org/drawingml/2006/main" noGrp="1"/>
          </p:cNvSpPr>
          <p:nvPr/>
        </p:nvSpPr>
        <p:spPr>
          <a:xfrm xmlns:a="http://schemas.openxmlformats.org/drawingml/2006/main">
            <a:off x="876300" y="4619625"/>
            <a:ext cx="2857500" cy="457200"/>
          </a:xfrm>
          <a:prstGeom xmlns:a="http://schemas.openxmlformats.org/drawingml/2006/main" prst="rect">
            <a:avLst/>
          </a:prstGeom>
          <a:solidFill xmlns:a="http://schemas.openxmlformats.org/drawingml/2006/main">
            <a:srgbClr val="E6F1F3"/>
          </a:solidFill>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650" b="1">
                <a:solidFill>
                  <a:srgbClr val="173B4B"/>
                </a:solidFill>
                <a:latin typeface="Yu Gothic"/>
                <a:ea typeface="Yu Gothic"/>
                <a:cs typeface="Yu Gothic"/>
              </a:defRPr>
            </a:pPr>
            <a:r>
              <a:rPr sz="1650" b="1">
                <a:solidFill>
                  <a:srgbClr val="173B4B"/>
                </a:solidFill>
                <a:latin typeface="Yu Gothic"/>
                <a:ea typeface="Yu Gothic"/>
                <a:cs typeface="Yu Gothic"/>
              </a:rPr>
              <a:t>小型AIの更新情報</a:t>
            </a:r>
          </a:p>
        </p:txBody>
      </p:sp>
      <p:sp>
        <p:nvSpPr>
          <p:cNvPr id="30" name="">
            <a:extLst xmlns:a="http://schemas.openxmlformats.org/drawingml/2006/main">
              <a:ext uri="{FF2B5EF4-FFF2-40B4-BE49-F238E27FC236}">
                <a16:creationId xmlns:a16="http://schemas.microsoft.com/office/drawing/2014/main" id="{E33CC4A4-9994-4F81-AC16-304BD75CF5B1}"/>
              </a:ext>
            </a:extLst>
          </p:cNvPr>
          <p:cNvSpPr>
            <a:spLocks xmlns:a="http://schemas.openxmlformats.org/drawingml/2006/main" noGrp="1"/>
          </p:cNvSpPr>
          <p:nvPr/>
        </p:nvSpPr>
        <p:spPr>
          <a:xfrm xmlns:a="http://schemas.openxmlformats.org/drawingml/2006/main">
            <a:off x="4000500" y="4619625"/>
            <a:ext cx="4667250" cy="457200"/>
          </a:xfrm>
          <a:prstGeom xmlns:a="http://schemas.openxmlformats.org/drawingml/2006/main" prst="rect">
            <a:avLst/>
          </a:prstGeom>
          <a:solidFill xmlns:a="http://schemas.openxmlformats.org/drawingml/2006/main">
            <a:srgbClr val="DDF0ED"/>
          </a:solidFill>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650" b="1">
                <a:solidFill>
                  <a:srgbClr val="173B4B"/>
                </a:solidFill>
                <a:latin typeface="Yu Gothic"/>
                <a:ea typeface="Yu Gothic"/>
                <a:cs typeface="Yu Gothic"/>
              </a:defRPr>
            </a:pPr>
            <a:r>
              <a:rPr sz="1650" b="1">
                <a:solidFill>
                  <a:srgbClr val="173B4B"/>
                </a:solidFill>
                <a:latin typeface="Yu Gothic"/>
                <a:ea typeface="Yu Gothic"/>
                <a:cs typeface="Yu Gothic"/>
              </a:rPr>
              <a:t>Qₖ,ᵣ = ( μᵖᵒˢᵗₖ,ᵣ,  Δμₖ,ᵣ,  πₖ,ᵣ )</a:t>
            </a:r>
          </a:p>
        </p:txBody>
      </p:sp>
      <p:sp>
        <p:nvSpPr>
          <p:cNvPr id="31" name="">
            <a:extLst xmlns:a="http://schemas.openxmlformats.org/drawingml/2006/main">
              <a:ext uri="{FF2B5EF4-FFF2-40B4-BE49-F238E27FC236}">
                <a16:creationId xmlns:a16="http://schemas.microsoft.com/office/drawing/2014/main" id="{AF3BEB9C-36E6-43CF-9269-240C507F0338}"/>
              </a:ext>
            </a:extLst>
          </p:cNvPr>
          <p:cNvSpPr>
            <a:spLocks xmlns:a="http://schemas.openxmlformats.org/drawingml/2006/main" noGrp="1"/>
          </p:cNvSpPr>
          <p:nvPr/>
        </p:nvSpPr>
        <p:spPr>
          <a:xfrm xmlns:a="http://schemas.openxmlformats.org/drawingml/2006/main">
            <a:off x="8858250" y="4143375"/>
            <a:ext cx="2286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1">
                <a:solidFill>
                  <a:srgbClr val="B94A3A"/>
                </a:solidFill>
                <a:latin typeface="Yu Gothic"/>
                <a:ea typeface="Yu Gothic"/>
                <a:cs typeface="Yu Gothic"/>
              </a:defRPr>
            </a:pPr>
            <a:r>
              <a:rPr sz="1650" b="1">
                <a:solidFill>
                  <a:srgbClr val="B94A3A"/>
                </a:solidFill>
                <a:latin typeface="Yu Gothic"/>
                <a:ea typeface="Yu Gothic"/>
                <a:cs typeface="Yu Gothic"/>
              </a:rPr>
              <a:t>中央側へ送らない</a:t>
            </a:r>
          </a:p>
        </p:txBody>
      </p:sp>
      <p:sp>
        <p:nvSpPr>
          <p:cNvPr id="32" name="">
            <a:extLst xmlns:a="http://schemas.openxmlformats.org/drawingml/2006/main">
              <a:ext uri="{FF2B5EF4-FFF2-40B4-BE49-F238E27FC236}">
                <a16:creationId xmlns:a16="http://schemas.microsoft.com/office/drawing/2014/main" id="{BF3897CF-2768-443E-A650-C011A6692DD3}"/>
              </a:ext>
            </a:extLst>
          </p:cNvPr>
          <p:cNvSpPr>
            <a:spLocks xmlns:a="http://schemas.openxmlformats.org/drawingml/2006/main" noGrp="1"/>
          </p:cNvSpPr>
          <p:nvPr/>
        </p:nvSpPr>
        <p:spPr>
          <a:xfrm xmlns:a="http://schemas.openxmlformats.org/drawingml/2006/main">
            <a:off x="8858250" y="4619625"/>
            <a:ext cx="2381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500" b="1">
                <a:solidFill>
                  <a:srgbClr val="B94A3A"/>
                </a:solidFill>
                <a:latin typeface="Yu Gothic"/>
                <a:ea typeface="Yu Gothic"/>
                <a:cs typeface="Yu Gothic"/>
              </a:defRPr>
            </a:pPr>
            <a:r>
              <a:rPr sz="1500" b="1">
                <a:solidFill>
                  <a:srgbClr val="B94A3A"/>
                </a:solidFill>
                <a:latin typeface="Yu Gothic"/>
                <a:ea typeface="Yu Gothic"/>
                <a:cs typeface="Yu Gothic"/>
              </a:rPr>
              <a:t>元動画・画像・動画ごとの識別情報</a:t>
            </a:r>
          </a:p>
        </p:txBody>
      </p:sp>
      <p:sp>
        <p:nvSpPr>
          <p:cNvPr id="33" name="">
            <a:extLst xmlns:a="http://schemas.openxmlformats.org/drawingml/2006/main">
              <a:ext uri="{FF2B5EF4-FFF2-40B4-BE49-F238E27FC236}">
                <a16:creationId xmlns:a16="http://schemas.microsoft.com/office/drawing/2014/main" id="{9CC2406F-DF79-4CB5-BB38-A5ACA7E1D7FC}"/>
              </a:ext>
            </a:extLst>
          </p:cNvPr>
          <p:cNvSpPr>
            <a:spLocks xmlns:a="http://schemas.openxmlformats.org/drawingml/2006/main" noGrp="1"/>
          </p:cNvSpPr>
          <p:nvPr/>
        </p:nvSpPr>
        <p:spPr>
          <a:xfrm xmlns:a="http://schemas.openxmlformats.org/drawingml/2006/main">
            <a:off x="952500" y="5591175"/>
            <a:ext cx="10287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650" b="1">
                <a:solidFill>
                  <a:srgbClr val="26373D"/>
                </a:solidFill>
                <a:latin typeface="Yu Gothic"/>
                <a:ea typeface="Yu Gothic"/>
                <a:cs typeface="Yu Gothic"/>
              </a:defRPr>
            </a:pPr>
            <a:r>
              <a:rPr sz="1650" b="1">
                <a:solidFill>
                  <a:srgbClr val="26373D"/>
                </a:solidFill>
                <a:latin typeface="Yu Gothic"/>
                <a:ea typeface="Yu Gothic"/>
                <a:cs typeface="Yu Gothic"/>
              </a:rPr>
              <a:t>小型AIの更新は連合平均へ、Qₖ,ᵣは代理データ生成へ。Qₖ,ᵣ自体は平均しない。</a:t>
            </a:r>
          </a:p>
        </p:txBody>
      </p:sp>
    </p:spTree>
    <p:extLst>
      <p:ext uri="{BB962C8B-B14F-4D97-AF65-F5344CB8AC3E}">
        <p14:creationId xmlns:p14="http://schemas.microsoft.com/office/powerpoint/2010/main" val="619105434"/>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39" name="">
            <a:extLst xmlns:a="http://schemas.openxmlformats.org/drawingml/2006/main">
              <a:ext uri="{FF2B5EF4-FFF2-40B4-BE49-F238E27FC236}">
                <a16:creationId xmlns:a16="http://schemas.microsoft.com/office/drawing/2014/main" id="{4C5E3FE3-617D-405A-A917-11FAC3222FB9}"/>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5E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A5584E7-78F4-42F5-AF32-CE471404799A}"/>
              </a:ext>
            </a:extLst>
          </p:cNvPr>
          <p:cNvSpPr>
            <a:spLocks xmlns:a="http://schemas.openxmlformats.org/drawingml/2006/main" noGrp="1"/>
          </p:cNvSpPr>
          <p:nvPr/>
        </p:nvSpPr>
        <p:spPr>
          <a:xfrm xmlns:a="http://schemas.openxmlformats.org/drawingml/2006/main">
            <a:off x="381000" y="342900"/>
            <a:ext cx="66675" cy="514350"/>
          </a:xfrm>
          <a:prstGeom xmlns:a="http://schemas.openxmlformats.org/drawingml/2006/main" prst="rect">
            <a:avLst/>
          </a:prstGeom>
          <a:solidFill xmlns:a="http://schemas.openxmlformats.org/drawingml/2006/main">
            <a:srgbClr val="147B78"/>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7A5DC59C-9B84-4634-88E8-C93B7799BB6F}"/>
              </a:ext>
            </a:extLst>
          </p:cNvPr>
          <p:cNvSpPr>
            <a:spLocks xmlns:a="http://schemas.openxmlformats.org/drawingml/2006/main" noGrp="1"/>
          </p:cNvSpPr>
          <p:nvPr/>
        </p:nvSpPr>
        <p:spPr>
          <a:xfrm xmlns:a="http://schemas.openxmlformats.org/drawingml/2006/main">
            <a:off x="590550" y="323850"/>
            <a:ext cx="10572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2850" b="1">
                <a:solidFill>
                  <a:srgbClr val="173B4B"/>
                </a:solidFill>
                <a:latin typeface="Yu Gothic"/>
                <a:ea typeface="Yu Gothic"/>
                <a:cs typeface="Yu Gothic"/>
              </a:defRPr>
            </a:pPr>
            <a:r>
              <a:rPr sz="2850" b="1">
                <a:solidFill>
                  <a:srgbClr val="173B4B"/>
                </a:solidFill>
                <a:latin typeface="Yu Gothic"/>
                <a:ea typeface="Yu Gothic"/>
                <a:cs typeface="Yu Gothic"/>
              </a:rPr>
              <a:t>中央側の動画から、代理データを選ぶ</a:t>
            </a:r>
          </a:p>
        </p:txBody>
      </p:sp>
      <p:sp>
        <p:nvSpPr>
          <p:cNvPr id="4" name="">
            <a:extLst xmlns:a="http://schemas.openxmlformats.org/drawingml/2006/main">
              <a:ext uri="{FF2B5EF4-FFF2-40B4-BE49-F238E27FC236}">
                <a16:creationId xmlns:a16="http://schemas.microsoft.com/office/drawing/2014/main" id="{8DAD2B66-14D6-4175-880B-3511C59A5080}"/>
              </a:ext>
            </a:extLst>
          </p:cNvPr>
          <p:cNvSpPr>
            <a:spLocks xmlns:a="http://schemas.openxmlformats.org/drawingml/2006/main" noGrp="1"/>
          </p:cNvSpPr>
          <p:nvPr/>
        </p:nvSpPr>
        <p:spPr>
          <a:xfrm xmlns:a="http://schemas.openxmlformats.org/drawingml/2006/main">
            <a:off x="11306175" y="428625"/>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200" b="1">
                <a:solidFill>
                  <a:srgbClr val="147B78"/>
                </a:solidFill>
                <a:latin typeface="Yu Gothic"/>
                <a:ea typeface="Yu Gothic"/>
                <a:cs typeface="Yu Gothic"/>
              </a:defRPr>
            </a:pPr>
            <a:r>
              <a:rPr sz="1200" b="1">
                <a:solidFill>
                  <a:srgbClr val="147B78"/>
                </a:solidFill>
                <a:latin typeface="Yu Gothic"/>
                <a:ea typeface="Yu Gothic"/>
                <a:cs typeface="Yu Gothic"/>
              </a:rPr>
              <a:t>04</a:t>
            </a:r>
          </a:p>
        </p:txBody>
      </p:sp>
      <p:sp>
        <p:nvSpPr>
          <p:cNvPr id="5" name="">
            <a:extLst xmlns:a="http://schemas.openxmlformats.org/drawingml/2006/main">
              <a:ext uri="{FF2B5EF4-FFF2-40B4-BE49-F238E27FC236}">
                <a16:creationId xmlns:a16="http://schemas.microsoft.com/office/drawing/2014/main" id="{E8AF84CA-86A8-4095-BEAE-46E4D4DB976D}"/>
              </a:ext>
            </a:extLst>
          </p:cNvPr>
          <p:cNvSpPr>
            <a:spLocks xmlns:a="http://schemas.openxmlformats.org/drawingml/2006/main" noGrp="1"/>
          </p:cNvSpPr>
          <p:nvPr/>
        </p:nvSpPr>
        <p:spPr>
          <a:xfrm xmlns:a="http://schemas.openxmlformats.org/drawingml/2006/main">
            <a:off x="457200" y="6477000"/>
            <a:ext cx="11277600" cy="14288"/>
          </a:xfrm>
          <a:prstGeom xmlns:a="http://schemas.openxmlformats.org/drawingml/2006/main" prst="rect">
            <a:avLst/>
          </a:prstGeom>
          <a:solidFill xmlns:a="http://schemas.openxmlformats.org/drawingml/2006/main">
            <a:srgbClr val="C9D2D3"/>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3D253163-408F-499F-A1D1-8DCACD72C614}"/>
              </a:ext>
            </a:extLst>
          </p:cNvPr>
          <p:cNvSpPr>
            <a:spLocks xmlns:a="http://schemas.openxmlformats.org/drawingml/2006/main" noGrp="1"/>
          </p:cNvSpPr>
          <p:nvPr/>
        </p:nvSpPr>
        <p:spPr>
          <a:xfrm xmlns:a="http://schemas.openxmlformats.org/drawingml/2006/main">
            <a:off x="495300" y="6543675"/>
            <a:ext cx="7239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0">
                <a:solidFill>
                  <a:srgbClr val="617078"/>
                </a:solidFill>
                <a:latin typeface="Yu Gothic"/>
                <a:ea typeface="Yu Gothic"/>
                <a:cs typeface="Yu Gothic"/>
              </a:defRPr>
            </a:pPr>
            <a:r>
              <a:rPr sz="900" b="0">
                <a:solidFill>
                  <a:srgbClr val="617078"/>
                </a:solidFill>
                <a:latin typeface="Yu Gothic"/>
                <a:ea typeface="Yu Gothic"/>
                <a:cs typeface="Yu Gothic"/>
              </a:rPr>
              <a:t>FedPACT / NEXAR　研究会　2026.09.18</a:t>
            </a:r>
          </a:p>
        </p:txBody>
      </p:sp>
      <p:sp>
        <p:nvSpPr>
          <p:cNvPr id="7" name="">
            <a:extLst xmlns:a="http://schemas.openxmlformats.org/drawingml/2006/main">
              <a:ext uri="{FF2B5EF4-FFF2-40B4-BE49-F238E27FC236}">
                <a16:creationId xmlns:a16="http://schemas.microsoft.com/office/drawing/2014/main" id="{269DDE92-84DA-48AC-B9F5-A00A1664F320}"/>
              </a:ext>
            </a:extLst>
          </p:cNvPr>
          <p:cNvSpPr>
            <a:spLocks xmlns:a="http://schemas.openxmlformats.org/drawingml/2006/main" noGrp="1"/>
          </p:cNvSpPr>
          <p:nvPr/>
        </p:nvSpPr>
        <p:spPr>
          <a:xfrm xmlns:a="http://schemas.openxmlformats.org/drawingml/2006/main">
            <a:off x="10477500" y="6543675"/>
            <a:ext cx="12001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0">
                <a:solidFill>
                  <a:srgbClr val="617078"/>
                </a:solidFill>
                <a:latin typeface="Yu Gothic"/>
                <a:ea typeface="Yu Gothic"/>
                <a:cs typeface="Yu Gothic"/>
              </a:defRPr>
            </a:pPr>
            <a:r>
              <a:rPr sz="900" b="0">
                <a:solidFill>
                  <a:srgbClr val="617078"/>
                </a:solidFill>
                <a:latin typeface="Yu Gothic"/>
                <a:ea typeface="Yu Gothic"/>
                <a:cs typeface="Yu Gothic"/>
              </a:rPr>
              <a:t>4 / 9</a:t>
            </a:r>
          </a:p>
        </p:txBody>
      </p:sp>
      <p:sp>
        <p:nvSpPr>
          <p:cNvPr id="8" name="">
            <a:extLst xmlns:a="http://schemas.openxmlformats.org/drawingml/2006/main">
              <a:ext uri="{FF2B5EF4-FFF2-40B4-BE49-F238E27FC236}">
                <a16:creationId xmlns:a16="http://schemas.microsoft.com/office/drawing/2014/main" id="{A5F88FD7-B6F3-4AC3-A651-239FF3CD4D86}"/>
              </a:ext>
            </a:extLst>
          </p:cNvPr>
          <p:cNvSpPr>
            <a:spLocks xmlns:a="http://schemas.openxmlformats.org/drawingml/2006/main" noGrp="1"/>
          </p:cNvSpPr>
          <p:nvPr/>
        </p:nvSpPr>
        <p:spPr>
          <a:xfrm xmlns:a="http://schemas.openxmlformats.org/drawingml/2006/main">
            <a:off x="609600" y="1066800"/>
            <a:ext cx="1143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1">
                <a:solidFill>
                  <a:srgbClr val="617078"/>
                </a:solidFill>
                <a:latin typeface="Yu Gothic"/>
                <a:ea typeface="Yu Gothic"/>
                <a:cs typeface="Yu Gothic"/>
              </a:defRPr>
            </a:pPr>
            <a:r>
              <a:rPr sz="1425" b="1">
                <a:solidFill>
                  <a:srgbClr val="617078"/>
                </a:solidFill>
                <a:latin typeface="Yu Gothic"/>
                <a:ea typeface="Yu Gothic"/>
                <a:cs typeface="Yu Gothic"/>
              </a:rPr>
              <a:t>入力</a:t>
            </a:r>
          </a:p>
        </p:txBody>
      </p:sp>
      <p:sp>
        <p:nvSpPr>
          <p:cNvPr id="9" name="">
            <a:extLst xmlns:a="http://schemas.openxmlformats.org/drawingml/2006/main">
              <a:ext uri="{FF2B5EF4-FFF2-40B4-BE49-F238E27FC236}">
                <a16:creationId xmlns:a16="http://schemas.microsoft.com/office/drawing/2014/main" id="{55E70687-461F-4E1C-8A53-33E8F9EA10B5}"/>
              </a:ext>
            </a:extLst>
          </p:cNvPr>
          <p:cNvSpPr>
            <a:spLocks xmlns:a="http://schemas.openxmlformats.org/drawingml/2006/main" noGrp="1"/>
          </p:cNvSpPr>
          <p:nvPr/>
        </p:nvSpPr>
        <p:spPr>
          <a:xfrm xmlns:a="http://schemas.openxmlformats.org/drawingml/2006/main">
            <a:off x="628650" y="1457325"/>
            <a:ext cx="1714500" cy="514350"/>
          </a:xfrm>
          <a:prstGeom xmlns:a="http://schemas.openxmlformats.org/drawingml/2006/main" prst="rect">
            <a:avLst/>
          </a:prstGeom>
          <a:solidFill xmlns:a="http://schemas.openxmlformats.org/drawingml/2006/main">
            <a:srgbClr val="DDF0ED"/>
          </a:solidFill>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2025" b="1">
                <a:solidFill>
                  <a:srgbClr val="173B4B"/>
                </a:solidFill>
                <a:latin typeface="Yu Gothic"/>
                <a:ea typeface="Yu Gothic"/>
                <a:cs typeface="Yu Gothic"/>
              </a:defRPr>
            </a:pPr>
            <a:r>
              <a:rPr sz="2025" b="1">
                <a:solidFill>
                  <a:srgbClr val="173B4B"/>
                </a:solidFill>
                <a:latin typeface="Yu Gothic"/>
                <a:ea typeface="Yu Gothic"/>
                <a:cs typeface="Yu Gothic"/>
              </a:rPr>
              <a:t>Qₖ,ᵣ</a:t>
            </a:r>
          </a:p>
        </p:txBody>
      </p:sp>
      <p:sp>
        <p:nvSpPr>
          <p:cNvPr id="10" name="">
            <a:extLst xmlns:a="http://schemas.openxmlformats.org/drawingml/2006/main">
              <a:ext uri="{FF2B5EF4-FFF2-40B4-BE49-F238E27FC236}">
                <a16:creationId xmlns:a16="http://schemas.microsoft.com/office/drawing/2014/main" id="{54C410C6-B307-43C3-A9E9-91BD5AC75CC8}"/>
              </a:ext>
            </a:extLst>
          </p:cNvPr>
          <p:cNvSpPr>
            <a:spLocks xmlns:a="http://schemas.openxmlformats.org/drawingml/2006/main" noGrp="1"/>
          </p:cNvSpPr>
          <p:nvPr/>
        </p:nvSpPr>
        <p:spPr>
          <a:xfrm xmlns:a="http://schemas.openxmlformats.org/drawingml/2006/main">
            <a:off x="628650" y="2095500"/>
            <a:ext cx="1714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500" b="0">
                <a:solidFill>
                  <a:srgbClr val="26373D"/>
                </a:solidFill>
                <a:latin typeface="Yu Gothic"/>
                <a:ea typeface="Yu Gothic"/>
                <a:cs typeface="Yu Gothic"/>
              </a:defRPr>
            </a:pPr>
            <a:r>
              <a:rPr sz="1500" b="0">
                <a:solidFill>
                  <a:srgbClr val="26373D"/>
                </a:solidFill>
                <a:latin typeface="Yu Gothic"/>
                <a:ea typeface="Yu Gothic"/>
                <a:cs typeface="Yu Gothic"/>
              </a:rPr>
              <a:t>危険 0.724</a:t>
            </a:r>
          </a:p>
          <a:p xmlns:a="http://schemas.openxmlformats.org/drawingml/2006/main">
            <a:pPr algn="ctr">
              <a:defRPr sz="1500" b="0">
                <a:solidFill>
                  <a:srgbClr val="26373D"/>
                </a:solidFill>
                <a:latin typeface="Yu Gothic"/>
                <a:ea typeface="Yu Gothic"/>
                <a:cs typeface="Yu Gothic"/>
              </a:defRPr>
            </a:pPr>
            <a:r>
              <a:rPr sz="1500" b="0">
                <a:solidFill>
                  <a:srgbClr val="26373D"/>
                </a:solidFill>
                <a:latin typeface="Yu Gothic"/>
                <a:ea typeface="Yu Gothic"/>
                <a:cs typeface="Yu Gothic"/>
              </a:rPr>
              <a:t>変化 +0.238</a:t>
            </a:r>
          </a:p>
        </p:txBody>
      </p:sp>
      <p:sp>
        <p:nvSpPr>
          <p:cNvPr id="11" name="">
            <a:extLst xmlns:a="http://schemas.openxmlformats.org/drawingml/2006/main">
              <a:ext uri="{FF2B5EF4-FFF2-40B4-BE49-F238E27FC236}">
                <a16:creationId xmlns:a16="http://schemas.microsoft.com/office/drawing/2014/main" id="{C8BF8045-4CF8-441C-B96B-49392093970E}"/>
              </a:ext>
            </a:extLst>
          </p:cNvPr>
          <p:cNvSpPr>
            <a:spLocks xmlns:a="http://schemas.openxmlformats.org/drawingml/2006/main" noGrp="1"/>
          </p:cNvSpPr>
          <p:nvPr/>
        </p:nvSpPr>
        <p:spPr>
          <a:xfrm xmlns:a="http://schemas.openxmlformats.org/drawingml/2006/main">
            <a:off x="2562225" y="1724025"/>
            <a:ext cx="495300" cy="28575"/>
          </a:xfrm>
          <a:prstGeom xmlns:a="http://schemas.openxmlformats.org/drawingml/2006/main" prst="rect">
            <a:avLst/>
          </a:prstGeom>
          <a:solidFill xmlns:a="http://schemas.openxmlformats.org/drawingml/2006/main">
            <a:srgbClr val="69C3BE"/>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EA672E15-3019-408F-A539-58C7A4F592CA}"/>
              </a:ext>
            </a:extLst>
          </p:cNvPr>
          <p:cNvSpPr>
            <a:spLocks xmlns:a="http://schemas.openxmlformats.org/drawingml/2006/main" noGrp="1"/>
          </p:cNvSpPr>
          <p:nvPr/>
        </p:nvSpPr>
        <p:spPr>
          <a:xfrm xmlns:a="http://schemas.openxmlformats.org/drawingml/2006/main">
            <a:off x="3219450" y="1171575"/>
            <a:ext cx="2476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725" b="1">
                <a:solidFill>
                  <a:srgbClr val="173B4B"/>
                </a:solidFill>
                <a:latin typeface="Yu Gothic"/>
                <a:ea typeface="Yu Gothic"/>
                <a:cs typeface="Yu Gothic"/>
              </a:defRPr>
            </a:pPr>
            <a:r>
              <a:rPr sz="1725" b="1">
                <a:solidFill>
                  <a:srgbClr val="173B4B"/>
                </a:solidFill>
                <a:latin typeface="Yu Gothic"/>
                <a:ea typeface="Yu Gothic"/>
                <a:cs typeface="Yu Gothic"/>
              </a:rPr>
              <a:t>中央側の候補動画 60本</a:t>
            </a:r>
          </a:p>
        </p:txBody>
      </p:sp>
      <p:sp>
        <p:nvSpPr>
          <p:cNvPr id="13" name="">
            <a:extLst xmlns:a="http://schemas.openxmlformats.org/drawingml/2006/main">
              <a:ext uri="{FF2B5EF4-FFF2-40B4-BE49-F238E27FC236}">
                <a16:creationId xmlns:a16="http://schemas.microsoft.com/office/drawing/2014/main" id="{62C0DE99-CD4B-4D28-B220-7209DFABBF71}"/>
              </a:ext>
            </a:extLst>
          </p:cNvPr>
          <p:cNvSpPr>
            <a:spLocks xmlns:a="http://schemas.openxmlformats.org/drawingml/2006/main" noGrp="1"/>
          </p:cNvSpPr>
          <p:nvPr/>
        </p:nvSpPr>
        <p:spPr>
          <a:xfrm xmlns:a="http://schemas.openxmlformats.org/drawingml/2006/main">
            <a:off x="3219450" y="1543050"/>
            <a:ext cx="247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350" b="0">
                <a:solidFill>
                  <a:srgbClr val="617078"/>
                </a:solidFill>
                <a:latin typeface="Yu Gothic"/>
                <a:ea typeface="Yu Gothic"/>
                <a:cs typeface="Yu Gothic"/>
              </a:defRPr>
            </a:pPr>
            <a:r>
              <a:rPr sz="1350" b="0">
                <a:solidFill>
                  <a:srgbClr val="617078"/>
                </a:solidFill>
                <a:latin typeface="Yu Gothic"/>
                <a:ea typeface="Yu Gothic"/>
                <a:cs typeface="Yu Gothic"/>
              </a:rPr>
              <a:t>通常30本　危険30本</a:t>
            </a:r>
          </a:p>
        </p:txBody>
      </p:sp>
      <p:pic>
        <p:nvPicPr>
          <p:cNvPr id="52" name=""/>
          <p:cNvPicPr>
            <a:picLocks xmlns:a="http://schemas.openxmlformats.org/drawingml/2006/main" noChangeAspect="1"/>
          </p:cNvPicPr>
          <p:nvPr/>
        </p:nvPicPr>
        <p:blipFill>
          <a:blip xmlns:r="http://schemas.openxmlformats.org/officeDocument/2006/relationships" xmlns:a="http://schemas.openxmlformats.org/drawingml/2006/main" r:embed="R135c74203a5e499f"/>
          <a:srcRect xmlns:a="http://schemas.openxmlformats.org/drawingml/2006/main" l="68" t="0" r="68" b="0"/>
          <a:stretch xmlns:a="http://schemas.openxmlformats.org/drawingml/2006/main">
            <a:fillRect l="0" t="0" r="0" b="0"/>
          </a:stretch>
        </p:blipFill>
        <p:spPr>
          <a:xfrm xmlns:a="http://schemas.openxmlformats.org/drawingml/2006/main">
            <a:off x="3295650" y="1981200"/>
            <a:ext cx="2333625" cy="1314450"/>
          </a:xfrm>
          <a:prstGeom xmlns:a="http://schemas.openxmlformats.org/drawingml/2006/main" prst="rect">
            <a:avLst/>
          </a:prstGeom>
        </p:spPr>
      </p:pic>
      <p:sp>
        <p:nvSpPr>
          <p:cNvPr id="15" name="">
            <a:extLst xmlns:a="http://schemas.openxmlformats.org/drawingml/2006/main">
              <a:ext uri="{FF2B5EF4-FFF2-40B4-BE49-F238E27FC236}">
                <a16:creationId xmlns:a16="http://schemas.microsoft.com/office/drawing/2014/main" id="{FE9363AE-2343-4D07-913D-E4857D43FD99}"/>
              </a:ext>
            </a:extLst>
          </p:cNvPr>
          <p:cNvSpPr>
            <a:spLocks xmlns:a="http://schemas.openxmlformats.org/drawingml/2006/main" noGrp="1"/>
          </p:cNvSpPr>
          <p:nvPr/>
        </p:nvSpPr>
        <p:spPr>
          <a:xfrm xmlns:a="http://schemas.openxmlformats.org/drawingml/2006/main">
            <a:off x="3295650" y="3381375"/>
            <a:ext cx="2333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125" b="1">
                <a:solidFill>
                  <a:srgbClr val="E7833D"/>
                </a:solidFill>
                <a:latin typeface="Yu Gothic"/>
                <a:ea typeface="Yu Gothic"/>
                <a:cs typeface="Yu Gothic"/>
              </a:defRPr>
            </a:pPr>
            <a:r>
              <a:rPr sz="1125" b="1">
                <a:solidFill>
                  <a:srgbClr val="E7833D"/>
                </a:solidFill>
                <a:latin typeface="Yu Gothic"/>
                <a:ea typeface="Yu Gothic"/>
                <a:cs typeface="Yu Gothic"/>
              </a:rPr>
              <a:t>検索1位：正解ラベルは通常</a:t>
            </a:r>
          </a:p>
        </p:txBody>
      </p:sp>
      <p:sp>
        <p:nvSpPr>
          <p:cNvPr id="16" name="">
            <a:extLst xmlns:a="http://schemas.openxmlformats.org/drawingml/2006/main">
              <a:ext uri="{FF2B5EF4-FFF2-40B4-BE49-F238E27FC236}">
                <a16:creationId xmlns:a16="http://schemas.microsoft.com/office/drawing/2014/main" id="{63548714-2659-4221-A6D3-11D0B60EE463}"/>
              </a:ext>
            </a:extLst>
          </p:cNvPr>
          <p:cNvSpPr>
            <a:spLocks xmlns:a="http://schemas.openxmlformats.org/drawingml/2006/main" noGrp="1"/>
          </p:cNvSpPr>
          <p:nvPr/>
        </p:nvSpPr>
        <p:spPr>
          <a:xfrm xmlns:a="http://schemas.openxmlformats.org/drawingml/2006/main">
            <a:off x="5848350" y="1724025"/>
            <a:ext cx="495300" cy="28575"/>
          </a:xfrm>
          <a:prstGeom xmlns:a="http://schemas.openxmlformats.org/drawingml/2006/main" prst="rect">
            <a:avLst/>
          </a:prstGeom>
          <a:solidFill xmlns:a="http://schemas.openxmlformats.org/drawingml/2006/main">
            <a:srgbClr val="69C3BE"/>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B5546138-AC3A-4452-9268-8D1D9D1FC55E}"/>
              </a:ext>
            </a:extLst>
          </p:cNvPr>
          <p:cNvSpPr>
            <a:spLocks xmlns:a="http://schemas.openxmlformats.org/drawingml/2006/main" noGrp="1"/>
          </p:cNvSpPr>
          <p:nvPr/>
        </p:nvSpPr>
        <p:spPr>
          <a:xfrm xmlns:a="http://schemas.openxmlformats.org/drawingml/2006/main">
            <a:off x="6515100" y="1171575"/>
            <a:ext cx="48101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725" b="1">
                <a:solidFill>
                  <a:srgbClr val="173B4B"/>
                </a:solidFill>
                <a:latin typeface="Yu Gothic"/>
                <a:ea typeface="Yu Gothic"/>
                <a:cs typeface="Yu Gothic"/>
              </a:defRPr>
            </a:pPr>
            <a:r>
              <a:rPr sz="1725" b="1">
                <a:solidFill>
                  <a:srgbClr val="173B4B"/>
                </a:solidFill>
                <a:latin typeface="Yu Gothic"/>
                <a:ea typeface="Yu Gothic"/>
                <a:cs typeface="Yu Gothic"/>
              </a:rPr>
              <a:t>上位3本を5通りに変換</a:t>
            </a:r>
          </a:p>
        </p:txBody>
      </p:sp>
      <p:sp>
        <p:nvSpPr>
          <p:cNvPr id="18" name="">
            <a:extLst xmlns:a="http://schemas.openxmlformats.org/drawingml/2006/main">
              <a:ext uri="{FF2B5EF4-FFF2-40B4-BE49-F238E27FC236}">
                <a16:creationId xmlns:a16="http://schemas.microsoft.com/office/drawing/2014/main" id="{BC8CD3F5-4146-458E-A037-051F07E353A2}"/>
              </a:ext>
            </a:extLst>
          </p:cNvPr>
          <p:cNvSpPr>
            <a:spLocks xmlns:a="http://schemas.openxmlformats.org/drawingml/2006/main" noGrp="1"/>
          </p:cNvSpPr>
          <p:nvPr/>
        </p:nvSpPr>
        <p:spPr>
          <a:xfrm xmlns:a="http://schemas.openxmlformats.org/drawingml/2006/main">
            <a:off x="6515100" y="1543050"/>
            <a:ext cx="48101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350" b="0">
                <a:solidFill>
                  <a:srgbClr val="617078"/>
                </a:solidFill>
                <a:latin typeface="Yu Gothic"/>
                <a:ea typeface="Yu Gothic"/>
                <a:cs typeface="Yu Gothic"/>
              </a:defRPr>
            </a:pPr>
            <a:r>
              <a:rPr sz="1350" b="0">
                <a:solidFill>
                  <a:srgbClr val="617078"/>
                </a:solidFill>
                <a:latin typeface="Yu Gothic"/>
                <a:ea typeface="Yu Gothic"/>
                <a:cs typeface="Yu Gothic"/>
              </a:rPr>
              <a:t>1つのQにつき15候補　4つのQで合計60候補</a:t>
            </a:r>
          </a:p>
        </p:txBody>
      </p:sp>
      <p:pic>
        <p:nvPicPr>
          <p:cNvPr id="57" name=""/>
          <p:cNvPicPr>
            <a:picLocks xmlns:a="http://schemas.openxmlformats.org/drawingml/2006/main" noChangeAspect="1"/>
          </p:cNvPicPr>
          <p:nvPr/>
        </p:nvPicPr>
        <p:blipFill>
          <a:blip xmlns:r="http://schemas.openxmlformats.org/officeDocument/2006/relationships" xmlns:a="http://schemas.openxmlformats.org/drawingml/2006/main" r:embed="R14ec6864fbf74da0"/>
          <a:srcRect xmlns:a="http://schemas.openxmlformats.org/drawingml/2006/main" l="10156" t="0" r="10156" b="0"/>
          <a:stretch xmlns:a="http://schemas.openxmlformats.org/drawingml/2006/main">
            <a:fillRect l="0" t="0" r="0" b="0"/>
          </a:stretch>
        </p:blipFill>
        <p:spPr>
          <a:xfrm xmlns:a="http://schemas.openxmlformats.org/drawingml/2006/main">
            <a:off x="6353175" y="1981200"/>
            <a:ext cx="971550" cy="685800"/>
          </a:xfrm>
          <a:prstGeom xmlns:a="http://schemas.openxmlformats.org/drawingml/2006/main" prst="rect">
            <a:avLst/>
          </a:prstGeom>
        </p:spPr>
      </p:pic>
      <p:sp>
        <p:nvSpPr>
          <p:cNvPr id="20" name="">
            <a:extLst xmlns:a="http://schemas.openxmlformats.org/drawingml/2006/main">
              <a:ext uri="{FF2B5EF4-FFF2-40B4-BE49-F238E27FC236}">
                <a16:creationId xmlns:a16="http://schemas.microsoft.com/office/drawing/2014/main" id="{A880EB98-4900-41B6-9F5E-2B541EFE7D0B}"/>
              </a:ext>
            </a:extLst>
          </p:cNvPr>
          <p:cNvSpPr>
            <a:spLocks xmlns:a="http://schemas.openxmlformats.org/drawingml/2006/main" noGrp="1"/>
          </p:cNvSpPr>
          <p:nvPr/>
        </p:nvSpPr>
        <p:spPr>
          <a:xfrm xmlns:a="http://schemas.openxmlformats.org/drawingml/2006/main">
            <a:off x="6324600" y="1952625"/>
            <a:ext cx="1028700" cy="742950"/>
          </a:xfrm>
          <a:prstGeom xmlns:a="http://schemas.openxmlformats.org/drawingml/2006/main" prst="rect">
            <a:avLst/>
          </a:prstGeom>
          <a:noFill xmlns:a="http://schemas.openxmlformats.org/drawingml/2006/main"/>
          <a:ln xmlns:a="http://schemas.openxmlformats.org/drawingml/2006/main" w="28575">
            <a:solidFill>
              <a:srgbClr val="E7833D"/>
            </a:solidFill>
          </a:ln>
        </p:spPr>
      </p:sp>
      <p:sp>
        <p:nvSpPr>
          <p:cNvPr id="21" name="">
            <a:extLst xmlns:a="http://schemas.openxmlformats.org/drawingml/2006/main">
              <a:ext uri="{FF2B5EF4-FFF2-40B4-BE49-F238E27FC236}">
                <a16:creationId xmlns:a16="http://schemas.microsoft.com/office/drawing/2014/main" id="{801D39D8-03FE-4D0E-A6D0-3DD82D77061E}"/>
              </a:ext>
            </a:extLst>
          </p:cNvPr>
          <p:cNvSpPr>
            <a:spLocks xmlns:a="http://schemas.openxmlformats.org/drawingml/2006/main" noGrp="1"/>
          </p:cNvSpPr>
          <p:nvPr/>
        </p:nvSpPr>
        <p:spPr>
          <a:xfrm xmlns:a="http://schemas.openxmlformats.org/drawingml/2006/main">
            <a:off x="6315075" y="2771775"/>
            <a:ext cx="1047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050" b="1">
                <a:solidFill>
                  <a:srgbClr val="E7833D"/>
                </a:solidFill>
                <a:latin typeface="Yu Gothic"/>
                <a:ea typeface="Yu Gothic"/>
                <a:cs typeface="Yu Gothic"/>
              </a:defRPr>
            </a:pPr>
            <a:r>
              <a:rPr sz="1050" b="1">
                <a:solidFill>
                  <a:srgbClr val="E7833D"/>
                </a:solidFill>
                <a:latin typeface="Yu Gothic"/>
                <a:ea typeface="Yu Gothic"/>
                <a:cs typeface="Yu Gothic"/>
              </a:rPr>
              <a:t>変更なし</a:t>
            </a:r>
          </a:p>
        </p:txBody>
      </p:sp>
      <p:pic>
        <p:nvPicPr>
          <p:cNvPr id="60" name=""/>
          <p:cNvPicPr>
            <a:picLocks xmlns:a="http://schemas.openxmlformats.org/drawingml/2006/main" noChangeAspect="1"/>
          </p:cNvPicPr>
          <p:nvPr/>
        </p:nvPicPr>
        <p:blipFill>
          <a:blip xmlns:r="http://schemas.openxmlformats.org/officeDocument/2006/relationships" xmlns:a="http://schemas.openxmlformats.org/drawingml/2006/main" r:embed="R53604e87a1a94d73"/>
          <a:srcRect xmlns:a="http://schemas.openxmlformats.org/drawingml/2006/main" l="10156" t="0" r="10156" b="0"/>
          <a:stretch xmlns:a="http://schemas.openxmlformats.org/drawingml/2006/main">
            <a:fillRect l="0" t="0" r="0" b="0"/>
          </a:stretch>
        </p:blipFill>
        <p:spPr>
          <a:xfrm xmlns:a="http://schemas.openxmlformats.org/drawingml/2006/main">
            <a:off x="7410450" y="1981200"/>
            <a:ext cx="971550" cy="685800"/>
          </a:xfrm>
          <a:prstGeom xmlns:a="http://schemas.openxmlformats.org/drawingml/2006/main" prst="rect">
            <a:avLst/>
          </a:prstGeom>
        </p:spPr>
      </p:pic>
      <p:sp>
        <p:nvSpPr>
          <p:cNvPr id="23" name="">
            <a:extLst xmlns:a="http://schemas.openxmlformats.org/drawingml/2006/main">
              <a:ext uri="{FF2B5EF4-FFF2-40B4-BE49-F238E27FC236}">
                <a16:creationId xmlns:a16="http://schemas.microsoft.com/office/drawing/2014/main" id="{DD711C77-5B14-4AEA-927C-B595D15E3C9C}"/>
              </a:ext>
            </a:extLst>
          </p:cNvPr>
          <p:cNvSpPr>
            <a:spLocks xmlns:a="http://schemas.openxmlformats.org/drawingml/2006/main" noGrp="1"/>
          </p:cNvSpPr>
          <p:nvPr/>
        </p:nvSpPr>
        <p:spPr>
          <a:xfrm xmlns:a="http://schemas.openxmlformats.org/drawingml/2006/main">
            <a:off x="7372350" y="2771775"/>
            <a:ext cx="1047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050" b="0">
                <a:solidFill>
                  <a:srgbClr val="617078"/>
                </a:solidFill>
                <a:latin typeface="Yu Gothic"/>
                <a:ea typeface="Yu Gothic"/>
                <a:cs typeface="Yu Gothic"/>
              </a:defRPr>
            </a:pPr>
            <a:r>
              <a:rPr sz="1050" b="0">
                <a:solidFill>
                  <a:srgbClr val="617078"/>
                </a:solidFill>
                <a:latin typeface="Yu Gothic"/>
                <a:ea typeface="Yu Gothic"/>
                <a:cs typeface="Yu Gothic"/>
              </a:rPr>
              <a:t>暗くする</a:t>
            </a:r>
          </a:p>
        </p:txBody>
      </p:sp>
      <p:pic>
        <p:nvPicPr>
          <p:cNvPr id="62" name=""/>
          <p:cNvPicPr>
            <a:picLocks xmlns:a="http://schemas.openxmlformats.org/drawingml/2006/main" noChangeAspect="1"/>
          </p:cNvPicPr>
          <p:nvPr/>
        </p:nvPicPr>
        <p:blipFill>
          <a:blip xmlns:r="http://schemas.openxmlformats.org/officeDocument/2006/relationships" xmlns:a="http://schemas.openxmlformats.org/drawingml/2006/main" r:embed="R32caa7bf16f1438d"/>
          <a:srcRect xmlns:a="http://schemas.openxmlformats.org/drawingml/2006/main" l="10156" t="0" r="10156" b="0"/>
          <a:stretch xmlns:a="http://schemas.openxmlformats.org/drawingml/2006/main">
            <a:fillRect l="0" t="0" r="0" b="0"/>
          </a:stretch>
        </p:blipFill>
        <p:spPr>
          <a:xfrm xmlns:a="http://schemas.openxmlformats.org/drawingml/2006/main">
            <a:off x="8467725" y="1981200"/>
            <a:ext cx="971550" cy="685800"/>
          </a:xfrm>
          <a:prstGeom xmlns:a="http://schemas.openxmlformats.org/drawingml/2006/main" prst="rect">
            <a:avLst/>
          </a:prstGeom>
        </p:spPr>
      </p:pic>
      <p:sp>
        <p:nvSpPr>
          <p:cNvPr id="25" name="">
            <a:extLst xmlns:a="http://schemas.openxmlformats.org/drawingml/2006/main">
              <a:ext uri="{FF2B5EF4-FFF2-40B4-BE49-F238E27FC236}">
                <a16:creationId xmlns:a16="http://schemas.microsoft.com/office/drawing/2014/main" id="{ED6E9C2F-732C-4C66-9D9F-6C40A4CB7994}"/>
              </a:ext>
            </a:extLst>
          </p:cNvPr>
          <p:cNvSpPr>
            <a:spLocks xmlns:a="http://schemas.openxmlformats.org/drawingml/2006/main" noGrp="1"/>
          </p:cNvSpPr>
          <p:nvPr/>
        </p:nvSpPr>
        <p:spPr>
          <a:xfrm xmlns:a="http://schemas.openxmlformats.org/drawingml/2006/main">
            <a:off x="8429625" y="2771775"/>
            <a:ext cx="1047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050" b="0">
                <a:solidFill>
                  <a:srgbClr val="617078"/>
                </a:solidFill>
                <a:latin typeface="Yu Gothic"/>
                <a:ea typeface="Yu Gothic"/>
                <a:cs typeface="Yu Gothic"/>
              </a:defRPr>
            </a:pPr>
            <a:r>
              <a:rPr sz="1050" b="0">
                <a:solidFill>
                  <a:srgbClr val="617078"/>
                </a:solidFill>
                <a:latin typeface="Yu Gothic"/>
                <a:ea typeface="Yu Gothic"/>
                <a:cs typeface="Yu Gothic"/>
              </a:rPr>
              <a:t>明るくする</a:t>
            </a:r>
          </a:p>
        </p:txBody>
      </p:sp>
      <p:pic>
        <p:nvPicPr>
          <p:cNvPr id="64" name=""/>
          <p:cNvPicPr>
            <a:picLocks xmlns:a="http://schemas.openxmlformats.org/drawingml/2006/main" noChangeAspect="1"/>
          </p:cNvPicPr>
          <p:nvPr/>
        </p:nvPicPr>
        <p:blipFill>
          <a:blip xmlns:r="http://schemas.openxmlformats.org/officeDocument/2006/relationships" xmlns:a="http://schemas.openxmlformats.org/drawingml/2006/main" r:embed="R6ef355a5c61a41b9"/>
          <a:srcRect xmlns:a="http://schemas.openxmlformats.org/drawingml/2006/main" l="10156" t="0" r="10156" b="0"/>
          <a:stretch xmlns:a="http://schemas.openxmlformats.org/drawingml/2006/main">
            <a:fillRect l="0" t="0" r="0" b="0"/>
          </a:stretch>
        </p:blipFill>
        <p:spPr>
          <a:xfrm xmlns:a="http://schemas.openxmlformats.org/drawingml/2006/main">
            <a:off x="9525000" y="1981200"/>
            <a:ext cx="971550" cy="685800"/>
          </a:xfrm>
          <a:prstGeom xmlns:a="http://schemas.openxmlformats.org/drawingml/2006/main" prst="rect">
            <a:avLst/>
          </a:prstGeom>
        </p:spPr>
      </p:pic>
      <p:sp>
        <p:nvSpPr>
          <p:cNvPr id="27" name="">
            <a:extLst xmlns:a="http://schemas.openxmlformats.org/drawingml/2006/main">
              <a:ext uri="{FF2B5EF4-FFF2-40B4-BE49-F238E27FC236}">
                <a16:creationId xmlns:a16="http://schemas.microsoft.com/office/drawing/2014/main" id="{8642EFD7-CF07-4B81-82C2-DEE74D33371D}"/>
              </a:ext>
            </a:extLst>
          </p:cNvPr>
          <p:cNvSpPr>
            <a:spLocks xmlns:a="http://schemas.openxmlformats.org/drawingml/2006/main" noGrp="1"/>
          </p:cNvSpPr>
          <p:nvPr/>
        </p:nvSpPr>
        <p:spPr>
          <a:xfrm xmlns:a="http://schemas.openxmlformats.org/drawingml/2006/main">
            <a:off x="9486900" y="2771775"/>
            <a:ext cx="1047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050" b="0">
                <a:solidFill>
                  <a:srgbClr val="617078"/>
                </a:solidFill>
                <a:latin typeface="Yu Gothic"/>
                <a:ea typeface="Yu Gothic"/>
                <a:cs typeface="Yu Gothic"/>
              </a:defRPr>
            </a:pPr>
            <a:r>
              <a:rPr sz="1050" b="0">
                <a:solidFill>
                  <a:srgbClr val="617078"/>
                </a:solidFill>
                <a:latin typeface="Yu Gothic"/>
                <a:ea typeface="Yu Gothic"/>
                <a:cs typeface="Yu Gothic"/>
              </a:rPr>
              <a:t>コントラスト</a:t>
            </a:r>
          </a:p>
        </p:txBody>
      </p:sp>
      <p:pic>
        <p:nvPicPr>
          <p:cNvPr id="66" name=""/>
          <p:cNvPicPr>
            <a:picLocks xmlns:a="http://schemas.openxmlformats.org/drawingml/2006/main" noChangeAspect="1"/>
          </p:cNvPicPr>
          <p:nvPr/>
        </p:nvPicPr>
        <p:blipFill>
          <a:blip xmlns:r="http://schemas.openxmlformats.org/officeDocument/2006/relationships" xmlns:a="http://schemas.openxmlformats.org/drawingml/2006/main" r:embed="R8c91a005b33a4d3d"/>
          <a:srcRect xmlns:a="http://schemas.openxmlformats.org/drawingml/2006/main" l="10156" t="0" r="10156" b="0"/>
          <a:stretch xmlns:a="http://schemas.openxmlformats.org/drawingml/2006/main">
            <a:fillRect l="0" t="0" r="0" b="0"/>
          </a:stretch>
        </p:blipFill>
        <p:spPr>
          <a:xfrm xmlns:a="http://schemas.openxmlformats.org/drawingml/2006/main">
            <a:off x="10582275" y="1981200"/>
            <a:ext cx="971550" cy="685800"/>
          </a:xfrm>
          <a:prstGeom xmlns:a="http://schemas.openxmlformats.org/drawingml/2006/main" prst="rect">
            <a:avLst/>
          </a:prstGeom>
        </p:spPr>
      </p:pic>
      <p:sp>
        <p:nvSpPr>
          <p:cNvPr id="29" name="">
            <a:extLst xmlns:a="http://schemas.openxmlformats.org/drawingml/2006/main">
              <a:ext uri="{FF2B5EF4-FFF2-40B4-BE49-F238E27FC236}">
                <a16:creationId xmlns:a16="http://schemas.microsoft.com/office/drawing/2014/main" id="{1BA08A18-24DE-458E-B033-34F69C575F9C}"/>
              </a:ext>
            </a:extLst>
          </p:cNvPr>
          <p:cNvSpPr>
            <a:spLocks xmlns:a="http://schemas.openxmlformats.org/drawingml/2006/main" noGrp="1"/>
          </p:cNvSpPr>
          <p:nvPr/>
        </p:nvSpPr>
        <p:spPr>
          <a:xfrm xmlns:a="http://schemas.openxmlformats.org/drawingml/2006/main">
            <a:off x="10544175" y="2771775"/>
            <a:ext cx="1047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050" b="0">
                <a:solidFill>
                  <a:srgbClr val="617078"/>
                </a:solidFill>
                <a:latin typeface="Yu Gothic"/>
                <a:ea typeface="Yu Gothic"/>
                <a:cs typeface="Yu Gothic"/>
              </a:defRPr>
            </a:pPr>
            <a:r>
              <a:rPr sz="1050" b="0">
                <a:solidFill>
                  <a:srgbClr val="617078"/>
                </a:solidFill>
                <a:latin typeface="Yu Gothic"/>
                <a:ea typeface="Yu Gothic"/>
                <a:cs typeface="Yu Gothic"/>
              </a:rPr>
              <a:t>中央を切り出す</a:t>
            </a:r>
          </a:p>
        </p:txBody>
      </p:sp>
      <p:sp>
        <p:nvSpPr>
          <p:cNvPr id="30" name="">
            <a:extLst xmlns:a="http://schemas.openxmlformats.org/drawingml/2006/main">
              <a:ext uri="{FF2B5EF4-FFF2-40B4-BE49-F238E27FC236}">
                <a16:creationId xmlns:a16="http://schemas.microsoft.com/office/drawing/2014/main" id="{44951F9D-0D75-41FF-8D95-B8F6B33BB3C7}"/>
              </a:ext>
            </a:extLst>
          </p:cNvPr>
          <p:cNvSpPr>
            <a:spLocks xmlns:a="http://schemas.openxmlformats.org/drawingml/2006/main" noGrp="1"/>
          </p:cNvSpPr>
          <p:nvPr/>
        </p:nvSpPr>
        <p:spPr>
          <a:xfrm xmlns:a="http://schemas.openxmlformats.org/drawingml/2006/main">
            <a:off x="609600" y="3838575"/>
            <a:ext cx="10858500" cy="14288"/>
          </a:xfrm>
          <a:prstGeom xmlns:a="http://schemas.openxmlformats.org/drawingml/2006/main" prst="rect">
            <a:avLst/>
          </a:prstGeom>
          <a:solidFill xmlns:a="http://schemas.openxmlformats.org/drawingml/2006/main">
            <a:srgbClr val="87979C"/>
          </a:solidFill>
          <a:ln xmlns:a="http://schemas.openxmlformats.org/drawingml/2006/main" w="0">
            <a:noFill/>
          </a:ln>
        </p:spPr>
      </p:sp>
      <p:sp>
        <p:nvSpPr>
          <p:cNvPr id="31" name="">
            <a:extLst xmlns:a="http://schemas.openxmlformats.org/drawingml/2006/main">
              <a:ext uri="{FF2B5EF4-FFF2-40B4-BE49-F238E27FC236}">
                <a16:creationId xmlns:a16="http://schemas.microsoft.com/office/drawing/2014/main" id="{120FE8BB-C8A8-4818-BC6E-8C7D91EB88BB}"/>
              </a:ext>
            </a:extLst>
          </p:cNvPr>
          <p:cNvSpPr>
            <a:spLocks xmlns:a="http://schemas.openxmlformats.org/drawingml/2006/main" noGrp="1"/>
          </p:cNvSpPr>
          <p:nvPr/>
        </p:nvSpPr>
        <p:spPr>
          <a:xfrm xmlns:a="http://schemas.openxmlformats.org/drawingml/2006/main">
            <a:off x="666750" y="4095750"/>
            <a:ext cx="1524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1">
                <a:solidFill>
                  <a:srgbClr val="147B78"/>
                </a:solidFill>
                <a:latin typeface="Yu Gothic"/>
                <a:ea typeface="Yu Gothic"/>
                <a:cs typeface="Yu Gothic"/>
              </a:defRPr>
            </a:pPr>
            <a:r>
              <a:rPr sz="1575" b="1">
                <a:solidFill>
                  <a:srgbClr val="147B78"/>
                </a:solidFill>
                <a:latin typeface="Yu Gothic"/>
                <a:ea typeface="Yu Gothic"/>
                <a:cs typeface="Yu Gothic"/>
              </a:rPr>
              <a:t>選択基準</a:t>
            </a:r>
          </a:p>
        </p:txBody>
      </p:sp>
      <p:sp>
        <p:nvSpPr>
          <p:cNvPr id="32" name="">
            <a:extLst xmlns:a="http://schemas.openxmlformats.org/drawingml/2006/main">
              <a:ext uri="{FF2B5EF4-FFF2-40B4-BE49-F238E27FC236}">
                <a16:creationId xmlns:a16="http://schemas.microsoft.com/office/drawing/2014/main" id="{AFFD35DD-CFEF-4520-88A5-37C46F097272}"/>
              </a:ext>
            </a:extLst>
          </p:cNvPr>
          <p:cNvSpPr>
            <a:spLocks xmlns:a="http://schemas.openxmlformats.org/drawingml/2006/main" noGrp="1"/>
          </p:cNvSpPr>
          <p:nvPr/>
        </p:nvSpPr>
        <p:spPr>
          <a:xfrm xmlns:a="http://schemas.openxmlformats.org/drawingml/2006/main">
            <a:off x="762000" y="4552950"/>
            <a:ext cx="3333750" cy="457200"/>
          </a:xfrm>
          <a:prstGeom xmlns:a="http://schemas.openxmlformats.org/drawingml/2006/main" prst="rect">
            <a:avLst/>
          </a:prstGeom>
          <a:solidFill xmlns:a="http://schemas.openxmlformats.org/drawingml/2006/main">
            <a:srgbClr val="E6F1F3"/>
          </a:solidFill>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650" b="1">
                <a:solidFill>
                  <a:srgbClr val="173B4B"/>
                </a:solidFill>
                <a:latin typeface="Yu Gothic"/>
                <a:ea typeface="Yu Gothic"/>
                <a:cs typeface="Yu Gothic"/>
              </a:defRPr>
            </a:pPr>
            <a:r>
              <a:rPr sz="1650" b="1">
                <a:solidFill>
                  <a:srgbClr val="173B4B"/>
                </a:solidFill>
                <a:latin typeface="Yu Gothic"/>
                <a:ea typeface="Yu Gothic"/>
                <a:cs typeface="Yu Gothic"/>
              </a:rPr>
              <a:t>① 学習後の判定が 0.724 に近い</a:t>
            </a:r>
          </a:p>
        </p:txBody>
      </p:sp>
      <p:sp>
        <p:nvSpPr>
          <p:cNvPr id="33" name="">
            <a:extLst xmlns:a="http://schemas.openxmlformats.org/drawingml/2006/main">
              <a:ext uri="{FF2B5EF4-FFF2-40B4-BE49-F238E27FC236}">
                <a16:creationId xmlns:a16="http://schemas.microsoft.com/office/drawing/2014/main" id="{31F971E6-C3BE-45C0-B4EB-8459F236D4CF}"/>
              </a:ext>
            </a:extLst>
          </p:cNvPr>
          <p:cNvSpPr>
            <a:spLocks xmlns:a="http://schemas.openxmlformats.org/drawingml/2006/main" noGrp="1"/>
          </p:cNvSpPr>
          <p:nvPr/>
        </p:nvSpPr>
        <p:spPr>
          <a:xfrm xmlns:a="http://schemas.openxmlformats.org/drawingml/2006/main">
            <a:off x="4400550" y="4552950"/>
            <a:ext cx="4000500" cy="457200"/>
          </a:xfrm>
          <a:prstGeom xmlns:a="http://schemas.openxmlformats.org/drawingml/2006/main" prst="rect">
            <a:avLst/>
          </a:prstGeom>
          <a:solidFill xmlns:a="http://schemas.openxmlformats.org/drawingml/2006/main">
            <a:srgbClr val="FAE9D8"/>
          </a:solidFill>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650" b="1">
                <a:solidFill>
                  <a:srgbClr val="173B4B"/>
                </a:solidFill>
                <a:latin typeface="Yu Gothic"/>
                <a:ea typeface="Yu Gothic"/>
                <a:cs typeface="Yu Gothic"/>
              </a:defRPr>
            </a:pPr>
            <a:r>
              <a:rPr sz="1650" b="1">
                <a:solidFill>
                  <a:srgbClr val="173B4B"/>
                </a:solidFill>
                <a:latin typeface="Yu Gothic"/>
                <a:ea typeface="Yu Gothic"/>
                <a:cs typeface="Yu Gothic"/>
              </a:rPr>
              <a:t>② 連合平均前後の変化が +0.238 に近い</a:t>
            </a:r>
          </a:p>
        </p:txBody>
      </p:sp>
      <p:sp>
        <p:nvSpPr>
          <p:cNvPr id="34" name="">
            <a:extLst xmlns:a="http://schemas.openxmlformats.org/drawingml/2006/main">
              <a:ext uri="{FF2B5EF4-FFF2-40B4-BE49-F238E27FC236}">
                <a16:creationId xmlns:a16="http://schemas.microsoft.com/office/drawing/2014/main" id="{CE4FFE6A-D80B-42FC-A484-41FE2CC8B237}"/>
              </a:ext>
            </a:extLst>
          </p:cNvPr>
          <p:cNvSpPr>
            <a:spLocks xmlns:a="http://schemas.openxmlformats.org/drawingml/2006/main" noGrp="1"/>
          </p:cNvSpPr>
          <p:nvPr/>
        </p:nvSpPr>
        <p:spPr>
          <a:xfrm xmlns:a="http://schemas.openxmlformats.org/drawingml/2006/main">
            <a:off x="8591550" y="4772025"/>
            <a:ext cx="428625" cy="28575"/>
          </a:xfrm>
          <a:prstGeom xmlns:a="http://schemas.openxmlformats.org/drawingml/2006/main" prst="rect">
            <a:avLst/>
          </a:prstGeom>
          <a:solidFill xmlns:a="http://schemas.openxmlformats.org/drawingml/2006/main">
            <a:srgbClr val="69C3BE"/>
          </a:solidFill>
          <a:ln xmlns:a="http://schemas.openxmlformats.org/drawingml/2006/main" w="0">
            <a:noFill/>
          </a:ln>
        </p:spPr>
      </p:sp>
      <p:sp>
        <p:nvSpPr>
          <p:cNvPr id="35" name="">
            <a:extLst xmlns:a="http://schemas.openxmlformats.org/drawingml/2006/main">
              <a:ext uri="{FF2B5EF4-FFF2-40B4-BE49-F238E27FC236}">
                <a16:creationId xmlns:a16="http://schemas.microsoft.com/office/drawing/2014/main" id="{BCC05DEE-BA26-444C-92B7-A88A82F52B18}"/>
              </a:ext>
            </a:extLst>
          </p:cNvPr>
          <p:cNvSpPr>
            <a:spLocks xmlns:a="http://schemas.openxmlformats.org/drawingml/2006/main" noGrp="1"/>
          </p:cNvSpPr>
          <p:nvPr/>
        </p:nvSpPr>
        <p:spPr>
          <a:xfrm xmlns:a="http://schemas.openxmlformats.org/drawingml/2006/main">
            <a:off x="9201150" y="4343400"/>
            <a:ext cx="2266950" cy="876300"/>
          </a:xfrm>
          <a:prstGeom xmlns:a="http://schemas.openxmlformats.org/drawingml/2006/main" prst="rect">
            <a:avLst/>
          </a:prstGeom>
          <a:solidFill xmlns:a="http://schemas.openxmlformats.org/drawingml/2006/main">
            <a:srgbClr val="DDF0ED"/>
          </a:solidFill>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650" b="1">
                <a:solidFill>
                  <a:srgbClr val="173B4B"/>
                </a:solidFill>
                <a:latin typeface="Yu Gothic"/>
                <a:ea typeface="Yu Gothic"/>
                <a:cs typeface="Yu Gothic"/>
              </a:defRPr>
            </a:pPr>
            <a:r>
              <a:rPr sz="1650" b="1">
                <a:solidFill>
                  <a:srgbClr val="173B4B"/>
                </a:solidFill>
                <a:latin typeface="Yu Gothic"/>
                <a:ea typeface="Yu Gothic"/>
                <a:cs typeface="Yu Gothic"/>
              </a:rPr>
              <a:t>Pₖ,ᵣ = ( x̃ₖ,ᵣ,</a:t>
            </a:r>
          </a:p>
          <a:p xmlns:a="http://schemas.openxmlformats.org/drawingml/2006/main">
            <a:pPr algn="ctr">
              <a:defRPr sz="1650" b="1">
                <a:solidFill>
                  <a:srgbClr val="173B4B"/>
                </a:solidFill>
                <a:latin typeface="Yu Gothic"/>
                <a:ea typeface="Yu Gothic"/>
                <a:cs typeface="Yu Gothic"/>
              </a:defRPr>
            </a:pPr>
            <a:r>
              <a:rPr sz="1650" b="1">
                <a:solidFill>
                  <a:srgbClr val="173B4B"/>
                </a:solidFill>
                <a:latin typeface="Yu Gothic"/>
                <a:ea typeface="Yu Gothic"/>
                <a:cs typeface="Yu Gothic"/>
              </a:rPr>
              <a:t>μᵖᵒˢᵗₖ,ᵣ )</a:t>
            </a:r>
          </a:p>
        </p:txBody>
      </p:sp>
      <p:sp>
        <p:nvSpPr>
          <p:cNvPr id="36" name="">
            <a:extLst xmlns:a="http://schemas.openxmlformats.org/drawingml/2006/main">
              <a:ext uri="{FF2B5EF4-FFF2-40B4-BE49-F238E27FC236}">
                <a16:creationId xmlns:a16="http://schemas.microsoft.com/office/drawing/2014/main" id="{F5404DD1-72E6-4EF3-960D-4CFBBFB1C4D2}"/>
              </a:ext>
            </a:extLst>
          </p:cNvPr>
          <p:cNvSpPr>
            <a:spLocks xmlns:a="http://schemas.openxmlformats.org/drawingml/2006/main" noGrp="1"/>
          </p:cNvSpPr>
          <p:nvPr/>
        </p:nvSpPr>
        <p:spPr>
          <a:xfrm xmlns:a="http://schemas.openxmlformats.org/drawingml/2006/main">
            <a:off x="9201150" y="5286375"/>
            <a:ext cx="2266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125" b="0">
                <a:solidFill>
                  <a:srgbClr val="617078"/>
                </a:solidFill>
                <a:latin typeface="Yu Gothic"/>
                <a:ea typeface="Yu Gothic"/>
                <a:cs typeface="Yu Gothic"/>
              </a:defRPr>
            </a:pPr>
            <a:r>
              <a:rPr sz="1125" b="0">
                <a:solidFill>
                  <a:srgbClr val="617078"/>
                </a:solidFill>
                <a:latin typeface="Yu Gothic"/>
                <a:ea typeface="Yu Gothic"/>
                <a:cs typeface="Yu Gothic"/>
              </a:rPr>
              <a:t>x̃ₖ,ᵣ：選ばれた変換後動画</a:t>
            </a:r>
          </a:p>
        </p:txBody>
      </p:sp>
      <p:sp>
        <p:nvSpPr>
          <p:cNvPr id="37" name="">
            <a:extLst xmlns:a="http://schemas.openxmlformats.org/drawingml/2006/main">
              <a:ext uri="{FF2B5EF4-FFF2-40B4-BE49-F238E27FC236}">
                <a16:creationId xmlns:a16="http://schemas.microsoft.com/office/drawing/2014/main" id="{B4903C1F-6B56-4D4B-A310-BC1C5F2F31C1}"/>
              </a:ext>
            </a:extLst>
          </p:cNvPr>
          <p:cNvSpPr>
            <a:spLocks xmlns:a="http://schemas.openxmlformats.org/drawingml/2006/main" noGrp="1"/>
          </p:cNvSpPr>
          <p:nvPr/>
        </p:nvSpPr>
        <p:spPr>
          <a:xfrm xmlns:a="http://schemas.openxmlformats.org/drawingml/2006/main">
            <a:off x="1047750" y="5715000"/>
            <a:ext cx="10096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575" b="1">
                <a:solidFill>
                  <a:srgbClr val="26373D"/>
                </a:solidFill>
                <a:latin typeface="Yu Gothic"/>
                <a:ea typeface="Yu Gothic"/>
                <a:cs typeface="Yu Gothic"/>
              </a:defRPr>
            </a:pPr>
            <a:r>
              <a:rPr sz="1575" b="1">
                <a:solidFill>
                  <a:srgbClr val="26373D"/>
                </a:solidFill>
                <a:latin typeface="Yu Gothic"/>
                <a:ea typeface="Yu Gothic"/>
                <a:cs typeface="Yu Gothic"/>
              </a:rPr>
              <a:t>変化量は候補選択に使い、πₖ,ᵣは学習時の重みに使う。教師値は学習後の判定 0.724</a:t>
            </a:r>
          </a:p>
        </p:txBody>
      </p:sp>
      <p:sp>
        <p:nvSpPr>
          <p:cNvPr id="38" name="">
            <a:extLst xmlns:a="http://schemas.openxmlformats.org/drawingml/2006/main">
              <a:ext uri="{FF2B5EF4-FFF2-40B4-BE49-F238E27FC236}">
                <a16:creationId xmlns:a16="http://schemas.microsoft.com/office/drawing/2014/main" id="{E8A29619-1FFB-40CB-8215-B6E38E763186}"/>
              </a:ext>
            </a:extLst>
          </p:cNvPr>
          <p:cNvSpPr>
            <a:spLocks xmlns:a="http://schemas.openxmlformats.org/drawingml/2006/main" noGrp="1"/>
          </p:cNvSpPr>
          <p:nvPr/>
        </p:nvSpPr>
        <p:spPr>
          <a:xfrm xmlns:a="http://schemas.openxmlformats.org/drawingml/2006/main">
            <a:off x="381000" y="342900"/>
            <a:ext cx="66675" cy="514350"/>
          </a:xfrm>
          <a:prstGeom xmlns:a="http://schemas.openxmlformats.org/drawingml/2006/main" prst="rect">
            <a:avLst/>
          </a:prstGeom>
          <a:solidFill xmlns:a="http://schemas.openxmlformats.org/drawingml/2006/main">
            <a:srgbClr val="147B78"/>
          </a:solidFill>
          <a:ln xmlns:a="http://schemas.openxmlformats.org/drawingml/2006/main" w="0">
            <a:noFill/>
          </a:ln>
        </p:spPr>
      </p:sp>
    </p:spTree>
    <p:extLst>
      <p:ext uri="{BB962C8B-B14F-4D97-AF65-F5344CB8AC3E}">
        <p14:creationId xmlns:p14="http://schemas.microsoft.com/office/powerpoint/2010/main" val="1853760742"/>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6555D76F-2FC7-4D11-B763-4850F6C493DB}"/>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5E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4F2F07C-8086-4113-AAD5-4CA9A85E6370}"/>
              </a:ext>
            </a:extLst>
          </p:cNvPr>
          <p:cNvSpPr>
            <a:spLocks xmlns:a="http://schemas.openxmlformats.org/drawingml/2006/main" noGrp="1"/>
          </p:cNvSpPr>
          <p:nvPr/>
        </p:nvSpPr>
        <p:spPr>
          <a:xfrm xmlns:a="http://schemas.openxmlformats.org/drawingml/2006/main">
            <a:off x="381000" y="342900"/>
            <a:ext cx="66675" cy="514350"/>
          </a:xfrm>
          <a:prstGeom xmlns:a="http://schemas.openxmlformats.org/drawingml/2006/main" prst="rect">
            <a:avLst/>
          </a:prstGeom>
          <a:solidFill xmlns:a="http://schemas.openxmlformats.org/drawingml/2006/main">
            <a:srgbClr val="147B78"/>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FCC518C0-917C-4087-A003-3933799E22D0}"/>
              </a:ext>
            </a:extLst>
          </p:cNvPr>
          <p:cNvSpPr>
            <a:spLocks xmlns:a="http://schemas.openxmlformats.org/drawingml/2006/main" noGrp="1"/>
          </p:cNvSpPr>
          <p:nvPr/>
        </p:nvSpPr>
        <p:spPr>
          <a:xfrm xmlns:a="http://schemas.openxmlformats.org/drawingml/2006/main">
            <a:off x="590550" y="323850"/>
            <a:ext cx="10572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2850" b="1">
                <a:solidFill>
                  <a:srgbClr val="173B4B"/>
                </a:solidFill>
                <a:latin typeface="Yu Gothic"/>
                <a:ea typeface="Yu Gothic"/>
                <a:cs typeface="Yu Gothic"/>
              </a:defRPr>
            </a:pPr>
            <a:r>
              <a:rPr sz="2850" b="1">
                <a:solidFill>
                  <a:srgbClr val="173B4B"/>
                </a:solidFill>
                <a:latin typeface="Yu Gothic"/>
                <a:ea typeface="Yu Gothic"/>
                <a:cs typeface="Yu Gothic"/>
              </a:rPr>
              <a:t>今回の実験設定</a:t>
            </a:r>
          </a:p>
        </p:txBody>
      </p:sp>
      <p:sp>
        <p:nvSpPr>
          <p:cNvPr id="4" name="">
            <a:extLst xmlns:a="http://schemas.openxmlformats.org/drawingml/2006/main">
              <a:ext uri="{FF2B5EF4-FFF2-40B4-BE49-F238E27FC236}">
                <a16:creationId xmlns:a16="http://schemas.microsoft.com/office/drawing/2014/main" id="{63BF51E8-1463-494C-B5C5-9A08C33C6531}"/>
              </a:ext>
            </a:extLst>
          </p:cNvPr>
          <p:cNvSpPr>
            <a:spLocks xmlns:a="http://schemas.openxmlformats.org/drawingml/2006/main" noGrp="1"/>
          </p:cNvSpPr>
          <p:nvPr/>
        </p:nvSpPr>
        <p:spPr>
          <a:xfrm xmlns:a="http://schemas.openxmlformats.org/drawingml/2006/main">
            <a:off x="11306175" y="428625"/>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200" b="1">
                <a:solidFill>
                  <a:srgbClr val="147B78"/>
                </a:solidFill>
                <a:latin typeface="Yu Gothic"/>
                <a:ea typeface="Yu Gothic"/>
                <a:cs typeface="Yu Gothic"/>
              </a:defRPr>
            </a:pPr>
            <a:r>
              <a:rPr sz="1200" b="1">
                <a:solidFill>
                  <a:srgbClr val="147B78"/>
                </a:solidFill>
                <a:latin typeface="Yu Gothic"/>
                <a:ea typeface="Yu Gothic"/>
                <a:cs typeface="Yu Gothic"/>
              </a:rPr>
              <a:t>05</a:t>
            </a:r>
          </a:p>
        </p:txBody>
      </p:sp>
      <p:sp>
        <p:nvSpPr>
          <p:cNvPr id="5" name="">
            <a:extLst xmlns:a="http://schemas.openxmlformats.org/drawingml/2006/main">
              <a:ext uri="{FF2B5EF4-FFF2-40B4-BE49-F238E27FC236}">
                <a16:creationId xmlns:a16="http://schemas.microsoft.com/office/drawing/2014/main" id="{51F2472D-E3B8-4937-A5CC-B1F31837D043}"/>
              </a:ext>
            </a:extLst>
          </p:cNvPr>
          <p:cNvSpPr>
            <a:spLocks xmlns:a="http://schemas.openxmlformats.org/drawingml/2006/main" noGrp="1"/>
          </p:cNvSpPr>
          <p:nvPr/>
        </p:nvSpPr>
        <p:spPr>
          <a:xfrm xmlns:a="http://schemas.openxmlformats.org/drawingml/2006/main">
            <a:off x="457200" y="6477000"/>
            <a:ext cx="11277600" cy="14288"/>
          </a:xfrm>
          <a:prstGeom xmlns:a="http://schemas.openxmlformats.org/drawingml/2006/main" prst="rect">
            <a:avLst/>
          </a:prstGeom>
          <a:solidFill xmlns:a="http://schemas.openxmlformats.org/drawingml/2006/main">
            <a:srgbClr val="C9D2D3"/>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B723FBD6-F522-46A6-B737-30778FD4765D}"/>
              </a:ext>
            </a:extLst>
          </p:cNvPr>
          <p:cNvSpPr>
            <a:spLocks xmlns:a="http://schemas.openxmlformats.org/drawingml/2006/main" noGrp="1"/>
          </p:cNvSpPr>
          <p:nvPr/>
        </p:nvSpPr>
        <p:spPr>
          <a:xfrm xmlns:a="http://schemas.openxmlformats.org/drawingml/2006/main">
            <a:off x="495300" y="6543675"/>
            <a:ext cx="7239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0">
                <a:solidFill>
                  <a:srgbClr val="617078"/>
                </a:solidFill>
                <a:latin typeface="Yu Gothic"/>
                <a:ea typeface="Yu Gothic"/>
                <a:cs typeface="Yu Gothic"/>
              </a:defRPr>
            </a:pPr>
            <a:r>
              <a:rPr sz="900" b="0">
                <a:solidFill>
                  <a:srgbClr val="617078"/>
                </a:solidFill>
                <a:latin typeface="Yu Gothic"/>
                <a:ea typeface="Yu Gothic"/>
                <a:cs typeface="Yu Gothic"/>
              </a:rPr>
              <a:t>FedPACT / NEXAR　研究会　2026.09.18</a:t>
            </a:r>
          </a:p>
        </p:txBody>
      </p:sp>
      <p:sp>
        <p:nvSpPr>
          <p:cNvPr id="7" name="">
            <a:extLst xmlns:a="http://schemas.openxmlformats.org/drawingml/2006/main">
              <a:ext uri="{FF2B5EF4-FFF2-40B4-BE49-F238E27FC236}">
                <a16:creationId xmlns:a16="http://schemas.microsoft.com/office/drawing/2014/main" id="{E31CF7AB-D2FF-47FA-8760-0C5797A3979E}"/>
              </a:ext>
            </a:extLst>
          </p:cNvPr>
          <p:cNvSpPr>
            <a:spLocks xmlns:a="http://schemas.openxmlformats.org/drawingml/2006/main" noGrp="1"/>
          </p:cNvSpPr>
          <p:nvPr/>
        </p:nvSpPr>
        <p:spPr>
          <a:xfrm xmlns:a="http://schemas.openxmlformats.org/drawingml/2006/main">
            <a:off x="10477500" y="6543675"/>
            <a:ext cx="12001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0">
                <a:solidFill>
                  <a:srgbClr val="617078"/>
                </a:solidFill>
                <a:latin typeface="Yu Gothic"/>
                <a:ea typeface="Yu Gothic"/>
                <a:cs typeface="Yu Gothic"/>
              </a:defRPr>
            </a:pPr>
            <a:r>
              <a:rPr sz="900" b="0">
                <a:solidFill>
                  <a:srgbClr val="617078"/>
                </a:solidFill>
                <a:latin typeface="Yu Gothic"/>
                <a:ea typeface="Yu Gothic"/>
                <a:cs typeface="Yu Gothic"/>
              </a:rPr>
              <a:t>5 / 9</a:t>
            </a:r>
          </a:p>
        </p:txBody>
      </p:sp>
      <p:sp>
        <p:nvSpPr>
          <p:cNvPr id="8" name="">
            <a:extLst xmlns:a="http://schemas.openxmlformats.org/drawingml/2006/main">
              <a:ext uri="{FF2B5EF4-FFF2-40B4-BE49-F238E27FC236}">
                <a16:creationId xmlns:a16="http://schemas.microsoft.com/office/drawing/2014/main" id="{6E26B300-FD36-4EA5-AE82-0ECCA1B7F6BA}"/>
              </a:ext>
            </a:extLst>
          </p:cNvPr>
          <p:cNvSpPr>
            <a:spLocks xmlns:a="http://schemas.openxmlformats.org/drawingml/2006/main" noGrp="1"/>
          </p:cNvSpPr>
          <p:nvPr/>
        </p:nvSpPr>
        <p:spPr>
          <a:xfrm xmlns:a="http://schemas.openxmlformats.org/drawingml/2006/main">
            <a:off x="685800" y="1066800"/>
            <a:ext cx="180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1">
                <a:solidFill>
                  <a:srgbClr val="147B78"/>
                </a:solidFill>
                <a:latin typeface="Yu Gothic"/>
                <a:ea typeface="Yu Gothic"/>
                <a:cs typeface="Yu Gothic"/>
              </a:defRPr>
            </a:pPr>
            <a:r>
              <a:rPr sz="1575" b="1">
                <a:solidFill>
                  <a:srgbClr val="147B78"/>
                </a:solidFill>
                <a:latin typeface="Yu Gothic"/>
                <a:ea typeface="Yu Gothic"/>
                <a:cs typeface="Yu Gothic"/>
              </a:rPr>
              <a:t>第I段階の目的</a:t>
            </a:r>
          </a:p>
        </p:txBody>
      </p:sp>
      <p:sp>
        <p:nvSpPr>
          <p:cNvPr id="9" name="">
            <a:extLst xmlns:a="http://schemas.openxmlformats.org/drawingml/2006/main">
              <a:ext uri="{FF2B5EF4-FFF2-40B4-BE49-F238E27FC236}">
                <a16:creationId xmlns:a16="http://schemas.microsoft.com/office/drawing/2014/main" id="{4F9E2154-9592-4437-AC1F-9B367C1DF50E}"/>
              </a:ext>
            </a:extLst>
          </p:cNvPr>
          <p:cNvSpPr>
            <a:spLocks xmlns:a="http://schemas.openxmlformats.org/drawingml/2006/main" noGrp="1"/>
          </p:cNvSpPr>
          <p:nvPr/>
        </p:nvSpPr>
        <p:spPr>
          <a:xfrm xmlns:a="http://schemas.openxmlformats.org/drawingml/2006/main">
            <a:off x="2647950" y="1019175"/>
            <a:ext cx="8667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875" b="1">
                <a:solidFill>
                  <a:srgbClr val="173B4B"/>
                </a:solidFill>
                <a:latin typeface="Yu Gothic"/>
                <a:ea typeface="Yu Gothic"/>
                <a:cs typeface="Yu Gothic"/>
              </a:defRPr>
            </a:pPr>
            <a:r>
              <a:rPr sz="1875" b="1">
                <a:solidFill>
                  <a:srgbClr val="173B4B"/>
                </a:solidFill>
                <a:latin typeface="Yu Gothic"/>
                <a:ea typeface="Yu Gothic"/>
                <a:cs typeface="Yu Gothic"/>
              </a:rPr>
              <a:t>3層の実行・接続と、次のラウンドへの状態継承を確認</a:t>
            </a:r>
          </a:p>
        </p:txBody>
      </p:sp>
      <p:graphicFrame>
        <p:nvGraphicFramePr>
          <p:cNvPr id="23" name=""/>
          <p:cNvGraphicFramePr/>
          <p:nvPr/>
        </p:nvGraphicFramePr>
        <p:xfrm>
          <a:off xmlns:a="http://schemas.openxmlformats.org/drawingml/2006/main" x="628650" y="1600200"/>
          <a:ext xmlns:a="http://schemas.openxmlformats.org/drawingml/2006/main" cx="10953750" cy="3562350"/>
        </p:xfrm>
        <a:graphic xmlns:a="http://schemas.openxmlformats.org/drawingml/2006/main">
          <a:graphicData uri="http://schemas.openxmlformats.org/drawingml/2006/table">
            <a:tbl>
              <a:tblPr/>
              <a:tblGrid>
                <a:gridCol w="1257300"/>
                <a:gridCol w="4305300"/>
                <a:gridCol w="1352550"/>
                <a:gridCol w="4038600"/>
              </a:tblGrid>
              <a:tr h="445294">
                <a:tc>
                  <a:txBody>
                    <a:bodyPr/>
                    <a:lstStyle/>
                    <a:p>
                      <a:r>
                        <a:rPr sz="1150" b="1">
                          <a:solidFill>
                            <a:srgbClr val="173B4B"/>
                          </a:solidFill>
                          <a:latin typeface="Yu Gothic"/>
                          <a:ea typeface="Yu Gothic"/>
                          <a:cs typeface="Yu Gothic"/>
                        </a:rPr>
                        <a:t>区分</a:t>
                      </a:r>
                    </a:p>
                  </a:txBody>
                  <a:tcPr marL="91440" marR="91440" marT="45720" marB="45720"/>
                </a:tc>
                <a:tc>
                  <a:txBody>
                    <a:bodyPr/>
                    <a:lstStyle/>
                    <a:p>
                      <a:r>
                        <a:rPr sz="1150" b="1">
                          <a:solidFill>
                            <a:srgbClr val="173B4B"/>
                          </a:solidFill>
                          <a:latin typeface="Yu Gothic"/>
                          <a:ea typeface="Yu Gothic"/>
                          <a:cs typeface="Yu Gothic"/>
                        </a:rPr>
                        <a:t>設定</a:t>
                      </a:r>
                    </a:p>
                  </a:txBody>
                  <a:tcPr marL="91440" marR="91440" marT="45720" marB="45720"/>
                </a:tc>
                <a:tc>
                  <a:txBody>
                    <a:bodyPr/>
                    <a:lstStyle/>
                    <a:p>
                      <a:r>
                        <a:rPr sz="1150" b="1">
                          <a:solidFill>
                            <a:srgbClr val="173B4B"/>
                          </a:solidFill>
                          <a:latin typeface="Yu Gothic"/>
                          <a:ea typeface="Yu Gothic"/>
                          <a:cs typeface="Yu Gothic"/>
                        </a:rPr>
                        <a:t>区分</a:t>
                      </a:r>
                    </a:p>
                  </a:txBody>
                  <a:tcPr marL="91440" marR="91440" marT="45720" marB="45720"/>
                </a:tc>
                <a:tc>
                  <a:txBody>
                    <a:bodyPr/>
                    <a:lstStyle/>
                    <a:p>
                      <a:r>
                        <a:rPr sz="1150" b="1">
                          <a:solidFill>
                            <a:srgbClr val="173B4B"/>
                          </a:solidFill>
                          <a:latin typeface="Yu Gothic"/>
                          <a:ea typeface="Yu Gothic"/>
                          <a:cs typeface="Yu Gothic"/>
                        </a:rPr>
                        <a:t>設定</a:t>
                      </a:r>
                    </a:p>
                  </a:txBody>
                  <a:tcPr marL="91440" marR="91440" marT="45720" marB="45720"/>
                </a:tc>
              </a:tr>
              <a:tr h="445294">
                <a:tc>
                  <a:txBody>
                    <a:bodyPr lIns="76200" tIns="38100" rIns="57150" bIns="38100">
                      <a:normAutofit/>
                    </a:bodyPr>
                    <a:lstStyle/>
                    <a:p>
                      <a:pPr algn="l"/>
                      <a:r>
                        <a:rPr sz="1200" b="1">
                          <a:solidFill>
                            <a:srgbClr val="147B78"/>
                          </a:solidFill>
                          <a:latin typeface="Yu Gothic"/>
                          <a:ea typeface="Yu Gothic"/>
                          <a:cs typeface="Yu Gothic"/>
                        </a:rPr>
                        <a:t>予測課題</a:t>
                      </a:r>
                    </a:p>
                  </a:txBody>
                  <a:tcPr marL="91440" marR="91440" marT="45720" marB="45720" anchor="ctr"/>
                </a:tc>
                <a:tc>
                  <a:txBody>
                    <a:bodyPr/>
                    <a:lstStyle/>
                    <a:p>
                      <a:r>
                        <a:rPr sz="1350" b="0">
                          <a:solidFill>
                            <a:srgbClr val="26373D"/>
                          </a:solidFill>
                          <a:latin typeface="Yu Gothic"/>
                          <a:ea typeface="Yu Gothic"/>
                          <a:cs typeface="Yu Gothic"/>
                        </a:rPr>
                        <a:t>NEXAR動画の通常／危険の二値判定</a:t>
                      </a:r>
                    </a:p>
                  </a:txBody>
                  <a:tcPr marL="91440" marR="91440" marT="45720" marB="45720"/>
                </a:tc>
                <a:tc>
                  <a:txBody>
                    <a:bodyPr lIns="76200" tIns="38100" rIns="57150" bIns="38100">
                      <a:normAutofit/>
                    </a:bodyPr>
                    <a:lstStyle/>
                    <a:p>
                      <a:pPr algn="l"/>
                      <a:r>
                        <a:rPr sz="1200" b="1">
                          <a:solidFill>
                            <a:srgbClr val="147B78"/>
                          </a:solidFill>
                          <a:latin typeface="Yu Gothic"/>
                          <a:ea typeface="Yu Gothic"/>
                          <a:cs typeface="Yu Gothic"/>
                        </a:rPr>
                        <a:t>ラウンド</a:t>
                      </a:r>
                    </a:p>
                  </a:txBody>
                  <a:tcPr marL="91440" marR="91440" marT="45720" marB="45720" anchor="ctr"/>
                </a:tc>
                <a:tc>
                  <a:txBody>
                    <a:bodyPr/>
                    <a:lstStyle/>
                    <a:p>
                      <a:r>
                        <a:rPr sz="1350" b="0">
                          <a:solidFill>
                            <a:srgbClr val="26373D"/>
                          </a:solidFill>
                          <a:latin typeface="Yu Gothic"/>
                          <a:ea typeface="Yu Gothic"/>
                          <a:cs typeface="Yu Gothic"/>
                        </a:rPr>
                        <a:t>3回</a:t>
                      </a:r>
                    </a:p>
                  </a:txBody>
                  <a:tcPr marL="91440" marR="91440" marT="45720" marB="45720"/>
                </a:tc>
              </a:tr>
              <a:tr h="445294">
                <a:tc>
                  <a:txBody>
                    <a:bodyPr lIns="76200" tIns="38100" rIns="57150" bIns="38100">
                      <a:normAutofit/>
                    </a:bodyPr>
                    <a:lstStyle/>
                    <a:p>
                      <a:pPr algn="l"/>
                      <a:r>
                        <a:rPr sz="1200" b="1">
                          <a:solidFill>
                            <a:srgbClr val="147B78"/>
                          </a:solidFill>
                          <a:latin typeface="Yu Gothic"/>
                          <a:ea typeface="Yu Gothic"/>
                          <a:cs typeface="Yu Gothic"/>
                        </a:rPr>
                        <a:t>現場側</a:t>
                      </a:r>
                    </a:p>
                  </a:txBody>
                  <a:tcPr marL="91440" marR="91440" marT="45720" marB="45720" anchor="ctr"/>
                </a:tc>
                <a:tc>
                  <a:txBody>
                    <a:bodyPr/>
                    <a:lstStyle/>
                    <a:p>
                      <a:r>
                        <a:rPr sz="1350" b="0">
                          <a:solidFill>
                            <a:srgbClr val="26373D"/>
                          </a:solidFill>
                          <a:latin typeface="Yu Gothic"/>
                          <a:ea typeface="Yu Gothic"/>
                          <a:cs typeface="Yu Gothic"/>
                        </a:rPr>
                        <a:t>2台、各6本（通常3・危険3）</a:t>
                      </a:r>
                    </a:p>
                  </a:txBody>
                  <a:tcPr marL="91440" marR="91440" marT="45720" marB="45720"/>
                </a:tc>
                <a:tc>
                  <a:txBody>
                    <a:bodyPr lIns="76200" tIns="38100" rIns="57150" bIns="38100">
                      <a:normAutofit/>
                    </a:bodyPr>
                    <a:lstStyle/>
                    <a:p>
                      <a:pPr algn="l"/>
                      <a:r>
                        <a:rPr sz="1200" b="1">
                          <a:solidFill>
                            <a:srgbClr val="147B78"/>
                          </a:solidFill>
                          <a:latin typeface="Yu Gothic"/>
                          <a:ea typeface="Yu Gothic"/>
                          <a:cs typeface="Yu Gothic"/>
                        </a:rPr>
                        <a:t>中央側候補</a:t>
                      </a:r>
                    </a:p>
                  </a:txBody>
                  <a:tcPr marL="91440" marR="91440" marT="45720" marB="45720" anchor="ctr"/>
                </a:tc>
                <a:tc>
                  <a:txBody>
                    <a:bodyPr/>
                    <a:lstStyle/>
                    <a:p>
                      <a:r>
                        <a:rPr sz="1350" b="0">
                          <a:solidFill>
                            <a:srgbClr val="26373D"/>
                          </a:solidFill>
                          <a:latin typeface="Yu Gothic"/>
                          <a:ea typeface="Yu Gothic"/>
                          <a:cs typeface="Yu Gothic"/>
                        </a:rPr>
                        <a:t>60本（通常30・危険30）</a:t>
                      </a:r>
                    </a:p>
                  </a:txBody>
                  <a:tcPr marL="91440" marR="91440" marT="45720" marB="45720"/>
                </a:tc>
              </a:tr>
              <a:tr h="445294">
                <a:tc>
                  <a:txBody>
                    <a:bodyPr lIns="76200" tIns="38100" rIns="57150" bIns="38100">
                      <a:normAutofit/>
                    </a:bodyPr>
                    <a:lstStyle/>
                    <a:p>
                      <a:pPr algn="l"/>
                      <a:r>
                        <a:rPr sz="1200" b="1">
                          <a:solidFill>
                            <a:srgbClr val="147B78"/>
                          </a:solidFill>
                          <a:latin typeface="Yu Gothic"/>
                          <a:ea typeface="Yu Gothic"/>
                          <a:cs typeface="Yu Gothic"/>
                        </a:rPr>
                        <a:t>データ分割</a:t>
                      </a:r>
                    </a:p>
                  </a:txBody>
                  <a:tcPr marL="91440" marR="91440" marT="45720" marB="45720" anchor="ctr"/>
                </a:tc>
                <a:tc>
                  <a:txBody>
                    <a:bodyPr/>
                    <a:lstStyle/>
                    <a:p>
                      <a:r>
                        <a:rPr sz="1350" b="0">
                          <a:solidFill>
                            <a:srgbClr val="26373D"/>
                          </a:solidFill>
                          <a:latin typeface="Yu Gothic"/>
                          <a:ea typeface="Yu Gothic"/>
                          <a:cs typeface="Yu Gothic"/>
                        </a:rPr>
                        <a:t>現場側12本・中央側60本・確認用2本・最終評価用2本は動画単位で非重複</a:t>
                      </a:r>
                    </a:p>
                  </a:txBody>
                  <a:tcPr marL="91440" marR="91440" marT="45720" marB="45720"/>
                </a:tc>
                <a:tc>
                  <a:txBody>
                    <a:bodyPr lIns="76200" tIns="38100" rIns="57150" bIns="38100">
                      <a:normAutofit/>
                    </a:bodyPr>
                    <a:lstStyle/>
                    <a:p>
                      <a:pPr algn="l"/>
                      <a:r>
                        <a:rPr sz="1200" b="1">
                          <a:solidFill>
                            <a:srgbClr val="147B78"/>
                          </a:solidFill>
                          <a:latin typeface="Yu Gothic"/>
                          <a:ea typeface="Yu Gothic"/>
                          <a:cs typeface="Yu Gothic"/>
                        </a:rPr>
                        <a:t>反復条件</a:t>
                      </a:r>
                    </a:p>
                  </a:txBody>
                  <a:tcPr marL="91440" marR="91440" marT="45720" marB="45720" anchor="ctr"/>
                </a:tc>
                <a:tc>
                  <a:txBody>
                    <a:bodyPr/>
                    <a:lstStyle/>
                    <a:p>
                      <a:r>
                        <a:rPr sz="1350" b="0">
                          <a:solidFill>
                            <a:srgbClr val="26373D"/>
                          </a:solidFill>
                          <a:latin typeface="Yu Gothic"/>
                          <a:ea typeface="Yu Gothic"/>
                          <a:cs typeface="Yu Gothic"/>
                        </a:rPr>
                        <a:t>乱数の初期値42の1実行。3ラウンドで同じ現場動画を使用し、最適化状態は毎回初期化</a:t>
                      </a:r>
                    </a:p>
                  </a:txBody>
                  <a:tcPr marL="91440" marR="91440" marT="45720" marB="45720"/>
                </a:tc>
              </a:tr>
              <a:tr h="445294">
                <a:tc>
                  <a:txBody>
                    <a:bodyPr lIns="76200" tIns="38100" rIns="57150" bIns="38100">
                      <a:normAutofit/>
                    </a:bodyPr>
                    <a:lstStyle/>
                    <a:p>
                      <a:pPr algn="l"/>
                      <a:r>
                        <a:rPr sz="1200" b="1">
                          <a:solidFill>
                            <a:srgbClr val="147B78"/>
                          </a:solidFill>
                          <a:latin typeface="Yu Gothic"/>
                          <a:ea typeface="Yu Gothic"/>
                          <a:cs typeface="Yu Gothic"/>
                        </a:rPr>
                        <a:t>入力画像</a:t>
                      </a:r>
                    </a:p>
                  </a:txBody>
                  <a:tcPr marL="91440" marR="91440" marT="45720" marB="45720" anchor="ctr"/>
                </a:tc>
                <a:tc>
                  <a:txBody>
                    <a:bodyPr/>
                    <a:lstStyle/>
                    <a:p>
                      <a:r>
                        <a:rPr sz="1350" b="0">
                          <a:solidFill>
                            <a:srgbClr val="26373D"/>
                          </a:solidFill>
                          <a:latin typeface="Yu Gothic"/>
                          <a:ea typeface="Yu Gothic"/>
                          <a:cs typeface="Yu Gothic"/>
                        </a:rPr>
                        <a:t>1動画4枚。危険区間の4時刻と、対応する通常動画の同じ4時刻</a:t>
                      </a:r>
                    </a:p>
                  </a:txBody>
                  <a:tcPr marL="91440" marR="91440" marT="45720" marB="45720"/>
                </a:tc>
                <a:tc>
                  <a:txBody>
                    <a:bodyPr lIns="76200" tIns="38100" rIns="57150" bIns="38100">
                      <a:normAutofit/>
                    </a:bodyPr>
                    <a:lstStyle/>
                    <a:p>
                      <a:pPr algn="l"/>
                      <a:r>
                        <a:rPr sz="1200" b="1">
                          <a:solidFill>
                            <a:srgbClr val="147B78"/>
                          </a:solidFill>
                          <a:latin typeface="Yu Gothic"/>
                          <a:ea typeface="Yu Gothic"/>
                          <a:cs typeface="Yu Gothic"/>
                        </a:rPr>
                        <a:t>要約</a:t>
                      </a:r>
                    </a:p>
                  </a:txBody>
                  <a:tcPr marL="91440" marR="91440" marT="45720" marB="45720" anchor="ctr"/>
                </a:tc>
                <a:tc>
                  <a:txBody>
                    <a:bodyPr/>
                    <a:lstStyle/>
                    <a:p>
                      <a:r>
                        <a:rPr sz="1350" b="0">
                          <a:solidFill>
                            <a:srgbClr val="26373D"/>
                          </a:solidFill>
                          <a:latin typeface="Yu Gothic"/>
                          <a:ea typeface="Yu Gothic"/>
                          <a:cs typeface="Yu Gothic"/>
                        </a:rPr>
                        <a:t>softmax確率（T=1）を各台・各判定区分で平均し、4つのQₖ,ᵣ</a:t>
                      </a:r>
                    </a:p>
                  </a:txBody>
                  <a:tcPr marL="91440" marR="91440" marT="45720" marB="45720"/>
                </a:tc>
              </a:tr>
              <a:tr h="445294">
                <a:tc>
                  <a:txBody>
                    <a:bodyPr lIns="76200" tIns="38100" rIns="57150" bIns="38100">
                      <a:normAutofit/>
                    </a:bodyPr>
                    <a:lstStyle/>
                    <a:p>
                      <a:pPr algn="l"/>
                      <a:r>
                        <a:rPr sz="1200" b="1">
                          <a:solidFill>
                            <a:srgbClr val="147B78"/>
                          </a:solidFill>
                          <a:latin typeface="Yu Gothic"/>
                          <a:ea typeface="Yu Gothic"/>
                          <a:cs typeface="Yu Gothic"/>
                        </a:rPr>
                        <a:t>使用モデル</a:t>
                      </a:r>
                    </a:p>
                  </a:txBody>
                  <a:tcPr marL="91440" marR="91440" marT="45720" marB="45720" anchor="ctr"/>
                </a:tc>
                <a:tc>
                  <a:txBody>
                    <a:bodyPr/>
                    <a:lstStyle/>
                    <a:p>
                      <a:r>
                        <a:rPr sz="1350" b="0">
                          <a:solidFill>
                            <a:srgbClr val="26373D"/>
                          </a:solidFill>
                          <a:latin typeface="Yu Gothic"/>
                          <a:ea typeface="Yu Gothic"/>
                          <a:cs typeface="Yu Gothic"/>
                        </a:rPr>
                        <a:t>現場側・中央側とも Qwen2.5-VL-3B-Instruct</a:t>
                      </a:r>
                    </a:p>
                  </a:txBody>
                  <a:tcPr marL="91440" marR="91440" marT="45720" marB="45720"/>
                </a:tc>
                <a:tc>
                  <a:txBody>
                    <a:bodyPr lIns="76200" tIns="38100" rIns="57150" bIns="38100">
                      <a:normAutofit/>
                    </a:bodyPr>
                    <a:lstStyle/>
                    <a:p>
                      <a:pPr algn="l"/>
                      <a:r>
                        <a:rPr sz="1200" b="1">
                          <a:solidFill>
                            <a:srgbClr val="147B78"/>
                          </a:solidFill>
                          <a:latin typeface="Yu Gothic"/>
                          <a:ea typeface="Yu Gothic"/>
                          <a:cs typeface="Yu Gothic"/>
                        </a:rPr>
                        <a:t>更新対象</a:t>
                      </a:r>
                    </a:p>
                  </a:txBody>
                  <a:tcPr marL="91440" marR="91440" marT="45720" marB="45720" anchor="ctr"/>
                </a:tc>
                <a:tc>
                  <a:txBody>
                    <a:bodyPr/>
                    <a:lstStyle/>
                    <a:p>
                      <a:r>
                        <a:rPr sz="1350" b="0">
                          <a:solidFill>
                            <a:srgbClr val="26373D"/>
                          </a:solidFill>
                          <a:latin typeface="Yu Gothic"/>
                          <a:ea typeface="Yu Gothic"/>
                          <a:cs typeface="Yu Gothic"/>
                        </a:rPr>
                        <a:t>現場側：軽量更新部分（LoRA）＋分類層
中央側：軽量更新部分（LoRA）のみ</a:t>
                      </a:r>
                    </a:p>
                  </a:txBody>
                  <a:tcPr marL="91440" marR="91440" marT="45720" marB="45720"/>
                </a:tc>
              </a:tr>
              <a:tr h="445294">
                <a:tc>
                  <a:txBody>
                    <a:bodyPr lIns="76200" tIns="38100" rIns="57150" bIns="38100">
                      <a:normAutofit/>
                    </a:bodyPr>
                    <a:lstStyle/>
                    <a:p>
                      <a:pPr algn="l"/>
                      <a:r>
                        <a:rPr sz="1200" b="1">
                          <a:solidFill>
                            <a:srgbClr val="147B78"/>
                          </a:solidFill>
                          <a:latin typeface="Yu Gothic"/>
                          <a:ea typeface="Yu Gothic"/>
                          <a:cs typeface="Yu Gothic"/>
                        </a:rPr>
                        <a:t>現場側学習</a:t>
                      </a:r>
                    </a:p>
                  </a:txBody>
                  <a:tcPr marL="91440" marR="91440" marT="45720" marB="45720" anchor="ctr"/>
                </a:tc>
                <a:tc>
                  <a:txBody>
                    <a:bodyPr/>
                    <a:lstStyle/>
                    <a:p>
                      <a:r>
                        <a:rPr sz="1350" b="0">
                          <a:solidFill>
                            <a:srgbClr val="26373D"/>
                          </a:solidFill>
                          <a:latin typeface="Yu Gothic"/>
                          <a:ea typeface="Yu Gothic"/>
                          <a:cs typeface="Yu Gothic"/>
                        </a:rPr>
                        <a:t>AdamW、学習率 1×10⁻⁴、1回に1動画、6回更新</a:t>
                      </a:r>
                    </a:p>
                  </a:txBody>
                  <a:tcPr marL="91440" marR="91440" marT="45720" marB="45720"/>
                </a:tc>
                <a:tc>
                  <a:txBody>
                    <a:bodyPr lIns="76200" tIns="38100" rIns="57150" bIns="38100">
                      <a:normAutofit/>
                    </a:bodyPr>
                    <a:lstStyle/>
                    <a:p>
                      <a:pPr algn="l"/>
                      <a:r>
                        <a:rPr sz="1200" b="1">
                          <a:solidFill>
                            <a:srgbClr val="147B78"/>
                          </a:solidFill>
                          <a:latin typeface="Yu Gothic"/>
                          <a:ea typeface="Yu Gothic"/>
                          <a:cs typeface="Yu Gothic"/>
                        </a:rPr>
                        <a:t>軽量更新</a:t>
                      </a:r>
                    </a:p>
                  </a:txBody>
                  <a:tcPr marL="91440" marR="91440" marT="45720" marB="45720" anchor="ctr"/>
                </a:tc>
                <a:tc>
                  <a:txBody>
                    <a:bodyPr/>
                    <a:lstStyle/>
                    <a:p>
                      <a:r>
                        <a:rPr sz="1350" b="0">
                          <a:solidFill>
                            <a:srgbClr val="26373D"/>
                          </a:solidFill>
                          <a:latin typeface="Yu Gothic"/>
                          <a:ea typeface="Yu Gothic"/>
                          <a:cs typeface="Yu Gothic"/>
                        </a:rPr>
                        <a:t>r=8、α=16、dropout=0</a:t>
                      </a:r>
                    </a:p>
                  </a:txBody>
                  <a:tcPr marL="91440" marR="91440" marT="45720" marB="45720"/>
                </a:tc>
              </a:tr>
              <a:tr h="445294">
                <a:tc>
                  <a:txBody>
                    <a:bodyPr lIns="76200" tIns="38100" rIns="57150" bIns="38100">
                      <a:normAutofit/>
                    </a:bodyPr>
                    <a:lstStyle/>
                    <a:p>
                      <a:pPr algn="l"/>
                      <a:r>
                        <a:rPr sz="1200" b="1">
                          <a:solidFill>
                            <a:srgbClr val="147B78"/>
                          </a:solidFill>
                          <a:latin typeface="Yu Gothic"/>
                          <a:ea typeface="Yu Gothic"/>
                          <a:cs typeface="Yu Gothic"/>
                        </a:rPr>
                        <a:t>連合平均</a:t>
                      </a:r>
                    </a:p>
                  </a:txBody>
                  <a:tcPr marL="91440" marR="91440" marT="45720" marB="45720" anchor="ctr"/>
                </a:tc>
                <a:tc>
                  <a:txBody>
                    <a:bodyPr/>
                    <a:lstStyle/>
                    <a:p>
                      <a:r>
                        <a:rPr sz="1350" b="0">
                          <a:solidFill>
                            <a:srgbClr val="26373D"/>
                          </a:solidFill>
                          <a:latin typeface="Yu Gothic"/>
                          <a:ea typeface="Yu Gothic"/>
                          <a:cs typeface="Yu Gothic"/>
                        </a:rPr>
                        <a:t>各台6本のため重みは0.5ずつ</a:t>
                      </a:r>
                    </a:p>
                  </a:txBody>
                  <a:tcPr marL="91440" marR="91440" marT="45720" marB="45720"/>
                </a:tc>
                <a:tc>
                  <a:txBody>
                    <a:bodyPr lIns="76200" tIns="38100" rIns="57150" bIns="38100">
                      <a:normAutofit/>
                    </a:bodyPr>
                    <a:lstStyle/>
                    <a:p>
                      <a:pPr algn="l"/>
                      <a:r>
                        <a:rPr sz="1200" b="1">
                          <a:solidFill>
                            <a:srgbClr val="147B78"/>
                          </a:solidFill>
                          <a:latin typeface="Yu Gothic"/>
                          <a:ea typeface="Yu Gothic"/>
                          <a:cs typeface="Yu Gothic"/>
                        </a:rPr>
                        <a:t>代理データ</a:t>
                      </a:r>
                    </a:p>
                  </a:txBody>
                  <a:tcPr marL="91440" marR="91440" marT="45720" marB="45720" anchor="ctr"/>
                </a:tc>
                <a:tc>
                  <a:txBody>
                    <a:bodyPr/>
                    <a:lstStyle/>
                    <a:p>
                      <a:r>
                        <a:rPr sz="1350" b="0">
                          <a:solidFill>
                            <a:srgbClr val="26373D"/>
                          </a:solidFill>
                          <a:latin typeface="Yu Gothic"/>
                          <a:ea typeface="Yu Gothic"/>
                          <a:cs typeface="Yu Gothic"/>
                        </a:rPr>
                        <a:t>正解ラベルで制限せず60本を検索し、上位3本×5変換から4つのPₖ,ᵣを選択</a:t>
                      </a:r>
                    </a:p>
                  </a:txBody>
                  <a:tcPr marL="91440" marR="91440" marT="45720" marB="45720"/>
                </a:tc>
              </a:tr>
            </a:tbl>
          </a:graphicData>
        </a:graphic>
      </p:graphicFrame>
      <p:sp>
        <p:nvSpPr>
          <p:cNvPr id="11" name="">
            <a:extLst xmlns:a="http://schemas.openxmlformats.org/drawingml/2006/main">
              <a:ext uri="{FF2B5EF4-FFF2-40B4-BE49-F238E27FC236}">
                <a16:creationId xmlns:a16="http://schemas.microsoft.com/office/drawing/2014/main" id="{DFA66B64-5A0C-444C-AFF4-BBFD20CD664B}"/>
              </a:ext>
            </a:extLst>
          </p:cNvPr>
          <p:cNvSpPr>
            <a:spLocks xmlns:a="http://schemas.openxmlformats.org/drawingml/2006/main" noGrp="1"/>
          </p:cNvSpPr>
          <p:nvPr/>
        </p:nvSpPr>
        <p:spPr>
          <a:xfrm xmlns:a="http://schemas.openxmlformats.org/drawingml/2006/main">
            <a:off x="685800" y="5743575"/>
            <a:ext cx="10820400" cy="476250"/>
          </a:xfrm>
          <a:prstGeom xmlns:a="http://schemas.openxmlformats.org/drawingml/2006/main" prst="rect">
            <a:avLst/>
          </a:prstGeom>
          <a:solidFill xmlns:a="http://schemas.openxmlformats.org/drawingml/2006/main">
            <a:srgbClr val="FAE9D8"/>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88FD948B-B108-4A07-B2CD-4AB5435B7449}"/>
              </a:ext>
            </a:extLst>
          </p:cNvPr>
          <p:cNvSpPr>
            <a:spLocks xmlns:a="http://schemas.openxmlformats.org/drawingml/2006/main" noGrp="1"/>
          </p:cNvSpPr>
          <p:nvPr/>
        </p:nvSpPr>
        <p:spPr>
          <a:xfrm xmlns:a="http://schemas.openxmlformats.org/drawingml/2006/main">
            <a:off x="914400" y="5829300"/>
            <a:ext cx="10363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575" b="1">
                <a:solidFill>
                  <a:srgbClr val="B94A3A"/>
                </a:solidFill>
                <a:latin typeface="Yu Gothic"/>
                <a:ea typeface="Yu Gothic"/>
                <a:cs typeface="Yu Gothic"/>
              </a:defRPr>
            </a:pPr>
            <a:r>
              <a:rPr sz="1575" b="1">
                <a:solidFill>
                  <a:srgbClr val="B94A3A"/>
                </a:solidFill>
                <a:latin typeface="Yu Gothic"/>
                <a:ea typeface="Yu Gothic"/>
                <a:cs typeface="Yu Gothic"/>
              </a:rPr>
              <a:t>今回の合格条件は実行・接続・状態継承。性能向上と異なる規模のAI間の転移は未確認</a:t>
            </a:r>
          </a:p>
        </p:txBody>
      </p:sp>
      <p:sp>
        <p:nvSpPr>
          <p:cNvPr id="13" name="">
            <a:extLst xmlns:a="http://schemas.openxmlformats.org/drawingml/2006/main">
              <a:ext uri="{FF2B5EF4-FFF2-40B4-BE49-F238E27FC236}">
                <a16:creationId xmlns:a16="http://schemas.microsoft.com/office/drawing/2014/main" id="{BA50283E-DBAC-46E3-84CF-74B6510EB4FC}"/>
              </a:ext>
            </a:extLst>
          </p:cNvPr>
          <p:cNvSpPr>
            <a:spLocks xmlns:a="http://schemas.openxmlformats.org/drawingml/2006/main" noGrp="1"/>
          </p:cNvSpPr>
          <p:nvPr/>
        </p:nvSpPr>
        <p:spPr>
          <a:xfrm xmlns:a="http://schemas.openxmlformats.org/drawingml/2006/main">
            <a:off x="381000" y="342900"/>
            <a:ext cx="66675" cy="514350"/>
          </a:xfrm>
          <a:prstGeom xmlns:a="http://schemas.openxmlformats.org/drawingml/2006/main" prst="rect">
            <a:avLst/>
          </a:prstGeom>
          <a:solidFill xmlns:a="http://schemas.openxmlformats.org/drawingml/2006/main">
            <a:srgbClr val="147B78"/>
          </a:solidFill>
          <a:ln xmlns:a="http://schemas.openxmlformats.org/drawingml/2006/main" w="0">
            <a:noFill/>
          </a:ln>
        </p:spPr>
      </p:sp>
    </p:spTree>
    <p:extLst>
      <p:ext uri="{BB962C8B-B14F-4D97-AF65-F5344CB8AC3E}">
        <p14:creationId xmlns:p14="http://schemas.microsoft.com/office/powerpoint/2010/main" val="1485328419"/>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9F7CF272-AD83-4ABB-87C9-C8A3B2DD54BF}"/>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5E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F050180-777B-4C17-A053-AC46FB75F1DB}"/>
              </a:ext>
            </a:extLst>
          </p:cNvPr>
          <p:cNvSpPr>
            <a:spLocks xmlns:a="http://schemas.openxmlformats.org/drawingml/2006/main" noGrp="1"/>
          </p:cNvSpPr>
          <p:nvPr/>
        </p:nvSpPr>
        <p:spPr>
          <a:xfrm xmlns:a="http://schemas.openxmlformats.org/drawingml/2006/main">
            <a:off x="381000" y="342900"/>
            <a:ext cx="66675" cy="514350"/>
          </a:xfrm>
          <a:prstGeom xmlns:a="http://schemas.openxmlformats.org/drawingml/2006/main" prst="rect">
            <a:avLst/>
          </a:prstGeom>
          <a:solidFill xmlns:a="http://schemas.openxmlformats.org/drawingml/2006/main">
            <a:srgbClr val="147B78"/>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F73625EC-64F5-457E-AFCB-22DF6BECCEAB}"/>
              </a:ext>
            </a:extLst>
          </p:cNvPr>
          <p:cNvSpPr>
            <a:spLocks xmlns:a="http://schemas.openxmlformats.org/drawingml/2006/main" noGrp="1"/>
          </p:cNvSpPr>
          <p:nvPr/>
        </p:nvSpPr>
        <p:spPr>
          <a:xfrm xmlns:a="http://schemas.openxmlformats.org/drawingml/2006/main">
            <a:off x="590550" y="323850"/>
            <a:ext cx="10572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2850" b="1">
                <a:solidFill>
                  <a:srgbClr val="173B4B"/>
                </a:solidFill>
                <a:latin typeface="Yu Gothic"/>
                <a:ea typeface="Yu Gothic"/>
                <a:cs typeface="Yu Gothic"/>
              </a:defRPr>
            </a:pPr>
            <a:r>
              <a:rPr sz="2850" b="1">
                <a:solidFill>
                  <a:srgbClr val="173B4B"/>
                </a:solidFill>
                <a:latin typeface="Yu Gothic"/>
                <a:ea typeface="Yu Gothic"/>
                <a:cs typeface="Yu Gothic"/>
              </a:rPr>
              <a:t>FedPACT全体フローと今回の実験位置</a:t>
            </a:r>
          </a:p>
        </p:txBody>
      </p:sp>
      <p:sp>
        <p:nvSpPr>
          <p:cNvPr id="4" name="">
            <a:extLst xmlns:a="http://schemas.openxmlformats.org/drawingml/2006/main">
              <a:ext uri="{FF2B5EF4-FFF2-40B4-BE49-F238E27FC236}">
                <a16:creationId xmlns:a16="http://schemas.microsoft.com/office/drawing/2014/main" id="{F044EDA3-C24F-4799-8921-52CB64726CEB}"/>
              </a:ext>
            </a:extLst>
          </p:cNvPr>
          <p:cNvSpPr>
            <a:spLocks xmlns:a="http://schemas.openxmlformats.org/drawingml/2006/main" noGrp="1"/>
          </p:cNvSpPr>
          <p:nvPr/>
        </p:nvSpPr>
        <p:spPr>
          <a:xfrm xmlns:a="http://schemas.openxmlformats.org/drawingml/2006/main">
            <a:off x="11306175" y="428625"/>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200" b="1">
                <a:solidFill>
                  <a:srgbClr val="147B78"/>
                </a:solidFill>
                <a:latin typeface="Yu Gothic"/>
                <a:ea typeface="Yu Gothic"/>
                <a:cs typeface="Yu Gothic"/>
              </a:defRPr>
            </a:pPr>
            <a:r>
              <a:rPr sz="1200" b="1">
                <a:solidFill>
                  <a:srgbClr val="147B78"/>
                </a:solidFill>
                <a:latin typeface="Yu Gothic"/>
                <a:ea typeface="Yu Gothic"/>
                <a:cs typeface="Yu Gothic"/>
              </a:rPr>
              <a:t>06</a:t>
            </a:r>
          </a:p>
        </p:txBody>
      </p:sp>
      <p:sp>
        <p:nvSpPr>
          <p:cNvPr id="5" name="">
            <a:extLst xmlns:a="http://schemas.openxmlformats.org/drawingml/2006/main">
              <a:ext uri="{FF2B5EF4-FFF2-40B4-BE49-F238E27FC236}">
                <a16:creationId xmlns:a16="http://schemas.microsoft.com/office/drawing/2014/main" id="{1CC20C14-FBE6-420F-BC64-0A0D7A2F8195}"/>
              </a:ext>
            </a:extLst>
          </p:cNvPr>
          <p:cNvSpPr>
            <a:spLocks xmlns:a="http://schemas.openxmlformats.org/drawingml/2006/main" noGrp="1"/>
          </p:cNvSpPr>
          <p:nvPr/>
        </p:nvSpPr>
        <p:spPr>
          <a:xfrm xmlns:a="http://schemas.openxmlformats.org/drawingml/2006/main">
            <a:off x="457200" y="6477000"/>
            <a:ext cx="11277600" cy="14288"/>
          </a:xfrm>
          <a:prstGeom xmlns:a="http://schemas.openxmlformats.org/drawingml/2006/main" prst="rect">
            <a:avLst/>
          </a:prstGeom>
          <a:solidFill xmlns:a="http://schemas.openxmlformats.org/drawingml/2006/main">
            <a:srgbClr val="C9D2D3"/>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514169D4-FB49-46E6-9062-F17A67217335}"/>
              </a:ext>
            </a:extLst>
          </p:cNvPr>
          <p:cNvSpPr>
            <a:spLocks xmlns:a="http://schemas.openxmlformats.org/drawingml/2006/main" noGrp="1"/>
          </p:cNvSpPr>
          <p:nvPr/>
        </p:nvSpPr>
        <p:spPr>
          <a:xfrm xmlns:a="http://schemas.openxmlformats.org/drawingml/2006/main">
            <a:off x="495300" y="6543675"/>
            <a:ext cx="7239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0">
                <a:solidFill>
                  <a:srgbClr val="617078"/>
                </a:solidFill>
                <a:latin typeface="Yu Gothic"/>
                <a:ea typeface="Yu Gothic"/>
                <a:cs typeface="Yu Gothic"/>
              </a:defRPr>
            </a:pPr>
            <a:r>
              <a:rPr sz="900" b="0">
                <a:solidFill>
                  <a:srgbClr val="617078"/>
                </a:solidFill>
                <a:latin typeface="Yu Gothic"/>
                <a:ea typeface="Yu Gothic"/>
                <a:cs typeface="Yu Gothic"/>
              </a:rPr>
              <a:t>FedPACT / NEXAR　研究会　2026.09.18</a:t>
            </a:r>
          </a:p>
        </p:txBody>
      </p:sp>
      <p:sp>
        <p:nvSpPr>
          <p:cNvPr id="7" name="">
            <a:extLst xmlns:a="http://schemas.openxmlformats.org/drawingml/2006/main">
              <a:ext uri="{FF2B5EF4-FFF2-40B4-BE49-F238E27FC236}">
                <a16:creationId xmlns:a16="http://schemas.microsoft.com/office/drawing/2014/main" id="{20D11BFB-82D9-434C-9CBE-616FA22E6572}"/>
              </a:ext>
            </a:extLst>
          </p:cNvPr>
          <p:cNvSpPr>
            <a:spLocks xmlns:a="http://schemas.openxmlformats.org/drawingml/2006/main" noGrp="1"/>
          </p:cNvSpPr>
          <p:nvPr/>
        </p:nvSpPr>
        <p:spPr>
          <a:xfrm xmlns:a="http://schemas.openxmlformats.org/drawingml/2006/main">
            <a:off x="10477500" y="6543675"/>
            <a:ext cx="12001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0">
                <a:solidFill>
                  <a:srgbClr val="617078"/>
                </a:solidFill>
                <a:latin typeface="Yu Gothic"/>
                <a:ea typeface="Yu Gothic"/>
                <a:cs typeface="Yu Gothic"/>
              </a:defRPr>
            </a:pPr>
            <a:r>
              <a:rPr sz="900" b="0">
                <a:solidFill>
                  <a:srgbClr val="617078"/>
                </a:solidFill>
                <a:latin typeface="Yu Gothic"/>
                <a:ea typeface="Yu Gothic"/>
                <a:cs typeface="Yu Gothic"/>
              </a:rPr>
              <a:t>6 / 9</a:t>
            </a:r>
          </a:p>
        </p:txBody>
      </p:sp>
      <p:sp>
        <p:nvSpPr>
          <p:cNvPr id="8" name="">
            <a:extLst xmlns:a="http://schemas.openxmlformats.org/drawingml/2006/main">
              <a:ext uri="{FF2B5EF4-FFF2-40B4-BE49-F238E27FC236}">
                <a16:creationId xmlns:a16="http://schemas.microsoft.com/office/drawing/2014/main" id="{B3873BE1-D838-4CC4-B976-17955140F1A5}"/>
              </a:ext>
            </a:extLst>
          </p:cNvPr>
          <p:cNvSpPr>
            <a:spLocks xmlns:a="http://schemas.openxmlformats.org/drawingml/2006/main" noGrp="1"/>
          </p:cNvSpPr>
          <p:nvPr/>
        </p:nvSpPr>
        <p:spPr>
          <a:xfrm xmlns:a="http://schemas.openxmlformats.org/drawingml/2006/main">
            <a:off x="704850" y="1143000"/>
            <a:ext cx="10782300" cy="4191000"/>
          </a:xfrm>
          <a:prstGeom xmlns:a="http://schemas.openxmlformats.org/drawingml/2006/main" prst="rect">
            <a:avLst/>
          </a:prstGeom>
          <a:solidFill xmlns:a="http://schemas.openxmlformats.org/drawingml/2006/main">
            <a:srgbClr val="ECEFEB"/>
          </a:solidFill>
          <a:ln xmlns:a="http://schemas.openxmlformats.org/drawingml/2006/main" w="19050">
            <a:solidFill>
              <a:srgbClr val="87979C"/>
            </a:solidFill>
          </a:ln>
        </p:spPr>
      </p:sp>
      <p:sp>
        <p:nvSpPr>
          <p:cNvPr id="9" name="">
            <a:extLst xmlns:a="http://schemas.openxmlformats.org/drawingml/2006/main">
              <a:ext uri="{FF2B5EF4-FFF2-40B4-BE49-F238E27FC236}">
                <a16:creationId xmlns:a16="http://schemas.microsoft.com/office/drawing/2014/main" id="{4A86CB88-8917-47DD-9721-153E5A7E4C12}"/>
              </a:ext>
            </a:extLst>
          </p:cNvPr>
          <p:cNvSpPr>
            <a:spLocks xmlns:a="http://schemas.openxmlformats.org/drawingml/2006/main" noGrp="1"/>
          </p:cNvSpPr>
          <p:nvPr/>
        </p:nvSpPr>
        <p:spPr>
          <a:xfrm xmlns:a="http://schemas.openxmlformats.org/drawingml/2006/main">
            <a:off x="2238375" y="2705100"/>
            <a:ext cx="7715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2325" b="1">
                <a:solidFill>
                  <a:srgbClr val="617078"/>
                </a:solidFill>
                <a:latin typeface="Yu Gothic"/>
                <a:ea typeface="Yu Gothic"/>
                <a:cs typeface="Yu Gothic"/>
              </a:defRPr>
            </a:pPr>
            <a:r>
              <a:rPr sz="2325" b="1">
                <a:solidFill>
                  <a:srgbClr val="617078"/>
                </a:solidFill>
                <a:latin typeface="Yu Gothic"/>
                <a:ea typeface="Yu Gothic"/>
                <a:cs typeface="Yu Gothic"/>
              </a:rPr>
              <a:t>ここに9月16日Slack共有版の</a:t>
            </a:r>
          </a:p>
          <a:p xmlns:a="http://schemas.openxmlformats.org/drawingml/2006/main">
            <a:pPr algn="ctr">
              <a:defRPr sz="2325" b="1">
                <a:solidFill>
                  <a:srgbClr val="617078"/>
                </a:solidFill>
                <a:latin typeface="Yu Gothic"/>
                <a:ea typeface="Yu Gothic"/>
                <a:cs typeface="Yu Gothic"/>
              </a:defRPr>
            </a:pPr>
            <a:r>
              <a:rPr sz="2325" b="1">
                <a:solidFill>
                  <a:srgbClr val="617078"/>
                </a:solidFill>
                <a:latin typeface="Yu Gothic"/>
                <a:ea typeface="Yu Gothic"/>
                <a:cs typeface="Yu Gothic"/>
              </a:rPr>
              <a:t>フローチャートを挿入</a:t>
            </a:r>
          </a:p>
        </p:txBody>
      </p:sp>
      <p:sp>
        <p:nvSpPr>
          <p:cNvPr id="10" name="">
            <a:extLst xmlns:a="http://schemas.openxmlformats.org/drawingml/2006/main">
              <a:ext uri="{FF2B5EF4-FFF2-40B4-BE49-F238E27FC236}">
                <a16:creationId xmlns:a16="http://schemas.microsoft.com/office/drawing/2014/main" id="{EC351C1E-92B9-468B-A55D-97EE3272C3E2}"/>
              </a:ext>
            </a:extLst>
          </p:cNvPr>
          <p:cNvSpPr>
            <a:spLocks xmlns:a="http://schemas.openxmlformats.org/drawingml/2006/main" noGrp="1"/>
          </p:cNvSpPr>
          <p:nvPr/>
        </p:nvSpPr>
        <p:spPr>
          <a:xfrm xmlns:a="http://schemas.openxmlformats.org/drawingml/2006/main">
            <a:off x="895350" y="1314450"/>
            <a:ext cx="190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147B78"/>
                </a:solidFill>
                <a:latin typeface="Yu Gothic"/>
                <a:ea typeface="Yu Gothic"/>
                <a:cs typeface="Yu Gothic"/>
              </a:defRPr>
            </a:pPr>
            <a:r>
              <a:rPr sz="1350" b="1">
                <a:solidFill>
                  <a:srgbClr val="147B78"/>
                </a:solidFill>
                <a:latin typeface="Yu Gothic"/>
                <a:ea typeface="Yu Gothic"/>
                <a:cs typeface="Yu Gothic"/>
              </a:rPr>
              <a:t>差し替え時の確認</a:t>
            </a:r>
          </a:p>
        </p:txBody>
      </p:sp>
      <p:sp>
        <p:nvSpPr>
          <p:cNvPr id="11" name="">
            <a:extLst xmlns:a="http://schemas.openxmlformats.org/drawingml/2006/main">
              <a:ext uri="{FF2B5EF4-FFF2-40B4-BE49-F238E27FC236}">
                <a16:creationId xmlns:a16="http://schemas.microsoft.com/office/drawing/2014/main" id="{6E70F3DE-2B70-4DF4-809A-3FC8E47E8930}"/>
              </a:ext>
            </a:extLst>
          </p:cNvPr>
          <p:cNvSpPr>
            <a:spLocks xmlns:a="http://schemas.openxmlformats.org/drawingml/2006/main" noGrp="1"/>
          </p:cNvSpPr>
          <p:nvPr/>
        </p:nvSpPr>
        <p:spPr>
          <a:xfrm xmlns:a="http://schemas.openxmlformats.org/drawingml/2006/main">
            <a:off x="2914650" y="1333500"/>
            <a:ext cx="809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275" b="0">
                <a:solidFill>
                  <a:srgbClr val="617078"/>
                </a:solidFill>
                <a:latin typeface="Yu Gothic"/>
                <a:ea typeface="Yu Gothic"/>
                <a:cs typeface="Yu Gothic"/>
              </a:defRPr>
            </a:pPr>
            <a:r>
              <a:rPr sz="1275" b="0">
                <a:solidFill>
                  <a:srgbClr val="617078"/>
                </a:solidFill>
                <a:latin typeface="Yu Gothic"/>
                <a:ea typeface="Yu Gothic"/>
                <a:cs typeface="Yu Gothic"/>
              </a:rPr>
              <a:t>小型AIの更新と Qₖ,ᵣ を別経路で表示　／　Layer 2を今回の中心として表示</a:t>
            </a:r>
          </a:p>
        </p:txBody>
      </p:sp>
      <p:sp>
        <p:nvSpPr>
          <p:cNvPr id="12" name="">
            <a:extLst xmlns:a="http://schemas.openxmlformats.org/drawingml/2006/main">
              <a:ext uri="{FF2B5EF4-FFF2-40B4-BE49-F238E27FC236}">
                <a16:creationId xmlns:a16="http://schemas.microsoft.com/office/drawing/2014/main" id="{BA22032C-2E8B-4F45-B995-D899B122473C}"/>
              </a:ext>
            </a:extLst>
          </p:cNvPr>
          <p:cNvSpPr>
            <a:spLocks xmlns:a="http://schemas.openxmlformats.org/drawingml/2006/main" noGrp="1"/>
          </p:cNvSpPr>
          <p:nvPr/>
        </p:nvSpPr>
        <p:spPr>
          <a:xfrm xmlns:a="http://schemas.openxmlformats.org/drawingml/2006/main">
            <a:off x="781050" y="5638800"/>
            <a:ext cx="1809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147B78"/>
                </a:solidFill>
                <a:latin typeface="Yu Gothic"/>
                <a:ea typeface="Yu Gothic"/>
                <a:cs typeface="Yu Gothic"/>
              </a:defRPr>
            </a:pPr>
            <a:r>
              <a:rPr sz="1500" b="1">
                <a:solidFill>
                  <a:srgbClr val="147B78"/>
                </a:solidFill>
                <a:latin typeface="Yu Gothic"/>
                <a:ea typeface="Yu Gothic"/>
                <a:cs typeface="Yu Gothic"/>
              </a:rPr>
              <a:t>今回の確認範囲</a:t>
            </a:r>
          </a:p>
        </p:txBody>
      </p:sp>
      <p:sp>
        <p:nvSpPr>
          <p:cNvPr id="13" name="">
            <a:extLst xmlns:a="http://schemas.openxmlformats.org/drawingml/2006/main">
              <a:ext uri="{FF2B5EF4-FFF2-40B4-BE49-F238E27FC236}">
                <a16:creationId xmlns:a16="http://schemas.microsoft.com/office/drawing/2014/main" id="{FA66E62E-8322-4754-924C-21CB92865FC4}"/>
              </a:ext>
            </a:extLst>
          </p:cNvPr>
          <p:cNvSpPr>
            <a:spLocks xmlns:a="http://schemas.openxmlformats.org/drawingml/2006/main" noGrp="1"/>
          </p:cNvSpPr>
          <p:nvPr/>
        </p:nvSpPr>
        <p:spPr>
          <a:xfrm xmlns:a="http://schemas.openxmlformats.org/drawingml/2006/main">
            <a:off x="2686050" y="5505450"/>
            <a:ext cx="18573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350" b="1">
                <a:solidFill>
                  <a:srgbClr val="173B4B"/>
                </a:solidFill>
                <a:latin typeface="Yu Gothic"/>
                <a:ea typeface="Yu Gothic"/>
                <a:cs typeface="Yu Gothic"/>
              </a:defRPr>
            </a:pPr>
            <a:r>
              <a:rPr sz="1350" b="1">
                <a:solidFill>
                  <a:srgbClr val="173B4B"/>
                </a:solidFill>
                <a:latin typeface="Yu Gothic"/>
                <a:ea typeface="Yu Gothic"/>
                <a:cs typeface="Yu Gothic"/>
              </a:rPr>
              <a:t>Layer 1</a:t>
            </a:r>
          </a:p>
          <a:p xmlns:a="http://schemas.openxmlformats.org/drawingml/2006/main">
            <a:pPr algn="ctr">
              <a:defRPr sz="1350" b="1">
                <a:solidFill>
                  <a:srgbClr val="173B4B"/>
                </a:solidFill>
                <a:latin typeface="Yu Gothic"/>
                <a:ea typeface="Yu Gothic"/>
                <a:cs typeface="Yu Gothic"/>
              </a:defRPr>
            </a:pPr>
            <a:r>
              <a:rPr sz="1350" b="1">
                <a:solidFill>
                  <a:srgbClr val="173B4B"/>
                </a:solidFill>
                <a:latin typeface="Yu Gothic"/>
                <a:ea typeface="Yu Gothic"/>
                <a:cs typeface="Yu Gothic"/>
              </a:rPr>
              <a:t>2台の小型AIを連合平均</a:t>
            </a:r>
          </a:p>
        </p:txBody>
      </p:sp>
      <p:sp>
        <p:nvSpPr>
          <p:cNvPr id="14" name="">
            <a:extLst xmlns:a="http://schemas.openxmlformats.org/drawingml/2006/main">
              <a:ext uri="{FF2B5EF4-FFF2-40B4-BE49-F238E27FC236}">
                <a16:creationId xmlns:a16="http://schemas.microsoft.com/office/drawing/2014/main" id="{F48DEE8B-FB15-4BA8-B8ED-9095D11CFD7B}"/>
              </a:ext>
            </a:extLst>
          </p:cNvPr>
          <p:cNvSpPr>
            <a:spLocks xmlns:a="http://schemas.openxmlformats.org/drawingml/2006/main" noGrp="1"/>
          </p:cNvSpPr>
          <p:nvPr/>
        </p:nvSpPr>
        <p:spPr>
          <a:xfrm xmlns:a="http://schemas.openxmlformats.org/drawingml/2006/main">
            <a:off x="4610100" y="5800725"/>
            <a:ext cx="238125" cy="19050"/>
          </a:xfrm>
          <a:prstGeom xmlns:a="http://schemas.openxmlformats.org/drawingml/2006/main" prst="rect">
            <a:avLst/>
          </a:prstGeom>
          <a:solidFill xmlns:a="http://schemas.openxmlformats.org/drawingml/2006/main">
            <a:srgbClr val="69C3BE"/>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942E8A33-B52F-4A80-B478-94D6AB0E1DFA}"/>
              </a:ext>
            </a:extLst>
          </p:cNvPr>
          <p:cNvSpPr>
            <a:spLocks xmlns:a="http://schemas.openxmlformats.org/drawingml/2006/main" noGrp="1"/>
          </p:cNvSpPr>
          <p:nvPr/>
        </p:nvSpPr>
        <p:spPr>
          <a:xfrm xmlns:a="http://schemas.openxmlformats.org/drawingml/2006/main">
            <a:off x="4924425" y="5505450"/>
            <a:ext cx="18573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350" b="1">
                <a:solidFill>
                  <a:srgbClr val="E7833D"/>
                </a:solidFill>
                <a:latin typeface="Yu Gothic"/>
                <a:ea typeface="Yu Gothic"/>
                <a:cs typeface="Yu Gothic"/>
              </a:defRPr>
            </a:pPr>
            <a:r>
              <a:rPr sz="1350" b="1">
                <a:solidFill>
                  <a:srgbClr val="E7833D"/>
                </a:solidFill>
                <a:latin typeface="Yu Gothic"/>
                <a:ea typeface="Yu Gothic"/>
                <a:cs typeface="Yu Gothic"/>
              </a:rPr>
              <a:t>Layer 2</a:t>
            </a:r>
          </a:p>
          <a:p xmlns:a="http://schemas.openxmlformats.org/drawingml/2006/main">
            <a:pPr algn="ctr">
              <a:defRPr sz="1350" b="1">
                <a:solidFill>
                  <a:srgbClr val="E7833D"/>
                </a:solidFill>
                <a:latin typeface="Yu Gothic"/>
                <a:ea typeface="Yu Gothic"/>
                <a:cs typeface="Yu Gothic"/>
              </a:defRPr>
            </a:pPr>
            <a:r>
              <a:rPr sz="1350" b="1">
                <a:solidFill>
                  <a:srgbClr val="E7833D"/>
                </a:solidFill>
                <a:latin typeface="Yu Gothic"/>
                <a:ea typeface="Yu Gothic"/>
                <a:cs typeface="Yu Gothic"/>
              </a:rPr>
              <a:t>代理データを生成</a:t>
            </a:r>
          </a:p>
        </p:txBody>
      </p:sp>
      <p:sp>
        <p:nvSpPr>
          <p:cNvPr id="16" name="">
            <a:extLst xmlns:a="http://schemas.openxmlformats.org/drawingml/2006/main">
              <a:ext uri="{FF2B5EF4-FFF2-40B4-BE49-F238E27FC236}">
                <a16:creationId xmlns:a16="http://schemas.microsoft.com/office/drawing/2014/main" id="{70F67A78-1DD9-4695-95E6-5F2B747DD128}"/>
              </a:ext>
            </a:extLst>
          </p:cNvPr>
          <p:cNvSpPr>
            <a:spLocks xmlns:a="http://schemas.openxmlformats.org/drawingml/2006/main" noGrp="1"/>
          </p:cNvSpPr>
          <p:nvPr/>
        </p:nvSpPr>
        <p:spPr>
          <a:xfrm xmlns:a="http://schemas.openxmlformats.org/drawingml/2006/main">
            <a:off x="6848475" y="5800725"/>
            <a:ext cx="238125" cy="19050"/>
          </a:xfrm>
          <a:prstGeom xmlns:a="http://schemas.openxmlformats.org/drawingml/2006/main" prst="rect">
            <a:avLst/>
          </a:prstGeom>
          <a:solidFill xmlns:a="http://schemas.openxmlformats.org/drawingml/2006/main">
            <a:srgbClr val="69C3BE"/>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1FE8B58E-D70A-4140-9A07-B2D4A541ACCE}"/>
              </a:ext>
            </a:extLst>
          </p:cNvPr>
          <p:cNvSpPr>
            <a:spLocks xmlns:a="http://schemas.openxmlformats.org/drawingml/2006/main" noGrp="1"/>
          </p:cNvSpPr>
          <p:nvPr/>
        </p:nvSpPr>
        <p:spPr>
          <a:xfrm xmlns:a="http://schemas.openxmlformats.org/drawingml/2006/main">
            <a:off x="7162800" y="5505450"/>
            <a:ext cx="18573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350" b="1">
                <a:solidFill>
                  <a:srgbClr val="173B4B"/>
                </a:solidFill>
                <a:latin typeface="Yu Gothic"/>
                <a:ea typeface="Yu Gothic"/>
                <a:cs typeface="Yu Gothic"/>
              </a:defRPr>
            </a:pPr>
            <a:r>
              <a:rPr sz="1350" b="1">
                <a:solidFill>
                  <a:srgbClr val="173B4B"/>
                </a:solidFill>
                <a:latin typeface="Yu Gothic"/>
                <a:ea typeface="Yu Gothic"/>
                <a:cs typeface="Yu Gothic"/>
              </a:rPr>
              <a:t>Layer 3</a:t>
            </a:r>
          </a:p>
          <a:p xmlns:a="http://schemas.openxmlformats.org/drawingml/2006/main">
            <a:pPr algn="ctr">
              <a:defRPr sz="1350" b="1">
                <a:solidFill>
                  <a:srgbClr val="173B4B"/>
                </a:solidFill>
                <a:latin typeface="Yu Gothic"/>
                <a:ea typeface="Yu Gothic"/>
                <a:cs typeface="Yu Gothic"/>
              </a:defRPr>
            </a:pPr>
            <a:r>
              <a:rPr sz="1350" b="1">
                <a:solidFill>
                  <a:srgbClr val="173B4B"/>
                </a:solidFill>
                <a:latin typeface="Yu Gothic"/>
                <a:ea typeface="Yu Gothic"/>
                <a:cs typeface="Yu Gothic"/>
              </a:rPr>
              <a:t>中央側AIを更新</a:t>
            </a:r>
          </a:p>
        </p:txBody>
      </p:sp>
      <p:sp>
        <p:nvSpPr>
          <p:cNvPr id="18" name="">
            <a:extLst xmlns:a="http://schemas.openxmlformats.org/drawingml/2006/main">
              <a:ext uri="{FF2B5EF4-FFF2-40B4-BE49-F238E27FC236}">
                <a16:creationId xmlns:a16="http://schemas.microsoft.com/office/drawing/2014/main" id="{1B25C19E-EC40-4DAF-8FEE-782D215991E1}"/>
              </a:ext>
            </a:extLst>
          </p:cNvPr>
          <p:cNvSpPr>
            <a:spLocks xmlns:a="http://schemas.openxmlformats.org/drawingml/2006/main" noGrp="1"/>
          </p:cNvSpPr>
          <p:nvPr/>
        </p:nvSpPr>
        <p:spPr>
          <a:xfrm xmlns:a="http://schemas.openxmlformats.org/drawingml/2006/main">
            <a:off x="9086850" y="5800725"/>
            <a:ext cx="238125" cy="19050"/>
          </a:xfrm>
          <a:prstGeom xmlns:a="http://schemas.openxmlformats.org/drawingml/2006/main" prst="rect">
            <a:avLst/>
          </a:prstGeom>
          <a:solidFill xmlns:a="http://schemas.openxmlformats.org/drawingml/2006/main">
            <a:srgbClr val="69C3BE"/>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B9BF3F55-D831-4F70-8CE8-4318633057BD}"/>
              </a:ext>
            </a:extLst>
          </p:cNvPr>
          <p:cNvSpPr>
            <a:spLocks xmlns:a="http://schemas.openxmlformats.org/drawingml/2006/main" noGrp="1"/>
          </p:cNvSpPr>
          <p:nvPr/>
        </p:nvSpPr>
        <p:spPr>
          <a:xfrm xmlns:a="http://schemas.openxmlformats.org/drawingml/2006/main">
            <a:off x="9401175" y="5505450"/>
            <a:ext cx="18573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350" b="1">
                <a:solidFill>
                  <a:srgbClr val="173B4B"/>
                </a:solidFill>
                <a:latin typeface="Yu Gothic"/>
                <a:ea typeface="Yu Gothic"/>
                <a:cs typeface="Yu Gothic"/>
              </a:defRPr>
            </a:pPr>
            <a:r>
              <a:rPr sz="1350" b="1">
                <a:solidFill>
                  <a:srgbClr val="173B4B"/>
                </a:solidFill>
                <a:latin typeface="Yu Gothic"/>
                <a:ea typeface="Yu Gothic"/>
                <a:cs typeface="Yu Gothic"/>
              </a:rPr>
              <a:t>次のラウンド</a:t>
            </a:r>
          </a:p>
          <a:p xmlns:a="http://schemas.openxmlformats.org/drawingml/2006/main">
            <a:pPr algn="ctr">
              <a:defRPr sz="1350" b="1">
                <a:solidFill>
                  <a:srgbClr val="173B4B"/>
                </a:solidFill>
                <a:latin typeface="Yu Gothic"/>
                <a:ea typeface="Yu Gothic"/>
                <a:cs typeface="Yu Gothic"/>
              </a:defRPr>
            </a:pPr>
            <a:r>
              <a:rPr sz="1350" b="1">
                <a:solidFill>
                  <a:srgbClr val="173B4B"/>
                </a:solidFill>
                <a:latin typeface="Yu Gothic"/>
                <a:ea typeface="Yu Gothic"/>
                <a:cs typeface="Yu Gothic"/>
              </a:rPr>
              <a:t>状態を引き継ぐ</a:t>
            </a:r>
          </a:p>
        </p:txBody>
      </p:sp>
      <p:sp>
        <p:nvSpPr>
          <p:cNvPr id="20" name="">
            <a:extLst xmlns:a="http://schemas.openxmlformats.org/drawingml/2006/main">
              <a:ext uri="{FF2B5EF4-FFF2-40B4-BE49-F238E27FC236}">
                <a16:creationId xmlns:a16="http://schemas.microsoft.com/office/drawing/2014/main" id="{ADB6BB95-82B7-4FA9-AEB4-098EA9CD28A4}"/>
              </a:ext>
            </a:extLst>
          </p:cNvPr>
          <p:cNvSpPr>
            <a:spLocks xmlns:a="http://schemas.openxmlformats.org/drawingml/2006/main" noGrp="1"/>
          </p:cNvSpPr>
          <p:nvPr/>
        </p:nvSpPr>
        <p:spPr>
          <a:xfrm xmlns:a="http://schemas.openxmlformats.org/drawingml/2006/main">
            <a:off x="952500" y="6153150"/>
            <a:ext cx="10287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350" b="1">
                <a:solidFill>
                  <a:srgbClr val="26373D"/>
                </a:solidFill>
                <a:latin typeface="Yu Gothic"/>
                <a:ea typeface="Yu Gothic"/>
                <a:cs typeface="Yu Gothic"/>
              </a:defRPr>
            </a:pPr>
            <a:r>
              <a:rPr sz="1350" b="1">
                <a:solidFill>
                  <a:srgbClr val="26373D"/>
                </a:solidFill>
                <a:latin typeface="Yu Gothic"/>
                <a:ea typeface="Yu Gothic"/>
                <a:cs typeface="Yu Gothic"/>
              </a:rPr>
              <a:t>合格条件：3層と次のラウンドが正しくつながり、入力・出力・状態をログから追えること</a:t>
            </a:r>
          </a:p>
        </p:txBody>
      </p:sp>
    </p:spTree>
    <p:extLst>
      <p:ext uri="{BB962C8B-B14F-4D97-AF65-F5344CB8AC3E}">
        <p14:creationId xmlns:p14="http://schemas.microsoft.com/office/powerpoint/2010/main" val="638408225"/>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704AFEC3-06B4-4CFF-A1E3-338BECAFE6F4}"/>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5E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F7A179D-B033-4EB8-BA35-006400A35168}"/>
              </a:ext>
            </a:extLst>
          </p:cNvPr>
          <p:cNvSpPr>
            <a:spLocks xmlns:a="http://schemas.openxmlformats.org/drawingml/2006/main" noGrp="1"/>
          </p:cNvSpPr>
          <p:nvPr/>
        </p:nvSpPr>
        <p:spPr>
          <a:xfrm xmlns:a="http://schemas.openxmlformats.org/drawingml/2006/main">
            <a:off x="381000" y="342900"/>
            <a:ext cx="66675" cy="514350"/>
          </a:xfrm>
          <a:prstGeom xmlns:a="http://schemas.openxmlformats.org/drawingml/2006/main" prst="rect">
            <a:avLst/>
          </a:prstGeom>
          <a:solidFill xmlns:a="http://schemas.openxmlformats.org/drawingml/2006/main">
            <a:srgbClr val="147B78"/>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9C7B5C14-13BA-4C7F-B883-DC964A1966CE}"/>
              </a:ext>
            </a:extLst>
          </p:cNvPr>
          <p:cNvSpPr>
            <a:spLocks xmlns:a="http://schemas.openxmlformats.org/drawingml/2006/main" noGrp="1"/>
          </p:cNvSpPr>
          <p:nvPr/>
        </p:nvSpPr>
        <p:spPr>
          <a:xfrm xmlns:a="http://schemas.openxmlformats.org/drawingml/2006/main">
            <a:off x="590550" y="323850"/>
            <a:ext cx="10572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2850" b="1">
                <a:solidFill>
                  <a:srgbClr val="173B4B"/>
                </a:solidFill>
                <a:latin typeface="Yu Gothic"/>
                <a:ea typeface="Yu Gothic"/>
                <a:cs typeface="Yu Gothic"/>
              </a:defRPr>
            </a:pPr>
            <a:r>
              <a:rPr sz="2850" b="1">
                <a:solidFill>
                  <a:srgbClr val="173B4B"/>
                </a:solidFill>
                <a:latin typeface="Yu Gothic"/>
                <a:ea typeface="Yu Gothic"/>
                <a:cs typeface="Yu Gothic"/>
              </a:rPr>
              <a:t>学習後の判定は一致したが、変化量には差が残った</a:t>
            </a:r>
          </a:p>
        </p:txBody>
      </p:sp>
      <p:sp>
        <p:nvSpPr>
          <p:cNvPr id="4" name="">
            <a:extLst xmlns:a="http://schemas.openxmlformats.org/drawingml/2006/main">
              <a:ext uri="{FF2B5EF4-FFF2-40B4-BE49-F238E27FC236}">
                <a16:creationId xmlns:a16="http://schemas.microsoft.com/office/drawing/2014/main" id="{073B3C7F-D9F7-49ED-B4D5-FD364D291CA2}"/>
              </a:ext>
            </a:extLst>
          </p:cNvPr>
          <p:cNvSpPr>
            <a:spLocks xmlns:a="http://schemas.openxmlformats.org/drawingml/2006/main" noGrp="1"/>
          </p:cNvSpPr>
          <p:nvPr/>
        </p:nvSpPr>
        <p:spPr>
          <a:xfrm xmlns:a="http://schemas.openxmlformats.org/drawingml/2006/main">
            <a:off x="11306175" y="428625"/>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200" b="1">
                <a:solidFill>
                  <a:srgbClr val="147B78"/>
                </a:solidFill>
                <a:latin typeface="Yu Gothic"/>
                <a:ea typeface="Yu Gothic"/>
                <a:cs typeface="Yu Gothic"/>
              </a:defRPr>
            </a:pPr>
            <a:r>
              <a:rPr sz="1200" b="1">
                <a:solidFill>
                  <a:srgbClr val="147B78"/>
                </a:solidFill>
                <a:latin typeface="Yu Gothic"/>
                <a:ea typeface="Yu Gothic"/>
                <a:cs typeface="Yu Gothic"/>
              </a:rPr>
              <a:t>07</a:t>
            </a:r>
          </a:p>
        </p:txBody>
      </p:sp>
      <p:sp>
        <p:nvSpPr>
          <p:cNvPr id="5" name="">
            <a:extLst xmlns:a="http://schemas.openxmlformats.org/drawingml/2006/main">
              <a:ext uri="{FF2B5EF4-FFF2-40B4-BE49-F238E27FC236}">
                <a16:creationId xmlns:a16="http://schemas.microsoft.com/office/drawing/2014/main" id="{C5B33F2D-D83D-4EFA-ACD6-79E44CFD36DE}"/>
              </a:ext>
            </a:extLst>
          </p:cNvPr>
          <p:cNvSpPr>
            <a:spLocks xmlns:a="http://schemas.openxmlformats.org/drawingml/2006/main" noGrp="1"/>
          </p:cNvSpPr>
          <p:nvPr/>
        </p:nvSpPr>
        <p:spPr>
          <a:xfrm xmlns:a="http://schemas.openxmlformats.org/drawingml/2006/main">
            <a:off x="457200" y="6477000"/>
            <a:ext cx="11277600" cy="14288"/>
          </a:xfrm>
          <a:prstGeom xmlns:a="http://schemas.openxmlformats.org/drawingml/2006/main" prst="rect">
            <a:avLst/>
          </a:prstGeom>
          <a:solidFill xmlns:a="http://schemas.openxmlformats.org/drawingml/2006/main">
            <a:srgbClr val="C9D2D3"/>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C8076BD0-D260-42EE-B4D4-0CE0D6F89CB7}"/>
              </a:ext>
            </a:extLst>
          </p:cNvPr>
          <p:cNvSpPr>
            <a:spLocks xmlns:a="http://schemas.openxmlformats.org/drawingml/2006/main" noGrp="1"/>
          </p:cNvSpPr>
          <p:nvPr/>
        </p:nvSpPr>
        <p:spPr>
          <a:xfrm xmlns:a="http://schemas.openxmlformats.org/drawingml/2006/main">
            <a:off x="495300" y="6543675"/>
            <a:ext cx="7239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0">
                <a:solidFill>
                  <a:srgbClr val="617078"/>
                </a:solidFill>
                <a:latin typeface="Yu Gothic"/>
                <a:ea typeface="Yu Gothic"/>
                <a:cs typeface="Yu Gothic"/>
              </a:defRPr>
            </a:pPr>
            <a:r>
              <a:rPr sz="900" b="0">
                <a:solidFill>
                  <a:srgbClr val="617078"/>
                </a:solidFill>
                <a:latin typeface="Yu Gothic"/>
                <a:ea typeface="Yu Gothic"/>
                <a:cs typeface="Yu Gothic"/>
              </a:rPr>
              <a:t>FedPACT / NEXAR　研究会　2026.09.18</a:t>
            </a:r>
          </a:p>
        </p:txBody>
      </p:sp>
      <p:sp>
        <p:nvSpPr>
          <p:cNvPr id="7" name="">
            <a:extLst xmlns:a="http://schemas.openxmlformats.org/drawingml/2006/main">
              <a:ext uri="{FF2B5EF4-FFF2-40B4-BE49-F238E27FC236}">
                <a16:creationId xmlns:a16="http://schemas.microsoft.com/office/drawing/2014/main" id="{01D5B3B8-DE74-412F-A6E2-D702636F97E5}"/>
              </a:ext>
            </a:extLst>
          </p:cNvPr>
          <p:cNvSpPr>
            <a:spLocks xmlns:a="http://schemas.openxmlformats.org/drawingml/2006/main" noGrp="1"/>
          </p:cNvSpPr>
          <p:nvPr/>
        </p:nvSpPr>
        <p:spPr>
          <a:xfrm xmlns:a="http://schemas.openxmlformats.org/drawingml/2006/main">
            <a:off x="10477500" y="6543675"/>
            <a:ext cx="12001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0">
                <a:solidFill>
                  <a:srgbClr val="617078"/>
                </a:solidFill>
                <a:latin typeface="Yu Gothic"/>
                <a:ea typeface="Yu Gothic"/>
                <a:cs typeface="Yu Gothic"/>
              </a:defRPr>
            </a:pPr>
            <a:r>
              <a:rPr sz="900" b="0">
                <a:solidFill>
                  <a:srgbClr val="617078"/>
                </a:solidFill>
                <a:latin typeface="Yu Gothic"/>
                <a:ea typeface="Yu Gothic"/>
                <a:cs typeface="Yu Gothic"/>
              </a:rPr>
              <a:t>7 / 9</a:t>
            </a:r>
          </a:p>
        </p:txBody>
      </p:sp>
      <p:pic>
        <p:nvPicPr>
          <p:cNvPr id="37" name=""/>
          <p:cNvPicPr>
            <a:picLocks xmlns:a="http://schemas.openxmlformats.org/drawingml/2006/main" noChangeAspect="1"/>
          </p:cNvPicPr>
          <p:nvPr/>
        </p:nvPicPr>
        <p:blipFill>
          <a:blip xmlns:r="http://schemas.openxmlformats.org/officeDocument/2006/relationships" xmlns:a="http://schemas.openxmlformats.org/drawingml/2006/main" r:embed="R815531a4aa354ac9"/>
          <a:srcRect xmlns:a="http://schemas.openxmlformats.org/drawingml/2006/main" l="41" t="0" r="41" b="0"/>
          <a:stretch xmlns:a="http://schemas.openxmlformats.org/drawingml/2006/main">
            <a:fillRect l="0" t="0" r="0" b="0"/>
          </a:stretch>
        </p:blipFill>
        <p:spPr>
          <a:xfrm xmlns:a="http://schemas.openxmlformats.org/drawingml/2006/main">
            <a:off x="552450" y="1162050"/>
            <a:ext cx="2571750" cy="1447800"/>
          </a:xfrm>
          <a:prstGeom xmlns:a="http://schemas.openxmlformats.org/drawingml/2006/main" prst="rect">
            <a:avLst/>
          </a:prstGeom>
        </p:spPr>
      </p:pic>
      <p:pic>
        <p:nvPicPr>
          <p:cNvPr id="38" name=""/>
          <p:cNvPicPr>
            <a:picLocks xmlns:a="http://schemas.openxmlformats.org/drawingml/2006/main" noChangeAspect="1"/>
          </p:cNvPicPr>
          <p:nvPr/>
        </p:nvPicPr>
        <p:blipFill>
          <a:blip xmlns:r="http://schemas.openxmlformats.org/officeDocument/2006/relationships" xmlns:a="http://schemas.openxmlformats.org/drawingml/2006/main" r:embed="R89b6fe8b1e404254"/>
          <a:srcRect xmlns:a="http://schemas.openxmlformats.org/drawingml/2006/main" l="41" t="0" r="41" b="0"/>
          <a:stretch xmlns:a="http://schemas.openxmlformats.org/drawingml/2006/main">
            <a:fillRect l="0" t="0" r="0" b="0"/>
          </a:stretch>
        </p:blipFill>
        <p:spPr>
          <a:xfrm xmlns:a="http://schemas.openxmlformats.org/drawingml/2006/main">
            <a:off x="3371850" y="1162050"/>
            <a:ext cx="2571750" cy="1447800"/>
          </a:xfrm>
          <a:prstGeom xmlns:a="http://schemas.openxmlformats.org/drawingml/2006/main" prst="rect">
            <a:avLst/>
          </a:prstGeom>
        </p:spPr>
      </p:pic>
      <p:pic>
        <p:nvPicPr>
          <p:cNvPr id="39" name=""/>
          <p:cNvPicPr>
            <a:picLocks xmlns:a="http://schemas.openxmlformats.org/drawingml/2006/main" noChangeAspect="1"/>
          </p:cNvPicPr>
          <p:nvPr/>
        </p:nvPicPr>
        <p:blipFill>
          <a:blip xmlns:r="http://schemas.openxmlformats.org/officeDocument/2006/relationships" xmlns:a="http://schemas.openxmlformats.org/drawingml/2006/main" r:embed="Rce713d5afce54c0d"/>
          <a:srcRect xmlns:a="http://schemas.openxmlformats.org/drawingml/2006/main" l="41" t="0" r="41" b="0"/>
          <a:stretch xmlns:a="http://schemas.openxmlformats.org/drawingml/2006/main">
            <a:fillRect l="0" t="0" r="0" b="0"/>
          </a:stretch>
        </p:blipFill>
        <p:spPr>
          <a:xfrm xmlns:a="http://schemas.openxmlformats.org/drawingml/2006/main">
            <a:off x="6191250" y="1162050"/>
            <a:ext cx="2571750" cy="1447800"/>
          </a:xfrm>
          <a:prstGeom xmlns:a="http://schemas.openxmlformats.org/drawingml/2006/main" prst="rect">
            <a:avLst/>
          </a:prstGeom>
        </p:spPr>
      </p:pic>
      <p:pic>
        <p:nvPicPr>
          <p:cNvPr id="40" name=""/>
          <p:cNvPicPr>
            <a:picLocks xmlns:a="http://schemas.openxmlformats.org/drawingml/2006/main" noChangeAspect="1"/>
          </p:cNvPicPr>
          <p:nvPr/>
        </p:nvPicPr>
        <p:blipFill>
          <a:blip xmlns:r="http://schemas.openxmlformats.org/officeDocument/2006/relationships" xmlns:a="http://schemas.openxmlformats.org/drawingml/2006/main" r:embed="Rea9b12d46d1e403b"/>
          <a:srcRect xmlns:a="http://schemas.openxmlformats.org/drawingml/2006/main" l="41" t="0" r="41" b="0"/>
          <a:stretch xmlns:a="http://schemas.openxmlformats.org/drawingml/2006/main">
            <a:fillRect l="0" t="0" r="0" b="0"/>
          </a:stretch>
        </p:blipFill>
        <p:spPr>
          <a:xfrm xmlns:a="http://schemas.openxmlformats.org/drawingml/2006/main">
            <a:off x="9010650" y="1162050"/>
            <a:ext cx="2571750" cy="1447800"/>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11E25A9E-08A8-48C5-AF8C-5F3D0139349F}"/>
              </a:ext>
            </a:extLst>
          </p:cNvPr>
          <p:cNvSpPr>
            <a:spLocks xmlns:a="http://schemas.openxmlformats.org/drawingml/2006/main" noGrp="1"/>
          </p:cNvSpPr>
          <p:nvPr/>
        </p:nvSpPr>
        <p:spPr>
          <a:xfrm xmlns:a="http://schemas.openxmlformats.org/drawingml/2006/main">
            <a:off x="552450" y="2705100"/>
            <a:ext cx="11029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125" b="1">
                <a:solidFill>
                  <a:srgbClr val="E7833D"/>
                </a:solidFill>
                <a:latin typeface="Yu Gothic"/>
                <a:ea typeface="Yu Gothic"/>
                <a:cs typeface="Yu Gothic"/>
              </a:defRPr>
            </a:pPr>
            <a:r>
              <a:rPr sz="1125" b="1">
                <a:solidFill>
                  <a:srgbClr val="E7833D"/>
                </a:solidFill>
                <a:latin typeface="Yu Gothic"/>
                <a:ea typeface="Yu Gothic"/>
                <a:cs typeface="Yu Gothic"/>
              </a:rPr>
              <a:t>4枚目で選んだ中央側動画：正解ラベルは通常、変換なし</a:t>
            </a:r>
          </a:p>
        </p:txBody>
      </p:sp>
      <p:sp>
        <p:nvSpPr>
          <p:cNvPr id="13" name="">
            <a:extLst xmlns:a="http://schemas.openxmlformats.org/drawingml/2006/main">
              <a:ext uri="{FF2B5EF4-FFF2-40B4-BE49-F238E27FC236}">
                <a16:creationId xmlns:a16="http://schemas.microsoft.com/office/drawing/2014/main" id="{B614CBFE-E263-4BEF-AF83-15ABF4CF4999}"/>
              </a:ext>
            </a:extLst>
          </p:cNvPr>
          <p:cNvSpPr>
            <a:spLocks xmlns:a="http://schemas.openxmlformats.org/drawingml/2006/main" noGrp="1"/>
          </p:cNvSpPr>
          <p:nvPr/>
        </p:nvSpPr>
        <p:spPr>
          <a:xfrm xmlns:a="http://schemas.openxmlformats.org/drawingml/2006/main">
            <a:off x="857250" y="3333750"/>
            <a:ext cx="4476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725" b="1">
                <a:solidFill>
                  <a:srgbClr val="147B78"/>
                </a:solidFill>
                <a:latin typeface="Yu Gothic"/>
                <a:ea typeface="Yu Gothic"/>
                <a:cs typeface="Yu Gothic"/>
              </a:defRPr>
            </a:pPr>
            <a:r>
              <a:rPr sz="1725" b="1">
                <a:solidFill>
                  <a:srgbClr val="147B78"/>
                </a:solidFill>
                <a:latin typeface="Yu Gothic"/>
                <a:ea typeface="Yu Gothic"/>
                <a:cs typeface="Yu Gothic"/>
              </a:rPr>
              <a:t>学習後の危険確率</a:t>
            </a:r>
          </a:p>
        </p:txBody>
      </p:sp>
      <p:sp>
        <p:nvSpPr>
          <p:cNvPr id="14" name="">
            <a:extLst xmlns:a="http://schemas.openxmlformats.org/drawingml/2006/main">
              <a:ext uri="{FF2B5EF4-FFF2-40B4-BE49-F238E27FC236}">
                <a16:creationId xmlns:a16="http://schemas.microsoft.com/office/drawing/2014/main" id="{EAFBD531-E44D-4B29-9833-29C593874F2F}"/>
              </a:ext>
            </a:extLst>
          </p:cNvPr>
          <p:cNvSpPr>
            <a:spLocks xmlns:a="http://schemas.openxmlformats.org/drawingml/2006/main" noGrp="1"/>
          </p:cNvSpPr>
          <p:nvPr/>
        </p:nvSpPr>
        <p:spPr>
          <a:xfrm xmlns:a="http://schemas.openxmlformats.org/drawingml/2006/main">
            <a:off x="1047750" y="3895725"/>
            <a:ext cx="1714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350" b="1">
                <a:solidFill>
                  <a:srgbClr val="617078"/>
                </a:solidFill>
                <a:latin typeface="Yu Gothic"/>
                <a:ea typeface="Yu Gothic"/>
                <a:cs typeface="Yu Gothic"/>
              </a:defRPr>
            </a:pPr>
            <a:r>
              <a:rPr sz="1350" b="1">
                <a:solidFill>
                  <a:srgbClr val="617078"/>
                </a:solidFill>
                <a:latin typeface="Yu Gothic"/>
                <a:ea typeface="Yu Gothic"/>
                <a:cs typeface="Yu Gothic"/>
              </a:rPr>
              <a:t>現場側の目標</a:t>
            </a:r>
          </a:p>
        </p:txBody>
      </p:sp>
      <p:sp>
        <p:nvSpPr>
          <p:cNvPr id="15" name="">
            <a:extLst xmlns:a="http://schemas.openxmlformats.org/drawingml/2006/main">
              <a:ext uri="{FF2B5EF4-FFF2-40B4-BE49-F238E27FC236}">
                <a16:creationId xmlns:a16="http://schemas.microsoft.com/office/drawing/2014/main" id="{3FA4076D-C77C-467D-93A0-175DE33AFD91}"/>
              </a:ext>
            </a:extLst>
          </p:cNvPr>
          <p:cNvSpPr>
            <a:spLocks xmlns:a="http://schemas.openxmlformats.org/drawingml/2006/main" noGrp="1"/>
          </p:cNvSpPr>
          <p:nvPr/>
        </p:nvSpPr>
        <p:spPr>
          <a:xfrm xmlns:a="http://schemas.openxmlformats.org/drawingml/2006/main">
            <a:off x="1047750" y="4229100"/>
            <a:ext cx="1714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3000" b="1">
                <a:solidFill>
                  <a:srgbClr val="173B4B"/>
                </a:solidFill>
                <a:latin typeface="Yu Gothic"/>
                <a:ea typeface="Yu Gothic"/>
                <a:cs typeface="Yu Gothic"/>
              </a:defRPr>
            </a:pPr>
            <a:r>
              <a:rPr sz="3000" b="1">
                <a:solidFill>
                  <a:srgbClr val="173B4B"/>
                </a:solidFill>
                <a:latin typeface="Yu Gothic"/>
                <a:ea typeface="Yu Gothic"/>
                <a:cs typeface="Yu Gothic"/>
              </a:rPr>
              <a:t>0.724</a:t>
            </a:r>
          </a:p>
        </p:txBody>
      </p:sp>
      <p:sp>
        <p:nvSpPr>
          <p:cNvPr id="16" name="">
            <a:extLst xmlns:a="http://schemas.openxmlformats.org/drawingml/2006/main">
              <a:ext uri="{FF2B5EF4-FFF2-40B4-BE49-F238E27FC236}">
                <a16:creationId xmlns:a16="http://schemas.microsoft.com/office/drawing/2014/main" id="{12A82DA8-CCC6-4C30-97AF-145A0A606C87}"/>
              </a:ext>
            </a:extLst>
          </p:cNvPr>
          <p:cNvSpPr>
            <a:spLocks xmlns:a="http://schemas.openxmlformats.org/drawingml/2006/main" noGrp="1"/>
          </p:cNvSpPr>
          <p:nvPr/>
        </p:nvSpPr>
        <p:spPr>
          <a:xfrm xmlns:a="http://schemas.openxmlformats.org/drawingml/2006/main">
            <a:off x="3381375" y="3895725"/>
            <a:ext cx="1714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350" b="1">
                <a:solidFill>
                  <a:srgbClr val="617078"/>
                </a:solidFill>
                <a:latin typeface="Yu Gothic"/>
                <a:ea typeface="Yu Gothic"/>
                <a:cs typeface="Yu Gothic"/>
              </a:defRPr>
            </a:pPr>
            <a:r>
              <a:rPr sz="1350" b="1">
                <a:solidFill>
                  <a:srgbClr val="617078"/>
                </a:solidFill>
                <a:latin typeface="Yu Gothic"/>
                <a:ea typeface="Yu Gothic"/>
                <a:cs typeface="Yu Gothic"/>
              </a:rPr>
              <a:t>代理データ</a:t>
            </a:r>
          </a:p>
        </p:txBody>
      </p:sp>
      <p:sp>
        <p:nvSpPr>
          <p:cNvPr id="17" name="">
            <a:extLst xmlns:a="http://schemas.openxmlformats.org/drawingml/2006/main">
              <a:ext uri="{FF2B5EF4-FFF2-40B4-BE49-F238E27FC236}">
                <a16:creationId xmlns:a16="http://schemas.microsoft.com/office/drawing/2014/main" id="{5FD6CA6A-F840-4329-ABD3-B4F0BD11FE1D}"/>
              </a:ext>
            </a:extLst>
          </p:cNvPr>
          <p:cNvSpPr>
            <a:spLocks xmlns:a="http://schemas.openxmlformats.org/drawingml/2006/main" noGrp="1"/>
          </p:cNvSpPr>
          <p:nvPr/>
        </p:nvSpPr>
        <p:spPr>
          <a:xfrm xmlns:a="http://schemas.openxmlformats.org/drawingml/2006/main">
            <a:off x="3381375" y="4229100"/>
            <a:ext cx="1714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3000" b="1">
                <a:solidFill>
                  <a:srgbClr val="147B78"/>
                </a:solidFill>
                <a:latin typeface="Yu Gothic"/>
                <a:ea typeface="Yu Gothic"/>
                <a:cs typeface="Yu Gothic"/>
              </a:defRPr>
            </a:pPr>
            <a:r>
              <a:rPr sz="3000" b="1">
                <a:solidFill>
                  <a:srgbClr val="147B78"/>
                </a:solidFill>
                <a:latin typeface="Yu Gothic"/>
                <a:ea typeface="Yu Gothic"/>
                <a:cs typeface="Yu Gothic"/>
              </a:rPr>
              <a:t>0.724</a:t>
            </a:r>
          </a:p>
        </p:txBody>
      </p:sp>
      <p:sp>
        <p:nvSpPr>
          <p:cNvPr id="18" name="">
            <a:extLst xmlns:a="http://schemas.openxmlformats.org/drawingml/2006/main">
              <a:ext uri="{FF2B5EF4-FFF2-40B4-BE49-F238E27FC236}">
                <a16:creationId xmlns:a16="http://schemas.microsoft.com/office/drawing/2014/main" id="{65ED6177-61A7-42DD-BA7D-A340D6740645}"/>
              </a:ext>
            </a:extLst>
          </p:cNvPr>
          <p:cNvSpPr>
            <a:spLocks xmlns:a="http://schemas.openxmlformats.org/drawingml/2006/main" noGrp="1"/>
          </p:cNvSpPr>
          <p:nvPr/>
        </p:nvSpPr>
        <p:spPr>
          <a:xfrm xmlns:a="http://schemas.openxmlformats.org/drawingml/2006/main">
            <a:off x="2095500" y="4886325"/>
            <a:ext cx="2095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650" b="1">
                <a:solidFill>
                  <a:srgbClr val="147B78"/>
                </a:solidFill>
                <a:latin typeface="Yu Gothic"/>
                <a:ea typeface="Yu Gothic"/>
                <a:cs typeface="Yu Gothic"/>
              </a:defRPr>
            </a:pPr>
            <a:r>
              <a:rPr sz="1650" b="1">
                <a:solidFill>
                  <a:srgbClr val="147B78"/>
                </a:solidFill>
                <a:latin typeface="Yu Gothic"/>
                <a:ea typeface="Yu Gothic"/>
                <a:cs typeface="Yu Gothic"/>
              </a:rPr>
              <a:t>ほぼ一致</a:t>
            </a:r>
          </a:p>
        </p:txBody>
      </p:sp>
      <p:sp>
        <p:nvSpPr>
          <p:cNvPr id="19" name="">
            <a:extLst xmlns:a="http://schemas.openxmlformats.org/drawingml/2006/main">
              <a:ext uri="{FF2B5EF4-FFF2-40B4-BE49-F238E27FC236}">
                <a16:creationId xmlns:a16="http://schemas.microsoft.com/office/drawing/2014/main" id="{FE0DE99A-68D2-4A95-BBB7-68A71CFDF06A}"/>
              </a:ext>
            </a:extLst>
          </p:cNvPr>
          <p:cNvSpPr>
            <a:spLocks xmlns:a="http://schemas.openxmlformats.org/drawingml/2006/main" noGrp="1"/>
          </p:cNvSpPr>
          <p:nvPr/>
        </p:nvSpPr>
        <p:spPr>
          <a:xfrm xmlns:a="http://schemas.openxmlformats.org/drawingml/2006/main">
            <a:off x="5905500" y="3286125"/>
            <a:ext cx="19050" cy="2000250"/>
          </a:xfrm>
          <a:prstGeom xmlns:a="http://schemas.openxmlformats.org/drawingml/2006/main" prst="rect">
            <a:avLst/>
          </a:prstGeom>
          <a:solidFill xmlns:a="http://schemas.openxmlformats.org/drawingml/2006/main">
            <a:srgbClr val="C9D2D3"/>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3A46D075-4FA8-483E-BCB1-BB4E777D57B4}"/>
              </a:ext>
            </a:extLst>
          </p:cNvPr>
          <p:cNvSpPr>
            <a:spLocks xmlns:a="http://schemas.openxmlformats.org/drawingml/2006/main" noGrp="1"/>
          </p:cNvSpPr>
          <p:nvPr/>
        </p:nvSpPr>
        <p:spPr>
          <a:xfrm xmlns:a="http://schemas.openxmlformats.org/drawingml/2006/main">
            <a:off x="6286500" y="3333750"/>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725" b="1">
                <a:solidFill>
                  <a:srgbClr val="147B78"/>
                </a:solidFill>
                <a:latin typeface="Yu Gothic"/>
                <a:ea typeface="Yu Gothic"/>
                <a:cs typeface="Yu Gothic"/>
              </a:defRPr>
            </a:pPr>
            <a:r>
              <a:rPr sz="1725" b="1">
                <a:solidFill>
                  <a:srgbClr val="147B78"/>
                </a:solidFill>
                <a:latin typeface="Yu Gothic"/>
                <a:ea typeface="Yu Gothic"/>
                <a:cs typeface="Yu Gothic"/>
              </a:rPr>
              <a:t>学習による危険方向の変化</a:t>
            </a:r>
          </a:p>
        </p:txBody>
      </p:sp>
      <p:sp>
        <p:nvSpPr>
          <p:cNvPr id="21" name="">
            <a:extLst xmlns:a="http://schemas.openxmlformats.org/drawingml/2006/main">
              <a:ext uri="{FF2B5EF4-FFF2-40B4-BE49-F238E27FC236}">
                <a16:creationId xmlns:a16="http://schemas.microsoft.com/office/drawing/2014/main" id="{E3F939B6-4C46-4208-999A-D9DBF684EC98}"/>
              </a:ext>
            </a:extLst>
          </p:cNvPr>
          <p:cNvSpPr>
            <a:spLocks xmlns:a="http://schemas.openxmlformats.org/drawingml/2006/main" noGrp="1"/>
          </p:cNvSpPr>
          <p:nvPr/>
        </p:nvSpPr>
        <p:spPr>
          <a:xfrm xmlns:a="http://schemas.openxmlformats.org/drawingml/2006/main">
            <a:off x="6572250" y="3895725"/>
            <a:ext cx="1809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350" b="1">
                <a:solidFill>
                  <a:srgbClr val="617078"/>
                </a:solidFill>
                <a:latin typeface="Yu Gothic"/>
                <a:ea typeface="Yu Gothic"/>
                <a:cs typeface="Yu Gothic"/>
              </a:defRPr>
            </a:pPr>
            <a:r>
              <a:rPr sz="1350" b="1">
                <a:solidFill>
                  <a:srgbClr val="617078"/>
                </a:solidFill>
                <a:latin typeface="Yu Gothic"/>
                <a:ea typeface="Yu Gothic"/>
                <a:cs typeface="Yu Gothic"/>
              </a:rPr>
              <a:t>現場側の目標</a:t>
            </a:r>
          </a:p>
        </p:txBody>
      </p:sp>
      <p:sp>
        <p:nvSpPr>
          <p:cNvPr id="22" name="">
            <a:extLst xmlns:a="http://schemas.openxmlformats.org/drawingml/2006/main">
              <a:ext uri="{FF2B5EF4-FFF2-40B4-BE49-F238E27FC236}">
                <a16:creationId xmlns:a16="http://schemas.microsoft.com/office/drawing/2014/main" id="{3137E465-AB63-4BE3-96FB-C8D089409174}"/>
              </a:ext>
            </a:extLst>
          </p:cNvPr>
          <p:cNvSpPr>
            <a:spLocks xmlns:a="http://schemas.openxmlformats.org/drawingml/2006/main" noGrp="1"/>
          </p:cNvSpPr>
          <p:nvPr/>
        </p:nvSpPr>
        <p:spPr>
          <a:xfrm xmlns:a="http://schemas.openxmlformats.org/drawingml/2006/main">
            <a:off x="6572250" y="4229100"/>
            <a:ext cx="1809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3000" b="1">
                <a:solidFill>
                  <a:srgbClr val="173B4B"/>
                </a:solidFill>
                <a:latin typeface="Yu Gothic"/>
                <a:ea typeface="Yu Gothic"/>
                <a:cs typeface="Yu Gothic"/>
              </a:defRPr>
            </a:pPr>
            <a:r>
              <a:rPr sz="3000" b="1">
                <a:solidFill>
                  <a:srgbClr val="173B4B"/>
                </a:solidFill>
                <a:latin typeface="Yu Gothic"/>
                <a:ea typeface="Yu Gothic"/>
                <a:cs typeface="Yu Gothic"/>
              </a:rPr>
              <a:t>+0.238</a:t>
            </a:r>
          </a:p>
        </p:txBody>
      </p:sp>
      <p:sp>
        <p:nvSpPr>
          <p:cNvPr id="23" name="">
            <a:extLst xmlns:a="http://schemas.openxmlformats.org/drawingml/2006/main">
              <a:ext uri="{FF2B5EF4-FFF2-40B4-BE49-F238E27FC236}">
                <a16:creationId xmlns:a16="http://schemas.microsoft.com/office/drawing/2014/main" id="{019565C7-1D2F-4E33-B2DD-63AB6D277E9B}"/>
              </a:ext>
            </a:extLst>
          </p:cNvPr>
          <p:cNvSpPr>
            <a:spLocks xmlns:a="http://schemas.openxmlformats.org/drawingml/2006/main" noGrp="1"/>
          </p:cNvSpPr>
          <p:nvPr/>
        </p:nvSpPr>
        <p:spPr>
          <a:xfrm xmlns:a="http://schemas.openxmlformats.org/drawingml/2006/main">
            <a:off x="9048750" y="3895725"/>
            <a:ext cx="1809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350" b="1">
                <a:solidFill>
                  <a:srgbClr val="617078"/>
                </a:solidFill>
                <a:latin typeface="Yu Gothic"/>
                <a:ea typeface="Yu Gothic"/>
                <a:cs typeface="Yu Gothic"/>
              </a:defRPr>
            </a:pPr>
            <a:r>
              <a:rPr sz="1350" b="1">
                <a:solidFill>
                  <a:srgbClr val="617078"/>
                </a:solidFill>
                <a:latin typeface="Yu Gothic"/>
                <a:ea typeface="Yu Gothic"/>
                <a:cs typeface="Yu Gothic"/>
              </a:rPr>
              <a:t>代理データ</a:t>
            </a:r>
          </a:p>
        </p:txBody>
      </p:sp>
      <p:sp>
        <p:nvSpPr>
          <p:cNvPr id="24" name="">
            <a:extLst xmlns:a="http://schemas.openxmlformats.org/drawingml/2006/main">
              <a:ext uri="{FF2B5EF4-FFF2-40B4-BE49-F238E27FC236}">
                <a16:creationId xmlns:a16="http://schemas.microsoft.com/office/drawing/2014/main" id="{11329FD6-6652-48C6-AA72-48A81EDED9D3}"/>
              </a:ext>
            </a:extLst>
          </p:cNvPr>
          <p:cNvSpPr>
            <a:spLocks xmlns:a="http://schemas.openxmlformats.org/drawingml/2006/main" noGrp="1"/>
          </p:cNvSpPr>
          <p:nvPr/>
        </p:nvSpPr>
        <p:spPr>
          <a:xfrm xmlns:a="http://schemas.openxmlformats.org/drawingml/2006/main">
            <a:off x="9048750" y="4229100"/>
            <a:ext cx="1809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3000" b="1">
                <a:solidFill>
                  <a:srgbClr val="B94A3A"/>
                </a:solidFill>
                <a:latin typeface="Yu Gothic"/>
                <a:ea typeface="Yu Gothic"/>
                <a:cs typeface="Yu Gothic"/>
              </a:defRPr>
            </a:pPr>
            <a:r>
              <a:rPr sz="3000" b="1">
                <a:solidFill>
                  <a:srgbClr val="B94A3A"/>
                </a:solidFill>
                <a:latin typeface="Yu Gothic"/>
                <a:ea typeface="Yu Gothic"/>
                <a:cs typeface="Yu Gothic"/>
              </a:rPr>
              <a:t>+0.051</a:t>
            </a:r>
          </a:p>
        </p:txBody>
      </p:sp>
      <p:sp>
        <p:nvSpPr>
          <p:cNvPr id="25" name="">
            <a:extLst xmlns:a="http://schemas.openxmlformats.org/drawingml/2006/main">
              <a:ext uri="{FF2B5EF4-FFF2-40B4-BE49-F238E27FC236}">
                <a16:creationId xmlns:a16="http://schemas.microsoft.com/office/drawing/2014/main" id="{F3EBE0DB-1EB8-43E1-9DE6-294B910FCFC0}"/>
              </a:ext>
            </a:extLst>
          </p:cNvPr>
          <p:cNvSpPr>
            <a:spLocks xmlns:a="http://schemas.openxmlformats.org/drawingml/2006/main" noGrp="1"/>
          </p:cNvSpPr>
          <p:nvPr/>
        </p:nvSpPr>
        <p:spPr>
          <a:xfrm xmlns:a="http://schemas.openxmlformats.org/drawingml/2006/main">
            <a:off x="9029700" y="4810125"/>
            <a:ext cx="1857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00" b="0">
                <a:solidFill>
                  <a:srgbClr val="617078"/>
                </a:solidFill>
                <a:latin typeface="Yu Gothic"/>
                <a:ea typeface="Yu Gothic"/>
                <a:cs typeface="Yu Gothic"/>
              </a:defRPr>
            </a:pPr>
            <a:r>
              <a:rPr sz="1200" b="0">
                <a:solidFill>
                  <a:srgbClr val="617078"/>
                </a:solidFill>
                <a:latin typeface="Yu Gothic"/>
                <a:ea typeface="Yu Gothic"/>
                <a:cs typeface="Yu Gothic"/>
              </a:rPr>
              <a:t>0.673 から 0.724</a:t>
            </a:r>
          </a:p>
        </p:txBody>
      </p:sp>
      <p:sp>
        <p:nvSpPr>
          <p:cNvPr id="26" name="">
            <a:extLst xmlns:a="http://schemas.openxmlformats.org/drawingml/2006/main">
              <a:ext uri="{FF2B5EF4-FFF2-40B4-BE49-F238E27FC236}">
                <a16:creationId xmlns:a16="http://schemas.microsoft.com/office/drawing/2014/main" id="{632F71D7-A91B-415E-9E24-6FA061D2F1E0}"/>
              </a:ext>
            </a:extLst>
          </p:cNvPr>
          <p:cNvSpPr>
            <a:spLocks xmlns:a="http://schemas.openxmlformats.org/drawingml/2006/main" noGrp="1"/>
          </p:cNvSpPr>
          <p:nvPr/>
        </p:nvSpPr>
        <p:spPr>
          <a:xfrm xmlns:a="http://schemas.openxmlformats.org/drawingml/2006/main">
            <a:off x="7858125" y="5067300"/>
            <a:ext cx="180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650" b="1">
                <a:solidFill>
                  <a:srgbClr val="B94A3A"/>
                </a:solidFill>
                <a:latin typeface="Yu Gothic"/>
                <a:ea typeface="Yu Gothic"/>
                <a:cs typeface="Yu Gothic"/>
              </a:defRPr>
            </a:pPr>
            <a:r>
              <a:rPr sz="1650" b="1">
                <a:solidFill>
                  <a:srgbClr val="B94A3A"/>
                </a:solidFill>
                <a:latin typeface="Yu Gothic"/>
                <a:ea typeface="Yu Gothic"/>
                <a:cs typeface="Yu Gothic"/>
              </a:rPr>
              <a:t>差が残る</a:t>
            </a:r>
          </a:p>
        </p:txBody>
      </p:sp>
      <p:sp>
        <p:nvSpPr>
          <p:cNvPr id="27" name="">
            <a:extLst xmlns:a="http://schemas.openxmlformats.org/drawingml/2006/main">
              <a:ext uri="{FF2B5EF4-FFF2-40B4-BE49-F238E27FC236}">
                <a16:creationId xmlns:a16="http://schemas.microsoft.com/office/drawing/2014/main" id="{99E757F6-76C9-4E11-8A4F-16FB4E3F196A}"/>
              </a:ext>
            </a:extLst>
          </p:cNvPr>
          <p:cNvSpPr>
            <a:spLocks xmlns:a="http://schemas.openxmlformats.org/drawingml/2006/main" noGrp="1"/>
          </p:cNvSpPr>
          <p:nvPr/>
        </p:nvSpPr>
        <p:spPr>
          <a:xfrm xmlns:a="http://schemas.openxmlformats.org/drawingml/2006/main">
            <a:off x="742950" y="5610225"/>
            <a:ext cx="10706100" cy="590550"/>
          </a:xfrm>
          <a:prstGeom xmlns:a="http://schemas.openxmlformats.org/drawingml/2006/main" prst="rect">
            <a:avLst/>
          </a:prstGeom>
          <a:solidFill xmlns:a="http://schemas.openxmlformats.org/drawingml/2006/main">
            <a:srgbClr val="FAE9D8"/>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BD9AB9D8-4E2A-48DB-B9C3-DC623D427B6C}"/>
              </a:ext>
            </a:extLst>
          </p:cNvPr>
          <p:cNvSpPr>
            <a:spLocks xmlns:a="http://schemas.openxmlformats.org/drawingml/2006/main" noGrp="1"/>
          </p:cNvSpPr>
          <p:nvPr/>
        </p:nvSpPr>
        <p:spPr>
          <a:xfrm xmlns:a="http://schemas.openxmlformats.org/drawingml/2006/main">
            <a:off x="1000125" y="5753100"/>
            <a:ext cx="10191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725" b="1">
                <a:solidFill>
                  <a:srgbClr val="26373D"/>
                </a:solidFill>
                <a:latin typeface="Yu Gothic"/>
                <a:ea typeface="Yu Gothic"/>
                <a:cs typeface="Yu Gothic"/>
              </a:defRPr>
            </a:pPr>
            <a:r>
              <a:rPr sz="1725" b="1">
                <a:solidFill>
                  <a:srgbClr val="26373D"/>
                </a:solidFill>
                <a:latin typeface="Yu Gothic"/>
                <a:ea typeface="Yu Gothic"/>
                <a:cs typeface="Yu Gothic"/>
              </a:rPr>
              <a:t>最終的な判定の一致だけでは、現場で生じた学習変化を再現できたとは判断できない</a:t>
            </a:r>
          </a:p>
        </p:txBody>
      </p:sp>
      <p:sp>
        <p:nvSpPr>
          <p:cNvPr id="29" name="">
            <a:extLst xmlns:a="http://schemas.openxmlformats.org/drawingml/2006/main">
              <a:ext uri="{FF2B5EF4-FFF2-40B4-BE49-F238E27FC236}">
                <a16:creationId xmlns:a16="http://schemas.microsoft.com/office/drawing/2014/main" id="{4B8EE954-75D1-4990-870D-08AD59851EA4}"/>
              </a:ext>
            </a:extLst>
          </p:cNvPr>
          <p:cNvSpPr>
            <a:spLocks xmlns:a="http://schemas.openxmlformats.org/drawingml/2006/main" noGrp="1"/>
          </p:cNvSpPr>
          <p:nvPr/>
        </p:nvSpPr>
        <p:spPr>
          <a:xfrm xmlns:a="http://schemas.openxmlformats.org/drawingml/2006/main">
            <a:off x="381000" y="342900"/>
            <a:ext cx="66675" cy="514350"/>
          </a:xfrm>
          <a:prstGeom xmlns:a="http://schemas.openxmlformats.org/drawingml/2006/main" prst="rect">
            <a:avLst/>
          </a:prstGeom>
          <a:solidFill xmlns:a="http://schemas.openxmlformats.org/drawingml/2006/main">
            <a:srgbClr val="147B78"/>
          </a:solidFill>
          <a:ln xmlns:a="http://schemas.openxmlformats.org/drawingml/2006/main" w="0">
            <a:noFill/>
          </a:ln>
        </p:spPr>
      </p:sp>
    </p:spTree>
    <p:extLst>
      <p:ext uri="{BB962C8B-B14F-4D97-AF65-F5344CB8AC3E}">
        <p14:creationId xmlns:p14="http://schemas.microsoft.com/office/powerpoint/2010/main" val="573572281"/>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84F332C9-C5CF-431B-B579-4E5BC835C3C3}"/>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5E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C4211BE-37C4-4F00-B5F0-A0854E5B6FF9}"/>
              </a:ext>
            </a:extLst>
          </p:cNvPr>
          <p:cNvSpPr>
            <a:spLocks xmlns:a="http://schemas.openxmlformats.org/drawingml/2006/main" noGrp="1"/>
          </p:cNvSpPr>
          <p:nvPr/>
        </p:nvSpPr>
        <p:spPr>
          <a:xfrm xmlns:a="http://schemas.openxmlformats.org/drawingml/2006/main">
            <a:off x="381000" y="342900"/>
            <a:ext cx="66675" cy="514350"/>
          </a:xfrm>
          <a:prstGeom xmlns:a="http://schemas.openxmlformats.org/drawingml/2006/main" prst="rect">
            <a:avLst/>
          </a:prstGeom>
          <a:solidFill xmlns:a="http://schemas.openxmlformats.org/drawingml/2006/main">
            <a:srgbClr val="147B78"/>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B830E420-F35D-4297-9FD6-9F1857342440}"/>
              </a:ext>
            </a:extLst>
          </p:cNvPr>
          <p:cNvSpPr>
            <a:spLocks xmlns:a="http://schemas.openxmlformats.org/drawingml/2006/main" noGrp="1"/>
          </p:cNvSpPr>
          <p:nvPr/>
        </p:nvSpPr>
        <p:spPr>
          <a:xfrm xmlns:a="http://schemas.openxmlformats.org/drawingml/2006/main">
            <a:off x="590550" y="323850"/>
            <a:ext cx="10572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2850" b="1">
                <a:solidFill>
                  <a:srgbClr val="173B4B"/>
                </a:solidFill>
                <a:latin typeface="Yu Gothic"/>
                <a:ea typeface="Yu Gothic"/>
                <a:cs typeface="Yu Gothic"/>
              </a:defRPr>
            </a:pPr>
            <a:r>
              <a:rPr sz="2850" b="1">
                <a:solidFill>
                  <a:srgbClr val="173B4B"/>
                </a:solidFill>
                <a:latin typeface="Yu Gothic"/>
                <a:ea typeface="Yu Gothic"/>
                <a:cs typeface="Yu Gothic"/>
              </a:rPr>
              <a:t>3ラウンドの状態継承を確認、性能改善は未確認</a:t>
            </a:r>
          </a:p>
        </p:txBody>
      </p:sp>
      <p:sp>
        <p:nvSpPr>
          <p:cNvPr id="4" name="">
            <a:extLst xmlns:a="http://schemas.openxmlformats.org/drawingml/2006/main">
              <a:ext uri="{FF2B5EF4-FFF2-40B4-BE49-F238E27FC236}">
                <a16:creationId xmlns:a16="http://schemas.microsoft.com/office/drawing/2014/main" id="{70F64D92-BCE8-4E48-91C2-54B965C2DFC8}"/>
              </a:ext>
            </a:extLst>
          </p:cNvPr>
          <p:cNvSpPr>
            <a:spLocks xmlns:a="http://schemas.openxmlformats.org/drawingml/2006/main" noGrp="1"/>
          </p:cNvSpPr>
          <p:nvPr/>
        </p:nvSpPr>
        <p:spPr>
          <a:xfrm xmlns:a="http://schemas.openxmlformats.org/drawingml/2006/main">
            <a:off x="11306175" y="428625"/>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200" b="1">
                <a:solidFill>
                  <a:srgbClr val="147B78"/>
                </a:solidFill>
                <a:latin typeface="Yu Gothic"/>
                <a:ea typeface="Yu Gothic"/>
                <a:cs typeface="Yu Gothic"/>
              </a:defRPr>
            </a:pPr>
            <a:r>
              <a:rPr sz="1200" b="1">
                <a:solidFill>
                  <a:srgbClr val="147B78"/>
                </a:solidFill>
                <a:latin typeface="Yu Gothic"/>
                <a:ea typeface="Yu Gothic"/>
                <a:cs typeface="Yu Gothic"/>
              </a:rPr>
              <a:t>08</a:t>
            </a:r>
          </a:p>
        </p:txBody>
      </p:sp>
      <p:sp>
        <p:nvSpPr>
          <p:cNvPr id="5" name="">
            <a:extLst xmlns:a="http://schemas.openxmlformats.org/drawingml/2006/main">
              <a:ext uri="{FF2B5EF4-FFF2-40B4-BE49-F238E27FC236}">
                <a16:creationId xmlns:a16="http://schemas.microsoft.com/office/drawing/2014/main" id="{A34A1E55-1295-4D80-8D52-751FCB0F67C3}"/>
              </a:ext>
            </a:extLst>
          </p:cNvPr>
          <p:cNvSpPr>
            <a:spLocks xmlns:a="http://schemas.openxmlformats.org/drawingml/2006/main" noGrp="1"/>
          </p:cNvSpPr>
          <p:nvPr/>
        </p:nvSpPr>
        <p:spPr>
          <a:xfrm xmlns:a="http://schemas.openxmlformats.org/drawingml/2006/main">
            <a:off x="457200" y="6477000"/>
            <a:ext cx="11277600" cy="14288"/>
          </a:xfrm>
          <a:prstGeom xmlns:a="http://schemas.openxmlformats.org/drawingml/2006/main" prst="rect">
            <a:avLst/>
          </a:prstGeom>
          <a:solidFill xmlns:a="http://schemas.openxmlformats.org/drawingml/2006/main">
            <a:srgbClr val="C9D2D3"/>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E5184F7C-EF3C-4FB1-ADB8-6B6FFC7DA04D}"/>
              </a:ext>
            </a:extLst>
          </p:cNvPr>
          <p:cNvSpPr>
            <a:spLocks xmlns:a="http://schemas.openxmlformats.org/drawingml/2006/main" noGrp="1"/>
          </p:cNvSpPr>
          <p:nvPr/>
        </p:nvSpPr>
        <p:spPr>
          <a:xfrm xmlns:a="http://schemas.openxmlformats.org/drawingml/2006/main">
            <a:off x="495300" y="6543675"/>
            <a:ext cx="7239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0">
                <a:solidFill>
                  <a:srgbClr val="617078"/>
                </a:solidFill>
                <a:latin typeface="Yu Gothic"/>
                <a:ea typeface="Yu Gothic"/>
                <a:cs typeface="Yu Gothic"/>
              </a:defRPr>
            </a:pPr>
            <a:r>
              <a:rPr sz="900" b="0">
                <a:solidFill>
                  <a:srgbClr val="617078"/>
                </a:solidFill>
                <a:latin typeface="Yu Gothic"/>
                <a:ea typeface="Yu Gothic"/>
                <a:cs typeface="Yu Gothic"/>
              </a:rPr>
              <a:t>FedPACT / NEXAR　研究会　2026.09.18</a:t>
            </a:r>
          </a:p>
        </p:txBody>
      </p:sp>
      <p:sp>
        <p:nvSpPr>
          <p:cNvPr id="7" name="">
            <a:extLst xmlns:a="http://schemas.openxmlformats.org/drawingml/2006/main">
              <a:ext uri="{FF2B5EF4-FFF2-40B4-BE49-F238E27FC236}">
                <a16:creationId xmlns:a16="http://schemas.microsoft.com/office/drawing/2014/main" id="{6CB8DFC8-389C-406B-BC17-694510D8C2A0}"/>
              </a:ext>
            </a:extLst>
          </p:cNvPr>
          <p:cNvSpPr>
            <a:spLocks xmlns:a="http://schemas.openxmlformats.org/drawingml/2006/main" noGrp="1"/>
          </p:cNvSpPr>
          <p:nvPr/>
        </p:nvSpPr>
        <p:spPr>
          <a:xfrm xmlns:a="http://schemas.openxmlformats.org/drawingml/2006/main">
            <a:off x="10477500" y="6543675"/>
            <a:ext cx="12001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0">
                <a:solidFill>
                  <a:srgbClr val="617078"/>
                </a:solidFill>
                <a:latin typeface="Yu Gothic"/>
                <a:ea typeface="Yu Gothic"/>
                <a:cs typeface="Yu Gothic"/>
              </a:defRPr>
            </a:pPr>
            <a:r>
              <a:rPr sz="900" b="0">
                <a:solidFill>
                  <a:srgbClr val="617078"/>
                </a:solidFill>
                <a:latin typeface="Yu Gothic"/>
                <a:ea typeface="Yu Gothic"/>
                <a:cs typeface="Yu Gothic"/>
              </a:rPr>
              <a:t>8 / 9</a:t>
            </a:r>
          </a:p>
        </p:txBody>
      </p:sp>
      <p:graphicFrame>
        <p:nvGraphicFramePr>
          <p:cNvPr id="24" name=""/>
          <p:cNvGraphicFramePr/>
          <p:nvPr/>
        </p:nvGraphicFramePr>
        <p:xfrm>
          <a:off xmlns:a="http://schemas.openxmlformats.org/drawingml/2006/main" x="619125" y="1257300"/>
          <a:ext xmlns:a="http://schemas.openxmlformats.org/drawingml/2006/main" cx="10953750" cy="2324100"/>
        </p:xfrm>
        <a:graphic xmlns:a="http://schemas.openxmlformats.org/drawingml/2006/main">
          <a:graphicData uri="http://schemas.openxmlformats.org/drawingml/2006/table">
            <a:tbl>
              <a:tblPr/>
              <a:tblGrid>
                <a:gridCol w="1095375"/>
                <a:gridCol w="2143125"/>
                <a:gridCol w="2381250"/>
                <a:gridCol w="2095500"/>
                <a:gridCol w="3238500"/>
              </a:tblGrid>
              <a:tr h="581025">
                <a:tc>
                  <a:txBody>
                    <a:bodyPr/>
                    <a:lstStyle/>
                    <a:p>
                      <a:r>
                        <a:rPr sz="1150" b="1">
                          <a:solidFill>
                            <a:srgbClr val="173B4B"/>
                          </a:solidFill>
                          <a:latin typeface="Yu Gothic"/>
                          <a:ea typeface="Yu Gothic"/>
                          <a:cs typeface="Yu Gothic"/>
                        </a:rPr>
                        <a:t>ラウンド</a:t>
                      </a:r>
                    </a:p>
                  </a:txBody>
                  <a:tcPr marL="91440" marR="91440" marT="45720" marB="45720"/>
                </a:tc>
                <a:tc>
                  <a:txBody>
                    <a:bodyPr/>
                    <a:lstStyle/>
                    <a:p>
                      <a:r>
                        <a:rPr sz="1150" b="1">
                          <a:solidFill>
                            <a:srgbClr val="173B4B"/>
                          </a:solidFill>
                          <a:latin typeface="Yu Gothic"/>
                          <a:ea typeface="Yu Gothic"/>
                          <a:cs typeface="Yu Gothic"/>
                        </a:rPr>
                        <a:t>2台の局所更新</a:t>
                      </a:r>
                    </a:p>
                  </a:txBody>
                  <a:tcPr marL="91440" marR="91440" marT="45720" marB="45720"/>
                </a:tc>
                <a:tc>
                  <a:txBody>
                    <a:bodyPr/>
                    <a:lstStyle/>
                    <a:p>
                      <a:r>
                        <a:rPr sz="1150" b="1">
                          <a:solidFill>
                            <a:srgbClr val="173B4B"/>
                          </a:solidFill>
                          <a:latin typeface="Yu Gothic"/>
                          <a:ea typeface="Yu Gothic"/>
                          <a:cs typeface="Yu Gothic"/>
                        </a:rPr>
                        <a:t>連合平均の再計算差</a:t>
                      </a:r>
                    </a:p>
                  </a:txBody>
                  <a:tcPr marL="91440" marR="91440" marT="45720" marB="45720"/>
                </a:tc>
                <a:tc>
                  <a:txBody>
                    <a:bodyPr/>
                    <a:lstStyle/>
                    <a:p>
                      <a:r>
                        <a:rPr sz="1150" b="1">
                          <a:solidFill>
                            <a:srgbClr val="173B4B"/>
                          </a:solidFill>
                          <a:latin typeface="Yu Gothic"/>
                          <a:ea typeface="Yu Gothic"/>
                          <a:cs typeface="Yu Gothic"/>
                        </a:rPr>
                        <a:t>次回入力との照合</a:t>
                      </a:r>
                    </a:p>
                  </a:txBody>
                  <a:tcPr marL="91440" marR="91440" marT="45720" marB="45720"/>
                </a:tc>
                <a:tc>
                  <a:txBody>
                    <a:bodyPr/>
                    <a:lstStyle/>
                    <a:p>
                      <a:r>
                        <a:rPr sz="1150" b="1">
                          <a:solidFill>
                            <a:srgbClr val="173B4B"/>
                          </a:solidFill>
                          <a:latin typeface="Yu Gothic"/>
                          <a:ea typeface="Yu Gothic"/>
                          <a:cs typeface="Yu Gothic"/>
                        </a:rPr>
                        <a:t>中央側AI更新（各ラウンドで選んだ4組）</a:t>
                      </a:r>
                    </a:p>
                  </a:txBody>
                  <a:tcPr marL="91440" marR="91440" marT="45720" marB="45720"/>
                </a:tc>
              </a:tr>
              <a:tr h="581025">
                <a:tc>
                  <a:txBody>
                    <a:bodyPr/>
                    <a:lstStyle/>
                    <a:p>
                      <a:r>
                        <a:rPr sz="1400" b="0">
                          <a:solidFill>
                            <a:srgbClr val="26373D"/>
                          </a:solidFill>
                          <a:latin typeface="Yu Gothic"/>
                          <a:ea typeface="Yu Gothic"/>
                          <a:cs typeface="Yu Gothic"/>
                        </a:rPr>
                        <a:t>1</a:t>
                      </a:r>
                    </a:p>
                  </a:txBody>
                  <a:tcPr marL="91440" marR="91440" marT="45720" marB="45720"/>
                </a:tc>
                <a:tc>
                  <a:txBody>
                    <a:bodyPr/>
                    <a:lstStyle/>
                    <a:p>
                      <a:r>
                        <a:rPr sz="1400" b="0">
                          <a:solidFill>
                            <a:srgbClr val="26373D"/>
                          </a:solidFill>
                          <a:latin typeface="Yu Gothic"/>
                          <a:ea typeface="Yu Gothic"/>
                          <a:cs typeface="Yu Gothic"/>
                        </a:rPr>
                        <a:t>2台とも非ゼロ</a:t>
                      </a:r>
                    </a:p>
                  </a:txBody>
                  <a:tcPr marL="91440" marR="91440" marT="45720" marB="45720"/>
                </a:tc>
                <a:tc>
                  <a:txBody>
                    <a:bodyPr/>
                    <a:lstStyle/>
                    <a:p>
                      <a:r>
                        <a:rPr sz="1400" b="0">
                          <a:solidFill>
                            <a:srgbClr val="26373D"/>
                          </a:solidFill>
                          <a:latin typeface="Yu Gothic"/>
                          <a:ea typeface="Yu Gothic"/>
                          <a:cs typeface="Yu Gothic"/>
                        </a:rPr>
                        <a:t>5.82 × 10⁻¹¹</a:t>
                      </a:r>
                    </a:p>
                  </a:txBody>
                  <a:tcPr marL="91440" marR="91440" marT="45720" marB="45720"/>
                </a:tc>
                <a:tc>
                  <a:txBody>
                    <a:bodyPr/>
                    <a:lstStyle/>
                    <a:p>
                      <a:r>
                        <a:rPr sz="1400" b="0">
                          <a:solidFill>
                            <a:srgbClr val="26373D"/>
                          </a:solidFill>
                          <a:latin typeface="Yu Gothic"/>
                          <a:ea typeface="Yu Gothic"/>
                          <a:cs typeface="Yu Gothic"/>
                        </a:rPr>
                        <a:t>一致</a:t>
                      </a:r>
                    </a:p>
                  </a:txBody>
                  <a:tcPr marL="91440" marR="91440" marT="45720" marB="45720"/>
                </a:tc>
                <a:tc>
                  <a:txBody>
                    <a:bodyPr/>
                    <a:lstStyle/>
                    <a:p>
                      <a:r>
                        <a:rPr sz="1400" b="0">
                          <a:solidFill>
                            <a:srgbClr val="26373D"/>
                          </a:solidFill>
                          <a:latin typeface="Yu Gothic"/>
                          <a:ea typeface="Yu Gothic"/>
                          <a:cs typeface="Yu Gothic"/>
                        </a:rPr>
                        <a:t>加重KL 0.0540 から 0.0534</a:t>
                      </a:r>
                    </a:p>
                  </a:txBody>
                  <a:tcPr marL="91440" marR="91440" marT="45720" marB="45720"/>
                </a:tc>
              </a:tr>
              <a:tr h="581025">
                <a:tc>
                  <a:txBody>
                    <a:bodyPr/>
                    <a:lstStyle/>
                    <a:p>
                      <a:r>
                        <a:rPr sz="1400" b="0">
                          <a:solidFill>
                            <a:srgbClr val="26373D"/>
                          </a:solidFill>
                          <a:latin typeface="Yu Gothic"/>
                          <a:ea typeface="Yu Gothic"/>
                          <a:cs typeface="Yu Gothic"/>
                        </a:rPr>
                        <a:t>2</a:t>
                      </a:r>
                    </a:p>
                  </a:txBody>
                  <a:tcPr marL="91440" marR="91440" marT="45720" marB="45720"/>
                </a:tc>
                <a:tc>
                  <a:txBody>
                    <a:bodyPr/>
                    <a:lstStyle/>
                    <a:p>
                      <a:r>
                        <a:rPr sz="1400" b="0">
                          <a:solidFill>
                            <a:srgbClr val="26373D"/>
                          </a:solidFill>
                          <a:latin typeface="Yu Gothic"/>
                          <a:ea typeface="Yu Gothic"/>
                          <a:cs typeface="Yu Gothic"/>
                        </a:rPr>
                        <a:t>2台とも非ゼロ</a:t>
                      </a:r>
                    </a:p>
                  </a:txBody>
                  <a:tcPr marL="91440" marR="91440" marT="45720" marB="45720"/>
                </a:tc>
                <a:tc>
                  <a:txBody>
                    <a:bodyPr/>
                    <a:lstStyle/>
                    <a:p>
                      <a:r>
                        <a:rPr sz="1400" b="0">
                          <a:solidFill>
                            <a:srgbClr val="26373D"/>
                          </a:solidFill>
                          <a:latin typeface="Yu Gothic"/>
                          <a:ea typeface="Yu Gothic"/>
                          <a:cs typeface="Yu Gothic"/>
                        </a:rPr>
                        <a:t>5.82 × 10⁻¹¹</a:t>
                      </a:r>
                    </a:p>
                  </a:txBody>
                  <a:tcPr marL="91440" marR="91440" marT="45720" marB="45720"/>
                </a:tc>
                <a:tc>
                  <a:txBody>
                    <a:bodyPr/>
                    <a:lstStyle/>
                    <a:p>
                      <a:r>
                        <a:rPr sz="1400" b="0">
                          <a:solidFill>
                            <a:srgbClr val="26373D"/>
                          </a:solidFill>
                          <a:latin typeface="Yu Gothic"/>
                          <a:ea typeface="Yu Gothic"/>
                          <a:cs typeface="Yu Gothic"/>
                        </a:rPr>
                        <a:t>一致</a:t>
                      </a:r>
                    </a:p>
                  </a:txBody>
                  <a:tcPr marL="91440" marR="91440" marT="45720" marB="45720"/>
                </a:tc>
                <a:tc>
                  <a:txBody>
                    <a:bodyPr/>
                    <a:lstStyle/>
                    <a:p>
                      <a:r>
                        <a:rPr sz="1400" b="0">
                          <a:solidFill>
                            <a:srgbClr val="26373D"/>
                          </a:solidFill>
                          <a:latin typeface="Yu Gothic"/>
                          <a:ea typeface="Yu Gothic"/>
                          <a:cs typeface="Yu Gothic"/>
                        </a:rPr>
                        <a:t>加重KL 18.478 から 18.339</a:t>
                      </a:r>
                    </a:p>
                  </a:txBody>
                  <a:tcPr marL="91440" marR="91440" marT="45720" marB="45720"/>
                </a:tc>
              </a:tr>
              <a:tr h="581025">
                <a:tc>
                  <a:txBody>
                    <a:bodyPr/>
                    <a:lstStyle/>
                    <a:p>
                      <a:r>
                        <a:rPr sz="1400" b="0">
                          <a:solidFill>
                            <a:srgbClr val="26373D"/>
                          </a:solidFill>
                          <a:latin typeface="Yu Gothic"/>
                          <a:ea typeface="Yu Gothic"/>
                          <a:cs typeface="Yu Gothic"/>
                        </a:rPr>
                        <a:t>3</a:t>
                      </a:r>
                    </a:p>
                  </a:txBody>
                  <a:tcPr marL="91440" marR="91440" marT="45720" marB="45720"/>
                </a:tc>
                <a:tc>
                  <a:txBody>
                    <a:bodyPr/>
                    <a:lstStyle/>
                    <a:p>
                      <a:r>
                        <a:rPr sz="1400" b="0">
                          <a:solidFill>
                            <a:srgbClr val="26373D"/>
                          </a:solidFill>
                          <a:latin typeface="Yu Gothic"/>
                          <a:ea typeface="Yu Gothic"/>
                          <a:cs typeface="Yu Gothic"/>
                        </a:rPr>
                        <a:t>2台とも非ゼロ</a:t>
                      </a:r>
                    </a:p>
                  </a:txBody>
                  <a:tcPr marL="91440" marR="91440" marT="45720" marB="45720"/>
                </a:tc>
                <a:tc>
                  <a:txBody>
                    <a:bodyPr/>
                    <a:lstStyle/>
                    <a:p>
                      <a:r>
                        <a:rPr sz="1400" b="0">
                          <a:solidFill>
                            <a:srgbClr val="26373D"/>
                          </a:solidFill>
                          <a:latin typeface="Yu Gothic"/>
                          <a:ea typeface="Yu Gothic"/>
                          <a:cs typeface="Yu Gothic"/>
                        </a:rPr>
                        <a:t>1.16 × 10⁻¹⁰</a:t>
                      </a:r>
                    </a:p>
                  </a:txBody>
                  <a:tcPr marL="91440" marR="91440" marT="45720" marB="45720"/>
                </a:tc>
                <a:tc>
                  <a:txBody>
                    <a:bodyPr/>
                    <a:lstStyle/>
                    <a:p>
                      <a:r>
                        <a:rPr sz="1400" b="0">
                          <a:solidFill>
                            <a:srgbClr val="26373D"/>
                          </a:solidFill>
                          <a:latin typeface="Yu Gothic"/>
                          <a:ea typeface="Yu Gothic"/>
                          <a:cs typeface="Yu Gothic"/>
                        </a:rPr>
                        <a:t>一致</a:t>
                      </a:r>
                    </a:p>
                  </a:txBody>
                  <a:tcPr marL="91440" marR="91440" marT="45720" marB="45720"/>
                </a:tc>
                <a:tc>
                  <a:txBody>
                    <a:bodyPr>
                      <a:normAutofit/>
                    </a:bodyPr>
                    <a:lstStyle/>
                    <a:p>
                      <a:pPr algn="ctr"/>
                      <a:r>
                        <a:rPr sz="1350" b="1">
                          <a:solidFill>
                            <a:srgbClr val="B94A3A"/>
                          </a:solidFill>
                          <a:latin typeface="Yu Gothic"/>
                          <a:ea typeface="Yu Gothic"/>
                          <a:cs typeface="Yu Gothic"/>
                        </a:rPr>
                        <a:t>加重KL 16.131 から 16.178</a:t>
                      </a:r>
                    </a:p>
                  </a:txBody>
                  <a:tcPr marL="91440" marR="91440" marT="45720" marB="45720" anchor="ctr">
                    <a:solidFill>
                      <a:srgbClr val="F5DFDA"/>
                    </a:solidFill>
                  </a:tcPr>
                </a:tc>
              </a:tr>
            </a:tbl>
          </a:graphicData>
        </a:graphic>
      </p:graphicFrame>
      <p:sp>
        <p:nvSpPr>
          <p:cNvPr id="9" name="">
            <a:extLst xmlns:a="http://schemas.openxmlformats.org/drawingml/2006/main">
              <a:ext uri="{FF2B5EF4-FFF2-40B4-BE49-F238E27FC236}">
                <a16:creationId xmlns:a16="http://schemas.microsoft.com/office/drawing/2014/main" id="{8FCC71C4-ED4C-450F-9B5C-500FA214EC3C}"/>
              </a:ext>
            </a:extLst>
          </p:cNvPr>
          <p:cNvSpPr>
            <a:spLocks xmlns:a="http://schemas.openxmlformats.org/drawingml/2006/main" noGrp="1"/>
          </p:cNvSpPr>
          <p:nvPr/>
        </p:nvSpPr>
        <p:spPr>
          <a:xfrm xmlns:a="http://schemas.openxmlformats.org/drawingml/2006/main">
            <a:off x="857250" y="371475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75" b="0">
                <a:solidFill>
                  <a:srgbClr val="617078"/>
                </a:solidFill>
                <a:latin typeface="Yu Gothic"/>
                <a:ea typeface="Yu Gothic"/>
                <a:cs typeface="Yu Gothic"/>
              </a:defRPr>
            </a:pPr>
            <a:r>
              <a:rPr sz="1275" b="0">
                <a:solidFill>
                  <a:srgbClr val="617078"/>
                </a:solidFill>
                <a:latin typeface="Yu Gothic"/>
                <a:ea typeface="Yu Gothic"/>
                <a:cs typeface="Yu Gothic"/>
              </a:rPr>
              <a:t>各ラウンドで代理データが異なるため、ずれの値をラウンド間の性能推移として比較しない</a:t>
            </a:r>
          </a:p>
        </p:txBody>
      </p:sp>
      <p:sp>
        <p:nvSpPr>
          <p:cNvPr id="10" name="">
            <a:extLst xmlns:a="http://schemas.openxmlformats.org/drawingml/2006/main">
              <a:ext uri="{FF2B5EF4-FFF2-40B4-BE49-F238E27FC236}">
                <a16:creationId xmlns:a16="http://schemas.microsoft.com/office/drawing/2014/main" id="{E7593CF2-6F4D-43F2-93C3-F8DC9216FBE8}"/>
              </a:ext>
            </a:extLst>
          </p:cNvPr>
          <p:cNvSpPr>
            <a:spLocks xmlns:a="http://schemas.openxmlformats.org/drawingml/2006/main" noGrp="1"/>
          </p:cNvSpPr>
          <p:nvPr/>
        </p:nvSpPr>
        <p:spPr>
          <a:xfrm xmlns:a="http://schemas.openxmlformats.org/drawingml/2006/main">
            <a:off x="685800" y="4191000"/>
            <a:ext cx="4953000" cy="1257300"/>
          </a:xfrm>
          <a:prstGeom xmlns:a="http://schemas.openxmlformats.org/drawingml/2006/main" prst="rect">
            <a:avLst/>
          </a:prstGeom>
          <a:solidFill xmlns:a="http://schemas.openxmlformats.org/drawingml/2006/main">
            <a:srgbClr val="E6F1F3"/>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144A770D-8EA2-44CD-A1DC-D3BCFD8AD732}"/>
              </a:ext>
            </a:extLst>
          </p:cNvPr>
          <p:cNvSpPr>
            <a:spLocks xmlns:a="http://schemas.openxmlformats.org/drawingml/2006/main" noGrp="1"/>
          </p:cNvSpPr>
          <p:nvPr/>
        </p:nvSpPr>
        <p:spPr>
          <a:xfrm xmlns:a="http://schemas.openxmlformats.org/drawingml/2006/main">
            <a:off x="933450" y="4371975"/>
            <a:ext cx="438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1">
                <a:solidFill>
                  <a:srgbClr val="147B78"/>
                </a:solidFill>
                <a:latin typeface="Yu Gothic"/>
                <a:ea typeface="Yu Gothic"/>
                <a:cs typeface="Yu Gothic"/>
              </a:defRPr>
            </a:pPr>
            <a:r>
              <a:rPr sz="1650" b="1">
                <a:solidFill>
                  <a:srgbClr val="147B78"/>
                </a:solidFill>
                <a:latin typeface="Yu Gothic"/>
                <a:ea typeface="Yu Gothic"/>
                <a:cs typeface="Yu Gothic"/>
              </a:rPr>
              <a:t>確認できたこと</a:t>
            </a:r>
          </a:p>
        </p:txBody>
      </p:sp>
      <p:sp>
        <p:nvSpPr>
          <p:cNvPr id="12" name="">
            <a:extLst xmlns:a="http://schemas.openxmlformats.org/drawingml/2006/main">
              <a:ext uri="{FF2B5EF4-FFF2-40B4-BE49-F238E27FC236}">
                <a16:creationId xmlns:a16="http://schemas.microsoft.com/office/drawing/2014/main" id="{A00A1503-1C09-4DDF-BD50-E29E6A344BA9}"/>
              </a:ext>
            </a:extLst>
          </p:cNvPr>
          <p:cNvSpPr>
            <a:spLocks xmlns:a="http://schemas.openxmlformats.org/drawingml/2006/main" noGrp="1"/>
          </p:cNvSpPr>
          <p:nvPr/>
        </p:nvSpPr>
        <p:spPr>
          <a:xfrm xmlns:a="http://schemas.openxmlformats.org/drawingml/2006/main">
            <a:off x="933450" y="4752975"/>
            <a:ext cx="4381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3333"/>
          </a:bodyPr>
          <a:lstStyle xmlns:a="http://schemas.openxmlformats.org/drawingml/2006/main"/>
          <a:p xmlns:a="http://schemas.openxmlformats.org/drawingml/2006/main">
            <a:pPr algn="l">
              <a:defRPr sz="1500" b="0">
                <a:solidFill>
                  <a:srgbClr val="26373D"/>
                </a:solidFill>
                <a:latin typeface="Yu Gothic"/>
                <a:ea typeface="Yu Gothic"/>
                <a:cs typeface="Yu Gothic"/>
              </a:defRPr>
            </a:pPr>
            <a:r>
              <a:rPr sz="1500" b="0">
                <a:solidFill>
                  <a:srgbClr val="26373D"/>
                </a:solidFill>
                <a:latin typeface="Yu Gothic"/>
                <a:ea typeface="Yu Gothic"/>
                <a:cs typeface="Yu Gothic"/>
              </a:rPr>
              <a:t>2台の更新は毎回ゼロではない</a:t>
            </a:r>
          </a:p>
          <a:p xmlns:a="http://schemas.openxmlformats.org/drawingml/2006/main">
            <a:pPr algn="l">
              <a:defRPr sz="1500" b="0">
                <a:solidFill>
                  <a:srgbClr val="26373D"/>
                </a:solidFill>
                <a:latin typeface="Yu Gothic"/>
                <a:ea typeface="Yu Gothic"/>
                <a:cs typeface="Yu Gothic"/>
              </a:defRPr>
            </a:pPr>
            <a:r>
              <a:rPr sz="1500" b="0">
                <a:solidFill>
                  <a:srgbClr val="26373D"/>
                </a:solidFill>
                <a:latin typeface="Yu Gothic"/>
                <a:ea typeface="Yu Gothic"/>
                <a:cs typeface="Yu Gothic"/>
              </a:rPr>
              <a:t>連合平均を別計算で再現</a:t>
            </a:r>
          </a:p>
          <a:p xmlns:a="http://schemas.openxmlformats.org/drawingml/2006/main">
            <a:pPr algn="l">
              <a:defRPr sz="1500" b="0">
                <a:solidFill>
                  <a:srgbClr val="26373D"/>
                </a:solidFill>
                <a:latin typeface="Yu Gothic"/>
                <a:ea typeface="Yu Gothic"/>
                <a:cs typeface="Yu Gothic"/>
              </a:defRPr>
            </a:pPr>
            <a:r>
              <a:rPr sz="1500" b="0">
                <a:solidFill>
                  <a:srgbClr val="26373D"/>
                </a:solidFill>
                <a:latin typeface="Yu Gothic"/>
                <a:ea typeface="Yu Gothic"/>
                <a:cs typeface="Yu Gothic"/>
              </a:rPr>
              <a:t>小型AIと中央側AIの状態が次回へ一致</a:t>
            </a:r>
          </a:p>
        </p:txBody>
      </p:sp>
      <p:sp>
        <p:nvSpPr>
          <p:cNvPr id="13" name="">
            <a:extLst xmlns:a="http://schemas.openxmlformats.org/drawingml/2006/main">
              <a:ext uri="{FF2B5EF4-FFF2-40B4-BE49-F238E27FC236}">
                <a16:creationId xmlns:a16="http://schemas.microsoft.com/office/drawing/2014/main" id="{79ECAD67-EA93-4D4E-A6D2-7C0059FFF5F0}"/>
              </a:ext>
            </a:extLst>
          </p:cNvPr>
          <p:cNvSpPr>
            <a:spLocks xmlns:a="http://schemas.openxmlformats.org/drawingml/2006/main" noGrp="1"/>
          </p:cNvSpPr>
          <p:nvPr/>
        </p:nvSpPr>
        <p:spPr>
          <a:xfrm xmlns:a="http://schemas.openxmlformats.org/drawingml/2006/main">
            <a:off x="5943600" y="4191000"/>
            <a:ext cx="5562600" cy="1257300"/>
          </a:xfrm>
          <a:prstGeom xmlns:a="http://schemas.openxmlformats.org/drawingml/2006/main" prst="rect">
            <a:avLst/>
          </a:prstGeom>
          <a:solidFill xmlns:a="http://schemas.openxmlformats.org/drawingml/2006/main">
            <a:srgbClr val="FAE9D8"/>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1F83DA09-102C-4C44-8A8C-D0DE6A84657D}"/>
              </a:ext>
            </a:extLst>
          </p:cNvPr>
          <p:cNvSpPr>
            <a:spLocks xmlns:a="http://schemas.openxmlformats.org/drawingml/2006/main" noGrp="1"/>
          </p:cNvSpPr>
          <p:nvPr/>
        </p:nvSpPr>
        <p:spPr>
          <a:xfrm xmlns:a="http://schemas.openxmlformats.org/drawingml/2006/main">
            <a:off x="6191250" y="4371975"/>
            <a:ext cx="4953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1">
                <a:solidFill>
                  <a:srgbClr val="E7833D"/>
                </a:solidFill>
                <a:latin typeface="Yu Gothic"/>
                <a:ea typeface="Yu Gothic"/>
                <a:cs typeface="Yu Gothic"/>
              </a:defRPr>
            </a:pPr>
            <a:r>
              <a:rPr sz="1650" b="1">
                <a:solidFill>
                  <a:srgbClr val="E7833D"/>
                </a:solidFill>
                <a:latin typeface="Yu Gothic"/>
                <a:ea typeface="Yu Gothic"/>
                <a:cs typeface="Yu Gothic"/>
              </a:rPr>
              <a:t>残った診断点</a:t>
            </a:r>
          </a:p>
        </p:txBody>
      </p:sp>
      <p:sp>
        <p:nvSpPr>
          <p:cNvPr id="15" name="">
            <a:extLst xmlns:a="http://schemas.openxmlformats.org/drawingml/2006/main">
              <a:ext uri="{FF2B5EF4-FFF2-40B4-BE49-F238E27FC236}">
                <a16:creationId xmlns:a16="http://schemas.microsoft.com/office/drawing/2014/main" id="{24A85B2D-BB83-4BB9-A1F3-BD3E0DD25589}"/>
              </a:ext>
            </a:extLst>
          </p:cNvPr>
          <p:cNvSpPr>
            <a:spLocks xmlns:a="http://schemas.openxmlformats.org/drawingml/2006/main" noGrp="1"/>
          </p:cNvSpPr>
          <p:nvPr/>
        </p:nvSpPr>
        <p:spPr>
          <a:xfrm xmlns:a="http://schemas.openxmlformats.org/drawingml/2006/main">
            <a:off x="6191250" y="4752975"/>
            <a:ext cx="4953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1">
                <a:solidFill>
                  <a:srgbClr val="26373D"/>
                </a:solidFill>
                <a:latin typeface="Yu Gothic"/>
                <a:ea typeface="Yu Gothic"/>
                <a:cs typeface="Yu Gothic"/>
              </a:defRPr>
            </a:pPr>
            <a:r>
              <a:rPr sz="1575" b="1">
                <a:solidFill>
                  <a:srgbClr val="26373D"/>
                </a:solidFill>
                <a:latin typeface="Yu Gothic"/>
                <a:ea typeface="Yu Gothic"/>
                <a:cs typeface="Yu Gothic"/>
              </a:rPr>
              <a:t>1ラウンド目は変化の方向が4件中3件一致</a:t>
            </a:r>
          </a:p>
          <a:p xmlns:a="http://schemas.openxmlformats.org/drawingml/2006/main">
            <a:pPr algn="l">
              <a:defRPr sz="1575" b="1">
                <a:solidFill>
                  <a:srgbClr val="26373D"/>
                </a:solidFill>
                <a:latin typeface="Yu Gothic"/>
                <a:ea typeface="Yu Gothic"/>
                <a:cs typeface="Yu Gothic"/>
              </a:defRPr>
            </a:pPr>
            <a:r>
              <a:rPr sz="1575" b="1">
                <a:solidFill>
                  <a:srgbClr val="26373D"/>
                </a:solidFill>
                <a:latin typeface="Yu Gothic"/>
                <a:ea typeface="Yu Gothic"/>
                <a:cs typeface="Yu Gothic"/>
              </a:rPr>
              <a:t>3ラウンド目は中央側AIのずれが増加</a:t>
            </a:r>
          </a:p>
        </p:txBody>
      </p:sp>
      <p:sp>
        <p:nvSpPr>
          <p:cNvPr id="16" name="">
            <a:extLst xmlns:a="http://schemas.openxmlformats.org/drawingml/2006/main">
              <a:ext uri="{FF2B5EF4-FFF2-40B4-BE49-F238E27FC236}">
                <a16:creationId xmlns:a16="http://schemas.microsoft.com/office/drawing/2014/main" id="{509B83EE-144C-46C6-8088-A053FCF76DA4}"/>
              </a:ext>
            </a:extLst>
          </p:cNvPr>
          <p:cNvSpPr>
            <a:spLocks xmlns:a="http://schemas.openxmlformats.org/drawingml/2006/main" noGrp="1"/>
          </p:cNvSpPr>
          <p:nvPr/>
        </p:nvSpPr>
        <p:spPr>
          <a:xfrm xmlns:a="http://schemas.openxmlformats.org/drawingml/2006/main">
            <a:off x="914400" y="5838825"/>
            <a:ext cx="10363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650" b="1">
                <a:solidFill>
                  <a:srgbClr val="B94A3A"/>
                </a:solidFill>
                <a:latin typeface="Yu Gothic"/>
                <a:ea typeface="Yu Gothic"/>
                <a:cs typeface="Yu Gothic"/>
              </a:defRPr>
            </a:pPr>
            <a:r>
              <a:rPr sz="1650" b="1">
                <a:solidFill>
                  <a:srgbClr val="B94A3A"/>
                </a:solidFill>
                <a:latin typeface="Yu Gothic"/>
                <a:ea typeface="Yu Gothic"/>
                <a:cs typeface="Yu Gothic"/>
              </a:rPr>
              <a:t>今回の合格は『実行・接続・状態継承』。代理データの品質や学習効果の合格ではない。</a:t>
            </a:r>
          </a:p>
        </p:txBody>
      </p:sp>
    </p:spTree>
    <p:extLst>
      <p:ext uri="{BB962C8B-B14F-4D97-AF65-F5344CB8AC3E}">
        <p14:creationId xmlns:p14="http://schemas.microsoft.com/office/powerpoint/2010/main" val="1671215054"/>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6C27E6FD-82A9-47A0-ABFD-81E12C6C4E72}"/>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5E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9E2F545-ADAD-4234-92E1-2B5747D63CCA}"/>
              </a:ext>
            </a:extLst>
          </p:cNvPr>
          <p:cNvSpPr>
            <a:spLocks xmlns:a="http://schemas.openxmlformats.org/drawingml/2006/main" noGrp="1"/>
          </p:cNvSpPr>
          <p:nvPr/>
        </p:nvSpPr>
        <p:spPr>
          <a:xfrm xmlns:a="http://schemas.openxmlformats.org/drawingml/2006/main">
            <a:off x="381000" y="342900"/>
            <a:ext cx="66675" cy="514350"/>
          </a:xfrm>
          <a:prstGeom xmlns:a="http://schemas.openxmlformats.org/drawingml/2006/main" prst="rect">
            <a:avLst/>
          </a:prstGeom>
          <a:solidFill xmlns:a="http://schemas.openxmlformats.org/drawingml/2006/main">
            <a:srgbClr val="147B78"/>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C40E8051-6528-4F9F-94A3-E6D21177A83E}"/>
              </a:ext>
            </a:extLst>
          </p:cNvPr>
          <p:cNvSpPr>
            <a:spLocks xmlns:a="http://schemas.openxmlformats.org/drawingml/2006/main" noGrp="1"/>
          </p:cNvSpPr>
          <p:nvPr/>
        </p:nvSpPr>
        <p:spPr>
          <a:xfrm xmlns:a="http://schemas.openxmlformats.org/drawingml/2006/main">
            <a:off x="590550" y="323850"/>
            <a:ext cx="10572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2850" b="1">
                <a:solidFill>
                  <a:srgbClr val="173B4B"/>
                </a:solidFill>
                <a:latin typeface="Yu Gothic"/>
                <a:ea typeface="Yu Gothic"/>
                <a:cs typeface="Yu Gothic"/>
              </a:defRPr>
            </a:pPr>
            <a:r>
              <a:rPr sz="2850" b="1">
                <a:solidFill>
                  <a:srgbClr val="173B4B"/>
                </a:solidFill>
                <a:latin typeface="Yu Gothic"/>
                <a:ea typeface="Yu Gothic"/>
                <a:cs typeface="Yu Gothic"/>
              </a:rPr>
              <a:t>結論と今後</a:t>
            </a:r>
          </a:p>
        </p:txBody>
      </p:sp>
      <p:sp>
        <p:nvSpPr>
          <p:cNvPr id="4" name="">
            <a:extLst xmlns:a="http://schemas.openxmlformats.org/drawingml/2006/main">
              <a:ext uri="{FF2B5EF4-FFF2-40B4-BE49-F238E27FC236}">
                <a16:creationId xmlns:a16="http://schemas.microsoft.com/office/drawing/2014/main" id="{981B0D94-A12C-4696-8C60-3BD64DC79282}"/>
              </a:ext>
            </a:extLst>
          </p:cNvPr>
          <p:cNvSpPr>
            <a:spLocks xmlns:a="http://schemas.openxmlformats.org/drawingml/2006/main" noGrp="1"/>
          </p:cNvSpPr>
          <p:nvPr/>
        </p:nvSpPr>
        <p:spPr>
          <a:xfrm xmlns:a="http://schemas.openxmlformats.org/drawingml/2006/main">
            <a:off x="11306175" y="428625"/>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200" b="1">
                <a:solidFill>
                  <a:srgbClr val="147B78"/>
                </a:solidFill>
                <a:latin typeface="Yu Gothic"/>
                <a:ea typeface="Yu Gothic"/>
                <a:cs typeface="Yu Gothic"/>
              </a:defRPr>
            </a:pPr>
            <a:r>
              <a:rPr sz="1200" b="1">
                <a:solidFill>
                  <a:srgbClr val="147B78"/>
                </a:solidFill>
                <a:latin typeface="Yu Gothic"/>
                <a:ea typeface="Yu Gothic"/>
                <a:cs typeface="Yu Gothic"/>
              </a:rPr>
              <a:t>09</a:t>
            </a:r>
          </a:p>
        </p:txBody>
      </p:sp>
      <p:sp>
        <p:nvSpPr>
          <p:cNvPr id="5" name="">
            <a:extLst xmlns:a="http://schemas.openxmlformats.org/drawingml/2006/main">
              <a:ext uri="{FF2B5EF4-FFF2-40B4-BE49-F238E27FC236}">
                <a16:creationId xmlns:a16="http://schemas.microsoft.com/office/drawing/2014/main" id="{E26F7C8D-C1AD-4E3E-85F1-D8EE6744E09E}"/>
              </a:ext>
            </a:extLst>
          </p:cNvPr>
          <p:cNvSpPr>
            <a:spLocks xmlns:a="http://schemas.openxmlformats.org/drawingml/2006/main" noGrp="1"/>
          </p:cNvSpPr>
          <p:nvPr/>
        </p:nvSpPr>
        <p:spPr>
          <a:xfrm xmlns:a="http://schemas.openxmlformats.org/drawingml/2006/main">
            <a:off x="457200" y="6477000"/>
            <a:ext cx="11277600" cy="14288"/>
          </a:xfrm>
          <a:prstGeom xmlns:a="http://schemas.openxmlformats.org/drawingml/2006/main" prst="rect">
            <a:avLst/>
          </a:prstGeom>
          <a:solidFill xmlns:a="http://schemas.openxmlformats.org/drawingml/2006/main">
            <a:srgbClr val="C9D2D3"/>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63AD5B9E-F642-43E7-801D-268411DA70BE}"/>
              </a:ext>
            </a:extLst>
          </p:cNvPr>
          <p:cNvSpPr>
            <a:spLocks xmlns:a="http://schemas.openxmlformats.org/drawingml/2006/main" noGrp="1"/>
          </p:cNvSpPr>
          <p:nvPr/>
        </p:nvSpPr>
        <p:spPr>
          <a:xfrm xmlns:a="http://schemas.openxmlformats.org/drawingml/2006/main">
            <a:off x="495300" y="6543675"/>
            <a:ext cx="7239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0">
                <a:solidFill>
                  <a:srgbClr val="617078"/>
                </a:solidFill>
                <a:latin typeface="Yu Gothic"/>
                <a:ea typeface="Yu Gothic"/>
                <a:cs typeface="Yu Gothic"/>
              </a:defRPr>
            </a:pPr>
            <a:r>
              <a:rPr sz="900" b="0">
                <a:solidFill>
                  <a:srgbClr val="617078"/>
                </a:solidFill>
                <a:latin typeface="Yu Gothic"/>
                <a:ea typeface="Yu Gothic"/>
                <a:cs typeface="Yu Gothic"/>
              </a:rPr>
              <a:t>FedPACT / NEXAR　研究会　2026.09.18</a:t>
            </a:r>
          </a:p>
        </p:txBody>
      </p:sp>
      <p:sp>
        <p:nvSpPr>
          <p:cNvPr id="7" name="">
            <a:extLst xmlns:a="http://schemas.openxmlformats.org/drawingml/2006/main">
              <a:ext uri="{FF2B5EF4-FFF2-40B4-BE49-F238E27FC236}">
                <a16:creationId xmlns:a16="http://schemas.microsoft.com/office/drawing/2014/main" id="{D0994FB1-5B34-4B28-8372-3B1DF6ED0691}"/>
              </a:ext>
            </a:extLst>
          </p:cNvPr>
          <p:cNvSpPr>
            <a:spLocks xmlns:a="http://schemas.openxmlformats.org/drawingml/2006/main" noGrp="1"/>
          </p:cNvSpPr>
          <p:nvPr/>
        </p:nvSpPr>
        <p:spPr>
          <a:xfrm xmlns:a="http://schemas.openxmlformats.org/drawingml/2006/main">
            <a:off x="10477500" y="6543675"/>
            <a:ext cx="12001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0">
                <a:solidFill>
                  <a:srgbClr val="617078"/>
                </a:solidFill>
                <a:latin typeface="Yu Gothic"/>
                <a:ea typeface="Yu Gothic"/>
                <a:cs typeface="Yu Gothic"/>
              </a:defRPr>
            </a:pPr>
            <a:r>
              <a:rPr sz="900" b="0">
                <a:solidFill>
                  <a:srgbClr val="617078"/>
                </a:solidFill>
                <a:latin typeface="Yu Gothic"/>
                <a:ea typeface="Yu Gothic"/>
                <a:cs typeface="Yu Gothic"/>
              </a:rPr>
              <a:t>9 / 9</a:t>
            </a:r>
          </a:p>
        </p:txBody>
      </p:sp>
      <p:sp>
        <p:nvSpPr>
          <p:cNvPr id="8" name="">
            <a:extLst xmlns:a="http://schemas.openxmlformats.org/drawingml/2006/main">
              <a:ext uri="{FF2B5EF4-FFF2-40B4-BE49-F238E27FC236}">
                <a16:creationId xmlns:a16="http://schemas.microsoft.com/office/drawing/2014/main" id="{C167F75C-FC54-4BC5-914C-3240681AC9F8}"/>
              </a:ext>
            </a:extLst>
          </p:cNvPr>
          <p:cNvSpPr>
            <a:spLocks xmlns:a="http://schemas.openxmlformats.org/drawingml/2006/main" noGrp="1"/>
          </p:cNvSpPr>
          <p:nvPr/>
        </p:nvSpPr>
        <p:spPr>
          <a:xfrm xmlns:a="http://schemas.openxmlformats.org/drawingml/2006/main">
            <a:off x="723900" y="1123950"/>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00" b="1">
                <a:solidFill>
                  <a:srgbClr val="147B78"/>
                </a:solidFill>
                <a:latin typeface="Yu Gothic"/>
                <a:ea typeface="Yu Gothic"/>
                <a:cs typeface="Yu Gothic"/>
              </a:defRPr>
            </a:pPr>
            <a:r>
              <a:rPr sz="1800" b="1">
                <a:solidFill>
                  <a:srgbClr val="147B78"/>
                </a:solidFill>
                <a:latin typeface="Yu Gothic"/>
                <a:ea typeface="Yu Gothic"/>
                <a:cs typeface="Yu Gothic"/>
              </a:rPr>
              <a:t>今回確認できたこと</a:t>
            </a:r>
          </a:p>
        </p:txBody>
      </p:sp>
      <p:sp>
        <p:nvSpPr>
          <p:cNvPr id="9" name="">
            <a:extLst xmlns:a="http://schemas.openxmlformats.org/drawingml/2006/main">
              <a:ext uri="{FF2B5EF4-FFF2-40B4-BE49-F238E27FC236}">
                <a16:creationId xmlns:a16="http://schemas.microsoft.com/office/drawing/2014/main" id="{BDD9D745-D34D-4D9C-9940-507C760C18F0}"/>
              </a:ext>
            </a:extLst>
          </p:cNvPr>
          <p:cNvSpPr>
            <a:spLocks xmlns:a="http://schemas.openxmlformats.org/drawingml/2006/main" noGrp="1"/>
          </p:cNvSpPr>
          <p:nvPr/>
        </p:nvSpPr>
        <p:spPr>
          <a:xfrm xmlns:a="http://schemas.openxmlformats.org/drawingml/2006/main">
            <a:off x="781050" y="1638300"/>
            <a:ext cx="47625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4000"/>
              </a:lnSpc>
              <a:buNone/>
              <a:defRPr sz="1575" b="0">
                <a:solidFill>
                  <a:srgbClr val="26373D"/>
                </a:solidFill>
                <a:latin typeface="Yu Gothic"/>
                <a:ea typeface="Yu Gothic"/>
                <a:cs typeface="Yu Gothic"/>
              </a:defRPr>
            </a:pPr>
            <a:r>
              <a:rPr sz="1575" b="0">
                <a:solidFill>
                  <a:srgbClr val="26373D"/>
                </a:solidFill>
                <a:latin typeface="Yu Gothic"/>
                <a:ea typeface="Yu Gothic"/>
                <a:cs typeface="Yu Gothic"/>
              </a:rPr>
              <a:t>・代表動画の反応を要約し、代理データへ対応付け</a:t>
            </a:r>
          </a:p>
          <a:p xmlns:a="http://schemas.openxmlformats.org/drawingml/2006/main">
            <a:pPr algn="l">
              <a:lnSpc>
                <a:spcPct val="114000"/>
              </a:lnSpc>
              <a:buNone/>
              <a:defRPr sz="1575" b="0">
                <a:solidFill>
                  <a:srgbClr val="26373D"/>
                </a:solidFill>
                <a:latin typeface="Yu Gothic"/>
                <a:ea typeface="Yu Gothic"/>
                <a:cs typeface="Yu Gothic"/>
              </a:defRPr>
            </a:pPr>
            <a:r>
              <a:rPr sz="1575" b="0">
                <a:solidFill>
                  <a:srgbClr val="26373D"/>
                </a:solidFill>
                <a:latin typeface="Yu Gothic"/>
                <a:ea typeface="Yu Gothic"/>
                <a:cs typeface="Yu Gothic"/>
              </a:rPr>
              <a:t>・3層を接続して中央側AIを更新</a:t>
            </a:r>
          </a:p>
          <a:p xmlns:a="http://schemas.openxmlformats.org/drawingml/2006/main">
            <a:pPr algn="l">
              <a:lnSpc>
                <a:spcPct val="114000"/>
              </a:lnSpc>
              <a:buNone/>
              <a:defRPr sz="1575" b="0">
                <a:solidFill>
                  <a:srgbClr val="26373D"/>
                </a:solidFill>
                <a:latin typeface="Yu Gothic"/>
                <a:ea typeface="Yu Gothic"/>
                <a:cs typeface="Yu Gothic"/>
              </a:defRPr>
            </a:pPr>
            <a:r>
              <a:rPr sz="1575" b="0">
                <a:solidFill>
                  <a:srgbClr val="26373D"/>
                </a:solidFill>
                <a:latin typeface="Yu Gothic"/>
                <a:ea typeface="Yu Gothic"/>
                <a:cs typeface="Yu Gothic"/>
              </a:rPr>
              <a:t>・3ラウンドの状態をログから追跡</a:t>
            </a:r>
          </a:p>
        </p:txBody>
      </p:sp>
      <p:sp>
        <p:nvSpPr>
          <p:cNvPr id="10" name="">
            <a:extLst xmlns:a="http://schemas.openxmlformats.org/drawingml/2006/main">
              <a:ext uri="{FF2B5EF4-FFF2-40B4-BE49-F238E27FC236}">
                <a16:creationId xmlns:a16="http://schemas.microsoft.com/office/drawing/2014/main" id="{BDB9C566-D905-49A9-AAD5-F26346231CCC}"/>
              </a:ext>
            </a:extLst>
          </p:cNvPr>
          <p:cNvSpPr>
            <a:spLocks xmlns:a="http://schemas.openxmlformats.org/drawingml/2006/main" noGrp="1"/>
          </p:cNvSpPr>
          <p:nvPr/>
        </p:nvSpPr>
        <p:spPr>
          <a:xfrm xmlns:a="http://schemas.openxmlformats.org/drawingml/2006/main">
            <a:off x="5924550" y="1123950"/>
            <a:ext cx="19050" cy="2095500"/>
          </a:xfrm>
          <a:prstGeom xmlns:a="http://schemas.openxmlformats.org/drawingml/2006/main" prst="rect">
            <a:avLst/>
          </a:prstGeom>
          <a:solidFill xmlns:a="http://schemas.openxmlformats.org/drawingml/2006/main">
            <a:srgbClr val="C9D2D3"/>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38CBEA53-E6FB-449B-A149-A2134B1D12E8}"/>
              </a:ext>
            </a:extLst>
          </p:cNvPr>
          <p:cNvSpPr>
            <a:spLocks xmlns:a="http://schemas.openxmlformats.org/drawingml/2006/main" noGrp="1"/>
          </p:cNvSpPr>
          <p:nvPr/>
        </p:nvSpPr>
        <p:spPr>
          <a:xfrm xmlns:a="http://schemas.openxmlformats.org/drawingml/2006/main">
            <a:off x="6324600" y="1123950"/>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00" b="1">
                <a:solidFill>
                  <a:srgbClr val="B94A3A"/>
                </a:solidFill>
                <a:latin typeface="Yu Gothic"/>
                <a:ea typeface="Yu Gothic"/>
                <a:cs typeface="Yu Gothic"/>
              </a:defRPr>
            </a:pPr>
            <a:r>
              <a:rPr sz="1800" b="1">
                <a:solidFill>
                  <a:srgbClr val="B94A3A"/>
                </a:solidFill>
                <a:latin typeface="Yu Gothic"/>
                <a:ea typeface="Yu Gothic"/>
                <a:cs typeface="Yu Gothic"/>
              </a:rPr>
              <a:t>まだ言えないこと</a:t>
            </a:r>
          </a:p>
        </p:txBody>
      </p:sp>
      <p:sp>
        <p:nvSpPr>
          <p:cNvPr id="12" name="">
            <a:extLst xmlns:a="http://schemas.openxmlformats.org/drawingml/2006/main">
              <a:ext uri="{FF2B5EF4-FFF2-40B4-BE49-F238E27FC236}">
                <a16:creationId xmlns:a16="http://schemas.microsoft.com/office/drawing/2014/main" id="{AB172393-D4ED-4FA4-B3F5-085C7D77A6C7}"/>
              </a:ext>
            </a:extLst>
          </p:cNvPr>
          <p:cNvSpPr>
            <a:spLocks xmlns:a="http://schemas.openxmlformats.org/drawingml/2006/main" noGrp="1"/>
          </p:cNvSpPr>
          <p:nvPr/>
        </p:nvSpPr>
        <p:spPr>
          <a:xfrm xmlns:a="http://schemas.openxmlformats.org/drawingml/2006/main">
            <a:off x="6381750" y="1638300"/>
            <a:ext cx="4762500"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650" b="0">
                <a:solidFill>
                  <a:srgbClr val="26373D"/>
                </a:solidFill>
                <a:latin typeface="Yu Gothic"/>
                <a:ea typeface="Yu Gothic"/>
                <a:cs typeface="Yu Gothic"/>
              </a:defRPr>
            </a:pPr>
            <a:r>
              <a:rPr sz="1650" b="0">
                <a:solidFill>
                  <a:srgbClr val="26373D"/>
                </a:solidFill>
                <a:latin typeface="Yu Gothic"/>
                <a:ea typeface="Yu Gothic"/>
                <a:cs typeface="Yu Gothic"/>
              </a:rPr>
              <a:t>・性能向上と未知動画への転移</a:t>
            </a:r>
          </a:p>
          <a:p xmlns:a="http://schemas.openxmlformats.org/drawingml/2006/main">
            <a:pPr algn="l">
              <a:lnSpc>
                <a:spcPct val="112000"/>
              </a:lnSpc>
              <a:buNone/>
              <a:defRPr sz="1650" b="0">
                <a:solidFill>
                  <a:srgbClr val="26373D"/>
                </a:solidFill>
                <a:latin typeface="Yu Gothic"/>
                <a:ea typeface="Yu Gothic"/>
                <a:cs typeface="Yu Gothic"/>
              </a:defRPr>
            </a:pPr>
            <a:r>
              <a:rPr sz="1650" b="0">
                <a:solidFill>
                  <a:srgbClr val="26373D"/>
                </a:solidFill>
                <a:latin typeface="Yu Gothic"/>
                <a:ea typeface="Yu Gothic"/>
                <a:cs typeface="Yu Gothic"/>
              </a:rPr>
              <a:t>・代理データが現場の学習を十分に再現したこと</a:t>
            </a:r>
          </a:p>
          <a:p xmlns:a="http://schemas.openxmlformats.org/drawingml/2006/main">
            <a:pPr algn="l">
              <a:lnSpc>
                <a:spcPct val="112000"/>
              </a:lnSpc>
              <a:buNone/>
              <a:defRPr sz="1650" b="0">
                <a:solidFill>
                  <a:srgbClr val="26373D"/>
                </a:solidFill>
                <a:latin typeface="Yu Gothic"/>
                <a:ea typeface="Yu Gothic"/>
                <a:cs typeface="Yu Gothic"/>
              </a:defRPr>
            </a:pPr>
            <a:r>
              <a:rPr sz="1650" b="0">
                <a:solidFill>
                  <a:srgbClr val="26373D"/>
                </a:solidFill>
                <a:latin typeface="Yu Gothic"/>
                <a:ea typeface="Yu Gothic"/>
                <a:cs typeface="Yu Gothic"/>
              </a:rPr>
              <a:t>・構造や規模が異なるAI間の転移</a:t>
            </a:r>
          </a:p>
          <a:p xmlns:a="http://schemas.openxmlformats.org/drawingml/2006/main">
            <a:pPr algn="l">
              <a:lnSpc>
                <a:spcPct val="112000"/>
              </a:lnSpc>
              <a:buNone/>
              <a:defRPr sz="1650" b="0">
                <a:solidFill>
                  <a:srgbClr val="26373D"/>
                </a:solidFill>
                <a:latin typeface="Yu Gothic"/>
                <a:ea typeface="Yu Gothic"/>
                <a:cs typeface="Yu Gothic"/>
              </a:defRPr>
            </a:pPr>
            <a:r>
              <a:rPr sz="1650" b="0">
                <a:solidFill>
                  <a:srgbClr val="26373D"/>
                </a:solidFill>
                <a:latin typeface="Yu Gothic"/>
                <a:ea typeface="Yu Gothic"/>
                <a:cs typeface="Yu Gothic"/>
              </a:rPr>
              <a:t>・情報漏えいへの形式的保証</a:t>
            </a:r>
          </a:p>
        </p:txBody>
      </p:sp>
      <p:sp>
        <p:nvSpPr>
          <p:cNvPr id="13" name="">
            <a:extLst xmlns:a="http://schemas.openxmlformats.org/drawingml/2006/main">
              <a:ext uri="{FF2B5EF4-FFF2-40B4-BE49-F238E27FC236}">
                <a16:creationId xmlns:a16="http://schemas.microsoft.com/office/drawing/2014/main" id="{9257D678-47E9-4C77-BA5E-643757F55203}"/>
              </a:ext>
            </a:extLst>
          </p:cNvPr>
          <p:cNvSpPr>
            <a:spLocks xmlns:a="http://schemas.openxmlformats.org/drawingml/2006/main" noGrp="1"/>
          </p:cNvSpPr>
          <p:nvPr/>
        </p:nvSpPr>
        <p:spPr>
          <a:xfrm xmlns:a="http://schemas.openxmlformats.org/drawingml/2006/main">
            <a:off x="685800" y="3486150"/>
            <a:ext cx="10820400" cy="14288"/>
          </a:xfrm>
          <a:prstGeom xmlns:a="http://schemas.openxmlformats.org/drawingml/2006/main" prst="rect">
            <a:avLst/>
          </a:prstGeom>
          <a:solidFill xmlns:a="http://schemas.openxmlformats.org/drawingml/2006/main">
            <a:srgbClr val="87979C"/>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C56A2C1E-0269-4FE5-A291-F699B490E4AE}"/>
              </a:ext>
            </a:extLst>
          </p:cNvPr>
          <p:cNvSpPr>
            <a:spLocks xmlns:a="http://schemas.openxmlformats.org/drawingml/2006/main" noGrp="1"/>
          </p:cNvSpPr>
          <p:nvPr/>
        </p:nvSpPr>
        <p:spPr>
          <a:xfrm xmlns:a="http://schemas.openxmlformats.org/drawingml/2006/main">
            <a:off x="742950" y="3724275"/>
            <a:ext cx="190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1">
                <a:solidFill>
                  <a:srgbClr val="173B4B"/>
                </a:solidFill>
                <a:latin typeface="Yu Gothic"/>
                <a:ea typeface="Yu Gothic"/>
                <a:cs typeface="Yu Gothic"/>
              </a:defRPr>
            </a:pPr>
            <a:r>
              <a:rPr sz="1650" b="1">
                <a:solidFill>
                  <a:srgbClr val="173B4B"/>
                </a:solidFill>
                <a:latin typeface="Yu Gothic"/>
                <a:ea typeface="Yu Gothic"/>
                <a:cs typeface="Yu Gothic"/>
              </a:rPr>
              <a:t>今後の順序</a:t>
            </a:r>
          </a:p>
        </p:txBody>
      </p:sp>
      <p:sp>
        <p:nvSpPr>
          <p:cNvPr id="15" name="">
            <a:extLst xmlns:a="http://schemas.openxmlformats.org/drawingml/2006/main">
              <a:ext uri="{FF2B5EF4-FFF2-40B4-BE49-F238E27FC236}">
                <a16:creationId xmlns:a16="http://schemas.microsoft.com/office/drawing/2014/main" id="{02FEA47E-8AD3-4971-B323-7DD04BF2F527}"/>
              </a:ext>
            </a:extLst>
          </p:cNvPr>
          <p:cNvSpPr>
            <a:spLocks xmlns:a="http://schemas.openxmlformats.org/drawingml/2006/main" noGrp="1"/>
          </p:cNvSpPr>
          <p:nvPr/>
        </p:nvSpPr>
        <p:spPr>
          <a:xfrm xmlns:a="http://schemas.openxmlformats.org/drawingml/2006/main">
            <a:off x="800100" y="4171950"/>
            <a:ext cx="400050" cy="400050"/>
          </a:xfrm>
          <a:prstGeom xmlns:a="http://schemas.openxmlformats.org/drawingml/2006/main" prst="ellipse">
            <a:avLst/>
          </a:prstGeom>
          <a:solidFill xmlns:a="http://schemas.openxmlformats.org/drawingml/2006/main">
            <a:srgbClr val="B94A3A"/>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C07A92CD-D51D-4408-ACDA-6F669E2440A4}"/>
              </a:ext>
            </a:extLst>
          </p:cNvPr>
          <p:cNvSpPr>
            <a:spLocks xmlns:a="http://schemas.openxmlformats.org/drawingml/2006/main" noGrp="1"/>
          </p:cNvSpPr>
          <p:nvPr/>
        </p:nvSpPr>
        <p:spPr>
          <a:xfrm xmlns:a="http://schemas.openxmlformats.org/drawingml/2006/main">
            <a:off x="800100" y="4219575"/>
            <a:ext cx="4000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425" b="1">
                <a:solidFill>
                  <a:srgbClr val="FFFFFF"/>
                </a:solidFill>
                <a:latin typeface="Yu Gothic"/>
                <a:ea typeface="Yu Gothic"/>
                <a:cs typeface="Yu Gothic"/>
              </a:defRPr>
            </a:pPr>
            <a:r>
              <a:rPr sz="1425" b="1">
                <a:solidFill>
                  <a:srgbClr val="FFFFFF"/>
                </a:solidFill>
                <a:latin typeface="Yu Gothic"/>
                <a:ea typeface="Yu Gothic"/>
                <a:cs typeface="Yu Gothic"/>
              </a:rPr>
              <a:t>1</a:t>
            </a:r>
          </a:p>
        </p:txBody>
      </p:sp>
      <p:sp>
        <p:nvSpPr>
          <p:cNvPr id="17" name="">
            <a:extLst xmlns:a="http://schemas.openxmlformats.org/drawingml/2006/main">
              <a:ext uri="{FF2B5EF4-FFF2-40B4-BE49-F238E27FC236}">
                <a16:creationId xmlns:a16="http://schemas.microsoft.com/office/drawing/2014/main" id="{807775B3-9646-43D9-A4E5-CA6539B71C7E}"/>
              </a:ext>
            </a:extLst>
          </p:cNvPr>
          <p:cNvSpPr>
            <a:spLocks xmlns:a="http://schemas.openxmlformats.org/drawingml/2006/main" noGrp="1"/>
          </p:cNvSpPr>
          <p:nvPr/>
        </p:nvSpPr>
        <p:spPr>
          <a:xfrm xmlns:a="http://schemas.openxmlformats.org/drawingml/2006/main">
            <a:off x="1428750" y="4152900"/>
            <a:ext cx="3143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1">
                <a:solidFill>
                  <a:srgbClr val="173B4B"/>
                </a:solidFill>
                <a:latin typeface="Yu Gothic"/>
                <a:ea typeface="Yu Gothic"/>
                <a:cs typeface="Yu Gothic"/>
              </a:defRPr>
            </a:pPr>
            <a:r>
              <a:rPr sz="1650" b="1">
                <a:solidFill>
                  <a:srgbClr val="173B4B"/>
                </a:solidFill>
                <a:latin typeface="Yu Gothic"/>
                <a:ea typeface="Yu Gothic"/>
                <a:cs typeface="Yu Gothic"/>
              </a:rPr>
              <a:t>中央側AIの更新方向を確認</a:t>
            </a:r>
          </a:p>
        </p:txBody>
      </p:sp>
      <p:sp>
        <p:nvSpPr>
          <p:cNvPr id="18" name="">
            <a:extLst xmlns:a="http://schemas.openxmlformats.org/drawingml/2006/main">
              <a:ext uri="{FF2B5EF4-FFF2-40B4-BE49-F238E27FC236}">
                <a16:creationId xmlns:a16="http://schemas.microsoft.com/office/drawing/2014/main" id="{5E6D314D-8587-4BA5-8602-A7A52010D1D1}"/>
              </a:ext>
            </a:extLst>
          </p:cNvPr>
          <p:cNvSpPr>
            <a:spLocks xmlns:a="http://schemas.openxmlformats.org/drawingml/2006/main" noGrp="1"/>
          </p:cNvSpPr>
          <p:nvPr/>
        </p:nvSpPr>
        <p:spPr>
          <a:xfrm xmlns:a="http://schemas.openxmlformats.org/drawingml/2006/main">
            <a:off x="4686300" y="4152900"/>
            <a:ext cx="647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425" b="0">
                <a:solidFill>
                  <a:srgbClr val="26373D"/>
                </a:solidFill>
                <a:latin typeface="Yu Gothic"/>
                <a:ea typeface="Yu Gothic"/>
                <a:cs typeface="Yu Gothic"/>
              </a:defRPr>
            </a:pPr>
            <a:r>
              <a:rPr sz="1425" b="0">
                <a:solidFill>
                  <a:srgbClr val="26373D"/>
                </a:solidFill>
                <a:latin typeface="Yu Gothic"/>
                <a:ea typeface="Yu Gothic"/>
                <a:cs typeface="Yu Gothic"/>
              </a:rPr>
              <a:t>同じ4組を固定し、ごく小さい1回の更新でずれが減るかを確認</a:t>
            </a:r>
          </a:p>
        </p:txBody>
      </p:sp>
      <p:sp>
        <p:nvSpPr>
          <p:cNvPr id="19" name="">
            <a:extLst xmlns:a="http://schemas.openxmlformats.org/drawingml/2006/main">
              <a:ext uri="{FF2B5EF4-FFF2-40B4-BE49-F238E27FC236}">
                <a16:creationId xmlns:a16="http://schemas.microsoft.com/office/drawing/2014/main" id="{7933557C-363B-41FD-A189-76D96E31E114}"/>
              </a:ext>
            </a:extLst>
          </p:cNvPr>
          <p:cNvSpPr>
            <a:spLocks xmlns:a="http://schemas.openxmlformats.org/drawingml/2006/main" noGrp="1"/>
          </p:cNvSpPr>
          <p:nvPr/>
        </p:nvSpPr>
        <p:spPr>
          <a:xfrm xmlns:a="http://schemas.openxmlformats.org/drawingml/2006/main">
            <a:off x="800100" y="4800600"/>
            <a:ext cx="400050" cy="400050"/>
          </a:xfrm>
          <a:prstGeom xmlns:a="http://schemas.openxmlformats.org/drawingml/2006/main" prst="ellipse">
            <a:avLst/>
          </a:prstGeom>
          <a:solidFill xmlns:a="http://schemas.openxmlformats.org/drawingml/2006/main">
            <a:srgbClr val="E7833D"/>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E3DA1176-D00C-48F6-A91E-5FF0FAA5B1D4}"/>
              </a:ext>
            </a:extLst>
          </p:cNvPr>
          <p:cNvSpPr>
            <a:spLocks xmlns:a="http://schemas.openxmlformats.org/drawingml/2006/main" noGrp="1"/>
          </p:cNvSpPr>
          <p:nvPr/>
        </p:nvSpPr>
        <p:spPr>
          <a:xfrm xmlns:a="http://schemas.openxmlformats.org/drawingml/2006/main">
            <a:off x="800100" y="4848225"/>
            <a:ext cx="4000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425" b="1">
                <a:solidFill>
                  <a:srgbClr val="FFFFFF"/>
                </a:solidFill>
                <a:latin typeface="Yu Gothic"/>
                <a:ea typeface="Yu Gothic"/>
                <a:cs typeface="Yu Gothic"/>
              </a:defRPr>
            </a:pPr>
            <a:r>
              <a:rPr sz="1425" b="1">
                <a:solidFill>
                  <a:srgbClr val="FFFFFF"/>
                </a:solidFill>
                <a:latin typeface="Yu Gothic"/>
                <a:ea typeface="Yu Gothic"/>
                <a:cs typeface="Yu Gothic"/>
              </a:rPr>
              <a:t>2</a:t>
            </a:r>
          </a:p>
        </p:txBody>
      </p:sp>
      <p:sp>
        <p:nvSpPr>
          <p:cNvPr id="21" name="">
            <a:extLst xmlns:a="http://schemas.openxmlformats.org/drawingml/2006/main">
              <a:ext uri="{FF2B5EF4-FFF2-40B4-BE49-F238E27FC236}">
                <a16:creationId xmlns:a16="http://schemas.microsoft.com/office/drawing/2014/main" id="{3D3702A6-3E6B-4F02-A8A4-95A7DD3CFBB0}"/>
              </a:ext>
            </a:extLst>
          </p:cNvPr>
          <p:cNvSpPr>
            <a:spLocks xmlns:a="http://schemas.openxmlformats.org/drawingml/2006/main" noGrp="1"/>
          </p:cNvSpPr>
          <p:nvPr/>
        </p:nvSpPr>
        <p:spPr>
          <a:xfrm xmlns:a="http://schemas.openxmlformats.org/drawingml/2006/main">
            <a:off x="1428750" y="4781550"/>
            <a:ext cx="3143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1">
                <a:solidFill>
                  <a:srgbClr val="173B4B"/>
                </a:solidFill>
                <a:latin typeface="Yu Gothic"/>
                <a:ea typeface="Yu Gothic"/>
                <a:cs typeface="Yu Gothic"/>
              </a:defRPr>
            </a:pPr>
            <a:r>
              <a:rPr sz="1650" b="1">
                <a:solidFill>
                  <a:srgbClr val="173B4B"/>
                </a:solidFill>
                <a:latin typeface="Yu Gothic"/>
                <a:ea typeface="Yu Gothic"/>
                <a:cs typeface="Yu Gothic"/>
              </a:rPr>
              <a:t>問題解消後に5ラウンド</a:t>
            </a:r>
          </a:p>
        </p:txBody>
      </p:sp>
      <p:sp>
        <p:nvSpPr>
          <p:cNvPr id="22" name="">
            <a:extLst xmlns:a="http://schemas.openxmlformats.org/drawingml/2006/main">
              <a:ext uri="{FF2B5EF4-FFF2-40B4-BE49-F238E27FC236}">
                <a16:creationId xmlns:a16="http://schemas.microsoft.com/office/drawing/2014/main" id="{7C0A0EBD-52E6-43B7-B937-F49F80CF2FE9}"/>
              </a:ext>
            </a:extLst>
          </p:cNvPr>
          <p:cNvSpPr>
            <a:spLocks xmlns:a="http://schemas.openxmlformats.org/drawingml/2006/main" noGrp="1"/>
          </p:cNvSpPr>
          <p:nvPr/>
        </p:nvSpPr>
        <p:spPr>
          <a:xfrm xmlns:a="http://schemas.openxmlformats.org/drawingml/2006/main">
            <a:off x="4686300" y="4781550"/>
            <a:ext cx="647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425" b="0">
                <a:solidFill>
                  <a:srgbClr val="26373D"/>
                </a:solidFill>
                <a:latin typeface="Yu Gothic"/>
                <a:ea typeface="Yu Gothic"/>
                <a:cs typeface="Yu Gothic"/>
              </a:defRPr>
            </a:pPr>
            <a:r>
              <a:rPr sz="1425" b="0">
                <a:solidFill>
                  <a:srgbClr val="26373D"/>
                </a:solidFill>
                <a:latin typeface="Yu Gothic"/>
                <a:ea typeface="Yu Gothic"/>
                <a:cs typeface="Yu Gothic"/>
              </a:rPr>
              <a:t>同じ記録形式で、三層の接続と次回への状態継承を確認</a:t>
            </a:r>
          </a:p>
        </p:txBody>
      </p:sp>
      <p:sp>
        <p:nvSpPr>
          <p:cNvPr id="23" name="">
            <a:extLst xmlns:a="http://schemas.openxmlformats.org/drawingml/2006/main">
              <a:ext uri="{FF2B5EF4-FFF2-40B4-BE49-F238E27FC236}">
                <a16:creationId xmlns:a16="http://schemas.microsoft.com/office/drawing/2014/main" id="{ACF29A18-A19E-4494-882C-7EE581BF87E5}"/>
              </a:ext>
            </a:extLst>
          </p:cNvPr>
          <p:cNvSpPr>
            <a:spLocks xmlns:a="http://schemas.openxmlformats.org/drawingml/2006/main" noGrp="1"/>
          </p:cNvSpPr>
          <p:nvPr/>
        </p:nvSpPr>
        <p:spPr>
          <a:xfrm xmlns:a="http://schemas.openxmlformats.org/drawingml/2006/main">
            <a:off x="800100" y="5429250"/>
            <a:ext cx="400050" cy="400050"/>
          </a:xfrm>
          <a:prstGeom xmlns:a="http://schemas.openxmlformats.org/drawingml/2006/main" prst="ellipse">
            <a:avLst/>
          </a:prstGeom>
          <a:solidFill xmlns:a="http://schemas.openxmlformats.org/drawingml/2006/main">
            <a:srgbClr val="147B78"/>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88853ADB-D0CE-468B-85DC-FC003031C7D6}"/>
              </a:ext>
            </a:extLst>
          </p:cNvPr>
          <p:cNvSpPr>
            <a:spLocks xmlns:a="http://schemas.openxmlformats.org/drawingml/2006/main" noGrp="1"/>
          </p:cNvSpPr>
          <p:nvPr/>
        </p:nvSpPr>
        <p:spPr>
          <a:xfrm xmlns:a="http://schemas.openxmlformats.org/drawingml/2006/main">
            <a:off x="800100" y="5476875"/>
            <a:ext cx="4000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425" b="1">
                <a:solidFill>
                  <a:srgbClr val="FFFFFF"/>
                </a:solidFill>
                <a:latin typeface="Yu Gothic"/>
                <a:ea typeface="Yu Gothic"/>
                <a:cs typeface="Yu Gothic"/>
              </a:defRPr>
            </a:pPr>
            <a:r>
              <a:rPr sz="1425" b="1">
                <a:solidFill>
                  <a:srgbClr val="FFFFFF"/>
                </a:solidFill>
                <a:latin typeface="Yu Gothic"/>
                <a:ea typeface="Yu Gothic"/>
                <a:cs typeface="Yu Gothic"/>
              </a:rPr>
              <a:t>3</a:t>
            </a:r>
          </a:p>
        </p:txBody>
      </p:sp>
      <p:sp>
        <p:nvSpPr>
          <p:cNvPr id="25" name="">
            <a:extLst xmlns:a="http://schemas.openxmlformats.org/drawingml/2006/main">
              <a:ext uri="{FF2B5EF4-FFF2-40B4-BE49-F238E27FC236}">
                <a16:creationId xmlns:a16="http://schemas.microsoft.com/office/drawing/2014/main" id="{DC05C74B-D84B-4705-8158-FEA52CF7EACB}"/>
              </a:ext>
            </a:extLst>
          </p:cNvPr>
          <p:cNvSpPr>
            <a:spLocks xmlns:a="http://schemas.openxmlformats.org/drawingml/2006/main" noGrp="1"/>
          </p:cNvSpPr>
          <p:nvPr/>
        </p:nvSpPr>
        <p:spPr>
          <a:xfrm xmlns:a="http://schemas.openxmlformats.org/drawingml/2006/main">
            <a:off x="1428750" y="5410200"/>
            <a:ext cx="3143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1">
                <a:solidFill>
                  <a:srgbClr val="173B4B"/>
                </a:solidFill>
                <a:latin typeface="Yu Gothic"/>
                <a:ea typeface="Yu Gothic"/>
                <a:cs typeface="Yu Gothic"/>
              </a:defRPr>
            </a:pPr>
            <a:r>
              <a:rPr sz="1650" b="1">
                <a:solidFill>
                  <a:srgbClr val="173B4B"/>
                </a:solidFill>
                <a:latin typeface="Yu Gothic"/>
                <a:ea typeface="Yu Gothic"/>
                <a:cs typeface="Yu Gothic"/>
              </a:rPr>
              <a:t>第II段階で比較・独立評価</a:t>
            </a:r>
          </a:p>
        </p:txBody>
      </p:sp>
      <p:sp>
        <p:nvSpPr>
          <p:cNvPr id="26" name="">
            <a:extLst xmlns:a="http://schemas.openxmlformats.org/drawingml/2006/main">
              <a:ext uri="{FF2B5EF4-FFF2-40B4-BE49-F238E27FC236}">
                <a16:creationId xmlns:a16="http://schemas.microsoft.com/office/drawing/2014/main" id="{72B7274C-CC89-4FF5-8789-622B75983C0E}"/>
              </a:ext>
            </a:extLst>
          </p:cNvPr>
          <p:cNvSpPr>
            <a:spLocks xmlns:a="http://schemas.openxmlformats.org/drawingml/2006/main" noGrp="1"/>
          </p:cNvSpPr>
          <p:nvPr/>
        </p:nvSpPr>
        <p:spPr>
          <a:xfrm xmlns:a="http://schemas.openxmlformats.org/drawingml/2006/main">
            <a:off x="4686300" y="5410200"/>
            <a:ext cx="647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425" b="0">
                <a:solidFill>
                  <a:srgbClr val="26373D"/>
                </a:solidFill>
                <a:latin typeface="Yu Gothic"/>
                <a:ea typeface="Yu Gothic"/>
                <a:cs typeface="Yu Gothic"/>
              </a:defRPr>
            </a:pPr>
            <a:r>
              <a:rPr sz="1425" b="0">
                <a:solidFill>
                  <a:srgbClr val="26373D"/>
                </a:solidFill>
                <a:latin typeface="Yu Gothic"/>
                <a:ea typeface="Yu Gothic"/>
                <a:cs typeface="Yu Gothic"/>
              </a:rPr>
              <a:t>中央側動画のみ、学習後、学習後＋変化を未使用動画で比較</a:t>
            </a:r>
          </a:p>
        </p:txBody>
      </p:sp>
      <p:sp>
        <p:nvSpPr>
          <p:cNvPr id="27" name="">
            <a:extLst xmlns:a="http://schemas.openxmlformats.org/drawingml/2006/main">
              <a:ext uri="{FF2B5EF4-FFF2-40B4-BE49-F238E27FC236}">
                <a16:creationId xmlns:a16="http://schemas.microsoft.com/office/drawing/2014/main" id="{85EFA091-22A4-409A-9C00-52ACD82AF470}"/>
              </a:ext>
            </a:extLst>
          </p:cNvPr>
          <p:cNvSpPr>
            <a:spLocks xmlns:a="http://schemas.openxmlformats.org/drawingml/2006/main" noGrp="1"/>
          </p:cNvSpPr>
          <p:nvPr/>
        </p:nvSpPr>
        <p:spPr>
          <a:xfrm xmlns:a="http://schemas.openxmlformats.org/drawingml/2006/main">
            <a:off x="685800" y="6029325"/>
            <a:ext cx="10820400" cy="361950"/>
          </a:xfrm>
          <a:prstGeom xmlns:a="http://schemas.openxmlformats.org/drawingml/2006/main" prst="rect">
            <a:avLst/>
          </a:prstGeom>
          <a:solidFill xmlns:a="http://schemas.openxmlformats.org/drawingml/2006/main">
            <a:srgbClr val="173B4B"/>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47F15639-2A2B-47AD-97C6-32AF5D24CA13}"/>
              </a:ext>
            </a:extLst>
          </p:cNvPr>
          <p:cNvSpPr>
            <a:spLocks xmlns:a="http://schemas.openxmlformats.org/drawingml/2006/main" noGrp="1"/>
          </p:cNvSpPr>
          <p:nvPr/>
        </p:nvSpPr>
        <p:spPr>
          <a:xfrm xmlns:a="http://schemas.openxmlformats.org/drawingml/2006/main">
            <a:off x="876300" y="6096000"/>
            <a:ext cx="10439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500" b="1">
                <a:solidFill>
                  <a:srgbClr val="FFFFFF"/>
                </a:solidFill>
                <a:latin typeface="Yu Gothic"/>
                <a:ea typeface="Yu Gothic"/>
                <a:cs typeface="Yu Gothic"/>
              </a:defRPr>
            </a:pPr>
            <a:r>
              <a:rPr sz="1500" b="1">
                <a:solidFill>
                  <a:srgbClr val="FFFFFF"/>
                </a:solidFill>
                <a:latin typeface="Yu Gothic"/>
                <a:ea typeface="Yu Gothic"/>
                <a:cs typeface="Yu Gothic"/>
              </a:rPr>
              <a:t>到達点：効果を正しく検証できる土台と、次に確認すべき失敗箇所を特定した</a:t>
            </a:r>
          </a:p>
        </p:txBody>
      </p:sp>
      <p:sp>
        <p:nvSpPr>
          <p:cNvPr id="29" name="">
            <a:extLst xmlns:a="http://schemas.openxmlformats.org/drawingml/2006/main">
              <a:ext uri="{FF2B5EF4-FFF2-40B4-BE49-F238E27FC236}">
                <a16:creationId xmlns:a16="http://schemas.microsoft.com/office/drawing/2014/main" id="{34BEA2FB-A9E3-44AD-8104-B04CE8E28437}"/>
              </a:ext>
            </a:extLst>
          </p:cNvPr>
          <p:cNvSpPr>
            <a:spLocks xmlns:a="http://schemas.openxmlformats.org/drawingml/2006/main" noGrp="1"/>
          </p:cNvSpPr>
          <p:nvPr/>
        </p:nvSpPr>
        <p:spPr>
          <a:xfrm xmlns:a="http://schemas.openxmlformats.org/drawingml/2006/main">
            <a:off x="381000" y="342900"/>
            <a:ext cx="66675" cy="514350"/>
          </a:xfrm>
          <a:prstGeom xmlns:a="http://schemas.openxmlformats.org/drawingml/2006/main" prst="rect">
            <a:avLst/>
          </a:prstGeom>
          <a:solidFill xmlns:a="http://schemas.openxmlformats.org/drawingml/2006/main">
            <a:srgbClr val="147B78"/>
          </a:solidFill>
          <a:ln xmlns:a="http://schemas.openxmlformats.org/drawingml/2006/main" w="0">
            <a:noFill/>
          </a:ln>
        </p:spPr>
      </p:sp>
    </p:spTree>
    <p:extLst>
      <p:ext uri="{BB962C8B-B14F-4D97-AF65-F5344CB8AC3E}">
        <p14:creationId xmlns:p14="http://schemas.microsoft.com/office/powerpoint/2010/main" val="719270358"/>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322EA414-D41D-4B9A-B10B-E9801FEC5AA9}"/>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5E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F2E41DC-659A-452C-A3DB-C3F0A832C0AD}"/>
              </a:ext>
            </a:extLst>
          </p:cNvPr>
          <p:cNvSpPr>
            <a:spLocks xmlns:a="http://schemas.openxmlformats.org/drawingml/2006/main" noGrp="1"/>
          </p:cNvSpPr>
          <p:nvPr/>
        </p:nvSpPr>
        <p:spPr>
          <a:xfrm xmlns:a="http://schemas.openxmlformats.org/drawingml/2006/main">
            <a:off x="381000" y="342900"/>
            <a:ext cx="66675" cy="514350"/>
          </a:xfrm>
          <a:prstGeom xmlns:a="http://schemas.openxmlformats.org/drawingml/2006/main" prst="rect">
            <a:avLst/>
          </a:prstGeom>
          <a:solidFill xmlns:a="http://schemas.openxmlformats.org/drawingml/2006/main">
            <a:srgbClr val="147B78"/>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7C0F8141-F068-440A-BFE2-53C3755434B4}"/>
              </a:ext>
            </a:extLst>
          </p:cNvPr>
          <p:cNvSpPr>
            <a:spLocks xmlns:a="http://schemas.openxmlformats.org/drawingml/2006/main" noGrp="1"/>
          </p:cNvSpPr>
          <p:nvPr/>
        </p:nvSpPr>
        <p:spPr>
          <a:xfrm xmlns:a="http://schemas.openxmlformats.org/drawingml/2006/main">
            <a:off x="590550" y="323850"/>
            <a:ext cx="10572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2850" b="1">
                <a:solidFill>
                  <a:srgbClr val="173B4B"/>
                </a:solidFill>
                <a:latin typeface="Yu Gothic"/>
                <a:ea typeface="Yu Gothic"/>
                <a:cs typeface="Yu Gothic"/>
              </a:defRPr>
            </a:pPr>
            <a:r>
              <a:rPr sz="2850" b="1">
                <a:solidFill>
                  <a:srgbClr val="173B4B"/>
                </a:solidFill>
                <a:latin typeface="Yu Gothic"/>
                <a:ea typeface="Yu Gothic"/>
                <a:cs typeface="Yu Gothic"/>
              </a:rPr>
              <a:t>付録1　選択した12組の代理データ結果</a:t>
            </a:r>
          </a:p>
        </p:txBody>
      </p:sp>
      <p:sp>
        <p:nvSpPr>
          <p:cNvPr id="4" name="">
            <a:extLst xmlns:a="http://schemas.openxmlformats.org/drawingml/2006/main">
              <a:ext uri="{FF2B5EF4-FFF2-40B4-BE49-F238E27FC236}">
                <a16:creationId xmlns:a16="http://schemas.microsoft.com/office/drawing/2014/main" id="{E81DA7F8-6BD3-4EB2-8C65-7780BCD14A56}"/>
              </a:ext>
            </a:extLst>
          </p:cNvPr>
          <p:cNvSpPr>
            <a:spLocks xmlns:a="http://schemas.openxmlformats.org/drawingml/2006/main" noGrp="1"/>
          </p:cNvSpPr>
          <p:nvPr/>
        </p:nvSpPr>
        <p:spPr>
          <a:xfrm xmlns:a="http://schemas.openxmlformats.org/drawingml/2006/main">
            <a:off x="11306175" y="428625"/>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200" b="1">
                <a:solidFill>
                  <a:srgbClr val="147B78"/>
                </a:solidFill>
                <a:latin typeface="Yu Gothic"/>
                <a:ea typeface="Yu Gothic"/>
                <a:cs typeface="Yu Gothic"/>
              </a:defRPr>
            </a:pPr>
            <a:r>
              <a:rPr sz="1200" b="1">
                <a:solidFill>
                  <a:srgbClr val="147B78"/>
                </a:solidFill>
                <a:latin typeface="Yu Gothic"/>
                <a:ea typeface="Yu Gothic"/>
                <a:cs typeface="Yu Gothic"/>
              </a:rPr>
              <a:t>A1</a:t>
            </a:r>
          </a:p>
        </p:txBody>
      </p:sp>
      <p:sp>
        <p:nvSpPr>
          <p:cNvPr id="5" name="">
            <a:extLst xmlns:a="http://schemas.openxmlformats.org/drawingml/2006/main">
              <a:ext uri="{FF2B5EF4-FFF2-40B4-BE49-F238E27FC236}">
                <a16:creationId xmlns:a16="http://schemas.microsoft.com/office/drawing/2014/main" id="{AEE83464-8352-4FBA-8C12-177BB0C8D466}"/>
              </a:ext>
            </a:extLst>
          </p:cNvPr>
          <p:cNvSpPr>
            <a:spLocks xmlns:a="http://schemas.openxmlformats.org/drawingml/2006/main" noGrp="1"/>
          </p:cNvSpPr>
          <p:nvPr/>
        </p:nvSpPr>
        <p:spPr>
          <a:xfrm xmlns:a="http://schemas.openxmlformats.org/drawingml/2006/main">
            <a:off x="457200" y="6477000"/>
            <a:ext cx="11277600" cy="14288"/>
          </a:xfrm>
          <a:prstGeom xmlns:a="http://schemas.openxmlformats.org/drawingml/2006/main" prst="rect">
            <a:avLst/>
          </a:prstGeom>
          <a:solidFill xmlns:a="http://schemas.openxmlformats.org/drawingml/2006/main">
            <a:srgbClr val="C9D2D3"/>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E7452283-2A29-4CBC-80C6-43550A86B60E}"/>
              </a:ext>
            </a:extLst>
          </p:cNvPr>
          <p:cNvSpPr>
            <a:spLocks xmlns:a="http://schemas.openxmlformats.org/drawingml/2006/main" noGrp="1"/>
          </p:cNvSpPr>
          <p:nvPr/>
        </p:nvSpPr>
        <p:spPr>
          <a:xfrm xmlns:a="http://schemas.openxmlformats.org/drawingml/2006/main">
            <a:off x="495300" y="6543675"/>
            <a:ext cx="7239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0">
                <a:solidFill>
                  <a:srgbClr val="617078"/>
                </a:solidFill>
                <a:latin typeface="Yu Gothic"/>
                <a:ea typeface="Yu Gothic"/>
                <a:cs typeface="Yu Gothic"/>
              </a:defRPr>
            </a:pPr>
            <a:r>
              <a:rPr sz="900" b="0">
                <a:solidFill>
                  <a:srgbClr val="617078"/>
                </a:solidFill>
                <a:latin typeface="Yu Gothic"/>
                <a:ea typeface="Yu Gothic"/>
                <a:cs typeface="Yu Gothic"/>
              </a:rPr>
              <a:t>FedPACT / NEXAR　研究会　2026.09.18</a:t>
            </a:r>
          </a:p>
        </p:txBody>
      </p:sp>
      <p:sp>
        <p:nvSpPr>
          <p:cNvPr id="7" name="">
            <a:extLst xmlns:a="http://schemas.openxmlformats.org/drawingml/2006/main">
              <a:ext uri="{FF2B5EF4-FFF2-40B4-BE49-F238E27FC236}">
                <a16:creationId xmlns:a16="http://schemas.microsoft.com/office/drawing/2014/main" id="{AF034489-02AB-4C84-B19E-DE393277C022}"/>
              </a:ext>
            </a:extLst>
          </p:cNvPr>
          <p:cNvSpPr>
            <a:spLocks xmlns:a="http://schemas.openxmlformats.org/drawingml/2006/main" noGrp="1"/>
          </p:cNvSpPr>
          <p:nvPr/>
        </p:nvSpPr>
        <p:spPr>
          <a:xfrm xmlns:a="http://schemas.openxmlformats.org/drawingml/2006/main">
            <a:off x="10477500" y="6543675"/>
            <a:ext cx="12001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0">
                <a:solidFill>
                  <a:srgbClr val="617078"/>
                </a:solidFill>
                <a:latin typeface="Yu Gothic"/>
                <a:ea typeface="Yu Gothic"/>
                <a:cs typeface="Yu Gothic"/>
              </a:defRPr>
            </a:pPr>
            <a:r>
              <a:rPr sz="900" b="0">
                <a:solidFill>
                  <a:srgbClr val="617078"/>
                </a:solidFill>
                <a:latin typeface="Yu Gothic"/>
                <a:ea typeface="Yu Gothic"/>
                <a:cs typeface="Yu Gothic"/>
              </a:rPr>
              <a:t>付録 1 / 3</a:t>
            </a:r>
          </a:p>
        </p:txBody>
      </p:sp>
      <p:sp>
        <p:nvSpPr>
          <p:cNvPr id="8" name="">
            <a:extLst xmlns:a="http://schemas.openxmlformats.org/drawingml/2006/main">
              <a:ext uri="{FF2B5EF4-FFF2-40B4-BE49-F238E27FC236}">
                <a16:creationId xmlns:a16="http://schemas.microsoft.com/office/drawing/2014/main" id="{1D07CADD-8ED2-44A8-916F-FBC9FDD5C3FF}"/>
              </a:ext>
            </a:extLst>
          </p:cNvPr>
          <p:cNvSpPr>
            <a:spLocks xmlns:a="http://schemas.openxmlformats.org/drawingml/2006/main" noGrp="1"/>
          </p:cNvSpPr>
          <p:nvPr/>
        </p:nvSpPr>
        <p:spPr>
          <a:xfrm xmlns:a="http://schemas.openxmlformats.org/drawingml/2006/main">
            <a:off x="666750" y="1028700"/>
            <a:ext cx="10858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575" b="1">
                <a:solidFill>
                  <a:srgbClr val="173B4B"/>
                </a:solidFill>
                <a:latin typeface="Yu Gothic"/>
                <a:ea typeface="Yu Gothic"/>
                <a:cs typeface="Yu Gothic"/>
              </a:defRPr>
            </a:pPr>
            <a:r>
              <a:rPr sz="1575" b="1">
                <a:solidFill>
                  <a:srgbClr val="173B4B"/>
                </a:solidFill>
                <a:latin typeface="Yu Gothic"/>
                <a:ea typeface="Yu Gothic"/>
                <a:cs typeface="Yu Gothic"/>
              </a:rPr>
              <a:t>変化の方向は7／12組で一致。prototypeと選択動画の正解ラベルは6／12組で一致</a:t>
            </a:r>
          </a:p>
        </p:txBody>
      </p:sp>
      <p:graphicFrame>
        <p:nvGraphicFramePr>
          <p:cNvPr id="19" name=""/>
          <p:cNvGraphicFramePr/>
          <p:nvPr/>
        </p:nvGraphicFramePr>
        <p:xfrm>
          <a:off xmlns:a="http://schemas.openxmlformats.org/drawingml/2006/main" x="609600" y="1438275"/>
          <a:ext xmlns:a="http://schemas.openxmlformats.org/drawingml/2006/main" cx="10972800" cy="4267200"/>
        </p:xfrm>
        <a:graphic xmlns:a="http://schemas.openxmlformats.org/drawingml/2006/main">
          <a:graphicData uri="http://schemas.openxmlformats.org/drawingml/2006/table">
            <a:tbl>
              <a:tblPr/>
              <a:tblGrid>
                <a:gridCol w="523875"/>
                <a:gridCol w="1381125"/>
                <a:gridCol w="1000125"/>
                <a:gridCol w="1190625"/>
                <a:gridCol w="1190625"/>
                <a:gridCol w="1095375"/>
                <a:gridCol w="1381125"/>
                <a:gridCol w="1571625"/>
                <a:gridCol w="1638300"/>
              </a:tblGrid>
              <a:tr h="328246">
                <a:tc>
                  <a:txBody>
                    <a:bodyPr/>
                    <a:lstStyle/>
                    <a:p>
                      <a:r>
                        <a:rPr sz="1050" b="1">
                          <a:solidFill>
                            <a:srgbClr val="173B4B"/>
                          </a:solidFill>
                          <a:latin typeface="Yu Gothic"/>
                          <a:ea typeface="Yu Gothic"/>
                          <a:cs typeface="Yu Gothic"/>
                        </a:rPr>
                        <a:t>R</a:t>
                      </a:r>
                    </a:p>
                  </a:txBody>
                  <a:tcPr marL="91440" marR="91440" marT="45720" marB="45720"/>
                </a:tc>
                <a:tc>
                  <a:txBody>
                    <a:bodyPr/>
                    <a:lstStyle/>
                    <a:p>
                      <a:r>
                        <a:rPr sz="1050" b="1">
                          <a:solidFill>
                            <a:srgbClr val="173B4B"/>
                          </a:solidFill>
                          <a:latin typeface="Yu Gothic"/>
                          <a:ea typeface="Yu Gothic"/>
                          <a:cs typeface="Yu Gothic"/>
                        </a:rPr>
                        <a:t>対象</a:t>
                      </a:r>
                    </a:p>
                  </a:txBody>
                  <a:tcPr marL="91440" marR="91440" marT="45720" marB="45720"/>
                </a:tc>
                <a:tc>
                  <a:txBody>
                    <a:bodyPr/>
                    <a:lstStyle/>
                    <a:p>
                      <a:r>
                        <a:rPr sz="1050" b="1">
                          <a:solidFill>
                            <a:srgbClr val="173B4B"/>
                          </a:solidFill>
                          <a:latin typeface="Yu Gothic"/>
                          <a:ea typeface="Yu Gothic"/>
                          <a:cs typeface="Yu Gothic"/>
                        </a:rPr>
                        <a:t>選択動画</a:t>
                      </a:r>
                    </a:p>
                  </a:txBody>
                  <a:tcPr marL="91440" marR="91440" marT="45720" marB="45720"/>
                </a:tc>
                <a:tc>
                  <a:txBody>
                    <a:bodyPr/>
                    <a:lstStyle/>
                    <a:p>
                      <a:r>
                        <a:rPr sz="1050" b="1">
                          <a:solidFill>
                            <a:srgbClr val="173B4B"/>
                          </a:solidFill>
                          <a:latin typeface="Yu Gothic"/>
                          <a:ea typeface="Yu Gothic"/>
                          <a:cs typeface="Yu Gothic"/>
                        </a:rPr>
                        <a:t>目標Δ危険</a:t>
                      </a:r>
                    </a:p>
                  </a:txBody>
                  <a:tcPr marL="91440" marR="91440" marT="45720" marB="45720"/>
                </a:tc>
                <a:tc>
                  <a:txBody>
                    <a:bodyPr/>
                    <a:lstStyle/>
                    <a:p>
                      <a:r>
                        <a:rPr sz="1050" b="1">
                          <a:solidFill>
                            <a:srgbClr val="173B4B"/>
                          </a:solidFill>
                          <a:latin typeface="Yu Gothic"/>
                          <a:ea typeface="Yu Gothic"/>
                          <a:cs typeface="Yu Gothic"/>
                        </a:rPr>
                        <a:t>代理Δ危険</a:t>
                      </a:r>
                    </a:p>
                  </a:txBody>
                  <a:tcPr marL="91440" marR="91440" marT="45720" marB="45720"/>
                </a:tc>
                <a:tc>
                  <a:txBody>
                    <a:bodyPr/>
                    <a:lstStyle/>
                    <a:p>
                      <a:r>
                        <a:rPr sz="1050" b="1">
                          <a:solidFill>
                            <a:srgbClr val="173B4B"/>
                          </a:solidFill>
                          <a:latin typeface="Yu Gothic"/>
                          <a:ea typeface="Yu Gothic"/>
                          <a:cs typeface="Yu Gothic"/>
                        </a:rPr>
                        <a:t>方向</a:t>
                      </a:r>
                    </a:p>
                  </a:txBody>
                  <a:tcPr marL="91440" marR="91440" marT="45720" marB="45720"/>
                </a:tc>
                <a:tc>
                  <a:txBody>
                    <a:bodyPr/>
                    <a:lstStyle/>
                    <a:p>
                      <a:r>
                        <a:rPr sz="1050" b="1">
                          <a:solidFill>
                            <a:srgbClr val="173B4B"/>
                          </a:solidFill>
                          <a:latin typeface="Yu Gothic"/>
                          <a:ea typeface="Yu Gothic"/>
                          <a:cs typeface="Yu Gothic"/>
                        </a:rPr>
                        <a:t>学習後の誤差
(post KL)</a:t>
                      </a:r>
                    </a:p>
                  </a:txBody>
                  <a:tcPr marL="91440" marR="91440" marT="45720" marB="45720"/>
                </a:tc>
                <a:tc>
                  <a:txBody>
                    <a:bodyPr/>
                    <a:lstStyle/>
                    <a:p>
                      <a:r>
                        <a:rPr sz="1050" b="1">
                          <a:solidFill>
                            <a:srgbClr val="173B4B"/>
                          </a:solidFill>
                          <a:latin typeface="Yu Gothic"/>
                          <a:ea typeface="Yu Gothic"/>
                          <a:cs typeface="Yu Gothic"/>
                        </a:rPr>
                        <a:t>変化量の誤差
(delta error)</a:t>
                      </a:r>
                    </a:p>
                  </a:txBody>
                  <a:tcPr marL="91440" marR="91440" marT="45720" marB="45720"/>
                </a:tc>
                <a:tc>
                  <a:txBody>
                    <a:bodyPr/>
                    <a:lstStyle/>
                    <a:p>
                      <a:r>
                        <a:rPr sz="1050" b="1">
                          <a:solidFill>
                            <a:srgbClr val="173B4B"/>
                          </a:solidFill>
                          <a:latin typeface="Yu Gothic"/>
                          <a:ea typeface="Yu Gothic"/>
                          <a:cs typeface="Yu Gothic"/>
                        </a:rPr>
                        <a:t>合計誤差
(L_match)</a:t>
                      </a:r>
                    </a:p>
                  </a:txBody>
                  <a:tcPr marL="91440" marR="91440" marT="45720" marB="45720"/>
                </a:tc>
              </a:tr>
              <a:tr h="328246">
                <a:tc>
                  <a:txBody>
                    <a:bodyPr/>
                    <a:lstStyle/>
                    <a:p>
                      <a:r>
                        <a:rPr sz="1050" b="0">
                          <a:solidFill>
                            <a:srgbClr val="26373D"/>
                          </a:solidFill>
                          <a:latin typeface="Yu Gothic"/>
                          <a:ea typeface="Yu Gothic"/>
                          <a:cs typeface="Yu Gothic"/>
                        </a:rPr>
                        <a:t>1</a:t>
                      </a:r>
                    </a:p>
                  </a:txBody>
                  <a:tcPr marL="91440" marR="91440" marT="45720" marB="45720"/>
                </a:tc>
                <a:tc>
                  <a:txBody>
                    <a:bodyPr/>
                    <a:lstStyle/>
                    <a:p>
                      <a:r>
                        <a:rPr sz="1050" b="0">
                          <a:solidFill>
                            <a:srgbClr val="26373D"/>
                          </a:solidFill>
                          <a:latin typeface="Yu Gothic"/>
                          <a:ea typeface="Yu Gothic"/>
                          <a:cs typeface="Yu Gothic"/>
                        </a:rPr>
                        <a:t>現場0／通常</a:t>
                      </a:r>
                    </a:p>
                  </a:txBody>
                  <a:tcPr marL="91440" marR="91440" marT="45720" marB="45720"/>
                </a:tc>
                <a:tc>
                  <a:txBody>
                    <a:bodyPr/>
                    <a:lstStyle/>
                    <a:p>
                      <a:r>
                        <a:rPr sz="1050" b="0">
                          <a:solidFill>
                            <a:srgbClr val="26373D"/>
                          </a:solidFill>
                          <a:latin typeface="Yu Gothic"/>
                          <a:ea typeface="Yu Gothic"/>
                          <a:cs typeface="Yu Gothic"/>
                        </a:rPr>
                        <a:t>危険</a:t>
                      </a:r>
                    </a:p>
                  </a:txBody>
                  <a:tcPr marL="91440" marR="91440" marT="45720" marB="45720"/>
                </a:tc>
                <a:tc>
                  <a:txBody>
                    <a:bodyPr/>
                    <a:lstStyle/>
                    <a:p>
                      <a:r>
                        <a:rPr sz="1050" b="0">
                          <a:solidFill>
                            <a:srgbClr val="26373D"/>
                          </a:solidFill>
                          <a:latin typeface="Yu Gothic"/>
                          <a:ea typeface="Yu Gothic"/>
                          <a:cs typeface="Yu Gothic"/>
                        </a:rPr>
                        <a:t>+0.0938</a:t>
                      </a:r>
                    </a:p>
                  </a:txBody>
                  <a:tcPr marL="91440" marR="91440" marT="45720" marB="45720"/>
                </a:tc>
                <a:tc>
                  <a:txBody>
                    <a:bodyPr/>
                    <a:lstStyle/>
                    <a:p>
                      <a:r>
                        <a:rPr sz="1050" b="0">
                          <a:solidFill>
                            <a:srgbClr val="26373D"/>
                          </a:solidFill>
                          <a:latin typeface="Yu Gothic"/>
                          <a:ea typeface="Yu Gothic"/>
                          <a:cs typeface="Yu Gothic"/>
                        </a:rPr>
                        <a:t>+0.0716</a:t>
                      </a:r>
                    </a:p>
                  </a:txBody>
                  <a:tcPr marL="91440" marR="91440" marT="45720" marB="45720"/>
                </a:tc>
                <a:tc>
                  <a:txBody>
                    <a:bodyPr/>
                    <a:lstStyle/>
                    <a:p>
                      <a:r>
                        <a:rPr sz="1050" b="0">
                          <a:solidFill>
                            <a:srgbClr val="26373D"/>
                          </a:solidFill>
                          <a:latin typeface="Yu Gothic"/>
                          <a:ea typeface="Yu Gothic"/>
                          <a:cs typeface="Yu Gothic"/>
                        </a:rPr>
                        <a:t>一致</a:t>
                      </a:r>
                    </a:p>
                  </a:txBody>
                  <a:tcPr marL="91440" marR="91440" marT="45720" marB="45720"/>
                </a:tc>
                <a:tc>
                  <a:txBody>
                    <a:bodyPr/>
                    <a:lstStyle/>
                    <a:p>
                      <a:r>
                        <a:rPr sz="1050" b="0">
                          <a:solidFill>
                            <a:srgbClr val="26373D"/>
                          </a:solidFill>
                          <a:latin typeface="Yu Gothic"/>
                          <a:ea typeface="Yu Gothic"/>
                          <a:cs typeface="Yu Gothic"/>
                        </a:rPr>
                        <a:t>2.04×10⁻⁴</a:t>
                      </a:r>
                    </a:p>
                  </a:txBody>
                  <a:tcPr marL="91440" marR="91440" marT="45720" marB="45720"/>
                </a:tc>
                <a:tc>
                  <a:txBody>
                    <a:bodyPr/>
                    <a:lstStyle/>
                    <a:p>
                      <a:r>
                        <a:rPr sz="1050" b="0">
                          <a:solidFill>
                            <a:srgbClr val="26373D"/>
                          </a:solidFill>
                          <a:latin typeface="Yu Gothic"/>
                          <a:ea typeface="Yu Gothic"/>
                          <a:cs typeface="Yu Gothic"/>
                        </a:rPr>
                        <a:t>4.94×10⁻⁴</a:t>
                      </a:r>
                    </a:p>
                  </a:txBody>
                  <a:tcPr marL="91440" marR="91440" marT="45720" marB="45720"/>
                </a:tc>
                <a:tc>
                  <a:txBody>
                    <a:bodyPr/>
                    <a:lstStyle/>
                    <a:p>
                      <a:r>
                        <a:rPr sz="1050" b="0">
                          <a:solidFill>
                            <a:srgbClr val="26373D"/>
                          </a:solidFill>
                          <a:latin typeface="Yu Gothic"/>
                          <a:ea typeface="Yu Gothic"/>
                          <a:cs typeface="Yu Gothic"/>
                        </a:rPr>
                        <a:t>6.99×10⁻⁴</a:t>
                      </a:r>
                    </a:p>
                  </a:txBody>
                  <a:tcPr marL="91440" marR="91440" marT="45720" marB="45720"/>
                </a:tc>
              </a:tr>
              <a:tr h="328246">
                <a:tc>
                  <a:txBody>
                    <a:bodyPr/>
                    <a:lstStyle/>
                    <a:p>
                      <a:r>
                        <a:rPr sz="1050" b="0">
                          <a:solidFill>
                            <a:srgbClr val="26373D"/>
                          </a:solidFill>
                          <a:latin typeface="Yu Gothic"/>
                          <a:ea typeface="Yu Gothic"/>
                          <a:cs typeface="Yu Gothic"/>
                        </a:rPr>
                        <a:t>1</a:t>
                      </a:r>
                    </a:p>
                  </a:txBody>
                  <a:tcPr marL="91440" marR="91440" marT="45720" marB="45720"/>
                </a:tc>
                <a:tc>
                  <a:txBody>
                    <a:bodyPr/>
                    <a:lstStyle/>
                    <a:p>
                      <a:r>
                        <a:rPr sz="1050" b="0">
                          <a:solidFill>
                            <a:srgbClr val="26373D"/>
                          </a:solidFill>
                          <a:latin typeface="Yu Gothic"/>
                          <a:ea typeface="Yu Gothic"/>
                          <a:cs typeface="Yu Gothic"/>
                        </a:rPr>
                        <a:t>現場0／危険</a:t>
                      </a:r>
                    </a:p>
                  </a:txBody>
                  <a:tcPr marL="91440" marR="91440" marT="45720" marB="45720"/>
                </a:tc>
                <a:tc>
                  <a:txBody>
                    <a:bodyPr/>
                    <a:lstStyle/>
                    <a:p>
                      <a:r>
                        <a:rPr sz="1050" b="0">
                          <a:solidFill>
                            <a:srgbClr val="26373D"/>
                          </a:solidFill>
                          <a:latin typeface="Yu Gothic"/>
                          <a:ea typeface="Yu Gothic"/>
                          <a:cs typeface="Yu Gothic"/>
                        </a:rPr>
                        <a:t>通常</a:t>
                      </a:r>
                    </a:p>
                  </a:txBody>
                  <a:tcPr marL="91440" marR="91440" marT="45720" marB="45720"/>
                </a:tc>
                <a:tc>
                  <a:txBody>
                    <a:bodyPr/>
                    <a:lstStyle/>
                    <a:p>
                      <a:r>
                        <a:rPr sz="1050" b="0">
                          <a:solidFill>
                            <a:srgbClr val="26373D"/>
                          </a:solidFill>
                          <a:latin typeface="Yu Gothic"/>
                          <a:ea typeface="Yu Gothic"/>
                          <a:cs typeface="Yu Gothic"/>
                        </a:rPr>
                        <a:t>+0.2377</a:t>
                      </a:r>
                    </a:p>
                  </a:txBody>
                  <a:tcPr marL="91440" marR="91440" marT="45720" marB="45720"/>
                </a:tc>
                <a:tc>
                  <a:txBody>
                    <a:bodyPr/>
                    <a:lstStyle/>
                    <a:p>
                      <a:r>
                        <a:rPr sz="1050" b="0">
                          <a:solidFill>
                            <a:srgbClr val="26373D"/>
                          </a:solidFill>
                          <a:latin typeface="Yu Gothic"/>
                          <a:ea typeface="Yu Gothic"/>
                          <a:cs typeface="Yu Gothic"/>
                        </a:rPr>
                        <a:t>+0.0509</a:t>
                      </a:r>
                    </a:p>
                  </a:txBody>
                  <a:tcPr marL="91440" marR="91440" marT="45720" marB="45720"/>
                </a:tc>
                <a:tc>
                  <a:txBody>
                    <a:bodyPr/>
                    <a:lstStyle/>
                    <a:p>
                      <a:r>
                        <a:rPr sz="1050" b="0">
                          <a:solidFill>
                            <a:srgbClr val="26373D"/>
                          </a:solidFill>
                          <a:latin typeface="Yu Gothic"/>
                          <a:ea typeface="Yu Gothic"/>
                          <a:cs typeface="Yu Gothic"/>
                        </a:rPr>
                        <a:t>一致</a:t>
                      </a:r>
                    </a:p>
                  </a:txBody>
                  <a:tcPr marL="91440" marR="91440" marT="45720" marB="45720"/>
                </a:tc>
                <a:tc>
                  <a:txBody>
                    <a:bodyPr/>
                    <a:lstStyle/>
                    <a:p>
                      <a:r>
                        <a:rPr sz="1050" b="0">
                          <a:solidFill>
                            <a:srgbClr val="26373D"/>
                          </a:solidFill>
                          <a:latin typeface="Yu Gothic"/>
                          <a:ea typeface="Yu Gothic"/>
                          <a:cs typeface="Yu Gothic"/>
                        </a:rPr>
                        <a:t>8.35×10⁻¹⁰</a:t>
                      </a:r>
                    </a:p>
                  </a:txBody>
                  <a:tcPr marL="91440" marR="91440" marT="45720" marB="45720"/>
                </a:tc>
                <a:tc>
                  <a:txBody>
                    <a:bodyPr/>
                    <a:lstStyle/>
                    <a:p>
                      <a:r>
                        <a:rPr sz="1050" b="0">
                          <a:solidFill>
                            <a:srgbClr val="26373D"/>
                          </a:solidFill>
                          <a:latin typeface="Yu Gothic"/>
                          <a:ea typeface="Yu Gothic"/>
                          <a:cs typeface="Yu Gothic"/>
                        </a:rPr>
                        <a:t>3.489×10⁻²</a:t>
                      </a:r>
                    </a:p>
                  </a:txBody>
                  <a:tcPr marL="91440" marR="91440" marT="45720" marB="45720"/>
                </a:tc>
                <a:tc>
                  <a:txBody>
                    <a:bodyPr/>
                    <a:lstStyle/>
                    <a:p>
                      <a:r>
                        <a:rPr sz="1050" b="0">
                          <a:solidFill>
                            <a:srgbClr val="26373D"/>
                          </a:solidFill>
                          <a:latin typeface="Yu Gothic"/>
                          <a:ea typeface="Yu Gothic"/>
                          <a:cs typeface="Yu Gothic"/>
                        </a:rPr>
                        <a:t>3.489×10⁻²</a:t>
                      </a:r>
                    </a:p>
                  </a:txBody>
                  <a:tcPr marL="91440" marR="91440" marT="45720" marB="45720"/>
                </a:tc>
              </a:tr>
              <a:tr h="328246">
                <a:tc>
                  <a:txBody>
                    <a:bodyPr/>
                    <a:lstStyle/>
                    <a:p>
                      <a:r>
                        <a:rPr sz="1050" b="0">
                          <a:solidFill>
                            <a:srgbClr val="26373D"/>
                          </a:solidFill>
                          <a:latin typeface="Yu Gothic"/>
                          <a:ea typeface="Yu Gothic"/>
                          <a:cs typeface="Yu Gothic"/>
                        </a:rPr>
                        <a:t>1</a:t>
                      </a:r>
                    </a:p>
                  </a:txBody>
                  <a:tcPr marL="91440" marR="91440" marT="45720" marB="45720"/>
                </a:tc>
                <a:tc>
                  <a:txBody>
                    <a:bodyPr/>
                    <a:lstStyle/>
                    <a:p>
                      <a:r>
                        <a:rPr sz="1050" b="0">
                          <a:solidFill>
                            <a:srgbClr val="26373D"/>
                          </a:solidFill>
                          <a:latin typeface="Yu Gothic"/>
                          <a:ea typeface="Yu Gothic"/>
                          <a:cs typeface="Yu Gothic"/>
                        </a:rPr>
                        <a:t>現場1／通常</a:t>
                      </a:r>
                    </a:p>
                  </a:txBody>
                  <a:tcPr marL="91440" marR="91440" marT="45720" marB="45720"/>
                </a:tc>
                <a:tc>
                  <a:txBody>
                    <a:bodyPr/>
                    <a:lstStyle/>
                    <a:p>
                      <a:r>
                        <a:rPr sz="1050" b="0">
                          <a:solidFill>
                            <a:srgbClr val="26373D"/>
                          </a:solidFill>
                          <a:latin typeface="Yu Gothic"/>
                          <a:ea typeface="Yu Gothic"/>
                          <a:cs typeface="Yu Gothic"/>
                        </a:rPr>
                        <a:t>危険</a:t>
                      </a:r>
                    </a:p>
                  </a:txBody>
                  <a:tcPr marL="91440" marR="91440" marT="45720" marB="45720"/>
                </a:tc>
                <a:tc>
                  <a:txBody>
                    <a:bodyPr/>
                    <a:lstStyle/>
                    <a:p>
                      <a:r>
                        <a:rPr sz="1050" b="0">
                          <a:solidFill>
                            <a:srgbClr val="26373D"/>
                          </a:solidFill>
                          <a:latin typeface="Yu Gothic"/>
                          <a:ea typeface="Yu Gothic"/>
                          <a:cs typeface="Yu Gothic"/>
                        </a:rPr>
                        <a:t>−0.1027</a:t>
                      </a:r>
                    </a:p>
                  </a:txBody>
                  <a:tcPr marL="91440" marR="91440" marT="45720" marB="45720"/>
                </a:tc>
                <a:tc>
                  <a:txBody>
                    <a:bodyPr/>
                    <a:lstStyle/>
                    <a:p>
                      <a:r>
                        <a:rPr sz="1050" b="0">
                          <a:solidFill>
                            <a:srgbClr val="26373D"/>
                          </a:solidFill>
                          <a:latin typeface="Yu Gothic"/>
                          <a:ea typeface="Yu Gothic"/>
                          <a:cs typeface="Yu Gothic"/>
                        </a:rPr>
                        <a:t>+0.0559</a:t>
                      </a:r>
                    </a:p>
                  </a:txBody>
                  <a:tcPr marL="91440" marR="91440" marT="45720" marB="45720"/>
                </a:tc>
                <a:tc>
                  <a:txBody>
                    <a:bodyPr>
                      <a:normAutofit/>
                    </a:bodyPr>
                    <a:lstStyle/>
                    <a:p>
                      <a:pPr algn="ctr"/>
                      <a:r>
                        <a:rPr sz="1013" b="1">
                          <a:solidFill>
                            <a:srgbClr val="B94A3A"/>
                          </a:solidFill>
                          <a:latin typeface="Yu Gothic"/>
                          <a:ea typeface="Yu Gothic"/>
                          <a:cs typeface="Yu Gothic"/>
                        </a:rPr>
                        <a:t>不一致</a:t>
                      </a:r>
                    </a:p>
                  </a:txBody>
                  <a:tcPr marL="91440" marR="91440" marT="45720" marB="45720" anchor="ctr">
                    <a:solidFill>
                      <a:srgbClr val="F5DFDA"/>
                    </a:solidFill>
                  </a:tcPr>
                </a:tc>
                <a:tc>
                  <a:txBody>
                    <a:bodyPr/>
                    <a:lstStyle/>
                    <a:p>
                      <a:r>
                        <a:rPr sz="1050" b="0">
                          <a:solidFill>
                            <a:srgbClr val="26373D"/>
                          </a:solidFill>
                          <a:latin typeface="Yu Gothic"/>
                          <a:ea typeface="Yu Gothic"/>
                          <a:cs typeface="Yu Gothic"/>
                        </a:rPr>
                        <a:t>3.51×10⁻⁴</a:t>
                      </a:r>
                    </a:p>
                  </a:txBody>
                  <a:tcPr marL="91440" marR="91440" marT="45720" marB="45720"/>
                </a:tc>
                <a:tc>
                  <a:txBody>
                    <a:bodyPr/>
                    <a:lstStyle/>
                    <a:p>
                      <a:r>
                        <a:rPr sz="1050" b="0">
                          <a:solidFill>
                            <a:srgbClr val="26373D"/>
                          </a:solidFill>
                          <a:latin typeface="Yu Gothic"/>
                          <a:ea typeface="Yu Gothic"/>
                          <a:cs typeface="Yu Gothic"/>
                        </a:rPr>
                        <a:t>2.514×10⁻²</a:t>
                      </a:r>
                    </a:p>
                  </a:txBody>
                  <a:tcPr marL="91440" marR="91440" marT="45720" marB="45720"/>
                </a:tc>
                <a:tc>
                  <a:txBody>
                    <a:bodyPr/>
                    <a:lstStyle/>
                    <a:p>
                      <a:r>
                        <a:rPr sz="1050" b="0">
                          <a:solidFill>
                            <a:srgbClr val="26373D"/>
                          </a:solidFill>
                          <a:latin typeface="Yu Gothic"/>
                          <a:ea typeface="Yu Gothic"/>
                          <a:cs typeface="Yu Gothic"/>
                        </a:rPr>
                        <a:t>2.549×10⁻²</a:t>
                      </a:r>
                    </a:p>
                  </a:txBody>
                  <a:tcPr marL="91440" marR="91440" marT="45720" marB="45720"/>
                </a:tc>
              </a:tr>
              <a:tr h="328246">
                <a:tc>
                  <a:txBody>
                    <a:bodyPr/>
                    <a:lstStyle/>
                    <a:p>
                      <a:r>
                        <a:rPr sz="1050" b="0">
                          <a:solidFill>
                            <a:srgbClr val="26373D"/>
                          </a:solidFill>
                          <a:latin typeface="Yu Gothic"/>
                          <a:ea typeface="Yu Gothic"/>
                          <a:cs typeface="Yu Gothic"/>
                        </a:rPr>
                        <a:t>1</a:t>
                      </a:r>
                    </a:p>
                  </a:txBody>
                  <a:tcPr marL="91440" marR="91440" marT="45720" marB="45720"/>
                </a:tc>
                <a:tc>
                  <a:txBody>
                    <a:bodyPr/>
                    <a:lstStyle/>
                    <a:p>
                      <a:r>
                        <a:rPr sz="1050" b="0">
                          <a:solidFill>
                            <a:srgbClr val="26373D"/>
                          </a:solidFill>
                          <a:latin typeface="Yu Gothic"/>
                          <a:ea typeface="Yu Gothic"/>
                          <a:cs typeface="Yu Gothic"/>
                        </a:rPr>
                        <a:t>現場1／危険</a:t>
                      </a:r>
                    </a:p>
                  </a:txBody>
                  <a:tcPr marL="91440" marR="91440" marT="45720" marB="45720"/>
                </a:tc>
                <a:tc>
                  <a:txBody>
                    <a:bodyPr/>
                    <a:lstStyle/>
                    <a:p>
                      <a:r>
                        <a:rPr sz="1050" b="0">
                          <a:solidFill>
                            <a:srgbClr val="26373D"/>
                          </a:solidFill>
                          <a:latin typeface="Yu Gothic"/>
                          <a:ea typeface="Yu Gothic"/>
                          <a:cs typeface="Yu Gothic"/>
                        </a:rPr>
                        <a:t>通常</a:t>
                      </a:r>
                    </a:p>
                  </a:txBody>
                  <a:tcPr marL="91440" marR="91440" marT="45720" marB="45720"/>
                </a:tc>
                <a:tc>
                  <a:txBody>
                    <a:bodyPr/>
                    <a:lstStyle/>
                    <a:p>
                      <a:r>
                        <a:rPr sz="1050" b="0">
                          <a:solidFill>
                            <a:srgbClr val="26373D"/>
                          </a:solidFill>
                          <a:latin typeface="Yu Gothic"/>
                          <a:ea typeface="Yu Gothic"/>
                          <a:cs typeface="Yu Gothic"/>
                        </a:rPr>
                        <a:t>+0.00546</a:t>
                      </a:r>
                    </a:p>
                  </a:txBody>
                  <a:tcPr marL="91440" marR="91440" marT="45720" marB="45720"/>
                </a:tc>
                <a:tc>
                  <a:txBody>
                    <a:bodyPr/>
                    <a:lstStyle/>
                    <a:p>
                      <a:r>
                        <a:rPr sz="1050" b="0">
                          <a:solidFill>
                            <a:srgbClr val="26373D"/>
                          </a:solidFill>
                          <a:latin typeface="Yu Gothic"/>
                          <a:ea typeface="Yu Gothic"/>
                          <a:cs typeface="Yu Gothic"/>
                        </a:rPr>
                        <a:t>+0.00968</a:t>
                      </a:r>
                    </a:p>
                  </a:txBody>
                  <a:tcPr marL="91440" marR="91440" marT="45720" marB="45720"/>
                </a:tc>
                <a:tc>
                  <a:txBody>
                    <a:bodyPr/>
                    <a:lstStyle/>
                    <a:p>
                      <a:r>
                        <a:rPr sz="1050" b="0">
                          <a:solidFill>
                            <a:srgbClr val="26373D"/>
                          </a:solidFill>
                          <a:latin typeface="Yu Gothic"/>
                          <a:ea typeface="Yu Gothic"/>
                          <a:cs typeface="Yu Gothic"/>
                        </a:rPr>
                        <a:t>一致</a:t>
                      </a:r>
                    </a:p>
                  </a:txBody>
                  <a:tcPr marL="91440" marR="91440" marT="45720" marB="45720"/>
                </a:tc>
                <a:tc>
                  <a:txBody>
                    <a:bodyPr/>
                    <a:lstStyle/>
                    <a:p>
                      <a:r>
                        <a:rPr sz="1050" b="0">
                          <a:solidFill>
                            <a:srgbClr val="26373D"/>
                          </a:solidFill>
                          <a:latin typeface="Yu Gothic"/>
                          <a:ea typeface="Yu Gothic"/>
                          <a:cs typeface="Yu Gothic"/>
                        </a:rPr>
                        <a:t>9.45×10⁻⁵</a:t>
                      </a:r>
                    </a:p>
                  </a:txBody>
                  <a:tcPr marL="91440" marR="91440" marT="45720" marB="45720"/>
                </a:tc>
                <a:tc>
                  <a:txBody>
                    <a:bodyPr/>
                    <a:lstStyle/>
                    <a:p>
                      <a:r>
                        <a:rPr sz="1050" b="0">
                          <a:solidFill>
                            <a:srgbClr val="26373D"/>
                          </a:solidFill>
                          <a:latin typeface="Yu Gothic"/>
                          <a:ea typeface="Yu Gothic"/>
                          <a:cs typeface="Yu Gothic"/>
                        </a:rPr>
                        <a:t>1.78×10⁻⁵</a:t>
                      </a:r>
                    </a:p>
                  </a:txBody>
                  <a:tcPr marL="91440" marR="91440" marT="45720" marB="45720"/>
                </a:tc>
                <a:tc>
                  <a:txBody>
                    <a:bodyPr/>
                    <a:lstStyle/>
                    <a:p>
                      <a:r>
                        <a:rPr sz="1050" b="0">
                          <a:solidFill>
                            <a:srgbClr val="26373D"/>
                          </a:solidFill>
                          <a:latin typeface="Yu Gothic"/>
                          <a:ea typeface="Yu Gothic"/>
                          <a:cs typeface="Yu Gothic"/>
                        </a:rPr>
                        <a:t>1.12×10⁻⁴</a:t>
                      </a:r>
                    </a:p>
                  </a:txBody>
                  <a:tcPr marL="91440" marR="91440" marT="45720" marB="45720"/>
                </a:tc>
              </a:tr>
              <a:tr h="328246">
                <a:tc>
                  <a:txBody>
                    <a:bodyPr/>
                    <a:lstStyle/>
                    <a:p>
                      <a:r>
                        <a:rPr sz="1050" b="0">
                          <a:solidFill>
                            <a:srgbClr val="26373D"/>
                          </a:solidFill>
                          <a:latin typeface="Yu Gothic"/>
                          <a:ea typeface="Yu Gothic"/>
                          <a:cs typeface="Yu Gothic"/>
                        </a:rPr>
                        <a:t>2</a:t>
                      </a:r>
                    </a:p>
                  </a:txBody>
                  <a:tcPr marL="91440" marR="91440" marT="45720" marB="45720"/>
                </a:tc>
                <a:tc>
                  <a:txBody>
                    <a:bodyPr/>
                    <a:lstStyle/>
                    <a:p>
                      <a:r>
                        <a:rPr sz="1050" b="0">
                          <a:solidFill>
                            <a:srgbClr val="26373D"/>
                          </a:solidFill>
                          <a:latin typeface="Yu Gothic"/>
                          <a:ea typeface="Yu Gothic"/>
                          <a:cs typeface="Yu Gothic"/>
                        </a:rPr>
                        <a:t>現場0／通常</a:t>
                      </a:r>
                    </a:p>
                  </a:txBody>
                  <a:tcPr marL="91440" marR="91440" marT="45720" marB="45720"/>
                </a:tc>
                <a:tc>
                  <a:txBody>
                    <a:bodyPr/>
                    <a:lstStyle/>
                    <a:p>
                      <a:r>
                        <a:rPr sz="1050" b="0">
                          <a:solidFill>
                            <a:srgbClr val="26373D"/>
                          </a:solidFill>
                          <a:latin typeface="Yu Gothic"/>
                          <a:ea typeface="Yu Gothic"/>
                          <a:cs typeface="Yu Gothic"/>
                        </a:rPr>
                        <a:t>危険</a:t>
                      </a:r>
                    </a:p>
                  </a:txBody>
                  <a:tcPr marL="91440" marR="91440" marT="45720" marB="45720"/>
                </a:tc>
                <a:tc>
                  <a:txBody>
                    <a:bodyPr/>
                    <a:lstStyle/>
                    <a:p>
                      <a:r>
                        <a:rPr sz="1050" b="0">
                          <a:solidFill>
                            <a:srgbClr val="26373D"/>
                          </a:solidFill>
                          <a:latin typeface="Yu Gothic"/>
                          <a:ea typeface="Yu Gothic"/>
                          <a:cs typeface="Yu Gothic"/>
                        </a:rPr>
                        <a:t>+0.03448</a:t>
                      </a:r>
                    </a:p>
                  </a:txBody>
                  <a:tcPr marL="91440" marR="91440" marT="45720" marB="45720"/>
                </a:tc>
                <a:tc>
                  <a:txBody>
                    <a:bodyPr/>
                    <a:lstStyle/>
                    <a:p>
                      <a:r>
                        <a:rPr sz="1050" b="0">
                          <a:solidFill>
                            <a:srgbClr val="26373D"/>
                          </a:solidFill>
                          <a:latin typeface="Yu Gothic"/>
                          <a:ea typeface="Yu Gothic"/>
                          <a:cs typeface="Yu Gothic"/>
                        </a:rPr>
                        <a:t>+0.01343</a:t>
                      </a:r>
                    </a:p>
                  </a:txBody>
                  <a:tcPr marL="91440" marR="91440" marT="45720" marB="45720"/>
                </a:tc>
                <a:tc>
                  <a:txBody>
                    <a:bodyPr/>
                    <a:lstStyle/>
                    <a:p>
                      <a:r>
                        <a:rPr sz="1050" b="0">
                          <a:solidFill>
                            <a:srgbClr val="26373D"/>
                          </a:solidFill>
                          <a:latin typeface="Yu Gothic"/>
                          <a:ea typeface="Yu Gothic"/>
                          <a:cs typeface="Yu Gothic"/>
                        </a:rPr>
                        <a:t>一致</a:t>
                      </a:r>
                    </a:p>
                  </a:txBody>
                  <a:tcPr marL="91440" marR="91440" marT="45720" marB="45720"/>
                </a:tc>
                <a:tc>
                  <a:txBody>
                    <a:bodyPr/>
                    <a:lstStyle/>
                    <a:p>
                      <a:r>
                        <a:rPr sz="1050" b="0">
                          <a:solidFill>
                            <a:srgbClr val="26373D"/>
                          </a:solidFill>
                          <a:latin typeface="Yu Gothic"/>
                          <a:ea typeface="Yu Gothic"/>
                          <a:cs typeface="Yu Gothic"/>
                        </a:rPr>
                        <a:t>2.27×10⁻⁷</a:t>
                      </a:r>
                    </a:p>
                  </a:txBody>
                  <a:tcPr marL="91440" marR="91440" marT="45720" marB="45720"/>
                </a:tc>
                <a:tc>
                  <a:txBody>
                    <a:bodyPr/>
                    <a:lstStyle/>
                    <a:p>
                      <a:r>
                        <a:rPr sz="1050" b="0">
                          <a:solidFill>
                            <a:srgbClr val="26373D"/>
                          </a:solidFill>
                          <a:latin typeface="Yu Gothic"/>
                          <a:ea typeface="Yu Gothic"/>
                          <a:cs typeface="Yu Gothic"/>
                        </a:rPr>
                        <a:t>4.43×10⁻⁴</a:t>
                      </a:r>
                    </a:p>
                  </a:txBody>
                  <a:tcPr marL="91440" marR="91440" marT="45720" marB="45720"/>
                </a:tc>
                <a:tc>
                  <a:txBody>
                    <a:bodyPr/>
                    <a:lstStyle/>
                    <a:p>
                      <a:r>
                        <a:rPr sz="1050" b="0">
                          <a:solidFill>
                            <a:srgbClr val="26373D"/>
                          </a:solidFill>
                          <a:latin typeface="Yu Gothic"/>
                          <a:ea typeface="Yu Gothic"/>
                          <a:cs typeface="Yu Gothic"/>
                        </a:rPr>
                        <a:t>4.43×10⁻⁴</a:t>
                      </a:r>
                    </a:p>
                  </a:txBody>
                  <a:tcPr marL="91440" marR="91440" marT="45720" marB="45720"/>
                </a:tc>
              </a:tr>
              <a:tr h="328246">
                <a:tc>
                  <a:txBody>
                    <a:bodyPr/>
                    <a:lstStyle/>
                    <a:p>
                      <a:r>
                        <a:rPr sz="1050" b="0">
                          <a:solidFill>
                            <a:srgbClr val="26373D"/>
                          </a:solidFill>
                          <a:latin typeface="Yu Gothic"/>
                          <a:ea typeface="Yu Gothic"/>
                          <a:cs typeface="Yu Gothic"/>
                        </a:rPr>
                        <a:t>2</a:t>
                      </a:r>
                    </a:p>
                  </a:txBody>
                  <a:tcPr marL="91440" marR="91440" marT="45720" marB="45720"/>
                </a:tc>
                <a:tc>
                  <a:txBody>
                    <a:bodyPr/>
                    <a:lstStyle/>
                    <a:p>
                      <a:r>
                        <a:rPr sz="1050" b="0">
                          <a:solidFill>
                            <a:srgbClr val="26373D"/>
                          </a:solidFill>
                          <a:latin typeface="Yu Gothic"/>
                          <a:ea typeface="Yu Gothic"/>
                          <a:cs typeface="Yu Gothic"/>
                        </a:rPr>
                        <a:t>現場0／危険</a:t>
                      </a:r>
                    </a:p>
                  </a:txBody>
                  <a:tcPr marL="91440" marR="91440" marT="45720" marB="45720"/>
                </a:tc>
                <a:tc>
                  <a:txBody>
                    <a:bodyPr/>
                    <a:lstStyle/>
                    <a:p>
                      <a:r>
                        <a:rPr sz="1050" b="0">
                          <a:solidFill>
                            <a:srgbClr val="26373D"/>
                          </a:solidFill>
                          <a:latin typeface="Yu Gothic"/>
                          <a:ea typeface="Yu Gothic"/>
                          <a:cs typeface="Yu Gothic"/>
                        </a:rPr>
                        <a:t>危険</a:t>
                      </a:r>
                    </a:p>
                  </a:txBody>
                  <a:tcPr marL="91440" marR="91440" marT="45720" marB="45720"/>
                </a:tc>
                <a:tc>
                  <a:txBody>
                    <a:bodyPr/>
                    <a:lstStyle/>
                    <a:p>
                      <a:r>
                        <a:rPr sz="1050" b="0">
                          <a:solidFill>
                            <a:srgbClr val="26373D"/>
                          </a:solidFill>
                          <a:latin typeface="Yu Gothic"/>
                          <a:ea typeface="Yu Gothic"/>
                          <a:cs typeface="Yu Gothic"/>
                        </a:rPr>
                        <a:t>+0.17458</a:t>
                      </a:r>
                    </a:p>
                  </a:txBody>
                  <a:tcPr marL="91440" marR="91440" marT="45720" marB="45720"/>
                </a:tc>
                <a:tc>
                  <a:txBody>
                    <a:bodyPr/>
                    <a:lstStyle/>
                    <a:p>
                      <a:r>
                        <a:rPr sz="1050" b="0">
                          <a:solidFill>
                            <a:srgbClr val="26373D"/>
                          </a:solidFill>
                          <a:latin typeface="Yu Gothic"/>
                          <a:ea typeface="Yu Gothic"/>
                          <a:cs typeface="Yu Gothic"/>
                        </a:rPr>
                        <a:t>+0.00516</a:t>
                      </a:r>
                    </a:p>
                  </a:txBody>
                  <a:tcPr marL="91440" marR="91440" marT="45720" marB="45720"/>
                </a:tc>
                <a:tc>
                  <a:txBody>
                    <a:bodyPr/>
                    <a:lstStyle/>
                    <a:p>
                      <a:r>
                        <a:rPr sz="1050" b="0">
                          <a:solidFill>
                            <a:srgbClr val="26373D"/>
                          </a:solidFill>
                          <a:latin typeface="Yu Gothic"/>
                          <a:ea typeface="Yu Gothic"/>
                          <a:cs typeface="Yu Gothic"/>
                        </a:rPr>
                        <a:t>一致</a:t>
                      </a:r>
                    </a:p>
                  </a:txBody>
                  <a:tcPr marL="91440" marR="91440" marT="45720" marB="45720"/>
                </a:tc>
                <a:tc>
                  <a:txBody>
                    <a:bodyPr/>
                    <a:lstStyle/>
                    <a:p>
                      <a:r>
                        <a:rPr sz="1050" b="0">
                          <a:solidFill>
                            <a:srgbClr val="26373D"/>
                          </a:solidFill>
                          <a:latin typeface="Yu Gothic"/>
                          <a:ea typeface="Yu Gothic"/>
                          <a:cs typeface="Yu Gothic"/>
                        </a:rPr>
                        <a:t>2.67×10⁻⁵</a:t>
                      </a:r>
                    </a:p>
                  </a:txBody>
                  <a:tcPr marL="91440" marR="91440" marT="45720" marB="45720"/>
                </a:tc>
                <a:tc>
                  <a:txBody>
                    <a:bodyPr/>
                    <a:lstStyle/>
                    <a:p>
                      <a:r>
                        <a:rPr sz="1050" b="0">
                          <a:solidFill>
                            <a:srgbClr val="26373D"/>
                          </a:solidFill>
                          <a:latin typeface="Yu Gothic"/>
                          <a:ea typeface="Yu Gothic"/>
                          <a:cs typeface="Yu Gothic"/>
                        </a:rPr>
                        <a:t>2.870×10⁻²</a:t>
                      </a:r>
                    </a:p>
                  </a:txBody>
                  <a:tcPr marL="91440" marR="91440" marT="45720" marB="45720"/>
                </a:tc>
                <a:tc>
                  <a:txBody>
                    <a:bodyPr/>
                    <a:lstStyle/>
                    <a:p>
                      <a:r>
                        <a:rPr sz="1050" b="0">
                          <a:solidFill>
                            <a:srgbClr val="26373D"/>
                          </a:solidFill>
                          <a:latin typeface="Yu Gothic"/>
                          <a:ea typeface="Yu Gothic"/>
                          <a:cs typeface="Yu Gothic"/>
                        </a:rPr>
                        <a:t>2.873×10⁻²</a:t>
                      </a:r>
                    </a:p>
                  </a:txBody>
                  <a:tcPr marL="91440" marR="91440" marT="45720" marB="45720"/>
                </a:tc>
              </a:tr>
              <a:tr h="328246">
                <a:tc>
                  <a:txBody>
                    <a:bodyPr/>
                    <a:lstStyle/>
                    <a:p>
                      <a:r>
                        <a:rPr sz="1050" b="0">
                          <a:solidFill>
                            <a:srgbClr val="26373D"/>
                          </a:solidFill>
                          <a:latin typeface="Yu Gothic"/>
                          <a:ea typeface="Yu Gothic"/>
                          <a:cs typeface="Yu Gothic"/>
                        </a:rPr>
                        <a:t>2</a:t>
                      </a:r>
                    </a:p>
                  </a:txBody>
                  <a:tcPr marL="91440" marR="91440" marT="45720" marB="45720"/>
                </a:tc>
                <a:tc>
                  <a:txBody>
                    <a:bodyPr/>
                    <a:lstStyle/>
                    <a:p>
                      <a:r>
                        <a:rPr sz="1050" b="0">
                          <a:solidFill>
                            <a:srgbClr val="26373D"/>
                          </a:solidFill>
                          <a:latin typeface="Yu Gothic"/>
                          <a:ea typeface="Yu Gothic"/>
                          <a:cs typeface="Yu Gothic"/>
                        </a:rPr>
                        <a:t>現場1／通常</a:t>
                      </a:r>
                    </a:p>
                  </a:txBody>
                  <a:tcPr marL="91440" marR="91440" marT="45720" marB="45720"/>
                </a:tc>
                <a:tc>
                  <a:txBody>
                    <a:bodyPr/>
                    <a:lstStyle/>
                    <a:p>
                      <a:r>
                        <a:rPr sz="1050" b="0">
                          <a:solidFill>
                            <a:srgbClr val="26373D"/>
                          </a:solidFill>
                          <a:latin typeface="Yu Gothic"/>
                          <a:ea typeface="Yu Gothic"/>
                          <a:cs typeface="Yu Gothic"/>
                        </a:rPr>
                        <a:t>通常</a:t>
                      </a:r>
                    </a:p>
                  </a:txBody>
                  <a:tcPr marL="91440" marR="91440" marT="45720" marB="45720"/>
                </a:tc>
                <a:tc>
                  <a:txBody>
                    <a:bodyPr/>
                    <a:lstStyle/>
                    <a:p>
                      <a:r>
                        <a:rPr sz="1050" b="0">
                          <a:solidFill>
                            <a:srgbClr val="26373D"/>
                          </a:solidFill>
                          <a:latin typeface="Yu Gothic"/>
                          <a:ea typeface="Yu Gothic"/>
                          <a:cs typeface="Yu Gothic"/>
                        </a:rPr>
                        <a:t>−0.11137</a:t>
                      </a:r>
                    </a:p>
                  </a:txBody>
                  <a:tcPr marL="91440" marR="91440" marT="45720" marB="45720"/>
                </a:tc>
                <a:tc>
                  <a:txBody>
                    <a:bodyPr/>
                    <a:lstStyle/>
                    <a:p>
                      <a:r>
                        <a:rPr sz="1050" b="0">
                          <a:solidFill>
                            <a:srgbClr val="26373D"/>
                          </a:solidFill>
                          <a:latin typeface="Yu Gothic"/>
                          <a:ea typeface="Yu Gothic"/>
                          <a:cs typeface="Yu Gothic"/>
                        </a:rPr>
                        <a:t>+0.00511</a:t>
                      </a:r>
                    </a:p>
                  </a:txBody>
                  <a:tcPr marL="91440" marR="91440" marT="45720" marB="45720"/>
                </a:tc>
                <a:tc>
                  <a:txBody>
                    <a:bodyPr>
                      <a:normAutofit/>
                    </a:bodyPr>
                    <a:lstStyle/>
                    <a:p>
                      <a:pPr algn="ctr"/>
                      <a:r>
                        <a:rPr sz="1013" b="1">
                          <a:solidFill>
                            <a:srgbClr val="B94A3A"/>
                          </a:solidFill>
                          <a:latin typeface="Yu Gothic"/>
                          <a:ea typeface="Yu Gothic"/>
                          <a:cs typeface="Yu Gothic"/>
                        </a:rPr>
                        <a:t>不一致</a:t>
                      </a:r>
                    </a:p>
                  </a:txBody>
                  <a:tcPr marL="91440" marR="91440" marT="45720" marB="45720" anchor="ctr">
                    <a:solidFill>
                      <a:srgbClr val="F5DFDA"/>
                    </a:solidFill>
                  </a:tcPr>
                </a:tc>
                <a:tc>
                  <a:txBody>
                    <a:bodyPr/>
                    <a:lstStyle/>
                    <a:p>
                      <a:r>
                        <a:rPr sz="1050" b="0">
                          <a:solidFill>
                            <a:srgbClr val="26373D"/>
                          </a:solidFill>
                          <a:latin typeface="Yu Gothic"/>
                          <a:ea typeface="Yu Gothic"/>
                          <a:cs typeface="Yu Gothic"/>
                        </a:rPr>
                        <a:t>9.15×10⁻⁵</a:t>
                      </a:r>
                    </a:p>
                  </a:txBody>
                  <a:tcPr marL="91440" marR="91440" marT="45720" marB="45720"/>
                </a:tc>
                <a:tc>
                  <a:txBody>
                    <a:bodyPr/>
                    <a:lstStyle/>
                    <a:p>
                      <a:r>
                        <a:rPr sz="1050" b="0">
                          <a:solidFill>
                            <a:srgbClr val="26373D"/>
                          </a:solidFill>
                          <a:latin typeface="Yu Gothic"/>
                          <a:ea typeface="Yu Gothic"/>
                          <a:cs typeface="Yu Gothic"/>
                        </a:rPr>
                        <a:t>1.357×10⁻²</a:t>
                      </a:r>
                    </a:p>
                  </a:txBody>
                  <a:tcPr marL="91440" marR="91440" marT="45720" marB="45720"/>
                </a:tc>
                <a:tc>
                  <a:txBody>
                    <a:bodyPr/>
                    <a:lstStyle/>
                    <a:p>
                      <a:r>
                        <a:rPr sz="1050" b="0">
                          <a:solidFill>
                            <a:srgbClr val="26373D"/>
                          </a:solidFill>
                          <a:latin typeface="Yu Gothic"/>
                          <a:ea typeface="Yu Gothic"/>
                          <a:cs typeface="Yu Gothic"/>
                        </a:rPr>
                        <a:t>1.366×10⁻²</a:t>
                      </a:r>
                    </a:p>
                  </a:txBody>
                  <a:tcPr marL="91440" marR="91440" marT="45720" marB="45720"/>
                </a:tc>
              </a:tr>
              <a:tr h="328246">
                <a:tc>
                  <a:txBody>
                    <a:bodyPr/>
                    <a:lstStyle/>
                    <a:p>
                      <a:r>
                        <a:rPr sz="1050" b="0">
                          <a:solidFill>
                            <a:srgbClr val="26373D"/>
                          </a:solidFill>
                          <a:latin typeface="Yu Gothic"/>
                          <a:ea typeface="Yu Gothic"/>
                          <a:cs typeface="Yu Gothic"/>
                        </a:rPr>
                        <a:t>2</a:t>
                      </a:r>
                    </a:p>
                  </a:txBody>
                  <a:tcPr marL="91440" marR="91440" marT="45720" marB="45720"/>
                </a:tc>
                <a:tc>
                  <a:txBody>
                    <a:bodyPr/>
                    <a:lstStyle/>
                    <a:p>
                      <a:r>
                        <a:rPr sz="1050" b="0">
                          <a:solidFill>
                            <a:srgbClr val="26373D"/>
                          </a:solidFill>
                          <a:latin typeface="Yu Gothic"/>
                          <a:ea typeface="Yu Gothic"/>
                          <a:cs typeface="Yu Gothic"/>
                        </a:rPr>
                        <a:t>現場1／危険</a:t>
                      </a:r>
                    </a:p>
                  </a:txBody>
                  <a:tcPr marL="91440" marR="91440" marT="45720" marB="45720"/>
                </a:tc>
                <a:tc>
                  <a:txBody>
                    <a:bodyPr/>
                    <a:lstStyle/>
                    <a:p>
                      <a:r>
                        <a:rPr sz="1050" b="0">
                          <a:solidFill>
                            <a:srgbClr val="26373D"/>
                          </a:solidFill>
                          <a:latin typeface="Yu Gothic"/>
                          <a:ea typeface="Yu Gothic"/>
                          <a:cs typeface="Yu Gothic"/>
                        </a:rPr>
                        <a:t>危険</a:t>
                      </a:r>
                    </a:p>
                  </a:txBody>
                  <a:tcPr marL="91440" marR="91440" marT="45720" marB="45720"/>
                </a:tc>
                <a:tc>
                  <a:txBody>
                    <a:bodyPr/>
                    <a:lstStyle/>
                    <a:p>
                      <a:r>
                        <a:rPr sz="1050" b="0">
                          <a:solidFill>
                            <a:srgbClr val="26373D"/>
                          </a:solidFill>
                          <a:latin typeface="Yu Gothic"/>
                          <a:ea typeface="Yu Gothic"/>
                          <a:cs typeface="Yu Gothic"/>
                        </a:rPr>
                        <a:t>−0.00697</a:t>
                      </a:r>
                    </a:p>
                  </a:txBody>
                  <a:tcPr marL="91440" marR="91440" marT="45720" marB="45720"/>
                </a:tc>
                <a:tc>
                  <a:txBody>
                    <a:bodyPr/>
                    <a:lstStyle/>
                    <a:p>
                      <a:r>
                        <a:rPr sz="1050" b="0">
                          <a:solidFill>
                            <a:srgbClr val="26373D"/>
                          </a:solidFill>
                          <a:latin typeface="Yu Gothic"/>
                          <a:ea typeface="Yu Gothic"/>
                          <a:cs typeface="Yu Gothic"/>
                        </a:rPr>
                        <a:t>+0.00882</a:t>
                      </a:r>
                    </a:p>
                  </a:txBody>
                  <a:tcPr marL="91440" marR="91440" marT="45720" marB="45720"/>
                </a:tc>
                <a:tc>
                  <a:txBody>
                    <a:bodyPr>
                      <a:normAutofit/>
                    </a:bodyPr>
                    <a:lstStyle/>
                    <a:p>
                      <a:pPr algn="ctr"/>
                      <a:r>
                        <a:rPr sz="1013" b="1">
                          <a:solidFill>
                            <a:srgbClr val="B94A3A"/>
                          </a:solidFill>
                          <a:latin typeface="Yu Gothic"/>
                          <a:ea typeface="Yu Gothic"/>
                          <a:cs typeface="Yu Gothic"/>
                        </a:rPr>
                        <a:t>不一致</a:t>
                      </a:r>
                    </a:p>
                  </a:txBody>
                  <a:tcPr marL="91440" marR="91440" marT="45720" marB="45720" anchor="ctr">
                    <a:solidFill>
                      <a:srgbClr val="F5DFDA"/>
                    </a:solidFill>
                  </a:tcPr>
                </a:tc>
                <a:tc>
                  <a:txBody>
                    <a:bodyPr/>
                    <a:lstStyle/>
                    <a:p>
                      <a:r>
                        <a:rPr sz="1050" b="0">
                          <a:solidFill>
                            <a:srgbClr val="26373D"/>
                          </a:solidFill>
                          <a:latin typeface="Yu Gothic"/>
                          <a:ea typeface="Yu Gothic"/>
                          <a:cs typeface="Yu Gothic"/>
                        </a:rPr>
                        <a:t>1.16×10⁻⁴</a:t>
                      </a:r>
                    </a:p>
                  </a:txBody>
                  <a:tcPr marL="91440" marR="91440" marT="45720" marB="45720"/>
                </a:tc>
                <a:tc>
                  <a:txBody>
                    <a:bodyPr/>
                    <a:lstStyle/>
                    <a:p>
                      <a:r>
                        <a:rPr sz="1050" b="0">
                          <a:solidFill>
                            <a:srgbClr val="26373D"/>
                          </a:solidFill>
                          <a:latin typeface="Yu Gothic"/>
                          <a:ea typeface="Yu Gothic"/>
                          <a:cs typeface="Yu Gothic"/>
                        </a:rPr>
                        <a:t>2.49×10⁻⁴</a:t>
                      </a:r>
                    </a:p>
                  </a:txBody>
                  <a:tcPr marL="91440" marR="91440" marT="45720" marB="45720"/>
                </a:tc>
                <a:tc>
                  <a:txBody>
                    <a:bodyPr/>
                    <a:lstStyle/>
                    <a:p>
                      <a:r>
                        <a:rPr sz="1050" b="0">
                          <a:solidFill>
                            <a:srgbClr val="26373D"/>
                          </a:solidFill>
                          <a:latin typeface="Yu Gothic"/>
                          <a:ea typeface="Yu Gothic"/>
                          <a:cs typeface="Yu Gothic"/>
                        </a:rPr>
                        <a:t>3.66×10⁻⁴</a:t>
                      </a:r>
                    </a:p>
                  </a:txBody>
                  <a:tcPr marL="91440" marR="91440" marT="45720" marB="45720"/>
                </a:tc>
              </a:tr>
              <a:tr h="328246">
                <a:tc>
                  <a:txBody>
                    <a:bodyPr/>
                    <a:lstStyle/>
                    <a:p>
                      <a:r>
                        <a:rPr sz="1050" b="0">
                          <a:solidFill>
                            <a:srgbClr val="26373D"/>
                          </a:solidFill>
                          <a:latin typeface="Yu Gothic"/>
                          <a:ea typeface="Yu Gothic"/>
                          <a:cs typeface="Yu Gothic"/>
                        </a:rPr>
                        <a:t>3</a:t>
                      </a:r>
                    </a:p>
                  </a:txBody>
                  <a:tcPr marL="91440" marR="91440" marT="45720" marB="45720"/>
                </a:tc>
                <a:tc>
                  <a:txBody>
                    <a:bodyPr/>
                    <a:lstStyle/>
                    <a:p>
                      <a:r>
                        <a:rPr sz="1050" b="0">
                          <a:solidFill>
                            <a:srgbClr val="26373D"/>
                          </a:solidFill>
                          <a:latin typeface="Yu Gothic"/>
                          <a:ea typeface="Yu Gothic"/>
                          <a:cs typeface="Yu Gothic"/>
                        </a:rPr>
                        <a:t>現場0／通常</a:t>
                      </a:r>
                    </a:p>
                  </a:txBody>
                  <a:tcPr marL="91440" marR="91440" marT="45720" marB="45720"/>
                </a:tc>
                <a:tc>
                  <a:txBody>
                    <a:bodyPr/>
                    <a:lstStyle/>
                    <a:p>
                      <a:r>
                        <a:rPr sz="1050" b="0">
                          <a:solidFill>
                            <a:srgbClr val="26373D"/>
                          </a:solidFill>
                          <a:latin typeface="Yu Gothic"/>
                          <a:ea typeface="Yu Gothic"/>
                          <a:cs typeface="Yu Gothic"/>
                        </a:rPr>
                        <a:t>危険</a:t>
                      </a:r>
                    </a:p>
                  </a:txBody>
                  <a:tcPr marL="91440" marR="91440" marT="45720" marB="45720"/>
                </a:tc>
                <a:tc>
                  <a:txBody>
                    <a:bodyPr/>
                    <a:lstStyle/>
                    <a:p>
                      <a:r>
                        <a:rPr sz="1050" b="0">
                          <a:solidFill>
                            <a:srgbClr val="26373D"/>
                          </a:solidFill>
                          <a:latin typeface="Yu Gothic"/>
                          <a:ea typeface="Yu Gothic"/>
                          <a:cs typeface="Yu Gothic"/>
                        </a:rPr>
                        <a:t>+0.00723</a:t>
                      </a:r>
                    </a:p>
                  </a:txBody>
                  <a:tcPr marL="91440" marR="91440" marT="45720" marB="45720"/>
                </a:tc>
                <a:tc>
                  <a:txBody>
                    <a:bodyPr/>
                    <a:lstStyle/>
                    <a:p>
                      <a:r>
                        <a:rPr sz="1050" b="0">
                          <a:solidFill>
                            <a:srgbClr val="26373D"/>
                          </a:solidFill>
                          <a:latin typeface="Yu Gothic"/>
                          <a:ea typeface="Yu Gothic"/>
                          <a:cs typeface="Yu Gothic"/>
                        </a:rPr>
                        <a:t>−0.00603</a:t>
                      </a:r>
                    </a:p>
                  </a:txBody>
                  <a:tcPr marL="91440" marR="91440" marT="45720" marB="45720"/>
                </a:tc>
                <a:tc>
                  <a:txBody>
                    <a:bodyPr>
                      <a:normAutofit/>
                    </a:bodyPr>
                    <a:lstStyle/>
                    <a:p>
                      <a:pPr algn="ctr"/>
                      <a:r>
                        <a:rPr sz="1013" b="1">
                          <a:solidFill>
                            <a:srgbClr val="B94A3A"/>
                          </a:solidFill>
                          <a:latin typeface="Yu Gothic"/>
                          <a:ea typeface="Yu Gothic"/>
                          <a:cs typeface="Yu Gothic"/>
                        </a:rPr>
                        <a:t>不一致</a:t>
                      </a:r>
                    </a:p>
                  </a:txBody>
                  <a:tcPr marL="91440" marR="91440" marT="45720" marB="45720" anchor="ctr">
                    <a:solidFill>
                      <a:srgbClr val="F5DFDA"/>
                    </a:solidFill>
                  </a:tcPr>
                </a:tc>
                <a:tc>
                  <a:txBody>
                    <a:bodyPr/>
                    <a:lstStyle/>
                    <a:p>
                      <a:r>
                        <a:rPr sz="1050" b="0">
                          <a:solidFill>
                            <a:srgbClr val="26373D"/>
                          </a:solidFill>
                          <a:latin typeface="Yu Gothic"/>
                          <a:ea typeface="Yu Gothic"/>
                          <a:cs typeface="Yu Gothic"/>
                        </a:rPr>
                        <a:t>2.55×10⁻⁵</a:t>
                      </a:r>
                    </a:p>
                  </a:txBody>
                  <a:tcPr marL="91440" marR="91440" marT="45720" marB="45720"/>
                </a:tc>
                <a:tc>
                  <a:txBody>
                    <a:bodyPr/>
                    <a:lstStyle/>
                    <a:p>
                      <a:r>
                        <a:rPr sz="1050" b="0">
                          <a:solidFill>
                            <a:srgbClr val="26373D"/>
                          </a:solidFill>
                          <a:latin typeface="Yu Gothic"/>
                          <a:ea typeface="Yu Gothic"/>
                          <a:cs typeface="Yu Gothic"/>
                        </a:rPr>
                        <a:t>1.76×10⁻⁴</a:t>
                      </a:r>
                    </a:p>
                  </a:txBody>
                  <a:tcPr marL="91440" marR="91440" marT="45720" marB="45720"/>
                </a:tc>
                <a:tc>
                  <a:txBody>
                    <a:bodyPr/>
                    <a:lstStyle/>
                    <a:p>
                      <a:r>
                        <a:rPr sz="1050" b="0">
                          <a:solidFill>
                            <a:srgbClr val="26373D"/>
                          </a:solidFill>
                          <a:latin typeface="Yu Gothic"/>
                          <a:ea typeface="Yu Gothic"/>
                          <a:cs typeface="Yu Gothic"/>
                        </a:rPr>
                        <a:t>2.01×10⁻⁴</a:t>
                      </a:r>
                    </a:p>
                  </a:txBody>
                  <a:tcPr marL="91440" marR="91440" marT="45720" marB="45720"/>
                </a:tc>
              </a:tr>
              <a:tr h="328246">
                <a:tc>
                  <a:txBody>
                    <a:bodyPr/>
                    <a:lstStyle/>
                    <a:p>
                      <a:r>
                        <a:rPr sz="1050" b="0">
                          <a:solidFill>
                            <a:srgbClr val="26373D"/>
                          </a:solidFill>
                          <a:latin typeface="Yu Gothic"/>
                          <a:ea typeface="Yu Gothic"/>
                          <a:cs typeface="Yu Gothic"/>
                        </a:rPr>
                        <a:t>3</a:t>
                      </a:r>
                    </a:p>
                  </a:txBody>
                  <a:tcPr marL="91440" marR="91440" marT="45720" marB="45720"/>
                </a:tc>
                <a:tc>
                  <a:txBody>
                    <a:bodyPr/>
                    <a:lstStyle/>
                    <a:p>
                      <a:r>
                        <a:rPr sz="1050" b="0">
                          <a:solidFill>
                            <a:srgbClr val="26373D"/>
                          </a:solidFill>
                          <a:latin typeface="Yu Gothic"/>
                          <a:ea typeface="Yu Gothic"/>
                          <a:cs typeface="Yu Gothic"/>
                        </a:rPr>
                        <a:t>現場0／危険</a:t>
                      </a:r>
                    </a:p>
                  </a:txBody>
                  <a:tcPr marL="91440" marR="91440" marT="45720" marB="45720"/>
                </a:tc>
                <a:tc>
                  <a:txBody>
                    <a:bodyPr/>
                    <a:lstStyle/>
                    <a:p>
                      <a:r>
                        <a:rPr sz="1050" b="0">
                          <a:solidFill>
                            <a:srgbClr val="26373D"/>
                          </a:solidFill>
                          <a:latin typeface="Yu Gothic"/>
                          <a:ea typeface="Yu Gothic"/>
                          <a:cs typeface="Yu Gothic"/>
                        </a:rPr>
                        <a:t>危険</a:t>
                      </a:r>
                    </a:p>
                  </a:txBody>
                  <a:tcPr marL="91440" marR="91440" marT="45720" marB="45720"/>
                </a:tc>
                <a:tc>
                  <a:txBody>
                    <a:bodyPr/>
                    <a:lstStyle/>
                    <a:p>
                      <a:r>
                        <a:rPr sz="1050" b="0">
                          <a:solidFill>
                            <a:srgbClr val="26373D"/>
                          </a:solidFill>
                          <a:latin typeface="Yu Gothic"/>
                          <a:ea typeface="Yu Gothic"/>
                          <a:cs typeface="Yu Gothic"/>
                        </a:rPr>
                        <a:t>+0.14805</a:t>
                      </a:r>
                    </a:p>
                  </a:txBody>
                  <a:tcPr marL="91440" marR="91440" marT="45720" marB="45720"/>
                </a:tc>
                <a:tc>
                  <a:txBody>
                    <a:bodyPr/>
                    <a:lstStyle/>
                    <a:p>
                      <a:r>
                        <a:rPr sz="1050" b="0">
                          <a:solidFill>
                            <a:srgbClr val="26373D"/>
                          </a:solidFill>
                          <a:latin typeface="Yu Gothic"/>
                          <a:ea typeface="Yu Gothic"/>
                          <a:cs typeface="Yu Gothic"/>
                        </a:rPr>
                        <a:t>+0.00013</a:t>
                      </a:r>
                    </a:p>
                  </a:txBody>
                  <a:tcPr marL="91440" marR="91440" marT="45720" marB="45720"/>
                </a:tc>
                <a:tc>
                  <a:txBody>
                    <a:bodyPr/>
                    <a:lstStyle/>
                    <a:p>
                      <a:r>
                        <a:rPr sz="1050" b="0">
                          <a:solidFill>
                            <a:srgbClr val="26373D"/>
                          </a:solidFill>
                          <a:latin typeface="Yu Gothic"/>
                          <a:ea typeface="Yu Gothic"/>
                          <a:cs typeface="Yu Gothic"/>
                        </a:rPr>
                        <a:t>一致</a:t>
                      </a:r>
                    </a:p>
                  </a:txBody>
                  <a:tcPr marL="91440" marR="91440" marT="45720" marB="45720"/>
                </a:tc>
                <a:tc>
                  <a:txBody>
                    <a:bodyPr/>
                    <a:lstStyle/>
                    <a:p>
                      <a:r>
                        <a:rPr sz="1050" b="0">
                          <a:solidFill>
                            <a:srgbClr val="26373D"/>
                          </a:solidFill>
                          <a:latin typeface="Yu Gothic"/>
                          <a:ea typeface="Yu Gothic"/>
                          <a:cs typeface="Yu Gothic"/>
                        </a:rPr>
                        <a:t>8.30×10⁻⁵</a:t>
                      </a:r>
                    </a:p>
                  </a:txBody>
                  <a:tcPr marL="91440" marR="91440" marT="45720" marB="45720"/>
                </a:tc>
                <a:tc>
                  <a:txBody>
                    <a:bodyPr/>
                    <a:lstStyle/>
                    <a:p>
                      <a:r>
                        <a:rPr sz="1050" b="0">
                          <a:solidFill>
                            <a:srgbClr val="26373D"/>
                          </a:solidFill>
                          <a:latin typeface="Yu Gothic"/>
                          <a:ea typeface="Yu Gothic"/>
                          <a:cs typeface="Yu Gothic"/>
                        </a:rPr>
                        <a:t>2.188×10⁻²</a:t>
                      </a:r>
                    </a:p>
                  </a:txBody>
                  <a:tcPr marL="91440" marR="91440" marT="45720" marB="45720"/>
                </a:tc>
                <a:tc>
                  <a:txBody>
                    <a:bodyPr/>
                    <a:lstStyle/>
                    <a:p>
                      <a:r>
                        <a:rPr sz="1050" b="0">
                          <a:solidFill>
                            <a:srgbClr val="26373D"/>
                          </a:solidFill>
                          <a:latin typeface="Yu Gothic"/>
                          <a:ea typeface="Yu Gothic"/>
                          <a:cs typeface="Yu Gothic"/>
                        </a:rPr>
                        <a:t>2.196×10⁻²</a:t>
                      </a:r>
                    </a:p>
                  </a:txBody>
                  <a:tcPr marL="91440" marR="91440" marT="45720" marB="45720"/>
                </a:tc>
              </a:tr>
              <a:tr h="328246">
                <a:tc>
                  <a:txBody>
                    <a:bodyPr/>
                    <a:lstStyle/>
                    <a:p>
                      <a:r>
                        <a:rPr sz="1050" b="0">
                          <a:solidFill>
                            <a:srgbClr val="26373D"/>
                          </a:solidFill>
                          <a:latin typeface="Yu Gothic"/>
                          <a:ea typeface="Yu Gothic"/>
                          <a:cs typeface="Yu Gothic"/>
                        </a:rPr>
                        <a:t>3</a:t>
                      </a:r>
                    </a:p>
                  </a:txBody>
                  <a:tcPr marL="91440" marR="91440" marT="45720" marB="45720"/>
                </a:tc>
                <a:tc>
                  <a:txBody>
                    <a:bodyPr/>
                    <a:lstStyle/>
                    <a:p>
                      <a:r>
                        <a:rPr sz="1050" b="0">
                          <a:solidFill>
                            <a:srgbClr val="26373D"/>
                          </a:solidFill>
                          <a:latin typeface="Yu Gothic"/>
                          <a:ea typeface="Yu Gothic"/>
                          <a:cs typeface="Yu Gothic"/>
                        </a:rPr>
                        <a:t>現場1／通常</a:t>
                      </a:r>
                    </a:p>
                  </a:txBody>
                  <a:tcPr marL="91440" marR="91440" marT="45720" marB="45720"/>
                </a:tc>
                <a:tc>
                  <a:txBody>
                    <a:bodyPr/>
                    <a:lstStyle/>
                    <a:p>
                      <a:r>
                        <a:rPr sz="1050" b="0">
                          <a:solidFill>
                            <a:srgbClr val="26373D"/>
                          </a:solidFill>
                          <a:latin typeface="Yu Gothic"/>
                          <a:ea typeface="Yu Gothic"/>
                          <a:cs typeface="Yu Gothic"/>
                        </a:rPr>
                        <a:t>通常</a:t>
                      </a:r>
                    </a:p>
                  </a:txBody>
                  <a:tcPr marL="91440" marR="91440" marT="45720" marB="45720"/>
                </a:tc>
                <a:tc>
                  <a:txBody>
                    <a:bodyPr/>
                    <a:lstStyle/>
                    <a:p>
                      <a:r>
                        <a:rPr sz="1050" b="0">
                          <a:solidFill>
                            <a:srgbClr val="26373D"/>
                          </a:solidFill>
                          <a:latin typeface="Yu Gothic"/>
                          <a:ea typeface="Yu Gothic"/>
                          <a:cs typeface="Yu Gothic"/>
                        </a:rPr>
                        <a:t>−0.11538</a:t>
                      </a:r>
                    </a:p>
                  </a:txBody>
                  <a:tcPr marL="91440" marR="91440" marT="45720" marB="45720"/>
                </a:tc>
                <a:tc>
                  <a:txBody>
                    <a:bodyPr/>
                    <a:lstStyle/>
                    <a:p>
                      <a:r>
                        <a:rPr sz="1050" b="0">
                          <a:solidFill>
                            <a:srgbClr val="26373D"/>
                          </a:solidFill>
                          <a:latin typeface="Yu Gothic"/>
                          <a:ea typeface="Yu Gothic"/>
                          <a:cs typeface="Yu Gothic"/>
                        </a:rPr>
                        <a:t>−0.02566</a:t>
                      </a:r>
                    </a:p>
                  </a:txBody>
                  <a:tcPr marL="91440" marR="91440" marT="45720" marB="45720"/>
                </a:tc>
                <a:tc>
                  <a:txBody>
                    <a:bodyPr/>
                    <a:lstStyle/>
                    <a:p>
                      <a:r>
                        <a:rPr sz="1050" b="0">
                          <a:solidFill>
                            <a:srgbClr val="26373D"/>
                          </a:solidFill>
                          <a:latin typeface="Yu Gothic"/>
                          <a:ea typeface="Yu Gothic"/>
                          <a:cs typeface="Yu Gothic"/>
                        </a:rPr>
                        <a:t>一致</a:t>
                      </a:r>
                    </a:p>
                  </a:txBody>
                  <a:tcPr marL="91440" marR="91440" marT="45720" marB="45720"/>
                </a:tc>
                <a:tc>
                  <a:txBody>
                    <a:bodyPr/>
                    <a:lstStyle/>
                    <a:p>
                      <a:r>
                        <a:rPr sz="1050" b="0">
                          <a:solidFill>
                            <a:srgbClr val="26373D"/>
                          </a:solidFill>
                          <a:latin typeface="Yu Gothic"/>
                          <a:ea typeface="Yu Gothic"/>
                          <a:cs typeface="Yu Gothic"/>
                        </a:rPr>
                        <a:t>4.62×10⁻⁴</a:t>
                      </a:r>
                    </a:p>
                  </a:txBody>
                  <a:tcPr marL="91440" marR="91440" marT="45720" marB="45720"/>
                </a:tc>
                <a:tc>
                  <a:txBody>
                    <a:bodyPr/>
                    <a:lstStyle/>
                    <a:p>
                      <a:r>
                        <a:rPr sz="1050" b="0">
                          <a:solidFill>
                            <a:srgbClr val="26373D"/>
                          </a:solidFill>
                          <a:latin typeface="Yu Gothic"/>
                          <a:ea typeface="Yu Gothic"/>
                          <a:cs typeface="Yu Gothic"/>
                        </a:rPr>
                        <a:t>8.05×10⁻³</a:t>
                      </a:r>
                    </a:p>
                  </a:txBody>
                  <a:tcPr marL="91440" marR="91440" marT="45720" marB="45720"/>
                </a:tc>
                <a:tc>
                  <a:txBody>
                    <a:bodyPr/>
                    <a:lstStyle/>
                    <a:p>
                      <a:r>
                        <a:rPr sz="1050" b="0">
                          <a:solidFill>
                            <a:srgbClr val="26373D"/>
                          </a:solidFill>
                          <a:latin typeface="Yu Gothic"/>
                          <a:ea typeface="Yu Gothic"/>
                          <a:cs typeface="Yu Gothic"/>
                        </a:rPr>
                        <a:t>8.51×10⁻³</a:t>
                      </a:r>
                    </a:p>
                  </a:txBody>
                  <a:tcPr marL="91440" marR="91440" marT="45720" marB="45720"/>
                </a:tc>
              </a:tr>
              <a:tr h="328246">
                <a:tc>
                  <a:txBody>
                    <a:bodyPr/>
                    <a:lstStyle/>
                    <a:p>
                      <a:r>
                        <a:rPr sz="1050" b="0">
                          <a:solidFill>
                            <a:srgbClr val="26373D"/>
                          </a:solidFill>
                          <a:latin typeface="Yu Gothic"/>
                          <a:ea typeface="Yu Gothic"/>
                          <a:cs typeface="Yu Gothic"/>
                        </a:rPr>
                        <a:t>3</a:t>
                      </a:r>
                    </a:p>
                  </a:txBody>
                  <a:tcPr marL="91440" marR="91440" marT="45720" marB="45720"/>
                </a:tc>
                <a:tc>
                  <a:txBody>
                    <a:bodyPr/>
                    <a:lstStyle/>
                    <a:p>
                      <a:r>
                        <a:rPr sz="1050" b="0">
                          <a:solidFill>
                            <a:srgbClr val="26373D"/>
                          </a:solidFill>
                          <a:latin typeface="Yu Gothic"/>
                          <a:ea typeface="Yu Gothic"/>
                          <a:cs typeface="Yu Gothic"/>
                        </a:rPr>
                        <a:t>現場1／危険</a:t>
                      </a:r>
                    </a:p>
                  </a:txBody>
                  <a:tcPr marL="91440" marR="91440" marT="45720" marB="45720"/>
                </a:tc>
                <a:tc>
                  <a:txBody>
                    <a:bodyPr/>
                    <a:lstStyle/>
                    <a:p>
                      <a:r>
                        <a:rPr sz="1050" b="0">
                          <a:solidFill>
                            <a:srgbClr val="26373D"/>
                          </a:solidFill>
                          <a:latin typeface="Yu Gothic"/>
                          <a:ea typeface="Yu Gothic"/>
                          <a:cs typeface="Yu Gothic"/>
                        </a:rPr>
                        <a:t>危険</a:t>
                      </a:r>
                    </a:p>
                  </a:txBody>
                  <a:tcPr marL="91440" marR="91440" marT="45720" marB="45720"/>
                </a:tc>
                <a:tc>
                  <a:txBody>
                    <a:bodyPr/>
                    <a:lstStyle/>
                    <a:p>
                      <a:r>
                        <a:rPr sz="1050" b="0">
                          <a:solidFill>
                            <a:srgbClr val="26373D"/>
                          </a:solidFill>
                          <a:latin typeface="Yu Gothic"/>
                          <a:ea typeface="Yu Gothic"/>
                          <a:cs typeface="Yu Gothic"/>
                        </a:rPr>
                        <a:t>−0.01229</a:t>
                      </a:r>
                    </a:p>
                  </a:txBody>
                  <a:tcPr marL="91440" marR="91440" marT="45720" marB="45720"/>
                </a:tc>
                <a:tc>
                  <a:txBody>
                    <a:bodyPr/>
                    <a:lstStyle/>
                    <a:p>
                      <a:r>
                        <a:rPr sz="1050" b="0">
                          <a:solidFill>
                            <a:srgbClr val="26373D"/>
                          </a:solidFill>
                          <a:latin typeface="Yu Gothic"/>
                          <a:ea typeface="Yu Gothic"/>
                          <a:cs typeface="Yu Gothic"/>
                        </a:rPr>
                        <a:t>+0.00081</a:t>
                      </a:r>
                    </a:p>
                  </a:txBody>
                  <a:tcPr marL="91440" marR="91440" marT="45720" marB="45720"/>
                </a:tc>
                <a:tc>
                  <a:txBody>
                    <a:bodyPr>
                      <a:normAutofit/>
                    </a:bodyPr>
                    <a:lstStyle/>
                    <a:p>
                      <a:pPr algn="ctr"/>
                      <a:r>
                        <a:rPr sz="1013" b="1">
                          <a:solidFill>
                            <a:srgbClr val="B94A3A"/>
                          </a:solidFill>
                          <a:latin typeface="Yu Gothic"/>
                          <a:ea typeface="Yu Gothic"/>
                          <a:cs typeface="Yu Gothic"/>
                        </a:rPr>
                        <a:t>不一致</a:t>
                      </a:r>
                    </a:p>
                  </a:txBody>
                  <a:tcPr marL="91440" marR="91440" marT="45720" marB="45720" anchor="ctr">
                    <a:solidFill>
                      <a:srgbClr val="F5DFDA"/>
                    </a:solidFill>
                  </a:tcPr>
                </a:tc>
                <a:tc>
                  <a:txBody>
                    <a:bodyPr/>
                    <a:lstStyle/>
                    <a:p>
                      <a:r>
                        <a:rPr sz="1050" b="0">
                          <a:solidFill>
                            <a:srgbClr val="26373D"/>
                          </a:solidFill>
                          <a:latin typeface="Yu Gothic"/>
                          <a:ea typeface="Yu Gothic"/>
                          <a:cs typeface="Yu Gothic"/>
                        </a:rPr>
                        <a:t>4.74×10⁻⁴</a:t>
                      </a:r>
                    </a:p>
                  </a:txBody>
                  <a:tcPr marL="91440" marR="91440" marT="45720" marB="45720"/>
                </a:tc>
                <a:tc>
                  <a:txBody>
                    <a:bodyPr/>
                    <a:lstStyle/>
                    <a:p>
                      <a:r>
                        <a:rPr sz="1050" b="0">
                          <a:solidFill>
                            <a:srgbClr val="26373D"/>
                          </a:solidFill>
                          <a:latin typeface="Yu Gothic"/>
                          <a:ea typeface="Yu Gothic"/>
                          <a:cs typeface="Yu Gothic"/>
                        </a:rPr>
                        <a:t>1.71×10⁻⁴</a:t>
                      </a:r>
                    </a:p>
                  </a:txBody>
                  <a:tcPr marL="91440" marR="91440" marT="45720" marB="45720"/>
                </a:tc>
                <a:tc>
                  <a:txBody>
                    <a:bodyPr/>
                    <a:lstStyle/>
                    <a:p>
                      <a:r>
                        <a:rPr sz="1050" b="0">
                          <a:solidFill>
                            <a:srgbClr val="26373D"/>
                          </a:solidFill>
                          <a:latin typeface="Yu Gothic"/>
                          <a:ea typeface="Yu Gothic"/>
                          <a:cs typeface="Yu Gothic"/>
                        </a:rPr>
                        <a:t>6.46×10⁻⁴</a:t>
                      </a:r>
                    </a:p>
                  </a:txBody>
                  <a:tcPr marL="91440" marR="91440" marT="45720" marB="45720"/>
                </a:tc>
              </a:tr>
            </a:tbl>
          </a:graphicData>
        </a:graphic>
      </p:graphicFrame>
      <p:sp>
        <p:nvSpPr>
          <p:cNvPr id="10" name="">
            <a:extLst xmlns:a="http://schemas.openxmlformats.org/drawingml/2006/main">
              <a:ext uri="{FF2B5EF4-FFF2-40B4-BE49-F238E27FC236}">
                <a16:creationId xmlns:a16="http://schemas.microsoft.com/office/drawing/2014/main" id="{0ED30EBB-ABAA-4D46-9768-429B8C5E74DF}"/>
              </a:ext>
            </a:extLst>
          </p:cNvPr>
          <p:cNvSpPr>
            <a:spLocks xmlns:a="http://schemas.openxmlformats.org/drawingml/2006/main" noGrp="1"/>
          </p:cNvSpPr>
          <p:nvPr/>
        </p:nvSpPr>
        <p:spPr>
          <a:xfrm xmlns:a="http://schemas.openxmlformats.org/drawingml/2006/main">
            <a:off x="723900" y="5934075"/>
            <a:ext cx="107442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350" b="1">
                <a:solidFill>
                  <a:srgbClr val="B94A3A"/>
                </a:solidFill>
                <a:latin typeface="Yu Gothic"/>
                <a:ea typeface="Yu Gothic"/>
                <a:cs typeface="Yu Gothic"/>
              </a:defRPr>
            </a:pPr>
            <a:r>
              <a:rPr sz="1350" b="1">
                <a:solidFill>
                  <a:srgbClr val="B94A3A"/>
                </a:solidFill>
                <a:latin typeface="Yu Gothic"/>
                <a:ea typeface="Yu Gothic"/>
                <a:cs typeface="Yu Gothic"/>
              </a:rPr>
              <a:t>Δ危険は危険確率の変化。値が小さいだけでは、動画内容の意味が一致したとは判断しない</a:t>
            </a:r>
          </a:p>
        </p:txBody>
      </p:sp>
    </p:spTree>
    <p:extLst>
      <p:ext uri="{BB962C8B-B14F-4D97-AF65-F5344CB8AC3E}">
        <p14:creationId xmlns:p14="http://schemas.microsoft.com/office/powerpoint/2010/main" val="1120070934"/>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6A1F999E-918B-4D68-94CC-380EA1E76F27}"/>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5E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BA1F2D8-66B6-43B3-96EF-8CA8D7EAB26D}"/>
              </a:ext>
            </a:extLst>
          </p:cNvPr>
          <p:cNvSpPr>
            <a:spLocks xmlns:a="http://schemas.openxmlformats.org/drawingml/2006/main" noGrp="1"/>
          </p:cNvSpPr>
          <p:nvPr/>
        </p:nvSpPr>
        <p:spPr>
          <a:xfrm xmlns:a="http://schemas.openxmlformats.org/drawingml/2006/main">
            <a:off x="381000" y="342900"/>
            <a:ext cx="66675" cy="514350"/>
          </a:xfrm>
          <a:prstGeom xmlns:a="http://schemas.openxmlformats.org/drawingml/2006/main" prst="rect">
            <a:avLst/>
          </a:prstGeom>
          <a:solidFill xmlns:a="http://schemas.openxmlformats.org/drawingml/2006/main">
            <a:srgbClr val="147B78"/>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B22A8309-CFAA-40B5-BB9A-7807CBE5BBDD}"/>
              </a:ext>
            </a:extLst>
          </p:cNvPr>
          <p:cNvSpPr>
            <a:spLocks xmlns:a="http://schemas.openxmlformats.org/drawingml/2006/main" noGrp="1"/>
          </p:cNvSpPr>
          <p:nvPr/>
        </p:nvSpPr>
        <p:spPr>
          <a:xfrm xmlns:a="http://schemas.openxmlformats.org/drawingml/2006/main">
            <a:off x="590550" y="323850"/>
            <a:ext cx="10572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2850" b="1">
                <a:solidFill>
                  <a:srgbClr val="173B4B"/>
                </a:solidFill>
                <a:latin typeface="Yu Gothic"/>
                <a:ea typeface="Yu Gothic"/>
                <a:cs typeface="Yu Gothic"/>
              </a:defRPr>
            </a:pPr>
            <a:r>
              <a:rPr sz="2850" b="1">
                <a:solidFill>
                  <a:srgbClr val="173B4B"/>
                </a:solidFill>
                <a:latin typeface="Yu Gothic"/>
                <a:ea typeface="Yu Gothic"/>
                <a:cs typeface="Yu Gothic"/>
              </a:rPr>
              <a:t>付録2　更新量と状態継承の数値</a:t>
            </a:r>
          </a:p>
        </p:txBody>
      </p:sp>
      <p:sp>
        <p:nvSpPr>
          <p:cNvPr id="4" name="">
            <a:extLst xmlns:a="http://schemas.openxmlformats.org/drawingml/2006/main">
              <a:ext uri="{FF2B5EF4-FFF2-40B4-BE49-F238E27FC236}">
                <a16:creationId xmlns:a16="http://schemas.microsoft.com/office/drawing/2014/main" id="{4F887562-CB36-4475-B974-0DA6D4726961}"/>
              </a:ext>
            </a:extLst>
          </p:cNvPr>
          <p:cNvSpPr>
            <a:spLocks xmlns:a="http://schemas.openxmlformats.org/drawingml/2006/main" noGrp="1"/>
          </p:cNvSpPr>
          <p:nvPr/>
        </p:nvSpPr>
        <p:spPr>
          <a:xfrm xmlns:a="http://schemas.openxmlformats.org/drawingml/2006/main">
            <a:off x="11306175" y="428625"/>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200" b="1">
                <a:solidFill>
                  <a:srgbClr val="147B78"/>
                </a:solidFill>
                <a:latin typeface="Yu Gothic"/>
                <a:ea typeface="Yu Gothic"/>
                <a:cs typeface="Yu Gothic"/>
              </a:defRPr>
            </a:pPr>
            <a:r>
              <a:rPr sz="1200" b="1">
                <a:solidFill>
                  <a:srgbClr val="147B78"/>
                </a:solidFill>
                <a:latin typeface="Yu Gothic"/>
                <a:ea typeface="Yu Gothic"/>
                <a:cs typeface="Yu Gothic"/>
              </a:rPr>
              <a:t>A2</a:t>
            </a:r>
          </a:p>
        </p:txBody>
      </p:sp>
      <p:sp>
        <p:nvSpPr>
          <p:cNvPr id="5" name="">
            <a:extLst xmlns:a="http://schemas.openxmlformats.org/drawingml/2006/main">
              <a:ext uri="{FF2B5EF4-FFF2-40B4-BE49-F238E27FC236}">
                <a16:creationId xmlns:a16="http://schemas.microsoft.com/office/drawing/2014/main" id="{3B650BAF-DD30-4DF5-82EB-F08CE6FBE484}"/>
              </a:ext>
            </a:extLst>
          </p:cNvPr>
          <p:cNvSpPr>
            <a:spLocks xmlns:a="http://schemas.openxmlformats.org/drawingml/2006/main" noGrp="1"/>
          </p:cNvSpPr>
          <p:nvPr/>
        </p:nvSpPr>
        <p:spPr>
          <a:xfrm xmlns:a="http://schemas.openxmlformats.org/drawingml/2006/main">
            <a:off x="457200" y="6477000"/>
            <a:ext cx="11277600" cy="14288"/>
          </a:xfrm>
          <a:prstGeom xmlns:a="http://schemas.openxmlformats.org/drawingml/2006/main" prst="rect">
            <a:avLst/>
          </a:prstGeom>
          <a:solidFill xmlns:a="http://schemas.openxmlformats.org/drawingml/2006/main">
            <a:srgbClr val="C9D2D3"/>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529A6CF2-A0A3-48A2-AFAE-A7393E59F946}"/>
              </a:ext>
            </a:extLst>
          </p:cNvPr>
          <p:cNvSpPr>
            <a:spLocks xmlns:a="http://schemas.openxmlformats.org/drawingml/2006/main" noGrp="1"/>
          </p:cNvSpPr>
          <p:nvPr/>
        </p:nvSpPr>
        <p:spPr>
          <a:xfrm xmlns:a="http://schemas.openxmlformats.org/drawingml/2006/main">
            <a:off x="495300" y="6543675"/>
            <a:ext cx="7239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0">
                <a:solidFill>
                  <a:srgbClr val="617078"/>
                </a:solidFill>
                <a:latin typeface="Yu Gothic"/>
                <a:ea typeface="Yu Gothic"/>
                <a:cs typeface="Yu Gothic"/>
              </a:defRPr>
            </a:pPr>
            <a:r>
              <a:rPr sz="900" b="0">
                <a:solidFill>
                  <a:srgbClr val="617078"/>
                </a:solidFill>
                <a:latin typeface="Yu Gothic"/>
                <a:ea typeface="Yu Gothic"/>
                <a:cs typeface="Yu Gothic"/>
              </a:rPr>
              <a:t>FedPACT / NEXAR　研究会　2026.09.18</a:t>
            </a:r>
          </a:p>
        </p:txBody>
      </p:sp>
      <p:sp>
        <p:nvSpPr>
          <p:cNvPr id="7" name="">
            <a:extLst xmlns:a="http://schemas.openxmlformats.org/drawingml/2006/main">
              <a:ext uri="{FF2B5EF4-FFF2-40B4-BE49-F238E27FC236}">
                <a16:creationId xmlns:a16="http://schemas.microsoft.com/office/drawing/2014/main" id="{D7789E87-D7A6-4B20-BCAF-F8ADBAFDA090}"/>
              </a:ext>
            </a:extLst>
          </p:cNvPr>
          <p:cNvSpPr>
            <a:spLocks xmlns:a="http://schemas.openxmlformats.org/drawingml/2006/main" noGrp="1"/>
          </p:cNvSpPr>
          <p:nvPr/>
        </p:nvSpPr>
        <p:spPr>
          <a:xfrm xmlns:a="http://schemas.openxmlformats.org/drawingml/2006/main">
            <a:off x="10477500" y="6543675"/>
            <a:ext cx="12001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0">
                <a:solidFill>
                  <a:srgbClr val="617078"/>
                </a:solidFill>
                <a:latin typeface="Yu Gothic"/>
                <a:ea typeface="Yu Gothic"/>
                <a:cs typeface="Yu Gothic"/>
              </a:defRPr>
            </a:pPr>
            <a:r>
              <a:rPr sz="900" b="0">
                <a:solidFill>
                  <a:srgbClr val="617078"/>
                </a:solidFill>
                <a:latin typeface="Yu Gothic"/>
                <a:ea typeface="Yu Gothic"/>
                <a:cs typeface="Yu Gothic"/>
              </a:rPr>
              <a:t>付録 2 / 3</a:t>
            </a:r>
          </a:p>
        </p:txBody>
      </p:sp>
      <p:sp>
        <p:nvSpPr>
          <p:cNvPr id="8" name="">
            <a:extLst xmlns:a="http://schemas.openxmlformats.org/drawingml/2006/main">
              <a:ext uri="{FF2B5EF4-FFF2-40B4-BE49-F238E27FC236}">
                <a16:creationId xmlns:a16="http://schemas.microsoft.com/office/drawing/2014/main" id="{5B9DF0A6-D757-471E-8BBB-A3141FDF3421}"/>
              </a:ext>
            </a:extLst>
          </p:cNvPr>
          <p:cNvSpPr>
            <a:spLocks xmlns:a="http://schemas.openxmlformats.org/drawingml/2006/main" noGrp="1"/>
          </p:cNvSpPr>
          <p:nvPr/>
        </p:nvSpPr>
        <p:spPr>
          <a:xfrm xmlns:a="http://schemas.openxmlformats.org/drawingml/2006/main">
            <a:off x="685800" y="1028700"/>
            <a:ext cx="4953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1">
                <a:solidFill>
                  <a:srgbClr val="147B78"/>
                </a:solidFill>
                <a:latin typeface="Yu Gothic"/>
                <a:ea typeface="Yu Gothic"/>
                <a:cs typeface="Yu Gothic"/>
              </a:defRPr>
            </a:pPr>
            <a:r>
              <a:rPr sz="1650" b="1">
                <a:solidFill>
                  <a:srgbClr val="147B78"/>
                </a:solidFill>
                <a:latin typeface="Yu Gothic"/>
                <a:ea typeface="Yu Gothic"/>
                <a:cs typeface="Yu Gothic"/>
              </a:rPr>
              <a:t>現場側の更新と連合平均</a:t>
            </a:r>
          </a:p>
        </p:txBody>
      </p:sp>
      <p:graphicFrame>
        <p:nvGraphicFramePr>
          <p:cNvPr id="21" name=""/>
          <p:cNvGraphicFramePr/>
          <p:nvPr/>
        </p:nvGraphicFramePr>
        <p:xfrm>
          <a:off xmlns:a="http://schemas.openxmlformats.org/drawingml/2006/main" x="647700" y="1409700"/>
          <a:ext xmlns:a="http://schemas.openxmlformats.org/drawingml/2006/main" cx="10896600" cy="1676400"/>
        </p:xfrm>
        <a:graphic xmlns:a="http://schemas.openxmlformats.org/drawingml/2006/main">
          <a:graphicData uri="http://schemas.openxmlformats.org/drawingml/2006/table">
            <a:tbl>
              <a:tblPr/>
              <a:tblGrid>
                <a:gridCol w="552450"/>
                <a:gridCol w="1571625"/>
                <a:gridCol w="1571625"/>
                <a:gridCol w="1714500"/>
                <a:gridCol w="1714500"/>
                <a:gridCol w="2000250"/>
                <a:gridCol w="1771650"/>
              </a:tblGrid>
              <a:tr h="419100">
                <a:tc>
                  <a:txBody>
                    <a:bodyPr/>
                    <a:lstStyle/>
                    <a:p>
                      <a:r>
                        <a:rPr sz="1050" b="1">
                          <a:solidFill>
                            <a:srgbClr val="173B4B"/>
                          </a:solidFill>
                          <a:latin typeface="Yu Gothic"/>
                          <a:ea typeface="Yu Gothic"/>
                          <a:cs typeface="Yu Gothic"/>
                        </a:rPr>
                        <a:t>R</a:t>
                      </a:r>
                    </a:p>
                  </a:txBody>
                  <a:tcPr marL="91440" marR="91440" marT="45720" marB="45720"/>
                </a:tc>
                <a:tc>
                  <a:txBody>
                    <a:bodyPr/>
                    <a:lstStyle/>
                    <a:p>
                      <a:r>
                        <a:rPr sz="1050" b="1">
                          <a:solidFill>
                            <a:srgbClr val="173B4B"/>
                          </a:solidFill>
                          <a:latin typeface="Yu Gothic"/>
                          <a:ea typeface="Yu Gothic"/>
                          <a:cs typeface="Yu Gothic"/>
                        </a:rPr>
                        <a:t>軽量更新量
現場0</a:t>
                      </a:r>
                    </a:p>
                  </a:txBody>
                  <a:tcPr marL="91440" marR="91440" marT="45720" marB="45720"/>
                </a:tc>
                <a:tc>
                  <a:txBody>
                    <a:bodyPr/>
                    <a:lstStyle/>
                    <a:p>
                      <a:r>
                        <a:rPr sz="1050" b="1">
                          <a:solidFill>
                            <a:srgbClr val="173B4B"/>
                          </a:solidFill>
                          <a:latin typeface="Yu Gothic"/>
                          <a:ea typeface="Yu Gothic"/>
                          <a:cs typeface="Yu Gothic"/>
                        </a:rPr>
                        <a:t>軽量更新量
現場1</a:t>
                      </a:r>
                    </a:p>
                  </a:txBody>
                  <a:tcPr marL="91440" marR="91440" marT="45720" marB="45720"/>
                </a:tc>
                <a:tc>
                  <a:txBody>
                    <a:bodyPr/>
                    <a:lstStyle/>
                    <a:p>
                      <a:r>
                        <a:rPr sz="1050" b="1">
                          <a:solidFill>
                            <a:srgbClr val="173B4B"/>
                          </a:solidFill>
                          <a:latin typeface="Yu Gothic"/>
                          <a:ea typeface="Yu Gothic"/>
                          <a:cs typeface="Yu Gothic"/>
                        </a:rPr>
                        <a:t>分類層更新量
現場0</a:t>
                      </a:r>
                    </a:p>
                  </a:txBody>
                  <a:tcPr marL="91440" marR="91440" marT="45720" marB="45720"/>
                </a:tc>
                <a:tc>
                  <a:txBody>
                    <a:bodyPr/>
                    <a:lstStyle/>
                    <a:p>
                      <a:r>
                        <a:rPr sz="1050" b="1">
                          <a:solidFill>
                            <a:srgbClr val="173B4B"/>
                          </a:solidFill>
                          <a:latin typeface="Yu Gothic"/>
                          <a:ea typeface="Yu Gothic"/>
                          <a:cs typeface="Yu Gothic"/>
                        </a:rPr>
                        <a:t>分類層更新量
現場1</a:t>
                      </a:r>
                    </a:p>
                  </a:txBody>
                  <a:tcPr marL="91440" marR="91440" marT="45720" marB="45720"/>
                </a:tc>
                <a:tc>
                  <a:txBody>
                    <a:bodyPr/>
                    <a:lstStyle/>
                    <a:p>
                      <a:r>
                        <a:rPr sz="1050" b="1">
                          <a:solidFill>
                            <a:srgbClr val="173B4B"/>
                          </a:solidFill>
                          <a:latin typeface="Yu Gothic"/>
                          <a:ea typeface="Yu Gothic"/>
                          <a:cs typeface="Yu Gothic"/>
                        </a:rPr>
                        <a:t>連合平均の
再計算差</a:t>
                      </a:r>
                    </a:p>
                  </a:txBody>
                  <a:tcPr marL="91440" marR="91440" marT="45720" marB="45720"/>
                </a:tc>
                <a:tc>
                  <a:txBody>
                    <a:bodyPr/>
                    <a:lstStyle/>
                    <a:p>
                      <a:r>
                        <a:rPr sz="1050" b="1">
                          <a:solidFill>
                            <a:srgbClr val="173B4B"/>
                          </a:solidFill>
                          <a:latin typeface="Yu Gothic"/>
                          <a:ea typeface="Yu Gothic"/>
                          <a:cs typeface="Yu Gothic"/>
                        </a:rPr>
                        <a:t>次回入力</a:t>
                      </a:r>
                    </a:p>
                  </a:txBody>
                  <a:tcPr marL="91440" marR="91440" marT="45720" marB="45720"/>
                </a:tc>
              </a:tr>
              <a:tr h="419100">
                <a:tc>
                  <a:txBody>
                    <a:bodyPr/>
                    <a:lstStyle/>
                    <a:p>
                      <a:r>
                        <a:rPr sz="1200" b="0">
                          <a:solidFill>
                            <a:srgbClr val="26373D"/>
                          </a:solidFill>
                          <a:latin typeface="Yu Gothic"/>
                          <a:ea typeface="Yu Gothic"/>
                          <a:cs typeface="Yu Gothic"/>
                        </a:rPr>
                        <a:t>1</a:t>
                      </a:r>
                    </a:p>
                  </a:txBody>
                  <a:tcPr marL="91440" marR="91440" marT="45720" marB="45720"/>
                </a:tc>
                <a:tc>
                  <a:txBody>
                    <a:bodyPr/>
                    <a:lstStyle/>
                    <a:p>
                      <a:r>
                        <a:rPr sz="1200" b="0">
                          <a:solidFill>
                            <a:srgbClr val="26373D"/>
                          </a:solidFill>
                          <a:latin typeface="Yu Gothic"/>
                          <a:ea typeface="Yu Gothic"/>
                          <a:cs typeface="Yu Gothic"/>
                        </a:rPr>
                        <a:t>0.346093</a:t>
                      </a:r>
                    </a:p>
                  </a:txBody>
                  <a:tcPr marL="91440" marR="91440" marT="45720" marB="45720"/>
                </a:tc>
                <a:tc>
                  <a:txBody>
                    <a:bodyPr/>
                    <a:lstStyle/>
                    <a:p>
                      <a:r>
                        <a:rPr sz="1200" b="0">
                          <a:solidFill>
                            <a:srgbClr val="26373D"/>
                          </a:solidFill>
                          <a:latin typeface="Yu Gothic"/>
                          <a:ea typeface="Yu Gothic"/>
                          <a:cs typeface="Yu Gothic"/>
                        </a:rPr>
                        <a:t>0.291624</a:t>
                      </a:r>
                    </a:p>
                  </a:txBody>
                  <a:tcPr marL="91440" marR="91440" marT="45720" marB="45720"/>
                </a:tc>
                <a:tc>
                  <a:txBody>
                    <a:bodyPr/>
                    <a:lstStyle/>
                    <a:p>
                      <a:r>
                        <a:rPr sz="1200" b="0">
                          <a:solidFill>
                            <a:srgbClr val="26373D"/>
                          </a:solidFill>
                          <a:latin typeface="Yu Gothic"/>
                          <a:ea typeface="Yu Gothic"/>
                          <a:cs typeface="Yu Gothic"/>
                        </a:rPr>
                        <a:t>0.012345</a:t>
                      </a:r>
                    </a:p>
                  </a:txBody>
                  <a:tcPr marL="91440" marR="91440" marT="45720" marB="45720"/>
                </a:tc>
                <a:tc>
                  <a:txBody>
                    <a:bodyPr/>
                    <a:lstStyle/>
                    <a:p>
                      <a:r>
                        <a:rPr sz="1200" b="0">
                          <a:solidFill>
                            <a:srgbClr val="26373D"/>
                          </a:solidFill>
                          <a:latin typeface="Yu Gothic"/>
                          <a:ea typeface="Yu Gothic"/>
                          <a:cs typeface="Yu Gothic"/>
                        </a:rPr>
                        <a:t>0.009560</a:t>
                      </a:r>
                    </a:p>
                  </a:txBody>
                  <a:tcPr marL="91440" marR="91440" marT="45720" marB="45720"/>
                </a:tc>
                <a:tc>
                  <a:txBody>
                    <a:bodyPr/>
                    <a:lstStyle/>
                    <a:p>
                      <a:r>
                        <a:rPr sz="1200" b="0">
                          <a:solidFill>
                            <a:srgbClr val="26373D"/>
                          </a:solidFill>
                          <a:latin typeface="Yu Gothic"/>
                          <a:ea typeface="Yu Gothic"/>
                          <a:cs typeface="Yu Gothic"/>
                        </a:rPr>
                        <a:t>5.82×10⁻¹¹</a:t>
                      </a:r>
                    </a:p>
                  </a:txBody>
                  <a:tcPr marL="91440" marR="91440" marT="45720" marB="45720"/>
                </a:tc>
                <a:tc>
                  <a:txBody>
                    <a:bodyPr/>
                    <a:lstStyle/>
                    <a:p>
                      <a:r>
                        <a:rPr sz="1200" b="0">
                          <a:solidFill>
                            <a:srgbClr val="26373D"/>
                          </a:solidFill>
                          <a:latin typeface="Yu Gothic"/>
                          <a:ea typeface="Yu Gothic"/>
                          <a:cs typeface="Yu Gothic"/>
                        </a:rPr>
                        <a:t>一致</a:t>
                      </a:r>
                    </a:p>
                  </a:txBody>
                  <a:tcPr marL="91440" marR="91440" marT="45720" marB="45720"/>
                </a:tc>
              </a:tr>
              <a:tr h="419100">
                <a:tc>
                  <a:txBody>
                    <a:bodyPr/>
                    <a:lstStyle/>
                    <a:p>
                      <a:r>
                        <a:rPr sz="1200" b="0">
                          <a:solidFill>
                            <a:srgbClr val="26373D"/>
                          </a:solidFill>
                          <a:latin typeface="Yu Gothic"/>
                          <a:ea typeface="Yu Gothic"/>
                          <a:cs typeface="Yu Gothic"/>
                        </a:rPr>
                        <a:t>2</a:t>
                      </a:r>
                    </a:p>
                  </a:txBody>
                  <a:tcPr marL="91440" marR="91440" marT="45720" marB="45720"/>
                </a:tc>
                <a:tc>
                  <a:txBody>
                    <a:bodyPr/>
                    <a:lstStyle/>
                    <a:p>
                      <a:r>
                        <a:rPr sz="1200" b="0">
                          <a:solidFill>
                            <a:srgbClr val="26373D"/>
                          </a:solidFill>
                          <a:latin typeface="Yu Gothic"/>
                          <a:ea typeface="Yu Gothic"/>
                          <a:cs typeface="Yu Gothic"/>
                        </a:rPr>
                        <a:t>0.322764</a:t>
                      </a:r>
                    </a:p>
                  </a:txBody>
                  <a:tcPr marL="91440" marR="91440" marT="45720" marB="45720"/>
                </a:tc>
                <a:tc>
                  <a:txBody>
                    <a:bodyPr/>
                    <a:lstStyle/>
                    <a:p>
                      <a:r>
                        <a:rPr sz="1200" b="0">
                          <a:solidFill>
                            <a:srgbClr val="26373D"/>
                          </a:solidFill>
                          <a:latin typeface="Yu Gothic"/>
                          <a:ea typeface="Yu Gothic"/>
                          <a:cs typeface="Yu Gothic"/>
                        </a:rPr>
                        <a:t>0.280291</a:t>
                      </a:r>
                    </a:p>
                  </a:txBody>
                  <a:tcPr marL="91440" marR="91440" marT="45720" marB="45720"/>
                </a:tc>
                <a:tc>
                  <a:txBody>
                    <a:bodyPr/>
                    <a:lstStyle/>
                    <a:p>
                      <a:r>
                        <a:rPr sz="1200" b="0">
                          <a:solidFill>
                            <a:srgbClr val="26373D"/>
                          </a:solidFill>
                          <a:latin typeface="Yu Gothic"/>
                          <a:ea typeface="Yu Gothic"/>
                          <a:cs typeface="Yu Gothic"/>
                        </a:rPr>
                        <a:t>0.011066</a:t>
                      </a:r>
                    </a:p>
                  </a:txBody>
                  <a:tcPr marL="91440" marR="91440" marT="45720" marB="45720"/>
                </a:tc>
                <a:tc>
                  <a:txBody>
                    <a:bodyPr/>
                    <a:lstStyle/>
                    <a:p>
                      <a:r>
                        <a:rPr sz="1200" b="0">
                          <a:solidFill>
                            <a:srgbClr val="26373D"/>
                          </a:solidFill>
                          <a:latin typeface="Yu Gothic"/>
                          <a:ea typeface="Yu Gothic"/>
                          <a:cs typeface="Yu Gothic"/>
                        </a:rPr>
                        <a:t>0.009495</a:t>
                      </a:r>
                    </a:p>
                  </a:txBody>
                  <a:tcPr marL="91440" marR="91440" marT="45720" marB="45720"/>
                </a:tc>
                <a:tc>
                  <a:txBody>
                    <a:bodyPr/>
                    <a:lstStyle/>
                    <a:p>
                      <a:r>
                        <a:rPr sz="1200" b="0">
                          <a:solidFill>
                            <a:srgbClr val="26373D"/>
                          </a:solidFill>
                          <a:latin typeface="Yu Gothic"/>
                          <a:ea typeface="Yu Gothic"/>
                          <a:cs typeface="Yu Gothic"/>
                        </a:rPr>
                        <a:t>5.82×10⁻¹¹</a:t>
                      </a:r>
                    </a:p>
                  </a:txBody>
                  <a:tcPr marL="91440" marR="91440" marT="45720" marB="45720"/>
                </a:tc>
                <a:tc>
                  <a:txBody>
                    <a:bodyPr/>
                    <a:lstStyle/>
                    <a:p>
                      <a:r>
                        <a:rPr sz="1200" b="0">
                          <a:solidFill>
                            <a:srgbClr val="26373D"/>
                          </a:solidFill>
                          <a:latin typeface="Yu Gothic"/>
                          <a:ea typeface="Yu Gothic"/>
                          <a:cs typeface="Yu Gothic"/>
                        </a:rPr>
                        <a:t>一致</a:t>
                      </a:r>
                    </a:p>
                  </a:txBody>
                  <a:tcPr marL="91440" marR="91440" marT="45720" marB="45720"/>
                </a:tc>
              </a:tr>
              <a:tr h="419100">
                <a:tc>
                  <a:txBody>
                    <a:bodyPr/>
                    <a:lstStyle/>
                    <a:p>
                      <a:r>
                        <a:rPr sz="1200" b="0">
                          <a:solidFill>
                            <a:srgbClr val="26373D"/>
                          </a:solidFill>
                          <a:latin typeface="Yu Gothic"/>
                          <a:ea typeface="Yu Gothic"/>
                          <a:cs typeface="Yu Gothic"/>
                        </a:rPr>
                        <a:t>3</a:t>
                      </a:r>
                    </a:p>
                  </a:txBody>
                  <a:tcPr marL="91440" marR="91440" marT="45720" marB="45720"/>
                </a:tc>
                <a:tc>
                  <a:txBody>
                    <a:bodyPr/>
                    <a:lstStyle/>
                    <a:p>
                      <a:r>
                        <a:rPr sz="1200" b="0">
                          <a:solidFill>
                            <a:srgbClr val="26373D"/>
                          </a:solidFill>
                          <a:latin typeface="Yu Gothic"/>
                          <a:ea typeface="Yu Gothic"/>
                          <a:cs typeface="Yu Gothic"/>
                        </a:rPr>
                        <a:t>0.320213</a:t>
                      </a:r>
                    </a:p>
                  </a:txBody>
                  <a:tcPr marL="91440" marR="91440" marT="45720" marB="45720"/>
                </a:tc>
                <a:tc>
                  <a:txBody>
                    <a:bodyPr/>
                    <a:lstStyle/>
                    <a:p>
                      <a:r>
                        <a:rPr sz="1200" b="0">
                          <a:solidFill>
                            <a:srgbClr val="26373D"/>
                          </a:solidFill>
                          <a:latin typeface="Yu Gothic"/>
                          <a:ea typeface="Yu Gothic"/>
                          <a:cs typeface="Yu Gothic"/>
                        </a:rPr>
                        <a:t>0.280363</a:t>
                      </a:r>
                    </a:p>
                  </a:txBody>
                  <a:tcPr marL="91440" marR="91440" marT="45720" marB="45720"/>
                </a:tc>
                <a:tc>
                  <a:txBody>
                    <a:bodyPr/>
                    <a:lstStyle/>
                    <a:p>
                      <a:r>
                        <a:rPr sz="1200" b="0">
                          <a:solidFill>
                            <a:srgbClr val="26373D"/>
                          </a:solidFill>
                          <a:latin typeface="Yu Gothic"/>
                          <a:ea typeface="Yu Gothic"/>
                          <a:cs typeface="Yu Gothic"/>
                        </a:rPr>
                        <a:t>0.010754</a:t>
                      </a:r>
                    </a:p>
                  </a:txBody>
                  <a:tcPr marL="91440" marR="91440" marT="45720" marB="45720"/>
                </a:tc>
                <a:tc>
                  <a:txBody>
                    <a:bodyPr/>
                    <a:lstStyle/>
                    <a:p>
                      <a:r>
                        <a:rPr sz="1200" b="0">
                          <a:solidFill>
                            <a:srgbClr val="26373D"/>
                          </a:solidFill>
                          <a:latin typeface="Yu Gothic"/>
                          <a:ea typeface="Yu Gothic"/>
                          <a:cs typeface="Yu Gothic"/>
                        </a:rPr>
                        <a:t>0.009461</a:t>
                      </a:r>
                    </a:p>
                  </a:txBody>
                  <a:tcPr marL="91440" marR="91440" marT="45720" marB="45720"/>
                </a:tc>
                <a:tc>
                  <a:txBody>
                    <a:bodyPr/>
                    <a:lstStyle/>
                    <a:p>
                      <a:r>
                        <a:rPr sz="1200" b="0">
                          <a:solidFill>
                            <a:srgbClr val="26373D"/>
                          </a:solidFill>
                          <a:latin typeface="Yu Gothic"/>
                          <a:ea typeface="Yu Gothic"/>
                          <a:cs typeface="Yu Gothic"/>
                        </a:rPr>
                        <a:t>1.16×10⁻¹⁰</a:t>
                      </a:r>
                    </a:p>
                  </a:txBody>
                  <a:tcPr marL="91440" marR="91440" marT="45720" marB="45720"/>
                </a:tc>
                <a:tc>
                  <a:txBody>
                    <a:bodyPr/>
                    <a:lstStyle/>
                    <a:p>
                      <a:r>
                        <a:rPr sz="1200" b="0">
                          <a:solidFill>
                            <a:srgbClr val="26373D"/>
                          </a:solidFill>
                          <a:latin typeface="Yu Gothic"/>
                          <a:ea typeface="Yu Gothic"/>
                          <a:cs typeface="Yu Gothic"/>
                        </a:rPr>
                        <a:t>一致</a:t>
                      </a:r>
                    </a:p>
                  </a:txBody>
                  <a:tcPr marL="91440" marR="91440" marT="45720" marB="45720"/>
                </a:tc>
              </a:tr>
            </a:tbl>
          </a:graphicData>
        </a:graphic>
      </p:graphicFrame>
      <p:sp>
        <p:nvSpPr>
          <p:cNvPr id="10" name="">
            <a:extLst xmlns:a="http://schemas.openxmlformats.org/drawingml/2006/main">
              <a:ext uri="{FF2B5EF4-FFF2-40B4-BE49-F238E27FC236}">
                <a16:creationId xmlns:a16="http://schemas.microsoft.com/office/drawing/2014/main" id="{F77D65BF-DF2A-4867-900D-6AB635057C25}"/>
              </a:ext>
            </a:extLst>
          </p:cNvPr>
          <p:cNvSpPr>
            <a:spLocks xmlns:a="http://schemas.openxmlformats.org/drawingml/2006/main" noGrp="1"/>
          </p:cNvSpPr>
          <p:nvPr/>
        </p:nvSpPr>
        <p:spPr>
          <a:xfrm xmlns:a="http://schemas.openxmlformats.org/drawingml/2006/main">
            <a:off x="685800" y="3371850"/>
            <a:ext cx="4953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1">
                <a:solidFill>
                  <a:srgbClr val="147B78"/>
                </a:solidFill>
                <a:latin typeface="Yu Gothic"/>
                <a:ea typeface="Yu Gothic"/>
                <a:cs typeface="Yu Gothic"/>
              </a:defRPr>
            </a:pPr>
            <a:r>
              <a:rPr sz="1650" b="1">
                <a:solidFill>
                  <a:srgbClr val="147B78"/>
                </a:solidFill>
                <a:latin typeface="Yu Gothic"/>
                <a:ea typeface="Yu Gothic"/>
                <a:cs typeface="Yu Gothic"/>
              </a:rPr>
              <a:t>中央側AIの更新</a:t>
            </a:r>
          </a:p>
        </p:txBody>
      </p:sp>
      <p:graphicFrame>
        <p:nvGraphicFramePr>
          <p:cNvPr id="23" name=""/>
          <p:cNvGraphicFramePr/>
          <p:nvPr/>
        </p:nvGraphicFramePr>
        <p:xfrm>
          <a:off xmlns:a="http://schemas.openxmlformats.org/drawingml/2006/main" x="647700" y="3752850"/>
          <a:ext xmlns:a="http://schemas.openxmlformats.org/drawingml/2006/main" cx="10896600" cy="1676400"/>
        </p:xfrm>
        <a:graphic xmlns:a="http://schemas.openxmlformats.org/drawingml/2006/main">
          <a:graphicData uri="http://schemas.openxmlformats.org/drawingml/2006/table">
            <a:tbl>
              <a:tblPr/>
              <a:tblGrid>
                <a:gridCol w="552450"/>
                <a:gridCol w="1619250"/>
                <a:gridCol w="1524000"/>
                <a:gridCol w="1809750"/>
                <a:gridCol w="1809750"/>
                <a:gridCol w="1809750"/>
                <a:gridCol w="1771650"/>
              </a:tblGrid>
              <a:tr h="419100">
                <a:tc>
                  <a:txBody>
                    <a:bodyPr/>
                    <a:lstStyle/>
                    <a:p>
                      <a:r>
                        <a:rPr sz="1050" b="1">
                          <a:solidFill>
                            <a:srgbClr val="173B4B"/>
                          </a:solidFill>
                          <a:latin typeface="Yu Gothic"/>
                          <a:ea typeface="Yu Gothic"/>
                          <a:cs typeface="Yu Gothic"/>
                        </a:rPr>
                        <a:t>R</a:t>
                      </a:r>
                    </a:p>
                  </a:txBody>
                  <a:tcPr marL="91440" marR="91440" marT="45720" marB="45720"/>
                </a:tc>
                <a:tc>
                  <a:txBody>
                    <a:bodyPr/>
                    <a:lstStyle/>
                    <a:p>
                      <a:r>
                        <a:rPr sz="1050" b="1">
                          <a:solidFill>
                            <a:srgbClr val="173B4B"/>
                          </a:solidFill>
                          <a:latin typeface="Yu Gothic"/>
                          <a:ea typeface="Yu Gothic"/>
                          <a:cs typeface="Yu Gothic"/>
                        </a:rPr>
                        <a:t>勾配の大きさ</a:t>
                      </a:r>
                    </a:p>
                  </a:txBody>
                  <a:tcPr marL="91440" marR="91440" marT="45720" marB="45720"/>
                </a:tc>
                <a:tc>
                  <a:txBody>
                    <a:bodyPr/>
                    <a:lstStyle/>
                    <a:p>
                      <a:r>
                        <a:rPr sz="1050" b="1">
                          <a:solidFill>
                            <a:srgbClr val="173B4B"/>
                          </a:solidFill>
                          <a:latin typeface="Yu Gothic"/>
                          <a:ea typeface="Yu Gothic"/>
                          <a:cs typeface="Yu Gothic"/>
                        </a:rPr>
                        <a:t>更新量</a:t>
                      </a:r>
                    </a:p>
                  </a:txBody>
                  <a:tcPr marL="91440" marR="91440" marT="45720" marB="45720"/>
                </a:tc>
                <a:tc>
                  <a:txBody>
                    <a:bodyPr/>
                    <a:lstStyle/>
                    <a:p>
                      <a:r>
                        <a:rPr sz="1050" b="1">
                          <a:solidFill>
                            <a:srgbClr val="173B4B"/>
                          </a:solidFill>
                          <a:latin typeface="Yu Gothic"/>
                          <a:ea typeface="Yu Gothic"/>
                          <a:cs typeface="Yu Gothic"/>
                        </a:rPr>
                        <a:t>加重KL 更新前</a:t>
                      </a:r>
                    </a:p>
                  </a:txBody>
                  <a:tcPr marL="91440" marR="91440" marT="45720" marB="45720"/>
                </a:tc>
                <a:tc>
                  <a:txBody>
                    <a:bodyPr/>
                    <a:lstStyle/>
                    <a:p>
                      <a:r>
                        <a:rPr sz="1050" b="1">
                          <a:solidFill>
                            <a:srgbClr val="173B4B"/>
                          </a:solidFill>
                          <a:latin typeface="Yu Gothic"/>
                          <a:ea typeface="Yu Gothic"/>
                          <a:cs typeface="Yu Gothic"/>
                        </a:rPr>
                        <a:t>加重KL 更新後</a:t>
                      </a:r>
                    </a:p>
                  </a:txBody>
                  <a:tcPr marL="91440" marR="91440" marT="45720" marB="45720"/>
                </a:tc>
                <a:tc>
                  <a:txBody>
                    <a:bodyPr/>
                    <a:lstStyle/>
                    <a:p>
                      <a:r>
                        <a:rPr sz="1050" b="1">
                          <a:solidFill>
                            <a:srgbClr val="173B4B"/>
                          </a:solidFill>
                          <a:latin typeface="Yu Gothic"/>
                          <a:ea typeface="Yu Gothic"/>
                          <a:cs typeface="Yu Gothic"/>
                        </a:rPr>
                        <a:t>受理条件</a:t>
                      </a:r>
                    </a:p>
                  </a:txBody>
                  <a:tcPr marL="91440" marR="91440" marT="45720" marB="45720"/>
                </a:tc>
                <a:tc>
                  <a:txBody>
                    <a:bodyPr/>
                    <a:lstStyle/>
                    <a:p>
                      <a:r>
                        <a:rPr sz="1050" b="1">
                          <a:solidFill>
                            <a:srgbClr val="173B4B"/>
                          </a:solidFill>
                          <a:latin typeface="Yu Gothic"/>
                          <a:ea typeface="Yu Gothic"/>
                          <a:cs typeface="Yu Gothic"/>
                        </a:rPr>
                        <a:t>更新対象外</a:t>
                      </a:r>
                    </a:p>
                  </a:txBody>
                  <a:tcPr marL="91440" marR="91440" marT="45720" marB="45720"/>
                </a:tc>
              </a:tr>
              <a:tr h="419100">
                <a:tc>
                  <a:txBody>
                    <a:bodyPr/>
                    <a:lstStyle/>
                    <a:p>
                      <a:r>
                        <a:rPr sz="1200" b="0">
                          <a:solidFill>
                            <a:srgbClr val="26373D"/>
                          </a:solidFill>
                          <a:latin typeface="Yu Gothic"/>
                          <a:ea typeface="Yu Gothic"/>
                          <a:cs typeface="Yu Gothic"/>
                        </a:rPr>
                        <a:t>1</a:t>
                      </a:r>
                    </a:p>
                  </a:txBody>
                  <a:tcPr marL="91440" marR="91440" marT="45720" marB="45720"/>
                </a:tc>
                <a:tc>
                  <a:txBody>
                    <a:bodyPr/>
                    <a:lstStyle/>
                    <a:p>
                      <a:r>
                        <a:rPr sz="1200" b="0">
                          <a:solidFill>
                            <a:srgbClr val="26373D"/>
                          </a:solidFill>
                          <a:latin typeface="Yu Gothic"/>
                          <a:ea typeface="Yu Gothic"/>
                          <a:cs typeface="Yu Gothic"/>
                        </a:rPr>
                        <a:t>4.37146</a:t>
                      </a:r>
                    </a:p>
                  </a:txBody>
                  <a:tcPr marL="91440" marR="91440" marT="45720" marB="45720"/>
                </a:tc>
                <a:tc>
                  <a:txBody>
                    <a:bodyPr/>
                    <a:lstStyle/>
                    <a:p>
                      <a:r>
                        <a:rPr sz="1200" b="0">
                          <a:solidFill>
                            <a:srgbClr val="26373D"/>
                          </a:solidFill>
                          <a:latin typeface="Yu Gothic"/>
                          <a:ea typeface="Yu Gothic"/>
                          <a:cs typeface="Yu Gothic"/>
                        </a:rPr>
                        <a:t>0.00135671</a:t>
                      </a:r>
                    </a:p>
                  </a:txBody>
                  <a:tcPr marL="91440" marR="91440" marT="45720" marB="45720"/>
                </a:tc>
                <a:tc>
                  <a:txBody>
                    <a:bodyPr/>
                    <a:lstStyle/>
                    <a:p>
                      <a:r>
                        <a:rPr sz="1200" b="0">
                          <a:solidFill>
                            <a:srgbClr val="26373D"/>
                          </a:solidFill>
                          <a:latin typeface="Yu Gothic"/>
                          <a:ea typeface="Yu Gothic"/>
                          <a:cs typeface="Yu Gothic"/>
                        </a:rPr>
                        <a:t>0.054042</a:t>
                      </a:r>
                    </a:p>
                  </a:txBody>
                  <a:tcPr marL="91440" marR="91440" marT="45720" marB="45720"/>
                </a:tc>
                <a:tc>
                  <a:txBody>
                    <a:bodyPr/>
                    <a:lstStyle/>
                    <a:p>
                      <a:r>
                        <a:rPr sz="1200" b="0">
                          <a:solidFill>
                            <a:srgbClr val="26373D"/>
                          </a:solidFill>
                          <a:latin typeface="Yu Gothic"/>
                          <a:ea typeface="Yu Gothic"/>
                          <a:cs typeface="Yu Gothic"/>
                        </a:rPr>
                        <a:t>0.053431</a:t>
                      </a:r>
                    </a:p>
                  </a:txBody>
                  <a:tcPr marL="91440" marR="91440" marT="45720" marB="45720"/>
                </a:tc>
                <a:tc>
                  <a:txBody>
                    <a:bodyPr/>
                    <a:lstStyle/>
                    <a:p>
                      <a:r>
                        <a:rPr sz="1200" b="0">
                          <a:solidFill>
                            <a:srgbClr val="26373D"/>
                          </a:solidFill>
                          <a:latin typeface="Yu Gothic"/>
                          <a:ea typeface="Yu Gothic"/>
                          <a:cs typeface="Yu Gothic"/>
                        </a:rPr>
                        <a:t>非増加</a:t>
                      </a:r>
                    </a:p>
                  </a:txBody>
                  <a:tcPr marL="91440" marR="91440" marT="45720" marB="45720"/>
                </a:tc>
                <a:tc>
                  <a:txBody>
                    <a:bodyPr/>
                    <a:lstStyle/>
                    <a:p>
                      <a:r>
                        <a:rPr sz="1200" b="0">
                          <a:solidFill>
                            <a:srgbClr val="26373D"/>
                          </a:solidFill>
                          <a:latin typeface="Yu Gothic"/>
                          <a:ea typeface="Yu Gothic"/>
                          <a:cs typeface="Yu Gothic"/>
                        </a:rPr>
                        <a:t>不変</a:t>
                      </a:r>
                    </a:p>
                  </a:txBody>
                  <a:tcPr marL="91440" marR="91440" marT="45720" marB="45720"/>
                </a:tc>
              </a:tr>
              <a:tr h="419100">
                <a:tc>
                  <a:txBody>
                    <a:bodyPr/>
                    <a:lstStyle/>
                    <a:p>
                      <a:r>
                        <a:rPr sz="1200" b="0">
                          <a:solidFill>
                            <a:srgbClr val="26373D"/>
                          </a:solidFill>
                          <a:latin typeface="Yu Gothic"/>
                          <a:ea typeface="Yu Gothic"/>
                          <a:cs typeface="Yu Gothic"/>
                        </a:rPr>
                        <a:t>2</a:t>
                      </a:r>
                    </a:p>
                  </a:txBody>
                  <a:tcPr marL="91440" marR="91440" marT="45720" marB="45720"/>
                </a:tc>
                <a:tc>
                  <a:txBody>
                    <a:bodyPr/>
                    <a:lstStyle/>
                    <a:p>
                      <a:r>
                        <a:rPr sz="1200" b="0">
                          <a:solidFill>
                            <a:srgbClr val="26373D"/>
                          </a:solidFill>
                          <a:latin typeface="Yu Gothic"/>
                          <a:ea typeface="Yu Gothic"/>
                          <a:cs typeface="Yu Gothic"/>
                        </a:rPr>
                        <a:t>65.9988</a:t>
                      </a:r>
                    </a:p>
                  </a:txBody>
                  <a:tcPr marL="91440" marR="91440" marT="45720" marB="45720"/>
                </a:tc>
                <a:tc>
                  <a:txBody>
                    <a:bodyPr/>
                    <a:lstStyle/>
                    <a:p>
                      <a:r>
                        <a:rPr sz="1200" b="0">
                          <a:solidFill>
                            <a:srgbClr val="26373D"/>
                          </a:solidFill>
                          <a:latin typeface="Yu Gothic"/>
                          <a:ea typeface="Yu Gothic"/>
                          <a:cs typeface="Yu Gothic"/>
                        </a:rPr>
                        <a:t>0.00135747</a:t>
                      </a:r>
                    </a:p>
                  </a:txBody>
                  <a:tcPr marL="91440" marR="91440" marT="45720" marB="45720"/>
                </a:tc>
                <a:tc>
                  <a:txBody>
                    <a:bodyPr/>
                    <a:lstStyle/>
                    <a:p>
                      <a:r>
                        <a:rPr sz="1200" b="0">
                          <a:solidFill>
                            <a:srgbClr val="26373D"/>
                          </a:solidFill>
                          <a:latin typeface="Yu Gothic"/>
                          <a:ea typeface="Yu Gothic"/>
                          <a:cs typeface="Yu Gothic"/>
                        </a:rPr>
                        <a:t>18.4783</a:t>
                      </a:r>
                    </a:p>
                  </a:txBody>
                  <a:tcPr marL="91440" marR="91440" marT="45720" marB="45720"/>
                </a:tc>
                <a:tc>
                  <a:txBody>
                    <a:bodyPr/>
                    <a:lstStyle/>
                    <a:p>
                      <a:r>
                        <a:rPr sz="1200" b="0">
                          <a:solidFill>
                            <a:srgbClr val="26373D"/>
                          </a:solidFill>
                          <a:latin typeface="Yu Gothic"/>
                          <a:ea typeface="Yu Gothic"/>
                          <a:cs typeface="Yu Gothic"/>
                        </a:rPr>
                        <a:t>18.3390</a:t>
                      </a:r>
                    </a:p>
                  </a:txBody>
                  <a:tcPr marL="91440" marR="91440" marT="45720" marB="45720"/>
                </a:tc>
                <a:tc>
                  <a:txBody>
                    <a:bodyPr/>
                    <a:lstStyle/>
                    <a:p>
                      <a:r>
                        <a:rPr sz="1200" b="0">
                          <a:solidFill>
                            <a:srgbClr val="26373D"/>
                          </a:solidFill>
                          <a:latin typeface="Yu Gothic"/>
                          <a:ea typeface="Yu Gothic"/>
                          <a:cs typeface="Yu Gothic"/>
                        </a:rPr>
                        <a:t>非増加</a:t>
                      </a:r>
                    </a:p>
                  </a:txBody>
                  <a:tcPr marL="91440" marR="91440" marT="45720" marB="45720"/>
                </a:tc>
                <a:tc>
                  <a:txBody>
                    <a:bodyPr/>
                    <a:lstStyle/>
                    <a:p>
                      <a:r>
                        <a:rPr sz="1200" b="0">
                          <a:solidFill>
                            <a:srgbClr val="26373D"/>
                          </a:solidFill>
                          <a:latin typeface="Yu Gothic"/>
                          <a:ea typeface="Yu Gothic"/>
                          <a:cs typeface="Yu Gothic"/>
                        </a:rPr>
                        <a:t>不変</a:t>
                      </a:r>
                    </a:p>
                  </a:txBody>
                  <a:tcPr marL="91440" marR="91440" marT="45720" marB="45720"/>
                </a:tc>
              </a:tr>
              <a:tr h="419100">
                <a:tc>
                  <a:txBody>
                    <a:bodyPr/>
                    <a:lstStyle/>
                    <a:p>
                      <a:r>
                        <a:rPr sz="1200" b="0">
                          <a:solidFill>
                            <a:srgbClr val="26373D"/>
                          </a:solidFill>
                          <a:latin typeface="Yu Gothic"/>
                          <a:ea typeface="Yu Gothic"/>
                          <a:cs typeface="Yu Gothic"/>
                        </a:rPr>
                        <a:t>3</a:t>
                      </a:r>
                    </a:p>
                  </a:txBody>
                  <a:tcPr marL="91440" marR="91440" marT="45720" marB="45720"/>
                </a:tc>
                <a:tc>
                  <a:txBody>
                    <a:bodyPr/>
                    <a:lstStyle/>
                    <a:p>
                      <a:r>
                        <a:rPr sz="1200" b="0">
                          <a:solidFill>
                            <a:srgbClr val="26373D"/>
                          </a:solidFill>
                          <a:latin typeface="Yu Gothic"/>
                          <a:ea typeface="Yu Gothic"/>
                          <a:cs typeface="Yu Gothic"/>
                        </a:rPr>
                        <a:t>66.4649</a:t>
                      </a:r>
                    </a:p>
                  </a:txBody>
                  <a:tcPr marL="91440" marR="91440" marT="45720" marB="45720"/>
                </a:tc>
                <a:tc>
                  <a:txBody>
                    <a:bodyPr/>
                    <a:lstStyle/>
                    <a:p>
                      <a:r>
                        <a:rPr sz="1200" b="0">
                          <a:solidFill>
                            <a:srgbClr val="26373D"/>
                          </a:solidFill>
                          <a:latin typeface="Yu Gothic"/>
                          <a:ea typeface="Yu Gothic"/>
                          <a:cs typeface="Yu Gothic"/>
                        </a:rPr>
                        <a:t>0.00135746</a:t>
                      </a:r>
                    </a:p>
                  </a:txBody>
                  <a:tcPr marL="91440" marR="91440" marT="45720" marB="45720"/>
                </a:tc>
                <a:tc>
                  <a:txBody>
                    <a:bodyPr/>
                    <a:lstStyle/>
                    <a:p>
                      <a:r>
                        <a:rPr sz="1200" b="0">
                          <a:solidFill>
                            <a:srgbClr val="26373D"/>
                          </a:solidFill>
                          <a:latin typeface="Yu Gothic"/>
                          <a:ea typeface="Yu Gothic"/>
                          <a:cs typeface="Yu Gothic"/>
                        </a:rPr>
                        <a:t>16.1307</a:t>
                      </a:r>
                    </a:p>
                  </a:txBody>
                  <a:tcPr marL="91440" marR="91440" marT="45720" marB="45720"/>
                </a:tc>
                <a:tc>
                  <a:txBody>
                    <a:bodyPr>
                      <a:normAutofit/>
                    </a:bodyPr>
                    <a:lstStyle/>
                    <a:p>
                      <a:pPr algn="ctr"/>
                      <a:r>
                        <a:rPr sz="1125" b="1">
                          <a:solidFill>
                            <a:srgbClr val="B94A3A"/>
                          </a:solidFill>
                          <a:latin typeface="Yu Gothic"/>
                          <a:ea typeface="Yu Gothic"/>
                          <a:cs typeface="Yu Gothic"/>
                        </a:rPr>
                        <a:t>16.1776</a:t>
                      </a:r>
                    </a:p>
                  </a:txBody>
                  <a:tcPr marL="91440" marR="91440" marT="45720" marB="45720" anchor="ctr">
                    <a:solidFill>
                      <a:srgbClr val="F5DFDA"/>
                    </a:solidFill>
                  </a:tcPr>
                </a:tc>
                <a:tc>
                  <a:txBody>
                    <a:bodyPr/>
                    <a:lstStyle/>
                    <a:p>
                      <a:r>
                        <a:rPr sz="1200" b="0">
                          <a:solidFill>
                            <a:srgbClr val="26373D"/>
                          </a:solidFill>
                          <a:latin typeface="Yu Gothic"/>
                          <a:ea typeface="Yu Gothic"/>
                          <a:cs typeface="Yu Gothic"/>
                        </a:rPr>
                        <a:t>実行確認</a:t>
                      </a:r>
                    </a:p>
                  </a:txBody>
                  <a:tcPr marL="91440" marR="91440" marT="45720" marB="45720">
                    <a:solidFill>
                      <a:srgbClr val="FAE9D8"/>
                    </a:solidFill>
                  </a:tcPr>
                </a:tc>
                <a:tc>
                  <a:txBody>
                    <a:bodyPr/>
                    <a:lstStyle/>
                    <a:p>
                      <a:r>
                        <a:rPr sz="1200" b="0">
                          <a:solidFill>
                            <a:srgbClr val="26373D"/>
                          </a:solidFill>
                          <a:latin typeface="Yu Gothic"/>
                          <a:ea typeface="Yu Gothic"/>
                          <a:cs typeface="Yu Gothic"/>
                        </a:rPr>
                        <a:t>不変</a:t>
                      </a:r>
                    </a:p>
                  </a:txBody>
                  <a:tcPr marL="91440" marR="91440" marT="45720" marB="45720"/>
                </a:tc>
              </a:tr>
            </a:tbl>
          </a:graphicData>
        </a:graphic>
      </p:graphicFrame>
      <p:sp>
        <p:nvSpPr>
          <p:cNvPr id="12" name="">
            <a:extLst xmlns:a="http://schemas.openxmlformats.org/drawingml/2006/main">
              <a:ext uri="{FF2B5EF4-FFF2-40B4-BE49-F238E27FC236}">
                <a16:creationId xmlns:a16="http://schemas.microsoft.com/office/drawing/2014/main" id="{44B76240-C445-4AF9-970B-CEC1FE3A73D4}"/>
              </a:ext>
            </a:extLst>
          </p:cNvPr>
          <p:cNvSpPr>
            <a:spLocks xmlns:a="http://schemas.openxmlformats.org/drawingml/2006/main" noGrp="1"/>
          </p:cNvSpPr>
          <p:nvPr/>
        </p:nvSpPr>
        <p:spPr>
          <a:xfrm xmlns:a="http://schemas.openxmlformats.org/drawingml/2006/main">
            <a:off x="723900" y="5724525"/>
            <a:ext cx="107442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350" b="1">
                <a:solidFill>
                  <a:srgbClr val="B94A3A"/>
                </a:solidFill>
                <a:latin typeface="Yu Gothic"/>
                <a:ea typeface="Yu Gothic"/>
                <a:cs typeface="Yu Gothic"/>
              </a:defRPr>
            </a:pPr>
            <a:r>
              <a:rPr sz="1350" b="1">
                <a:solidFill>
                  <a:srgbClr val="B94A3A"/>
                </a:solidFill>
                <a:latin typeface="Yu Gothic"/>
                <a:ea typeface="Yu Gothic"/>
                <a:cs typeface="Yu Gothic"/>
              </a:rPr>
              <a:t>各ラウンドで選択した4組が異なるため、加重KLをラウンド間の性能推移として比較しない</a:t>
            </a:r>
          </a:p>
        </p:txBody>
      </p:sp>
    </p:spTree>
    <p:extLst>
      <p:ext uri="{BB962C8B-B14F-4D97-AF65-F5344CB8AC3E}">
        <p14:creationId xmlns:p14="http://schemas.microsoft.com/office/powerpoint/2010/main" val="1196224350"/>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4ABF734D-93DF-44F6-8DFB-5E64B8261ED3}"/>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5E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00241DD-0CA7-44D5-BEB4-CA5F5F554139}"/>
              </a:ext>
            </a:extLst>
          </p:cNvPr>
          <p:cNvSpPr>
            <a:spLocks xmlns:a="http://schemas.openxmlformats.org/drawingml/2006/main" noGrp="1"/>
          </p:cNvSpPr>
          <p:nvPr/>
        </p:nvSpPr>
        <p:spPr>
          <a:xfrm xmlns:a="http://schemas.openxmlformats.org/drawingml/2006/main">
            <a:off x="381000" y="342900"/>
            <a:ext cx="66675" cy="514350"/>
          </a:xfrm>
          <a:prstGeom xmlns:a="http://schemas.openxmlformats.org/drawingml/2006/main" prst="rect">
            <a:avLst/>
          </a:prstGeom>
          <a:solidFill xmlns:a="http://schemas.openxmlformats.org/drawingml/2006/main">
            <a:srgbClr val="147B78"/>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16E3E609-61DD-4EE0-948D-898DFC4E1B88}"/>
              </a:ext>
            </a:extLst>
          </p:cNvPr>
          <p:cNvSpPr>
            <a:spLocks xmlns:a="http://schemas.openxmlformats.org/drawingml/2006/main" noGrp="1"/>
          </p:cNvSpPr>
          <p:nvPr/>
        </p:nvSpPr>
        <p:spPr>
          <a:xfrm xmlns:a="http://schemas.openxmlformats.org/drawingml/2006/main">
            <a:off x="590550" y="323850"/>
            <a:ext cx="10572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2850" b="1">
                <a:solidFill>
                  <a:srgbClr val="173B4B"/>
                </a:solidFill>
                <a:latin typeface="Yu Gothic"/>
                <a:ea typeface="Yu Gothic"/>
                <a:cs typeface="Yu Gothic"/>
              </a:defRPr>
            </a:pPr>
            <a:r>
              <a:rPr sz="2850" b="1">
                <a:solidFill>
                  <a:srgbClr val="173B4B"/>
                </a:solidFill>
                <a:latin typeface="Yu Gothic"/>
                <a:ea typeface="Yu Gothic"/>
                <a:cs typeface="Yu Gothic"/>
              </a:rPr>
              <a:t>付録3</a:t>
            </a:r>
          </a:p>
        </p:txBody>
      </p:sp>
      <p:sp>
        <p:nvSpPr>
          <p:cNvPr id="4" name="">
            <a:extLst xmlns:a="http://schemas.openxmlformats.org/drawingml/2006/main">
              <a:ext uri="{FF2B5EF4-FFF2-40B4-BE49-F238E27FC236}">
                <a16:creationId xmlns:a16="http://schemas.microsoft.com/office/drawing/2014/main" id="{C49C781E-7126-49CF-B6AF-6C7D29757AC0}"/>
              </a:ext>
            </a:extLst>
          </p:cNvPr>
          <p:cNvSpPr>
            <a:spLocks xmlns:a="http://schemas.openxmlformats.org/drawingml/2006/main" noGrp="1"/>
          </p:cNvSpPr>
          <p:nvPr/>
        </p:nvSpPr>
        <p:spPr>
          <a:xfrm xmlns:a="http://schemas.openxmlformats.org/drawingml/2006/main">
            <a:off x="11306175" y="428625"/>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200" b="1">
                <a:solidFill>
                  <a:srgbClr val="147B78"/>
                </a:solidFill>
                <a:latin typeface="Yu Gothic"/>
                <a:ea typeface="Yu Gothic"/>
                <a:cs typeface="Yu Gothic"/>
              </a:defRPr>
            </a:pPr>
            <a:r>
              <a:rPr sz="1200" b="1">
                <a:solidFill>
                  <a:srgbClr val="147B78"/>
                </a:solidFill>
                <a:latin typeface="Yu Gothic"/>
                <a:ea typeface="Yu Gothic"/>
                <a:cs typeface="Yu Gothic"/>
              </a:rPr>
              <a:t>A3</a:t>
            </a:r>
          </a:p>
        </p:txBody>
      </p:sp>
      <p:sp>
        <p:nvSpPr>
          <p:cNvPr id="5" name="">
            <a:extLst xmlns:a="http://schemas.openxmlformats.org/drawingml/2006/main">
              <a:ext uri="{FF2B5EF4-FFF2-40B4-BE49-F238E27FC236}">
                <a16:creationId xmlns:a16="http://schemas.microsoft.com/office/drawing/2014/main" id="{3694567C-5C33-4BFA-874B-D17F4BDFFFD1}"/>
              </a:ext>
            </a:extLst>
          </p:cNvPr>
          <p:cNvSpPr>
            <a:spLocks xmlns:a="http://schemas.openxmlformats.org/drawingml/2006/main" noGrp="1"/>
          </p:cNvSpPr>
          <p:nvPr/>
        </p:nvSpPr>
        <p:spPr>
          <a:xfrm xmlns:a="http://schemas.openxmlformats.org/drawingml/2006/main">
            <a:off x="457200" y="6477000"/>
            <a:ext cx="11277600" cy="14288"/>
          </a:xfrm>
          <a:prstGeom xmlns:a="http://schemas.openxmlformats.org/drawingml/2006/main" prst="rect">
            <a:avLst/>
          </a:prstGeom>
          <a:solidFill xmlns:a="http://schemas.openxmlformats.org/drawingml/2006/main">
            <a:srgbClr val="C9D2D3"/>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0C8E8421-3901-41F1-884A-9A99E0C9470A}"/>
              </a:ext>
            </a:extLst>
          </p:cNvPr>
          <p:cNvSpPr>
            <a:spLocks xmlns:a="http://schemas.openxmlformats.org/drawingml/2006/main" noGrp="1"/>
          </p:cNvSpPr>
          <p:nvPr/>
        </p:nvSpPr>
        <p:spPr>
          <a:xfrm xmlns:a="http://schemas.openxmlformats.org/drawingml/2006/main">
            <a:off x="495300" y="6543675"/>
            <a:ext cx="7239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0">
                <a:solidFill>
                  <a:srgbClr val="617078"/>
                </a:solidFill>
                <a:latin typeface="Yu Gothic"/>
                <a:ea typeface="Yu Gothic"/>
                <a:cs typeface="Yu Gothic"/>
              </a:defRPr>
            </a:pPr>
            <a:r>
              <a:rPr sz="900" b="0">
                <a:solidFill>
                  <a:srgbClr val="617078"/>
                </a:solidFill>
                <a:latin typeface="Yu Gothic"/>
                <a:ea typeface="Yu Gothic"/>
                <a:cs typeface="Yu Gothic"/>
              </a:rPr>
              <a:t>FedPACT / NEXAR　研究会　2026.09.18</a:t>
            </a:r>
          </a:p>
        </p:txBody>
      </p:sp>
      <p:sp>
        <p:nvSpPr>
          <p:cNvPr id="7" name="">
            <a:extLst xmlns:a="http://schemas.openxmlformats.org/drawingml/2006/main">
              <a:ext uri="{FF2B5EF4-FFF2-40B4-BE49-F238E27FC236}">
                <a16:creationId xmlns:a16="http://schemas.microsoft.com/office/drawing/2014/main" id="{D9516A98-5BFA-4F5D-8D38-C183BB72825C}"/>
              </a:ext>
            </a:extLst>
          </p:cNvPr>
          <p:cNvSpPr>
            <a:spLocks xmlns:a="http://schemas.openxmlformats.org/drawingml/2006/main" noGrp="1"/>
          </p:cNvSpPr>
          <p:nvPr/>
        </p:nvSpPr>
        <p:spPr>
          <a:xfrm xmlns:a="http://schemas.openxmlformats.org/drawingml/2006/main">
            <a:off x="10477500" y="6543675"/>
            <a:ext cx="12001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0">
                <a:solidFill>
                  <a:srgbClr val="617078"/>
                </a:solidFill>
                <a:latin typeface="Yu Gothic"/>
                <a:ea typeface="Yu Gothic"/>
                <a:cs typeface="Yu Gothic"/>
              </a:defRPr>
            </a:pPr>
            <a:r>
              <a:rPr sz="900" b="0">
                <a:solidFill>
                  <a:srgbClr val="617078"/>
                </a:solidFill>
                <a:latin typeface="Yu Gothic"/>
                <a:ea typeface="Yu Gothic"/>
                <a:cs typeface="Yu Gothic"/>
              </a:rPr>
              <a:t>付録 3 / 3</a:t>
            </a:r>
          </a:p>
        </p:txBody>
      </p:sp>
      <p:sp>
        <p:nvSpPr>
          <p:cNvPr id="8" name="">
            <a:extLst xmlns:a="http://schemas.openxmlformats.org/drawingml/2006/main">
              <a:ext uri="{FF2B5EF4-FFF2-40B4-BE49-F238E27FC236}">
                <a16:creationId xmlns:a16="http://schemas.microsoft.com/office/drawing/2014/main" id="{7AE6D472-B3E9-480D-B78C-2D4436710BB4}"/>
              </a:ext>
            </a:extLst>
          </p:cNvPr>
          <p:cNvSpPr>
            <a:spLocks xmlns:a="http://schemas.openxmlformats.org/drawingml/2006/main" noGrp="1"/>
          </p:cNvSpPr>
          <p:nvPr/>
        </p:nvSpPr>
        <p:spPr>
          <a:xfrm xmlns:a="http://schemas.openxmlformats.org/drawingml/2006/main">
            <a:off x="1962150" y="323850"/>
            <a:ext cx="7239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2850" b="1">
                <a:solidFill>
                  <a:srgbClr val="173B4B"/>
                </a:solidFill>
                <a:latin typeface="Yu Gothic"/>
                <a:ea typeface="Yu Gothic"/>
                <a:cs typeface="Yu Gothic"/>
              </a:defRPr>
            </a:pPr>
            <a:r>
              <a:rPr sz="2850" b="1">
                <a:solidFill>
                  <a:srgbClr val="173B4B"/>
                </a:solidFill>
                <a:latin typeface="Yu Gothic"/>
                <a:ea typeface="Yu Gothic"/>
                <a:cs typeface="Yu Gothic"/>
              </a:rPr>
              <a:t>処理時間と通信監査</a:t>
            </a:r>
          </a:p>
        </p:txBody>
      </p:sp>
      <p:sp>
        <p:nvSpPr>
          <p:cNvPr id="9" name="">
            <a:extLst xmlns:a="http://schemas.openxmlformats.org/drawingml/2006/main">
              <a:ext uri="{FF2B5EF4-FFF2-40B4-BE49-F238E27FC236}">
                <a16:creationId xmlns:a16="http://schemas.microsoft.com/office/drawing/2014/main" id="{6AB83A3D-1B10-435F-B8CC-7EAC5F628CBA}"/>
              </a:ext>
            </a:extLst>
          </p:cNvPr>
          <p:cNvSpPr>
            <a:spLocks xmlns:a="http://schemas.openxmlformats.org/drawingml/2006/main" noGrp="1"/>
          </p:cNvSpPr>
          <p:nvPr/>
        </p:nvSpPr>
        <p:spPr>
          <a:xfrm xmlns:a="http://schemas.openxmlformats.org/drawingml/2006/main">
            <a:off x="685800" y="1028700"/>
            <a:ext cx="4000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1">
                <a:solidFill>
                  <a:srgbClr val="147B78"/>
                </a:solidFill>
                <a:latin typeface="Yu Gothic"/>
                <a:ea typeface="Yu Gothic"/>
                <a:cs typeface="Yu Gothic"/>
              </a:defRPr>
            </a:pPr>
            <a:r>
              <a:rPr sz="1650" b="1">
                <a:solidFill>
                  <a:srgbClr val="147B78"/>
                </a:solidFill>
                <a:latin typeface="Yu Gothic"/>
                <a:ea typeface="Yu Gothic"/>
                <a:cs typeface="Yu Gothic"/>
              </a:rPr>
              <a:t>処理時間（秒）</a:t>
            </a:r>
          </a:p>
        </p:txBody>
      </p:sp>
      <p:graphicFrame>
        <p:nvGraphicFramePr>
          <p:cNvPr id="26" name=""/>
          <p:cNvGraphicFramePr/>
          <p:nvPr/>
        </p:nvGraphicFramePr>
        <p:xfrm>
          <a:off xmlns:a="http://schemas.openxmlformats.org/drawingml/2006/main" x="647700" y="1409700"/>
          <a:ext xmlns:a="http://schemas.openxmlformats.org/drawingml/2006/main" cx="10896600" cy="1752600"/>
        </p:xfrm>
        <a:graphic xmlns:a="http://schemas.openxmlformats.org/drawingml/2006/main">
          <a:graphicData uri="http://schemas.openxmlformats.org/drawingml/2006/table">
            <a:tbl>
              <a:tblPr/>
              <a:tblGrid>
                <a:gridCol w="552450"/>
                <a:gridCol w="1571625"/>
                <a:gridCol w="1381125"/>
                <a:gridCol w="1381125"/>
                <a:gridCol w="1952625"/>
                <a:gridCol w="2238375"/>
                <a:gridCol w="1819275"/>
              </a:tblGrid>
              <a:tr h="438150">
                <a:tc>
                  <a:txBody>
                    <a:bodyPr/>
                    <a:lstStyle/>
                    <a:p>
                      <a:r>
                        <a:rPr sz="1050" b="1">
                          <a:solidFill>
                            <a:srgbClr val="173B4B"/>
                          </a:solidFill>
                          <a:latin typeface="Yu Gothic"/>
                          <a:ea typeface="Yu Gothic"/>
                          <a:cs typeface="Yu Gothic"/>
                        </a:rPr>
                        <a:t>R</a:t>
                      </a:r>
                    </a:p>
                  </a:txBody>
                  <a:tcPr marL="91440" marR="91440" marT="45720" marB="45720"/>
                </a:tc>
                <a:tc>
                  <a:txBody>
                    <a:bodyPr/>
                    <a:lstStyle/>
                    <a:p>
                      <a:r>
                        <a:rPr sz="1050" b="1">
                          <a:solidFill>
                            <a:srgbClr val="173B4B"/>
                          </a:solidFill>
                          <a:latin typeface="Yu Gothic"/>
                          <a:ea typeface="Yu Gothic"/>
                          <a:cs typeface="Yu Gothic"/>
                        </a:rPr>
                        <a:t>現場側学習</a:t>
                      </a:r>
                    </a:p>
                  </a:txBody>
                  <a:tcPr marL="91440" marR="91440" marT="45720" marB="45720"/>
                </a:tc>
                <a:tc>
                  <a:txBody>
                    <a:bodyPr/>
                    <a:lstStyle/>
                    <a:p>
                      <a:r>
                        <a:rPr sz="1050" b="1">
                          <a:solidFill>
                            <a:srgbClr val="173B4B"/>
                          </a:solidFill>
                          <a:latin typeface="Yu Gothic"/>
                          <a:ea typeface="Yu Gothic"/>
                          <a:cs typeface="Yu Gothic"/>
                        </a:rPr>
                        <a:t>60本検索</a:t>
                      </a:r>
                    </a:p>
                  </a:txBody>
                  <a:tcPr marL="91440" marR="91440" marT="45720" marB="45720"/>
                </a:tc>
                <a:tc>
                  <a:txBody>
                    <a:bodyPr/>
                    <a:lstStyle/>
                    <a:p>
                      <a:r>
                        <a:rPr sz="1050" b="1">
                          <a:solidFill>
                            <a:srgbClr val="173B4B"/>
                          </a:solidFill>
                          <a:latin typeface="Yu Gothic"/>
                          <a:ea typeface="Yu Gothic"/>
                          <a:cs typeface="Yu Gothic"/>
                        </a:rPr>
                        <a:t>変換保存</a:t>
                      </a:r>
                    </a:p>
                  </a:txBody>
                  <a:tcPr marL="91440" marR="91440" marT="45720" marB="45720"/>
                </a:tc>
                <a:tc>
                  <a:txBody>
                    <a:bodyPr/>
                    <a:lstStyle/>
                    <a:p>
                      <a:r>
                        <a:rPr sz="1050" b="1">
                          <a:solidFill>
                            <a:srgbClr val="173B4B"/>
                          </a:solidFill>
                          <a:latin typeface="Yu Gothic"/>
                          <a:ea typeface="Yu Gothic"/>
                          <a:cs typeface="Yu Gothic"/>
                        </a:rPr>
                        <a:t>変化量・目的関数</a:t>
                      </a:r>
                    </a:p>
                  </a:txBody>
                  <a:tcPr marL="91440" marR="91440" marT="45720" marB="45720"/>
                </a:tc>
                <a:tc>
                  <a:txBody>
                    <a:bodyPr/>
                    <a:lstStyle/>
                    <a:p>
                      <a:r>
                        <a:rPr sz="1050" b="1">
                          <a:solidFill>
                            <a:srgbClr val="173B4B"/>
                          </a:solidFill>
                          <a:latin typeface="Yu Gothic"/>
                          <a:ea typeface="Yu Gothic"/>
                          <a:cs typeface="Yu Gothic"/>
                        </a:rPr>
                        <a:t>中央側AI読込・更新</a:t>
                      </a:r>
                    </a:p>
                  </a:txBody>
                  <a:tcPr marL="91440" marR="91440" marT="45720" marB="45720"/>
                </a:tc>
                <a:tc>
                  <a:txBody>
                    <a:bodyPr/>
                    <a:lstStyle/>
                    <a:p>
                      <a:r>
                        <a:rPr sz="1050" b="1">
                          <a:solidFill>
                            <a:srgbClr val="173B4B"/>
                          </a:solidFill>
                          <a:latin typeface="Yu Gothic"/>
                          <a:ea typeface="Yu Gothic"/>
                          <a:cs typeface="Yu Gothic"/>
                        </a:rPr>
                        <a:t>第2・3層合計</a:t>
                      </a:r>
                    </a:p>
                  </a:txBody>
                  <a:tcPr marL="91440" marR="91440" marT="45720" marB="45720"/>
                </a:tc>
              </a:tr>
              <a:tr h="438150">
                <a:tc>
                  <a:txBody>
                    <a:bodyPr/>
                    <a:lstStyle/>
                    <a:p>
                      <a:r>
                        <a:rPr sz="1200" b="0">
                          <a:solidFill>
                            <a:srgbClr val="26373D"/>
                          </a:solidFill>
                          <a:latin typeface="Yu Gothic"/>
                          <a:ea typeface="Yu Gothic"/>
                          <a:cs typeface="Yu Gothic"/>
                        </a:rPr>
                        <a:t>1</a:t>
                      </a:r>
                    </a:p>
                  </a:txBody>
                  <a:tcPr marL="91440" marR="91440" marT="45720" marB="45720"/>
                </a:tc>
                <a:tc>
                  <a:txBody>
                    <a:bodyPr/>
                    <a:lstStyle/>
                    <a:p>
                      <a:r>
                        <a:rPr sz="1200" b="0">
                          <a:solidFill>
                            <a:srgbClr val="26373D"/>
                          </a:solidFill>
                          <a:latin typeface="Yu Gothic"/>
                          <a:ea typeface="Yu Gothic"/>
                          <a:cs typeface="Yu Gothic"/>
                        </a:rPr>
                        <a:t>96.5</a:t>
                      </a:r>
                    </a:p>
                  </a:txBody>
                  <a:tcPr marL="91440" marR="91440" marT="45720" marB="45720"/>
                </a:tc>
                <a:tc>
                  <a:txBody>
                    <a:bodyPr/>
                    <a:lstStyle/>
                    <a:p>
                      <a:r>
                        <a:rPr sz="1200" b="0">
                          <a:solidFill>
                            <a:srgbClr val="26373D"/>
                          </a:solidFill>
                          <a:latin typeface="Yu Gothic"/>
                          <a:ea typeface="Yu Gothic"/>
                          <a:cs typeface="Yu Gothic"/>
                        </a:rPr>
                        <a:t>28.6</a:t>
                      </a:r>
                    </a:p>
                  </a:txBody>
                  <a:tcPr marL="91440" marR="91440" marT="45720" marB="45720"/>
                </a:tc>
                <a:tc>
                  <a:txBody>
                    <a:bodyPr/>
                    <a:lstStyle/>
                    <a:p>
                      <a:r>
                        <a:rPr sz="1200" b="0">
                          <a:solidFill>
                            <a:srgbClr val="26373D"/>
                          </a:solidFill>
                          <a:latin typeface="Yu Gothic"/>
                          <a:ea typeface="Yu Gothic"/>
                          <a:cs typeface="Yu Gothic"/>
                        </a:rPr>
                        <a:t>4.0</a:t>
                      </a:r>
                    </a:p>
                  </a:txBody>
                  <a:tcPr marL="91440" marR="91440" marT="45720" marB="45720"/>
                </a:tc>
                <a:tc>
                  <a:txBody>
                    <a:bodyPr/>
                    <a:lstStyle/>
                    <a:p>
                      <a:r>
                        <a:rPr sz="1200" b="0">
                          <a:solidFill>
                            <a:srgbClr val="26373D"/>
                          </a:solidFill>
                          <a:latin typeface="Yu Gothic"/>
                          <a:ea typeface="Yu Gothic"/>
                          <a:cs typeface="Yu Gothic"/>
                        </a:rPr>
                        <a:t>52.9</a:t>
                      </a:r>
                    </a:p>
                  </a:txBody>
                  <a:tcPr marL="91440" marR="91440" marT="45720" marB="45720"/>
                </a:tc>
                <a:tc>
                  <a:txBody>
                    <a:bodyPr/>
                    <a:lstStyle/>
                    <a:p>
                      <a:r>
                        <a:rPr sz="1200" b="0">
                          <a:solidFill>
                            <a:srgbClr val="26373D"/>
                          </a:solidFill>
                          <a:latin typeface="Yu Gothic"/>
                          <a:ea typeface="Yu Gothic"/>
                          <a:cs typeface="Yu Gothic"/>
                        </a:rPr>
                        <a:t>171.8</a:t>
                      </a:r>
                    </a:p>
                  </a:txBody>
                  <a:tcPr marL="91440" marR="91440" marT="45720" marB="45720"/>
                </a:tc>
                <a:tc>
                  <a:txBody>
                    <a:bodyPr/>
                    <a:lstStyle/>
                    <a:p>
                      <a:r>
                        <a:rPr sz="1200" b="0">
                          <a:solidFill>
                            <a:srgbClr val="26373D"/>
                          </a:solidFill>
                          <a:latin typeface="Yu Gothic"/>
                          <a:ea typeface="Yu Gothic"/>
                          <a:cs typeface="Yu Gothic"/>
                        </a:rPr>
                        <a:t>279.1</a:t>
                      </a:r>
                    </a:p>
                  </a:txBody>
                  <a:tcPr marL="91440" marR="91440" marT="45720" marB="45720"/>
                </a:tc>
              </a:tr>
              <a:tr h="438150">
                <a:tc>
                  <a:txBody>
                    <a:bodyPr/>
                    <a:lstStyle/>
                    <a:p>
                      <a:r>
                        <a:rPr sz="1200" b="0">
                          <a:solidFill>
                            <a:srgbClr val="26373D"/>
                          </a:solidFill>
                          <a:latin typeface="Yu Gothic"/>
                          <a:ea typeface="Yu Gothic"/>
                          <a:cs typeface="Yu Gothic"/>
                        </a:rPr>
                        <a:t>2</a:t>
                      </a:r>
                    </a:p>
                  </a:txBody>
                  <a:tcPr marL="91440" marR="91440" marT="45720" marB="45720"/>
                </a:tc>
                <a:tc>
                  <a:txBody>
                    <a:bodyPr/>
                    <a:lstStyle/>
                    <a:p>
                      <a:r>
                        <a:rPr sz="1200" b="0">
                          <a:solidFill>
                            <a:srgbClr val="26373D"/>
                          </a:solidFill>
                          <a:latin typeface="Yu Gothic"/>
                          <a:ea typeface="Yu Gothic"/>
                          <a:cs typeface="Yu Gothic"/>
                        </a:rPr>
                        <a:t>97.1</a:t>
                      </a:r>
                    </a:p>
                  </a:txBody>
                  <a:tcPr marL="91440" marR="91440" marT="45720" marB="45720"/>
                </a:tc>
                <a:tc>
                  <a:txBody>
                    <a:bodyPr/>
                    <a:lstStyle/>
                    <a:p>
                      <a:r>
                        <a:rPr sz="1200" b="0">
                          <a:solidFill>
                            <a:srgbClr val="26373D"/>
                          </a:solidFill>
                          <a:latin typeface="Yu Gothic"/>
                          <a:ea typeface="Yu Gothic"/>
                          <a:cs typeface="Yu Gothic"/>
                        </a:rPr>
                        <a:t>27.0</a:t>
                      </a:r>
                    </a:p>
                  </a:txBody>
                  <a:tcPr marL="91440" marR="91440" marT="45720" marB="45720"/>
                </a:tc>
                <a:tc>
                  <a:txBody>
                    <a:bodyPr/>
                    <a:lstStyle/>
                    <a:p>
                      <a:r>
                        <a:rPr sz="1200" b="0">
                          <a:solidFill>
                            <a:srgbClr val="26373D"/>
                          </a:solidFill>
                          <a:latin typeface="Yu Gothic"/>
                          <a:ea typeface="Yu Gothic"/>
                          <a:cs typeface="Yu Gothic"/>
                        </a:rPr>
                        <a:t>4.1</a:t>
                      </a:r>
                    </a:p>
                  </a:txBody>
                  <a:tcPr marL="91440" marR="91440" marT="45720" marB="45720"/>
                </a:tc>
                <a:tc>
                  <a:txBody>
                    <a:bodyPr/>
                    <a:lstStyle/>
                    <a:p>
                      <a:r>
                        <a:rPr sz="1200" b="0">
                          <a:solidFill>
                            <a:srgbClr val="26373D"/>
                          </a:solidFill>
                          <a:latin typeface="Yu Gothic"/>
                          <a:ea typeface="Yu Gothic"/>
                          <a:cs typeface="Yu Gothic"/>
                        </a:rPr>
                        <a:t>52.7</a:t>
                      </a:r>
                    </a:p>
                  </a:txBody>
                  <a:tcPr marL="91440" marR="91440" marT="45720" marB="45720"/>
                </a:tc>
                <a:tc>
                  <a:txBody>
                    <a:bodyPr/>
                    <a:lstStyle/>
                    <a:p>
                      <a:r>
                        <a:rPr sz="1200" b="0">
                          <a:solidFill>
                            <a:srgbClr val="26373D"/>
                          </a:solidFill>
                          <a:latin typeface="Yu Gothic"/>
                          <a:ea typeface="Yu Gothic"/>
                          <a:cs typeface="Yu Gothic"/>
                        </a:rPr>
                        <a:t>173.6</a:t>
                      </a:r>
                    </a:p>
                  </a:txBody>
                  <a:tcPr marL="91440" marR="91440" marT="45720" marB="45720"/>
                </a:tc>
                <a:tc>
                  <a:txBody>
                    <a:bodyPr/>
                    <a:lstStyle/>
                    <a:p>
                      <a:r>
                        <a:rPr sz="1200" b="0">
                          <a:solidFill>
                            <a:srgbClr val="26373D"/>
                          </a:solidFill>
                          <a:latin typeface="Yu Gothic"/>
                          <a:ea typeface="Yu Gothic"/>
                          <a:cs typeface="Yu Gothic"/>
                        </a:rPr>
                        <a:t>272.5</a:t>
                      </a:r>
                    </a:p>
                  </a:txBody>
                  <a:tcPr marL="91440" marR="91440" marT="45720" marB="45720"/>
                </a:tc>
              </a:tr>
              <a:tr h="438150">
                <a:tc>
                  <a:txBody>
                    <a:bodyPr/>
                    <a:lstStyle/>
                    <a:p>
                      <a:r>
                        <a:rPr sz="1200" b="0">
                          <a:solidFill>
                            <a:srgbClr val="26373D"/>
                          </a:solidFill>
                          <a:latin typeface="Yu Gothic"/>
                          <a:ea typeface="Yu Gothic"/>
                          <a:cs typeface="Yu Gothic"/>
                        </a:rPr>
                        <a:t>3</a:t>
                      </a:r>
                    </a:p>
                  </a:txBody>
                  <a:tcPr marL="91440" marR="91440" marT="45720" marB="45720"/>
                </a:tc>
                <a:tc>
                  <a:txBody>
                    <a:bodyPr/>
                    <a:lstStyle/>
                    <a:p>
                      <a:r>
                        <a:rPr sz="1200" b="0">
                          <a:solidFill>
                            <a:srgbClr val="26373D"/>
                          </a:solidFill>
                          <a:latin typeface="Yu Gothic"/>
                          <a:ea typeface="Yu Gothic"/>
                          <a:cs typeface="Yu Gothic"/>
                        </a:rPr>
                        <a:t>131.0</a:t>
                      </a:r>
                    </a:p>
                  </a:txBody>
                  <a:tcPr marL="91440" marR="91440" marT="45720" marB="45720"/>
                </a:tc>
                <a:tc>
                  <a:txBody>
                    <a:bodyPr/>
                    <a:lstStyle/>
                    <a:p>
                      <a:r>
                        <a:rPr sz="1200" b="0">
                          <a:solidFill>
                            <a:srgbClr val="26373D"/>
                          </a:solidFill>
                          <a:latin typeface="Yu Gothic"/>
                          <a:ea typeface="Yu Gothic"/>
                          <a:cs typeface="Yu Gothic"/>
                        </a:rPr>
                        <a:t>27.1</a:t>
                      </a:r>
                    </a:p>
                  </a:txBody>
                  <a:tcPr marL="91440" marR="91440" marT="45720" marB="45720"/>
                </a:tc>
                <a:tc>
                  <a:txBody>
                    <a:bodyPr/>
                    <a:lstStyle/>
                    <a:p>
                      <a:r>
                        <a:rPr sz="1200" b="0">
                          <a:solidFill>
                            <a:srgbClr val="26373D"/>
                          </a:solidFill>
                          <a:latin typeface="Yu Gothic"/>
                          <a:ea typeface="Yu Gothic"/>
                          <a:cs typeface="Yu Gothic"/>
                        </a:rPr>
                        <a:t>4.2</a:t>
                      </a:r>
                    </a:p>
                  </a:txBody>
                  <a:tcPr marL="91440" marR="91440" marT="45720" marB="45720"/>
                </a:tc>
                <a:tc>
                  <a:txBody>
                    <a:bodyPr/>
                    <a:lstStyle/>
                    <a:p>
                      <a:r>
                        <a:rPr sz="1200" b="0">
                          <a:solidFill>
                            <a:srgbClr val="26373D"/>
                          </a:solidFill>
                          <a:latin typeface="Yu Gothic"/>
                          <a:ea typeface="Yu Gothic"/>
                          <a:cs typeface="Yu Gothic"/>
                        </a:rPr>
                        <a:t>52.7</a:t>
                      </a:r>
                    </a:p>
                  </a:txBody>
                  <a:tcPr marL="91440" marR="91440" marT="45720" marB="45720"/>
                </a:tc>
                <a:tc>
                  <a:txBody>
                    <a:bodyPr/>
                    <a:lstStyle/>
                    <a:p>
                      <a:r>
                        <a:rPr sz="1200" b="0">
                          <a:solidFill>
                            <a:srgbClr val="26373D"/>
                          </a:solidFill>
                          <a:latin typeface="Yu Gothic"/>
                          <a:ea typeface="Yu Gothic"/>
                          <a:cs typeface="Yu Gothic"/>
                        </a:rPr>
                        <a:t>178.2</a:t>
                      </a:r>
                    </a:p>
                  </a:txBody>
                  <a:tcPr marL="91440" marR="91440" marT="45720" marB="45720"/>
                </a:tc>
                <a:tc>
                  <a:txBody>
                    <a:bodyPr/>
                    <a:lstStyle/>
                    <a:p>
                      <a:r>
                        <a:rPr sz="1200" b="0">
                          <a:solidFill>
                            <a:srgbClr val="26373D"/>
                          </a:solidFill>
                          <a:latin typeface="Yu Gothic"/>
                          <a:ea typeface="Yu Gothic"/>
                          <a:cs typeface="Yu Gothic"/>
                        </a:rPr>
                        <a:t>277.3</a:t>
                      </a:r>
                    </a:p>
                  </a:txBody>
                  <a:tcPr marL="91440" marR="91440" marT="45720" marB="45720"/>
                </a:tc>
              </a:tr>
            </a:tbl>
          </a:graphicData>
        </a:graphic>
      </p:graphicFrame>
      <p:sp>
        <p:nvSpPr>
          <p:cNvPr id="11" name="">
            <a:extLst xmlns:a="http://schemas.openxmlformats.org/drawingml/2006/main">
              <a:ext uri="{FF2B5EF4-FFF2-40B4-BE49-F238E27FC236}">
                <a16:creationId xmlns:a16="http://schemas.microsoft.com/office/drawing/2014/main" id="{3E6A38C3-1CB5-46AF-895D-968B1FA9E2F0}"/>
              </a:ext>
            </a:extLst>
          </p:cNvPr>
          <p:cNvSpPr>
            <a:spLocks xmlns:a="http://schemas.openxmlformats.org/drawingml/2006/main" noGrp="1"/>
          </p:cNvSpPr>
          <p:nvPr/>
        </p:nvSpPr>
        <p:spPr>
          <a:xfrm xmlns:a="http://schemas.openxmlformats.org/drawingml/2006/main">
            <a:off x="704850" y="3486150"/>
            <a:ext cx="6191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173B4B"/>
                </a:solidFill>
                <a:latin typeface="Yu Gothic"/>
                <a:ea typeface="Yu Gothic"/>
                <a:cs typeface="Yu Gothic"/>
              </a:defRPr>
            </a:pPr>
            <a:r>
              <a:rPr sz="1500" b="1">
                <a:solidFill>
                  <a:srgbClr val="173B4B"/>
                </a:solidFill>
                <a:latin typeface="Yu Gothic"/>
                <a:ea typeface="Yu Gothic"/>
                <a:cs typeface="Yu Gothic"/>
              </a:rPr>
              <a:t>中央側候補60本の正解ラベルと、連合集約後の小型AIの判定</a:t>
            </a:r>
          </a:p>
        </p:txBody>
      </p:sp>
      <p:graphicFrame>
        <p:nvGraphicFramePr>
          <p:cNvPr id="28" name=""/>
          <p:cNvGraphicFramePr/>
          <p:nvPr/>
        </p:nvGraphicFramePr>
        <p:xfrm>
          <a:off xmlns:a="http://schemas.openxmlformats.org/drawingml/2006/main" x="723900" y="3943350"/>
          <a:ext xmlns:a="http://schemas.openxmlformats.org/drawingml/2006/main" cx="4762500" cy="1676400"/>
        </p:xfrm>
        <a:graphic xmlns:a="http://schemas.openxmlformats.org/drawingml/2006/main">
          <a:graphicData uri="http://schemas.openxmlformats.org/drawingml/2006/table">
            <a:tbl>
              <a:tblPr/>
              <a:tblGrid>
                <a:gridCol w="1428750"/>
                <a:gridCol w="1714500"/>
                <a:gridCol w="1619250"/>
              </a:tblGrid>
              <a:tr h="419100">
                <a:tc>
                  <a:txBody>
                    <a:bodyPr/>
                    <a:lstStyle/>
                    <a:p>
                      <a:r>
                        <a:rPr sz="1100" b="1">
                          <a:solidFill>
                            <a:srgbClr val="173B4B"/>
                          </a:solidFill>
                          <a:latin typeface="Yu Gothic"/>
                          <a:ea typeface="Yu Gothic"/>
                          <a:cs typeface="Yu Gothic"/>
                        </a:rPr>
                        <a:t>ラウンド</a:t>
                      </a:r>
                    </a:p>
                  </a:txBody>
                  <a:tcPr marL="91440" marR="91440" marT="45720" marB="45720"/>
                </a:tc>
                <a:tc>
                  <a:txBody>
                    <a:bodyPr/>
                    <a:lstStyle/>
                    <a:p>
                      <a:r>
                        <a:rPr sz="1100" b="1">
                          <a:solidFill>
                            <a:srgbClr val="173B4B"/>
                          </a:solidFill>
                          <a:latin typeface="Yu Gothic"/>
                          <a:ea typeface="Yu Gothic"/>
                          <a:cs typeface="Yu Gothic"/>
                        </a:rPr>
                        <a:t>一致本数</a:t>
                      </a:r>
                    </a:p>
                  </a:txBody>
                  <a:tcPr marL="91440" marR="91440" marT="45720" marB="45720"/>
                </a:tc>
                <a:tc>
                  <a:txBody>
                    <a:bodyPr/>
                    <a:lstStyle/>
                    <a:p>
                      <a:r>
                        <a:rPr sz="1100" b="1">
                          <a:solidFill>
                            <a:srgbClr val="173B4B"/>
                          </a:solidFill>
                          <a:latin typeface="Yu Gothic"/>
                          <a:ea typeface="Yu Gothic"/>
                          <a:cs typeface="Yu Gothic"/>
                        </a:rPr>
                        <a:t>割合</a:t>
                      </a:r>
                    </a:p>
                  </a:txBody>
                  <a:tcPr marL="91440" marR="91440" marT="45720" marB="45720"/>
                </a:tc>
              </a:tr>
              <a:tr h="419100">
                <a:tc>
                  <a:txBody>
                    <a:bodyPr/>
                    <a:lstStyle/>
                    <a:p>
                      <a:r>
                        <a:rPr sz="1200" b="0">
                          <a:solidFill>
                            <a:srgbClr val="26373D"/>
                          </a:solidFill>
                          <a:latin typeface="Yu Gothic"/>
                          <a:ea typeface="Yu Gothic"/>
                          <a:cs typeface="Yu Gothic"/>
                        </a:rPr>
                        <a:t>1</a:t>
                      </a:r>
                    </a:p>
                  </a:txBody>
                  <a:tcPr marL="91440" marR="91440" marT="45720" marB="45720"/>
                </a:tc>
                <a:tc>
                  <a:txBody>
                    <a:bodyPr/>
                    <a:lstStyle/>
                    <a:p>
                      <a:r>
                        <a:rPr sz="1200" b="0">
                          <a:solidFill>
                            <a:srgbClr val="26373D"/>
                          </a:solidFill>
                          <a:latin typeface="Yu Gothic"/>
                          <a:ea typeface="Yu Gothic"/>
                          <a:cs typeface="Yu Gothic"/>
                        </a:rPr>
                        <a:t>43／60</a:t>
                      </a:r>
                    </a:p>
                  </a:txBody>
                  <a:tcPr marL="91440" marR="91440" marT="45720" marB="45720"/>
                </a:tc>
                <a:tc>
                  <a:txBody>
                    <a:bodyPr/>
                    <a:lstStyle/>
                    <a:p>
                      <a:r>
                        <a:rPr sz="1200" b="0">
                          <a:solidFill>
                            <a:srgbClr val="26373D"/>
                          </a:solidFill>
                          <a:latin typeface="Yu Gothic"/>
                          <a:ea typeface="Yu Gothic"/>
                          <a:cs typeface="Yu Gothic"/>
                        </a:rPr>
                        <a:t>71.7%</a:t>
                      </a:r>
                    </a:p>
                  </a:txBody>
                  <a:tcPr marL="91440" marR="91440" marT="45720" marB="45720"/>
                </a:tc>
              </a:tr>
              <a:tr h="419100">
                <a:tc>
                  <a:txBody>
                    <a:bodyPr/>
                    <a:lstStyle/>
                    <a:p>
                      <a:r>
                        <a:rPr sz="1200" b="0">
                          <a:solidFill>
                            <a:srgbClr val="26373D"/>
                          </a:solidFill>
                          <a:latin typeface="Yu Gothic"/>
                          <a:ea typeface="Yu Gothic"/>
                          <a:cs typeface="Yu Gothic"/>
                        </a:rPr>
                        <a:t>2</a:t>
                      </a:r>
                    </a:p>
                  </a:txBody>
                  <a:tcPr marL="91440" marR="91440" marT="45720" marB="45720"/>
                </a:tc>
                <a:tc>
                  <a:txBody>
                    <a:bodyPr/>
                    <a:lstStyle/>
                    <a:p>
                      <a:r>
                        <a:rPr sz="1200" b="0">
                          <a:solidFill>
                            <a:srgbClr val="26373D"/>
                          </a:solidFill>
                          <a:latin typeface="Yu Gothic"/>
                          <a:ea typeface="Yu Gothic"/>
                          <a:cs typeface="Yu Gothic"/>
                        </a:rPr>
                        <a:t>44／60</a:t>
                      </a:r>
                    </a:p>
                  </a:txBody>
                  <a:tcPr marL="91440" marR="91440" marT="45720" marB="45720"/>
                </a:tc>
                <a:tc>
                  <a:txBody>
                    <a:bodyPr/>
                    <a:lstStyle/>
                    <a:p>
                      <a:r>
                        <a:rPr sz="1200" b="0">
                          <a:solidFill>
                            <a:srgbClr val="26373D"/>
                          </a:solidFill>
                          <a:latin typeface="Yu Gothic"/>
                          <a:ea typeface="Yu Gothic"/>
                          <a:cs typeface="Yu Gothic"/>
                        </a:rPr>
                        <a:t>73.3%</a:t>
                      </a:r>
                    </a:p>
                  </a:txBody>
                  <a:tcPr marL="91440" marR="91440" marT="45720" marB="45720"/>
                </a:tc>
              </a:tr>
              <a:tr h="419100">
                <a:tc>
                  <a:txBody>
                    <a:bodyPr/>
                    <a:lstStyle/>
                    <a:p>
                      <a:r>
                        <a:rPr sz="1200" b="0">
                          <a:solidFill>
                            <a:srgbClr val="26373D"/>
                          </a:solidFill>
                          <a:latin typeface="Yu Gothic"/>
                          <a:ea typeface="Yu Gothic"/>
                          <a:cs typeface="Yu Gothic"/>
                        </a:rPr>
                        <a:t>3</a:t>
                      </a:r>
                    </a:p>
                  </a:txBody>
                  <a:tcPr marL="91440" marR="91440" marT="45720" marB="45720"/>
                </a:tc>
                <a:tc>
                  <a:txBody>
                    <a:bodyPr/>
                    <a:lstStyle/>
                    <a:p>
                      <a:r>
                        <a:rPr sz="1200" b="0">
                          <a:solidFill>
                            <a:srgbClr val="26373D"/>
                          </a:solidFill>
                          <a:latin typeface="Yu Gothic"/>
                          <a:ea typeface="Yu Gothic"/>
                          <a:cs typeface="Yu Gothic"/>
                        </a:rPr>
                        <a:t>43／60</a:t>
                      </a:r>
                    </a:p>
                  </a:txBody>
                  <a:tcPr marL="91440" marR="91440" marT="45720" marB="45720"/>
                </a:tc>
                <a:tc>
                  <a:txBody>
                    <a:bodyPr/>
                    <a:lstStyle/>
                    <a:p>
                      <a:r>
                        <a:rPr sz="1200" b="0">
                          <a:solidFill>
                            <a:srgbClr val="26373D"/>
                          </a:solidFill>
                          <a:latin typeface="Yu Gothic"/>
                          <a:ea typeface="Yu Gothic"/>
                          <a:cs typeface="Yu Gothic"/>
                        </a:rPr>
                        <a:t>71.7%</a:t>
                      </a:r>
                    </a:p>
                  </a:txBody>
                  <a:tcPr marL="91440" marR="91440" marT="45720" marB="45720"/>
                </a:tc>
              </a:tr>
            </a:tbl>
          </a:graphicData>
        </a:graphic>
      </p:graphicFrame>
      <p:sp>
        <p:nvSpPr>
          <p:cNvPr id="13" name="">
            <a:extLst xmlns:a="http://schemas.openxmlformats.org/drawingml/2006/main">
              <a:ext uri="{FF2B5EF4-FFF2-40B4-BE49-F238E27FC236}">
                <a16:creationId xmlns:a16="http://schemas.microsoft.com/office/drawing/2014/main" id="{2F846FD3-1F35-47EE-BE2C-43B20F53819A}"/>
              </a:ext>
            </a:extLst>
          </p:cNvPr>
          <p:cNvSpPr>
            <a:spLocks xmlns:a="http://schemas.openxmlformats.org/drawingml/2006/main" noGrp="1"/>
          </p:cNvSpPr>
          <p:nvPr/>
        </p:nvSpPr>
        <p:spPr>
          <a:xfrm xmlns:a="http://schemas.openxmlformats.org/drawingml/2006/main">
            <a:off x="6324600" y="3486150"/>
            <a:ext cx="476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173B4B"/>
                </a:solidFill>
                <a:latin typeface="Yu Gothic"/>
                <a:ea typeface="Yu Gothic"/>
                <a:cs typeface="Yu Gothic"/>
              </a:defRPr>
            </a:pPr>
            <a:r>
              <a:rPr sz="1500" b="1">
                <a:solidFill>
                  <a:srgbClr val="173B4B"/>
                </a:solidFill>
                <a:latin typeface="Yu Gothic"/>
                <a:ea typeface="Yu Gothic"/>
                <a:cs typeface="Yu Gothic"/>
              </a:rPr>
              <a:t>通信・更新対象の監査</a:t>
            </a:r>
          </a:p>
        </p:txBody>
      </p:sp>
      <p:sp>
        <p:nvSpPr>
          <p:cNvPr id="14" name="">
            <a:extLst xmlns:a="http://schemas.openxmlformats.org/drawingml/2006/main">
              <a:ext uri="{FF2B5EF4-FFF2-40B4-BE49-F238E27FC236}">
                <a16:creationId xmlns:a16="http://schemas.microsoft.com/office/drawing/2014/main" id="{FAC534F6-833B-4134-A6FE-9C5867B4D0DD}"/>
              </a:ext>
            </a:extLst>
          </p:cNvPr>
          <p:cNvSpPr>
            <a:spLocks xmlns:a="http://schemas.openxmlformats.org/drawingml/2006/main" noGrp="1"/>
          </p:cNvSpPr>
          <p:nvPr/>
        </p:nvSpPr>
        <p:spPr>
          <a:xfrm xmlns:a="http://schemas.openxmlformats.org/drawingml/2006/main">
            <a:off x="6324600" y="3981450"/>
            <a:ext cx="4953000" cy="1466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9562"/>
          </a:bodyPr>
          <a:lstStyle xmlns:a="http://schemas.openxmlformats.org/drawingml/2006/main"/>
          <a:p xmlns:a="http://schemas.openxmlformats.org/drawingml/2006/main">
            <a:pPr algn="l">
              <a:lnSpc>
                <a:spcPct val="116000"/>
              </a:lnSpc>
              <a:buNone/>
              <a:defRPr sz="1500" b="0">
                <a:solidFill>
                  <a:srgbClr val="26373D"/>
                </a:solidFill>
                <a:latin typeface="Yu Gothic"/>
                <a:ea typeface="Yu Gothic"/>
                <a:cs typeface="Yu Gothic"/>
              </a:defRPr>
            </a:pPr>
            <a:r>
              <a:rPr sz="1500" b="0">
                <a:solidFill>
                  <a:srgbClr val="26373D"/>
                </a:solidFill>
                <a:latin typeface="Yu Gothic"/>
                <a:ea typeface="Yu Gothic"/>
                <a:cs typeface="Yu Gothic"/>
              </a:rPr>
              <a:t>3／3ラウンド　生の動画・画像・現場内の識別番号を中央側へ保存していない</a:t>
            </a:r>
          </a:p>
          <a:p xmlns:a="http://schemas.openxmlformats.org/drawingml/2006/main">
            <a:pPr algn="l">
              <a:lnSpc>
                <a:spcPct val="116000"/>
              </a:lnSpc>
              <a:buNone/>
              <a:defRPr sz="1500" b="0">
                <a:solidFill>
                  <a:srgbClr val="26373D"/>
                </a:solidFill>
                <a:latin typeface="Yu Gothic"/>
                <a:ea typeface="Yu Gothic"/>
                <a:cs typeface="Yu Gothic"/>
              </a:defRPr>
            </a:pPr>
            <a:r>
              <a:rPr sz="1500" b="0">
                <a:solidFill>
                  <a:srgbClr val="26373D"/>
                </a:solidFill>
                <a:latin typeface="Yu Gothic"/>
                <a:ea typeface="Yu Gothic"/>
                <a:cs typeface="Yu Gothic"/>
              </a:rPr>
              <a:t>6／6送信　許可した項目だけを送信</a:t>
            </a:r>
          </a:p>
          <a:p xmlns:a="http://schemas.openxmlformats.org/drawingml/2006/main">
            <a:pPr algn="l">
              <a:lnSpc>
                <a:spcPct val="116000"/>
              </a:lnSpc>
              <a:buNone/>
              <a:defRPr sz="1500" b="0">
                <a:solidFill>
                  <a:srgbClr val="26373D"/>
                </a:solidFill>
                <a:latin typeface="Yu Gothic"/>
                <a:ea typeface="Yu Gothic"/>
                <a:cs typeface="Yu Gothic"/>
              </a:defRPr>
            </a:pPr>
            <a:r>
              <a:rPr sz="1500" b="0">
                <a:solidFill>
                  <a:srgbClr val="26373D"/>
                </a:solidFill>
                <a:latin typeface="Yu Gothic"/>
                <a:ea typeface="Yu Gothic"/>
                <a:cs typeface="Yu Gothic"/>
              </a:rPr>
              <a:t>3／3ラウンド　中央側AIの分類層と更新対象外部分は不変</a:t>
            </a:r>
          </a:p>
        </p:txBody>
      </p:sp>
      <p:sp>
        <p:nvSpPr>
          <p:cNvPr id="15" name="">
            <a:extLst xmlns:a="http://schemas.openxmlformats.org/drawingml/2006/main">
              <a:ext uri="{FF2B5EF4-FFF2-40B4-BE49-F238E27FC236}">
                <a16:creationId xmlns:a16="http://schemas.microsoft.com/office/drawing/2014/main" id="{99E0AB00-6AE9-47F8-B73D-3B1EAF5EF941}"/>
              </a:ext>
            </a:extLst>
          </p:cNvPr>
          <p:cNvSpPr>
            <a:spLocks xmlns:a="http://schemas.openxmlformats.org/drawingml/2006/main" noGrp="1"/>
          </p:cNvSpPr>
          <p:nvPr/>
        </p:nvSpPr>
        <p:spPr>
          <a:xfrm xmlns:a="http://schemas.openxmlformats.org/drawingml/2006/main">
            <a:off x="6267450" y="5619750"/>
            <a:ext cx="5086350" cy="514350"/>
          </a:xfrm>
          <a:prstGeom xmlns:a="http://schemas.openxmlformats.org/drawingml/2006/main" prst="rect">
            <a:avLst/>
          </a:prstGeom>
          <a:solidFill xmlns:a="http://schemas.openxmlformats.org/drawingml/2006/main">
            <a:srgbClr val="FAE9D8"/>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70C7B1C7-7F93-4AC4-AE72-559D38AF9C13}"/>
              </a:ext>
            </a:extLst>
          </p:cNvPr>
          <p:cNvSpPr>
            <a:spLocks xmlns:a="http://schemas.openxmlformats.org/drawingml/2006/main" noGrp="1"/>
          </p:cNvSpPr>
          <p:nvPr/>
        </p:nvSpPr>
        <p:spPr>
          <a:xfrm xmlns:a="http://schemas.openxmlformats.org/drawingml/2006/main">
            <a:off x="6438900" y="5743575"/>
            <a:ext cx="476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5875"/>
          </a:bodyPr>
          <a:lstStyle xmlns:a="http://schemas.openxmlformats.org/drawingml/2006/main"/>
          <a:p xmlns:a="http://schemas.openxmlformats.org/drawingml/2006/main">
            <a:pPr algn="ctr">
              <a:defRPr sz="1350" b="1">
                <a:solidFill>
                  <a:srgbClr val="B94A3A"/>
                </a:solidFill>
                <a:latin typeface="Yu Gothic"/>
                <a:ea typeface="Yu Gothic"/>
                <a:cs typeface="Yu Gothic"/>
              </a:defRPr>
            </a:pPr>
            <a:r>
              <a:rPr sz="1350" b="1">
                <a:solidFill>
                  <a:srgbClr val="B94A3A"/>
                </a:solidFill>
                <a:latin typeface="Yu Gothic"/>
                <a:ea typeface="Yu Gothic"/>
                <a:cs typeface="Yu Gothic"/>
              </a:rPr>
              <a:t>通信監査は実装確認であり、形式的なプライバシー保証ではない</a:t>
            </a:r>
          </a:p>
        </p:txBody>
      </p:sp>
    </p:spTree>
    <p:extLst>
      <p:ext uri="{BB962C8B-B14F-4D97-AF65-F5344CB8AC3E}">
        <p14:creationId xmlns:p14="http://schemas.microsoft.com/office/powerpoint/2010/main" val="113669390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2026-09-18T00:27:46.0220000Z</dcterms:created>
  <dcterms:modified xsi:type="dcterms:W3CDTF">2026-09-18T00:27:46.0220000Z</dcterms:modified>
</coreProperties>
</file>