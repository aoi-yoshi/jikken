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c7baf31c344c7f" /><Relationship Type="http://schemas.openxmlformats.org/officeDocument/2006/relationships/extended-properties" Target="/docProps/app.xml" Id="R170414100df84104" /><Relationship Type="http://schemas.openxmlformats.org/officeDocument/2006/relationships/officeDocument" Target="/ppt/presentation.xml" Id="R1167b5f03a7646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f9e801394742d6"/>
  </p:sldMasterIdLst>
  <p:notesMasterIdLst>
    <p:notesMasterId xmlns:r="http://schemas.openxmlformats.org/officeDocument/2006/relationships" r:id="R2389b022aece4448"/>
  </p:notesMasterIdLst>
  <p:sldIdLst>
    <p:sldId xmlns:r="http://schemas.openxmlformats.org/officeDocument/2006/relationships" id="256" r:id="R4ebe67b67f454b5e"/>
    <p:sldId xmlns:r="http://schemas.openxmlformats.org/officeDocument/2006/relationships" id="257" r:id="Re2056cdfbf9e4260"/>
    <p:sldId xmlns:r="http://schemas.openxmlformats.org/officeDocument/2006/relationships" id="258" r:id="R016239f2c54446e4"/>
    <p:sldId xmlns:r="http://schemas.openxmlformats.org/officeDocument/2006/relationships" id="259" r:id="Rfeb8ad4c01e84377"/>
    <p:sldId xmlns:r="http://schemas.openxmlformats.org/officeDocument/2006/relationships" id="260" r:id="R20ef93502f70483c"/>
    <p:sldId xmlns:r="http://schemas.openxmlformats.org/officeDocument/2006/relationships" id="261" r:id="R732e1aeb52054c87"/>
    <p:sldId xmlns:r="http://schemas.openxmlformats.org/officeDocument/2006/relationships" id="262" r:id="R9592c366acf5425a"/>
    <p:sldId xmlns:r="http://schemas.openxmlformats.org/officeDocument/2006/relationships" id="263" r:id="Rf77d87405c294a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淡色スタイル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淡色スタイル 1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25E5076-3810-47DD-B79F-674D7AD40C01}" styleName="濃色スタイル 1 - アクセント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2844b5f3814732" /><Relationship Type="http://schemas.openxmlformats.org/officeDocument/2006/relationships/slideMaster" Target="/ppt/slideMasters/slideMaster1.xml" Id="Rc9f9e801394742d6" /><Relationship Type="http://schemas.openxmlformats.org/officeDocument/2006/relationships/notesMaster" Target="/ppt/notesMasters/notesMaster1.xml" Id="R2389b022aece4448" /><Relationship Type="http://schemas.openxmlformats.org/officeDocument/2006/relationships/presProps" Target="/ppt/presProps.xml" Id="R6d866e0388bb4181" /><Relationship Type="http://schemas.openxmlformats.org/officeDocument/2006/relationships/viewProps" Target="/ppt/viewProps.xml" Id="R36f9756c1b1448c1" /><Relationship Type="http://schemas.openxmlformats.org/officeDocument/2006/relationships/tableStyles" Target="/ppt/tableStyles.xml" Id="R09c423c785bb4ffc" /><Relationship Type="http://schemas.openxmlformats.org/officeDocument/2006/relationships/slide" Target="/ppt/slides/slide1.xml" Id="R4ebe67b67f454b5e" /><Relationship Type="http://schemas.openxmlformats.org/officeDocument/2006/relationships/slide" Target="/ppt/slides/slide2.xml" Id="Re2056cdfbf9e4260" /><Relationship Type="http://schemas.openxmlformats.org/officeDocument/2006/relationships/slide" Target="/ppt/slides/slide3.xml" Id="R016239f2c54446e4" /><Relationship Type="http://schemas.openxmlformats.org/officeDocument/2006/relationships/slide" Target="/ppt/slides/slide4.xml" Id="Rfeb8ad4c01e84377" /><Relationship Type="http://schemas.openxmlformats.org/officeDocument/2006/relationships/slide" Target="/ppt/slides/slide5.xml" Id="R20ef93502f70483c" /><Relationship Type="http://schemas.openxmlformats.org/officeDocument/2006/relationships/slide" Target="/ppt/slides/slide6.xml" Id="R732e1aeb52054c87" /><Relationship Type="http://schemas.openxmlformats.org/officeDocument/2006/relationships/slide" Target="/ppt/slides/slide7.xml" Id="R9592c366acf5425a" /><Relationship Type="http://schemas.openxmlformats.org/officeDocument/2006/relationships/slide" Target="/ppt/slides/slide8.xml" Id="Rf77d87405c294a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dfa935e96943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2_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Calibri Light"/>
        <a:ea typeface="Calibri Light"/>
        <a:cs typeface=""/>
      </a:majorFont>
      <a:minorFont>
        <a:latin typeface="Calibri"/>
        <a:ea typeface="Calibr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20436bbf604f7a" /><Relationship Type="http://schemas.openxmlformats.org/officeDocument/2006/relationships/notesMaster" Target="/ppt/notesMasters/notesMaster1.xml" Id="R14f20ffe9cfb45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182689ff1d4dff" /><Relationship Type="http://schemas.openxmlformats.org/officeDocument/2006/relationships/notesMaster" Target="/ppt/notesMasters/notesMaster1.xml" Id="R1189e925065b44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704ec1d9b54759" /><Relationship Type="http://schemas.openxmlformats.org/officeDocument/2006/relationships/notesMaster" Target="/ppt/notesMasters/notesMaster1.xml" Id="R67779d5000b247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0e0933aa534eb7" /><Relationship Type="http://schemas.openxmlformats.org/officeDocument/2006/relationships/notesMaster" Target="/ppt/notesMasters/notesMaster1.xml" Id="Re19bb6d2b4f44f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dfc505c4be4a43" /><Relationship Type="http://schemas.openxmlformats.org/officeDocument/2006/relationships/notesMaster" Target="/ppt/notesMasters/notesMaster1.xml" Id="R8a1d93f2d03c48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3e717983934bc2" /><Relationship Type="http://schemas.openxmlformats.org/officeDocument/2006/relationships/notesMaster" Target="/ppt/notesMasters/notesMaster1.xml" Id="R5637c555e36941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392700043d4f2e" /><Relationship Type="http://schemas.openxmlformats.org/officeDocument/2006/relationships/notesMaster" Target="/ppt/notesMasters/notesMaster1.xml" Id="Re14ff29d127941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14a3ce5af04f11" /><Relationship Type="http://schemas.openxmlformats.org/officeDocument/2006/relationships/notesMaster" Target="/ppt/notesMasters/notesMaster1.xml" Id="R8bc3e4b93d674a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bd82ed3e2b4c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59b7da418740ca" /><Relationship Type="http://schemas.openxmlformats.org/officeDocument/2006/relationships/image" Target="/ppt/media/image.png" Id="R3f1af1f76bd74c2c" /><Relationship Type="http://schemas.openxmlformats.org/officeDocument/2006/relationships/image" Target="/ppt/media/image.svg" Id="R1c1697c532b946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4bd258dce4fc4" /></Relationships>
</file>

<file path=ppt/slideLayouts/slideLayout1.xml><?xml version="1.0" encoding="utf-8"?>
<p:sldLayout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A283CC6F-D7E1-4F9D-AA92-D0FB0D52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6506936"/>
            <a:ext cx="12192000" cy="351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864"/>
          </a:solidFill>
          <a:ln xmlns:a="http://schemas.openxmlformats.org/drawingml/2006/main">
            <a:solidFill>
              <a:srgbClr val="203864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40408BEE-B885-4DB2-8925-6FA1EA38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84" y="3553218"/>
            <a:ext cx="10951029" cy="1452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864"/>
          </a:solidFill>
          <a:ln xmlns:a="http://schemas.openxmlformats.org/drawingml/2006/main">
            <a:solidFill>
              <a:srgbClr val="203864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21F9C6-0C60-4A16-A620-FF5B59F497F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64029" y="2355104"/>
            <a:ext cx="10863943" cy="735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000"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マスター タイトル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8E5E8DC-0C8B-46D7-BC6B-ACBE6B841A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340929" y="4531180"/>
            <a:ext cx="5606143" cy="99779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800" baseline="0">
                <a:solidFill>
                  <a:srgbClr val="20386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マスター サブタイトルの書式設定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四角形: 角を丸くする 3">
            <a:extLst xmlns:a="http://schemas.openxmlformats.org/drawingml/2006/main">
              <a:ext uri="{FF2B5EF4-FFF2-40B4-BE49-F238E27FC236}">
                <a16:creationId xmlns:a16="http://schemas.microsoft.com/office/drawing/2014/main" id="{899430FE-7148-562D-2697-FE50FB06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333187" cy="65731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03864"/>
          </a:solidFill>
          <a:ln xmlns:a="http://schemas.openxmlformats.org/drawingml/2006/main">
            <a:solidFill>
              <a:srgbClr val="20386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9B3DA4-3AA3-44E8-B918-958E2DE033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8108"/>
            <a:ext cx="10515600" cy="65731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600"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5" name="スライド番号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00CAEDA2-3D33-474F-9D24-7EF1612F844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602533" y="73989"/>
            <a:ext cx="4158343" cy="3540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80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C088C981-6885-4100-82A1-DE7074EC4480}" type="slidenum">
              <a:t>‹#›</a:t>
            </a:fld>
          </a:p>
        </p:txBody>
      </p:sp>
      <p:pic>
        <p:nvPicPr>
          <p:cNvPr id="11" name="グラフィックス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af1f76bd74c2c">
            <a:extLst>
              <a:ext uri="{96DAC541-7B7A-43D3-8B79-37D633B846F1}">
                <asvg:svgBlip xmlns:asvg="http://schemas.microsoft.com/office/drawing/2016/SVG/main" r:embed="R1c1697c532b9461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417" y="125479"/>
            <a:ext cx="581890" cy="550303"/>
          </a:xfrm>
          <a:prstGeom xmlns:a="http://schemas.openxmlformats.org/drawingml/2006/main" prst="rect">
            <a:avLst/>
          </a:prstGeom>
        </p:spPr>
      </p:pic>
      <p:sp>
        <p:nvSpPr>
          <p:cNvPr id="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D491BE-1262-0E08-893E-2C20EC2083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-1" y="811748"/>
            <a:ext cx="12191999" cy="6046253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1pPr>
            <a:lvl2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2pPr>
            <a:lvl3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3pPr>
            <a:lvl4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4pPr>
            <a:lvl5pPr>
              <a:lnSpc>
                <a:spcPct val="130000"/>
              </a:lnSpc>
              <a:buNone/>
              <a:defRPr baseline="0">
                <a:solidFill>
                  <a:srgbClr val="203864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0282CDBC-F22B-88AF-C5DA-7570CECC629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8C981-6885-4100-82A1-DE7074EC4480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c0be6e414047d1" /><Relationship Type="http://schemas.openxmlformats.org/officeDocument/2006/relationships/slideLayout" Target="/ppt/slideLayouts/slideLayout1.xml" Id="R91952118ff9b4b02" /><Relationship Type="http://schemas.openxmlformats.org/officeDocument/2006/relationships/slideLayout" Target="/ppt/slideLayouts/slideLayout2.xml" Id="R91d3dd50051d4811" /><Relationship Type="http://schemas.openxmlformats.org/officeDocument/2006/relationships/slideLayout" Target="/ppt/slideLayouts/slideLayout3.xml" Id="R596eabc07fd2463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6E5382-2201-48F9-A582-114E214E19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0" y="1344168"/>
            <a:ext cx="12192000" cy="55138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D6AAC26-C826-4D59-8269-88D41540F5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90048"/>
            <a:ext cx="10515600" cy="9346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4" name="スライド番号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B17C167-B3DA-413C-B5A5-E0B86420565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195458" y="190048"/>
            <a:ext cx="4158343" cy="3540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088C981-6885-4100-82A1-DE7074EC4480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952118ff9b4b02"/>
    <p:sldLayoutId xmlns:r="http://schemas.openxmlformats.org/officeDocument/2006/relationships" id="2147483650" r:id="R91d3dd50051d4811"/>
    <p:sldLayoutId xmlns:r="http://schemas.openxmlformats.org/officeDocument/2006/relationships" id="2147483651" r:id="R596eabc07fd24631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000" kern="1200" baseline="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 defTabSz="914400">
        <a:lnSpc>
          <a:spcPct val="100000"/>
        </a:lnSpc>
        <a:spcBef>
          <a:spcPts val="1000"/>
        </a:spcBef>
        <a:buFont typeface="Aptos Slab Black"/>
        <a:buChar char="┃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971550" indent="-514350" algn="l" defTabSz="914400">
        <a:lnSpc>
          <a:spcPct val="100000"/>
        </a:lnSpc>
        <a:spcBef>
          <a:spcPts val="500"/>
        </a:spcBef>
        <a:buFont typeface="Wingdings"/>
        <a:buChar char="p"/>
        <a:defRPr sz="2800" kern="1200">
          <a:solidFill>
            <a:schemeClr val="tx1"/>
          </a:solidFill>
          <a:latin typeface="ＭＳ Ｐゴシック"/>
          <a:ea typeface="ＭＳ Ｐゴシック"/>
          <a:cs typeface="ＭＳ Ｐゴシック"/>
        </a:defRPr>
      </a:lvl2pPr>
      <a:lvl3pPr xmlns:a="http://schemas.openxmlformats.org/drawingml/2006/main" marL="1143000" indent="-228600" algn="l" defTabSz="914400">
        <a:lnSpc>
          <a:spcPct val="100000"/>
        </a:lnSpc>
        <a:spcBef>
          <a:spcPts val="500"/>
        </a:spcBef>
        <a:buFont typeface="Wingdings"/>
        <a:buChar char="ü"/>
        <a:defRPr sz="2400" kern="1200">
          <a:solidFill>
            <a:schemeClr val="tx1"/>
          </a:solidFill>
          <a:latin typeface="ＭＳ Ｐゴシック"/>
          <a:ea typeface="ＭＳ Ｐゴシック"/>
          <a:cs typeface="ＭＳ Ｐゴシック"/>
        </a:defRPr>
      </a:lvl3pPr>
      <a:lvl4pPr xmlns:a="http://schemas.openxmlformats.org/drawingml/2006/main" marL="16002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ＭＳ Ｐゴシック"/>
          <a:ea typeface="ＭＳ Ｐゴシック"/>
          <a:cs typeface="ＭＳ Ｐゴシック"/>
        </a:defRPr>
      </a:lvl4pPr>
      <a:lvl5pPr xmlns:a="http://schemas.openxmlformats.org/drawingml/2006/main" marL="20574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ＭＳ Ｐゴシック"/>
          <a:ea typeface="ＭＳ Ｐゴシック"/>
          <a:cs typeface="ＭＳ Ｐゴシック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2_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Calibri Light"/>
        <a:ea typeface="Calibri Light"/>
        <a:cs typeface=""/>
      </a:majorFont>
      <a:minorFont>
        <a:latin typeface="Calibri"/>
        <a:ea typeface="Calibr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377cccee74577" /><Relationship Type="http://schemas.openxmlformats.org/officeDocument/2006/relationships/notesSlide" Target="/ppt/notesSlides/notesSlide1.xml" Id="R541863aa002d41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348e21099a4b43" /><Relationship Type="http://schemas.openxmlformats.org/officeDocument/2006/relationships/notesSlide" Target="/ppt/notesSlides/notesSlide2.xml" Id="R6904e900935f46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cdbf72b77a4d14" /><Relationship Type="http://schemas.openxmlformats.org/officeDocument/2006/relationships/notesSlide" Target="/ppt/notesSlides/notesSlide3.xml" Id="R7c2cae73a90c4c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3ed328f93544b4" /><Relationship Type="http://schemas.openxmlformats.org/officeDocument/2006/relationships/notesSlide" Target="/ppt/notesSlides/notesSlide4.xml" Id="R6f7085be803e4e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cb465a32f241ff" /><Relationship Type="http://schemas.openxmlformats.org/officeDocument/2006/relationships/notesSlide" Target="/ppt/notesSlides/notesSlide5.xml" Id="R65ac1f7c3ef245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c774b047cd4a2a" /><Relationship Type="http://schemas.openxmlformats.org/officeDocument/2006/relationships/notesSlide" Target="/ppt/notesSlides/notesSlide6.xml" Id="R45a1212756cc4b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8d557f988c4a7e" /><Relationship Type="http://schemas.openxmlformats.org/officeDocument/2006/relationships/notesSlide" Target="/ppt/notesSlides/notesSlide7.xml" Id="R7671d3e9741d4a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24a13dcdb34949" /><Relationship Type="http://schemas.openxmlformats.org/officeDocument/2006/relationships/notesSlide" Target="/ppt/notesSlides/notesSlide8.xml" Id="R15eb9e28fd59473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ECBD7472-B432-4791-BBE3-376502F0818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65950" y="1963066"/>
            <a:ext cx="11650199" cy="146593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600"/>
              <a:t>共通処理フローとLpredによる基盤LoRA更新フロー</a:t>
            </a:r>
            <a:r>
              <a:rPr sz="3600"/>
              <a:t>の</a:t>
            </a:r>
            <a:r>
              <a:rPr sz="3600"/>
              <a:t>整理</a:t>
            </a:r>
            <a:r>
              <a:rPr sz="2000" b="1"/>
              <a:t>surrogate適応情報を用いた基盤モデル更新</a:t>
            </a:r>
          </a:p>
        </p:txBody>
      </p:sp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18E27A0A-6C53-4449-93EF-6A29914325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078656" y="5150533"/>
            <a:ext cx="8681629" cy="14659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名古屋大学</a:t>
            </a:r>
          </a:p>
          <a:p xmlns:a="http://schemas.openxmlformats.org/drawingml/2006/main">
            <a:pPr algn="r"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情報学研究科</a:t>
            </a:r>
          </a:p>
          <a:p xmlns:a="http://schemas.openxmlformats.org/drawingml/2006/main">
            <a:pPr algn="r"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知能システム学専攻　</a:t>
            </a: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</a:rPr>
              <a:t>年</a:t>
            </a:r>
          </a:p>
        </p:txBody>
      </p:sp>
      <p:sp>
        <p:nvSpPr>
          <p:cNvPr id="4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1612D3FA-1A10-5639-0AA3-B6A8434E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4304" y="3923283"/>
            <a:ext cx="8273488" cy="1465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 fontScale="97500"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>
                <a:solidFill>
                  <a:schemeClr val="accent1">
                    <a:lumMod val="50000"/>
                  </a:schemeClr>
                </a:solidFill>
                <a:latin typeface="+mn-lt"/>
                <a:ea typeface="+mn-lt"/>
                <a:cs typeface="+mn-lt"/>
              </a:rPr>
              <a:t>吉村　有生</a:t>
            </a:r>
          </a:p>
        </p:txBody>
      </p:sp>
      <p:sp>
        <p:nvSpPr>
          <p:cNvPr id="6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CE0640E-73E9-D3BD-0989-8E8E4C3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269" y="3273443"/>
            <a:ext cx="8477558" cy="1465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 fontScale="97500"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800">
                <a:solidFill>
                  <a:schemeClr val="accent1">
                    <a:lumMod val="50000"/>
                  </a:schemeClr>
                </a:solidFill>
                <a:latin typeface="+mn-lt"/>
                <a:ea typeface="+mn-lt"/>
                <a:cs typeface="+mn-lt"/>
              </a:rPr>
              <a:t>7</a:t>
            </a:r>
            <a:r>
              <a:rPr sz="2800">
                <a:solidFill>
                  <a:schemeClr val="accent1">
                    <a:lumMod val="50000"/>
                  </a:schemeClr>
                </a:solidFill>
                <a:latin typeface="+mn-lt"/>
                <a:ea typeface="+mn-lt"/>
                <a:cs typeface="+mn-lt"/>
              </a:rPr>
              <a:t>月</a:t>
            </a:r>
            <a:r>
              <a:rPr sz="2800">
                <a:solidFill>
                  <a:schemeClr val="accent1">
                    <a:lumMod val="50000"/>
                  </a:schemeClr>
                </a:solidFill>
                <a:latin typeface="+mn-lt"/>
                <a:ea typeface="+mn-lt"/>
                <a:cs typeface="+mn-lt"/>
              </a:rPr>
              <a:t>24</a:t>
            </a:r>
            <a:r>
              <a:rPr sz="2800">
                <a:solidFill>
                  <a:schemeClr val="accent1">
                    <a:lumMod val="50000"/>
                  </a:schemeClr>
                </a:solidFill>
                <a:latin typeface="+mn-lt"/>
                <a:ea typeface="+mn-lt"/>
                <a:cs typeface="+mn-lt"/>
              </a:rPr>
              <a:t>日報告会</a:t>
            </a:r>
          </a:p>
        </p:txBody>
      </p:sp>
    </p:spTree>
    <p:extLst>
      <p:ext uri="{BB962C8B-B14F-4D97-AF65-F5344CB8AC3E}">
        <p14:creationId xmlns:p14="http://schemas.microsoft.com/office/powerpoint/2010/main" val="3167150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47551F23-ABA0-B24B-4CE7-054E68D21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今後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6609147-DE4D-CE0B-CF23-2CEEE4C0B99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8C981-6885-4100-82A1-DE7074EC4480}" type="slidenum">
              <a:t>9</a:t>
            </a:fld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68129D8-66E6-FC24-B75D-2C3717A823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未確定の処理，複数の方法が考えられる処理</a:t>
            </a:r>
          </a:p>
          <a:p xmlns:a="http://schemas.openxmlformats.org/drawingml/2006/main">
            <a:pPr lvl="1">
              <a:buNone/>
            </a:pPr>
            <a:r>
              <a:t>Lpred・Lgrad・Lpost</a:t>
            </a:r>
            <a:r>
              <a:t>、集約方法</a:t>
            </a:r>
          </a:p>
          <a:p xmlns:a="http://schemas.openxmlformats.org/drawingml/2006/main">
            <a:pPr lvl="1">
              <a:buNone/>
            </a:pPr>
            <a:r>
              <a:t>蒸留部分</a:t>
            </a:r>
          </a:p>
          <a:p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30168290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1DEF528-1C04-6D18-163B-47471B2733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集約方法の候補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23FFE034-985F-61AE-CD81-815158C54D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8C981-6885-4100-82A1-DE7074EC4480}" type="slidenum">
              <a:t>10</a:t>
            </a:fld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30A0714-F89C-659E-04BE-B68D85007A0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9" name="表 5"/>
          <p:cNvGraphicFramePr/>
          <p:nvPr/>
        </p:nvGraphicFramePr>
        <p:xfrm>
          <a:off xmlns:a="http://schemas.openxmlformats.org/drawingml/2006/main" x="2514317" y="2580671"/>
          <a:ext xmlns:a="http://schemas.openxmlformats.org/drawingml/2006/main" cx="7163359" cy="386505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78611"/>
                <a:gridCol w="1803068"/>
                <a:gridCol w="1790840"/>
                <a:gridCol w="1790840"/>
              </a:tblGrid>
              <a:tr h="352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方法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重み (</a:t>
                      </a:r>
                      <a14:m xmlns:a14="http://schemas.microsoft.com/office/drawing/2010/main">
                        <m:oMathPara xmlns:m="http://schemas.openxmlformats.org/officeDocument/2006/math">
                          <m:oMath>
                            <m:sSub>
                              <m:e>
                                <m:r>
                                  <a:rPr xmlns:a="http://schemas.openxmlformats.org/drawingml/2006/main" lang="en-US" sz="1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xmlns:a="http://schemas.openxmlformats.org/drawingml/2006/main" lang="en-US" sz="1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𝑘</m:t>
                                </m:r>
                              </m:sub>
                            </m:sSub>
                          </m:oMath>
                        </m:oMathPara>
                      </a14:m>
                      <a:r>
                        <a:rPr sz="1800"/>
                        <a:t>)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妥当性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課題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一様平均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14:m xmlns:a14="http://schemas.microsoft.com/office/drawing/2010/main"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>
                            <m:r>
                              <a:rPr xmlns:a="http://schemas.openxmlformats.org/drawingml/2006/main" lang="en-US" sz="1800" b="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1/</m:t>
                            </m:r>
                            <m:r>
                              <a:rPr xmlns:a="http://schemas.openxmlformats.org/drawingml/2006/main" lang="en-US" sz="1800" b="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𝐾</m:t>
                            </m:r>
                          </m:oMath>
                        </m:oMathPara>
                      </a14:m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全端末を対等に扱える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データ量・品質を無視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サンプル数重み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14:m xmlns:a14="http://schemas.microsoft.com/office/drawing/2010/main"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>
                            <m:f>
                              <m:num>
                                <m:sSub>
                                  <m:e>
                                    <m:r>
                                      <a:rPr xmlns:a="http://schemas.openxmlformats.org/drawingml/2006/main" lang="en-US" sz="18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xmlns:a="http://schemas.openxmlformats.org/drawingml/2006/main" lang="en-US" sz="18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nary>
                                  <m:naryPr>
                                    <m:chr m:val="∑"/>
                                    <m:subHide m:val="off"/>
                                    <m:supHide m:val="off"/>
                                  </m:naryPr>
                                  <m:sub>
                                    <m:r>
                                      <a:rPr xmlns:a="http://schemas.openxmlformats.org/drawingml/2006/main" lang="en-US" sz="1800" b="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𝑗</m:t>
                                    </m:r>
                                    <m:r>
                                      <a:rPr xmlns:a="http://schemas.openxmlformats.org/drawingml/2006/main" lang="en-US" sz="1800" b="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xmlns:a="http://schemas.openxmlformats.org/drawingml/2006/main" lang="en-US" sz="1800" b="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𝐾</m:t>
                                    </m:r>
                                  </m:sup>
                                  <m:e>
                                    <m:sSub>
                                      <m:e>
                                        <m:r>
                                          <a:rPr xmlns:a="http://schemas.openxmlformats.org/drawingml/2006/main" lang="en-US" sz="18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xmlns:a="http://schemas.openxmlformats.org/drawingml/2006/main" lang="en-US" sz="18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xmlns:a="http://schemas.openxmlformats.org/drawingml/2006/main" lang="en-US" sz="1800" i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 </m:t>
                                </m:r>
                              </m:den>
                            </m:f>
                          </m:oMath>
                        </m:oMathPara>
                      </a14:m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データ寄与量を反映できる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大規模端末が支配しやすい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クラス別件数重み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クラスごとの件数に基づく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label skewへ対応できる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クラス統計の送信が必要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信頼度重み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entropyなどに基づく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不確実な端末の影響を下げられる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過信した誤予測に弱い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ロバスト集約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median、trimmed mean等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外れ値・攻撃に強くできる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少数ドメインを除外する危険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9461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47551F23-ABA0-B24B-4CE7-054E68D21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今後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6609147-DE4D-CE0B-CF23-2CEEE4C0B99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8C981-6885-4100-82A1-DE7074EC4480}" type="slidenum">
              <a:t>9</a:t>
            </a:fld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68129D8-66E6-FC24-B75D-2C3717A823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未確定の処理，複数の方法が考えられる処理</a:t>
            </a:r>
          </a:p>
          <a:p xmlns:a="http://schemas.openxmlformats.org/drawingml/2006/main">
            <a:pPr lvl="1">
              <a:buNone/>
            </a:pPr>
            <a:r>
              <a:t>Lpred・Lgrad・Lpost</a:t>
            </a:r>
            <a:r>
              <a:t>、集約方法</a:t>
            </a:r>
          </a:p>
          <a:p xmlns:a="http://schemas.openxmlformats.org/drawingml/2006/main">
            <a:pPr lvl="1">
              <a:buNone/>
            </a:pPr>
            <a:r>
              <a:t>蒸留部分</a:t>
            </a:r>
          </a:p>
          <a:p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30168290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CAF6143-84B6-D69B-DFA7-6FE3337AC6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Lpred・Lgrad・Lpost</a:t>
            </a:r>
            <a:r>
              <a:t>によって変更される場所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DF1FCFE9-FF3E-0027-AB1A-144619D6CA0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8C981-6885-4100-82A1-DE7074EC4480}" type="slidenum">
              <a:t>8</a:t>
            </a:fld>
          </a:p>
        </p:txBody>
      </p:sp>
      <p:graphicFrame>
        <p:nvGraphicFramePr>
          <p:cNvPr id="7" name="コンテンツ プレースホルダー 4"/>
          <p:cNvGraphicFramePr/>
          <p:nvPr/>
        </p:nvGraphicFramePr>
        <p:xfrm>
          <a:off xmlns:a="http://schemas.openxmlformats.org/drawingml/2006/main" x="721078" y="1233305"/>
          <a:ext xmlns:a="http://schemas.openxmlformats.org/drawingml/2006/main" cx="10749844" cy="49515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87461"/>
                <a:gridCol w="2687461"/>
                <a:gridCol w="2687461"/>
                <a:gridCol w="2687461"/>
              </a:tblGrid>
              <a:tr h="322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項目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Lpred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Lgrad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Lpost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端末から得る情報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整合用データに対するlogits・出力分布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クライアントLoRAの勾配・更新差分・更新方向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1ステップ適応後のlogits・更新後挙動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806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情報を出すモデル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局所適応後surrogate＋クライアントLoRA＋分類ヘッド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局所学習中のクライアントLoRA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仮想適応後のsurrogate＋クライアントLoRA＋分類ヘッド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22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サーバ側の集約対象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サンプルごとの確率分布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勾配・更新方向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適応後の出力分布・挙動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22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teacher／参照情報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集約teacher分布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集約更新方向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集約適応後挙動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基盤側で計算するもの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同じ整合入力に対する現在の予測分布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基盤LoRAに対する勾配・更新方向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基盤LoRAを仮想適応した後の出力・挙動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22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損失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KL、JS、logits MSEなど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cosine distance、L2距離など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KL、L2距離など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損失の目的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基盤の予測を端末群の予測へ近づける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基盤LoRAの学習方向を端末群へ近づける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基盤の適応後挙動を端末群へ近づける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主な成立条件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共通クラス空間と対応する整合入力が必要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3Bと7Bの勾配空間を対応付ける必要がある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仮想適応用データと更新手順を揃える必要がある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主な課題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teacherの校正、整合データ代表性、集約方法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異種モデル間の次元・層・尺度の違い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計算量、二階微分、更新ステップ数</a:t>
                      </a:r>
                    </a:p>
                  </a:txBody>
                  <a:tcPr marL="80624" marR="80624" marT="40312" marB="40312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97734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1DEF528-1C04-6D18-163B-47471B2733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集約方法の候補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23FFE034-985F-61AE-CD81-815158C54D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8C981-6885-4100-82A1-DE7074EC4480}" type="slidenum">
              <a:t>10</a:t>
            </a:fld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30A0714-F89C-659E-04BE-B68D85007A0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9" name="表 5"/>
          <p:cNvGraphicFramePr/>
          <p:nvPr/>
        </p:nvGraphicFramePr>
        <p:xfrm>
          <a:off xmlns:a="http://schemas.openxmlformats.org/drawingml/2006/main" x="2514317" y="2580671"/>
          <a:ext xmlns:a="http://schemas.openxmlformats.org/drawingml/2006/main" cx="7163359" cy="386505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78611"/>
                <a:gridCol w="1803068"/>
                <a:gridCol w="1790840"/>
                <a:gridCol w="1790840"/>
              </a:tblGrid>
              <a:tr h="352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方法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重み (</a:t>
                      </a:r>
                      <a14:m xmlns:a14="http://schemas.microsoft.com/office/drawing/2010/main">
                        <m:oMathPara xmlns:m="http://schemas.openxmlformats.org/officeDocument/2006/math">
                          <m:oMath>
                            <m:sSub>
                              <m:e>
                                <m:r>
                                  <a:rPr xmlns:a="http://schemas.openxmlformats.org/drawingml/2006/main" lang="en-US" sz="1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xmlns:a="http://schemas.openxmlformats.org/drawingml/2006/main" lang="en-US" sz="1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𝑘</m:t>
                                </m:r>
                              </m:sub>
                            </m:sSub>
                          </m:oMath>
                        </m:oMathPara>
                      </a14:m>
                      <a:r>
                        <a:rPr sz="1800"/>
                        <a:t>)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妥当性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課題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一様平均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14:m xmlns:a14="http://schemas.microsoft.com/office/drawing/2010/main"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>
                            <m:r>
                              <a:rPr xmlns:a="http://schemas.openxmlformats.org/drawingml/2006/main" lang="en-US" sz="1800" b="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1/</m:t>
                            </m:r>
                            <m:r>
                              <a:rPr xmlns:a="http://schemas.openxmlformats.org/drawingml/2006/main" lang="en-US" sz="1800" b="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𝐾</m:t>
                            </m:r>
                          </m:oMath>
                        </m:oMathPara>
                      </a14:m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全端末を対等に扱える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データ量・品質を無視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サンプル数重み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14:m xmlns:a14="http://schemas.microsoft.com/office/drawing/2010/main"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>
                            <m:f>
                              <m:num>
                                <m:sSub>
                                  <m:e>
                                    <m:r>
                                      <a:rPr xmlns:a="http://schemas.openxmlformats.org/drawingml/2006/main" lang="en-US" sz="18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xmlns:a="http://schemas.openxmlformats.org/drawingml/2006/main" lang="en-US" sz="18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nary>
                                  <m:naryPr>
                                    <m:chr m:val="∑"/>
                                    <m:subHide m:val="off"/>
                                    <m:supHide m:val="off"/>
                                  </m:naryPr>
                                  <m:sub>
                                    <m:r>
                                      <a:rPr xmlns:a="http://schemas.openxmlformats.org/drawingml/2006/main" lang="en-US" sz="1800" b="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𝑗</m:t>
                                    </m:r>
                                    <m:r>
                                      <a:rPr xmlns:a="http://schemas.openxmlformats.org/drawingml/2006/main" lang="en-US" sz="1800" b="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xmlns:a="http://schemas.openxmlformats.org/drawingml/2006/main" lang="en-US" sz="1800" b="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𝐾</m:t>
                                    </m:r>
                                  </m:sup>
                                  <m:e>
                                    <m:sSub>
                                      <m:e>
                                        <m:r>
                                          <a:rPr xmlns:a="http://schemas.openxmlformats.org/drawingml/2006/main" lang="en-US" sz="18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xmlns:a="http://schemas.openxmlformats.org/drawingml/2006/main" lang="en-US" sz="18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xmlns:a="http://schemas.openxmlformats.org/drawingml/2006/main" lang="en-US" sz="1800" i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 </m:t>
                                </m:r>
                              </m:den>
                            </m:f>
                          </m:oMath>
                        </m:oMathPara>
                      </a14:m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データ寄与量を反映できる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大規模端末が支配しやすい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クラス別件数重み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クラスごとの件数に基づく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label skewへ対応できる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クラス統計の送信が必要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信頼度重み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entropyなどに基づく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不確実な端末の影響を下げられる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過信した誤予測に弱い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88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ロバスト集約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median、trimmed mean等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外れ値・攻撃に強くできる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800"/>
                        <a:t>少数ドメインを除外する危険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9461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47551F23-ABA0-B24B-4CE7-054E68D21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今後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6609147-DE4D-CE0B-CF23-2CEEE4C0B99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8C981-6885-4100-82A1-DE7074EC4480}" type="slidenum">
              <a:t>9</a:t>
            </a:fld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68129D8-66E6-FC24-B75D-2C3717A823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未確定の処理，複数の方法が考えられる処理</a:t>
            </a:r>
          </a:p>
          <a:p xmlns:a="http://schemas.openxmlformats.org/drawingml/2006/main">
            <a:pPr lvl="1">
              <a:buNone/>
            </a:pPr>
            <a:r>
              <a:t>Lpred・Lgrad・Lpost</a:t>
            </a:r>
            <a:r>
              <a:t>、集約方法</a:t>
            </a:r>
          </a:p>
          <a:p xmlns:a="http://schemas.openxmlformats.org/drawingml/2006/main">
            <a:pPr lvl="1">
              <a:buNone/>
            </a:pPr>
            <a:r>
              <a:t>蒸留部分</a:t>
            </a:r>
          </a:p>
          <a:p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30168290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47551F23-ABA0-B24B-4CE7-054E68D21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今後</a:t>
            </a:r>
          </a:p>
        </p:txBody>
      </p:sp>
      <p:sp>
        <p:nvSpPr>
          <p:cNvPr id="3" name="スライド番号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6609147-DE4D-CE0B-CF23-2CEEE4C0B99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8C981-6885-4100-82A1-DE7074EC4480}" type="slidenum">
              <a:t>9</a:t>
            </a:fld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68129D8-66E6-FC24-B75D-2C3717A823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未確定の処理，複数の方法が考えられる処理</a:t>
            </a:r>
          </a:p>
          <a:p xmlns:a="http://schemas.openxmlformats.org/drawingml/2006/main">
            <a:pPr lvl="1">
              <a:buNone/>
            </a:pPr>
            <a:r>
              <a:t>Lpred・Lgrad・Lpost</a:t>
            </a:r>
            <a:r>
              <a:t>、集約方法</a:t>
            </a:r>
          </a:p>
          <a:p xmlns:a="http://schemas.openxmlformats.org/drawingml/2006/main">
            <a:pPr lvl="1">
              <a:buNone/>
            </a:pPr>
            <a:r>
              <a:t>蒸留部分</a:t>
            </a:r>
          </a:p>
          <a:p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3016829091"/>
      </p:ext>
    </p:extLst>
  </p:cSld>
</p:sld>
</file>

<file path=ppt/theme/theme1.xml><?xml version="1.0" encoding="utf-8"?>
<a:theme xmlns:a="http://schemas.openxmlformats.org/drawingml/2006/main" name="2_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Calibri Light"/>
        <a:ea typeface="Calibri Light"/>
        <a:cs typeface=""/>
      </a:majorFont>
      <a:minorFont>
        <a:latin typeface="Calibri"/>
        <a:ea typeface="Calibr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2026-07-29T07:17:36.1600000Z</dcterms:created>
  <dcterms:modified xsi:type="dcterms:W3CDTF">2026-07-29T07:17:36.1600000Z</dcterms:modified>
</coreProperties>
</file>