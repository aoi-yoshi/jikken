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9223387e484394" /><Relationship Type="http://schemas.openxmlformats.org/officeDocument/2006/relationships/extended-properties" Target="/docProps/app.xml" Id="R01b4098a0a6841c3" /><Relationship Type="http://schemas.openxmlformats.org/officeDocument/2006/relationships/officeDocument" Target="/ppt/presentation.xml" Id="Rad5ee8f1e5554eb4" /></Relationships>
</file>

<file path=ppt/presentation.xml><?xml version="1.0" encoding="utf-8"?>
<p:presentation xmlns:p="http://schemas.openxmlformats.org/presentationml/2006/main">
  <p:sldMasterIdLst>
    <p:sldMasterId xmlns:r="http://schemas.openxmlformats.org/officeDocument/2006/relationships" id="2147483648" r:id="R4699cdae891d4ab7"/>
  </p:sldMasterIdLst>
  <p:notesMasterIdLst>
    <p:notesMasterId xmlns:r="http://schemas.openxmlformats.org/officeDocument/2006/relationships" r:id="R27ca23f2de1f440f"/>
  </p:notesMasterIdLst>
  <p:sldIdLst>
    <p:sldId xmlns:r="http://schemas.openxmlformats.org/officeDocument/2006/relationships" id="256" r:id="R64116bc9031545eb"/>
    <p:sldId xmlns:r="http://schemas.openxmlformats.org/officeDocument/2006/relationships" id="257" r:id="Rf0dc36d63f424206"/>
    <p:sldId xmlns:r="http://schemas.openxmlformats.org/officeDocument/2006/relationships" id="258" r:id="R3cde17a3fafe46df"/>
    <p:sldId xmlns:r="http://schemas.openxmlformats.org/officeDocument/2006/relationships" id="259" r:id="R78840d4d7a7c48b9"/>
    <p:sldId xmlns:r="http://schemas.openxmlformats.org/officeDocument/2006/relationships" id="260" r:id="Rd18db0ba51ea4bd6"/>
    <p:sldId xmlns:r="http://schemas.openxmlformats.org/officeDocument/2006/relationships" id="261" r:id="Rf0b8210ef1ee4ea6"/>
    <p:sldId xmlns:r="http://schemas.openxmlformats.org/officeDocument/2006/relationships" id="262" r:id="Ra41082df56b54f1b"/>
    <p:sldId xmlns:r="http://schemas.openxmlformats.org/officeDocument/2006/relationships" id="263" r:id="R65df2e30336b4a80"/>
    <p:sldId xmlns:r="http://schemas.openxmlformats.org/officeDocument/2006/relationships" id="264" r:id="R20f4b1af0f33444d"/>
    <p:sldId xmlns:r="http://schemas.openxmlformats.org/officeDocument/2006/relationships" id="265" r:id="R12d3137706e448b3"/>
    <p:sldId xmlns:r="http://schemas.openxmlformats.org/officeDocument/2006/relationships" id="266" r:id="R45ac8c8cc9b64385"/>
    <p:sldId xmlns:r="http://schemas.openxmlformats.org/officeDocument/2006/relationships" id="267" r:id="R1466dd920dcf4d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3d5e32d7ba4c62" /><Relationship Type="http://schemas.openxmlformats.org/officeDocument/2006/relationships/slideMaster" Target="/ppt/slideMasters/slideMaster1.xml" Id="R4699cdae891d4ab7" /><Relationship Type="http://schemas.openxmlformats.org/officeDocument/2006/relationships/notesMaster" Target="/ppt/notesMasters/notesMaster1.xml" Id="R27ca23f2de1f440f" /><Relationship Type="http://schemas.openxmlformats.org/officeDocument/2006/relationships/presProps" Target="/ppt/presProps.xml" Id="R849ccafbe6ba4e00" /><Relationship Type="http://schemas.openxmlformats.org/officeDocument/2006/relationships/tableStyles" Target="/ppt/tableStyles.xml" Id="Rcee9ec714118476f" /><Relationship Type="http://schemas.openxmlformats.org/officeDocument/2006/relationships/slide" Target="/ppt/slides/slide1.xml" Id="R64116bc9031545eb" /><Relationship Type="http://schemas.openxmlformats.org/officeDocument/2006/relationships/slide" Target="/ppt/slides/slide2.xml" Id="Rf0dc36d63f424206" /><Relationship Type="http://schemas.openxmlformats.org/officeDocument/2006/relationships/slide" Target="/ppt/slides/slide3.xml" Id="R3cde17a3fafe46df" /><Relationship Type="http://schemas.openxmlformats.org/officeDocument/2006/relationships/slide" Target="/ppt/slides/slide4.xml" Id="R78840d4d7a7c48b9" /><Relationship Type="http://schemas.openxmlformats.org/officeDocument/2006/relationships/slide" Target="/ppt/slides/slide5.xml" Id="Rd18db0ba51ea4bd6" /><Relationship Type="http://schemas.openxmlformats.org/officeDocument/2006/relationships/slide" Target="/ppt/slides/slide6.xml" Id="Rf0b8210ef1ee4ea6" /><Relationship Type="http://schemas.openxmlformats.org/officeDocument/2006/relationships/slide" Target="/ppt/slides/slide7.xml" Id="Ra41082df56b54f1b" /><Relationship Type="http://schemas.openxmlformats.org/officeDocument/2006/relationships/slide" Target="/ppt/slides/slide8.xml" Id="R65df2e30336b4a80" /><Relationship Type="http://schemas.openxmlformats.org/officeDocument/2006/relationships/slide" Target="/ppt/slides/slide9.xml" Id="R20f4b1af0f33444d" /><Relationship Type="http://schemas.openxmlformats.org/officeDocument/2006/relationships/slide" Target="/ppt/slides/slide10.xml" Id="R12d3137706e448b3" /><Relationship Type="http://schemas.openxmlformats.org/officeDocument/2006/relationships/slide" Target="/ppt/slides/slide11.xml" Id="R45ac8c8cc9b64385" /><Relationship Type="http://schemas.openxmlformats.org/officeDocument/2006/relationships/slide" Target="/ppt/slides/slide12.xml" Id="R1466dd920dcf4d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cf3d9278144a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655572d1844a14" /><Relationship Type="http://schemas.openxmlformats.org/officeDocument/2006/relationships/notesMaster" Target="/ppt/notesMasters/notesMaster1.xml" Id="Re20290aa754540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2d117aa6454e52" /><Relationship Type="http://schemas.openxmlformats.org/officeDocument/2006/relationships/notesMaster" Target="/ppt/notesMasters/notesMaster1.xml" Id="Rfffe16784bf94d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daef36e2764a6b" /><Relationship Type="http://schemas.openxmlformats.org/officeDocument/2006/relationships/notesMaster" Target="/ppt/notesMasters/notesMaster1.xml" Id="Rd39385fa0d7947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67ed488f01499d" /><Relationship Type="http://schemas.openxmlformats.org/officeDocument/2006/relationships/notesMaster" Target="/ppt/notesMasters/notesMaster1.xml" Id="R6ae0847c8a8740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84805ff22740b5" /><Relationship Type="http://schemas.openxmlformats.org/officeDocument/2006/relationships/notesMaster" Target="/ppt/notesMasters/notesMaster1.xml" Id="Rf81b4653da5043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953ed6cf5f4030" /><Relationship Type="http://schemas.openxmlformats.org/officeDocument/2006/relationships/notesMaster" Target="/ppt/notesMasters/notesMaster1.xml" Id="Redc0d0eeb6e74a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97ccc2d1da4ed3" /><Relationship Type="http://schemas.openxmlformats.org/officeDocument/2006/relationships/notesMaster" Target="/ppt/notesMasters/notesMaster1.xml" Id="R930af4716a9c40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0a522a84934197" /><Relationship Type="http://schemas.openxmlformats.org/officeDocument/2006/relationships/notesMaster" Target="/ppt/notesMasters/notesMaster1.xml" Id="R77ea1007595945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f7ed0e8f5f4379" /><Relationship Type="http://schemas.openxmlformats.org/officeDocument/2006/relationships/notesMaster" Target="/ppt/notesMasters/notesMaster1.xml" Id="R237a8bff6efb49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430a41421646ce" /><Relationship Type="http://schemas.openxmlformats.org/officeDocument/2006/relationships/notesMaster" Target="/ppt/notesMasters/notesMaster1.xml" Id="R004c5a74021b4d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dd5ef061324828" /><Relationship Type="http://schemas.openxmlformats.org/officeDocument/2006/relationships/notesMaster" Target="/ppt/notesMasters/notesMaster1.xml" Id="R10883e71250e4b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45f6c3b84a4657" /><Relationship Type="http://schemas.openxmlformats.org/officeDocument/2006/relationships/notesMaster" Target="/ppt/notesMasters/notesMaster1.xml" Id="Reebfcf28b96f41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0:00–1:10】</a:t>
            </a:r>
          </a:p>
          <a:p xmlns:a="http://schemas.openxmlformats.org/drawingml/2006/main">
            <a:r>
              <a:t>今回は、複数の自動運転車やロボットが、同じ危険判定を行う場面を想定しています。判定内容は共通でも、場所や時間、天候が違うため、それぞれが経験する動画は異なります。ある現場で得た経験をサービス全体へ反映できれば、中央側のAIも継続的に更新できます。しかし、現場の動画をそのまま中央へ集めることは難しく、連合平均でまとめた小型AIの更新を、構造や規模が異なる中央側AIへ直接渡すこともできません。そこでFedPACTでは、現場でAIの判定がどのように変わったかを数値で受け取り、その変化を中央側が持つ動画上に表して学習へ使います。この後は、変化を測る、複数動画をまとめる、中央側の動画上に表す、中央側AIを更新する、という順番で説明しま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notes/advisor/sources/raw/2026-09-16/slack_zettsu_reply_to_chen_ja_date_unknown_received_2026-09-16.md（利用場面、接続問題、適用範囲）</a:t>
            </a:r>
          </a:p>
          <a:p xmlns:a="http://schemas.openxmlformats.org/drawingml/2006/main">
            <a:r>
              <a:t>notes/advisor/sources/raw/2026-09-01/FedPACT手法提案260901.pdf（研究目的、三層構造）</a:t>
            </a:r>
          </a:p>
          <a:p xmlns:a="http://schemas.openxmlformats.org/drawingml/2006/main">
            <a:r>
              <a:t>画像: artifacts/datasets/frames/train/003d6c3909/003.jpg, artifacts/datasets/frames/train/b82e955a9fdf13e2/003.jpg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1:10–2:10】</a:t>
            </a:r>
          </a:p>
          <a:p xmlns:a="http://schemas.openxmlformats.org/drawingml/2006/main">
            <a:r>
              <a:t>ここでは、白い車が横から接近する危険動画を例にします。この実験では、AIが出した通常と危険の確率を記録しています。q^{pre}は局所学習前、q^{post}は局所学習後に同じ動画を判定した結果です。この動画では、危険確率が0.349から0.644へ変わり、Δqはプラス0.295でした。つまり、この入力に対するAIの出力が危険側へ動いたことが分かります。ただし、この値だけから危険を正しく学習した、あるいは危険原因を理解したとは言えません。次に、このような1本ごとの反応を複数動画からまとめ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artifacts/datasets/fedpact_stage1/manifest_paired_alert_quartiles.jsonl（危険区間、4フレーム）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2:10–3:10】</a:t>
            </a:r>
          </a:p>
          <a:p xmlns:a="http://schemas.openxmlformats.org/drawingml/2006/main">
            <a:r>
              <a:t>1本の動画の結果をそのまま中央側へ送るわけではありません。先ほどの動画を含む危険動画3本について、学習後の危険確率を平均すると0.724になります。これがμ^{post}_{k,r}です。学習前後の変化量の平均はプラス0.238で、これがΔμ_{k,r}です。まとめた本数π_{k,r}は3です。この三つをQ_{k,r}として送ります。中央側へ送るのは、この要約と小型AIの更新情報です。元の動画、画像、動画ごとの識別情報は送りません。また、小型AIの更新は連合平均へ渡しますが、Q_{k,r}は平均せず、次の代理データ生成へ渡し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a:t>
            </a:r>
          </a:p>
          <a:p xmlns:a="http://schemas.openxmlformats.org/drawingml/2006/main">
            <a:r>
              <a:t>artifacts/runs/fedpact_stage1/p1d_layer1_20260917_01/communication/client-0/payload.json（r1-client-0-class1）</a:t>
            </a:r>
          </a:p>
          <a:p xmlns:a="http://schemas.openxmlformats.org/drawingml/2006/main">
            <a:r>
              <a:t>notes/advisor/sources/raw/2026-09-16/slack_zettsu_flow_feedback_date_unknown_received_2026-09-16.md（Q生成と別経路）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3:10–4:35】</a:t>
            </a:r>
          </a:p>
          <a:p xmlns:a="http://schemas.openxmlformats.org/drawingml/2006/main">
            <a:r>
              <a:t>ここでも、2枚目と3枚目で追った同じr1-client-0-class1を使います。中央側には通常動画30本と危険動画30本、合計60本を用意しています。これは現場の知識そのものではなく、現場側の判定変化を表すための材料です。まず、連合平均後の小型AIを使い、μ^{post}_{k,r}に近い判定を出す動画を探します。上位3本について、変更なし、暗くする、明るくする、コントラストを上げる、中央を切り出す、という5種類を試します。一つのQにつき15候補で、四つのQでは合計60候補です。候補を選ぶときは、学習後の判定だけでなく、連合平均前後の変化がΔμ_{k,r}に近いかも確認します。選んだ入力x̃_{k,r}と学習後の目標値μ^{post}_{k,r}からP_{k,r}を作り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artifacts/runs/fedpact_stage1/p1d_full_20260917_02/server/layer2_trace.json（60 seed、top 3、5変換、選択）</a:t>
            </a:r>
          </a:p>
          <a:p xmlns:a="http://schemas.openxmlformats.org/drawingml/2006/main">
            <a:r>
              <a:t>artifacts/runs/fedpact_stage1/p1d_full_20260917_02/server/proxy_pairs.json（Pの構成）</a:t>
            </a:r>
          </a:p>
          <a:p xmlns:a="http://schemas.openxmlformats.org/drawingml/2006/main">
            <a:r>
              <a:t>画像: artifacts/runs/fedpact_stage1/p1d_full_20260917_02/server/transformation_candidates/r1-client-0-class1-rank01-*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4:35–5:15】</a:t>
            </a:r>
          </a:p>
          <a:p xmlns:a="http://schemas.openxmlformats.org/drawingml/2006/main">
            <a:r>
              <a:t>ここで、後半の結果を読むための実験条件を整理します。今回はNEXAR動画の通常と危険の二値判定を扱い、現場側AIを二台、三ラウンドで動かしました。各台は通常三本、危険三本を使い、一動画から四枚を入力します。危険動画は警告から事象までの区間を四分割し、通常動画も対応する同じ時刻を使いました。中央側には通常三十本と危険三十本、合計六十本を用意しました。各ラウンドでは四つのQ_{k,r}を作り、六十本を検索した後、上位三本を五通りに変換して四つのP_{k,r}を選びます。第I段階なので現場側と中央側は同じ3Bモデルです。今回の結果は接続確認であり、性能向上や異なる規模のAI間の転移を示すものではありません。</a:t>
            </a:r>
          </a:p>
          <a:p xmlns:a="http://schemas.openxmlformats.org/drawingml/2006/main">
            <a:r>
              <a:t/>
            </a:r>
          </a:p>
          <a:p xmlns:a="http://schemas.openxmlformats.org/drawingml/2006/main">
            <a:r>
              <a:t>【根拠】</a:t>
            </a:r>
          </a:p>
          <a:p xmlns:a="http://schemas.openxmlformats.org/drawingml/2006/main">
            <a:r>
              <a:t>config/fedpact_stage1.yaml</a:t>
            </a:r>
          </a:p>
          <a:p xmlns:a="http://schemas.openxmlformats.org/drawingml/2006/main">
            <a:r>
              <a:t>artifacts/runs/fedpact_stage1/p1d_full_20260917_02/summary.json</a:t>
            </a:r>
          </a:p>
          <a:p xmlns:a="http://schemas.openxmlformats.org/drawingml/2006/main">
            <a:r>
              <a:t>artifacts/reports/fedpact_stage1_20260917/three_round_state_lineage.json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5:15–5:50】</a:t>
            </a:r>
          </a:p>
          <a:p xmlns:a="http://schemas.openxmlformats.org/drawingml/2006/main">
            <a:r>
              <a:t>ここまでの処理を全体図の中で整理します。第1層では二つの現場側AIが局所学習を行い、小型AIの更新情報を連合平均します。一方、判定の変化をまとめたQ_{k,r}は別経路で第2層へ渡します。第2層が本研究の中心で、Q_{k,r}を中央側が持つ動画上の代理データとして表します。第3層ではP_{k,r}を使って中央側AIを更新し、その状態を次のラウンドへ引き継ぎます。今回の合格は処理の接続に対するものであり、性能の良さを示すものではありません。</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notes/advisor/sources/raw/2026-09-16/slack_zettsu_experiment_feedback_date_unknown_received_2026-09-16.md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5:50–7:00】</a:t>
            </a:r>
          </a:p>
          <a:p xmlns:a="http://schemas.openxmlformats.org/drawingml/2006/main">
            <a:r>
              <a:t>2枚目から追ってきた危険動画3本の要約を、そのまま追跡します。現場側で求めた学習後の危険確率は0.724でした。中央側で選んだ代理データについて、連合平均後の小型AIが出した危険確率も0.724で、学習後の判定はほぼ一致しています。一方、現場側の変化量はプラス0.238でしたが、代理データでは危険確率が0.673から0.724へ変化しており、その差はプラス0.051でした。方向は同じですが、変化量は十分に再現できていません。また、元動画の正解ラベルは通常でした。ただし、中央側の60本では正解ラベルと小型AIの判定が一致したものが43本だけなので、通常動画が選ばれた原因を検索処理だけに求めることはできません。</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a:t>
            </a:r>
          </a:p>
          <a:p xmlns:a="http://schemas.openxmlformats.org/drawingml/2006/main">
            <a:r>
              <a:t>artifacts/runs/fedpact_stage1/p1d_full_20260917_02/server/proxy_pairs.json</a:t>
            </a:r>
          </a:p>
          <a:p xmlns:a="http://schemas.openxmlformats.org/drawingml/2006/main">
            <a:r>
              <a:t>artifacts/reports/fedpact_stage1_20260917/slack_report.md（labelと予測の一致43/60）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7:00–8:25】</a:t>
            </a:r>
          </a:p>
          <a:p xmlns:a="http://schemas.openxmlformats.org/drawingml/2006/main">
            <a:r>
              <a:t>3ラウンド全体の結果です。各ラウンドで二つの現場側AIが同じ状態から開始し、両方の小型AIが実際に更新されたことを確認しました。連合平均を別に再計算した差は、最大でも約1.16掛ける10のマイナス10でした。また、前のラウンドの出力と次のラウンドの入力が一致していることを、モデルの照合値から確認しました。一方、代理データの再現結果には問題が残っています。1ラウンド目では四つのうち三つで変化の方向が一致しましたが、一つは逆方向でした。さらに3ラウンド目では、中央側AIを更新した後のずれが16.1307から16.1776へ増加しました。今回確認できたのは3ラウンドの処理と状態継承であり、性能が改善した、安定して知識を移せた、という結論ではあり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artifacts/reports/fedpact_stage1_20260917/slack_report.md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8:25–10:00】</a:t>
            </a:r>
          </a:p>
          <a:p xmlns:a="http://schemas.openxmlformats.org/drawingml/2006/main">
            <a:r>
              <a:t>今回の第I段階では、代表動画の学習前後の判定からQ_{k,r}を作り、中央側で代理データを生成し、中央側AIを更新して次のラウンドへ状態を渡すところまでを対応付けました。三層の処理と3ラウンドの状態継承を、ログから追跡できるようになったことは言えます。一方で、性能向上、代理データの品質、未知動画への転移はまだ言えません。今回の第I段階は同じ3B基盤を使用しているため、構造や規模の異なるAI間で移せたとも言えません。今後は、まず同じ四つの教師データを固定し、ごく小さい1回の更新で中央側AIのずれが減ることを確認します。問題を解消した後に5ラウンドの接続と状態継承を確認します。その後、第II段階で中央側動画だけの場合、学習後の判定を使う場合、学習前後の変化も使う場合を同じ条件で比較し、選択に使っていない動画で評価します。最後に構造や規模が異なるAIへ進みま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質疑用】</a:t>
            </a:r>
          </a:p>
          <a:p xmlns:a="http://schemas.openxmlformats.org/drawingml/2006/main">
            <a:r>
              <a:t>各ラウンドで選択した四組、合計十二組の代理データについて、現場側が示した危険確率の変化と、代理データ上で連合集約前後の小型AIが示した危険確率の変化を並べています。方向一致は十二組中七組でした。post KLが小さくてもdelta errorが大きい組があるため、学習後の判定だけの一致を代理データ再現の成功とは扱いません。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質疑用】</a:t>
            </a:r>
          </a:p>
          <a:p xmlns:a="http://schemas.openxmlformats.org/drawingml/2006/main">
            <a:r>
              <a:t>上段は二台の現場側AIの軽量更新量と分類層更新量、連合平均を別計算したときの最大差です。下段は中央側AIの軽量更新部分に対する勾配、更新量、同じ四組上の加重KLです。三ラウンド目は非増加条件を満たさなかったため、性能確認ではなく有限でゼロではない更新の実行確認として保存しました。</a:t>
            </a:r>
          </a:p>
          <a:p xmlns:a="http://schemas.openxmlformats.org/drawingml/2006/main">
            <a:r>
              <a:t/>
            </a:r>
          </a:p>
          <a:p xmlns:a="http://schemas.openxmlformats.org/drawingml/2006/main">
            <a:r>
              <a:t>【根拠】</a:t>
            </a:r>
          </a:p>
          <a:p xmlns:a="http://schemas.openxmlformats.org/drawingml/2006/main">
            <a:r>
              <a:t>artifacts/reports/fedpact_stage1_20260917/three_round_state_lineage.json</a:t>
            </a:r>
          </a:p>
          <a:p xmlns:a="http://schemas.openxmlformats.org/drawingml/2006/main">
            <a:r>
              <a:t>artifacts/runs/fedpact_stage1/p1d_round3_full_20260917_02/summary.json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質疑用】</a:t>
            </a:r>
          </a:p>
          <a:p xmlns:a="http://schemas.openxmlformats.org/drawingml/2006/main">
            <a:r>
              <a:t>各処理時間は実行確認と異常検出のために記録した値で、他方式との速度比較ではありません。正解ラベルと小型AIの判定が一致した中央側動画は、各ラウンドで六十本中四十三本、四十四本、四十三本でした。選択動画のラベル不一致には検索処理だけでなく、小型AI自体の誤分類も混在します。通信監査は生の動画や画像を送っていないことの実装確認であり、形式的なプライバシー保証ではあり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artifacts/reports/fedpact_stage1_20260917/three_round_state_lineage.json</a:t>
            </a:r>
          </a:p>
          <a:p xmlns:a="http://schemas.openxmlformats.org/drawingml/2006/main">
            <a:r>
              <a:t>artifacts/reports/fedpact_stage1_20260917/slack_report.md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6210733ad149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c24f7d68504eec" /><Relationship Type="http://schemas.openxmlformats.org/officeDocument/2006/relationships/slideLayout" Target="/ppt/slideLayouts/slideLayout1.xml" Id="R396d96a32f3e42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6d96a32f3e42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1bb283525d464d" /><Relationship Type="http://schemas.openxmlformats.org/officeDocument/2006/relationships/image" Target="/ppt/media/image.jpeg" Id="R1d53674f5ee0420c" /><Relationship Type="http://schemas.openxmlformats.org/officeDocument/2006/relationships/image" Target="/ppt/media/image2.jpeg" Id="R210f62b9938a4210" /><Relationship Type="http://schemas.openxmlformats.org/officeDocument/2006/relationships/notesSlide" Target="/ppt/notesSlides/notesSlide1.xml" Id="R210d65e7928644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1d384de03542d1" /><Relationship Type="http://schemas.openxmlformats.org/officeDocument/2006/relationships/image" Target="/ppt/media/image3.jpeg" Id="R5173449933334429" /><Relationship Type="http://schemas.openxmlformats.org/officeDocument/2006/relationships/image" Target="/ppt/media/image4.jpeg" Id="Rcb912f0dd68242f2" /><Relationship Type="http://schemas.openxmlformats.org/officeDocument/2006/relationships/image" Target="/ppt/media/image5.jpeg" Id="R80b165b567ac473e" /><Relationship Type="http://schemas.openxmlformats.org/officeDocument/2006/relationships/image" Target="/ppt/media/image6.jpeg" Id="R516df2330c914b3c" /><Relationship Type="http://schemas.openxmlformats.org/officeDocument/2006/relationships/notesSlide" Target="/ppt/notesSlides/notesSlide2.xml" Id="Rc5ea69c9c10846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dbef09b8414096" /><Relationship Type="http://schemas.openxmlformats.org/officeDocument/2006/relationships/image" Target="/ppt/media/image7.jpeg" Id="Rec4198591af24f74" /><Relationship Type="http://schemas.openxmlformats.org/officeDocument/2006/relationships/image" Target="/ppt/media/image8.jpeg" Id="R661969cb8ad34351" /><Relationship Type="http://schemas.openxmlformats.org/officeDocument/2006/relationships/image" Target="/ppt/media/image9.jpeg" Id="R7d0d2b428d3a40f1" /><Relationship Type="http://schemas.openxmlformats.org/officeDocument/2006/relationships/notesSlide" Target="/ppt/notesSlides/notesSlide3.xml" Id="R43f2a1c759dc4d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d2f241af1c54527" /><Relationship Type="http://schemas.openxmlformats.org/officeDocument/2006/relationships/image" Target="/ppt/media/image10.jpeg" Id="R7fc77e5060ff4b31" /><Relationship Type="http://schemas.openxmlformats.org/officeDocument/2006/relationships/image" Target="/ppt/media/image.png" Id="R9392dd00c9bd4dd7" /><Relationship Type="http://schemas.openxmlformats.org/officeDocument/2006/relationships/image" Target="/ppt/media/image2.png" Id="R769e6b1a86df4481" /><Relationship Type="http://schemas.openxmlformats.org/officeDocument/2006/relationships/image" Target="/ppt/media/image3.png" Id="R065d4b5a1d0241a8" /><Relationship Type="http://schemas.openxmlformats.org/officeDocument/2006/relationships/image" Target="/ppt/media/image4.png" Id="R5bce672233674cf9" /><Relationship Type="http://schemas.openxmlformats.org/officeDocument/2006/relationships/image" Target="/ppt/media/image5.png" Id="R71058b2edad94bfb" /><Relationship Type="http://schemas.openxmlformats.org/officeDocument/2006/relationships/notesSlide" Target="/ppt/notesSlides/notesSlide4.xml" Id="Rdeda35e08e1046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dc6864630e41ea" /><Relationship Type="http://schemas.openxmlformats.org/officeDocument/2006/relationships/notesSlide" Target="/ppt/notesSlides/notesSlide5.xml" Id="R1a781d21945a45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cf2ace5abf4c72" /><Relationship Type="http://schemas.openxmlformats.org/officeDocument/2006/relationships/notesSlide" Target="/ppt/notesSlides/notesSlide6.xml" Id="R1a65f142260e4f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96d018af044a21" /><Relationship Type="http://schemas.openxmlformats.org/officeDocument/2006/relationships/image" Target="/ppt/media/image6.png" Id="Rcf6f83fdb5bd4349" /><Relationship Type="http://schemas.openxmlformats.org/officeDocument/2006/relationships/image" Target="/ppt/media/image7.png" Id="R8578de38bb2f47c0" /><Relationship Type="http://schemas.openxmlformats.org/officeDocument/2006/relationships/image" Target="/ppt/media/image8.png" Id="R23e8247125d74e72" /><Relationship Type="http://schemas.openxmlformats.org/officeDocument/2006/relationships/image" Target="/ppt/media/image9.png" Id="R1c8beacb582f46a1" /><Relationship Type="http://schemas.openxmlformats.org/officeDocument/2006/relationships/notesSlide" Target="/ppt/notesSlides/notesSlide7.xml" Id="R406ed197c3984e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f1f49212a9e417c" /><Relationship Type="http://schemas.openxmlformats.org/officeDocument/2006/relationships/notesSlide" Target="/ppt/notesSlides/notesSlide8.xml" Id="R85f4b394f1f94e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c3d0e7b5a3e4366" /><Relationship Type="http://schemas.openxmlformats.org/officeDocument/2006/relationships/notesSlide" Target="/ppt/notesSlides/notesSlide9.xml" Id="R6bdb238afe8b47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c358c78f3dc4c28" /><Relationship Type="http://schemas.openxmlformats.org/officeDocument/2006/relationships/notesSlide" Target="/ppt/notesSlides/notesSlide10.xml" Id="Ra2482eadf8df4a2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653d37a95f44a91" /><Relationship Type="http://schemas.openxmlformats.org/officeDocument/2006/relationships/notesSlide" Target="/ppt/notesSlides/notesSlide11.xml" Id="R7001b38e5d9642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914275cafc84ac7" /><Relationship Type="http://schemas.openxmlformats.org/officeDocument/2006/relationships/notesSlide" Target="/ppt/notesSlides/notesSlide12.xml" Id="R22b9d059e538491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7BBC8FED-C955-4D26-87F4-F15632B998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F6BDCD-4BF5-46F1-A678-7DC90E9C40BF}"/>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1187DE5-7380-417F-92AC-91066804C729}"/>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複数の現場で得た経験を、中央側AIへ生かす</a:t>
            </a:r>
          </a:p>
        </p:txBody>
      </p:sp>
      <p:sp>
        <p:nvSpPr>
          <p:cNvPr id="4" name="">
            <a:extLst xmlns:a="http://schemas.openxmlformats.org/drawingml/2006/main">
              <a:ext uri="{FF2B5EF4-FFF2-40B4-BE49-F238E27FC236}">
                <a16:creationId xmlns:a16="http://schemas.microsoft.com/office/drawing/2014/main" id="{B461AED6-D888-4AC1-B4D4-C2C8CCFB5A98}"/>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43E25D09-9497-42CA-B5C1-E58924AD89A7}"/>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D9C2A2A-B243-4229-9313-F14EE4353F0D}"/>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4F29D734-F1BA-4709-AE5E-1FD13389AF98}"/>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 / 9</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1d53674f5ee0420c"/>
          <a:srcRect xmlns:a="http://schemas.openxmlformats.org/drawingml/2006/main" l="0" t="85" r="0" b="85"/>
          <a:stretch xmlns:a="http://schemas.openxmlformats.org/drawingml/2006/main">
            <a:fillRect l="0" t="0" r="0" b="0"/>
          </a:stretch>
        </p:blipFill>
        <p:spPr>
          <a:xfrm xmlns:a="http://schemas.openxmlformats.org/drawingml/2006/main">
            <a:off x="590550" y="1162050"/>
            <a:ext cx="2476500" cy="1390650"/>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210f62b9938a4210"/>
          <a:srcRect xmlns:a="http://schemas.openxmlformats.org/drawingml/2006/main" l="0" t="85" r="0" b="85"/>
          <a:stretch xmlns:a="http://schemas.openxmlformats.org/drawingml/2006/main">
            <a:fillRect l="0" t="0" r="0" b="0"/>
          </a:stretch>
        </p:blipFill>
        <p:spPr>
          <a:xfrm xmlns:a="http://schemas.openxmlformats.org/drawingml/2006/main">
            <a:off x="3219450" y="1162050"/>
            <a:ext cx="2476500" cy="1390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FEEE4A1-CF0E-4ED0-8596-664050384C94}"/>
              </a:ext>
            </a:extLst>
          </p:cNvPr>
          <p:cNvSpPr>
            <a:spLocks xmlns:a="http://schemas.openxmlformats.org/drawingml/2006/main" noGrp="1"/>
          </p:cNvSpPr>
          <p:nvPr/>
        </p:nvSpPr>
        <p:spPr>
          <a:xfrm xmlns:a="http://schemas.openxmlformats.org/drawingml/2006/main">
            <a:off x="5905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現場A　昼間・市街地</a:t>
            </a:r>
          </a:p>
        </p:txBody>
      </p:sp>
      <p:sp>
        <p:nvSpPr>
          <p:cNvPr id="11" name="">
            <a:extLst xmlns:a="http://schemas.openxmlformats.org/drawingml/2006/main">
              <a:ext uri="{FF2B5EF4-FFF2-40B4-BE49-F238E27FC236}">
                <a16:creationId xmlns:a16="http://schemas.microsoft.com/office/drawing/2014/main" id="{40284C21-F311-42DA-B9D4-510CB2D35037}"/>
              </a:ext>
            </a:extLst>
          </p:cNvPr>
          <p:cNvSpPr>
            <a:spLocks xmlns:a="http://schemas.openxmlformats.org/drawingml/2006/main" noGrp="1"/>
          </p:cNvSpPr>
          <p:nvPr/>
        </p:nvSpPr>
        <p:spPr>
          <a:xfrm xmlns:a="http://schemas.openxmlformats.org/drawingml/2006/main">
            <a:off x="32194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現場B　夜間・道路</a:t>
            </a:r>
          </a:p>
        </p:txBody>
      </p:sp>
      <p:sp>
        <p:nvSpPr>
          <p:cNvPr id="12" name="">
            <a:extLst xmlns:a="http://schemas.openxmlformats.org/drawingml/2006/main">
              <a:ext uri="{FF2B5EF4-FFF2-40B4-BE49-F238E27FC236}">
                <a16:creationId xmlns:a16="http://schemas.microsoft.com/office/drawing/2014/main" id="{32E00687-1162-4C51-8253-7BAD2B1F212F}"/>
              </a:ext>
            </a:extLst>
          </p:cNvPr>
          <p:cNvSpPr>
            <a:spLocks xmlns:a="http://schemas.openxmlformats.org/drawingml/2006/main" noGrp="1"/>
          </p:cNvSpPr>
          <p:nvPr/>
        </p:nvSpPr>
        <p:spPr>
          <a:xfrm xmlns:a="http://schemas.openxmlformats.org/drawingml/2006/main">
            <a:off x="666750" y="30289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a:solidFill>
                  <a:srgbClr val="173B4B"/>
                </a:solidFill>
                <a:latin typeface="Yu Gothic"/>
                <a:ea typeface="Yu Gothic"/>
                <a:cs typeface="Yu Gothic"/>
              </a:defRPr>
            </a:pPr>
            <a:r>
              <a:rPr sz="1800" b="1">
                <a:solidFill>
                  <a:srgbClr val="173B4B"/>
                </a:solidFill>
                <a:latin typeface="Yu Gothic"/>
                <a:ea typeface="Yu Gothic"/>
                <a:cs typeface="Yu Gothic"/>
              </a:rPr>
              <a:t>同じ危険判定でも、場所・時間・天候により経験する動画が異なる</a:t>
            </a:r>
          </a:p>
        </p:txBody>
      </p:sp>
      <p:sp>
        <p:nvSpPr>
          <p:cNvPr id="13" name="">
            <a:extLst xmlns:a="http://schemas.openxmlformats.org/drawingml/2006/main">
              <a:ext uri="{FF2B5EF4-FFF2-40B4-BE49-F238E27FC236}">
                <a16:creationId xmlns:a16="http://schemas.microsoft.com/office/drawing/2014/main" id="{7264BFB6-328C-41B3-9E0F-49E3AF388C03}"/>
              </a:ext>
            </a:extLst>
          </p:cNvPr>
          <p:cNvSpPr>
            <a:spLocks xmlns:a="http://schemas.openxmlformats.org/drawingml/2006/main" noGrp="1"/>
          </p:cNvSpPr>
          <p:nvPr/>
        </p:nvSpPr>
        <p:spPr>
          <a:xfrm xmlns:a="http://schemas.openxmlformats.org/drawingml/2006/main">
            <a:off x="704850" y="390525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47B78"/>
                </a:solidFill>
                <a:latin typeface="Yu Gothic"/>
                <a:ea typeface="Yu Gothic"/>
                <a:cs typeface="Yu Gothic"/>
              </a:defRPr>
            </a:pPr>
            <a:r>
              <a:rPr sz="1425" b="1">
                <a:solidFill>
                  <a:srgbClr val="147B78"/>
                </a:solidFill>
                <a:latin typeface="Yu Gothic"/>
                <a:ea typeface="Yu Gothic"/>
                <a:cs typeface="Yu Gothic"/>
              </a:rPr>
              <a:t>価値</a:t>
            </a:r>
          </a:p>
        </p:txBody>
      </p:sp>
      <p:sp>
        <p:nvSpPr>
          <p:cNvPr id="14" name="">
            <a:extLst xmlns:a="http://schemas.openxmlformats.org/drawingml/2006/main">
              <a:ext uri="{FF2B5EF4-FFF2-40B4-BE49-F238E27FC236}">
                <a16:creationId xmlns:a16="http://schemas.microsoft.com/office/drawing/2014/main" id="{8B8EA975-2F56-4272-BF03-EFF4CF00ECEB}"/>
              </a:ext>
            </a:extLst>
          </p:cNvPr>
          <p:cNvSpPr>
            <a:spLocks xmlns:a="http://schemas.openxmlformats.org/drawingml/2006/main" noGrp="1"/>
          </p:cNvSpPr>
          <p:nvPr/>
        </p:nvSpPr>
        <p:spPr>
          <a:xfrm xmlns:a="http://schemas.openxmlformats.org/drawingml/2006/main">
            <a:off x="704850" y="423862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6373D"/>
                </a:solidFill>
                <a:latin typeface="Yu Gothic"/>
                <a:ea typeface="Yu Gothic"/>
                <a:cs typeface="Yu Gothic"/>
              </a:defRPr>
            </a:pPr>
            <a:r>
              <a:rPr sz="1875" b="1">
                <a:solidFill>
                  <a:srgbClr val="26373D"/>
                </a:solidFill>
                <a:latin typeface="Yu Gothic"/>
                <a:ea typeface="Yu Gothic"/>
                <a:cs typeface="Yu Gothic"/>
              </a:rPr>
              <a:t>各現場が学んだ判定の変化を、サービス全体の更新に使う</a:t>
            </a:r>
          </a:p>
        </p:txBody>
      </p:sp>
      <p:sp>
        <p:nvSpPr>
          <p:cNvPr id="15" name="">
            <a:extLst xmlns:a="http://schemas.openxmlformats.org/drawingml/2006/main">
              <a:ext uri="{FF2B5EF4-FFF2-40B4-BE49-F238E27FC236}">
                <a16:creationId xmlns:a16="http://schemas.microsoft.com/office/drawing/2014/main" id="{9C4FD9AC-5CAB-4062-848F-A19EFD4F8FFC}"/>
              </a:ext>
            </a:extLst>
          </p:cNvPr>
          <p:cNvSpPr>
            <a:spLocks xmlns:a="http://schemas.openxmlformats.org/drawingml/2006/main" noGrp="1"/>
          </p:cNvSpPr>
          <p:nvPr/>
        </p:nvSpPr>
        <p:spPr>
          <a:xfrm xmlns:a="http://schemas.openxmlformats.org/drawingml/2006/main">
            <a:off x="6057900" y="1162050"/>
            <a:ext cx="19050" cy="38862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00F5302-268E-4D8D-A3A6-A1DBC1FD36A8}"/>
              </a:ext>
            </a:extLst>
          </p:cNvPr>
          <p:cNvSpPr>
            <a:spLocks xmlns:a="http://schemas.openxmlformats.org/drawingml/2006/main" noGrp="1"/>
          </p:cNvSpPr>
          <p:nvPr/>
        </p:nvSpPr>
        <p:spPr>
          <a:xfrm xmlns:a="http://schemas.openxmlformats.org/drawingml/2006/main">
            <a:off x="6419850" y="11620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現在の接続問題</a:t>
            </a:r>
          </a:p>
        </p:txBody>
      </p:sp>
      <p:sp>
        <p:nvSpPr>
          <p:cNvPr id="17" name="">
            <a:extLst xmlns:a="http://schemas.openxmlformats.org/drawingml/2006/main">
              <a:ext uri="{FF2B5EF4-FFF2-40B4-BE49-F238E27FC236}">
                <a16:creationId xmlns:a16="http://schemas.microsoft.com/office/drawing/2014/main" id="{92E11425-EF26-4006-AF84-443FD2D69B1D}"/>
              </a:ext>
            </a:extLst>
          </p:cNvPr>
          <p:cNvSpPr>
            <a:spLocks xmlns:a="http://schemas.openxmlformats.org/drawingml/2006/main" noGrp="1"/>
          </p:cNvSpPr>
          <p:nvPr/>
        </p:nvSpPr>
        <p:spPr>
          <a:xfrm xmlns:a="http://schemas.openxmlformats.org/drawingml/2006/main">
            <a:off x="6477000" y="1790700"/>
            <a:ext cx="1333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連合平均</a:t>
            </a:r>
          </a:p>
        </p:txBody>
      </p:sp>
      <p:sp>
        <p:nvSpPr>
          <p:cNvPr id="18" name="">
            <a:extLst xmlns:a="http://schemas.openxmlformats.org/drawingml/2006/main">
              <a:ext uri="{FF2B5EF4-FFF2-40B4-BE49-F238E27FC236}">
                <a16:creationId xmlns:a16="http://schemas.microsoft.com/office/drawing/2014/main" id="{56DB5153-F2A9-4662-8104-78AB275D82EB}"/>
              </a:ext>
            </a:extLst>
          </p:cNvPr>
          <p:cNvSpPr>
            <a:spLocks xmlns:a="http://schemas.openxmlformats.org/drawingml/2006/main" noGrp="1"/>
          </p:cNvSpPr>
          <p:nvPr/>
        </p:nvSpPr>
        <p:spPr>
          <a:xfrm xmlns:a="http://schemas.openxmlformats.org/drawingml/2006/main">
            <a:off x="8020050" y="17907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同じ構造の小型AI同士はまとめられる</a:t>
            </a:r>
          </a:p>
        </p:txBody>
      </p:sp>
      <p:sp>
        <p:nvSpPr>
          <p:cNvPr id="19" name="">
            <a:extLst xmlns:a="http://schemas.openxmlformats.org/drawingml/2006/main">
              <a:ext uri="{FF2B5EF4-FFF2-40B4-BE49-F238E27FC236}">
                <a16:creationId xmlns:a16="http://schemas.microsoft.com/office/drawing/2014/main" id="{2F254E0F-2702-4EAE-82A7-1FCD28A57DB0}"/>
              </a:ext>
            </a:extLst>
          </p:cNvPr>
          <p:cNvSpPr>
            <a:spLocks xmlns:a="http://schemas.openxmlformats.org/drawingml/2006/main" noGrp="1"/>
          </p:cNvSpPr>
          <p:nvPr/>
        </p:nvSpPr>
        <p:spPr>
          <a:xfrm xmlns:a="http://schemas.openxmlformats.org/drawingml/2006/main">
            <a:off x="6486525" y="2514600"/>
            <a:ext cx="895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94A3A"/>
                </a:solidFill>
                <a:latin typeface="Yu Gothic"/>
                <a:ea typeface="Yu Gothic"/>
                <a:cs typeface="Yu Gothic"/>
              </a:defRPr>
            </a:pPr>
            <a:r>
              <a:rPr sz="1350" b="1">
                <a:solidFill>
                  <a:srgbClr val="B94A3A"/>
                </a:solidFill>
                <a:latin typeface="Yu Gothic"/>
                <a:ea typeface="Yu Gothic"/>
                <a:cs typeface="Yu Gothic"/>
              </a:rPr>
              <a:t>しかし</a:t>
            </a:r>
          </a:p>
        </p:txBody>
      </p:sp>
      <p:sp>
        <p:nvSpPr>
          <p:cNvPr id="20" name="">
            <a:extLst xmlns:a="http://schemas.openxmlformats.org/drawingml/2006/main">
              <a:ext uri="{FF2B5EF4-FFF2-40B4-BE49-F238E27FC236}">
                <a16:creationId xmlns:a16="http://schemas.microsoft.com/office/drawing/2014/main" id="{0AACEF53-CDA6-4F43-9C07-A1188ACEB361}"/>
              </a:ext>
            </a:extLst>
          </p:cNvPr>
          <p:cNvSpPr>
            <a:spLocks xmlns:a="http://schemas.openxmlformats.org/drawingml/2006/main" noGrp="1"/>
          </p:cNvSpPr>
          <p:nvPr/>
        </p:nvSpPr>
        <p:spPr>
          <a:xfrm xmlns:a="http://schemas.openxmlformats.org/drawingml/2006/main">
            <a:off x="6486525" y="2876550"/>
            <a:ext cx="457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73B4B"/>
                </a:solidFill>
                <a:latin typeface="Yu Gothic"/>
                <a:ea typeface="Yu Gothic"/>
                <a:cs typeface="Yu Gothic"/>
              </a:defRPr>
            </a:pPr>
            <a:r>
              <a:rPr sz="1875" b="1">
                <a:solidFill>
                  <a:srgbClr val="173B4B"/>
                </a:solidFill>
                <a:latin typeface="Yu Gothic"/>
                <a:ea typeface="Yu Gothic"/>
                <a:cs typeface="Yu Gothic"/>
              </a:rPr>
              <a:t>構造や規模が異なる中央側AIへ、更新値をそのまま渡せない</a:t>
            </a:r>
          </a:p>
        </p:txBody>
      </p:sp>
      <p:sp>
        <p:nvSpPr>
          <p:cNvPr id="21" name="">
            <a:extLst xmlns:a="http://schemas.openxmlformats.org/drawingml/2006/main">
              <a:ext uri="{FF2B5EF4-FFF2-40B4-BE49-F238E27FC236}">
                <a16:creationId xmlns:a16="http://schemas.microsoft.com/office/drawing/2014/main" id="{F713D75A-7C6D-4FF7-BBF9-1FFF53E702AD}"/>
              </a:ext>
            </a:extLst>
          </p:cNvPr>
          <p:cNvSpPr>
            <a:spLocks xmlns:a="http://schemas.openxmlformats.org/drawingml/2006/main" noGrp="1"/>
          </p:cNvSpPr>
          <p:nvPr/>
        </p:nvSpPr>
        <p:spPr>
          <a:xfrm xmlns:a="http://schemas.openxmlformats.org/drawingml/2006/main">
            <a:off x="6486525" y="386715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617078"/>
                </a:solidFill>
                <a:latin typeface="Yu Gothic"/>
                <a:ea typeface="Yu Gothic"/>
                <a:cs typeface="Yu Gothic"/>
              </a:defRPr>
            </a:pPr>
            <a:r>
              <a:rPr sz="1500" b="0">
                <a:solidFill>
                  <a:srgbClr val="617078"/>
                </a:solidFill>
                <a:latin typeface="Yu Gothic"/>
                <a:ea typeface="Yu Gothic"/>
                <a:cs typeface="Yu Gothic"/>
              </a:rPr>
              <a:t>現場動画を中央へ集めない条件では、共通の入力を使った橋渡しも難しい</a:t>
            </a:r>
          </a:p>
        </p:txBody>
      </p:sp>
      <p:sp>
        <p:nvSpPr>
          <p:cNvPr id="22" name="">
            <a:extLst xmlns:a="http://schemas.openxmlformats.org/drawingml/2006/main">
              <a:ext uri="{FF2B5EF4-FFF2-40B4-BE49-F238E27FC236}">
                <a16:creationId xmlns:a16="http://schemas.microsoft.com/office/drawing/2014/main" id="{6618D990-CF22-431A-87DD-083A8EB370AA}"/>
              </a:ext>
            </a:extLst>
          </p:cNvPr>
          <p:cNvSpPr>
            <a:spLocks xmlns:a="http://schemas.openxmlformats.org/drawingml/2006/main" noGrp="1"/>
          </p:cNvSpPr>
          <p:nvPr/>
        </p:nvSpPr>
        <p:spPr>
          <a:xfrm xmlns:a="http://schemas.openxmlformats.org/drawingml/2006/main">
            <a:off x="6429375" y="4714875"/>
            <a:ext cx="4762500" cy="6858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F7444A9-2690-4F2D-8EAD-5B39848F948B}"/>
              </a:ext>
            </a:extLst>
          </p:cNvPr>
          <p:cNvSpPr>
            <a:spLocks xmlns:a="http://schemas.openxmlformats.org/drawingml/2006/main" noGrp="1"/>
          </p:cNvSpPr>
          <p:nvPr/>
        </p:nvSpPr>
        <p:spPr>
          <a:xfrm xmlns:a="http://schemas.openxmlformats.org/drawingml/2006/main">
            <a:off x="6667500" y="486727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1439"/>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FedPACT：現場で生じた判定の変化を、中央側の動画上に表して学習へ使う</a:t>
            </a:r>
          </a:p>
        </p:txBody>
      </p:sp>
      <p:sp>
        <p:nvSpPr>
          <p:cNvPr id="24" name="">
            <a:extLst xmlns:a="http://schemas.openxmlformats.org/drawingml/2006/main">
              <a:ext uri="{FF2B5EF4-FFF2-40B4-BE49-F238E27FC236}">
                <a16:creationId xmlns:a16="http://schemas.microsoft.com/office/drawing/2014/main" id="{ED09A3C2-D121-46B6-9AAB-9A2A90687EC4}"/>
              </a:ext>
            </a:extLst>
          </p:cNvPr>
          <p:cNvSpPr>
            <a:spLocks xmlns:a="http://schemas.openxmlformats.org/drawingml/2006/main" noGrp="1"/>
          </p:cNvSpPr>
          <p:nvPr/>
        </p:nvSpPr>
        <p:spPr>
          <a:xfrm xmlns:a="http://schemas.openxmlformats.org/drawingml/2006/main">
            <a:off x="628650" y="5610225"/>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17078"/>
                </a:solidFill>
                <a:latin typeface="Yu Gothic"/>
                <a:ea typeface="Yu Gothic"/>
                <a:cs typeface="Yu Gothic"/>
              </a:defRPr>
            </a:pPr>
            <a:r>
              <a:rPr sz="1275" b="1">
                <a:solidFill>
                  <a:srgbClr val="617078"/>
                </a:solidFill>
                <a:latin typeface="Yu Gothic"/>
                <a:ea typeface="Yu Gothic"/>
                <a:cs typeface="Yu Gothic"/>
              </a:rPr>
              <a:t>発表の順番</a:t>
            </a:r>
          </a:p>
        </p:txBody>
      </p:sp>
      <p:sp>
        <p:nvSpPr>
          <p:cNvPr id="25" name="">
            <a:extLst xmlns:a="http://schemas.openxmlformats.org/drawingml/2006/main">
              <a:ext uri="{FF2B5EF4-FFF2-40B4-BE49-F238E27FC236}">
                <a16:creationId xmlns:a16="http://schemas.microsoft.com/office/drawing/2014/main" id="{33887EAD-964F-4AB8-A69A-EDD75661BE5C}"/>
              </a:ext>
            </a:extLst>
          </p:cNvPr>
          <p:cNvSpPr>
            <a:spLocks xmlns:a="http://schemas.openxmlformats.org/drawingml/2006/main" noGrp="1"/>
          </p:cNvSpPr>
          <p:nvPr/>
        </p:nvSpPr>
        <p:spPr>
          <a:xfrm xmlns:a="http://schemas.openxmlformats.org/drawingml/2006/main">
            <a:off x="21336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BA44E84-C00C-466E-86AB-1BCD1F9012F2}"/>
              </a:ext>
            </a:extLst>
          </p:cNvPr>
          <p:cNvSpPr>
            <a:spLocks xmlns:a="http://schemas.openxmlformats.org/drawingml/2006/main" noGrp="1"/>
          </p:cNvSpPr>
          <p:nvPr/>
        </p:nvSpPr>
        <p:spPr>
          <a:xfrm xmlns:a="http://schemas.openxmlformats.org/drawingml/2006/main">
            <a:off x="21336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27" name="">
            <a:extLst xmlns:a="http://schemas.openxmlformats.org/drawingml/2006/main">
              <a:ext uri="{FF2B5EF4-FFF2-40B4-BE49-F238E27FC236}">
                <a16:creationId xmlns:a16="http://schemas.microsoft.com/office/drawing/2014/main" id="{48E51ACB-D0D3-4E4B-9185-1637FF692187}"/>
              </a:ext>
            </a:extLst>
          </p:cNvPr>
          <p:cNvSpPr>
            <a:spLocks xmlns:a="http://schemas.openxmlformats.org/drawingml/2006/main" noGrp="1"/>
          </p:cNvSpPr>
          <p:nvPr/>
        </p:nvSpPr>
        <p:spPr>
          <a:xfrm xmlns:a="http://schemas.openxmlformats.org/drawingml/2006/main">
            <a:off x="26479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変化を測る</a:t>
            </a:r>
          </a:p>
        </p:txBody>
      </p:sp>
      <p:sp>
        <p:nvSpPr>
          <p:cNvPr id="28" name="">
            <a:extLst xmlns:a="http://schemas.openxmlformats.org/drawingml/2006/main">
              <a:ext uri="{FF2B5EF4-FFF2-40B4-BE49-F238E27FC236}">
                <a16:creationId xmlns:a16="http://schemas.microsoft.com/office/drawing/2014/main" id="{EF6F07CD-B6C7-40ED-BD82-EBD11FBE7606}"/>
              </a:ext>
            </a:extLst>
          </p:cNvPr>
          <p:cNvSpPr>
            <a:spLocks xmlns:a="http://schemas.openxmlformats.org/drawingml/2006/main" noGrp="1"/>
          </p:cNvSpPr>
          <p:nvPr/>
        </p:nvSpPr>
        <p:spPr>
          <a:xfrm xmlns:a="http://schemas.openxmlformats.org/drawingml/2006/main">
            <a:off x="41624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4E18C4E-03C4-43C2-BEEE-042AAFAEF139}"/>
              </a:ext>
            </a:extLst>
          </p:cNvPr>
          <p:cNvSpPr>
            <a:spLocks xmlns:a="http://schemas.openxmlformats.org/drawingml/2006/main" noGrp="1"/>
          </p:cNvSpPr>
          <p:nvPr/>
        </p:nvSpPr>
        <p:spPr>
          <a:xfrm xmlns:a="http://schemas.openxmlformats.org/drawingml/2006/main">
            <a:off x="44958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6648FD5-0BD5-4FE7-9997-C3BE996DFDF6}"/>
              </a:ext>
            </a:extLst>
          </p:cNvPr>
          <p:cNvSpPr>
            <a:spLocks xmlns:a="http://schemas.openxmlformats.org/drawingml/2006/main" noGrp="1"/>
          </p:cNvSpPr>
          <p:nvPr/>
        </p:nvSpPr>
        <p:spPr>
          <a:xfrm xmlns:a="http://schemas.openxmlformats.org/drawingml/2006/main">
            <a:off x="44958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31" name="">
            <a:extLst xmlns:a="http://schemas.openxmlformats.org/drawingml/2006/main">
              <a:ext uri="{FF2B5EF4-FFF2-40B4-BE49-F238E27FC236}">
                <a16:creationId xmlns:a16="http://schemas.microsoft.com/office/drawing/2014/main" id="{494AF926-172C-4BCE-BD0A-7F8DFC90643F}"/>
              </a:ext>
            </a:extLst>
          </p:cNvPr>
          <p:cNvSpPr>
            <a:spLocks xmlns:a="http://schemas.openxmlformats.org/drawingml/2006/main" noGrp="1"/>
          </p:cNvSpPr>
          <p:nvPr/>
        </p:nvSpPr>
        <p:spPr>
          <a:xfrm xmlns:a="http://schemas.openxmlformats.org/drawingml/2006/main">
            <a:off x="50101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複数動画を要約</a:t>
            </a:r>
          </a:p>
        </p:txBody>
      </p:sp>
      <p:sp>
        <p:nvSpPr>
          <p:cNvPr id="32" name="">
            <a:extLst xmlns:a="http://schemas.openxmlformats.org/drawingml/2006/main">
              <a:ext uri="{FF2B5EF4-FFF2-40B4-BE49-F238E27FC236}">
                <a16:creationId xmlns:a16="http://schemas.microsoft.com/office/drawing/2014/main" id="{3888EF91-EBCC-41C5-8830-131CB7C45DBD}"/>
              </a:ext>
            </a:extLst>
          </p:cNvPr>
          <p:cNvSpPr>
            <a:spLocks xmlns:a="http://schemas.openxmlformats.org/drawingml/2006/main" noGrp="1"/>
          </p:cNvSpPr>
          <p:nvPr/>
        </p:nvSpPr>
        <p:spPr>
          <a:xfrm xmlns:a="http://schemas.openxmlformats.org/drawingml/2006/main">
            <a:off x="65246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E89F94E-072C-4169-BC70-52692213C97D}"/>
              </a:ext>
            </a:extLst>
          </p:cNvPr>
          <p:cNvSpPr>
            <a:spLocks xmlns:a="http://schemas.openxmlformats.org/drawingml/2006/main" noGrp="1"/>
          </p:cNvSpPr>
          <p:nvPr/>
        </p:nvSpPr>
        <p:spPr>
          <a:xfrm xmlns:a="http://schemas.openxmlformats.org/drawingml/2006/main">
            <a:off x="6858000" y="5514975"/>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C6E4ADD3-BAFD-4FB7-A3DD-4A982D24E28B}"/>
              </a:ext>
            </a:extLst>
          </p:cNvPr>
          <p:cNvSpPr>
            <a:spLocks xmlns:a="http://schemas.openxmlformats.org/drawingml/2006/main" noGrp="1"/>
          </p:cNvSpPr>
          <p:nvPr/>
        </p:nvSpPr>
        <p:spPr>
          <a:xfrm xmlns:a="http://schemas.openxmlformats.org/drawingml/2006/main">
            <a:off x="68580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35" name="">
            <a:extLst xmlns:a="http://schemas.openxmlformats.org/drawingml/2006/main">
              <a:ext uri="{FF2B5EF4-FFF2-40B4-BE49-F238E27FC236}">
                <a16:creationId xmlns:a16="http://schemas.microsoft.com/office/drawing/2014/main" id="{D0DB2D20-DFD3-4EDD-84E2-6245CC1DAB03}"/>
              </a:ext>
            </a:extLst>
          </p:cNvPr>
          <p:cNvSpPr>
            <a:spLocks xmlns:a="http://schemas.openxmlformats.org/drawingml/2006/main" noGrp="1"/>
          </p:cNvSpPr>
          <p:nvPr/>
        </p:nvSpPr>
        <p:spPr>
          <a:xfrm xmlns:a="http://schemas.openxmlformats.org/drawingml/2006/main">
            <a:off x="73723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697"/>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中央側の動画上に表す</a:t>
            </a:r>
          </a:p>
        </p:txBody>
      </p:sp>
      <p:sp>
        <p:nvSpPr>
          <p:cNvPr id="36" name="">
            <a:extLst xmlns:a="http://schemas.openxmlformats.org/drawingml/2006/main">
              <a:ext uri="{FF2B5EF4-FFF2-40B4-BE49-F238E27FC236}">
                <a16:creationId xmlns:a16="http://schemas.microsoft.com/office/drawing/2014/main" id="{7A47A005-F933-48C7-9168-3CBB759C7DE5}"/>
              </a:ext>
            </a:extLst>
          </p:cNvPr>
          <p:cNvSpPr>
            <a:spLocks xmlns:a="http://schemas.openxmlformats.org/drawingml/2006/main" noGrp="1"/>
          </p:cNvSpPr>
          <p:nvPr/>
        </p:nvSpPr>
        <p:spPr>
          <a:xfrm xmlns:a="http://schemas.openxmlformats.org/drawingml/2006/main">
            <a:off x="88868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CEE96F48-6BED-4759-ADCE-D5621957F182}"/>
              </a:ext>
            </a:extLst>
          </p:cNvPr>
          <p:cNvSpPr>
            <a:spLocks xmlns:a="http://schemas.openxmlformats.org/drawingml/2006/main" noGrp="1"/>
          </p:cNvSpPr>
          <p:nvPr/>
        </p:nvSpPr>
        <p:spPr>
          <a:xfrm xmlns:a="http://schemas.openxmlformats.org/drawingml/2006/main">
            <a:off x="92202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F5302A4-7DEF-47ED-A501-F9B334CA31CA}"/>
              </a:ext>
            </a:extLst>
          </p:cNvPr>
          <p:cNvSpPr>
            <a:spLocks xmlns:a="http://schemas.openxmlformats.org/drawingml/2006/main" noGrp="1"/>
          </p:cNvSpPr>
          <p:nvPr/>
        </p:nvSpPr>
        <p:spPr>
          <a:xfrm xmlns:a="http://schemas.openxmlformats.org/drawingml/2006/main">
            <a:off x="92202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4</a:t>
            </a:r>
          </a:p>
        </p:txBody>
      </p:sp>
      <p:sp>
        <p:nvSpPr>
          <p:cNvPr id="39" name="">
            <a:extLst xmlns:a="http://schemas.openxmlformats.org/drawingml/2006/main">
              <a:ext uri="{FF2B5EF4-FFF2-40B4-BE49-F238E27FC236}">
                <a16:creationId xmlns:a16="http://schemas.microsoft.com/office/drawing/2014/main" id="{95C2B817-7505-41D0-A536-F9C899898082}"/>
              </a:ext>
            </a:extLst>
          </p:cNvPr>
          <p:cNvSpPr>
            <a:spLocks xmlns:a="http://schemas.openxmlformats.org/drawingml/2006/main" noGrp="1"/>
          </p:cNvSpPr>
          <p:nvPr/>
        </p:nvSpPr>
        <p:spPr>
          <a:xfrm xmlns:a="http://schemas.openxmlformats.org/drawingml/2006/main">
            <a:off x="97345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40" name="">
            <a:extLst xmlns:a="http://schemas.openxmlformats.org/drawingml/2006/main">
              <a:ext uri="{FF2B5EF4-FFF2-40B4-BE49-F238E27FC236}">
                <a16:creationId xmlns:a16="http://schemas.microsoft.com/office/drawing/2014/main" id="{DEF4D9C4-42BA-4242-BDD3-4C1274ACDEB9}"/>
              </a:ext>
            </a:extLst>
          </p:cNvPr>
          <p:cNvSpPr>
            <a:spLocks xmlns:a="http://schemas.openxmlformats.org/drawingml/2006/main" noGrp="1"/>
          </p:cNvSpPr>
          <p:nvPr/>
        </p:nvSpPr>
        <p:spPr>
          <a:xfrm xmlns:a="http://schemas.openxmlformats.org/drawingml/2006/main">
            <a:off x="857250" y="6076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47B78"/>
                </a:solidFill>
                <a:latin typeface="Yu Gothic"/>
                <a:ea typeface="Yu Gothic"/>
                <a:cs typeface="Yu Gothic"/>
              </a:defRPr>
            </a:pPr>
            <a:r>
              <a:rPr sz="1350" b="1">
                <a:solidFill>
                  <a:srgbClr val="147B78"/>
                </a:solidFill>
                <a:latin typeface="Yu Gothic"/>
                <a:ea typeface="Yu Gothic"/>
                <a:cs typeface="Yu Gothic"/>
              </a:rPr>
              <a:t>対象は共通タスク上の予測挙動。映像の意味内容全体や危険原因の説明は対象外</a:t>
            </a:r>
          </a:p>
        </p:txBody>
      </p:sp>
    </p:spTree>
    <p:extLst>
      <p:ext uri="{BB962C8B-B14F-4D97-AF65-F5344CB8AC3E}">
        <p14:creationId xmlns:p14="http://schemas.microsoft.com/office/powerpoint/2010/main" val="46954910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F3CB91E-74F9-4608-B4A3-3BD2F5E610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B8757D-CBEE-424D-BD7F-9063D551EE0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F1834F-FD18-4EA8-87AE-577FCEC7C12B}"/>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1本の動画で、学習前後の判定変化を測る</a:t>
            </a:r>
          </a:p>
        </p:txBody>
      </p:sp>
      <p:sp>
        <p:nvSpPr>
          <p:cNvPr id="4" name="">
            <a:extLst xmlns:a="http://schemas.openxmlformats.org/drawingml/2006/main">
              <a:ext uri="{FF2B5EF4-FFF2-40B4-BE49-F238E27FC236}">
                <a16:creationId xmlns:a16="http://schemas.microsoft.com/office/drawing/2014/main" id="{D625A8AF-0B02-4263-81B1-6BDDDFCF1D2B}"/>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1066A92C-4114-43A8-A39E-8A20D012827E}"/>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8012A67-AA5C-4683-B4CA-D7B836C9100C}"/>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EF26F76F-47F7-433E-90FC-CE42B90D5E95}"/>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9</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5173449933334429"/>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FE0C79F-F5FC-416E-89E5-551054C64D20}"/>
              </a:ext>
            </a:extLst>
          </p:cNvPr>
          <p:cNvSpPr>
            <a:spLocks xmlns:a="http://schemas.openxmlformats.org/drawingml/2006/main" noGrp="1"/>
          </p:cNvSpPr>
          <p:nvPr/>
        </p:nvSpPr>
        <p:spPr>
          <a:xfrm xmlns:a="http://schemas.openxmlformats.org/drawingml/2006/main">
            <a:off x="5524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危険区間の開始</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cb912f0dd68242f2"/>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CCBA61A-F2ED-480D-8AC1-3F06FB482CAD}"/>
              </a:ext>
            </a:extLst>
          </p:cNvPr>
          <p:cNvSpPr>
            <a:spLocks xmlns:a="http://schemas.openxmlformats.org/drawingml/2006/main" noGrp="1"/>
          </p:cNvSpPr>
          <p:nvPr/>
        </p:nvSpPr>
        <p:spPr>
          <a:xfrm xmlns:a="http://schemas.openxmlformats.org/drawingml/2006/main">
            <a:off x="33718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80b165b567ac473e"/>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8C97C377-E0C2-4C67-A66E-D21042C9FDD3}"/>
              </a:ext>
            </a:extLst>
          </p:cNvPr>
          <p:cNvSpPr>
            <a:spLocks xmlns:a="http://schemas.openxmlformats.org/drawingml/2006/main" noGrp="1"/>
          </p:cNvSpPr>
          <p:nvPr/>
        </p:nvSpPr>
        <p:spPr>
          <a:xfrm xmlns:a="http://schemas.openxmlformats.org/drawingml/2006/main">
            <a:off x="61912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516df2330c914b3c"/>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BA996824-3A9E-4862-910F-E06782CCF7D3}"/>
              </a:ext>
            </a:extLst>
          </p:cNvPr>
          <p:cNvSpPr>
            <a:spLocks xmlns:a="http://schemas.openxmlformats.org/drawingml/2006/main" noGrp="1"/>
          </p:cNvSpPr>
          <p:nvPr/>
        </p:nvSpPr>
        <p:spPr>
          <a:xfrm xmlns:a="http://schemas.openxmlformats.org/drawingml/2006/main">
            <a:off x="90106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危険事象の時点</a:t>
            </a:r>
          </a:p>
        </p:txBody>
      </p:sp>
      <p:sp>
        <p:nvSpPr>
          <p:cNvPr id="16" name="">
            <a:extLst xmlns:a="http://schemas.openxmlformats.org/drawingml/2006/main">
              <a:ext uri="{FF2B5EF4-FFF2-40B4-BE49-F238E27FC236}">
                <a16:creationId xmlns:a16="http://schemas.microsoft.com/office/drawing/2014/main" id="{0E85964B-4825-4B12-8CF7-07318D4AD3AF}"/>
              </a:ext>
            </a:extLst>
          </p:cNvPr>
          <p:cNvSpPr>
            <a:spLocks xmlns:a="http://schemas.openxmlformats.org/drawingml/2006/main" noGrp="1"/>
          </p:cNvSpPr>
          <p:nvPr/>
        </p:nvSpPr>
        <p:spPr>
          <a:xfrm xmlns:a="http://schemas.openxmlformats.org/drawingml/2006/main">
            <a:off x="723900" y="30956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147B78"/>
                </a:solidFill>
                <a:latin typeface="Yu Gothic"/>
                <a:ea typeface="Yu Gothic"/>
                <a:cs typeface="Yu Gothic"/>
              </a:defRPr>
            </a:pPr>
            <a:r>
              <a:rPr sz="1425" b="1">
                <a:solidFill>
                  <a:srgbClr val="147B78"/>
                </a:solidFill>
                <a:latin typeface="Yu Gothic"/>
                <a:ea typeface="Yu Gothic"/>
                <a:cs typeface="Yu Gothic"/>
              </a:rPr>
              <a:t>q = [通常の確率, 危険の確率]　この例では危険の確率だけを表示</a:t>
            </a:r>
          </a:p>
        </p:txBody>
      </p:sp>
      <p:sp>
        <p:nvSpPr>
          <p:cNvPr id="17" name="">
            <a:extLst xmlns:a="http://schemas.openxmlformats.org/drawingml/2006/main">
              <a:ext uri="{FF2B5EF4-FFF2-40B4-BE49-F238E27FC236}">
                <a16:creationId xmlns:a16="http://schemas.microsoft.com/office/drawing/2014/main" id="{A509EF77-DD4C-4AD8-88BE-CE4A2DEF95CA}"/>
              </a:ext>
            </a:extLst>
          </p:cNvPr>
          <p:cNvSpPr>
            <a:spLocks xmlns:a="http://schemas.openxmlformats.org/drawingml/2006/main" noGrp="1"/>
          </p:cNvSpPr>
          <p:nvPr/>
        </p:nvSpPr>
        <p:spPr>
          <a:xfrm xmlns:a="http://schemas.openxmlformats.org/drawingml/2006/main">
            <a:off x="9334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学習前  qᵖʳᵉ</a:t>
            </a:r>
          </a:p>
        </p:txBody>
      </p:sp>
      <p:sp>
        <p:nvSpPr>
          <p:cNvPr id="18" name="">
            <a:extLst xmlns:a="http://schemas.openxmlformats.org/drawingml/2006/main">
              <a:ext uri="{FF2B5EF4-FFF2-40B4-BE49-F238E27FC236}">
                <a16:creationId xmlns:a16="http://schemas.microsoft.com/office/drawing/2014/main" id="{74E52653-EB4E-48C6-8325-0B414648F96A}"/>
              </a:ext>
            </a:extLst>
          </p:cNvPr>
          <p:cNvSpPr>
            <a:spLocks xmlns:a="http://schemas.openxmlformats.org/drawingml/2006/main" noGrp="1"/>
          </p:cNvSpPr>
          <p:nvPr/>
        </p:nvSpPr>
        <p:spPr>
          <a:xfrm xmlns:a="http://schemas.openxmlformats.org/drawingml/2006/main">
            <a:off x="9334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0DE88906-3FE9-4434-944B-CD0DD47247A0}"/>
              </a:ext>
            </a:extLst>
          </p:cNvPr>
          <p:cNvSpPr>
            <a:spLocks xmlns:a="http://schemas.openxmlformats.org/drawingml/2006/main" noGrp="1"/>
          </p:cNvSpPr>
          <p:nvPr/>
        </p:nvSpPr>
        <p:spPr>
          <a:xfrm xmlns:a="http://schemas.openxmlformats.org/drawingml/2006/main">
            <a:off x="9334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局所学習前の危険確率</a:t>
            </a:r>
          </a:p>
        </p:txBody>
      </p:sp>
      <p:sp>
        <p:nvSpPr>
          <p:cNvPr id="20" name="">
            <a:extLst xmlns:a="http://schemas.openxmlformats.org/drawingml/2006/main">
              <a:ext uri="{FF2B5EF4-FFF2-40B4-BE49-F238E27FC236}">
                <a16:creationId xmlns:a16="http://schemas.microsoft.com/office/drawing/2014/main" id="{14F243FF-568B-478B-AF55-B01A71EF8E82}"/>
              </a:ext>
            </a:extLst>
          </p:cNvPr>
          <p:cNvSpPr>
            <a:spLocks xmlns:a="http://schemas.openxmlformats.org/drawingml/2006/main" noGrp="1"/>
          </p:cNvSpPr>
          <p:nvPr/>
        </p:nvSpPr>
        <p:spPr>
          <a:xfrm xmlns:a="http://schemas.openxmlformats.org/drawingml/2006/main">
            <a:off x="417195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59B81BB-5653-4F71-92BF-D57198C7E760}"/>
              </a:ext>
            </a:extLst>
          </p:cNvPr>
          <p:cNvSpPr>
            <a:spLocks xmlns:a="http://schemas.openxmlformats.org/drawingml/2006/main" noGrp="1"/>
          </p:cNvSpPr>
          <p:nvPr/>
        </p:nvSpPr>
        <p:spPr>
          <a:xfrm xmlns:a="http://schemas.openxmlformats.org/drawingml/2006/main">
            <a:off x="464820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学習後  qᵖᵒˢᵗ</a:t>
            </a:r>
          </a:p>
        </p:txBody>
      </p:sp>
      <p:sp>
        <p:nvSpPr>
          <p:cNvPr id="22" name="">
            <a:extLst xmlns:a="http://schemas.openxmlformats.org/drawingml/2006/main">
              <a:ext uri="{FF2B5EF4-FFF2-40B4-BE49-F238E27FC236}">
                <a16:creationId xmlns:a16="http://schemas.microsoft.com/office/drawing/2014/main" id="{C48E4E1D-B515-4EF8-8893-0D5F51E24B05}"/>
              </a:ext>
            </a:extLst>
          </p:cNvPr>
          <p:cNvSpPr>
            <a:spLocks xmlns:a="http://schemas.openxmlformats.org/drawingml/2006/main" noGrp="1"/>
          </p:cNvSpPr>
          <p:nvPr/>
        </p:nvSpPr>
        <p:spPr>
          <a:xfrm xmlns:a="http://schemas.openxmlformats.org/drawingml/2006/main">
            <a:off x="464820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0.644</a:t>
            </a:r>
          </a:p>
        </p:txBody>
      </p:sp>
      <p:sp>
        <p:nvSpPr>
          <p:cNvPr id="23" name="">
            <a:extLst xmlns:a="http://schemas.openxmlformats.org/drawingml/2006/main">
              <a:ext uri="{FF2B5EF4-FFF2-40B4-BE49-F238E27FC236}">
                <a16:creationId xmlns:a16="http://schemas.microsoft.com/office/drawing/2014/main" id="{1D386B58-EA33-4EC1-9BE9-26956F800A3F}"/>
              </a:ext>
            </a:extLst>
          </p:cNvPr>
          <p:cNvSpPr>
            <a:spLocks xmlns:a="http://schemas.openxmlformats.org/drawingml/2006/main" noGrp="1"/>
          </p:cNvSpPr>
          <p:nvPr/>
        </p:nvSpPr>
        <p:spPr>
          <a:xfrm xmlns:a="http://schemas.openxmlformats.org/drawingml/2006/main">
            <a:off x="464820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同じ動画を学習後に再判定</a:t>
            </a:r>
          </a:p>
        </p:txBody>
      </p:sp>
      <p:sp>
        <p:nvSpPr>
          <p:cNvPr id="24" name="">
            <a:extLst xmlns:a="http://schemas.openxmlformats.org/drawingml/2006/main">
              <a:ext uri="{FF2B5EF4-FFF2-40B4-BE49-F238E27FC236}">
                <a16:creationId xmlns:a16="http://schemas.microsoft.com/office/drawing/2014/main" id="{70F308D9-E2CE-4B6D-8634-EC2FCA44A088}"/>
              </a:ext>
            </a:extLst>
          </p:cNvPr>
          <p:cNvSpPr>
            <a:spLocks xmlns:a="http://schemas.openxmlformats.org/drawingml/2006/main" noGrp="1"/>
          </p:cNvSpPr>
          <p:nvPr/>
        </p:nvSpPr>
        <p:spPr>
          <a:xfrm xmlns:a="http://schemas.openxmlformats.org/drawingml/2006/main">
            <a:off x="788670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4D47EDD-F8C6-4BD0-8AF4-F718AE81D48A}"/>
              </a:ext>
            </a:extLst>
          </p:cNvPr>
          <p:cNvSpPr>
            <a:spLocks xmlns:a="http://schemas.openxmlformats.org/drawingml/2006/main" noGrp="1"/>
          </p:cNvSpPr>
          <p:nvPr/>
        </p:nvSpPr>
        <p:spPr>
          <a:xfrm xmlns:a="http://schemas.openxmlformats.org/drawingml/2006/main">
            <a:off x="83629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変化量  Δq</a:t>
            </a:r>
          </a:p>
        </p:txBody>
      </p:sp>
      <p:sp>
        <p:nvSpPr>
          <p:cNvPr id="26" name="">
            <a:extLst xmlns:a="http://schemas.openxmlformats.org/drawingml/2006/main">
              <a:ext uri="{FF2B5EF4-FFF2-40B4-BE49-F238E27FC236}">
                <a16:creationId xmlns:a16="http://schemas.microsoft.com/office/drawing/2014/main" id="{BE992472-BA22-46C4-954F-8DA516324AC9}"/>
              </a:ext>
            </a:extLst>
          </p:cNvPr>
          <p:cNvSpPr>
            <a:spLocks xmlns:a="http://schemas.openxmlformats.org/drawingml/2006/main" noGrp="1"/>
          </p:cNvSpPr>
          <p:nvPr/>
        </p:nvSpPr>
        <p:spPr>
          <a:xfrm xmlns:a="http://schemas.openxmlformats.org/drawingml/2006/main">
            <a:off x="83629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E7833D"/>
                </a:solidFill>
                <a:latin typeface="Yu Gothic"/>
                <a:ea typeface="Yu Gothic"/>
                <a:cs typeface="Yu Gothic"/>
              </a:defRPr>
            </a:pPr>
            <a:r>
              <a:rPr sz="3150" b="1">
                <a:solidFill>
                  <a:srgbClr val="E7833D"/>
                </a:solidFill>
                <a:latin typeface="Yu Gothic"/>
                <a:ea typeface="Yu Gothic"/>
                <a:cs typeface="Yu Gothic"/>
              </a:rPr>
              <a:t>+0.295</a:t>
            </a:r>
          </a:p>
        </p:txBody>
      </p:sp>
      <p:sp>
        <p:nvSpPr>
          <p:cNvPr id="27" name="">
            <a:extLst xmlns:a="http://schemas.openxmlformats.org/drawingml/2006/main">
              <a:ext uri="{FF2B5EF4-FFF2-40B4-BE49-F238E27FC236}">
                <a16:creationId xmlns:a16="http://schemas.microsoft.com/office/drawing/2014/main" id="{585CEB32-DEE9-4B8A-B64D-2944082FCC43}"/>
              </a:ext>
            </a:extLst>
          </p:cNvPr>
          <p:cNvSpPr>
            <a:spLocks xmlns:a="http://schemas.openxmlformats.org/drawingml/2006/main" noGrp="1"/>
          </p:cNvSpPr>
          <p:nvPr/>
        </p:nvSpPr>
        <p:spPr>
          <a:xfrm xmlns:a="http://schemas.openxmlformats.org/drawingml/2006/main">
            <a:off x="83629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危険側へ動いた量</a:t>
            </a:r>
          </a:p>
        </p:txBody>
      </p:sp>
      <p:sp>
        <p:nvSpPr>
          <p:cNvPr id="28" name="">
            <a:extLst xmlns:a="http://schemas.openxmlformats.org/drawingml/2006/main">
              <a:ext uri="{FF2B5EF4-FFF2-40B4-BE49-F238E27FC236}">
                <a16:creationId xmlns:a16="http://schemas.microsoft.com/office/drawing/2014/main" id="{3FEFAAAA-8FD0-49CD-92B4-8F708F6D9A0B}"/>
              </a:ext>
            </a:extLst>
          </p:cNvPr>
          <p:cNvSpPr>
            <a:spLocks xmlns:a="http://schemas.openxmlformats.org/drawingml/2006/main" noGrp="1"/>
          </p:cNvSpPr>
          <p:nvPr/>
        </p:nvSpPr>
        <p:spPr>
          <a:xfrm xmlns:a="http://schemas.openxmlformats.org/drawingml/2006/main">
            <a:off x="704850" y="5419725"/>
            <a:ext cx="10782300" cy="666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DCCA390-0B00-4FEB-94C6-E568985338CA}"/>
              </a:ext>
            </a:extLst>
          </p:cNvPr>
          <p:cNvSpPr>
            <a:spLocks xmlns:a="http://schemas.openxmlformats.org/drawingml/2006/main" noGrp="1"/>
          </p:cNvSpPr>
          <p:nvPr/>
        </p:nvSpPr>
        <p:spPr>
          <a:xfrm xmlns:a="http://schemas.openxmlformats.org/drawingml/2006/main">
            <a:off x="952500" y="55435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26373D"/>
                </a:solidFill>
                <a:latin typeface="Yu Gothic"/>
                <a:ea typeface="Yu Gothic"/>
                <a:cs typeface="Yu Gothic"/>
              </a:defRPr>
            </a:pPr>
            <a:r>
              <a:rPr sz="1500" b="1">
                <a:solidFill>
                  <a:srgbClr val="26373D"/>
                </a:solidFill>
                <a:latin typeface="Yu Gothic"/>
                <a:ea typeface="Yu Gothic"/>
                <a:cs typeface="Yu Gothic"/>
              </a:rPr>
              <a:t>ここで分かるのは、同じ入力への判定が危険側へ動いたことまで。危険理由や性能向上はまだ分からない。</a:t>
            </a:r>
          </a:p>
        </p:txBody>
      </p:sp>
      <p:sp>
        <p:nvSpPr>
          <p:cNvPr id="30" name="">
            <a:extLst xmlns:a="http://schemas.openxmlformats.org/drawingml/2006/main">
              <a:ext uri="{FF2B5EF4-FFF2-40B4-BE49-F238E27FC236}">
                <a16:creationId xmlns:a16="http://schemas.microsoft.com/office/drawing/2014/main" id="{CBAF0242-10F1-4E51-96C9-E26C9B970F50}"/>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43813050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FB4E939-7758-4B06-984B-2187B8EA45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945443-5524-4C69-A9F1-F6797BEE5DA7}"/>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C81E38-3565-452F-8AB6-1BEF2923C023}"/>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複数動画の反応を、3つの値に要約する</a:t>
            </a:r>
          </a:p>
        </p:txBody>
      </p:sp>
      <p:sp>
        <p:nvSpPr>
          <p:cNvPr id="4" name="">
            <a:extLst xmlns:a="http://schemas.openxmlformats.org/drawingml/2006/main">
              <a:ext uri="{FF2B5EF4-FFF2-40B4-BE49-F238E27FC236}">
                <a16:creationId xmlns:a16="http://schemas.microsoft.com/office/drawing/2014/main" id="{4C4B9396-8FA5-4027-ABA4-40252E73691C}"/>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9114AA6D-11C5-4BB7-B5C6-18A4969F8ED5}"/>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1E8AE6C-7DA5-465A-A345-4A042CA226F3}"/>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EDE757E-A3C3-4AE6-9088-DD2EE6D17D0F}"/>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9</a:t>
            </a:r>
          </a:p>
        </p:txBody>
      </p:sp>
      <p:sp>
        <p:nvSpPr>
          <p:cNvPr id="8" name="">
            <a:extLst xmlns:a="http://schemas.openxmlformats.org/drawingml/2006/main">
              <a:ext uri="{FF2B5EF4-FFF2-40B4-BE49-F238E27FC236}">
                <a16:creationId xmlns:a16="http://schemas.microsoft.com/office/drawing/2014/main" id="{F9CC1923-F075-4147-996E-3518E59A328C}"/>
              </a:ext>
            </a:extLst>
          </p:cNvPr>
          <p:cNvSpPr>
            <a:spLocks xmlns:a="http://schemas.openxmlformats.org/drawingml/2006/main" noGrp="1"/>
          </p:cNvSpPr>
          <p:nvPr/>
        </p:nvSpPr>
        <p:spPr>
          <a:xfrm xmlns:a="http://schemas.openxmlformats.org/drawingml/2006/main">
            <a:off x="609600" y="1066800"/>
            <a:ext cx="600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同じ現場側AIの危険動画3本</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ec4198591af24f74"/>
          <a:srcRect xmlns:a="http://schemas.openxmlformats.org/drawingml/2006/main" l="58" t="0" r="58" b="0"/>
          <a:stretch xmlns:a="http://schemas.openxmlformats.org/drawingml/2006/main">
            <a:fillRect l="0" t="0" r="0" b="0"/>
          </a:stretch>
        </p:blipFill>
        <p:spPr>
          <a:xfrm xmlns:a="http://schemas.openxmlformats.org/drawingml/2006/main">
            <a:off x="609600" y="1466850"/>
            <a:ext cx="1809750" cy="10191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E01899A-FEBB-4BF3-8570-0191E0723F5D}"/>
              </a:ext>
            </a:extLst>
          </p:cNvPr>
          <p:cNvSpPr>
            <a:spLocks xmlns:a="http://schemas.openxmlformats.org/drawingml/2006/main" noGrp="1"/>
          </p:cNvSpPr>
          <p:nvPr/>
        </p:nvSpPr>
        <p:spPr>
          <a:xfrm xmlns:a="http://schemas.openxmlformats.org/drawingml/2006/main">
            <a:off x="6096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0.600</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+0.336</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661969cb8ad34351"/>
          <a:srcRect xmlns:a="http://schemas.openxmlformats.org/drawingml/2006/main" l="58" t="0" r="58" b="0"/>
          <a:stretch xmlns:a="http://schemas.openxmlformats.org/drawingml/2006/main">
            <a:fillRect l="0" t="0" r="0" b="0"/>
          </a:stretch>
        </p:blipFill>
        <p:spPr>
          <a:xfrm xmlns:a="http://schemas.openxmlformats.org/drawingml/2006/main">
            <a:off x="2609850" y="1466850"/>
            <a:ext cx="1809750" cy="10191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63AED03-FD78-484C-AA86-EA14BD545C80}"/>
              </a:ext>
            </a:extLst>
          </p:cNvPr>
          <p:cNvSpPr>
            <a:spLocks xmlns:a="http://schemas.openxmlformats.org/drawingml/2006/main" noGrp="1"/>
          </p:cNvSpPr>
          <p:nvPr/>
        </p:nvSpPr>
        <p:spPr>
          <a:xfrm xmlns:a="http://schemas.openxmlformats.org/drawingml/2006/main">
            <a:off x="260985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0.644</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+0.295</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7d0d2b428d3a40f1"/>
          <a:srcRect xmlns:a="http://schemas.openxmlformats.org/drawingml/2006/main" l="58" t="0" r="58" b="0"/>
          <a:stretch xmlns:a="http://schemas.openxmlformats.org/drawingml/2006/main">
            <a:fillRect l="0" t="0" r="0" b="0"/>
          </a:stretch>
        </p:blipFill>
        <p:spPr>
          <a:xfrm xmlns:a="http://schemas.openxmlformats.org/drawingml/2006/main">
            <a:off x="4610100" y="1466850"/>
            <a:ext cx="1809750" cy="10191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3E1E3FAD-9697-4AC3-93D3-2544D1752EFF}"/>
              </a:ext>
            </a:extLst>
          </p:cNvPr>
          <p:cNvSpPr>
            <a:spLocks xmlns:a="http://schemas.openxmlformats.org/drawingml/2006/main" noGrp="1"/>
          </p:cNvSpPr>
          <p:nvPr/>
        </p:nvSpPr>
        <p:spPr>
          <a:xfrm xmlns:a="http://schemas.openxmlformats.org/drawingml/2006/main">
            <a:off x="46101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0.929</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+0.082</a:t>
            </a:r>
          </a:p>
        </p:txBody>
      </p:sp>
      <p:sp>
        <p:nvSpPr>
          <p:cNvPr id="15" name="">
            <a:extLst xmlns:a="http://schemas.openxmlformats.org/drawingml/2006/main">
              <a:ext uri="{FF2B5EF4-FFF2-40B4-BE49-F238E27FC236}">
                <a16:creationId xmlns:a16="http://schemas.microsoft.com/office/drawing/2014/main" id="{6A0A4BD1-4E11-4B26-955E-6F39B379280B}"/>
              </a:ext>
            </a:extLst>
          </p:cNvPr>
          <p:cNvSpPr>
            <a:spLocks xmlns:a="http://schemas.openxmlformats.org/drawingml/2006/main" noGrp="1"/>
          </p:cNvSpPr>
          <p:nvPr/>
        </p:nvSpPr>
        <p:spPr>
          <a:xfrm xmlns:a="http://schemas.openxmlformats.org/drawingml/2006/main">
            <a:off x="2581275" y="1438275"/>
            <a:ext cx="1866900" cy="1076325"/>
          </a:xfrm>
          <a:prstGeom xmlns:a="http://schemas.openxmlformats.org/drawingml/2006/main" prst="rect">
            <a:avLst/>
          </a:prstGeom>
          <a:noFill xmlns:a="http://schemas.openxmlformats.org/drawingml/2006/main"/>
          <a:ln xmlns:a="http://schemas.openxmlformats.org/drawingml/2006/main" w="28575">
            <a:solidFill>
              <a:srgbClr val="E7833D"/>
            </a:solidFill>
          </a:ln>
        </p:spPr>
      </p:sp>
      <p:sp>
        <p:nvSpPr>
          <p:cNvPr id="16" name="">
            <a:extLst xmlns:a="http://schemas.openxmlformats.org/drawingml/2006/main">
              <a:ext uri="{FF2B5EF4-FFF2-40B4-BE49-F238E27FC236}">
                <a16:creationId xmlns:a16="http://schemas.microsoft.com/office/drawing/2014/main" id="{6A592881-5399-4FB6-AD96-90949DB83E2F}"/>
              </a:ext>
            </a:extLst>
          </p:cNvPr>
          <p:cNvSpPr>
            <a:spLocks xmlns:a="http://schemas.openxmlformats.org/drawingml/2006/main" noGrp="1"/>
          </p:cNvSpPr>
          <p:nvPr/>
        </p:nvSpPr>
        <p:spPr>
          <a:xfrm xmlns:a="http://schemas.openxmlformats.org/drawingml/2006/main">
            <a:off x="2647950" y="1504950"/>
            <a:ext cx="876300" cy="209550"/>
          </a:xfrm>
          <a:prstGeom xmlns:a="http://schemas.openxmlformats.org/drawingml/2006/main" prst="rect">
            <a:avLst/>
          </a:prstGeom>
          <a:solidFill xmlns:a="http://schemas.openxmlformats.org/drawingml/2006/main">
            <a:srgbClr val="E7833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FFFFFF"/>
                </a:solidFill>
                <a:latin typeface="Yu Gothic"/>
                <a:ea typeface="Yu Gothic"/>
                <a:cs typeface="Yu Gothic"/>
              </a:defRPr>
            </a:pPr>
            <a:r>
              <a:rPr sz="900" b="1">
                <a:solidFill>
                  <a:srgbClr val="FFFFFF"/>
                </a:solidFill>
                <a:latin typeface="Yu Gothic"/>
                <a:ea typeface="Yu Gothic"/>
                <a:cs typeface="Yu Gothic"/>
              </a:rPr>
              <a:t>2枚目の動画</a:t>
            </a:r>
          </a:p>
        </p:txBody>
      </p:sp>
      <p:sp>
        <p:nvSpPr>
          <p:cNvPr id="17" name="">
            <a:extLst xmlns:a="http://schemas.openxmlformats.org/drawingml/2006/main">
              <a:ext uri="{FF2B5EF4-FFF2-40B4-BE49-F238E27FC236}">
                <a16:creationId xmlns:a16="http://schemas.microsoft.com/office/drawing/2014/main" id="{3E1D1281-D186-4E1A-8C08-A9E409CFBAB2}"/>
              </a:ext>
            </a:extLst>
          </p:cNvPr>
          <p:cNvSpPr>
            <a:spLocks xmlns:a="http://schemas.openxmlformats.org/drawingml/2006/main" noGrp="1"/>
          </p:cNvSpPr>
          <p:nvPr/>
        </p:nvSpPr>
        <p:spPr>
          <a:xfrm xmlns:a="http://schemas.openxmlformats.org/drawingml/2006/main">
            <a:off x="6762750" y="1123950"/>
            <a:ext cx="19050" cy="2476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E20D19E-403A-4FE0-9C6C-87AB22F35A16}"/>
              </a:ext>
            </a:extLst>
          </p:cNvPr>
          <p:cNvSpPr>
            <a:spLocks xmlns:a="http://schemas.openxmlformats.org/drawingml/2006/main" noGrp="1"/>
          </p:cNvSpPr>
          <p:nvPr/>
        </p:nvSpPr>
        <p:spPr>
          <a:xfrm xmlns:a="http://schemas.openxmlformats.org/drawingml/2006/main">
            <a:off x="7143750" y="11239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73B4B"/>
                </a:solidFill>
                <a:latin typeface="Yu Gothic"/>
                <a:ea typeface="Yu Gothic"/>
                <a:cs typeface="Yu Gothic"/>
              </a:defRPr>
            </a:pPr>
            <a:r>
              <a:rPr sz="1875" b="1">
                <a:solidFill>
                  <a:srgbClr val="173B4B"/>
                </a:solidFill>
                <a:latin typeface="Yu Gothic"/>
                <a:ea typeface="Yu Gothic"/>
                <a:cs typeface="Yu Gothic"/>
              </a:rPr>
              <a:t>3本を平均して作る Qₖ,ᵣ</a:t>
            </a:r>
          </a:p>
        </p:txBody>
      </p:sp>
      <p:sp>
        <p:nvSpPr>
          <p:cNvPr id="19" name="">
            <a:extLst xmlns:a="http://schemas.openxmlformats.org/drawingml/2006/main">
              <a:ext uri="{FF2B5EF4-FFF2-40B4-BE49-F238E27FC236}">
                <a16:creationId xmlns:a16="http://schemas.microsoft.com/office/drawing/2014/main" id="{44AE1EC9-862D-4CDB-AEB6-D9E51D92E256}"/>
              </a:ext>
            </a:extLst>
          </p:cNvPr>
          <p:cNvSpPr>
            <a:spLocks xmlns:a="http://schemas.openxmlformats.org/drawingml/2006/main" noGrp="1"/>
          </p:cNvSpPr>
          <p:nvPr/>
        </p:nvSpPr>
        <p:spPr>
          <a:xfrm xmlns:a="http://schemas.openxmlformats.org/drawingml/2006/main">
            <a:off x="73342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μᵖᵒˢᵗₖ,ᵣ</a:t>
            </a:r>
          </a:p>
        </p:txBody>
      </p:sp>
      <p:sp>
        <p:nvSpPr>
          <p:cNvPr id="20" name="">
            <a:extLst xmlns:a="http://schemas.openxmlformats.org/drawingml/2006/main">
              <a:ext uri="{FF2B5EF4-FFF2-40B4-BE49-F238E27FC236}">
                <a16:creationId xmlns:a16="http://schemas.microsoft.com/office/drawing/2014/main" id="{0613FE92-7DAF-4855-A365-E69971F352FB}"/>
              </a:ext>
            </a:extLst>
          </p:cNvPr>
          <p:cNvSpPr>
            <a:spLocks xmlns:a="http://schemas.openxmlformats.org/drawingml/2006/main" noGrp="1"/>
          </p:cNvSpPr>
          <p:nvPr/>
        </p:nvSpPr>
        <p:spPr>
          <a:xfrm xmlns:a="http://schemas.openxmlformats.org/drawingml/2006/main">
            <a:off x="73342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0.724</a:t>
            </a:r>
          </a:p>
        </p:txBody>
      </p:sp>
      <p:sp>
        <p:nvSpPr>
          <p:cNvPr id="21" name="">
            <a:extLst xmlns:a="http://schemas.openxmlformats.org/drawingml/2006/main">
              <a:ext uri="{FF2B5EF4-FFF2-40B4-BE49-F238E27FC236}">
                <a16:creationId xmlns:a16="http://schemas.microsoft.com/office/drawing/2014/main" id="{D128DEDC-BB1D-491E-ADE9-7C85324FA6D2}"/>
              </a:ext>
            </a:extLst>
          </p:cNvPr>
          <p:cNvSpPr>
            <a:spLocks xmlns:a="http://schemas.openxmlformats.org/drawingml/2006/main" noGrp="1"/>
          </p:cNvSpPr>
          <p:nvPr/>
        </p:nvSpPr>
        <p:spPr>
          <a:xfrm xmlns:a="http://schemas.openxmlformats.org/drawingml/2006/main">
            <a:off x="73342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学習後の危険確率</a:t>
            </a:r>
          </a:p>
        </p:txBody>
      </p:sp>
      <p:sp>
        <p:nvSpPr>
          <p:cNvPr id="22" name="">
            <a:extLst xmlns:a="http://schemas.openxmlformats.org/drawingml/2006/main">
              <a:ext uri="{FF2B5EF4-FFF2-40B4-BE49-F238E27FC236}">
                <a16:creationId xmlns:a16="http://schemas.microsoft.com/office/drawing/2014/main" id="{847B5123-A66D-4E44-96D3-AF7582D573B9}"/>
              </a:ext>
            </a:extLst>
          </p:cNvPr>
          <p:cNvSpPr>
            <a:spLocks xmlns:a="http://schemas.openxmlformats.org/drawingml/2006/main" noGrp="1"/>
          </p:cNvSpPr>
          <p:nvPr/>
        </p:nvSpPr>
        <p:spPr>
          <a:xfrm xmlns:a="http://schemas.openxmlformats.org/drawingml/2006/main">
            <a:off x="94297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Δμₖ,ᵣ</a:t>
            </a:r>
          </a:p>
        </p:txBody>
      </p:sp>
      <p:sp>
        <p:nvSpPr>
          <p:cNvPr id="23" name="">
            <a:extLst xmlns:a="http://schemas.openxmlformats.org/drawingml/2006/main">
              <a:ext uri="{FF2B5EF4-FFF2-40B4-BE49-F238E27FC236}">
                <a16:creationId xmlns:a16="http://schemas.microsoft.com/office/drawing/2014/main" id="{D283A7E2-CB51-4766-8BD4-32C9AB18761D}"/>
              </a:ext>
            </a:extLst>
          </p:cNvPr>
          <p:cNvSpPr>
            <a:spLocks xmlns:a="http://schemas.openxmlformats.org/drawingml/2006/main" noGrp="1"/>
          </p:cNvSpPr>
          <p:nvPr/>
        </p:nvSpPr>
        <p:spPr>
          <a:xfrm xmlns:a="http://schemas.openxmlformats.org/drawingml/2006/main">
            <a:off x="94297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+0.238</a:t>
            </a:r>
          </a:p>
        </p:txBody>
      </p:sp>
      <p:sp>
        <p:nvSpPr>
          <p:cNvPr id="24" name="">
            <a:extLst xmlns:a="http://schemas.openxmlformats.org/drawingml/2006/main">
              <a:ext uri="{FF2B5EF4-FFF2-40B4-BE49-F238E27FC236}">
                <a16:creationId xmlns:a16="http://schemas.microsoft.com/office/drawing/2014/main" id="{1124C980-09D1-4D37-8EE8-F3D682C241FE}"/>
              </a:ext>
            </a:extLst>
          </p:cNvPr>
          <p:cNvSpPr>
            <a:spLocks xmlns:a="http://schemas.openxmlformats.org/drawingml/2006/main" noGrp="1"/>
          </p:cNvSpPr>
          <p:nvPr/>
        </p:nvSpPr>
        <p:spPr>
          <a:xfrm xmlns:a="http://schemas.openxmlformats.org/drawingml/2006/main">
            <a:off x="94297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平均した変化量</a:t>
            </a:r>
          </a:p>
        </p:txBody>
      </p:sp>
      <p:sp>
        <p:nvSpPr>
          <p:cNvPr id="25" name="">
            <a:extLst xmlns:a="http://schemas.openxmlformats.org/drawingml/2006/main">
              <a:ext uri="{FF2B5EF4-FFF2-40B4-BE49-F238E27FC236}">
                <a16:creationId xmlns:a16="http://schemas.microsoft.com/office/drawing/2014/main" id="{2C39758D-B489-463F-8757-2B454FD39318}"/>
              </a:ext>
            </a:extLst>
          </p:cNvPr>
          <p:cNvSpPr>
            <a:spLocks xmlns:a="http://schemas.openxmlformats.org/drawingml/2006/main" noGrp="1"/>
          </p:cNvSpPr>
          <p:nvPr/>
        </p:nvSpPr>
        <p:spPr>
          <a:xfrm xmlns:a="http://schemas.openxmlformats.org/drawingml/2006/main">
            <a:off x="7334250" y="308610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πₖ,ᵣ = 3　まとめた動画の本数</a:t>
            </a:r>
          </a:p>
        </p:txBody>
      </p:sp>
      <p:sp>
        <p:nvSpPr>
          <p:cNvPr id="26" name="">
            <a:extLst xmlns:a="http://schemas.openxmlformats.org/drawingml/2006/main">
              <a:ext uri="{FF2B5EF4-FFF2-40B4-BE49-F238E27FC236}">
                <a16:creationId xmlns:a16="http://schemas.microsoft.com/office/drawing/2014/main" id="{E3FDC3CA-ADC4-4EBF-AE47-FE5908E672A2}"/>
              </a:ext>
            </a:extLst>
          </p:cNvPr>
          <p:cNvSpPr>
            <a:spLocks xmlns:a="http://schemas.openxmlformats.org/drawingml/2006/main" noGrp="1"/>
          </p:cNvSpPr>
          <p:nvPr/>
        </p:nvSpPr>
        <p:spPr>
          <a:xfrm xmlns:a="http://schemas.openxmlformats.org/drawingml/2006/main">
            <a:off x="7286625" y="3514725"/>
            <a:ext cx="390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17078"/>
                </a:solidFill>
                <a:latin typeface="Yu Gothic"/>
                <a:ea typeface="Yu Gothic"/>
                <a:cs typeface="Yu Gothic"/>
              </a:defRPr>
            </a:pPr>
            <a:r>
              <a:rPr sz="1125" b="0">
                <a:solidFill>
                  <a:srgbClr val="617078"/>
                </a:solidFill>
                <a:latin typeface="Yu Gothic"/>
                <a:ea typeface="Yu Gothic"/>
                <a:cs typeface="Yu Gothic"/>
              </a:rPr>
              <a:t>k：現場側AI　　r：通常・危険の動画群</a:t>
            </a:r>
          </a:p>
        </p:txBody>
      </p:sp>
      <p:sp>
        <p:nvSpPr>
          <p:cNvPr id="27" name="">
            <a:extLst xmlns:a="http://schemas.openxmlformats.org/drawingml/2006/main">
              <a:ext uri="{FF2B5EF4-FFF2-40B4-BE49-F238E27FC236}">
                <a16:creationId xmlns:a16="http://schemas.microsoft.com/office/drawing/2014/main" id="{B0D14431-AB55-45F4-AB3E-761AF7BD0A40}"/>
              </a:ext>
            </a:extLst>
          </p:cNvPr>
          <p:cNvSpPr>
            <a:spLocks xmlns:a="http://schemas.openxmlformats.org/drawingml/2006/main" noGrp="1"/>
          </p:cNvSpPr>
          <p:nvPr/>
        </p:nvSpPr>
        <p:spPr>
          <a:xfrm xmlns:a="http://schemas.openxmlformats.org/drawingml/2006/main">
            <a:off x="609600" y="3810000"/>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71C8DCE-7ED2-4955-85D8-96787CFBC4A0}"/>
              </a:ext>
            </a:extLst>
          </p:cNvPr>
          <p:cNvSpPr>
            <a:spLocks xmlns:a="http://schemas.openxmlformats.org/drawingml/2006/main" noGrp="1"/>
          </p:cNvSpPr>
          <p:nvPr/>
        </p:nvSpPr>
        <p:spPr>
          <a:xfrm xmlns:a="http://schemas.openxmlformats.org/drawingml/2006/main">
            <a:off x="857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中央側へ送る</a:t>
            </a:r>
          </a:p>
        </p:txBody>
      </p:sp>
      <p:sp>
        <p:nvSpPr>
          <p:cNvPr id="29" name="">
            <a:extLst xmlns:a="http://schemas.openxmlformats.org/drawingml/2006/main">
              <a:ext uri="{FF2B5EF4-FFF2-40B4-BE49-F238E27FC236}">
                <a16:creationId xmlns:a16="http://schemas.microsoft.com/office/drawing/2014/main" id="{DD6EAC8B-8FC8-4DE7-9A75-8BCEE8377E8C}"/>
              </a:ext>
            </a:extLst>
          </p:cNvPr>
          <p:cNvSpPr>
            <a:spLocks xmlns:a="http://schemas.openxmlformats.org/drawingml/2006/main" noGrp="1"/>
          </p:cNvSpPr>
          <p:nvPr/>
        </p:nvSpPr>
        <p:spPr>
          <a:xfrm xmlns:a="http://schemas.openxmlformats.org/drawingml/2006/main">
            <a:off x="876300" y="4619625"/>
            <a:ext cx="2857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小型AIの更新情報</a:t>
            </a:r>
          </a:p>
        </p:txBody>
      </p:sp>
      <p:sp>
        <p:nvSpPr>
          <p:cNvPr id="30" name="">
            <a:extLst xmlns:a="http://schemas.openxmlformats.org/drawingml/2006/main">
              <a:ext uri="{FF2B5EF4-FFF2-40B4-BE49-F238E27FC236}">
                <a16:creationId xmlns:a16="http://schemas.microsoft.com/office/drawing/2014/main" id="{B5C31DC6-1955-4C7B-ADFA-294F096C6BEC}"/>
              </a:ext>
            </a:extLst>
          </p:cNvPr>
          <p:cNvSpPr>
            <a:spLocks xmlns:a="http://schemas.openxmlformats.org/drawingml/2006/main" noGrp="1"/>
          </p:cNvSpPr>
          <p:nvPr/>
        </p:nvSpPr>
        <p:spPr>
          <a:xfrm xmlns:a="http://schemas.openxmlformats.org/drawingml/2006/main">
            <a:off x="4000500" y="4619625"/>
            <a:ext cx="4667250" cy="4572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Qₖ,ᵣ = ( μᵖᵒˢᵗₖ,ᵣ,  Δμₖ,ᵣ,  πₖ,ᵣ )</a:t>
            </a:r>
          </a:p>
        </p:txBody>
      </p:sp>
      <p:sp>
        <p:nvSpPr>
          <p:cNvPr id="31" name="">
            <a:extLst xmlns:a="http://schemas.openxmlformats.org/drawingml/2006/main">
              <a:ext uri="{FF2B5EF4-FFF2-40B4-BE49-F238E27FC236}">
                <a16:creationId xmlns:a16="http://schemas.microsoft.com/office/drawing/2014/main" id="{95C66D09-E15A-4EC4-ADA0-FFC88C79DC46}"/>
              </a:ext>
            </a:extLst>
          </p:cNvPr>
          <p:cNvSpPr>
            <a:spLocks xmlns:a="http://schemas.openxmlformats.org/drawingml/2006/main" noGrp="1"/>
          </p:cNvSpPr>
          <p:nvPr/>
        </p:nvSpPr>
        <p:spPr>
          <a:xfrm xmlns:a="http://schemas.openxmlformats.org/drawingml/2006/main">
            <a:off x="8858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B94A3A"/>
                </a:solidFill>
                <a:latin typeface="Yu Gothic"/>
                <a:ea typeface="Yu Gothic"/>
                <a:cs typeface="Yu Gothic"/>
              </a:defRPr>
            </a:pPr>
            <a:r>
              <a:rPr sz="1650" b="1">
                <a:solidFill>
                  <a:srgbClr val="B94A3A"/>
                </a:solidFill>
                <a:latin typeface="Yu Gothic"/>
                <a:ea typeface="Yu Gothic"/>
                <a:cs typeface="Yu Gothic"/>
              </a:rPr>
              <a:t>中央側へ送らない</a:t>
            </a:r>
          </a:p>
        </p:txBody>
      </p:sp>
      <p:sp>
        <p:nvSpPr>
          <p:cNvPr id="32" name="">
            <a:extLst xmlns:a="http://schemas.openxmlformats.org/drawingml/2006/main">
              <a:ext uri="{FF2B5EF4-FFF2-40B4-BE49-F238E27FC236}">
                <a16:creationId xmlns:a16="http://schemas.microsoft.com/office/drawing/2014/main" id="{64BFDCCB-C1DF-4DB4-80D6-3FBBA99A9783}"/>
              </a:ext>
            </a:extLst>
          </p:cNvPr>
          <p:cNvSpPr>
            <a:spLocks xmlns:a="http://schemas.openxmlformats.org/drawingml/2006/main" noGrp="1"/>
          </p:cNvSpPr>
          <p:nvPr/>
        </p:nvSpPr>
        <p:spPr>
          <a:xfrm xmlns:a="http://schemas.openxmlformats.org/drawingml/2006/main">
            <a:off x="8858250" y="461962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B94A3A"/>
                </a:solidFill>
                <a:latin typeface="Yu Gothic"/>
                <a:ea typeface="Yu Gothic"/>
                <a:cs typeface="Yu Gothic"/>
              </a:defRPr>
            </a:pPr>
            <a:r>
              <a:rPr sz="1500" b="1">
                <a:solidFill>
                  <a:srgbClr val="B94A3A"/>
                </a:solidFill>
                <a:latin typeface="Yu Gothic"/>
                <a:ea typeface="Yu Gothic"/>
                <a:cs typeface="Yu Gothic"/>
              </a:rPr>
              <a:t>元動画・画像・動画ごとの識別情報</a:t>
            </a:r>
          </a:p>
        </p:txBody>
      </p:sp>
      <p:sp>
        <p:nvSpPr>
          <p:cNvPr id="33" name="">
            <a:extLst xmlns:a="http://schemas.openxmlformats.org/drawingml/2006/main">
              <a:ext uri="{FF2B5EF4-FFF2-40B4-BE49-F238E27FC236}">
                <a16:creationId xmlns:a16="http://schemas.microsoft.com/office/drawing/2014/main" id="{FBB848C7-9C06-4084-9762-65CF68561DE1}"/>
              </a:ext>
            </a:extLst>
          </p:cNvPr>
          <p:cNvSpPr>
            <a:spLocks xmlns:a="http://schemas.openxmlformats.org/drawingml/2006/main" noGrp="1"/>
          </p:cNvSpPr>
          <p:nvPr/>
        </p:nvSpPr>
        <p:spPr>
          <a:xfrm xmlns:a="http://schemas.openxmlformats.org/drawingml/2006/main">
            <a:off x="952500" y="55911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小型AIの更新は連合平均へ、Qₖ,ᵣは代理データ生成へ。Qₖ,ᵣ自体は平均しない。</a:t>
            </a:r>
          </a:p>
        </p:txBody>
      </p:sp>
    </p:spTree>
    <p:extLst>
      <p:ext uri="{BB962C8B-B14F-4D97-AF65-F5344CB8AC3E}">
        <p14:creationId xmlns:p14="http://schemas.microsoft.com/office/powerpoint/2010/main" val="20892290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2A00C8F4-7D87-4DC4-B573-2EEBD07305D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C3D0FF-A9A5-42CA-8D3F-F8BEBD6C3D37}"/>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46AD785-8A78-4DCA-888A-A5B86EF25776}"/>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中央側の動画から、代理データを選ぶ</a:t>
            </a:r>
          </a:p>
        </p:txBody>
      </p:sp>
      <p:sp>
        <p:nvSpPr>
          <p:cNvPr id="4" name="">
            <a:extLst xmlns:a="http://schemas.openxmlformats.org/drawingml/2006/main">
              <a:ext uri="{FF2B5EF4-FFF2-40B4-BE49-F238E27FC236}">
                <a16:creationId xmlns:a16="http://schemas.microsoft.com/office/drawing/2014/main" id="{3506DBA0-C9EA-4273-88F6-9D491514136F}"/>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CBD8F0BF-D7E0-4F34-B37B-E875CCD0A04D}"/>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EB774DF-2E40-4E31-8EDD-BF7D98370009}"/>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85860625-F0CA-4D89-89EE-AD14A2906403}"/>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9</a:t>
            </a:r>
          </a:p>
        </p:txBody>
      </p:sp>
      <p:sp>
        <p:nvSpPr>
          <p:cNvPr id="8" name="">
            <a:extLst xmlns:a="http://schemas.openxmlformats.org/drawingml/2006/main">
              <a:ext uri="{FF2B5EF4-FFF2-40B4-BE49-F238E27FC236}">
                <a16:creationId xmlns:a16="http://schemas.microsoft.com/office/drawing/2014/main" id="{D6355C47-982F-4DA3-86E2-64FF9468FC9C}"/>
              </a:ext>
            </a:extLst>
          </p:cNvPr>
          <p:cNvSpPr>
            <a:spLocks xmlns:a="http://schemas.openxmlformats.org/drawingml/2006/main" noGrp="1"/>
          </p:cNvSpPr>
          <p:nvPr/>
        </p:nvSpPr>
        <p:spPr>
          <a:xfrm xmlns:a="http://schemas.openxmlformats.org/drawingml/2006/main">
            <a:off x="609600" y="1066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17078"/>
                </a:solidFill>
                <a:latin typeface="Yu Gothic"/>
                <a:ea typeface="Yu Gothic"/>
                <a:cs typeface="Yu Gothic"/>
              </a:defRPr>
            </a:pPr>
            <a:r>
              <a:rPr sz="1425" b="1">
                <a:solidFill>
                  <a:srgbClr val="617078"/>
                </a:solidFill>
                <a:latin typeface="Yu Gothic"/>
                <a:ea typeface="Yu Gothic"/>
                <a:cs typeface="Yu Gothic"/>
              </a:rPr>
              <a:t>入力</a:t>
            </a:r>
          </a:p>
        </p:txBody>
      </p:sp>
      <p:sp>
        <p:nvSpPr>
          <p:cNvPr id="9" name="">
            <a:extLst xmlns:a="http://schemas.openxmlformats.org/drawingml/2006/main">
              <a:ext uri="{FF2B5EF4-FFF2-40B4-BE49-F238E27FC236}">
                <a16:creationId xmlns:a16="http://schemas.microsoft.com/office/drawing/2014/main" id="{A2C3EDE3-44EA-4525-B23F-DC6801569456}"/>
              </a:ext>
            </a:extLst>
          </p:cNvPr>
          <p:cNvSpPr>
            <a:spLocks xmlns:a="http://schemas.openxmlformats.org/drawingml/2006/main" noGrp="1"/>
          </p:cNvSpPr>
          <p:nvPr/>
        </p:nvSpPr>
        <p:spPr>
          <a:xfrm xmlns:a="http://schemas.openxmlformats.org/drawingml/2006/main">
            <a:off x="628650" y="1457325"/>
            <a:ext cx="1714500" cy="51435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73B4B"/>
                </a:solidFill>
                <a:latin typeface="Yu Gothic"/>
                <a:ea typeface="Yu Gothic"/>
                <a:cs typeface="Yu Gothic"/>
              </a:defRPr>
            </a:pPr>
            <a:r>
              <a:rPr sz="2025" b="1">
                <a:solidFill>
                  <a:srgbClr val="173B4B"/>
                </a:solidFill>
                <a:latin typeface="Yu Gothic"/>
                <a:ea typeface="Yu Gothic"/>
                <a:cs typeface="Yu Gothic"/>
              </a:rPr>
              <a:t>Qₖ,ᵣ</a:t>
            </a:r>
          </a:p>
        </p:txBody>
      </p:sp>
      <p:sp>
        <p:nvSpPr>
          <p:cNvPr id="10" name="">
            <a:extLst xmlns:a="http://schemas.openxmlformats.org/drawingml/2006/main">
              <a:ext uri="{FF2B5EF4-FFF2-40B4-BE49-F238E27FC236}">
                <a16:creationId xmlns:a16="http://schemas.microsoft.com/office/drawing/2014/main" id="{72CFD532-30A2-4A70-BBA1-B091897DC6FD}"/>
              </a:ext>
            </a:extLst>
          </p:cNvPr>
          <p:cNvSpPr>
            <a:spLocks xmlns:a="http://schemas.openxmlformats.org/drawingml/2006/main" noGrp="1"/>
          </p:cNvSpPr>
          <p:nvPr/>
        </p:nvSpPr>
        <p:spPr>
          <a:xfrm xmlns:a="http://schemas.openxmlformats.org/drawingml/2006/main">
            <a:off x="628650" y="2095500"/>
            <a:ext cx="171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危険 0.724</a:t>
            </a:r>
          </a:p>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変化 +0.238</a:t>
            </a:r>
          </a:p>
        </p:txBody>
      </p:sp>
      <p:sp>
        <p:nvSpPr>
          <p:cNvPr id="11" name="">
            <a:extLst xmlns:a="http://schemas.openxmlformats.org/drawingml/2006/main">
              <a:ext uri="{FF2B5EF4-FFF2-40B4-BE49-F238E27FC236}">
                <a16:creationId xmlns:a16="http://schemas.microsoft.com/office/drawing/2014/main" id="{F413C7AF-509E-49DD-B491-91ED0340003B}"/>
              </a:ext>
            </a:extLst>
          </p:cNvPr>
          <p:cNvSpPr>
            <a:spLocks xmlns:a="http://schemas.openxmlformats.org/drawingml/2006/main" noGrp="1"/>
          </p:cNvSpPr>
          <p:nvPr/>
        </p:nvSpPr>
        <p:spPr>
          <a:xfrm xmlns:a="http://schemas.openxmlformats.org/drawingml/2006/main">
            <a:off x="2562225"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ABB464B-42CA-4A1D-9686-5F3CCDF82589}"/>
              </a:ext>
            </a:extLst>
          </p:cNvPr>
          <p:cNvSpPr>
            <a:spLocks xmlns:a="http://schemas.openxmlformats.org/drawingml/2006/main" noGrp="1"/>
          </p:cNvSpPr>
          <p:nvPr/>
        </p:nvSpPr>
        <p:spPr>
          <a:xfrm xmlns:a="http://schemas.openxmlformats.org/drawingml/2006/main">
            <a:off x="3219450" y="117157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中央側の候補動画 60本</a:t>
            </a:r>
          </a:p>
        </p:txBody>
      </p:sp>
      <p:sp>
        <p:nvSpPr>
          <p:cNvPr id="13" name="">
            <a:extLst xmlns:a="http://schemas.openxmlformats.org/drawingml/2006/main">
              <a:ext uri="{FF2B5EF4-FFF2-40B4-BE49-F238E27FC236}">
                <a16:creationId xmlns:a16="http://schemas.microsoft.com/office/drawing/2014/main" id="{0718144B-EE88-4B62-B190-783EAA711065}"/>
              </a:ext>
            </a:extLst>
          </p:cNvPr>
          <p:cNvSpPr>
            <a:spLocks xmlns:a="http://schemas.openxmlformats.org/drawingml/2006/main" noGrp="1"/>
          </p:cNvSpPr>
          <p:nvPr/>
        </p:nvSpPr>
        <p:spPr>
          <a:xfrm xmlns:a="http://schemas.openxmlformats.org/drawingml/2006/main">
            <a:off x="3219450" y="1543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通常30本　危険30本</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7fc77e5060ff4b31"/>
          <a:srcRect xmlns:a="http://schemas.openxmlformats.org/drawingml/2006/main" l="68" t="0" r="68" b="0"/>
          <a:stretch xmlns:a="http://schemas.openxmlformats.org/drawingml/2006/main">
            <a:fillRect l="0" t="0" r="0" b="0"/>
          </a:stretch>
        </p:blipFill>
        <p:spPr>
          <a:xfrm xmlns:a="http://schemas.openxmlformats.org/drawingml/2006/main">
            <a:off x="3295650" y="1981200"/>
            <a:ext cx="2333625" cy="13144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BF62B668-40D6-44B8-B498-D6F333C41B28}"/>
              </a:ext>
            </a:extLst>
          </p:cNvPr>
          <p:cNvSpPr>
            <a:spLocks xmlns:a="http://schemas.openxmlformats.org/drawingml/2006/main" noGrp="1"/>
          </p:cNvSpPr>
          <p:nvPr/>
        </p:nvSpPr>
        <p:spPr>
          <a:xfrm xmlns:a="http://schemas.openxmlformats.org/drawingml/2006/main">
            <a:off x="3295650" y="33813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検索1位：正解ラベルは通常</a:t>
            </a:r>
          </a:p>
        </p:txBody>
      </p:sp>
      <p:sp>
        <p:nvSpPr>
          <p:cNvPr id="16" name="">
            <a:extLst xmlns:a="http://schemas.openxmlformats.org/drawingml/2006/main">
              <a:ext uri="{FF2B5EF4-FFF2-40B4-BE49-F238E27FC236}">
                <a16:creationId xmlns:a16="http://schemas.microsoft.com/office/drawing/2014/main" id="{671E09BD-5028-4AC9-A272-FC601A3DFF09}"/>
              </a:ext>
            </a:extLst>
          </p:cNvPr>
          <p:cNvSpPr>
            <a:spLocks xmlns:a="http://schemas.openxmlformats.org/drawingml/2006/main" noGrp="1"/>
          </p:cNvSpPr>
          <p:nvPr/>
        </p:nvSpPr>
        <p:spPr>
          <a:xfrm xmlns:a="http://schemas.openxmlformats.org/drawingml/2006/main">
            <a:off x="5848350"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9EFAC36-8073-40C1-A56C-4F83754CD48E}"/>
              </a:ext>
            </a:extLst>
          </p:cNvPr>
          <p:cNvSpPr>
            <a:spLocks xmlns:a="http://schemas.openxmlformats.org/drawingml/2006/main" noGrp="1"/>
          </p:cNvSpPr>
          <p:nvPr/>
        </p:nvSpPr>
        <p:spPr>
          <a:xfrm xmlns:a="http://schemas.openxmlformats.org/drawingml/2006/main">
            <a:off x="6515100" y="1171575"/>
            <a:ext cx="4810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上位3本を5通りに変換</a:t>
            </a:r>
          </a:p>
        </p:txBody>
      </p:sp>
      <p:sp>
        <p:nvSpPr>
          <p:cNvPr id="18" name="">
            <a:extLst xmlns:a="http://schemas.openxmlformats.org/drawingml/2006/main">
              <a:ext uri="{FF2B5EF4-FFF2-40B4-BE49-F238E27FC236}">
                <a16:creationId xmlns:a16="http://schemas.microsoft.com/office/drawing/2014/main" id="{BDE8D64C-B7A8-4A42-9339-DABAF63D5A71}"/>
              </a:ext>
            </a:extLst>
          </p:cNvPr>
          <p:cNvSpPr>
            <a:spLocks xmlns:a="http://schemas.openxmlformats.org/drawingml/2006/main" noGrp="1"/>
          </p:cNvSpPr>
          <p:nvPr/>
        </p:nvSpPr>
        <p:spPr>
          <a:xfrm xmlns:a="http://schemas.openxmlformats.org/drawingml/2006/main">
            <a:off x="6515100" y="1543050"/>
            <a:ext cx="481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1つのQにつき15候補　4つのQで合計60候補</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9392dd00c9bd4dd7"/>
          <a:srcRect xmlns:a="http://schemas.openxmlformats.org/drawingml/2006/main" l="10156" t="0" r="10156" b="0"/>
          <a:stretch xmlns:a="http://schemas.openxmlformats.org/drawingml/2006/main">
            <a:fillRect l="0" t="0" r="0" b="0"/>
          </a:stretch>
        </p:blipFill>
        <p:spPr>
          <a:xfrm xmlns:a="http://schemas.openxmlformats.org/drawingml/2006/main">
            <a:off x="6353175" y="1981200"/>
            <a:ext cx="971550" cy="6858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3068D06A-8DCC-43A3-95F1-F28C8FA3D55B}"/>
              </a:ext>
            </a:extLst>
          </p:cNvPr>
          <p:cNvSpPr>
            <a:spLocks xmlns:a="http://schemas.openxmlformats.org/drawingml/2006/main" noGrp="1"/>
          </p:cNvSpPr>
          <p:nvPr/>
        </p:nvSpPr>
        <p:spPr>
          <a:xfrm xmlns:a="http://schemas.openxmlformats.org/drawingml/2006/main">
            <a:off x="6324600" y="1952625"/>
            <a:ext cx="1028700" cy="742950"/>
          </a:xfrm>
          <a:prstGeom xmlns:a="http://schemas.openxmlformats.org/drawingml/2006/main" prst="rect">
            <a:avLst/>
          </a:prstGeom>
          <a:noFill xmlns:a="http://schemas.openxmlformats.org/drawingml/2006/main"/>
          <a:ln xmlns:a="http://schemas.openxmlformats.org/drawingml/2006/main" w="28575">
            <a:solidFill>
              <a:srgbClr val="E7833D"/>
            </a:solidFill>
          </a:ln>
        </p:spPr>
      </p:sp>
      <p:sp>
        <p:nvSpPr>
          <p:cNvPr id="21" name="">
            <a:extLst xmlns:a="http://schemas.openxmlformats.org/drawingml/2006/main">
              <a:ext uri="{FF2B5EF4-FFF2-40B4-BE49-F238E27FC236}">
                <a16:creationId xmlns:a16="http://schemas.microsoft.com/office/drawing/2014/main" id="{2A0D4324-70E3-4699-B9FB-F22D9521D6BC}"/>
              </a:ext>
            </a:extLst>
          </p:cNvPr>
          <p:cNvSpPr>
            <a:spLocks xmlns:a="http://schemas.openxmlformats.org/drawingml/2006/main" noGrp="1"/>
          </p:cNvSpPr>
          <p:nvPr/>
        </p:nvSpPr>
        <p:spPr>
          <a:xfrm xmlns:a="http://schemas.openxmlformats.org/drawingml/2006/main">
            <a:off x="63150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E7833D"/>
                </a:solidFill>
                <a:latin typeface="Yu Gothic"/>
                <a:ea typeface="Yu Gothic"/>
                <a:cs typeface="Yu Gothic"/>
              </a:defRPr>
            </a:pPr>
            <a:r>
              <a:rPr sz="1050" b="1">
                <a:solidFill>
                  <a:srgbClr val="E7833D"/>
                </a:solidFill>
                <a:latin typeface="Yu Gothic"/>
                <a:ea typeface="Yu Gothic"/>
                <a:cs typeface="Yu Gothic"/>
              </a:rPr>
              <a:t>変更なし</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769e6b1a86df4481"/>
          <a:srcRect xmlns:a="http://schemas.openxmlformats.org/drawingml/2006/main" l="10156" t="0" r="10156" b="0"/>
          <a:stretch xmlns:a="http://schemas.openxmlformats.org/drawingml/2006/main">
            <a:fillRect l="0" t="0" r="0" b="0"/>
          </a:stretch>
        </p:blipFill>
        <p:spPr>
          <a:xfrm xmlns:a="http://schemas.openxmlformats.org/drawingml/2006/main">
            <a:off x="7410450" y="1981200"/>
            <a:ext cx="971550" cy="6858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3498B1D1-58E8-454D-95F5-3A622A482986}"/>
              </a:ext>
            </a:extLst>
          </p:cNvPr>
          <p:cNvSpPr>
            <a:spLocks xmlns:a="http://schemas.openxmlformats.org/drawingml/2006/main" noGrp="1"/>
          </p:cNvSpPr>
          <p:nvPr/>
        </p:nvSpPr>
        <p:spPr>
          <a:xfrm xmlns:a="http://schemas.openxmlformats.org/drawingml/2006/main">
            <a:off x="737235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暗くする</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065d4b5a1d0241a8"/>
          <a:srcRect xmlns:a="http://schemas.openxmlformats.org/drawingml/2006/main" l="10156" t="0" r="10156" b="0"/>
          <a:stretch xmlns:a="http://schemas.openxmlformats.org/drawingml/2006/main">
            <a:fillRect l="0" t="0" r="0" b="0"/>
          </a:stretch>
        </p:blipFill>
        <p:spPr>
          <a:xfrm xmlns:a="http://schemas.openxmlformats.org/drawingml/2006/main">
            <a:off x="8467725" y="1981200"/>
            <a:ext cx="971550" cy="6858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B7681258-773C-4072-AC80-EAA3D707EFFC}"/>
              </a:ext>
            </a:extLst>
          </p:cNvPr>
          <p:cNvSpPr>
            <a:spLocks xmlns:a="http://schemas.openxmlformats.org/drawingml/2006/main" noGrp="1"/>
          </p:cNvSpPr>
          <p:nvPr/>
        </p:nvSpPr>
        <p:spPr>
          <a:xfrm xmlns:a="http://schemas.openxmlformats.org/drawingml/2006/main">
            <a:off x="842962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明るくする</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5bce672233674cf9"/>
          <a:srcRect xmlns:a="http://schemas.openxmlformats.org/drawingml/2006/main" l="10156" t="0" r="10156" b="0"/>
          <a:stretch xmlns:a="http://schemas.openxmlformats.org/drawingml/2006/main">
            <a:fillRect l="0" t="0" r="0" b="0"/>
          </a:stretch>
        </p:blipFill>
        <p:spPr>
          <a:xfrm xmlns:a="http://schemas.openxmlformats.org/drawingml/2006/main">
            <a:off x="9525000" y="1981200"/>
            <a:ext cx="971550" cy="6858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8C4FB2FF-5FF9-40F1-B75C-F21DFD84271E}"/>
              </a:ext>
            </a:extLst>
          </p:cNvPr>
          <p:cNvSpPr>
            <a:spLocks xmlns:a="http://schemas.openxmlformats.org/drawingml/2006/main" noGrp="1"/>
          </p:cNvSpPr>
          <p:nvPr/>
        </p:nvSpPr>
        <p:spPr>
          <a:xfrm xmlns:a="http://schemas.openxmlformats.org/drawingml/2006/main">
            <a:off x="948690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コントラスト</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71058b2edad94bfb"/>
          <a:srcRect xmlns:a="http://schemas.openxmlformats.org/drawingml/2006/main" l="10156" t="0" r="10156" b="0"/>
          <a:stretch xmlns:a="http://schemas.openxmlformats.org/drawingml/2006/main">
            <a:fillRect l="0" t="0" r="0" b="0"/>
          </a:stretch>
        </p:blipFill>
        <p:spPr>
          <a:xfrm xmlns:a="http://schemas.openxmlformats.org/drawingml/2006/main">
            <a:off x="10582275" y="1981200"/>
            <a:ext cx="971550" cy="6858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3463E774-9CDB-4EF9-A95F-EE1E6C28C03C}"/>
              </a:ext>
            </a:extLst>
          </p:cNvPr>
          <p:cNvSpPr>
            <a:spLocks xmlns:a="http://schemas.openxmlformats.org/drawingml/2006/main" noGrp="1"/>
          </p:cNvSpPr>
          <p:nvPr/>
        </p:nvSpPr>
        <p:spPr>
          <a:xfrm xmlns:a="http://schemas.openxmlformats.org/drawingml/2006/main">
            <a:off x="105441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中央を切り出す</a:t>
            </a:r>
          </a:p>
        </p:txBody>
      </p:sp>
      <p:sp>
        <p:nvSpPr>
          <p:cNvPr id="30" name="">
            <a:extLst xmlns:a="http://schemas.openxmlformats.org/drawingml/2006/main">
              <a:ext uri="{FF2B5EF4-FFF2-40B4-BE49-F238E27FC236}">
                <a16:creationId xmlns:a16="http://schemas.microsoft.com/office/drawing/2014/main" id="{DA7EEE7B-FB65-4C84-B5BF-FBEA430B5516}"/>
              </a:ext>
            </a:extLst>
          </p:cNvPr>
          <p:cNvSpPr>
            <a:spLocks xmlns:a="http://schemas.openxmlformats.org/drawingml/2006/main" noGrp="1"/>
          </p:cNvSpPr>
          <p:nvPr/>
        </p:nvSpPr>
        <p:spPr>
          <a:xfrm xmlns:a="http://schemas.openxmlformats.org/drawingml/2006/main">
            <a:off x="609600" y="3838575"/>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533216B-9744-4581-942B-15687638B139}"/>
              </a:ext>
            </a:extLst>
          </p:cNvPr>
          <p:cNvSpPr>
            <a:spLocks xmlns:a="http://schemas.openxmlformats.org/drawingml/2006/main" noGrp="1"/>
          </p:cNvSpPr>
          <p:nvPr/>
        </p:nvSpPr>
        <p:spPr>
          <a:xfrm xmlns:a="http://schemas.openxmlformats.org/drawingml/2006/main">
            <a:off x="666750" y="40957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選択基準</a:t>
            </a:r>
          </a:p>
        </p:txBody>
      </p:sp>
      <p:sp>
        <p:nvSpPr>
          <p:cNvPr id="32" name="">
            <a:extLst xmlns:a="http://schemas.openxmlformats.org/drawingml/2006/main">
              <a:ext uri="{FF2B5EF4-FFF2-40B4-BE49-F238E27FC236}">
                <a16:creationId xmlns:a16="http://schemas.microsoft.com/office/drawing/2014/main" id="{2C553E64-69E8-450D-BD12-BD5BFBCEAED4}"/>
              </a:ext>
            </a:extLst>
          </p:cNvPr>
          <p:cNvSpPr>
            <a:spLocks xmlns:a="http://schemas.openxmlformats.org/drawingml/2006/main" noGrp="1"/>
          </p:cNvSpPr>
          <p:nvPr/>
        </p:nvSpPr>
        <p:spPr>
          <a:xfrm xmlns:a="http://schemas.openxmlformats.org/drawingml/2006/main">
            <a:off x="762000" y="4552950"/>
            <a:ext cx="333375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① 学習後の判定が 0.724 に近い</a:t>
            </a:r>
          </a:p>
        </p:txBody>
      </p:sp>
      <p:sp>
        <p:nvSpPr>
          <p:cNvPr id="33" name="">
            <a:extLst xmlns:a="http://schemas.openxmlformats.org/drawingml/2006/main">
              <a:ext uri="{FF2B5EF4-FFF2-40B4-BE49-F238E27FC236}">
                <a16:creationId xmlns:a16="http://schemas.microsoft.com/office/drawing/2014/main" id="{AEB6CD69-7B22-406B-ABFA-372BE7B63A9F}"/>
              </a:ext>
            </a:extLst>
          </p:cNvPr>
          <p:cNvSpPr>
            <a:spLocks xmlns:a="http://schemas.openxmlformats.org/drawingml/2006/main" noGrp="1"/>
          </p:cNvSpPr>
          <p:nvPr/>
        </p:nvSpPr>
        <p:spPr>
          <a:xfrm xmlns:a="http://schemas.openxmlformats.org/drawingml/2006/main">
            <a:off x="4400550" y="4552950"/>
            <a:ext cx="4000500" cy="457200"/>
          </a:xfrm>
          <a:prstGeom xmlns:a="http://schemas.openxmlformats.org/drawingml/2006/main" prst="rect">
            <a:avLst/>
          </a:prstGeom>
          <a:solidFill xmlns:a="http://schemas.openxmlformats.org/drawingml/2006/main">
            <a:srgbClr val="FAE9D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② 連合平均前後の変化が +0.238 に近い</a:t>
            </a:r>
          </a:p>
        </p:txBody>
      </p:sp>
      <p:sp>
        <p:nvSpPr>
          <p:cNvPr id="34" name="">
            <a:extLst xmlns:a="http://schemas.openxmlformats.org/drawingml/2006/main">
              <a:ext uri="{FF2B5EF4-FFF2-40B4-BE49-F238E27FC236}">
                <a16:creationId xmlns:a16="http://schemas.microsoft.com/office/drawing/2014/main" id="{73022DBB-B2C9-47C9-9E47-44015E8FBCEA}"/>
              </a:ext>
            </a:extLst>
          </p:cNvPr>
          <p:cNvSpPr>
            <a:spLocks xmlns:a="http://schemas.openxmlformats.org/drawingml/2006/main" noGrp="1"/>
          </p:cNvSpPr>
          <p:nvPr/>
        </p:nvSpPr>
        <p:spPr>
          <a:xfrm xmlns:a="http://schemas.openxmlformats.org/drawingml/2006/main">
            <a:off x="8591550" y="4772025"/>
            <a:ext cx="428625"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A11140F-5E21-4636-8312-5B6EA8DD2299}"/>
              </a:ext>
            </a:extLst>
          </p:cNvPr>
          <p:cNvSpPr>
            <a:spLocks xmlns:a="http://schemas.openxmlformats.org/drawingml/2006/main" noGrp="1"/>
          </p:cNvSpPr>
          <p:nvPr/>
        </p:nvSpPr>
        <p:spPr>
          <a:xfrm xmlns:a="http://schemas.openxmlformats.org/drawingml/2006/main">
            <a:off x="9201150" y="4343400"/>
            <a:ext cx="2266950" cy="8763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Pₖ,ᵣ = ( x̃ₖ,ᵣ,</a:t>
            </a:r>
          </a:p>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μᵖᵒˢᵗₖ,ᵣ )</a:t>
            </a:r>
          </a:p>
        </p:txBody>
      </p:sp>
      <p:sp>
        <p:nvSpPr>
          <p:cNvPr id="36" name="">
            <a:extLst xmlns:a="http://schemas.openxmlformats.org/drawingml/2006/main">
              <a:ext uri="{FF2B5EF4-FFF2-40B4-BE49-F238E27FC236}">
                <a16:creationId xmlns:a16="http://schemas.microsoft.com/office/drawing/2014/main" id="{6ECF5ABD-B25F-449E-9C37-38CDD04C7890}"/>
              </a:ext>
            </a:extLst>
          </p:cNvPr>
          <p:cNvSpPr>
            <a:spLocks xmlns:a="http://schemas.openxmlformats.org/drawingml/2006/main" noGrp="1"/>
          </p:cNvSpPr>
          <p:nvPr/>
        </p:nvSpPr>
        <p:spPr>
          <a:xfrm xmlns:a="http://schemas.openxmlformats.org/drawingml/2006/main">
            <a:off x="9201150" y="52863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17078"/>
                </a:solidFill>
                <a:latin typeface="Yu Gothic"/>
                <a:ea typeface="Yu Gothic"/>
                <a:cs typeface="Yu Gothic"/>
              </a:defRPr>
            </a:pPr>
            <a:r>
              <a:rPr sz="1125" b="0">
                <a:solidFill>
                  <a:srgbClr val="617078"/>
                </a:solidFill>
                <a:latin typeface="Yu Gothic"/>
                <a:ea typeface="Yu Gothic"/>
                <a:cs typeface="Yu Gothic"/>
              </a:rPr>
              <a:t>x̃ₖ,ᵣ：選ばれた変換後動画</a:t>
            </a:r>
          </a:p>
        </p:txBody>
      </p:sp>
      <p:sp>
        <p:nvSpPr>
          <p:cNvPr id="37" name="">
            <a:extLst xmlns:a="http://schemas.openxmlformats.org/drawingml/2006/main">
              <a:ext uri="{FF2B5EF4-FFF2-40B4-BE49-F238E27FC236}">
                <a16:creationId xmlns:a16="http://schemas.microsoft.com/office/drawing/2014/main" id="{B8B6999D-2A00-4D9F-9F1C-1DE5F3D6DB96}"/>
              </a:ext>
            </a:extLst>
          </p:cNvPr>
          <p:cNvSpPr>
            <a:spLocks xmlns:a="http://schemas.openxmlformats.org/drawingml/2006/main" noGrp="1"/>
          </p:cNvSpPr>
          <p:nvPr/>
        </p:nvSpPr>
        <p:spPr>
          <a:xfrm xmlns:a="http://schemas.openxmlformats.org/drawingml/2006/main">
            <a:off x="1047750" y="57150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変化量は候補選択に使い、πₖ,ᵣは学習時の重みに使う。教師値は学習後の判定 0.724</a:t>
            </a:r>
          </a:p>
        </p:txBody>
      </p:sp>
      <p:sp>
        <p:nvSpPr>
          <p:cNvPr id="38" name="">
            <a:extLst xmlns:a="http://schemas.openxmlformats.org/drawingml/2006/main">
              <a:ext uri="{FF2B5EF4-FFF2-40B4-BE49-F238E27FC236}">
                <a16:creationId xmlns:a16="http://schemas.microsoft.com/office/drawing/2014/main" id="{4D10A0E2-2798-4B29-A365-0D393F1CA8E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6439607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0873C1B-5302-416C-8F7D-8B8D9791BCC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1ECD3F-22AF-4E55-BCC3-15BF3C67396D}"/>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2CCF553-8093-43AF-AEA0-CDAE8182EF02}"/>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今回の実験設定</a:t>
            </a:r>
          </a:p>
        </p:txBody>
      </p:sp>
      <p:sp>
        <p:nvSpPr>
          <p:cNvPr id="4" name="">
            <a:extLst xmlns:a="http://schemas.openxmlformats.org/drawingml/2006/main">
              <a:ext uri="{FF2B5EF4-FFF2-40B4-BE49-F238E27FC236}">
                <a16:creationId xmlns:a16="http://schemas.microsoft.com/office/drawing/2014/main" id="{53FA6C69-0B70-4B48-882A-C04469DB90BB}"/>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AF56FF2F-15B9-481E-9664-87011C842DB4}"/>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81829BA-8DCB-496A-9A3C-81D4F0FC6488}"/>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BCF7F69B-A815-4705-A2E5-746DC8806A88}"/>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9</a:t>
            </a:r>
          </a:p>
        </p:txBody>
      </p:sp>
      <p:sp>
        <p:nvSpPr>
          <p:cNvPr id="8" name="">
            <a:extLst xmlns:a="http://schemas.openxmlformats.org/drawingml/2006/main">
              <a:ext uri="{FF2B5EF4-FFF2-40B4-BE49-F238E27FC236}">
                <a16:creationId xmlns:a16="http://schemas.microsoft.com/office/drawing/2014/main" id="{2DB1429D-284B-43B8-88EA-CE280213D1AA}"/>
              </a:ext>
            </a:extLst>
          </p:cNvPr>
          <p:cNvSpPr>
            <a:spLocks xmlns:a="http://schemas.openxmlformats.org/drawingml/2006/main" noGrp="1"/>
          </p:cNvSpPr>
          <p:nvPr/>
        </p:nvSpPr>
        <p:spPr>
          <a:xfrm xmlns:a="http://schemas.openxmlformats.org/drawingml/2006/main">
            <a:off x="685800" y="10668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第I段階の目的</a:t>
            </a:r>
          </a:p>
        </p:txBody>
      </p:sp>
      <p:sp>
        <p:nvSpPr>
          <p:cNvPr id="9" name="">
            <a:extLst xmlns:a="http://schemas.openxmlformats.org/drawingml/2006/main">
              <a:ext uri="{FF2B5EF4-FFF2-40B4-BE49-F238E27FC236}">
                <a16:creationId xmlns:a16="http://schemas.microsoft.com/office/drawing/2014/main" id="{55421EBC-CF7D-4D80-80FA-E51079CDF2B3}"/>
              </a:ext>
            </a:extLst>
          </p:cNvPr>
          <p:cNvSpPr>
            <a:spLocks xmlns:a="http://schemas.openxmlformats.org/drawingml/2006/main" noGrp="1"/>
          </p:cNvSpPr>
          <p:nvPr/>
        </p:nvSpPr>
        <p:spPr>
          <a:xfrm xmlns:a="http://schemas.openxmlformats.org/drawingml/2006/main">
            <a:off x="2647950" y="1019175"/>
            <a:ext cx="866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173B4B"/>
                </a:solidFill>
                <a:latin typeface="Yu Gothic"/>
                <a:ea typeface="Yu Gothic"/>
                <a:cs typeface="Yu Gothic"/>
              </a:defRPr>
            </a:pPr>
            <a:r>
              <a:rPr sz="1875" b="1">
                <a:solidFill>
                  <a:srgbClr val="173B4B"/>
                </a:solidFill>
                <a:latin typeface="Yu Gothic"/>
                <a:ea typeface="Yu Gothic"/>
                <a:cs typeface="Yu Gothic"/>
              </a:rPr>
              <a:t>3層の実行・接続と、次のラウンドへの状態継承を確認</a:t>
            </a:r>
          </a:p>
        </p:txBody>
      </p:sp>
      <p:graphicFrame>
        <p:nvGraphicFramePr>
          <p:cNvPr id="23" name=""/>
          <p:cNvGraphicFramePr/>
          <p:nvPr/>
        </p:nvGraphicFramePr>
        <p:xfrm>
          <a:off xmlns:a="http://schemas.openxmlformats.org/drawingml/2006/main" x="628650" y="1600200"/>
          <a:ext xmlns:a="http://schemas.openxmlformats.org/drawingml/2006/main" cx="10953750" cy="3562350"/>
        </p:xfrm>
        <a:graphic xmlns:a="http://schemas.openxmlformats.org/drawingml/2006/main">
          <a:graphicData uri="http://schemas.openxmlformats.org/drawingml/2006/table">
            <a:tbl>
              <a:tblPr/>
              <a:tblGrid>
                <a:gridCol w="1257300"/>
                <a:gridCol w="4305300"/>
                <a:gridCol w="1352550"/>
                <a:gridCol w="4038600"/>
              </a:tblGrid>
              <a:tr h="445294">
                <a:tc>
                  <a:txBody>
                    <a:bodyPr/>
                    <a:lstStyle/>
                    <a:p>
                      <a:r>
                        <a:rPr sz="1150" b="1">
                          <a:solidFill>
                            <a:srgbClr val="173B4B"/>
                          </a:solidFill>
                          <a:latin typeface="Yu Gothic"/>
                          <a:ea typeface="Yu Gothic"/>
                          <a:cs typeface="Yu Gothic"/>
                        </a:rPr>
                        <a:t>区分</a:t>
                      </a:r>
                    </a:p>
                  </a:txBody>
                  <a:tcPr marL="91440" marR="91440" marT="45720" marB="45720"/>
                </a:tc>
                <a:tc>
                  <a:txBody>
                    <a:bodyPr/>
                    <a:lstStyle/>
                    <a:p>
                      <a:r>
                        <a:rPr sz="1150" b="1">
                          <a:solidFill>
                            <a:srgbClr val="173B4B"/>
                          </a:solidFill>
                          <a:latin typeface="Yu Gothic"/>
                          <a:ea typeface="Yu Gothic"/>
                          <a:cs typeface="Yu Gothic"/>
                        </a:rPr>
                        <a:t>設定</a:t>
                      </a:r>
                    </a:p>
                  </a:txBody>
                  <a:tcPr marL="91440" marR="91440" marT="45720" marB="45720"/>
                </a:tc>
                <a:tc>
                  <a:txBody>
                    <a:bodyPr/>
                    <a:lstStyle/>
                    <a:p>
                      <a:r>
                        <a:rPr sz="1150" b="1">
                          <a:solidFill>
                            <a:srgbClr val="173B4B"/>
                          </a:solidFill>
                          <a:latin typeface="Yu Gothic"/>
                          <a:ea typeface="Yu Gothic"/>
                          <a:cs typeface="Yu Gothic"/>
                        </a:rPr>
                        <a:t>区分</a:t>
                      </a:r>
                    </a:p>
                  </a:txBody>
                  <a:tcPr marL="91440" marR="91440" marT="45720" marB="45720"/>
                </a:tc>
                <a:tc>
                  <a:txBody>
                    <a:bodyPr/>
                    <a:lstStyle/>
                    <a:p>
                      <a:r>
                        <a:rPr sz="1150" b="1">
                          <a:solidFill>
                            <a:srgbClr val="173B4B"/>
                          </a:solidFill>
                          <a:latin typeface="Yu Gothic"/>
                          <a:ea typeface="Yu Gothic"/>
                          <a:cs typeface="Yu Gothic"/>
                        </a:rPr>
                        <a:t>設定</a:t>
                      </a:r>
                    </a:p>
                  </a:txBody>
                  <a:tcPr marL="91440" marR="91440" marT="45720" marB="45720"/>
                </a:tc>
              </a:tr>
              <a:tr h="445294">
                <a:tc>
                  <a:txBody>
                    <a:bodyPr lIns="76200" tIns="38100" rIns="57150" bIns="38100">
                      <a:normAutofit/>
                    </a:bodyPr>
                    <a:lstStyle/>
                    <a:p>
                      <a:pPr algn="l"/>
                      <a:r>
                        <a:rPr sz="1200" b="1">
                          <a:solidFill>
                            <a:srgbClr val="147B78"/>
                          </a:solidFill>
                          <a:latin typeface="Yu Gothic"/>
                          <a:ea typeface="Yu Gothic"/>
                          <a:cs typeface="Yu Gothic"/>
                        </a:rPr>
                        <a:t>予測課題</a:t>
                      </a:r>
                    </a:p>
                  </a:txBody>
                  <a:tcPr marL="91440" marR="91440" marT="45720" marB="45720" anchor="ctr"/>
                </a:tc>
                <a:tc>
                  <a:txBody>
                    <a:bodyPr/>
                    <a:lstStyle/>
                    <a:p>
                      <a:r>
                        <a:rPr sz="1350" b="0">
                          <a:solidFill>
                            <a:srgbClr val="26373D"/>
                          </a:solidFill>
                          <a:latin typeface="Yu Gothic"/>
                          <a:ea typeface="Yu Gothic"/>
                          <a:cs typeface="Yu Gothic"/>
                        </a:rPr>
                        <a:t>NEXAR動画の通常／危険の二値判定</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ラウンド</a:t>
                      </a:r>
                    </a:p>
                  </a:txBody>
                  <a:tcPr marL="91440" marR="91440" marT="45720" marB="45720" anchor="ctr"/>
                </a:tc>
                <a:tc>
                  <a:txBody>
                    <a:bodyPr/>
                    <a:lstStyle/>
                    <a:p>
                      <a:r>
                        <a:rPr sz="1350" b="0">
                          <a:solidFill>
                            <a:srgbClr val="26373D"/>
                          </a:solidFill>
                          <a:latin typeface="Yu Gothic"/>
                          <a:ea typeface="Yu Gothic"/>
                          <a:cs typeface="Yu Gothic"/>
                        </a:rPr>
                        <a:t>3回</a:t>
                      </a:r>
                    </a:p>
                  </a:txBody>
                  <a:tcPr marL="91440" marR="91440" marT="45720" marB="45720"/>
                </a:tc>
              </a:tr>
              <a:tr h="445294">
                <a:tc>
                  <a:txBody>
                    <a:bodyPr lIns="76200" tIns="38100" rIns="57150" bIns="38100">
                      <a:normAutofit/>
                    </a:bodyPr>
                    <a:lstStyle/>
                    <a:p>
                      <a:pPr algn="l"/>
                      <a:r>
                        <a:rPr sz="1200" b="1">
                          <a:solidFill>
                            <a:srgbClr val="147B78"/>
                          </a:solidFill>
                          <a:latin typeface="Yu Gothic"/>
                          <a:ea typeface="Yu Gothic"/>
                          <a:cs typeface="Yu Gothic"/>
                        </a:rPr>
                        <a:t>現場側</a:t>
                      </a:r>
                    </a:p>
                  </a:txBody>
                  <a:tcPr marL="91440" marR="91440" marT="45720" marB="45720" anchor="ctr"/>
                </a:tc>
                <a:tc>
                  <a:txBody>
                    <a:bodyPr/>
                    <a:lstStyle/>
                    <a:p>
                      <a:r>
                        <a:rPr sz="1350" b="0">
                          <a:solidFill>
                            <a:srgbClr val="26373D"/>
                          </a:solidFill>
                          <a:latin typeface="Yu Gothic"/>
                          <a:ea typeface="Yu Gothic"/>
                          <a:cs typeface="Yu Gothic"/>
                        </a:rPr>
                        <a:t>2台、各6本（通常3・危険3）</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中央側候補</a:t>
                      </a:r>
                    </a:p>
                  </a:txBody>
                  <a:tcPr marL="91440" marR="91440" marT="45720" marB="45720" anchor="ctr"/>
                </a:tc>
                <a:tc>
                  <a:txBody>
                    <a:bodyPr/>
                    <a:lstStyle/>
                    <a:p>
                      <a:r>
                        <a:rPr sz="1350" b="0">
                          <a:solidFill>
                            <a:srgbClr val="26373D"/>
                          </a:solidFill>
                          <a:latin typeface="Yu Gothic"/>
                          <a:ea typeface="Yu Gothic"/>
                          <a:cs typeface="Yu Gothic"/>
                        </a:rPr>
                        <a:t>60本（通常30・危険30）</a:t>
                      </a:r>
                    </a:p>
                  </a:txBody>
                  <a:tcPr marL="91440" marR="91440" marT="45720" marB="45720"/>
                </a:tc>
              </a:tr>
              <a:tr h="445294">
                <a:tc>
                  <a:txBody>
                    <a:bodyPr lIns="76200" tIns="38100" rIns="57150" bIns="38100">
                      <a:normAutofit/>
                    </a:bodyPr>
                    <a:lstStyle/>
                    <a:p>
                      <a:pPr algn="l"/>
                      <a:r>
                        <a:rPr sz="1200" b="1">
                          <a:solidFill>
                            <a:srgbClr val="147B78"/>
                          </a:solidFill>
                          <a:latin typeface="Yu Gothic"/>
                          <a:ea typeface="Yu Gothic"/>
                          <a:cs typeface="Yu Gothic"/>
                        </a:rPr>
                        <a:t>データ分割</a:t>
                      </a:r>
                    </a:p>
                  </a:txBody>
                  <a:tcPr marL="91440" marR="91440" marT="45720" marB="45720" anchor="ctr"/>
                </a:tc>
                <a:tc>
                  <a:txBody>
                    <a:bodyPr/>
                    <a:lstStyle/>
                    <a:p>
                      <a:r>
                        <a:rPr sz="1350" b="0">
                          <a:solidFill>
                            <a:srgbClr val="26373D"/>
                          </a:solidFill>
                          <a:latin typeface="Yu Gothic"/>
                          <a:ea typeface="Yu Gothic"/>
                          <a:cs typeface="Yu Gothic"/>
                        </a:rPr>
                        <a:t>現場側12本・中央側60本・確認用2本・最終評価用2本は動画単位で非重複</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反復条件</a:t>
                      </a:r>
                    </a:p>
                  </a:txBody>
                  <a:tcPr marL="91440" marR="91440" marT="45720" marB="45720" anchor="ctr"/>
                </a:tc>
                <a:tc>
                  <a:txBody>
                    <a:bodyPr/>
                    <a:lstStyle/>
                    <a:p>
                      <a:r>
                        <a:rPr sz="1350" b="0">
                          <a:solidFill>
                            <a:srgbClr val="26373D"/>
                          </a:solidFill>
                          <a:latin typeface="Yu Gothic"/>
                          <a:ea typeface="Yu Gothic"/>
                          <a:cs typeface="Yu Gothic"/>
                        </a:rPr>
                        <a:t>乱数の初期値42の1実行。3ラウンドで同じ現場動画を使用し、最適化状態は毎回初期化</a:t>
                      </a:r>
                    </a:p>
                  </a:txBody>
                  <a:tcPr marL="91440" marR="91440" marT="45720" marB="45720"/>
                </a:tc>
              </a:tr>
              <a:tr h="445294">
                <a:tc>
                  <a:txBody>
                    <a:bodyPr lIns="76200" tIns="38100" rIns="57150" bIns="38100">
                      <a:normAutofit/>
                    </a:bodyPr>
                    <a:lstStyle/>
                    <a:p>
                      <a:pPr algn="l"/>
                      <a:r>
                        <a:rPr sz="1200" b="1">
                          <a:solidFill>
                            <a:srgbClr val="147B78"/>
                          </a:solidFill>
                          <a:latin typeface="Yu Gothic"/>
                          <a:ea typeface="Yu Gothic"/>
                          <a:cs typeface="Yu Gothic"/>
                        </a:rPr>
                        <a:t>入力画像</a:t>
                      </a:r>
                    </a:p>
                  </a:txBody>
                  <a:tcPr marL="91440" marR="91440" marT="45720" marB="45720" anchor="ctr"/>
                </a:tc>
                <a:tc>
                  <a:txBody>
                    <a:bodyPr/>
                    <a:lstStyle/>
                    <a:p>
                      <a:r>
                        <a:rPr sz="1350" b="0">
                          <a:solidFill>
                            <a:srgbClr val="26373D"/>
                          </a:solidFill>
                          <a:latin typeface="Yu Gothic"/>
                          <a:ea typeface="Yu Gothic"/>
                          <a:cs typeface="Yu Gothic"/>
                        </a:rPr>
                        <a:t>1動画4枚。危険区間の4時刻と、対応する通常動画の同じ4時刻</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要約</a:t>
                      </a:r>
                    </a:p>
                  </a:txBody>
                  <a:tcPr marL="91440" marR="91440" marT="45720" marB="45720" anchor="ctr"/>
                </a:tc>
                <a:tc>
                  <a:txBody>
                    <a:bodyPr/>
                    <a:lstStyle/>
                    <a:p>
                      <a:r>
                        <a:rPr sz="1350" b="0">
                          <a:solidFill>
                            <a:srgbClr val="26373D"/>
                          </a:solidFill>
                          <a:latin typeface="Yu Gothic"/>
                          <a:ea typeface="Yu Gothic"/>
                          <a:cs typeface="Yu Gothic"/>
                        </a:rPr>
                        <a:t>softmax確率（T=1）を各台・各判定区分で平均し、4つのQₖ,ᵣ</a:t>
                      </a:r>
                    </a:p>
                  </a:txBody>
                  <a:tcPr marL="91440" marR="91440" marT="45720" marB="45720"/>
                </a:tc>
              </a:tr>
              <a:tr h="445294">
                <a:tc>
                  <a:txBody>
                    <a:bodyPr lIns="76200" tIns="38100" rIns="57150" bIns="38100">
                      <a:normAutofit/>
                    </a:bodyPr>
                    <a:lstStyle/>
                    <a:p>
                      <a:pPr algn="l"/>
                      <a:r>
                        <a:rPr sz="1200" b="1">
                          <a:solidFill>
                            <a:srgbClr val="147B78"/>
                          </a:solidFill>
                          <a:latin typeface="Yu Gothic"/>
                          <a:ea typeface="Yu Gothic"/>
                          <a:cs typeface="Yu Gothic"/>
                        </a:rPr>
                        <a:t>使用モデル</a:t>
                      </a:r>
                    </a:p>
                  </a:txBody>
                  <a:tcPr marL="91440" marR="91440" marT="45720" marB="45720" anchor="ctr"/>
                </a:tc>
                <a:tc>
                  <a:txBody>
                    <a:bodyPr/>
                    <a:lstStyle/>
                    <a:p>
                      <a:r>
                        <a:rPr sz="1350" b="0">
                          <a:solidFill>
                            <a:srgbClr val="26373D"/>
                          </a:solidFill>
                          <a:latin typeface="Yu Gothic"/>
                          <a:ea typeface="Yu Gothic"/>
                          <a:cs typeface="Yu Gothic"/>
                        </a:rPr>
                        <a:t>現場側・中央側とも Qwen2.5-VL-3B-Instruct</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更新対象</a:t>
                      </a:r>
                    </a:p>
                  </a:txBody>
                  <a:tcPr marL="91440" marR="91440" marT="45720" marB="45720" anchor="ctr"/>
                </a:tc>
                <a:tc>
                  <a:txBody>
                    <a:bodyPr/>
                    <a:lstStyle/>
                    <a:p>
                      <a:r>
                        <a:rPr sz="1350" b="0">
                          <a:solidFill>
                            <a:srgbClr val="26373D"/>
                          </a:solidFill>
                          <a:latin typeface="Yu Gothic"/>
                          <a:ea typeface="Yu Gothic"/>
                          <a:cs typeface="Yu Gothic"/>
                        </a:rPr>
                        <a:t>現場側：軽量更新部分（LoRA）＋分類層
中央側：軽量更新部分（LoRA）のみ</a:t>
                      </a:r>
                    </a:p>
                  </a:txBody>
                  <a:tcPr marL="91440" marR="91440" marT="45720" marB="45720"/>
                </a:tc>
              </a:tr>
              <a:tr h="445294">
                <a:tc>
                  <a:txBody>
                    <a:bodyPr lIns="76200" tIns="38100" rIns="57150" bIns="38100">
                      <a:normAutofit/>
                    </a:bodyPr>
                    <a:lstStyle/>
                    <a:p>
                      <a:pPr algn="l"/>
                      <a:r>
                        <a:rPr sz="1200" b="1">
                          <a:solidFill>
                            <a:srgbClr val="147B78"/>
                          </a:solidFill>
                          <a:latin typeface="Yu Gothic"/>
                          <a:ea typeface="Yu Gothic"/>
                          <a:cs typeface="Yu Gothic"/>
                        </a:rPr>
                        <a:t>現場側学習</a:t>
                      </a:r>
                    </a:p>
                  </a:txBody>
                  <a:tcPr marL="91440" marR="91440" marT="45720" marB="45720" anchor="ctr"/>
                </a:tc>
                <a:tc>
                  <a:txBody>
                    <a:bodyPr/>
                    <a:lstStyle/>
                    <a:p>
                      <a:r>
                        <a:rPr sz="1350" b="0">
                          <a:solidFill>
                            <a:srgbClr val="26373D"/>
                          </a:solidFill>
                          <a:latin typeface="Yu Gothic"/>
                          <a:ea typeface="Yu Gothic"/>
                          <a:cs typeface="Yu Gothic"/>
                        </a:rPr>
                        <a:t>AdamW、学習率 1×10⁻⁴、1回に1動画、6回更新</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軽量更新</a:t>
                      </a:r>
                    </a:p>
                  </a:txBody>
                  <a:tcPr marL="91440" marR="91440" marT="45720" marB="45720" anchor="ctr"/>
                </a:tc>
                <a:tc>
                  <a:txBody>
                    <a:bodyPr/>
                    <a:lstStyle/>
                    <a:p>
                      <a:r>
                        <a:rPr sz="1350" b="0">
                          <a:solidFill>
                            <a:srgbClr val="26373D"/>
                          </a:solidFill>
                          <a:latin typeface="Yu Gothic"/>
                          <a:ea typeface="Yu Gothic"/>
                          <a:cs typeface="Yu Gothic"/>
                        </a:rPr>
                        <a:t>r=8、α=16、dropout=0</a:t>
                      </a:r>
                    </a:p>
                  </a:txBody>
                  <a:tcPr marL="91440" marR="91440" marT="45720" marB="45720"/>
                </a:tc>
              </a:tr>
              <a:tr h="445294">
                <a:tc>
                  <a:txBody>
                    <a:bodyPr lIns="76200" tIns="38100" rIns="57150" bIns="38100">
                      <a:normAutofit/>
                    </a:bodyPr>
                    <a:lstStyle/>
                    <a:p>
                      <a:pPr algn="l"/>
                      <a:r>
                        <a:rPr sz="1200" b="1">
                          <a:solidFill>
                            <a:srgbClr val="147B78"/>
                          </a:solidFill>
                          <a:latin typeface="Yu Gothic"/>
                          <a:ea typeface="Yu Gothic"/>
                          <a:cs typeface="Yu Gothic"/>
                        </a:rPr>
                        <a:t>連合平均</a:t>
                      </a:r>
                    </a:p>
                  </a:txBody>
                  <a:tcPr marL="91440" marR="91440" marT="45720" marB="45720" anchor="ctr"/>
                </a:tc>
                <a:tc>
                  <a:txBody>
                    <a:bodyPr/>
                    <a:lstStyle/>
                    <a:p>
                      <a:r>
                        <a:rPr sz="1350" b="0">
                          <a:solidFill>
                            <a:srgbClr val="26373D"/>
                          </a:solidFill>
                          <a:latin typeface="Yu Gothic"/>
                          <a:ea typeface="Yu Gothic"/>
                          <a:cs typeface="Yu Gothic"/>
                        </a:rPr>
                        <a:t>各台6本のため重みは0.5ずつ</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代理データ</a:t>
                      </a:r>
                    </a:p>
                  </a:txBody>
                  <a:tcPr marL="91440" marR="91440" marT="45720" marB="45720" anchor="ctr"/>
                </a:tc>
                <a:tc>
                  <a:txBody>
                    <a:bodyPr/>
                    <a:lstStyle/>
                    <a:p>
                      <a:r>
                        <a:rPr sz="1350" b="0">
                          <a:solidFill>
                            <a:srgbClr val="26373D"/>
                          </a:solidFill>
                          <a:latin typeface="Yu Gothic"/>
                          <a:ea typeface="Yu Gothic"/>
                          <a:cs typeface="Yu Gothic"/>
                        </a:rPr>
                        <a:t>正解ラベルで制限せず60本を検索し、上位3本×5変換から4つのPₖ,ᵣを選択</a:t>
                      </a:r>
                    </a:p>
                  </a:txBody>
                  <a:tcPr marL="91440" marR="91440" marT="45720" marB="45720"/>
                </a:tc>
              </a:tr>
            </a:tbl>
          </a:graphicData>
        </a:graphic>
      </p:graphicFrame>
      <p:sp>
        <p:nvSpPr>
          <p:cNvPr id="11" name="">
            <a:extLst xmlns:a="http://schemas.openxmlformats.org/drawingml/2006/main">
              <a:ext uri="{FF2B5EF4-FFF2-40B4-BE49-F238E27FC236}">
                <a16:creationId xmlns:a16="http://schemas.microsoft.com/office/drawing/2014/main" id="{DCCD36FF-6A80-4244-8D8C-F027D3AC05E6}"/>
              </a:ext>
            </a:extLst>
          </p:cNvPr>
          <p:cNvSpPr>
            <a:spLocks xmlns:a="http://schemas.openxmlformats.org/drawingml/2006/main" noGrp="1"/>
          </p:cNvSpPr>
          <p:nvPr/>
        </p:nvSpPr>
        <p:spPr>
          <a:xfrm xmlns:a="http://schemas.openxmlformats.org/drawingml/2006/main">
            <a:off x="685800" y="5743575"/>
            <a:ext cx="10820400" cy="4762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8B797BE-7518-428B-BAB6-9FB30EB49644}"/>
              </a:ext>
            </a:extLst>
          </p:cNvPr>
          <p:cNvSpPr>
            <a:spLocks xmlns:a="http://schemas.openxmlformats.org/drawingml/2006/main" noGrp="1"/>
          </p:cNvSpPr>
          <p:nvPr/>
        </p:nvSpPr>
        <p:spPr>
          <a:xfrm xmlns:a="http://schemas.openxmlformats.org/drawingml/2006/main">
            <a:off x="914400" y="5829300"/>
            <a:ext cx="1036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B94A3A"/>
                </a:solidFill>
                <a:latin typeface="Yu Gothic"/>
                <a:ea typeface="Yu Gothic"/>
                <a:cs typeface="Yu Gothic"/>
              </a:defRPr>
            </a:pPr>
            <a:r>
              <a:rPr sz="1575" b="1">
                <a:solidFill>
                  <a:srgbClr val="B94A3A"/>
                </a:solidFill>
                <a:latin typeface="Yu Gothic"/>
                <a:ea typeface="Yu Gothic"/>
                <a:cs typeface="Yu Gothic"/>
              </a:rPr>
              <a:t>今回の合格条件は実行・接続・状態継承。性能向上と異なる規模のAI間の転移は未確認</a:t>
            </a:r>
          </a:p>
        </p:txBody>
      </p:sp>
      <p:sp>
        <p:nvSpPr>
          <p:cNvPr id="13" name="">
            <a:extLst xmlns:a="http://schemas.openxmlformats.org/drawingml/2006/main">
              <a:ext uri="{FF2B5EF4-FFF2-40B4-BE49-F238E27FC236}">
                <a16:creationId xmlns:a16="http://schemas.microsoft.com/office/drawing/2014/main" id="{EECDB35D-4888-4C34-93E7-ABAE57FB091E}"/>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182557459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6CFE1B6-705D-4D53-8029-2FD567B9335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E7F6AC-B2CF-492B-990A-ACA174A8AA9A}"/>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3C354A4-E33F-47D3-96EC-53B4177AC1D2}"/>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FedPACT全体フローと今回の実験位置</a:t>
            </a:r>
          </a:p>
        </p:txBody>
      </p:sp>
      <p:sp>
        <p:nvSpPr>
          <p:cNvPr id="4" name="">
            <a:extLst xmlns:a="http://schemas.openxmlformats.org/drawingml/2006/main">
              <a:ext uri="{FF2B5EF4-FFF2-40B4-BE49-F238E27FC236}">
                <a16:creationId xmlns:a16="http://schemas.microsoft.com/office/drawing/2014/main" id="{8A1043A4-FE61-41F2-8110-5BE3B9129BAF}"/>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35057276-06E0-4A4B-A556-BDC3797B7E2F}"/>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CC894F1-6AD7-47F3-A261-B795F531F74A}"/>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408E15D1-44EC-4840-AD8F-4A4F5AA6E60F}"/>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9</a:t>
            </a:r>
          </a:p>
        </p:txBody>
      </p:sp>
      <p:sp>
        <p:nvSpPr>
          <p:cNvPr id="8" name="">
            <a:extLst xmlns:a="http://schemas.openxmlformats.org/drawingml/2006/main">
              <a:ext uri="{FF2B5EF4-FFF2-40B4-BE49-F238E27FC236}">
                <a16:creationId xmlns:a16="http://schemas.microsoft.com/office/drawing/2014/main" id="{14D0363C-B66B-4ACB-8363-B45D380C5564}"/>
              </a:ext>
            </a:extLst>
          </p:cNvPr>
          <p:cNvSpPr>
            <a:spLocks xmlns:a="http://schemas.openxmlformats.org/drawingml/2006/main" noGrp="1"/>
          </p:cNvSpPr>
          <p:nvPr/>
        </p:nvSpPr>
        <p:spPr>
          <a:xfrm xmlns:a="http://schemas.openxmlformats.org/drawingml/2006/main">
            <a:off x="704850" y="1143000"/>
            <a:ext cx="10782300" cy="41910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23835DF6-A262-4EF2-ABAF-24EEFFE3B64C}"/>
              </a:ext>
            </a:extLst>
          </p:cNvPr>
          <p:cNvSpPr>
            <a:spLocks xmlns:a="http://schemas.openxmlformats.org/drawingml/2006/main" noGrp="1"/>
          </p:cNvSpPr>
          <p:nvPr/>
        </p:nvSpPr>
        <p:spPr>
          <a:xfrm xmlns:a="http://schemas.openxmlformats.org/drawingml/2006/main">
            <a:off x="2238375" y="2705100"/>
            <a:ext cx="771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ここに9月16日Slack共有版の</a:t>
            </a:r>
          </a:p>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フローチャートを挿入</a:t>
            </a:r>
          </a:p>
        </p:txBody>
      </p:sp>
      <p:sp>
        <p:nvSpPr>
          <p:cNvPr id="10" name="">
            <a:extLst xmlns:a="http://schemas.openxmlformats.org/drawingml/2006/main">
              <a:ext uri="{FF2B5EF4-FFF2-40B4-BE49-F238E27FC236}">
                <a16:creationId xmlns:a16="http://schemas.microsoft.com/office/drawing/2014/main" id="{F4D1E5EA-0625-489B-9314-4274C72FAC94}"/>
              </a:ext>
            </a:extLst>
          </p:cNvPr>
          <p:cNvSpPr>
            <a:spLocks xmlns:a="http://schemas.openxmlformats.org/drawingml/2006/main" noGrp="1"/>
          </p:cNvSpPr>
          <p:nvPr/>
        </p:nvSpPr>
        <p:spPr>
          <a:xfrm xmlns:a="http://schemas.openxmlformats.org/drawingml/2006/main">
            <a:off x="895350" y="13144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7B78"/>
                </a:solidFill>
                <a:latin typeface="Yu Gothic"/>
                <a:ea typeface="Yu Gothic"/>
                <a:cs typeface="Yu Gothic"/>
              </a:defRPr>
            </a:pPr>
            <a:r>
              <a:rPr sz="1350" b="1">
                <a:solidFill>
                  <a:srgbClr val="147B78"/>
                </a:solidFill>
                <a:latin typeface="Yu Gothic"/>
                <a:ea typeface="Yu Gothic"/>
                <a:cs typeface="Yu Gothic"/>
              </a:rPr>
              <a:t>差し替え時の確認</a:t>
            </a:r>
          </a:p>
        </p:txBody>
      </p:sp>
      <p:sp>
        <p:nvSpPr>
          <p:cNvPr id="11" name="">
            <a:extLst xmlns:a="http://schemas.openxmlformats.org/drawingml/2006/main">
              <a:ext uri="{FF2B5EF4-FFF2-40B4-BE49-F238E27FC236}">
                <a16:creationId xmlns:a16="http://schemas.microsoft.com/office/drawing/2014/main" id="{E79D2FA4-57AD-4F84-BB04-EB44D79FC91B}"/>
              </a:ext>
            </a:extLst>
          </p:cNvPr>
          <p:cNvSpPr>
            <a:spLocks xmlns:a="http://schemas.openxmlformats.org/drawingml/2006/main" noGrp="1"/>
          </p:cNvSpPr>
          <p:nvPr/>
        </p:nvSpPr>
        <p:spPr>
          <a:xfrm xmlns:a="http://schemas.openxmlformats.org/drawingml/2006/main">
            <a:off x="2914650" y="13335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a:solidFill>
                  <a:srgbClr val="617078"/>
                </a:solidFill>
                <a:latin typeface="Yu Gothic"/>
                <a:ea typeface="Yu Gothic"/>
                <a:cs typeface="Yu Gothic"/>
              </a:defRPr>
            </a:pPr>
            <a:r>
              <a:rPr sz="1275" b="0">
                <a:solidFill>
                  <a:srgbClr val="617078"/>
                </a:solidFill>
                <a:latin typeface="Yu Gothic"/>
                <a:ea typeface="Yu Gothic"/>
                <a:cs typeface="Yu Gothic"/>
              </a:rPr>
              <a:t>小型AIの更新と Qₖ,ᵣ を別経路で表示　／　Layer 2を今回の中心として表示</a:t>
            </a:r>
          </a:p>
        </p:txBody>
      </p:sp>
      <p:sp>
        <p:nvSpPr>
          <p:cNvPr id="12" name="">
            <a:extLst xmlns:a="http://schemas.openxmlformats.org/drawingml/2006/main">
              <a:ext uri="{FF2B5EF4-FFF2-40B4-BE49-F238E27FC236}">
                <a16:creationId xmlns:a16="http://schemas.microsoft.com/office/drawing/2014/main" id="{8F15F5E2-7E0A-4248-9CDA-1F7C8CA31516}"/>
              </a:ext>
            </a:extLst>
          </p:cNvPr>
          <p:cNvSpPr>
            <a:spLocks xmlns:a="http://schemas.openxmlformats.org/drawingml/2006/main" noGrp="1"/>
          </p:cNvSpPr>
          <p:nvPr/>
        </p:nvSpPr>
        <p:spPr>
          <a:xfrm xmlns:a="http://schemas.openxmlformats.org/drawingml/2006/main">
            <a:off x="781050" y="56388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今回の確認範囲</a:t>
            </a:r>
          </a:p>
        </p:txBody>
      </p:sp>
      <p:sp>
        <p:nvSpPr>
          <p:cNvPr id="13" name="">
            <a:extLst xmlns:a="http://schemas.openxmlformats.org/drawingml/2006/main">
              <a:ext uri="{FF2B5EF4-FFF2-40B4-BE49-F238E27FC236}">
                <a16:creationId xmlns:a16="http://schemas.microsoft.com/office/drawing/2014/main" id="{59D3245C-537E-44BF-90F4-2C49AA9A7EDF}"/>
              </a:ext>
            </a:extLst>
          </p:cNvPr>
          <p:cNvSpPr>
            <a:spLocks xmlns:a="http://schemas.openxmlformats.org/drawingml/2006/main" noGrp="1"/>
          </p:cNvSpPr>
          <p:nvPr/>
        </p:nvSpPr>
        <p:spPr>
          <a:xfrm xmlns:a="http://schemas.openxmlformats.org/drawingml/2006/main">
            <a:off x="268605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1</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2台の小型AIを連合平均</a:t>
            </a:r>
          </a:p>
        </p:txBody>
      </p:sp>
      <p:sp>
        <p:nvSpPr>
          <p:cNvPr id="14" name="">
            <a:extLst xmlns:a="http://schemas.openxmlformats.org/drawingml/2006/main">
              <a:ext uri="{FF2B5EF4-FFF2-40B4-BE49-F238E27FC236}">
                <a16:creationId xmlns:a16="http://schemas.microsoft.com/office/drawing/2014/main" id="{71E94401-B2D8-49A2-AEF3-20DE78F8A28B}"/>
              </a:ext>
            </a:extLst>
          </p:cNvPr>
          <p:cNvSpPr>
            <a:spLocks xmlns:a="http://schemas.openxmlformats.org/drawingml/2006/main" noGrp="1"/>
          </p:cNvSpPr>
          <p:nvPr/>
        </p:nvSpPr>
        <p:spPr>
          <a:xfrm xmlns:a="http://schemas.openxmlformats.org/drawingml/2006/main">
            <a:off x="461010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78FCAB0-1316-4897-92E6-D7FB357E4A86}"/>
              </a:ext>
            </a:extLst>
          </p:cNvPr>
          <p:cNvSpPr>
            <a:spLocks xmlns:a="http://schemas.openxmlformats.org/drawingml/2006/main" noGrp="1"/>
          </p:cNvSpPr>
          <p:nvPr/>
        </p:nvSpPr>
        <p:spPr>
          <a:xfrm xmlns:a="http://schemas.openxmlformats.org/drawingml/2006/main">
            <a:off x="492442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Layer 2</a:t>
            </a:r>
          </a:p>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代理データを生成</a:t>
            </a:r>
          </a:p>
        </p:txBody>
      </p:sp>
      <p:sp>
        <p:nvSpPr>
          <p:cNvPr id="16" name="">
            <a:extLst xmlns:a="http://schemas.openxmlformats.org/drawingml/2006/main">
              <a:ext uri="{FF2B5EF4-FFF2-40B4-BE49-F238E27FC236}">
                <a16:creationId xmlns:a16="http://schemas.microsoft.com/office/drawing/2014/main" id="{0D052B61-49A0-47B1-B076-91CF6CC97FE6}"/>
              </a:ext>
            </a:extLst>
          </p:cNvPr>
          <p:cNvSpPr>
            <a:spLocks xmlns:a="http://schemas.openxmlformats.org/drawingml/2006/main" noGrp="1"/>
          </p:cNvSpPr>
          <p:nvPr/>
        </p:nvSpPr>
        <p:spPr>
          <a:xfrm xmlns:a="http://schemas.openxmlformats.org/drawingml/2006/main">
            <a:off x="6848475"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0A020C8-683F-4C72-A15C-C92EDE6BCC79}"/>
              </a:ext>
            </a:extLst>
          </p:cNvPr>
          <p:cNvSpPr>
            <a:spLocks xmlns:a="http://schemas.openxmlformats.org/drawingml/2006/main" noGrp="1"/>
          </p:cNvSpPr>
          <p:nvPr/>
        </p:nvSpPr>
        <p:spPr>
          <a:xfrm xmlns:a="http://schemas.openxmlformats.org/drawingml/2006/main">
            <a:off x="716280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3</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18" name="">
            <a:extLst xmlns:a="http://schemas.openxmlformats.org/drawingml/2006/main">
              <a:ext uri="{FF2B5EF4-FFF2-40B4-BE49-F238E27FC236}">
                <a16:creationId xmlns:a16="http://schemas.microsoft.com/office/drawing/2014/main" id="{CA479034-3B57-4E12-8AB8-1402CABDBB8C}"/>
              </a:ext>
            </a:extLst>
          </p:cNvPr>
          <p:cNvSpPr>
            <a:spLocks xmlns:a="http://schemas.openxmlformats.org/drawingml/2006/main" noGrp="1"/>
          </p:cNvSpPr>
          <p:nvPr/>
        </p:nvSpPr>
        <p:spPr>
          <a:xfrm xmlns:a="http://schemas.openxmlformats.org/drawingml/2006/main">
            <a:off x="908685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9A1317F-A88B-45C5-B9C5-04ECC9F451C5}"/>
              </a:ext>
            </a:extLst>
          </p:cNvPr>
          <p:cNvSpPr>
            <a:spLocks xmlns:a="http://schemas.openxmlformats.org/drawingml/2006/main" noGrp="1"/>
          </p:cNvSpPr>
          <p:nvPr/>
        </p:nvSpPr>
        <p:spPr>
          <a:xfrm xmlns:a="http://schemas.openxmlformats.org/drawingml/2006/main">
            <a:off x="940117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次のラウンド</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状態を引き継ぐ</a:t>
            </a:r>
          </a:p>
        </p:txBody>
      </p:sp>
      <p:sp>
        <p:nvSpPr>
          <p:cNvPr id="20" name="">
            <a:extLst xmlns:a="http://schemas.openxmlformats.org/drawingml/2006/main">
              <a:ext uri="{FF2B5EF4-FFF2-40B4-BE49-F238E27FC236}">
                <a16:creationId xmlns:a16="http://schemas.microsoft.com/office/drawing/2014/main" id="{8B1EBEEC-4C30-4E0D-A971-C4D31BE054B4}"/>
              </a:ext>
            </a:extLst>
          </p:cNvPr>
          <p:cNvSpPr>
            <a:spLocks xmlns:a="http://schemas.openxmlformats.org/drawingml/2006/main" noGrp="1"/>
          </p:cNvSpPr>
          <p:nvPr/>
        </p:nvSpPr>
        <p:spPr>
          <a:xfrm xmlns:a="http://schemas.openxmlformats.org/drawingml/2006/main">
            <a:off x="952500" y="61531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26373D"/>
                </a:solidFill>
                <a:latin typeface="Yu Gothic"/>
                <a:ea typeface="Yu Gothic"/>
                <a:cs typeface="Yu Gothic"/>
              </a:defRPr>
            </a:pPr>
            <a:r>
              <a:rPr sz="1350" b="1">
                <a:solidFill>
                  <a:srgbClr val="26373D"/>
                </a:solidFill>
                <a:latin typeface="Yu Gothic"/>
                <a:ea typeface="Yu Gothic"/>
                <a:cs typeface="Yu Gothic"/>
              </a:rPr>
              <a:t>合格条件：3層と次のラウンドが正しくつながり、入力・出力・状態をログから追えること</a:t>
            </a:r>
          </a:p>
        </p:txBody>
      </p:sp>
    </p:spTree>
    <p:extLst>
      <p:ext uri="{BB962C8B-B14F-4D97-AF65-F5344CB8AC3E}">
        <p14:creationId xmlns:p14="http://schemas.microsoft.com/office/powerpoint/2010/main" val="8845669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F070EAF-99A9-4B1D-A0CE-0D1A9277296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6B8595-E575-460B-9165-DA0C3477D99D}"/>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8D05E25-8C32-4ADB-992B-BF637A7BD755}"/>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学習後の判定は一致したが、変化量には差が残った</a:t>
            </a:r>
          </a:p>
        </p:txBody>
      </p:sp>
      <p:sp>
        <p:nvSpPr>
          <p:cNvPr id="4" name="">
            <a:extLst xmlns:a="http://schemas.openxmlformats.org/drawingml/2006/main">
              <a:ext uri="{FF2B5EF4-FFF2-40B4-BE49-F238E27FC236}">
                <a16:creationId xmlns:a16="http://schemas.microsoft.com/office/drawing/2014/main" id="{8FEE7325-7B47-4323-A6B2-96403C5D73C1}"/>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FDBD224B-A45F-42AE-BD23-5084CCB28CAD}"/>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1970358-5874-48E1-A2BF-6D01044F268B}"/>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3620FE65-D8A8-474C-87FE-3CAC1A391FE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9</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cf6f83fdb5bd4349"/>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8578de38bb2f47c0"/>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23e8247125d74e72"/>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1c8beacb582f46a1"/>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1D5D1AC-1E69-4FBB-BD64-47E9D30D70D9}"/>
              </a:ext>
            </a:extLst>
          </p:cNvPr>
          <p:cNvSpPr>
            <a:spLocks xmlns:a="http://schemas.openxmlformats.org/drawingml/2006/main" noGrp="1"/>
          </p:cNvSpPr>
          <p:nvPr/>
        </p:nvSpPr>
        <p:spPr>
          <a:xfrm xmlns:a="http://schemas.openxmlformats.org/drawingml/2006/main">
            <a:off x="552450" y="2705100"/>
            <a:ext cx="11029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4枚目で選んだ中央側動画：正解ラベルは通常、変換なし</a:t>
            </a:r>
          </a:p>
        </p:txBody>
      </p:sp>
      <p:sp>
        <p:nvSpPr>
          <p:cNvPr id="13" name="">
            <a:extLst xmlns:a="http://schemas.openxmlformats.org/drawingml/2006/main">
              <a:ext uri="{FF2B5EF4-FFF2-40B4-BE49-F238E27FC236}">
                <a16:creationId xmlns:a16="http://schemas.microsoft.com/office/drawing/2014/main" id="{58BD098D-CC4E-4DC6-B1DA-C28EB8FFA87D}"/>
              </a:ext>
            </a:extLst>
          </p:cNvPr>
          <p:cNvSpPr>
            <a:spLocks xmlns:a="http://schemas.openxmlformats.org/drawingml/2006/main" noGrp="1"/>
          </p:cNvSpPr>
          <p:nvPr/>
        </p:nvSpPr>
        <p:spPr>
          <a:xfrm xmlns:a="http://schemas.openxmlformats.org/drawingml/2006/main">
            <a:off x="857250" y="33337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学習後の危険確率</a:t>
            </a:r>
          </a:p>
        </p:txBody>
      </p:sp>
      <p:sp>
        <p:nvSpPr>
          <p:cNvPr id="14" name="">
            <a:extLst xmlns:a="http://schemas.openxmlformats.org/drawingml/2006/main">
              <a:ext uri="{FF2B5EF4-FFF2-40B4-BE49-F238E27FC236}">
                <a16:creationId xmlns:a16="http://schemas.microsoft.com/office/drawing/2014/main" id="{3E728F0E-A588-4DBA-BEB7-40FAACF56A12}"/>
              </a:ext>
            </a:extLst>
          </p:cNvPr>
          <p:cNvSpPr>
            <a:spLocks xmlns:a="http://schemas.openxmlformats.org/drawingml/2006/main" noGrp="1"/>
          </p:cNvSpPr>
          <p:nvPr/>
        </p:nvSpPr>
        <p:spPr>
          <a:xfrm xmlns:a="http://schemas.openxmlformats.org/drawingml/2006/main">
            <a:off x="1047750"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15" name="">
            <a:extLst xmlns:a="http://schemas.openxmlformats.org/drawingml/2006/main">
              <a:ext uri="{FF2B5EF4-FFF2-40B4-BE49-F238E27FC236}">
                <a16:creationId xmlns:a16="http://schemas.microsoft.com/office/drawing/2014/main" id="{1DD098DC-38AC-42A9-BD46-BAA0C9677AA4}"/>
              </a:ext>
            </a:extLst>
          </p:cNvPr>
          <p:cNvSpPr>
            <a:spLocks xmlns:a="http://schemas.openxmlformats.org/drawingml/2006/main" noGrp="1"/>
          </p:cNvSpPr>
          <p:nvPr/>
        </p:nvSpPr>
        <p:spPr>
          <a:xfrm xmlns:a="http://schemas.openxmlformats.org/drawingml/2006/main">
            <a:off x="1047750"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0.724</a:t>
            </a:r>
          </a:p>
        </p:txBody>
      </p:sp>
      <p:sp>
        <p:nvSpPr>
          <p:cNvPr id="16" name="">
            <a:extLst xmlns:a="http://schemas.openxmlformats.org/drawingml/2006/main">
              <a:ext uri="{FF2B5EF4-FFF2-40B4-BE49-F238E27FC236}">
                <a16:creationId xmlns:a16="http://schemas.microsoft.com/office/drawing/2014/main" id="{B8A2C3BD-8786-4CAA-8995-2647093C203F}"/>
              </a:ext>
            </a:extLst>
          </p:cNvPr>
          <p:cNvSpPr>
            <a:spLocks xmlns:a="http://schemas.openxmlformats.org/drawingml/2006/main" noGrp="1"/>
          </p:cNvSpPr>
          <p:nvPr/>
        </p:nvSpPr>
        <p:spPr>
          <a:xfrm xmlns:a="http://schemas.openxmlformats.org/drawingml/2006/main">
            <a:off x="3381375"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17" name="">
            <a:extLst xmlns:a="http://schemas.openxmlformats.org/drawingml/2006/main">
              <a:ext uri="{FF2B5EF4-FFF2-40B4-BE49-F238E27FC236}">
                <a16:creationId xmlns:a16="http://schemas.microsoft.com/office/drawing/2014/main" id="{32AB87B7-D3EE-4D84-B540-78932AC7FC67}"/>
              </a:ext>
            </a:extLst>
          </p:cNvPr>
          <p:cNvSpPr>
            <a:spLocks xmlns:a="http://schemas.openxmlformats.org/drawingml/2006/main" noGrp="1"/>
          </p:cNvSpPr>
          <p:nvPr/>
        </p:nvSpPr>
        <p:spPr>
          <a:xfrm xmlns:a="http://schemas.openxmlformats.org/drawingml/2006/main">
            <a:off x="3381375"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47B78"/>
                </a:solidFill>
                <a:latin typeface="Yu Gothic"/>
                <a:ea typeface="Yu Gothic"/>
                <a:cs typeface="Yu Gothic"/>
              </a:defRPr>
            </a:pPr>
            <a:r>
              <a:rPr sz="3000" b="1">
                <a:solidFill>
                  <a:srgbClr val="147B78"/>
                </a:solidFill>
                <a:latin typeface="Yu Gothic"/>
                <a:ea typeface="Yu Gothic"/>
                <a:cs typeface="Yu Gothic"/>
              </a:rPr>
              <a:t>0.724</a:t>
            </a:r>
          </a:p>
        </p:txBody>
      </p:sp>
      <p:sp>
        <p:nvSpPr>
          <p:cNvPr id="18" name="">
            <a:extLst xmlns:a="http://schemas.openxmlformats.org/drawingml/2006/main">
              <a:ext uri="{FF2B5EF4-FFF2-40B4-BE49-F238E27FC236}">
                <a16:creationId xmlns:a16="http://schemas.microsoft.com/office/drawing/2014/main" id="{10DE4CF1-255B-4D66-8C4C-79A0A7388A7F}"/>
              </a:ext>
            </a:extLst>
          </p:cNvPr>
          <p:cNvSpPr>
            <a:spLocks xmlns:a="http://schemas.openxmlformats.org/drawingml/2006/main" noGrp="1"/>
          </p:cNvSpPr>
          <p:nvPr/>
        </p:nvSpPr>
        <p:spPr>
          <a:xfrm xmlns:a="http://schemas.openxmlformats.org/drawingml/2006/main">
            <a:off x="2095500" y="4886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ほぼ一致</a:t>
            </a:r>
          </a:p>
        </p:txBody>
      </p:sp>
      <p:sp>
        <p:nvSpPr>
          <p:cNvPr id="19" name="">
            <a:extLst xmlns:a="http://schemas.openxmlformats.org/drawingml/2006/main">
              <a:ext uri="{FF2B5EF4-FFF2-40B4-BE49-F238E27FC236}">
                <a16:creationId xmlns:a16="http://schemas.microsoft.com/office/drawing/2014/main" id="{AF5D8170-C3C0-4024-B4A9-F6786E762C9D}"/>
              </a:ext>
            </a:extLst>
          </p:cNvPr>
          <p:cNvSpPr>
            <a:spLocks xmlns:a="http://schemas.openxmlformats.org/drawingml/2006/main" noGrp="1"/>
          </p:cNvSpPr>
          <p:nvPr/>
        </p:nvSpPr>
        <p:spPr>
          <a:xfrm xmlns:a="http://schemas.openxmlformats.org/drawingml/2006/main">
            <a:off x="5905500" y="3286125"/>
            <a:ext cx="19050" cy="200025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8E9BD1D-771B-4B80-8447-ED794A06F0EC}"/>
              </a:ext>
            </a:extLst>
          </p:cNvPr>
          <p:cNvSpPr>
            <a:spLocks xmlns:a="http://schemas.openxmlformats.org/drawingml/2006/main" noGrp="1"/>
          </p:cNvSpPr>
          <p:nvPr/>
        </p:nvSpPr>
        <p:spPr>
          <a:xfrm xmlns:a="http://schemas.openxmlformats.org/drawingml/2006/main">
            <a:off x="6286500" y="3333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学習による危険方向の変化</a:t>
            </a:r>
          </a:p>
        </p:txBody>
      </p:sp>
      <p:sp>
        <p:nvSpPr>
          <p:cNvPr id="21" name="">
            <a:extLst xmlns:a="http://schemas.openxmlformats.org/drawingml/2006/main">
              <a:ext uri="{FF2B5EF4-FFF2-40B4-BE49-F238E27FC236}">
                <a16:creationId xmlns:a16="http://schemas.microsoft.com/office/drawing/2014/main" id="{561931F9-D093-4694-ABED-C029CCA0AEA9}"/>
              </a:ext>
            </a:extLst>
          </p:cNvPr>
          <p:cNvSpPr>
            <a:spLocks xmlns:a="http://schemas.openxmlformats.org/drawingml/2006/main" noGrp="1"/>
          </p:cNvSpPr>
          <p:nvPr/>
        </p:nvSpPr>
        <p:spPr>
          <a:xfrm xmlns:a="http://schemas.openxmlformats.org/drawingml/2006/main">
            <a:off x="65722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22" name="">
            <a:extLst xmlns:a="http://schemas.openxmlformats.org/drawingml/2006/main">
              <a:ext uri="{FF2B5EF4-FFF2-40B4-BE49-F238E27FC236}">
                <a16:creationId xmlns:a16="http://schemas.microsoft.com/office/drawing/2014/main" id="{CA69DA16-91AB-459A-B2BA-1C0F00BC4CB2}"/>
              </a:ext>
            </a:extLst>
          </p:cNvPr>
          <p:cNvSpPr>
            <a:spLocks xmlns:a="http://schemas.openxmlformats.org/drawingml/2006/main" noGrp="1"/>
          </p:cNvSpPr>
          <p:nvPr/>
        </p:nvSpPr>
        <p:spPr>
          <a:xfrm xmlns:a="http://schemas.openxmlformats.org/drawingml/2006/main">
            <a:off x="65722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+0.238</a:t>
            </a:r>
          </a:p>
        </p:txBody>
      </p:sp>
      <p:sp>
        <p:nvSpPr>
          <p:cNvPr id="23" name="">
            <a:extLst xmlns:a="http://schemas.openxmlformats.org/drawingml/2006/main">
              <a:ext uri="{FF2B5EF4-FFF2-40B4-BE49-F238E27FC236}">
                <a16:creationId xmlns:a16="http://schemas.microsoft.com/office/drawing/2014/main" id="{2353E5C8-EDBA-4AA3-9DEE-AE1F0DAE2D73}"/>
              </a:ext>
            </a:extLst>
          </p:cNvPr>
          <p:cNvSpPr>
            <a:spLocks xmlns:a="http://schemas.openxmlformats.org/drawingml/2006/main" noGrp="1"/>
          </p:cNvSpPr>
          <p:nvPr/>
        </p:nvSpPr>
        <p:spPr>
          <a:xfrm xmlns:a="http://schemas.openxmlformats.org/drawingml/2006/main">
            <a:off x="90487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24" name="">
            <a:extLst xmlns:a="http://schemas.openxmlformats.org/drawingml/2006/main">
              <a:ext uri="{FF2B5EF4-FFF2-40B4-BE49-F238E27FC236}">
                <a16:creationId xmlns:a16="http://schemas.microsoft.com/office/drawing/2014/main" id="{C8B9F342-FE73-4830-B259-FF19F0C1C3E2}"/>
              </a:ext>
            </a:extLst>
          </p:cNvPr>
          <p:cNvSpPr>
            <a:spLocks xmlns:a="http://schemas.openxmlformats.org/drawingml/2006/main" noGrp="1"/>
          </p:cNvSpPr>
          <p:nvPr/>
        </p:nvSpPr>
        <p:spPr>
          <a:xfrm xmlns:a="http://schemas.openxmlformats.org/drawingml/2006/main">
            <a:off x="90487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B94A3A"/>
                </a:solidFill>
                <a:latin typeface="Yu Gothic"/>
                <a:ea typeface="Yu Gothic"/>
                <a:cs typeface="Yu Gothic"/>
              </a:defRPr>
            </a:pPr>
            <a:r>
              <a:rPr sz="3000" b="1">
                <a:solidFill>
                  <a:srgbClr val="B94A3A"/>
                </a:solidFill>
                <a:latin typeface="Yu Gothic"/>
                <a:ea typeface="Yu Gothic"/>
                <a:cs typeface="Yu Gothic"/>
              </a:rPr>
              <a:t>+0.051</a:t>
            </a:r>
          </a:p>
        </p:txBody>
      </p:sp>
      <p:sp>
        <p:nvSpPr>
          <p:cNvPr id="25" name="">
            <a:extLst xmlns:a="http://schemas.openxmlformats.org/drawingml/2006/main">
              <a:ext uri="{FF2B5EF4-FFF2-40B4-BE49-F238E27FC236}">
                <a16:creationId xmlns:a16="http://schemas.microsoft.com/office/drawing/2014/main" id="{7B4D5EC3-E526-45E5-870E-25D437F9AE1C}"/>
              </a:ext>
            </a:extLst>
          </p:cNvPr>
          <p:cNvSpPr>
            <a:spLocks xmlns:a="http://schemas.openxmlformats.org/drawingml/2006/main" noGrp="1"/>
          </p:cNvSpPr>
          <p:nvPr/>
        </p:nvSpPr>
        <p:spPr>
          <a:xfrm xmlns:a="http://schemas.openxmlformats.org/drawingml/2006/main">
            <a:off x="9029700" y="4810125"/>
            <a:ext cx="1857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0.673 から 0.724</a:t>
            </a:r>
          </a:p>
        </p:txBody>
      </p:sp>
      <p:sp>
        <p:nvSpPr>
          <p:cNvPr id="26" name="">
            <a:extLst xmlns:a="http://schemas.openxmlformats.org/drawingml/2006/main">
              <a:ext uri="{FF2B5EF4-FFF2-40B4-BE49-F238E27FC236}">
                <a16:creationId xmlns:a16="http://schemas.microsoft.com/office/drawing/2014/main" id="{2C44EA13-D580-4AF5-8AE7-75041ABB8AA6}"/>
              </a:ext>
            </a:extLst>
          </p:cNvPr>
          <p:cNvSpPr>
            <a:spLocks xmlns:a="http://schemas.openxmlformats.org/drawingml/2006/main" noGrp="1"/>
          </p:cNvSpPr>
          <p:nvPr/>
        </p:nvSpPr>
        <p:spPr>
          <a:xfrm xmlns:a="http://schemas.openxmlformats.org/drawingml/2006/main">
            <a:off x="7858125" y="50673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差が残る</a:t>
            </a:r>
          </a:p>
        </p:txBody>
      </p:sp>
      <p:sp>
        <p:nvSpPr>
          <p:cNvPr id="27" name="">
            <a:extLst xmlns:a="http://schemas.openxmlformats.org/drawingml/2006/main">
              <a:ext uri="{FF2B5EF4-FFF2-40B4-BE49-F238E27FC236}">
                <a16:creationId xmlns:a16="http://schemas.microsoft.com/office/drawing/2014/main" id="{E7E64347-C3D1-4FD7-B21D-94F3151A7C56}"/>
              </a:ext>
            </a:extLst>
          </p:cNvPr>
          <p:cNvSpPr>
            <a:spLocks xmlns:a="http://schemas.openxmlformats.org/drawingml/2006/main" noGrp="1"/>
          </p:cNvSpPr>
          <p:nvPr/>
        </p:nvSpPr>
        <p:spPr>
          <a:xfrm xmlns:a="http://schemas.openxmlformats.org/drawingml/2006/main">
            <a:off x="742950" y="5610225"/>
            <a:ext cx="10706100" cy="590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C24F2A6-B399-4F1A-BE16-868B5A4A6581}"/>
              </a:ext>
            </a:extLst>
          </p:cNvPr>
          <p:cNvSpPr>
            <a:spLocks xmlns:a="http://schemas.openxmlformats.org/drawingml/2006/main" noGrp="1"/>
          </p:cNvSpPr>
          <p:nvPr/>
        </p:nvSpPr>
        <p:spPr>
          <a:xfrm xmlns:a="http://schemas.openxmlformats.org/drawingml/2006/main">
            <a:off x="1000125" y="5753100"/>
            <a:ext cx="1019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最終的な判定の一致だけでは、現場で生じた学習変化を再現できたとは判断できない</a:t>
            </a:r>
          </a:p>
        </p:txBody>
      </p:sp>
      <p:sp>
        <p:nvSpPr>
          <p:cNvPr id="29" name="">
            <a:extLst xmlns:a="http://schemas.openxmlformats.org/drawingml/2006/main">
              <a:ext uri="{FF2B5EF4-FFF2-40B4-BE49-F238E27FC236}">
                <a16:creationId xmlns:a16="http://schemas.microsoft.com/office/drawing/2014/main" id="{A44D39F3-2B6B-4E47-A261-85CC866BA5D2}"/>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93706774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865891D-5791-439E-A6D7-CD775A9A7F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3A5002-BB33-42D0-AF38-D65A0875D12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8673241-AEB4-4AA2-B4D7-241F776D895E}"/>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3ラウンドの状態継承を確認、性能改善は未確認</a:t>
            </a:r>
          </a:p>
        </p:txBody>
      </p:sp>
      <p:sp>
        <p:nvSpPr>
          <p:cNvPr id="4" name="">
            <a:extLst xmlns:a="http://schemas.openxmlformats.org/drawingml/2006/main">
              <a:ext uri="{FF2B5EF4-FFF2-40B4-BE49-F238E27FC236}">
                <a16:creationId xmlns:a16="http://schemas.microsoft.com/office/drawing/2014/main" id="{3FDCA7AB-EDEB-44F8-97AF-6BE7BB18D9D0}"/>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E4422684-B45B-4A58-8990-67C3E96359F9}"/>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A992904-3C41-4E87-8736-8F19BBD090A7}"/>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2AFE0E6B-4CE4-4D39-AAE4-C2B6EF580BB8}"/>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9</a:t>
            </a:r>
          </a:p>
        </p:txBody>
      </p:sp>
      <p:graphicFrame>
        <p:nvGraphicFramePr>
          <p:cNvPr id="24" name=""/>
          <p:cNvGraphicFramePr/>
          <p:nvPr/>
        </p:nvGraphicFramePr>
        <p:xfrm>
          <a:off xmlns:a="http://schemas.openxmlformats.org/drawingml/2006/main" x="619125" y="1257300"/>
          <a:ext xmlns:a="http://schemas.openxmlformats.org/drawingml/2006/main" cx="10953750" cy="2324100"/>
        </p:xfrm>
        <a:graphic xmlns:a="http://schemas.openxmlformats.org/drawingml/2006/main">
          <a:graphicData uri="http://schemas.openxmlformats.org/drawingml/2006/table">
            <a:tbl>
              <a:tblPr/>
              <a:tblGrid>
                <a:gridCol w="1095375"/>
                <a:gridCol w="2143125"/>
                <a:gridCol w="2381250"/>
                <a:gridCol w="2095500"/>
                <a:gridCol w="3238500"/>
              </a:tblGrid>
              <a:tr h="581025">
                <a:tc>
                  <a:txBody>
                    <a:bodyPr/>
                    <a:lstStyle/>
                    <a:p>
                      <a:r>
                        <a:rPr sz="1150" b="1">
                          <a:solidFill>
                            <a:srgbClr val="173B4B"/>
                          </a:solidFill>
                          <a:latin typeface="Yu Gothic"/>
                          <a:ea typeface="Yu Gothic"/>
                          <a:cs typeface="Yu Gothic"/>
                        </a:rPr>
                        <a:t>ラウンド</a:t>
                      </a:r>
                    </a:p>
                  </a:txBody>
                  <a:tcPr marL="91440" marR="91440" marT="45720" marB="45720"/>
                </a:tc>
                <a:tc>
                  <a:txBody>
                    <a:bodyPr/>
                    <a:lstStyle/>
                    <a:p>
                      <a:r>
                        <a:rPr sz="1150" b="1">
                          <a:solidFill>
                            <a:srgbClr val="173B4B"/>
                          </a:solidFill>
                          <a:latin typeface="Yu Gothic"/>
                          <a:ea typeface="Yu Gothic"/>
                          <a:cs typeface="Yu Gothic"/>
                        </a:rPr>
                        <a:t>2台の局所更新</a:t>
                      </a:r>
                    </a:p>
                  </a:txBody>
                  <a:tcPr marL="91440" marR="91440" marT="45720" marB="45720"/>
                </a:tc>
                <a:tc>
                  <a:txBody>
                    <a:bodyPr/>
                    <a:lstStyle/>
                    <a:p>
                      <a:r>
                        <a:rPr sz="1150" b="1">
                          <a:solidFill>
                            <a:srgbClr val="173B4B"/>
                          </a:solidFill>
                          <a:latin typeface="Yu Gothic"/>
                          <a:ea typeface="Yu Gothic"/>
                          <a:cs typeface="Yu Gothic"/>
                        </a:rPr>
                        <a:t>連合平均の再計算差</a:t>
                      </a:r>
                    </a:p>
                  </a:txBody>
                  <a:tcPr marL="91440" marR="91440" marT="45720" marB="45720"/>
                </a:tc>
                <a:tc>
                  <a:txBody>
                    <a:bodyPr/>
                    <a:lstStyle/>
                    <a:p>
                      <a:r>
                        <a:rPr sz="1150" b="1">
                          <a:solidFill>
                            <a:srgbClr val="173B4B"/>
                          </a:solidFill>
                          <a:latin typeface="Yu Gothic"/>
                          <a:ea typeface="Yu Gothic"/>
                          <a:cs typeface="Yu Gothic"/>
                        </a:rPr>
                        <a:t>次回入力との照合</a:t>
                      </a:r>
                    </a:p>
                  </a:txBody>
                  <a:tcPr marL="91440" marR="91440" marT="45720" marB="45720"/>
                </a:tc>
                <a:tc>
                  <a:txBody>
                    <a:bodyPr/>
                    <a:lstStyle/>
                    <a:p>
                      <a:r>
                        <a:rPr sz="1150" b="1">
                          <a:solidFill>
                            <a:srgbClr val="173B4B"/>
                          </a:solidFill>
                          <a:latin typeface="Yu Gothic"/>
                          <a:ea typeface="Yu Gothic"/>
                          <a:cs typeface="Yu Gothic"/>
                        </a:rPr>
                        <a:t>中央側AI更新（各ラウンドで選んだ4組）</a:t>
                      </a:r>
                    </a:p>
                  </a:txBody>
                  <a:tcPr marL="91440" marR="91440" marT="45720" marB="45720"/>
                </a:tc>
              </a:tr>
              <a:tr h="581025">
                <a:tc>
                  <a:txBody>
                    <a:bodyPr/>
                    <a:lstStyle/>
                    <a:p>
                      <a:r>
                        <a:rPr sz="1400" b="0">
                          <a:solidFill>
                            <a:srgbClr val="26373D"/>
                          </a:solidFill>
                          <a:latin typeface="Yu Gothic"/>
                          <a:ea typeface="Yu Gothic"/>
                          <a:cs typeface="Yu Gothic"/>
                        </a:rPr>
                        <a:t>1</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5.82 × 10⁻¹¹</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lstStyle/>
                    <a:p>
                      <a:r>
                        <a:rPr sz="1400" b="0">
                          <a:solidFill>
                            <a:srgbClr val="26373D"/>
                          </a:solidFill>
                          <a:latin typeface="Yu Gothic"/>
                          <a:ea typeface="Yu Gothic"/>
                          <a:cs typeface="Yu Gothic"/>
                        </a:rPr>
                        <a:t>加重KL 0.0540 から 0.0534</a:t>
                      </a:r>
                    </a:p>
                  </a:txBody>
                  <a:tcPr marL="91440" marR="91440" marT="45720" marB="45720"/>
                </a:tc>
              </a:tr>
              <a:tr h="581025">
                <a:tc>
                  <a:txBody>
                    <a:bodyPr/>
                    <a:lstStyle/>
                    <a:p>
                      <a:r>
                        <a:rPr sz="1400" b="0">
                          <a:solidFill>
                            <a:srgbClr val="26373D"/>
                          </a:solidFill>
                          <a:latin typeface="Yu Gothic"/>
                          <a:ea typeface="Yu Gothic"/>
                          <a:cs typeface="Yu Gothic"/>
                        </a:rPr>
                        <a:t>2</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5.82 × 10⁻¹¹</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lstStyle/>
                    <a:p>
                      <a:r>
                        <a:rPr sz="1400" b="0">
                          <a:solidFill>
                            <a:srgbClr val="26373D"/>
                          </a:solidFill>
                          <a:latin typeface="Yu Gothic"/>
                          <a:ea typeface="Yu Gothic"/>
                          <a:cs typeface="Yu Gothic"/>
                        </a:rPr>
                        <a:t>加重KL 18.478 から 18.339</a:t>
                      </a:r>
                    </a:p>
                  </a:txBody>
                  <a:tcPr marL="91440" marR="91440" marT="45720" marB="45720"/>
                </a:tc>
              </a:tr>
              <a:tr h="581025">
                <a:tc>
                  <a:txBody>
                    <a:bodyPr/>
                    <a:lstStyle/>
                    <a:p>
                      <a:r>
                        <a:rPr sz="1400" b="0">
                          <a:solidFill>
                            <a:srgbClr val="26373D"/>
                          </a:solidFill>
                          <a:latin typeface="Yu Gothic"/>
                          <a:ea typeface="Yu Gothic"/>
                          <a:cs typeface="Yu Gothic"/>
                        </a:rPr>
                        <a:t>3</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1.16 × 10⁻¹⁰</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normAutofit/>
                    </a:bodyPr>
                    <a:lstStyle/>
                    <a:p>
                      <a:pPr algn="ctr"/>
                      <a:r>
                        <a:rPr sz="1350" b="1">
                          <a:solidFill>
                            <a:srgbClr val="B94A3A"/>
                          </a:solidFill>
                          <a:latin typeface="Yu Gothic"/>
                          <a:ea typeface="Yu Gothic"/>
                          <a:cs typeface="Yu Gothic"/>
                        </a:rPr>
                        <a:t>加重KL 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2F0A2F8E-2DB2-418C-8C43-1AB4BECC7974}"/>
              </a:ext>
            </a:extLst>
          </p:cNvPr>
          <p:cNvSpPr>
            <a:spLocks xmlns:a="http://schemas.openxmlformats.org/drawingml/2006/main" noGrp="1"/>
          </p:cNvSpPr>
          <p:nvPr/>
        </p:nvSpPr>
        <p:spPr>
          <a:xfrm xmlns:a="http://schemas.openxmlformats.org/drawingml/2006/main">
            <a:off x="857250" y="3714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各ラウンドで代理データが異なるため、ずれの値をラウンド間の性能推移として比較しない</a:t>
            </a:r>
          </a:p>
        </p:txBody>
      </p:sp>
      <p:sp>
        <p:nvSpPr>
          <p:cNvPr id="10" name="">
            <a:extLst xmlns:a="http://schemas.openxmlformats.org/drawingml/2006/main">
              <a:ext uri="{FF2B5EF4-FFF2-40B4-BE49-F238E27FC236}">
                <a16:creationId xmlns:a16="http://schemas.microsoft.com/office/drawing/2014/main" id="{53EC8C6F-DE36-4ED5-AD4D-5F425F32D3C3}"/>
              </a:ext>
            </a:extLst>
          </p:cNvPr>
          <p:cNvSpPr>
            <a:spLocks xmlns:a="http://schemas.openxmlformats.org/drawingml/2006/main" noGrp="1"/>
          </p:cNvSpPr>
          <p:nvPr/>
        </p:nvSpPr>
        <p:spPr>
          <a:xfrm xmlns:a="http://schemas.openxmlformats.org/drawingml/2006/main">
            <a:off x="685800" y="4191000"/>
            <a:ext cx="4953000" cy="12573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1F6DC77-1628-4633-8A88-2673BCDFE078}"/>
              </a:ext>
            </a:extLst>
          </p:cNvPr>
          <p:cNvSpPr>
            <a:spLocks xmlns:a="http://schemas.openxmlformats.org/drawingml/2006/main" noGrp="1"/>
          </p:cNvSpPr>
          <p:nvPr/>
        </p:nvSpPr>
        <p:spPr>
          <a:xfrm xmlns:a="http://schemas.openxmlformats.org/drawingml/2006/main">
            <a:off x="933450" y="437197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1A4135AB-BAAA-4ACE-BEA2-3ADE221A55D9}"/>
              </a:ext>
            </a:extLst>
          </p:cNvPr>
          <p:cNvSpPr>
            <a:spLocks xmlns:a="http://schemas.openxmlformats.org/drawingml/2006/main" noGrp="1"/>
          </p:cNvSpPr>
          <p:nvPr/>
        </p:nvSpPr>
        <p:spPr>
          <a:xfrm xmlns:a="http://schemas.openxmlformats.org/drawingml/2006/main">
            <a:off x="933450" y="4752975"/>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2台の更新は毎回ゼロではない</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連合平均を別計算で再現</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小型AIと中央側AIの状態が次回へ一致</a:t>
            </a:r>
          </a:p>
        </p:txBody>
      </p:sp>
      <p:sp>
        <p:nvSpPr>
          <p:cNvPr id="13" name="">
            <a:extLst xmlns:a="http://schemas.openxmlformats.org/drawingml/2006/main">
              <a:ext uri="{FF2B5EF4-FFF2-40B4-BE49-F238E27FC236}">
                <a16:creationId xmlns:a16="http://schemas.microsoft.com/office/drawing/2014/main" id="{D782C52A-1956-42C6-B61D-3838A3D8D89C}"/>
              </a:ext>
            </a:extLst>
          </p:cNvPr>
          <p:cNvSpPr>
            <a:spLocks xmlns:a="http://schemas.openxmlformats.org/drawingml/2006/main" noGrp="1"/>
          </p:cNvSpPr>
          <p:nvPr/>
        </p:nvSpPr>
        <p:spPr>
          <a:xfrm xmlns:a="http://schemas.openxmlformats.org/drawingml/2006/main">
            <a:off x="5943600" y="4191000"/>
            <a:ext cx="5562600" cy="12573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5DE01A0-536F-4FAB-8E8D-B0FAD6DAE1CC}"/>
              </a:ext>
            </a:extLst>
          </p:cNvPr>
          <p:cNvSpPr>
            <a:spLocks xmlns:a="http://schemas.openxmlformats.org/drawingml/2006/main" noGrp="1"/>
          </p:cNvSpPr>
          <p:nvPr/>
        </p:nvSpPr>
        <p:spPr>
          <a:xfrm xmlns:a="http://schemas.openxmlformats.org/drawingml/2006/main">
            <a:off x="6191250" y="437197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残った診断点</a:t>
            </a:r>
          </a:p>
        </p:txBody>
      </p:sp>
      <p:sp>
        <p:nvSpPr>
          <p:cNvPr id="15" name="">
            <a:extLst xmlns:a="http://schemas.openxmlformats.org/drawingml/2006/main">
              <a:ext uri="{FF2B5EF4-FFF2-40B4-BE49-F238E27FC236}">
                <a16:creationId xmlns:a16="http://schemas.microsoft.com/office/drawing/2014/main" id="{68C353D0-EB04-4021-926E-B41FB7C595CD}"/>
              </a:ext>
            </a:extLst>
          </p:cNvPr>
          <p:cNvSpPr>
            <a:spLocks xmlns:a="http://schemas.openxmlformats.org/drawingml/2006/main" noGrp="1"/>
          </p:cNvSpPr>
          <p:nvPr/>
        </p:nvSpPr>
        <p:spPr>
          <a:xfrm xmlns:a="http://schemas.openxmlformats.org/drawingml/2006/main">
            <a:off x="6191250" y="47529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1ラウンド目は変化の方向が4件中3件一致</a:t>
            </a:r>
          </a:p>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3ラウンド目は中央側AIのずれが増加</a:t>
            </a:r>
          </a:p>
        </p:txBody>
      </p:sp>
      <p:sp>
        <p:nvSpPr>
          <p:cNvPr id="16" name="">
            <a:extLst xmlns:a="http://schemas.openxmlformats.org/drawingml/2006/main">
              <a:ext uri="{FF2B5EF4-FFF2-40B4-BE49-F238E27FC236}">
                <a16:creationId xmlns:a16="http://schemas.microsoft.com/office/drawing/2014/main" id="{63C00B3E-7EE2-4C20-ABFF-302F38C5A153}"/>
              </a:ext>
            </a:extLst>
          </p:cNvPr>
          <p:cNvSpPr>
            <a:spLocks xmlns:a="http://schemas.openxmlformats.org/drawingml/2006/main" noGrp="1"/>
          </p:cNvSpPr>
          <p:nvPr/>
        </p:nvSpPr>
        <p:spPr>
          <a:xfrm xmlns:a="http://schemas.openxmlformats.org/drawingml/2006/main">
            <a:off x="914400" y="583882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今回の合格は『実行・接続・状態継承』。代理データの品質や学習効果の合格ではない。</a:t>
            </a:r>
          </a:p>
        </p:txBody>
      </p:sp>
    </p:spTree>
    <p:extLst>
      <p:ext uri="{BB962C8B-B14F-4D97-AF65-F5344CB8AC3E}">
        <p14:creationId xmlns:p14="http://schemas.microsoft.com/office/powerpoint/2010/main" val="22420252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883C280-1FEA-4031-8EE5-1D24996388E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4B143B-5928-43BF-83EF-A3877BD318AA}"/>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1D9E14A-76CF-4BF2-94CF-48445E67E723}"/>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結論と今後</a:t>
            </a:r>
          </a:p>
        </p:txBody>
      </p:sp>
      <p:sp>
        <p:nvSpPr>
          <p:cNvPr id="4" name="">
            <a:extLst xmlns:a="http://schemas.openxmlformats.org/drawingml/2006/main">
              <a:ext uri="{FF2B5EF4-FFF2-40B4-BE49-F238E27FC236}">
                <a16:creationId xmlns:a16="http://schemas.microsoft.com/office/drawing/2014/main" id="{5FA9ED59-BD8F-4A8C-8F0D-924A678D66A5}"/>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09</a:t>
            </a:r>
          </a:p>
        </p:txBody>
      </p:sp>
      <p:sp>
        <p:nvSpPr>
          <p:cNvPr id="5" name="">
            <a:extLst xmlns:a="http://schemas.openxmlformats.org/drawingml/2006/main">
              <a:ext uri="{FF2B5EF4-FFF2-40B4-BE49-F238E27FC236}">
                <a16:creationId xmlns:a16="http://schemas.microsoft.com/office/drawing/2014/main" id="{CB02C81D-F032-4763-BDE7-D715EFF9F685}"/>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1312E05-6246-44CE-92F5-01AA70137E6F}"/>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2BDF237B-1A58-4DBE-82F4-CB654040B716}"/>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9 / 9</a:t>
            </a:r>
          </a:p>
        </p:txBody>
      </p:sp>
      <p:sp>
        <p:nvSpPr>
          <p:cNvPr id="8" name="">
            <a:extLst xmlns:a="http://schemas.openxmlformats.org/drawingml/2006/main">
              <a:ext uri="{FF2B5EF4-FFF2-40B4-BE49-F238E27FC236}">
                <a16:creationId xmlns:a16="http://schemas.microsoft.com/office/drawing/2014/main" id="{0828F334-D098-47FB-AF79-62D6E9DF18EC}"/>
              </a:ext>
            </a:extLst>
          </p:cNvPr>
          <p:cNvSpPr>
            <a:spLocks xmlns:a="http://schemas.openxmlformats.org/drawingml/2006/main" noGrp="1"/>
          </p:cNvSpPr>
          <p:nvPr/>
        </p:nvSpPr>
        <p:spPr>
          <a:xfrm xmlns:a="http://schemas.openxmlformats.org/drawingml/2006/main">
            <a:off x="7239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今回確認できたこと</a:t>
            </a:r>
          </a:p>
        </p:txBody>
      </p:sp>
      <p:sp>
        <p:nvSpPr>
          <p:cNvPr id="9" name="">
            <a:extLst xmlns:a="http://schemas.openxmlformats.org/drawingml/2006/main">
              <a:ext uri="{FF2B5EF4-FFF2-40B4-BE49-F238E27FC236}">
                <a16:creationId xmlns:a16="http://schemas.microsoft.com/office/drawing/2014/main" id="{DC2C6728-EFEF-4757-8C7F-269EAE6557D1}"/>
              </a:ext>
            </a:extLst>
          </p:cNvPr>
          <p:cNvSpPr>
            <a:spLocks xmlns:a="http://schemas.openxmlformats.org/drawingml/2006/main" noGrp="1"/>
          </p:cNvSpPr>
          <p:nvPr/>
        </p:nvSpPr>
        <p:spPr>
          <a:xfrm xmlns:a="http://schemas.openxmlformats.org/drawingml/2006/main">
            <a:off x="781050" y="163830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・代表動画の反応を要約し、代理データへ対応付け</a:t>
            </a:r>
          </a:p>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・3層を接続して中央側AIを更新</a:t>
            </a:r>
          </a:p>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・3ラウンドの状態をログから追跡</a:t>
            </a:r>
          </a:p>
        </p:txBody>
      </p:sp>
      <p:sp>
        <p:nvSpPr>
          <p:cNvPr id="10" name="">
            <a:extLst xmlns:a="http://schemas.openxmlformats.org/drawingml/2006/main">
              <a:ext uri="{FF2B5EF4-FFF2-40B4-BE49-F238E27FC236}">
                <a16:creationId xmlns:a16="http://schemas.microsoft.com/office/drawing/2014/main" id="{F9DF24F0-2464-4AF4-B07F-1E232413423D}"/>
              </a:ext>
            </a:extLst>
          </p:cNvPr>
          <p:cNvSpPr>
            <a:spLocks xmlns:a="http://schemas.openxmlformats.org/drawingml/2006/main" noGrp="1"/>
          </p:cNvSpPr>
          <p:nvPr/>
        </p:nvSpPr>
        <p:spPr>
          <a:xfrm xmlns:a="http://schemas.openxmlformats.org/drawingml/2006/main">
            <a:off x="5924550" y="1123950"/>
            <a:ext cx="19050" cy="2095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39ED05E-EA4F-46F4-9A5C-2F3324C3177C}"/>
              </a:ext>
            </a:extLst>
          </p:cNvPr>
          <p:cNvSpPr>
            <a:spLocks xmlns:a="http://schemas.openxmlformats.org/drawingml/2006/main" noGrp="1"/>
          </p:cNvSpPr>
          <p:nvPr/>
        </p:nvSpPr>
        <p:spPr>
          <a:xfrm xmlns:a="http://schemas.openxmlformats.org/drawingml/2006/main">
            <a:off x="63246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B94A3A"/>
                </a:solidFill>
                <a:latin typeface="Yu Gothic"/>
                <a:ea typeface="Yu Gothic"/>
                <a:cs typeface="Yu Gothic"/>
              </a:defRPr>
            </a:pPr>
            <a:r>
              <a:rPr sz="1800" b="1">
                <a:solidFill>
                  <a:srgbClr val="B94A3A"/>
                </a:solidFill>
                <a:latin typeface="Yu Gothic"/>
                <a:ea typeface="Yu Gothic"/>
                <a:cs typeface="Yu Gothic"/>
              </a:rPr>
              <a:t>まだ言えないこと</a:t>
            </a:r>
          </a:p>
        </p:txBody>
      </p:sp>
      <p:sp>
        <p:nvSpPr>
          <p:cNvPr id="12" name="">
            <a:extLst xmlns:a="http://schemas.openxmlformats.org/drawingml/2006/main">
              <a:ext uri="{FF2B5EF4-FFF2-40B4-BE49-F238E27FC236}">
                <a16:creationId xmlns:a16="http://schemas.microsoft.com/office/drawing/2014/main" id="{36F4BEC7-F9D9-4AAD-AD5C-0F4EA8705E97}"/>
              </a:ext>
            </a:extLst>
          </p:cNvPr>
          <p:cNvSpPr>
            <a:spLocks xmlns:a="http://schemas.openxmlformats.org/drawingml/2006/main" noGrp="1"/>
          </p:cNvSpPr>
          <p:nvPr/>
        </p:nvSpPr>
        <p:spPr>
          <a:xfrm xmlns:a="http://schemas.openxmlformats.org/drawingml/2006/main">
            <a:off x="6381750" y="1638300"/>
            <a:ext cx="476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・性能向上と未知動画への転移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・代理データが現場の学習を十分に再現したこと</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・構造や規模が異なるAI間の転移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・情報漏えいへの形式的保証</a:t>
            </a:r>
          </a:p>
        </p:txBody>
      </p:sp>
      <p:sp>
        <p:nvSpPr>
          <p:cNvPr id="13" name="">
            <a:extLst xmlns:a="http://schemas.openxmlformats.org/drawingml/2006/main">
              <a:ext uri="{FF2B5EF4-FFF2-40B4-BE49-F238E27FC236}">
                <a16:creationId xmlns:a16="http://schemas.microsoft.com/office/drawing/2014/main" id="{873A87BB-8672-4040-B5E7-CF371A2ECC68}"/>
              </a:ext>
            </a:extLst>
          </p:cNvPr>
          <p:cNvSpPr>
            <a:spLocks xmlns:a="http://schemas.openxmlformats.org/drawingml/2006/main" noGrp="1"/>
          </p:cNvSpPr>
          <p:nvPr/>
        </p:nvSpPr>
        <p:spPr>
          <a:xfrm xmlns:a="http://schemas.openxmlformats.org/drawingml/2006/main">
            <a:off x="685800" y="3486150"/>
            <a:ext cx="108204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2391A04-5344-4C62-A26D-C73120A5BB06}"/>
              </a:ext>
            </a:extLst>
          </p:cNvPr>
          <p:cNvSpPr>
            <a:spLocks xmlns:a="http://schemas.openxmlformats.org/drawingml/2006/main" noGrp="1"/>
          </p:cNvSpPr>
          <p:nvPr/>
        </p:nvSpPr>
        <p:spPr>
          <a:xfrm xmlns:a="http://schemas.openxmlformats.org/drawingml/2006/main">
            <a:off x="742950" y="37242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今後の順序</a:t>
            </a:r>
          </a:p>
        </p:txBody>
      </p:sp>
      <p:sp>
        <p:nvSpPr>
          <p:cNvPr id="15" name="">
            <a:extLst xmlns:a="http://schemas.openxmlformats.org/drawingml/2006/main">
              <a:ext uri="{FF2B5EF4-FFF2-40B4-BE49-F238E27FC236}">
                <a16:creationId xmlns:a16="http://schemas.microsoft.com/office/drawing/2014/main" id="{FB19947A-B4CF-4382-9EBB-DA475A3B7A1E}"/>
              </a:ext>
            </a:extLst>
          </p:cNvPr>
          <p:cNvSpPr>
            <a:spLocks xmlns:a="http://schemas.openxmlformats.org/drawingml/2006/main" noGrp="1"/>
          </p:cNvSpPr>
          <p:nvPr/>
        </p:nvSpPr>
        <p:spPr>
          <a:xfrm xmlns:a="http://schemas.openxmlformats.org/drawingml/2006/main">
            <a:off x="800100" y="4171950"/>
            <a:ext cx="400050" cy="400050"/>
          </a:xfrm>
          <a:prstGeom xmlns:a="http://schemas.openxmlformats.org/drawingml/2006/main" prst="ellipse">
            <a:avLst/>
          </a:prstGeom>
          <a:solidFill xmlns:a="http://schemas.openxmlformats.org/drawingml/2006/main">
            <a:srgbClr val="B94A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5BD09AF-DA73-4974-BB4A-DF5985FD70BE}"/>
              </a:ext>
            </a:extLst>
          </p:cNvPr>
          <p:cNvSpPr>
            <a:spLocks xmlns:a="http://schemas.openxmlformats.org/drawingml/2006/main" noGrp="1"/>
          </p:cNvSpPr>
          <p:nvPr/>
        </p:nvSpPr>
        <p:spPr>
          <a:xfrm xmlns:a="http://schemas.openxmlformats.org/drawingml/2006/main">
            <a:off x="800100" y="42195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17" name="">
            <a:extLst xmlns:a="http://schemas.openxmlformats.org/drawingml/2006/main">
              <a:ext uri="{FF2B5EF4-FFF2-40B4-BE49-F238E27FC236}">
                <a16:creationId xmlns:a16="http://schemas.microsoft.com/office/drawing/2014/main" id="{6257A311-188F-42E7-9EBE-93453BE84336}"/>
              </a:ext>
            </a:extLst>
          </p:cNvPr>
          <p:cNvSpPr>
            <a:spLocks xmlns:a="http://schemas.openxmlformats.org/drawingml/2006/main" noGrp="1"/>
          </p:cNvSpPr>
          <p:nvPr/>
        </p:nvSpPr>
        <p:spPr>
          <a:xfrm xmlns:a="http://schemas.openxmlformats.org/drawingml/2006/main">
            <a:off x="1428750" y="41529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中央側AIの更新方向を確認</a:t>
            </a:r>
          </a:p>
        </p:txBody>
      </p:sp>
      <p:sp>
        <p:nvSpPr>
          <p:cNvPr id="18" name="">
            <a:extLst xmlns:a="http://schemas.openxmlformats.org/drawingml/2006/main">
              <a:ext uri="{FF2B5EF4-FFF2-40B4-BE49-F238E27FC236}">
                <a16:creationId xmlns:a16="http://schemas.microsoft.com/office/drawing/2014/main" id="{A8633923-B71D-4A5F-B0F4-1E6199698342}"/>
              </a:ext>
            </a:extLst>
          </p:cNvPr>
          <p:cNvSpPr>
            <a:spLocks xmlns:a="http://schemas.openxmlformats.org/drawingml/2006/main" noGrp="1"/>
          </p:cNvSpPr>
          <p:nvPr/>
        </p:nvSpPr>
        <p:spPr>
          <a:xfrm xmlns:a="http://schemas.openxmlformats.org/drawingml/2006/main">
            <a:off x="4686300" y="41529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同じ4組を固定し、ごく小さい1回の更新でずれが減るかを確認</a:t>
            </a:r>
          </a:p>
        </p:txBody>
      </p:sp>
      <p:sp>
        <p:nvSpPr>
          <p:cNvPr id="19" name="">
            <a:extLst xmlns:a="http://schemas.openxmlformats.org/drawingml/2006/main">
              <a:ext uri="{FF2B5EF4-FFF2-40B4-BE49-F238E27FC236}">
                <a16:creationId xmlns:a16="http://schemas.microsoft.com/office/drawing/2014/main" id="{FE4DD72B-EBF6-487B-9C67-329611F3C819}"/>
              </a:ext>
            </a:extLst>
          </p:cNvPr>
          <p:cNvSpPr>
            <a:spLocks xmlns:a="http://schemas.openxmlformats.org/drawingml/2006/main" noGrp="1"/>
          </p:cNvSpPr>
          <p:nvPr/>
        </p:nvSpPr>
        <p:spPr>
          <a:xfrm xmlns:a="http://schemas.openxmlformats.org/drawingml/2006/main">
            <a:off x="800100" y="4800600"/>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C0EBCEE-E315-42F4-A1F3-D62BDA99E961}"/>
              </a:ext>
            </a:extLst>
          </p:cNvPr>
          <p:cNvSpPr>
            <a:spLocks xmlns:a="http://schemas.openxmlformats.org/drawingml/2006/main" noGrp="1"/>
          </p:cNvSpPr>
          <p:nvPr/>
        </p:nvSpPr>
        <p:spPr>
          <a:xfrm xmlns:a="http://schemas.openxmlformats.org/drawingml/2006/main">
            <a:off x="800100" y="484822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21" name="">
            <a:extLst xmlns:a="http://schemas.openxmlformats.org/drawingml/2006/main">
              <a:ext uri="{FF2B5EF4-FFF2-40B4-BE49-F238E27FC236}">
                <a16:creationId xmlns:a16="http://schemas.microsoft.com/office/drawing/2014/main" id="{A636604B-3199-476E-86FD-32D4D5DF3D7E}"/>
              </a:ext>
            </a:extLst>
          </p:cNvPr>
          <p:cNvSpPr>
            <a:spLocks xmlns:a="http://schemas.openxmlformats.org/drawingml/2006/main" noGrp="1"/>
          </p:cNvSpPr>
          <p:nvPr/>
        </p:nvSpPr>
        <p:spPr>
          <a:xfrm xmlns:a="http://schemas.openxmlformats.org/drawingml/2006/main">
            <a:off x="1428750" y="47815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問題解消後に5ラウンド</a:t>
            </a:r>
          </a:p>
        </p:txBody>
      </p:sp>
      <p:sp>
        <p:nvSpPr>
          <p:cNvPr id="22" name="">
            <a:extLst xmlns:a="http://schemas.openxmlformats.org/drawingml/2006/main">
              <a:ext uri="{FF2B5EF4-FFF2-40B4-BE49-F238E27FC236}">
                <a16:creationId xmlns:a16="http://schemas.microsoft.com/office/drawing/2014/main" id="{B168A856-C46A-447D-9923-2A60BB978BE3}"/>
              </a:ext>
            </a:extLst>
          </p:cNvPr>
          <p:cNvSpPr>
            <a:spLocks xmlns:a="http://schemas.openxmlformats.org/drawingml/2006/main" noGrp="1"/>
          </p:cNvSpPr>
          <p:nvPr/>
        </p:nvSpPr>
        <p:spPr>
          <a:xfrm xmlns:a="http://schemas.openxmlformats.org/drawingml/2006/main">
            <a:off x="4686300" y="47815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同じ記録形式で、三層の接続と次回への状態継承を確認</a:t>
            </a:r>
          </a:p>
        </p:txBody>
      </p:sp>
      <p:sp>
        <p:nvSpPr>
          <p:cNvPr id="23" name="">
            <a:extLst xmlns:a="http://schemas.openxmlformats.org/drawingml/2006/main">
              <a:ext uri="{FF2B5EF4-FFF2-40B4-BE49-F238E27FC236}">
                <a16:creationId xmlns:a16="http://schemas.microsoft.com/office/drawing/2014/main" id="{43B01FF9-9189-4A1B-A330-6725AEBA2BCD}"/>
              </a:ext>
            </a:extLst>
          </p:cNvPr>
          <p:cNvSpPr>
            <a:spLocks xmlns:a="http://schemas.openxmlformats.org/drawingml/2006/main" noGrp="1"/>
          </p:cNvSpPr>
          <p:nvPr/>
        </p:nvSpPr>
        <p:spPr>
          <a:xfrm xmlns:a="http://schemas.openxmlformats.org/drawingml/2006/main">
            <a:off x="800100" y="5429250"/>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130205E-F552-42A1-BC54-71E0B2C7992C}"/>
              </a:ext>
            </a:extLst>
          </p:cNvPr>
          <p:cNvSpPr>
            <a:spLocks xmlns:a="http://schemas.openxmlformats.org/drawingml/2006/main" noGrp="1"/>
          </p:cNvSpPr>
          <p:nvPr/>
        </p:nvSpPr>
        <p:spPr>
          <a:xfrm xmlns:a="http://schemas.openxmlformats.org/drawingml/2006/main">
            <a:off x="800100" y="54768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25" name="">
            <a:extLst xmlns:a="http://schemas.openxmlformats.org/drawingml/2006/main">
              <a:ext uri="{FF2B5EF4-FFF2-40B4-BE49-F238E27FC236}">
                <a16:creationId xmlns:a16="http://schemas.microsoft.com/office/drawing/2014/main" id="{B920A097-564C-4B66-9A4C-04D41603719D}"/>
              </a:ext>
            </a:extLst>
          </p:cNvPr>
          <p:cNvSpPr>
            <a:spLocks xmlns:a="http://schemas.openxmlformats.org/drawingml/2006/main" noGrp="1"/>
          </p:cNvSpPr>
          <p:nvPr/>
        </p:nvSpPr>
        <p:spPr>
          <a:xfrm xmlns:a="http://schemas.openxmlformats.org/drawingml/2006/main">
            <a:off x="1428750" y="54102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第II段階で比較・独立評価</a:t>
            </a:r>
          </a:p>
        </p:txBody>
      </p:sp>
      <p:sp>
        <p:nvSpPr>
          <p:cNvPr id="26" name="">
            <a:extLst xmlns:a="http://schemas.openxmlformats.org/drawingml/2006/main">
              <a:ext uri="{FF2B5EF4-FFF2-40B4-BE49-F238E27FC236}">
                <a16:creationId xmlns:a16="http://schemas.microsoft.com/office/drawing/2014/main" id="{5B7D49EA-CA75-4814-B3E8-117D495012D4}"/>
              </a:ext>
            </a:extLst>
          </p:cNvPr>
          <p:cNvSpPr>
            <a:spLocks xmlns:a="http://schemas.openxmlformats.org/drawingml/2006/main" noGrp="1"/>
          </p:cNvSpPr>
          <p:nvPr/>
        </p:nvSpPr>
        <p:spPr>
          <a:xfrm xmlns:a="http://schemas.openxmlformats.org/drawingml/2006/main">
            <a:off x="4686300" y="54102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中央側動画のみ、学習後、学習後＋変化を未使用動画で比較</a:t>
            </a:r>
          </a:p>
        </p:txBody>
      </p:sp>
      <p:sp>
        <p:nvSpPr>
          <p:cNvPr id="27" name="">
            <a:extLst xmlns:a="http://schemas.openxmlformats.org/drawingml/2006/main">
              <a:ext uri="{FF2B5EF4-FFF2-40B4-BE49-F238E27FC236}">
                <a16:creationId xmlns:a16="http://schemas.microsoft.com/office/drawing/2014/main" id="{E731C2F0-5852-4BB7-80A3-2342C79B8657}"/>
              </a:ext>
            </a:extLst>
          </p:cNvPr>
          <p:cNvSpPr>
            <a:spLocks xmlns:a="http://schemas.openxmlformats.org/drawingml/2006/main" noGrp="1"/>
          </p:cNvSpPr>
          <p:nvPr/>
        </p:nvSpPr>
        <p:spPr>
          <a:xfrm xmlns:a="http://schemas.openxmlformats.org/drawingml/2006/main">
            <a:off x="685800" y="6029325"/>
            <a:ext cx="10820400" cy="3619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4DA4F2B-A6BD-449B-8CFB-14BCAF1CEEAA}"/>
              </a:ext>
            </a:extLst>
          </p:cNvPr>
          <p:cNvSpPr>
            <a:spLocks xmlns:a="http://schemas.openxmlformats.org/drawingml/2006/main" noGrp="1"/>
          </p:cNvSpPr>
          <p:nvPr/>
        </p:nvSpPr>
        <p:spPr>
          <a:xfrm xmlns:a="http://schemas.openxmlformats.org/drawingml/2006/main">
            <a:off x="876300" y="6096000"/>
            <a:ext cx="1043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Yu Gothic"/>
                <a:ea typeface="Yu Gothic"/>
                <a:cs typeface="Yu Gothic"/>
              </a:defRPr>
            </a:pPr>
            <a:r>
              <a:rPr sz="1500" b="1">
                <a:solidFill>
                  <a:srgbClr val="FFFFFF"/>
                </a:solidFill>
                <a:latin typeface="Yu Gothic"/>
                <a:ea typeface="Yu Gothic"/>
                <a:cs typeface="Yu Gothic"/>
              </a:rPr>
              <a:t>到達点：効果を正しく検証できる土台と、次に確認すべき失敗箇所を特定した</a:t>
            </a:r>
          </a:p>
        </p:txBody>
      </p:sp>
      <p:sp>
        <p:nvSpPr>
          <p:cNvPr id="29" name="">
            <a:extLst xmlns:a="http://schemas.openxmlformats.org/drawingml/2006/main">
              <a:ext uri="{FF2B5EF4-FFF2-40B4-BE49-F238E27FC236}">
                <a16:creationId xmlns:a16="http://schemas.microsoft.com/office/drawing/2014/main" id="{C4249CC2-B058-44FF-B9AF-3E91407E3F0F}"/>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143905481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4677ED6-754D-4C03-A69E-987DA8420C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A1FEC4-1F76-4B5A-BE9B-C970806EB365}"/>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1EBB909-4F13-455C-A05D-B808900723FF}"/>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付録1　選択した12組の代理データ結果</a:t>
            </a:r>
          </a:p>
        </p:txBody>
      </p:sp>
      <p:sp>
        <p:nvSpPr>
          <p:cNvPr id="4" name="">
            <a:extLst xmlns:a="http://schemas.openxmlformats.org/drawingml/2006/main">
              <a:ext uri="{FF2B5EF4-FFF2-40B4-BE49-F238E27FC236}">
                <a16:creationId xmlns:a16="http://schemas.microsoft.com/office/drawing/2014/main" id="{D36DC4CE-3425-4C6F-884F-9DFC9F69FABE}"/>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A1</a:t>
            </a:r>
          </a:p>
        </p:txBody>
      </p:sp>
      <p:sp>
        <p:nvSpPr>
          <p:cNvPr id="5" name="">
            <a:extLst xmlns:a="http://schemas.openxmlformats.org/drawingml/2006/main">
              <a:ext uri="{FF2B5EF4-FFF2-40B4-BE49-F238E27FC236}">
                <a16:creationId xmlns:a16="http://schemas.microsoft.com/office/drawing/2014/main" id="{FE960865-9A78-445A-8FF4-1AA309E0911B}"/>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DE92E2C-0564-4158-A6F1-D34779C1F27F}"/>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6E81501D-2010-461C-A7D4-B76E4E403F43}"/>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付録 1 / 3</a:t>
            </a:r>
          </a:p>
        </p:txBody>
      </p:sp>
      <p:sp>
        <p:nvSpPr>
          <p:cNvPr id="8" name="">
            <a:extLst xmlns:a="http://schemas.openxmlformats.org/drawingml/2006/main">
              <a:ext uri="{FF2B5EF4-FFF2-40B4-BE49-F238E27FC236}">
                <a16:creationId xmlns:a16="http://schemas.microsoft.com/office/drawing/2014/main" id="{E489F4B3-B225-44AD-8A4A-AA931BEE199C}"/>
              </a:ext>
            </a:extLst>
          </p:cNvPr>
          <p:cNvSpPr>
            <a:spLocks xmlns:a="http://schemas.openxmlformats.org/drawingml/2006/main" noGrp="1"/>
          </p:cNvSpPr>
          <p:nvPr/>
        </p:nvSpPr>
        <p:spPr>
          <a:xfrm xmlns:a="http://schemas.openxmlformats.org/drawingml/2006/main">
            <a:off x="666750" y="10287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変化の方向は7／12組で一致。prototypeと選択動画の正解ラベルは6／12組で一致</a:t>
            </a:r>
          </a:p>
        </p:txBody>
      </p:sp>
      <p:graphicFrame>
        <p:nvGraphicFramePr>
          <p:cNvPr id="19" name=""/>
          <p:cNvGraphicFramePr/>
          <p:nvPr/>
        </p:nvGraphicFramePr>
        <p:xfrm>
          <a:off xmlns:a="http://schemas.openxmlformats.org/drawingml/2006/main" x="609600" y="1438275"/>
          <a:ext xmlns:a="http://schemas.openxmlformats.org/drawingml/2006/main" cx="10972800" cy="4362450"/>
        </p:xfrm>
        <a:graphic xmlns:a="http://schemas.openxmlformats.org/drawingml/2006/main">
          <a:graphicData uri="http://schemas.openxmlformats.org/drawingml/2006/table">
            <a:tbl>
              <a:tblPr/>
              <a:tblGrid>
                <a:gridCol w="523875"/>
                <a:gridCol w="1381125"/>
                <a:gridCol w="1000125"/>
                <a:gridCol w="1190625"/>
                <a:gridCol w="1190625"/>
                <a:gridCol w="1095375"/>
                <a:gridCol w="1381125"/>
                <a:gridCol w="1571625"/>
                <a:gridCol w="1638300"/>
              </a:tblGrid>
              <a:tr h="335573">
                <a:tc>
                  <a:txBody>
                    <a:bodyPr/>
                    <a:lstStyle/>
                    <a:p>
                      <a:r>
                        <a:rPr sz="1050" b="1">
                          <a:solidFill>
                            <a:srgbClr val="173B4B"/>
                          </a:solidFill>
                          <a:latin typeface="Yu Gothic"/>
                          <a:ea typeface="Yu Gothic"/>
                          <a:cs typeface="Yu Gothic"/>
                        </a:rPr>
                        <a:t>R</a:t>
                      </a:r>
                    </a:p>
                  </a:txBody>
                  <a:tcPr marL="91440" marR="91440" marT="45720" marB="45720"/>
                </a:tc>
                <a:tc>
                  <a:txBody>
                    <a:bodyPr/>
                    <a:lstStyle/>
                    <a:p>
                      <a:r>
                        <a:rPr sz="1050" b="1">
                          <a:solidFill>
                            <a:srgbClr val="173B4B"/>
                          </a:solidFill>
                          <a:latin typeface="Yu Gothic"/>
                          <a:ea typeface="Yu Gothic"/>
                          <a:cs typeface="Yu Gothic"/>
                        </a:rPr>
                        <a:t>対象</a:t>
                      </a:r>
                    </a:p>
                  </a:txBody>
                  <a:tcPr marL="91440" marR="91440" marT="45720" marB="45720"/>
                </a:tc>
                <a:tc>
                  <a:txBody>
                    <a:bodyPr/>
                    <a:lstStyle/>
                    <a:p>
                      <a:r>
                        <a:rPr sz="1050" b="1">
                          <a:solidFill>
                            <a:srgbClr val="173B4B"/>
                          </a:solidFill>
                          <a:latin typeface="Yu Gothic"/>
                          <a:ea typeface="Yu Gothic"/>
                          <a:cs typeface="Yu Gothic"/>
                        </a:rPr>
                        <a:t>選択動画</a:t>
                      </a:r>
                    </a:p>
                  </a:txBody>
                  <a:tcPr marL="91440" marR="91440" marT="45720" marB="45720"/>
                </a:tc>
                <a:tc>
                  <a:txBody>
                    <a:bodyPr/>
                    <a:lstStyle/>
                    <a:p>
                      <a:r>
                        <a:rPr sz="1050" b="1">
                          <a:solidFill>
                            <a:srgbClr val="173B4B"/>
                          </a:solidFill>
                          <a:latin typeface="Yu Gothic"/>
                          <a:ea typeface="Yu Gothic"/>
                          <a:cs typeface="Yu Gothic"/>
                        </a:rPr>
                        <a:t>目標Δ危険</a:t>
                      </a:r>
                    </a:p>
                  </a:txBody>
                  <a:tcPr marL="91440" marR="91440" marT="45720" marB="45720"/>
                </a:tc>
                <a:tc>
                  <a:txBody>
                    <a:bodyPr/>
                    <a:lstStyle/>
                    <a:p>
                      <a:r>
                        <a:rPr sz="1050" b="1">
                          <a:solidFill>
                            <a:srgbClr val="173B4B"/>
                          </a:solidFill>
                          <a:latin typeface="Yu Gothic"/>
                          <a:ea typeface="Yu Gothic"/>
                          <a:cs typeface="Yu Gothic"/>
                        </a:rPr>
                        <a:t>代理Δ危険</a:t>
                      </a:r>
                    </a:p>
                  </a:txBody>
                  <a:tcPr marL="91440" marR="91440" marT="45720" marB="45720"/>
                </a:tc>
                <a:tc>
                  <a:txBody>
                    <a:bodyPr/>
                    <a:lstStyle/>
                    <a:p>
                      <a:r>
                        <a:rPr sz="1050" b="1">
                          <a:solidFill>
                            <a:srgbClr val="173B4B"/>
                          </a:solidFill>
                          <a:latin typeface="Yu Gothic"/>
                          <a:ea typeface="Yu Gothic"/>
                          <a:cs typeface="Yu Gothic"/>
                        </a:rPr>
                        <a:t>方向</a:t>
                      </a:r>
                    </a:p>
                  </a:txBody>
                  <a:tcPr marL="91440" marR="91440" marT="45720" marB="45720"/>
                </a:tc>
                <a:tc>
                  <a:txBody>
                    <a:bodyPr/>
                    <a:lstStyle/>
                    <a:p>
                      <a:r>
                        <a:rPr sz="1050" b="1">
                          <a:solidFill>
                            <a:srgbClr val="173B4B"/>
                          </a:solidFill>
                          <a:latin typeface="Yu Gothic"/>
                          <a:ea typeface="Yu Gothic"/>
                          <a:cs typeface="Yu Gothic"/>
                        </a:rPr>
                        <a:t>学習後の誤差
(post KL)</a:t>
                      </a:r>
                    </a:p>
                  </a:txBody>
                  <a:tcPr marL="91440" marR="91440" marT="45720" marB="45720"/>
                </a:tc>
                <a:tc>
                  <a:txBody>
                    <a:bodyPr/>
                    <a:lstStyle/>
                    <a:p>
                      <a:r>
                        <a:rPr sz="1050" b="1">
                          <a:solidFill>
                            <a:srgbClr val="173B4B"/>
                          </a:solidFill>
                          <a:latin typeface="Yu Gothic"/>
                          <a:ea typeface="Yu Gothic"/>
                          <a:cs typeface="Yu Gothic"/>
                        </a:rPr>
                        <a:t>変化量の誤差
(delta error)</a:t>
                      </a:r>
                    </a:p>
                  </a:txBody>
                  <a:tcPr marL="91440" marR="91440" marT="45720" marB="45720"/>
                </a:tc>
                <a:tc>
                  <a:txBody>
                    <a:bodyPr/>
                    <a:lstStyle/>
                    <a:p>
                      <a:r>
                        <a:rPr sz="1050" b="1">
                          <a:solidFill>
                            <a:srgbClr val="173B4B"/>
                          </a:solidFill>
                          <a:latin typeface="Yu Gothic"/>
                          <a:ea typeface="Yu Gothic"/>
                          <a:cs typeface="Yu Gothic"/>
                        </a:rPr>
                        <a:t>合計誤差
(L_match)</a:t>
                      </a:r>
                    </a:p>
                  </a:txBody>
                  <a:tcPr marL="91440" marR="91440" marT="45720" marB="45720"/>
                </a:tc>
              </a:tr>
              <a:tr h="335573">
                <a:tc>
                  <a:txBody>
                    <a:bodyPr/>
                    <a:lstStyle/>
                    <a:p>
                      <a:r>
                        <a:rPr sz="1050" b="0">
                          <a:solidFill>
                            <a:srgbClr val="26373D"/>
                          </a:solidFill>
                          <a:latin typeface="Yu Gothic"/>
                          <a:ea typeface="Yu Gothic"/>
                          <a:cs typeface="Yu Gothic"/>
                        </a:rPr>
                        <a:t>1</a:t>
                      </a:r>
                    </a:p>
                  </a:txBody>
                  <a:tcPr marL="91440" marR="91440" marT="45720" marB="45720"/>
                </a:tc>
                <a:tc>
                  <a:txBody>
                    <a:bodyPr/>
                    <a:lstStyle/>
                    <a:p>
                      <a:r>
                        <a:rPr sz="1050" b="0">
                          <a:solidFill>
                            <a:srgbClr val="26373D"/>
                          </a:solidFill>
                          <a:latin typeface="Yu Gothic"/>
                          <a:ea typeface="Yu Gothic"/>
                          <a:cs typeface="Yu Gothic"/>
                        </a:rPr>
                        <a:t>現場0／通常</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+0.0938</a:t>
                      </a:r>
                    </a:p>
                  </a:txBody>
                  <a:tcPr marL="91440" marR="91440" marT="45720" marB="45720"/>
                </a:tc>
                <a:tc>
                  <a:txBody>
                    <a:bodyPr/>
                    <a:lstStyle/>
                    <a:p>
                      <a:r>
                        <a:rPr sz="1050" b="0">
                          <a:solidFill>
                            <a:srgbClr val="26373D"/>
                          </a:solidFill>
                          <a:latin typeface="Yu Gothic"/>
                          <a:ea typeface="Yu Gothic"/>
                          <a:cs typeface="Yu Gothic"/>
                        </a:rPr>
                        <a:t>+0.0716</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2.04×10⁻⁴</a:t>
                      </a:r>
                    </a:p>
                  </a:txBody>
                  <a:tcPr marL="91440" marR="91440" marT="45720" marB="45720"/>
                </a:tc>
                <a:tc>
                  <a:txBody>
                    <a:bodyPr/>
                    <a:lstStyle/>
                    <a:p>
                      <a:r>
                        <a:rPr sz="1050" b="0">
                          <a:solidFill>
                            <a:srgbClr val="26373D"/>
                          </a:solidFill>
                          <a:latin typeface="Yu Gothic"/>
                          <a:ea typeface="Yu Gothic"/>
                          <a:cs typeface="Yu Gothic"/>
                        </a:rPr>
                        <a:t>4.94×10⁻⁴</a:t>
                      </a:r>
                    </a:p>
                  </a:txBody>
                  <a:tcPr marL="91440" marR="91440" marT="45720" marB="45720"/>
                </a:tc>
                <a:tc>
                  <a:txBody>
                    <a:bodyPr/>
                    <a:lstStyle/>
                    <a:p>
                      <a:r>
                        <a:rPr sz="1050" b="0">
                          <a:solidFill>
                            <a:srgbClr val="26373D"/>
                          </a:solidFill>
                          <a:latin typeface="Yu Gothic"/>
                          <a:ea typeface="Yu Gothic"/>
                          <a:cs typeface="Yu Gothic"/>
                        </a:rPr>
                        <a:t>6.99×10⁻⁴</a:t>
                      </a:r>
                    </a:p>
                  </a:txBody>
                  <a:tcPr marL="91440" marR="91440" marT="45720" marB="45720"/>
                </a:tc>
              </a:tr>
              <a:tr h="335573">
                <a:tc>
                  <a:txBody>
                    <a:bodyPr/>
                    <a:lstStyle/>
                    <a:p>
                      <a:r>
                        <a:rPr sz="1050" b="0">
                          <a:solidFill>
                            <a:srgbClr val="26373D"/>
                          </a:solidFill>
                          <a:latin typeface="Yu Gothic"/>
                          <a:ea typeface="Yu Gothic"/>
                          <a:cs typeface="Yu Gothic"/>
                        </a:rPr>
                        <a:t>1</a:t>
                      </a:r>
                    </a:p>
                  </a:txBody>
                  <a:tcPr marL="91440" marR="91440" marT="45720" marB="45720"/>
                </a:tc>
                <a:tc>
                  <a:txBody>
                    <a:bodyPr/>
                    <a:lstStyle/>
                    <a:p>
                      <a:r>
                        <a:rPr sz="1050" b="0">
                          <a:solidFill>
                            <a:srgbClr val="26373D"/>
                          </a:solidFill>
                          <a:latin typeface="Yu Gothic"/>
                          <a:ea typeface="Yu Gothic"/>
                          <a:cs typeface="Yu Gothic"/>
                        </a:rPr>
                        <a:t>現場0／危険</a:t>
                      </a:r>
                    </a:p>
                  </a:txBody>
                  <a:tcPr marL="91440" marR="91440" marT="45720" marB="45720"/>
                </a:tc>
                <a:tc>
                  <a:txBody>
                    <a:bodyPr/>
                    <a:lstStyle/>
                    <a:p>
                      <a:r>
                        <a:rPr sz="1050" b="0">
                          <a:solidFill>
                            <a:srgbClr val="26373D"/>
                          </a:solidFill>
                          <a:latin typeface="Yu Gothic"/>
                          <a:ea typeface="Yu Gothic"/>
                          <a:cs typeface="Yu Gothic"/>
                        </a:rPr>
                        <a:t>通常</a:t>
                      </a:r>
                    </a:p>
                  </a:txBody>
                  <a:tcPr marL="91440" marR="91440" marT="45720" marB="45720"/>
                </a:tc>
                <a:tc>
                  <a:txBody>
                    <a:bodyPr/>
                    <a:lstStyle/>
                    <a:p>
                      <a:r>
                        <a:rPr sz="1050" b="0">
                          <a:solidFill>
                            <a:srgbClr val="26373D"/>
                          </a:solidFill>
                          <a:latin typeface="Yu Gothic"/>
                          <a:ea typeface="Yu Gothic"/>
                          <a:cs typeface="Yu Gothic"/>
                        </a:rPr>
                        <a:t>+0.2377</a:t>
                      </a:r>
                    </a:p>
                  </a:txBody>
                  <a:tcPr marL="91440" marR="91440" marT="45720" marB="45720"/>
                </a:tc>
                <a:tc>
                  <a:txBody>
                    <a:bodyPr/>
                    <a:lstStyle/>
                    <a:p>
                      <a:r>
                        <a:rPr sz="1050" b="0">
                          <a:solidFill>
                            <a:srgbClr val="26373D"/>
                          </a:solidFill>
                          <a:latin typeface="Yu Gothic"/>
                          <a:ea typeface="Yu Gothic"/>
                          <a:cs typeface="Yu Gothic"/>
                        </a:rPr>
                        <a:t>+0.0509</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8.35×10⁻¹⁰</a:t>
                      </a:r>
                    </a:p>
                  </a:txBody>
                  <a:tcPr marL="91440" marR="91440" marT="45720" marB="45720"/>
                </a:tc>
                <a:tc>
                  <a:txBody>
                    <a:bodyPr/>
                    <a:lstStyle/>
                    <a:p>
                      <a:r>
                        <a:rPr sz="1050" b="0">
                          <a:solidFill>
                            <a:srgbClr val="26373D"/>
                          </a:solidFill>
                          <a:latin typeface="Yu Gothic"/>
                          <a:ea typeface="Yu Gothic"/>
                          <a:cs typeface="Yu Gothic"/>
                        </a:rPr>
                        <a:t>3.489×10⁻²</a:t>
                      </a:r>
                    </a:p>
                  </a:txBody>
                  <a:tcPr marL="91440" marR="91440" marT="45720" marB="45720"/>
                </a:tc>
                <a:tc>
                  <a:txBody>
                    <a:bodyPr/>
                    <a:lstStyle/>
                    <a:p>
                      <a:r>
                        <a:rPr sz="1050" b="0">
                          <a:solidFill>
                            <a:srgbClr val="26373D"/>
                          </a:solidFill>
                          <a:latin typeface="Yu Gothic"/>
                          <a:ea typeface="Yu Gothic"/>
                          <a:cs typeface="Yu Gothic"/>
                        </a:rPr>
                        <a:t>3.489×10⁻²</a:t>
                      </a:r>
                    </a:p>
                  </a:txBody>
                  <a:tcPr marL="91440" marR="91440" marT="45720" marB="45720"/>
                </a:tc>
              </a:tr>
              <a:tr h="335573">
                <a:tc>
                  <a:txBody>
                    <a:bodyPr/>
                    <a:lstStyle/>
                    <a:p>
                      <a:r>
                        <a:rPr sz="1050" b="0">
                          <a:solidFill>
                            <a:srgbClr val="26373D"/>
                          </a:solidFill>
                          <a:latin typeface="Yu Gothic"/>
                          <a:ea typeface="Yu Gothic"/>
                          <a:cs typeface="Yu Gothic"/>
                        </a:rPr>
                        <a:t>1</a:t>
                      </a:r>
                    </a:p>
                  </a:txBody>
                  <a:tcPr marL="91440" marR="91440" marT="45720" marB="45720"/>
                </a:tc>
                <a:tc>
                  <a:txBody>
                    <a:bodyPr/>
                    <a:lstStyle/>
                    <a:p>
                      <a:r>
                        <a:rPr sz="1050" b="0">
                          <a:solidFill>
                            <a:srgbClr val="26373D"/>
                          </a:solidFill>
                          <a:latin typeface="Yu Gothic"/>
                          <a:ea typeface="Yu Gothic"/>
                          <a:cs typeface="Yu Gothic"/>
                        </a:rPr>
                        <a:t>現場1／通常</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−0.1027</a:t>
                      </a:r>
                    </a:p>
                  </a:txBody>
                  <a:tcPr marL="91440" marR="91440" marT="45720" marB="45720"/>
                </a:tc>
                <a:tc>
                  <a:txBody>
                    <a:bodyPr/>
                    <a:lstStyle/>
                    <a:p>
                      <a:r>
                        <a:rPr sz="1050" b="0">
                          <a:solidFill>
                            <a:srgbClr val="26373D"/>
                          </a:solidFill>
                          <a:latin typeface="Yu Gothic"/>
                          <a:ea typeface="Yu Gothic"/>
                          <a:cs typeface="Yu Gothic"/>
                        </a:rPr>
                        <a:t>+0.0559</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3.51×10⁻⁴</a:t>
                      </a:r>
                    </a:p>
                  </a:txBody>
                  <a:tcPr marL="91440" marR="91440" marT="45720" marB="45720"/>
                </a:tc>
                <a:tc>
                  <a:txBody>
                    <a:bodyPr/>
                    <a:lstStyle/>
                    <a:p>
                      <a:r>
                        <a:rPr sz="1050" b="0">
                          <a:solidFill>
                            <a:srgbClr val="26373D"/>
                          </a:solidFill>
                          <a:latin typeface="Yu Gothic"/>
                          <a:ea typeface="Yu Gothic"/>
                          <a:cs typeface="Yu Gothic"/>
                        </a:rPr>
                        <a:t>2.514×10⁻²</a:t>
                      </a:r>
                    </a:p>
                  </a:txBody>
                  <a:tcPr marL="91440" marR="91440" marT="45720" marB="45720"/>
                </a:tc>
                <a:tc>
                  <a:txBody>
                    <a:bodyPr/>
                    <a:lstStyle/>
                    <a:p>
                      <a:r>
                        <a:rPr sz="1050" b="0">
                          <a:solidFill>
                            <a:srgbClr val="26373D"/>
                          </a:solidFill>
                          <a:latin typeface="Yu Gothic"/>
                          <a:ea typeface="Yu Gothic"/>
                          <a:cs typeface="Yu Gothic"/>
                        </a:rPr>
                        <a:t>2.549×10⁻²</a:t>
                      </a:r>
                    </a:p>
                  </a:txBody>
                  <a:tcPr marL="91440" marR="91440" marT="45720" marB="45720"/>
                </a:tc>
              </a:tr>
              <a:tr h="335573">
                <a:tc>
                  <a:txBody>
                    <a:bodyPr/>
                    <a:lstStyle/>
                    <a:p>
                      <a:r>
                        <a:rPr sz="1050" b="0">
                          <a:solidFill>
                            <a:srgbClr val="26373D"/>
                          </a:solidFill>
                          <a:latin typeface="Yu Gothic"/>
                          <a:ea typeface="Yu Gothic"/>
                          <a:cs typeface="Yu Gothic"/>
                        </a:rPr>
                        <a:t>1</a:t>
                      </a:r>
                    </a:p>
                  </a:txBody>
                  <a:tcPr marL="91440" marR="91440" marT="45720" marB="45720"/>
                </a:tc>
                <a:tc>
                  <a:txBody>
                    <a:bodyPr/>
                    <a:lstStyle/>
                    <a:p>
                      <a:r>
                        <a:rPr sz="1050" b="0">
                          <a:solidFill>
                            <a:srgbClr val="26373D"/>
                          </a:solidFill>
                          <a:latin typeface="Yu Gothic"/>
                          <a:ea typeface="Yu Gothic"/>
                          <a:cs typeface="Yu Gothic"/>
                        </a:rPr>
                        <a:t>現場1／危険</a:t>
                      </a:r>
                    </a:p>
                  </a:txBody>
                  <a:tcPr marL="91440" marR="91440" marT="45720" marB="45720"/>
                </a:tc>
                <a:tc>
                  <a:txBody>
                    <a:bodyPr/>
                    <a:lstStyle/>
                    <a:p>
                      <a:r>
                        <a:rPr sz="1050" b="0">
                          <a:solidFill>
                            <a:srgbClr val="26373D"/>
                          </a:solidFill>
                          <a:latin typeface="Yu Gothic"/>
                          <a:ea typeface="Yu Gothic"/>
                          <a:cs typeface="Yu Gothic"/>
                        </a:rPr>
                        <a:t>通常</a:t>
                      </a:r>
                    </a:p>
                  </a:txBody>
                  <a:tcPr marL="91440" marR="91440" marT="45720" marB="45720"/>
                </a:tc>
                <a:tc>
                  <a:txBody>
                    <a:bodyPr/>
                    <a:lstStyle/>
                    <a:p>
                      <a:r>
                        <a:rPr sz="1050" b="0">
                          <a:solidFill>
                            <a:srgbClr val="26373D"/>
                          </a:solidFill>
                          <a:latin typeface="Yu Gothic"/>
                          <a:ea typeface="Yu Gothic"/>
                          <a:cs typeface="Yu Gothic"/>
                        </a:rPr>
                        <a:t>+0.00546</a:t>
                      </a:r>
                    </a:p>
                  </a:txBody>
                  <a:tcPr marL="91440" marR="91440" marT="45720" marB="45720"/>
                </a:tc>
                <a:tc>
                  <a:txBody>
                    <a:bodyPr/>
                    <a:lstStyle/>
                    <a:p>
                      <a:r>
                        <a:rPr sz="1050" b="0">
                          <a:solidFill>
                            <a:srgbClr val="26373D"/>
                          </a:solidFill>
                          <a:latin typeface="Yu Gothic"/>
                          <a:ea typeface="Yu Gothic"/>
                          <a:cs typeface="Yu Gothic"/>
                        </a:rPr>
                        <a:t>+0.00968</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9.45×10⁻⁵</a:t>
                      </a:r>
                    </a:p>
                  </a:txBody>
                  <a:tcPr marL="91440" marR="91440" marT="45720" marB="45720"/>
                </a:tc>
                <a:tc>
                  <a:txBody>
                    <a:bodyPr/>
                    <a:lstStyle/>
                    <a:p>
                      <a:r>
                        <a:rPr sz="1050" b="0">
                          <a:solidFill>
                            <a:srgbClr val="26373D"/>
                          </a:solidFill>
                          <a:latin typeface="Yu Gothic"/>
                          <a:ea typeface="Yu Gothic"/>
                          <a:cs typeface="Yu Gothic"/>
                        </a:rPr>
                        <a:t>1.78×10⁻⁵</a:t>
                      </a:r>
                    </a:p>
                  </a:txBody>
                  <a:tcPr marL="91440" marR="91440" marT="45720" marB="45720"/>
                </a:tc>
                <a:tc>
                  <a:txBody>
                    <a:bodyPr/>
                    <a:lstStyle/>
                    <a:p>
                      <a:r>
                        <a:rPr sz="1050" b="0">
                          <a:solidFill>
                            <a:srgbClr val="26373D"/>
                          </a:solidFill>
                          <a:latin typeface="Yu Gothic"/>
                          <a:ea typeface="Yu Gothic"/>
                          <a:cs typeface="Yu Gothic"/>
                        </a:rPr>
                        <a:t>1.12×10⁻⁴</a:t>
                      </a:r>
                    </a:p>
                  </a:txBody>
                  <a:tcPr marL="91440" marR="91440" marT="45720" marB="45720"/>
                </a:tc>
              </a:tr>
              <a:tr h="335573">
                <a:tc>
                  <a:txBody>
                    <a:bodyPr/>
                    <a:lstStyle/>
                    <a:p>
                      <a:r>
                        <a:rPr sz="1050" b="0">
                          <a:solidFill>
                            <a:srgbClr val="26373D"/>
                          </a:solidFill>
                          <a:latin typeface="Yu Gothic"/>
                          <a:ea typeface="Yu Gothic"/>
                          <a:cs typeface="Yu Gothic"/>
                        </a:rPr>
                        <a:t>2</a:t>
                      </a:r>
                    </a:p>
                  </a:txBody>
                  <a:tcPr marL="91440" marR="91440" marT="45720" marB="45720"/>
                </a:tc>
                <a:tc>
                  <a:txBody>
                    <a:bodyPr/>
                    <a:lstStyle/>
                    <a:p>
                      <a:r>
                        <a:rPr sz="1050" b="0">
                          <a:solidFill>
                            <a:srgbClr val="26373D"/>
                          </a:solidFill>
                          <a:latin typeface="Yu Gothic"/>
                          <a:ea typeface="Yu Gothic"/>
                          <a:cs typeface="Yu Gothic"/>
                        </a:rPr>
                        <a:t>現場0／通常</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+0.03448</a:t>
                      </a:r>
                    </a:p>
                  </a:txBody>
                  <a:tcPr marL="91440" marR="91440" marT="45720" marB="45720"/>
                </a:tc>
                <a:tc>
                  <a:txBody>
                    <a:bodyPr/>
                    <a:lstStyle/>
                    <a:p>
                      <a:r>
                        <a:rPr sz="1050" b="0">
                          <a:solidFill>
                            <a:srgbClr val="26373D"/>
                          </a:solidFill>
                          <a:latin typeface="Yu Gothic"/>
                          <a:ea typeface="Yu Gothic"/>
                          <a:cs typeface="Yu Gothic"/>
                        </a:rPr>
                        <a:t>+0.01343</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2.27×10⁻⁷</a:t>
                      </a:r>
                    </a:p>
                  </a:txBody>
                  <a:tcPr marL="91440" marR="91440" marT="45720" marB="45720"/>
                </a:tc>
                <a:tc>
                  <a:txBody>
                    <a:bodyPr/>
                    <a:lstStyle/>
                    <a:p>
                      <a:r>
                        <a:rPr sz="1050" b="0">
                          <a:solidFill>
                            <a:srgbClr val="26373D"/>
                          </a:solidFill>
                          <a:latin typeface="Yu Gothic"/>
                          <a:ea typeface="Yu Gothic"/>
                          <a:cs typeface="Yu Gothic"/>
                        </a:rPr>
                        <a:t>4.43×10⁻⁴</a:t>
                      </a:r>
                    </a:p>
                  </a:txBody>
                  <a:tcPr marL="91440" marR="91440" marT="45720" marB="45720"/>
                </a:tc>
                <a:tc>
                  <a:txBody>
                    <a:bodyPr/>
                    <a:lstStyle/>
                    <a:p>
                      <a:r>
                        <a:rPr sz="1050" b="0">
                          <a:solidFill>
                            <a:srgbClr val="26373D"/>
                          </a:solidFill>
                          <a:latin typeface="Yu Gothic"/>
                          <a:ea typeface="Yu Gothic"/>
                          <a:cs typeface="Yu Gothic"/>
                        </a:rPr>
                        <a:t>4.43×10⁻⁴</a:t>
                      </a:r>
                    </a:p>
                  </a:txBody>
                  <a:tcPr marL="91440" marR="91440" marT="45720" marB="45720"/>
                </a:tc>
              </a:tr>
              <a:tr h="335573">
                <a:tc>
                  <a:txBody>
                    <a:bodyPr/>
                    <a:lstStyle/>
                    <a:p>
                      <a:r>
                        <a:rPr sz="1050" b="0">
                          <a:solidFill>
                            <a:srgbClr val="26373D"/>
                          </a:solidFill>
                          <a:latin typeface="Yu Gothic"/>
                          <a:ea typeface="Yu Gothic"/>
                          <a:cs typeface="Yu Gothic"/>
                        </a:rPr>
                        <a:t>2</a:t>
                      </a:r>
                    </a:p>
                  </a:txBody>
                  <a:tcPr marL="91440" marR="91440" marT="45720" marB="45720"/>
                </a:tc>
                <a:tc>
                  <a:txBody>
                    <a:bodyPr/>
                    <a:lstStyle/>
                    <a:p>
                      <a:r>
                        <a:rPr sz="1050" b="0">
                          <a:solidFill>
                            <a:srgbClr val="26373D"/>
                          </a:solidFill>
                          <a:latin typeface="Yu Gothic"/>
                          <a:ea typeface="Yu Gothic"/>
                          <a:cs typeface="Yu Gothic"/>
                        </a:rPr>
                        <a:t>現場0／危険</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+0.17458</a:t>
                      </a:r>
                    </a:p>
                  </a:txBody>
                  <a:tcPr marL="91440" marR="91440" marT="45720" marB="45720"/>
                </a:tc>
                <a:tc>
                  <a:txBody>
                    <a:bodyPr/>
                    <a:lstStyle/>
                    <a:p>
                      <a:r>
                        <a:rPr sz="1050" b="0">
                          <a:solidFill>
                            <a:srgbClr val="26373D"/>
                          </a:solidFill>
                          <a:latin typeface="Yu Gothic"/>
                          <a:ea typeface="Yu Gothic"/>
                          <a:cs typeface="Yu Gothic"/>
                        </a:rPr>
                        <a:t>+0.00516</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2.67×10⁻⁵</a:t>
                      </a:r>
                    </a:p>
                  </a:txBody>
                  <a:tcPr marL="91440" marR="91440" marT="45720" marB="45720"/>
                </a:tc>
                <a:tc>
                  <a:txBody>
                    <a:bodyPr/>
                    <a:lstStyle/>
                    <a:p>
                      <a:r>
                        <a:rPr sz="1050" b="0">
                          <a:solidFill>
                            <a:srgbClr val="26373D"/>
                          </a:solidFill>
                          <a:latin typeface="Yu Gothic"/>
                          <a:ea typeface="Yu Gothic"/>
                          <a:cs typeface="Yu Gothic"/>
                        </a:rPr>
                        <a:t>2.870×10⁻²</a:t>
                      </a:r>
                    </a:p>
                  </a:txBody>
                  <a:tcPr marL="91440" marR="91440" marT="45720" marB="45720"/>
                </a:tc>
                <a:tc>
                  <a:txBody>
                    <a:bodyPr/>
                    <a:lstStyle/>
                    <a:p>
                      <a:r>
                        <a:rPr sz="1050" b="0">
                          <a:solidFill>
                            <a:srgbClr val="26373D"/>
                          </a:solidFill>
                          <a:latin typeface="Yu Gothic"/>
                          <a:ea typeface="Yu Gothic"/>
                          <a:cs typeface="Yu Gothic"/>
                        </a:rPr>
                        <a:t>2.873×10⁻²</a:t>
                      </a:r>
                    </a:p>
                  </a:txBody>
                  <a:tcPr marL="91440" marR="91440" marT="45720" marB="45720"/>
                </a:tc>
              </a:tr>
              <a:tr h="335573">
                <a:tc>
                  <a:txBody>
                    <a:bodyPr/>
                    <a:lstStyle/>
                    <a:p>
                      <a:r>
                        <a:rPr sz="1050" b="0">
                          <a:solidFill>
                            <a:srgbClr val="26373D"/>
                          </a:solidFill>
                          <a:latin typeface="Yu Gothic"/>
                          <a:ea typeface="Yu Gothic"/>
                          <a:cs typeface="Yu Gothic"/>
                        </a:rPr>
                        <a:t>2</a:t>
                      </a:r>
                    </a:p>
                  </a:txBody>
                  <a:tcPr marL="91440" marR="91440" marT="45720" marB="45720"/>
                </a:tc>
                <a:tc>
                  <a:txBody>
                    <a:bodyPr/>
                    <a:lstStyle/>
                    <a:p>
                      <a:r>
                        <a:rPr sz="1050" b="0">
                          <a:solidFill>
                            <a:srgbClr val="26373D"/>
                          </a:solidFill>
                          <a:latin typeface="Yu Gothic"/>
                          <a:ea typeface="Yu Gothic"/>
                          <a:cs typeface="Yu Gothic"/>
                        </a:rPr>
                        <a:t>現場1／通常</a:t>
                      </a:r>
                    </a:p>
                  </a:txBody>
                  <a:tcPr marL="91440" marR="91440" marT="45720" marB="45720"/>
                </a:tc>
                <a:tc>
                  <a:txBody>
                    <a:bodyPr/>
                    <a:lstStyle/>
                    <a:p>
                      <a:r>
                        <a:rPr sz="1050" b="0">
                          <a:solidFill>
                            <a:srgbClr val="26373D"/>
                          </a:solidFill>
                          <a:latin typeface="Yu Gothic"/>
                          <a:ea typeface="Yu Gothic"/>
                          <a:cs typeface="Yu Gothic"/>
                        </a:rPr>
                        <a:t>通常</a:t>
                      </a:r>
                    </a:p>
                  </a:txBody>
                  <a:tcPr marL="91440" marR="91440" marT="45720" marB="45720"/>
                </a:tc>
                <a:tc>
                  <a:txBody>
                    <a:bodyPr/>
                    <a:lstStyle/>
                    <a:p>
                      <a:r>
                        <a:rPr sz="1050" b="0">
                          <a:solidFill>
                            <a:srgbClr val="26373D"/>
                          </a:solidFill>
                          <a:latin typeface="Yu Gothic"/>
                          <a:ea typeface="Yu Gothic"/>
                          <a:cs typeface="Yu Gothic"/>
                        </a:rPr>
                        <a:t>−0.11137</a:t>
                      </a:r>
                    </a:p>
                  </a:txBody>
                  <a:tcPr marL="91440" marR="91440" marT="45720" marB="45720"/>
                </a:tc>
                <a:tc>
                  <a:txBody>
                    <a:bodyPr/>
                    <a:lstStyle/>
                    <a:p>
                      <a:r>
                        <a:rPr sz="1050" b="0">
                          <a:solidFill>
                            <a:srgbClr val="26373D"/>
                          </a:solidFill>
                          <a:latin typeface="Yu Gothic"/>
                          <a:ea typeface="Yu Gothic"/>
                          <a:cs typeface="Yu Gothic"/>
                        </a:rPr>
                        <a:t>+0.00511</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9.15×10⁻⁵</a:t>
                      </a:r>
                    </a:p>
                  </a:txBody>
                  <a:tcPr marL="91440" marR="91440" marT="45720" marB="45720"/>
                </a:tc>
                <a:tc>
                  <a:txBody>
                    <a:bodyPr/>
                    <a:lstStyle/>
                    <a:p>
                      <a:r>
                        <a:rPr sz="1050" b="0">
                          <a:solidFill>
                            <a:srgbClr val="26373D"/>
                          </a:solidFill>
                          <a:latin typeface="Yu Gothic"/>
                          <a:ea typeface="Yu Gothic"/>
                          <a:cs typeface="Yu Gothic"/>
                        </a:rPr>
                        <a:t>1.357×10⁻²</a:t>
                      </a:r>
                    </a:p>
                  </a:txBody>
                  <a:tcPr marL="91440" marR="91440" marT="45720" marB="45720"/>
                </a:tc>
                <a:tc>
                  <a:txBody>
                    <a:bodyPr/>
                    <a:lstStyle/>
                    <a:p>
                      <a:r>
                        <a:rPr sz="1050" b="0">
                          <a:solidFill>
                            <a:srgbClr val="26373D"/>
                          </a:solidFill>
                          <a:latin typeface="Yu Gothic"/>
                          <a:ea typeface="Yu Gothic"/>
                          <a:cs typeface="Yu Gothic"/>
                        </a:rPr>
                        <a:t>1.366×10⁻²</a:t>
                      </a:r>
                    </a:p>
                  </a:txBody>
                  <a:tcPr marL="91440" marR="91440" marT="45720" marB="45720"/>
                </a:tc>
              </a:tr>
              <a:tr h="335573">
                <a:tc>
                  <a:txBody>
                    <a:bodyPr/>
                    <a:lstStyle/>
                    <a:p>
                      <a:r>
                        <a:rPr sz="1050" b="0">
                          <a:solidFill>
                            <a:srgbClr val="26373D"/>
                          </a:solidFill>
                          <a:latin typeface="Yu Gothic"/>
                          <a:ea typeface="Yu Gothic"/>
                          <a:cs typeface="Yu Gothic"/>
                        </a:rPr>
                        <a:t>2</a:t>
                      </a:r>
                    </a:p>
                  </a:txBody>
                  <a:tcPr marL="91440" marR="91440" marT="45720" marB="45720"/>
                </a:tc>
                <a:tc>
                  <a:txBody>
                    <a:bodyPr/>
                    <a:lstStyle/>
                    <a:p>
                      <a:r>
                        <a:rPr sz="1050" b="0">
                          <a:solidFill>
                            <a:srgbClr val="26373D"/>
                          </a:solidFill>
                          <a:latin typeface="Yu Gothic"/>
                          <a:ea typeface="Yu Gothic"/>
                          <a:cs typeface="Yu Gothic"/>
                        </a:rPr>
                        <a:t>現場1／危険</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−0.00697</a:t>
                      </a:r>
                    </a:p>
                  </a:txBody>
                  <a:tcPr marL="91440" marR="91440" marT="45720" marB="45720"/>
                </a:tc>
                <a:tc>
                  <a:txBody>
                    <a:bodyPr/>
                    <a:lstStyle/>
                    <a:p>
                      <a:r>
                        <a:rPr sz="1050" b="0">
                          <a:solidFill>
                            <a:srgbClr val="26373D"/>
                          </a:solidFill>
                          <a:latin typeface="Yu Gothic"/>
                          <a:ea typeface="Yu Gothic"/>
                          <a:cs typeface="Yu Gothic"/>
                        </a:rPr>
                        <a:t>+0.00882</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1.16×10⁻⁴</a:t>
                      </a:r>
                    </a:p>
                  </a:txBody>
                  <a:tcPr marL="91440" marR="91440" marT="45720" marB="45720"/>
                </a:tc>
                <a:tc>
                  <a:txBody>
                    <a:bodyPr/>
                    <a:lstStyle/>
                    <a:p>
                      <a:r>
                        <a:rPr sz="1050" b="0">
                          <a:solidFill>
                            <a:srgbClr val="26373D"/>
                          </a:solidFill>
                          <a:latin typeface="Yu Gothic"/>
                          <a:ea typeface="Yu Gothic"/>
                          <a:cs typeface="Yu Gothic"/>
                        </a:rPr>
                        <a:t>2.49×10⁻⁴</a:t>
                      </a:r>
                    </a:p>
                  </a:txBody>
                  <a:tcPr marL="91440" marR="91440" marT="45720" marB="45720"/>
                </a:tc>
                <a:tc>
                  <a:txBody>
                    <a:bodyPr/>
                    <a:lstStyle/>
                    <a:p>
                      <a:r>
                        <a:rPr sz="1050" b="0">
                          <a:solidFill>
                            <a:srgbClr val="26373D"/>
                          </a:solidFill>
                          <a:latin typeface="Yu Gothic"/>
                          <a:ea typeface="Yu Gothic"/>
                          <a:cs typeface="Yu Gothic"/>
                        </a:rPr>
                        <a:t>3.66×10⁻⁴</a:t>
                      </a:r>
                    </a:p>
                  </a:txBody>
                  <a:tcPr marL="91440" marR="91440" marT="45720" marB="45720"/>
                </a:tc>
              </a:tr>
              <a:tr h="335573">
                <a:tc>
                  <a:txBody>
                    <a:bodyPr/>
                    <a:lstStyle/>
                    <a:p>
                      <a:r>
                        <a:rPr sz="1050" b="0">
                          <a:solidFill>
                            <a:srgbClr val="26373D"/>
                          </a:solidFill>
                          <a:latin typeface="Yu Gothic"/>
                          <a:ea typeface="Yu Gothic"/>
                          <a:cs typeface="Yu Gothic"/>
                        </a:rPr>
                        <a:t>3</a:t>
                      </a:r>
                    </a:p>
                  </a:txBody>
                  <a:tcPr marL="91440" marR="91440" marT="45720" marB="45720"/>
                </a:tc>
                <a:tc>
                  <a:txBody>
                    <a:bodyPr/>
                    <a:lstStyle/>
                    <a:p>
                      <a:r>
                        <a:rPr sz="1050" b="0">
                          <a:solidFill>
                            <a:srgbClr val="26373D"/>
                          </a:solidFill>
                          <a:latin typeface="Yu Gothic"/>
                          <a:ea typeface="Yu Gothic"/>
                          <a:cs typeface="Yu Gothic"/>
                        </a:rPr>
                        <a:t>現場0／通常</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+0.00723</a:t>
                      </a:r>
                    </a:p>
                  </a:txBody>
                  <a:tcPr marL="91440" marR="91440" marT="45720" marB="45720"/>
                </a:tc>
                <a:tc>
                  <a:txBody>
                    <a:bodyPr/>
                    <a:lstStyle/>
                    <a:p>
                      <a:r>
                        <a:rPr sz="1050" b="0">
                          <a:solidFill>
                            <a:srgbClr val="26373D"/>
                          </a:solidFill>
                          <a:latin typeface="Yu Gothic"/>
                          <a:ea typeface="Yu Gothic"/>
                          <a:cs typeface="Yu Gothic"/>
                        </a:rPr>
                        <a:t>−0.00603</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2.55×10⁻⁵</a:t>
                      </a:r>
                    </a:p>
                  </a:txBody>
                  <a:tcPr marL="91440" marR="91440" marT="45720" marB="45720"/>
                </a:tc>
                <a:tc>
                  <a:txBody>
                    <a:bodyPr/>
                    <a:lstStyle/>
                    <a:p>
                      <a:r>
                        <a:rPr sz="1050" b="0">
                          <a:solidFill>
                            <a:srgbClr val="26373D"/>
                          </a:solidFill>
                          <a:latin typeface="Yu Gothic"/>
                          <a:ea typeface="Yu Gothic"/>
                          <a:cs typeface="Yu Gothic"/>
                        </a:rPr>
                        <a:t>1.76×10⁻⁴</a:t>
                      </a:r>
                    </a:p>
                  </a:txBody>
                  <a:tcPr marL="91440" marR="91440" marT="45720" marB="45720"/>
                </a:tc>
                <a:tc>
                  <a:txBody>
                    <a:bodyPr/>
                    <a:lstStyle/>
                    <a:p>
                      <a:r>
                        <a:rPr sz="1050" b="0">
                          <a:solidFill>
                            <a:srgbClr val="26373D"/>
                          </a:solidFill>
                          <a:latin typeface="Yu Gothic"/>
                          <a:ea typeface="Yu Gothic"/>
                          <a:cs typeface="Yu Gothic"/>
                        </a:rPr>
                        <a:t>2.01×10⁻⁴</a:t>
                      </a:r>
                    </a:p>
                  </a:txBody>
                  <a:tcPr marL="91440" marR="91440" marT="45720" marB="45720"/>
                </a:tc>
              </a:tr>
              <a:tr h="335573">
                <a:tc>
                  <a:txBody>
                    <a:bodyPr/>
                    <a:lstStyle/>
                    <a:p>
                      <a:r>
                        <a:rPr sz="1050" b="0">
                          <a:solidFill>
                            <a:srgbClr val="26373D"/>
                          </a:solidFill>
                          <a:latin typeface="Yu Gothic"/>
                          <a:ea typeface="Yu Gothic"/>
                          <a:cs typeface="Yu Gothic"/>
                        </a:rPr>
                        <a:t>3</a:t>
                      </a:r>
                    </a:p>
                  </a:txBody>
                  <a:tcPr marL="91440" marR="91440" marT="45720" marB="45720"/>
                </a:tc>
                <a:tc>
                  <a:txBody>
                    <a:bodyPr/>
                    <a:lstStyle/>
                    <a:p>
                      <a:r>
                        <a:rPr sz="1050" b="0">
                          <a:solidFill>
                            <a:srgbClr val="26373D"/>
                          </a:solidFill>
                          <a:latin typeface="Yu Gothic"/>
                          <a:ea typeface="Yu Gothic"/>
                          <a:cs typeface="Yu Gothic"/>
                        </a:rPr>
                        <a:t>現場0／危険</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+0.14805</a:t>
                      </a:r>
                    </a:p>
                  </a:txBody>
                  <a:tcPr marL="91440" marR="91440" marT="45720" marB="45720"/>
                </a:tc>
                <a:tc>
                  <a:txBody>
                    <a:bodyPr/>
                    <a:lstStyle/>
                    <a:p>
                      <a:r>
                        <a:rPr sz="1050" b="0">
                          <a:solidFill>
                            <a:srgbClr val="26373D"/>
                          </a:solidFill>
                          <a:latin typeface="Yu Gothic"/>
                          <a:ea typeface="Yu Gothic"/>
                          <a:cs typeface="Yu Gothic"/>
                        </a:rPr>
                        <a:t>+0.00013</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8.30×10⁻⁵</a:t>
                      </a:r>
                    </a:p>
                  </a:txBody>
                  <a:tcPr marL="91440" marR="91440" marT="45720" marB="45720"/>
                </a:tc>
                <a:tc>
                  <a:txBody>
                    <a:bodyPr/>
                    <a:lstStyle/>
                    <a:p>
                      <a:r>
                        <a:rPr sz="1050" b="0">
                          <a:solidFill>
                            <a:srgbClr val="26373D"/>
                          </a:solidFill>
                          <a:latin typeface="Yu Gothic"/>
                          <a:ea typeface="Yu Gothic"/>
                          <a:cs typeface="Yu Gothic"/>
                        </a:rPr>
                        <a:t>2.188×10⁻²</a:t>
                      </a:r>
                    </a:p>
                  </a:txBody>
                  <a:tcPr marL="91440" marR="91440" marT="45720" marB="45720"/>
                </a:tc>
                <a:tc>
                  <a:txBody>
                    <a:bodyPr/>
                    <a:lstStyle/>
                    <a:p>
                      <a:r>
                        <a:rPr sz="1050" b="0">
                          <a:solidFill>
                            <a:srgbClr val="26373D"/>
                          </a:solidFill>
                          <a:latin typeface="Yu Gothic"/>
                          <a:ea typeface="Yu Gothic"/>
                          <a:cs typeface="Yu Gothic"/>
                        </a:rPr>
                        <a:t>2.196×10⁻²</a:t>
                      </a:r>
                    </a:p>
                  </a:txBody>
                  <a:tcPr marL="91440" marR="91440" marT="45720" marB="45720"/>
                </a:tc>
              </a:tr>
              <a:tr h="335573">
                <a:tc>
                  <a:txBody>
                    <a:bodyPr/>
                    <a:lstStyle/>
                    <a:p>
                      <a:r>
                        <a:rPr sz="1050" b="0">
                          <a:solidFill>
                            <a:srgbClr val="26373D"/>
                          </a:solidFill>
                          <a:latin typeface="Yu Gothic"/>
                          <a:ea typeface="Yu Gothic"/>
                          <a:cs typeface="Yu Gothic"/>
                        </a:rPr>
                        <a:t>3</a:t>
                      </a:r>
                    </a:p>
                  </a:txBody>
                  <a:tcPr marL="91440" marR="91440" marT="45720" marB="45720"/>
                </a:tc>
                <a:tc>
                  <a:txBody>
                    <a:bodyPr/>
                    <a:lstStyle/>
                    <a:p>
                      <a:r>
                        <a:rPr sz="1050" b="0">
                          <a:solidFill>
                            <a:srgbClr val="26373D"/>
                          </a:solidFill>
                          <a:latin typeface="Yu Gothic"/>
                          <a:ea typeface="Yu Gothic"/>
                          <a:cs typeface="Yu Gothic"/>
                        </a:rPr>
                        <a:t>現場1／通常</a:t>
                      </a:r>
                    </a:p>
                  </a:txBody>
                  <a:tcPr marL="91440" marR="91440" marT="45720" marB="45720"/>
                </a:tc>
                <a:tc>
                  <a:txBody>
                    <a:bodyPr/>
                    <a:lstStyle/>
                    <a:p>
                      <a:r>
                        <a:rPr sz="1050" b="0">
                          <a:solidFill>
                            <a:srgbClr val="26373D"/>
                          </a:solidFill>
                          <a:latin typeface="Yu Gothic"/>
                          <a:ea typeface="Yu Gothic"/>
                          <a:cs typeface="Yu Gothic"/>
                        </a:rPr>
                        <a:t>通常</a:t>
                      </a:r>
                    </a:p>
                  </a:txBody>
                  <a:tcPr marL="91440" marR="91440" marT="45720" marB="45720"/>
                </a:tc>
                <a:tc>
                  <a:txBody>
                    <a:bodyPr/>
                    <a:lstStyle/>
                    <a:p>
                      <a:r>
                        <a:rPr sz="1050" b="0">
                          <a:solidFill>
                            <a:srgbClr val="26373D"/>
                          </a:solidFill>
                          <a:latin typeface="Yu Gothic"/>
                          <a:ea typeface="Yu Gothic"/>
                          <a:cs typeface="Yu Gothic"/>
                        </a:rPr>
                        <a:t>−0.11538</a:t>
                      </a:r>
                    </a:p>
                  </a:txBody>
                  <a:tcPr marL="91440" marR="91440" marT="45720" marB="45720"/>
                </a:tc>
                <a:tc>
                  <a:txBody>
                    <a:bodyPr/>
                    <a:lstStyle/>
                    <a:p>
                      <a:r>
                        <a:rPr sz="1050" b="0">
                          <a:solidFill>
                            <a:srgbClr val="26373D"/>
                          </a:solidFill>
                          <a:latin typeface="Yu Gothic"/>
                          <a:ea typeface="Yu Gothic"/>
                          <a:cs typeface="Yu Gothic"/>
                        </a:rPr>
                        <a:t>−0.02566</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4.62×10⁻⁴</a:t>
                      </a:r>
                    </a:p>
                  </a:txBody>
                  <a:tcPr marL="91440" marR="91440" marT="45720" marB="45720"/>
                </a:tc>
                <a:tc>
                  <a:txBody>
                    <a:bodyPr/>
                    <a:lstStyle/>
                    <a:p>
                      <a:r>
                        <a:rPr sz="1050" b="0">
                          <a:solidFill>
                            <a:srgbClr val="26373D"/>
                          </a:solidFill>
                          <a:latin typeface="Yu Gothic"/>
                          <a:ea typeface="Yu Gothic"/>
                          <a:cs typeface="Yu Gothic"/>
                        </a:rPr>
                        <a:t>8.05×10⁻³</a:t>
                      </a:r>
                    </a:p>
                  </a:txBody>
                  <a:tcPr marL="91440" marR="91440" marT="45720" marB="45720"/>
                </a:tc>
                <a:tc>
                  <a:txBody>
                    <a:bodyPr/>
                    <a:lstStyle/>
                    <a:p>
                      <a:r>
                        <a:rPr sz="1050" b="0">
                          <a:solidFill>
                            <a:srgbClr val="26373D"/>
                          </a:solidFill>
                          <a:latin typeface="Yu Gothic"/>
                          <a:ea typeface="Yu Gothic"/>
                          <a:cs typeface="Yu Gothic"/>
                        </a:rPr>
                        <a:t>8.51×10⁻³</a:t>
                      </a:r>
                    </a:p>
                  </a:txBody>
                  <a:tcPr marL="91440" marR="91440" marT="45720" marB="45720"/>
                </a:tc>
              </a:tr>
              <a:tr h="335573">
                <a:tc>
                  <a:txBody>
                    <a:bodyPr/>
                    <a:lstStyle/>
                    <a:p>
                      <a:r>
                        <a:rPr sz="1050" b="0">
                          <a:solidFill>
                            <a:srgbClr val="26373D"/>
                          </a:solidFill>
                          <a:latin typeface="Yu Gothic"/>
                          <a:ea typeface="Yu Gothic"/>
                          <a:cs typeface="Yu Gothic"/>
                        </a:rPr>
                        <a:t>3</a:t>
                      </a:r>
                    </a:p>
                  </a:txBody>
                  <a:tcPr marL="91440" marR="91440" marT="45720" marB="45720"/>
                </a:tc>
                <a:tc>
                  <a:txBody>
                    <a:bodyPr/>
                    <a:lstStyle/>
                    <a:p>
                      <a:r>
                        <a:rPr sz="1050" b="0">
                          <a:solidFill>
                            <a:srgbClr val="26373D"/>
                          </a:solidFill>
                          <a:latin typeface="Yu Gothic"/>
                          <a:ea typeface="Yu Gothic"/>
                          <a:cs typeface="Yu Gothic"/>
                        </a:rPr>
                        <a:t>現場1／危険</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−0.01229</a:t>
                      </a:r>
                    </a:p>
                  </a:txBody>
                  <a:tcPr marL="91440" marR="91440" marT="45720" marB="45720"/>
                </a:tc>
                <a:tc>
                  <a:txBody>
                    <a:bodyPr/>
                    <a:lstStyle/>
                    <a:p>
                      <a:r>
                        <a:rPr sz="1050" b="0">
                          <a:solidFill>
                            <a:srgbClr val="26373D"/>
                          </a:solidFill>
                          <a:latin typeface="Yu Gothic"/>
                          <a:ea typeface="Yu Gothic"/>
                          <a:cs typeface="Yu Gothic"/>
                        </a:rPr>
                        <a:t>+0.00081</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4.74×10⁻⁴</a:t>
                      </a:r>
                    </a:p>
                  </a:txBody>
                  <a:tcPr marL="91440" marR="91440" marT="45720" marB="45720"/>
                </a:tc>
                <a:tc>
                  <a:txBody>
                    <a:bodyPr/>
                    <a:lstStyle/>
                    <a:p>
                      <a:r>
                        <a:rPr sz="1050" b="0">
                          <a:solidFill>
                            <a:srgbClr val="26373D"/>
                          </a:solidFill>
                          <a:latin typeface="Yu Gothic"/>
                          <a:ea typeface="Yu Gothic"/>
                          <a:cs typeface="Yu Gothic"/>
                        </a:rPr>
                        <a:t>1.71×10⁻⁴</a:t>
                      </a:r>
                    </a:p>
                  </a:txBody>
                  <a:tcPr marL="91440" marR="91440" marT="45720" marB="45720"/>
                </a:tc>
                <a:tc>
                  <a:txBody>
                    <a:bodyPr/>
                    <a:lstStyle/>
                    <a:p>
                      <a:r>
                        <a:rPr sz="1050" b="0">
                          <a:solidFill>
                            <a:srgbClr val="26373D"/>
                          </a:solidFill>
                          <a:latin typeface="Yu Gothic"/>
                          <a:ea typeface="Yu Gothic"/>
                          <a:cs typeface="Yu Gothic"/>
                        </a:rPr>
                        <a:t>6.46×10⁻⁴</a:t>
                      </a:r>
                    </a:p>
                  </a:txBody>
                  <a:tcPr marL="91440" marR="91440" marT="45720" marB="45720"/>
                </a:tc>
              </a:tr>
            </a:tbl>
          </a:graphicData>
        </a:graphic>
      </p:graphicFrame>
      <p:sp>
        <p:nvSpPr>
          <p:cNvPr id="10" name="">
            <a:extLst xmlns:a="http://schemas.openxmlformats.org/drawingml/2006/main">
              <a:ext uri="{FF2B5EF4-FFF2-40B4-BE49-F238E27FC236}">
                <a16:creationId xmlns:a16="http://schemas.microsoft.com/office/drawing/2014/main" id="{4B64AA5E-EEBA-4D7B-83CB-352CB84E9EBF}"/>
              </a:ext>
            </a:extLst>
          </p:cNvPr>
          <p:cNvSpPr>
            <a:spLocks xmlns:a="http://schemas.openxmlformats.org/drawingml/2006/main" noGrp="1"/>
          </p:cNvSpPr>
          <p:nvPr/>
        </p:nvSpPr>
        <p:spPr>
          <a:xfrm xmlns:a="http://schemas.openxmlformats.org/drawingml/2006/main">
            <a:off x="723900" y="59340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B94A3A"/>
                </a:solidFill>
                <a:latin typeface="Yu Gothic"/>
                <a:ea typeface="Yu Gothic"/>
                <a:cs typeface="Yu Gothic"/>
              </a:defRPr>
            </a:pPr>
            <a:r>
              <a:rPr sz="1350" b="1">
                <a:solidFill>
                  <a:srgbClr val="B94A3A"/>
                </a:solidFill>
                <a:latin typeface="Yu Gothic"/>
                <a:ea typeface="Yu Gothic"/>
                <a:cs typeface="Yu Gothic"/>
              </a:rPr>
              <a:t>Δ危険は危険確率の変化。値が小さいだけでは、動画内容の意味が一致したとは判断しない</a:t>
            </a:r>
          </a:p>
        </p:txBody>
      </p:sp>
    </p:spTree>
    <p:extLst>
      <p:ext uri="{BB962C8B-B14F-4D97-AF65-F5344CB8AC3E}">
        <p14:creationId xmlns:p14="http://schemas.microsoft.com/office/powerpoint/2010/main" val="58152293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1AC2A0A-4C3E-40C5-AF95-3942465F9E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B0F393-98CD-461F-BCEA-5D32919ED6E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35F7D91-C96D-4B30-B0AC-6644C0545296}"/>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付録2　更新量と状態継承の数値</a:t>
            </a:r>
          </a:p>
        </p:txBody>
      </p:sp>
      <p:sp>
        <p:nvSpPr>
          <p:cNvPr id="4" name="">
            <a:extLst xmlns:a="http://schemas.openxmlformats.org/drawingml/2006/main">
              <a:ext uri="{FF2B5EF4-FFF2-40B4-BE49-F238E27FC236}">
                <a16:creationId xmlns:a16="http://schemas.microsoft.com/office/drawing/2014/main" id="{B4561C0D-583D-4A27-816A-FDA435F85BBF}"/>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A2</a:t>
            </a:r>
          </a:p>
        </p:txBody>
      </p:sp>
      <p:sp>
        <p:nvSpPr>
          <p:cNvPr id="5" name="">
            <a:extLst xmlns:a="http://schemas.openxmlformats.org/drawingml/2006/main">
              <a:ext uri="{FF2B5EF4-FFF2-40B4-BE49-F238E27FC236}">
                <a16:creationId xmlns:a16="http://schemas.microsoft.com/office/drawing/2014/main" id="{4572869A-4E46-4557-AED0-CCD602C9F1B2}"/>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A5A3CAC-4222-4A73-999C-E3D22A5E205B}"/>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C8C55F9C-0E10-4AC4-BFD3-D83409EA7D90}"/>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付録 2 / 3</a:t>
            </a:r>
          </a:p>
        </p:txBody>
      </p:sp>
      <p:sp>
        <p:nvSpPr>
          <p:cNvPr id="8" name="">
            <a:extLst xmlns:a="http://schemas.openxmlformats.org/drawingml/2006/main">
              <a:ext uri="{FF2B5EF4-FFF2-40B4-BE49-F238E27FC236}">
                <a16:creationId xmlns:a16="http://schemas.microsoft.com/office/drawing/2014/main" id="{CDBFED64-BE13-450D-AB31-AD1AFF6DF316}"/>
              </a:ext>
            </a:extLst>
          </p:cNvPr>
          <p:cNvSpPr>
            <a:spLocks xmlns:a="http://schemas.openxmlformats.org/drawingml/2006/main" noGrp="1"/>
          </p:cNvSpPr>
          <p:nvPr/>
        </p:nvSpPr>
        <p:spPr>
          <a:xfrm xmlns:a="http://schemas.openxmlformats.org/drawingml/2006/main">
            <a:off x="685800" y="10287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現場側の更新と連合平均</a:t>
            </a:r>
          </a:p>
        </p:txBody>
      </p:sp>
      <p:graphicFrame>
        <p:nvGraphicFramePr>
          <p:cNvPr id="21" name=""/>
          <p:cNvGraphicFramePr/>
          <p:nvPr/>
        </p:nvGraphicFramePr>
        <p:xfrm>
          <a:off xmlns:a="http://schemas.openxmlformats.org/drawingml/2006/main" x="647700" y="1409700"/>
          <a:ext xmlns:a="http://schemas.openxmlformats.org/drawingml/2006/main" cx="10896600" cy="1676400"/>
        </p:xfrm>
        <a:graphic xmlns:a="http://schemas.openxmlformats.org/drawingml/2006/main">
          <a:graphicData uri="http://schemas.openxmlformats.org/drawingml/2006/table">
            <a:tbl>
              <a:tblPr/>
              <a:tblGrid>
                <a:gridCol w="552450"/>
                <a:gridCol w="1571625"/>
                <a:gridCol w="1571625"/>
                <a:gridCol w="1714500"/>
                <a:gridCol w="1714500"/>
                <a:gridCol w="2000250"/>
                <a:gridCol w="1771650"/>
              </a:tblGrid>
              <a:tr h="419100">
                <a:tc>
                  <a:txBody>
                    <a:bodyPr/>
                    <a:lstStyle/>
                    <a:p>
                      <a:r>
                        <a:rPr sz="1050" b="1">
                          <a:solidFill>
                            <a:srgbClr val="173B4B"/>
                          </a:solidFill>
                          <a:latin typeface="Yu Gothic"/>
                          <a:ea typeface="Yu Gothic"/>
                          <a:cs typeface="Yu Gothic"/>
                        </a:rPr>
                        <a:t>R</a:t>
                      </a:r>
                    </a:p>
                  </a:txBody>
                  <a:tcPr marL="91440" marR="91440" marT="45720" marB="45720"/>
                </a:tc>
                <a:tc>
                  <a:txBody>
                    <a:bodyPr/>
                    <a:lstStyle/>
                    <a:p>
                      <a:r>
                        <a:rPr sz="1050" b="1">
                          <a:solidFill>
                            <a:srgbClr val="173B4B"/>
                          </a:solidFill>
                          <a:latin typeface="Yu Gothic"/>
                          <a:ea typeface="Yu Gothic"/>
                          <a:cs typeface="Yu Gothic"/>
                        </a:rPr>
                        <a:t>軽量更新量
現場0</a:t>
                      </a:r>
                    </a:p>
                  </a:txBody>
                  <a:tcPr marL="91440" marR="91440" marT="45720" marB="45720"/>
                </a:tc>
                <a:tc>
                  <a:txBody>
                    <a:bodyPr/>
                    <a:lstStyle/>
                    <a:p>
                      <a:r>
                        <a:rPr sz="1050" b="1">
                          <a:solidFill>
                            <a:srgbClr val="173B4B"/>
                          </a:solidFill>
                          <a:latin typeface="Yu Gothic"/>
                          <a:ea typeface="Yu Gothic"/>
                          <a:cs typeface="Yu Gothic"/>
                        </a:rPr>
                        <a:t>軽量更新量
現場1</a:t>
                      </a:r>
                    </a:p>
                  </a:txBody>
                  <a:tcPr marL="91440" marR="91440" marT="45720" marB="45720"/>
                </a:tc>
                <a:tc>
                  <a:txBody>
                    <a:bodyPr/>
                    <a:lstStyle/>
                    <a:p>
                      <a:r>
                        <a:rPr sz="1050" b="1">
                          <a:solidFill>
                            <a:srgbClr val="173B4B"/>
                          </a:solidFill>
                          <a:latin typeface="Yu Gothic"/>
                          <a:ea typeface="Yu Gothic"/>
                          <a:cs typeface="Yu Gothic"/>
                        </a:rPr>
                        <a:t>分類層更新量
現場0</a:t>
                      </a:r>
                    </a:p>
                  </a:txBody>
                  <a:tcPr marL="91440" marR="91440" marT="45720" marB="45720"/>
                </a:tc>
                <a:tc>
                  <a:txBody>
                    <a:bodyPr/>
                    <a:lstStyle/>
                    <a:p>
                      <a:r>
                        <a:rPr sz="1050" b="1">
                          <a:solidFill>
                            <a:srgbClr val="173B4B"/>
                          </a:solidFill>
                          <a:latin typeface="Yu Gothic"/>
                          <a:ea typeface="Yu Gothic"/>
                          <a:cs typeface="Yu Gothic"/>
                        </a:rPr>
                        <a:t>分類層更新量
現場1</a:t>
                      </a:r>
                    </a:p>
                  </a:txBody>
                  <a:tcPr marL="91440" marR="91440" marT="45720" marB="45720"/>
                </a:tc>
                <a:tc>
                  <a:txBody>
                    <a:bodyPr/>
                    <a:lstStyle/>
                    <a:p>
                      <a:r>
                        <a:rPr sz="1050" b="1">
                          <a:solidFill>
                            <a:srgbClr val="173B4B"/>
                          </a:solidFill>
                          <a:latin typeface="Yu Gothic"/>
                          <a:ea typeface="Yu Gothic"/>
                          <a:cs typeface="Yu Gothic"/>
                        </a:rPr>
                        <a:t>連合平均の
再計算差</a:t>
                      </a:r>
                    </a:p>
                  </a:txBody>
                  <a:tcPr marL="91440" marR="91440" marT="45720" marB="45720"/>
                </a:tc>
                <a:tc>
                  <a:txBody>
                    <a:bodyPr/>
                    <a:lstStyle/>
                    <a:p>
                      <a:r>
                        <a:rPr sz="1050" b="1">
                          <a:solidFill>
                            <a:srgbClr val="173B4B"/>
                          </a:solidFill>
                          <a:latin typeface="Yu Gothic"/>
                          <a:ea typeface="Yu Gothic"/>
                          <a:cs typeface="Yu Gothic"/>
                        </a:rPr>
                        <a:t>次回入力</a:t>
                      </a:r>
                    </a:p>
                  </a:txBody>
                  <a:tcPr marL="91440" marR="91440" marT="45720" marB="45720"/>
                </a:tc>
              </a:tr>
              <a:tr h="419100">
                <a:tc>
                  <a:txBody>
                    <a:bodyPr/>
                    <a:lstStyle/>
                    <a:p>
                      <a:r>
                        <a:rPr sz="1200" b="0">
                          <a:solidFill>
                            <a:srgbClr val="26373D"/>
                          </a:solidFill>
                          <a:latin typeface="Yu Gothic"/>
                          <a:ea typeface="Yu Gothic"/>
                          <a:cs typeface="Yu Gothic"/>
                        </a:rPr>
                        <a:t>1</a:t>
                      </a:r>
                    </a:p>
                  </a:txBody>
                  <a:tcPr marL="91440" marR="91440" marT="45720" marB="45720"/>
                </a:tc>
                <a:tc>
                  <a:txBody>
                    <a:bodyPr/>
                    <a:lstStyle/>
                    <a:p>
                      <a:r>
                        <a:rPr sz="1200" b="0">
                          <a:solidFill>
                            <a:srgbClr val="26373D"/>
                          </a:solidFill>
                          <a:latin typeface="Yu Gothic"/>
                          <a:ea typeface="Yu Gothic"/>
                          <a:cs typeface="Yu Gothic"/>
                        </a:rPr>
                        <a:t>0.346093</a:t>
                      </a:r>
                    </a:p>
                  </a:txBody>
                  <a:tcPr marL="91440" marR="91440" marT="45720" marB="45720"/>
                </a:tc>
                <a:tc>
                  <a:txBody>
                    <a:bodyPr/>
                    <a:lstStyle/>
                    <a:p>
                      <a:r>
                        <a:rPr sz="1200" b="0">
                          <a:solidFill>
                            <a:srgbClr val="26373D"/>
                          </a:solidFill>
                          <a:latin typeface="Yu Gothic"/>
                          <a:ea typeface="Yu Gothic"/>
                          <a:cs typeface="Yu Gothic"/>
                        </a:rPr>
                        <a:t>0.291624</a:t>
                      </a:r>
                    </a:p>
                  </a:txBody>
                  <a:tcPr marL="91440" marR="91440" marT="45720" marB="45720"/>
                </a:tc>
                <a:tc>
                  <a:txBody>
                    <a:bodyPr/>
                    <a:lstStyle/>
                    <a:p>
                      <a:r>
                        <a:rPr sz="1200" b="0">
                          <a:solidFill>
                            <a:srgbClr val="26373D"/>
                          </a:solidFill>
                          <a:latin typeface="Yu Gothic"/>
                          <a:ea typeface="Yu Gothic"/>
                          <a:cs typeface="Yu Gothic"/>
                        </a:rPr>
                        <a:t>0.012345</a:t>
                      </a:r>
                    </a:p>
                  </a:txBody>
                  <a:tcPr marL="91440" marR="91440" marT="45720" marB="45720"/>
                </a:tc>
                <a:tc>
                  <a:txBody>
                    <a:bodyPr/>
                    <a:lstStyle/>
                    <a:p>
                      <a:r>
                        <a:rPr sz="1200" b="0">
                          <a:solidFill>
                            <a:srgbClr val="26373D"/>
                          </a:solidFill>
                          <a:latin typeface="Yu Gothic"/>
                          <a:ea typeface="Yu Gothic"/>
                          <a:cs typeface="Yu Gothic"/>
                        </a:rPr>
                        <a:t>0.009560</a:t>
                      </a:r>
                    </a:p>
                  </a:txBody>
                  <a:tcPr marL="91440" marR="91440" marT="45720" marB="45720"/>
                </a:tc>
                <a:tc>
                  <a:txBody>
                    <a:bodyPr/>
                    <a:lstStyle/>
                    <a:p>
                      <a:r>
                        <a:rPr sz="1200" b="0">
                          <a:solidFill>
                            <a:srgbClr val="26373D"/>
                          </a:solidFill>
                          <a:latin typeface="Yu Gothic"/>
                          <a:ea typeface="Yu Gothic"/>
                          <a:cs typeface="Yu Gothic"/>
                        </a:rPr>
                        <a:t>5.82×10⁻¹¹</a:t>
                      </a:r>
                    </a:p>
                  </a:txBody>
                  <a:tcPr marL="91440" marR="91440" marT="45720" marB="45720"/>
                </a:tc>
                <a:tc>
                  <a:txBody>
                    <a:bodyPr/>
                    <a:lstStyle/>
                    <a:p>
                      <a:r>
                        <a:rPr sz="1200" b="0">
                          <a:solidFill>
                            <a:srgbClr val="26373D"/>
                          </a:solidFill>
                          <a:latin typeface="Yu Gothic"/>
                          <a:ea typeface="Yu Gothic"/>
                          <a:cs typeface="Yu Gothic"/>
                        </a:rPr>
                        <a:t>一致</a:t>
                      </a:r>
                    </a:p>
                  </a:txBody>
                  <a:tcPr marL="91440" marR="91440" marT="45720" marB="45720"/>
                </a:tc>
              </a:tr>
              <a:tr h="419100">
                <a:tc>
                  <a:txBody>
                    <a:bodyPr/>
                    <a:lstStyle/>
                    <a:p>
                      <a:r>
                        <a:rPr sz="1200" b="0">
                          <a:solidFill>
                            <a:srgbClr val="26373D"/>
                          </a:solidFill>
                          <a:latin typeface="Yu Gothic"/>
                          <a:ea typeface="Yu Gothic"/>
                          <a:cs typeface="Yu Gothic"/>
                        </a:rPr>
                        <a:t>2</a:t>
                      </a:r>
                    </a:p>
                  </a:txBody>
                  <a:tcPr marL="91440" marR="91440" marT="45720" marB="45720"/>
                </a:tc>
                <a:tc>
                  <a:txBody>
                    <a:bodyPr/>
                    <a:lstStyle/>
                    <a:p>
                      <a:r>
                        <a:rPr sz="1200" b="0">
                          <a:solidFill>
                            <a:srgbClr val="26373D"/>
                          </a:solidFill>
                          <a:latin typeface="Yu Gothic"/>
                          <a:ea typeface="Yu Gothic"/>
                          <a:cs typeface="Yu Gothic"/>
                        </a:rPr>
                        <a:t>0.322764</a:t>
                      </a:r>
                    </a:p>
                  </a:txBody>
                  <a:tcPr marL="91440" marR="91440" marT="45720" marB="45720"/>
                </a:tc>
                <a:tc>
                  <a:txBody>
                    <a:bodyPr/>
                    <a:lstStyle/>
                    <a:p>
                      <a:r>
                        <a:rPr sz="1200" b="0">
                          <a:solidFill>
                            <a:srgbClr val="26373D"/>
                          </a:solidFill>
                          <a:latin typeface="Yu Gothic"/>
                          <a:ea typeface="Yu Gothic"/>
                          <a:cs typeface="Yu Gothic"/>
                        </a:rPr>
                        <a:t>0.280291</a:t>
                      </a:r>
                    </a:p>
                  </a:txBody>
                  <a:tcPr marL="91440" marR="91440" marT="45720" marB="45720"/>
                </a:tc>
                <a:tc>
                  <a:txBody>
                    <a:bodyPr/>
                    <a:lstStyle/>
                    <a:p>
                      <a:r>
                        <a:rPr sz="1200" b="0">
                          <a:solidFill>
                            <a:srgbClr val="26373D"/>
                          </a:solidFill>
                          <a:latin typeface="Yu Gothic"/>
                          <a:ea typeface="Yu Gothic"/>
                          <a:cs typeface="Yu Gothic"/>
                        </a:rPr>
                        <a:t>0.011066</a:t>
                      </a:r>
                    </a:p>
                  </a:txBody>
                  <a:tcPr marL="91440" marR="91440" marT="45720" marB="45720"/>
                </a:tc>
                <a:tc>
                  <a:txBody>
                    <a:bodyPr/>
                    <a:lstStyle/>
                    <a:p>
                      <a:r>
                        <a:rPr sz="1200" b="0">
                          <a:solidFill>
                            <a:srgbClr val="26373D"/>
                          </a:solidFill>
                          <a:latin typeface="Yu Gothic"/>
                          <a:ea typeface="Yu Gothic"/>
                          <a:cs typeface="Yu Gothic"/>
                        </a:rPr>
                        <a:t>0.009495</a:t>
                      </a:r>
                    </a:p>
                  </a:txBody>
                  <a:tcPr marL="91440" marR="91440" marT="45720" marB="45720"/>
                </a:tc>
                <a:tc>
                  <a:txBody>
                    <a:bodyPr/>
                    <a:lstStyle/>
                    <a:p>
                      <a:r>
                        <a:rPr sz="1200" b="0">
                          <a:solidFill>
                            <a:srgbClr val="26373D"/>
                          </a:solidFill>
                          <a:latin typeface="Yu Gothic"/>
                          <a:ea typeface="Yu Gothic"/>
                          <a:cs typeface="Yu Gothic"/>
                        </a:rPr>
                        <a:t>5.82×10⁻¹¹</a:t>
                      </a:r>
                    </a:p>
                  </a:txBody>
                  <a:tcPr marL="91440" marR="91440" marT="45720" marB="45720"/>
                </a:tc>
                <a:tc>
                  <a:txBody>
                    <a:bodyPr/>
                    <a:lstStyle/>
                    <a:p>
                      <a:r>
                        <a:rPr sz="1200" b="0">
                          <a:solidFill>
                            <a:srgbClr val="26373D"/>
                          </a:solidFill>
                          <a:latin typeface="Yu Gothic"/>
                          <a:ea typeface="Yu Gothic"/>
                          <a:cs typeface="Yu Gothic"/>
                        </a:rPr>
                        <a:t>一致</a:t>
                      </a:r>
                    </a:p>
                  </a:txBody>
                  <a:tcPr marL="91440" marR="91440" marT="45720" marB="45720"/>
                </a:tc>
              </a:tr>
              <a:tr h="419100">
                <a:tc>
                  <a:txBody>
                    <a:bodyPr/>
                    <a:lstStyle/>
                    <a:p>
                      <a:r>
                        <a:rPr sz="1200" b="0">
                          <a:solidFill>
                            <a:srgbClr val="26373D"/>
                          </a:solidFill>
                          <a:latin typeface="Yu Gothic"/>
                          <a:ea typeface="Yu Gothic"/>
                          <a:cs typeface="Yu Gothic"/>
                        </a:rPr>
                        <a:t>3</a:t>
                      </a:r>
                    </a:p>
                  </a:txBody>
                  <a:tcPr marL="91440" marR="91440" marT="45720" marB="45720"/>
                </a:tc>
                <a:tc>
                  <a:txBody>
                    <a:bodyPr/>
                    <a:lstStyle/>
                    <a:p>
                      <a:r>
                        <a:rPr sz="1200" b="0">
                          <a:solidFill>
                            <a:srgbClr val="26373D"/>
                          </a:solidFill>
                          <a:latin typeface="Yu Gothic"/>
                          <a:ea typeface="Yu Gothic"/>
                          <a:cs typeface="Yu Gothic"/>
                        </a:rPr>
                        <a:t>0.320213</a:t>
                      </a:r>
                    </a:p>
                  </a:txBody>
                  <a:tcPr marL="91440" marR="91440" marT="45720" marB="45720"/>
                </a:tc>
                <a:tc>
                  <a:txBody>
                    <a:bodyPr/>
                    <a:lstStyle/>
                    <a:p>
                      <a:r>
                        <a:rPr sz="1200" b="0">
                          <a:solidFill>
                            <a:srgbClr val="26373D"/>
                          </a:solidFill>
                          <a:latin typeface="Yu Gothic"/>
                          <a:ea typeface="Yu Gothic"/>
                          <a:cs typeface="Yu Gothic"/>
                        </a:rPr>
                        <a:t>0.280363</a:t>
                      </a:r>
                    </a:p>
                  </a:txBody>
                  <a:tcPr marL="91440" marR="91440" marT="45720" marB="45720"/>
                </a:tc>
                <a:tc>
                  <a:txBody>
                    <a:bodyPr/>
                    <a:lstStyle/>
                    <a:p>
                      <a:r>
                        <a:rPr sz="1200" b="0">
                          <a:solidFill>
                            <a:srgbClr val="26373D"/>
                          </a:solidFill>
                          <a:latin typeface="Yu Gothic"/>
                          <a:ea typeface="Yu Gothic"/>
                          <a:cs typeface="Yu Gothic"/>
                        </a:rPr>
                        <a:t>0.010754</a:t>
                      </a:r>
                    </a:p>
                  </a:txBody>
                  <a:tcPr marL="91440" marR="91440" marT="45720" marB="45720"/>
                </a:tc>
                <a:tc>
                  <a:txBody>
                    <a:bodyPr/>
                    <a:lstStyle/>
                    <a:p>
                      <a:r>
                        <a:rPr sz="1200" b="0">
                          <a:solidFill>
                            <a:srgbClr val="26373D"/>
                          </a:solidFill>
                          <a:latin typeface="Yu Gothic"/>
                          <a:ea typeface="Yu Gothic"/>
                          <a:cs typeface="Yu Gothic"/>
                        </a:rPr>
                        <a:t>0.009461</a:t>
                      </a:r>
                    </a:p>
                  </a:txBody>
                  <a:tcPr marL="91440" marR="91440" marT="45720" marB="45720"/>
                </a:tc>
                <a:tc>
                  <a:txBody>
                    <a:bodyPr/>
                    <a:lstStyle/>
                    <a:p>
                      <a:r>
                        <a:rPr sz="1200" b="0">
                          <a:solidFill>
                            <a:srgbClr val="26373D"/>
                          </a:solidFill>
                          <a:latin typeface="Yu Gothic"/>
                          <a:ea typeface="Yu Gothic"/>
                          <a:cs typeface="Yu Gothic"/>
                        </a:rPr>
                        <a:t>1.16×10⁻¹⁰</a:t>
                      </a:r>
                    </a:p>
                  </a:txBody>
                  <a:tcPr marL="91440" marR="91440" marT="45720" marB="45720"/>
                </a:tc>
                <a:tc>
                  <a:txBody>
                    <a:bodyPr/>
                    <a:lstStyle/>
                    <a:p>
                      <a:r>
                        <a:rPr sz="1200" b="0">
                          <a:solidFill>
                            <a:srgbClr val="26373D"/>
                          </a:solidFill>
                          <a:latin typeface="Yu Gothic"/>
                          <a:ea typeface="Yu Gothic"/>
                          <a:cs typeface="Yu Gothic"/>
                        </a:rPr>
                        <a:t>一致</a:t>
                      </a:r>
                    </a:p>
                  </a:txBody>
                  <a:tcPr marL="91440" marR="91440" marT="45720" marB="45720"/>
                </a:tc>
              </a:tr>
            </a:tbl>
          </a:graphicData>
        </a:graphic>
      </p:graphicFrame>
      <p:sp>
        <p:nvSpPr>
          <p:cNvPr id="10" name="">
            <a:extLst xmlns:a="http://schemas.openxmlformats.org/drawingml/2006/main">
              <a:ext uri="{FF2B5EF4-FFF2-40B4-BE49-F238E27FC236}">
                <a16:creationId xmlns:a16="http://schemas.microsoft.com/office/drawing/2014/main" id="{DB466885-2D8D-4020-A734-97AE4C5252D4}"/>
              </a:ext>
            </a:extLst>
          </p:cNvPr>
          <p:cNvSpPr>
            <a:spLocks xmlns:a="http://schemas.openxmlformats.org/drawingml/2006/main" noGrp="1"/>
          </p:cNvSpPr>
          <p:nvPr/>
        </p:nvSpPr>
        <p:spPr>
          <a:xfrm xmlns:a="http://schemas.openxmlformats.org/drawingml/2006/main">
            <a:off x="685800" y="33718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中央側AIの更新</a:t>
            </a:r>
          </a:p>
        </p:txBody>
      </p:sp>
      <p:graphicFrame>
        <p:nvGraphicFramePr>
          <p:cNvPr id="23" name=""/>
          <p:cNvGraphicFramePr/>
          <p:nvPr/>
        </p:nvGraphicFramePr>
        <p:xfrm>
          <a:off xmlns:a="http://schemas.openxmlformats.org/drawingml/2006/main" x="647700" y="3752850"/>
          <a:ext xmlns:a="http://schemas.openxmlformats.org/drawingml/2006/main" cx="10896600" cy="1676400"/>
        </p:xfrm>
        <a:graphic xmlns:a="http://schemas.openxmlformats.org/drawingml/2006/main">
          <a:graphicData uri="http://schemas.openxmlformats.org/drawingml/2006/table">
            <a:tbl>
              <a:tblPr/>
              <a:tblGrid>
                <a:gridCol w="552450"/>
                <a:gridCol w="1619250"/>
                <a:gridCol w="1524000"/>
                <a:gridCol w="1809750"/>
                <a:gridCol w="1809750"/>
                <a:gridCol w="1809750"/>
                <a:gridCol w="1771650"/>
              </a:tblGrid>
              <a:tr h="419100">
                <a:tc>
                  <a:txBody>
                    <a:bodyPr/>
                    <a:lstStyle/>
                    <a:p>
                      <a:r>
                        <a:rPr sz="1050" b="1">
                          <a:solidFill>
                            <a:srgbClr val="173B4B"/>
                          </a:solidFill>
                          <a:latin typeface="Yu Gothic"/>
                          <a:ea typeface="Yu Gothic"/>
                          <a:cs typeface="Yu Gothic"/>
                        </a:rPr>
                        <a:t>R</a:t>
                      </a:r>
                    </a:p>
                  </a:txBody>
                  <a:tcPr marL="91440" marR="91440" marT="45720" marB="45720"/>
                </a:tc>
                <a:tc>
                  <a:txBody>
                    <a:bodyPr/>
                    <a:lstStyle/>
                    <a:p>
                      <a:r>
                        <a:rPr sz="1050" b="1">
                          <a:solidFill>
                            <a:srgbClr val="173B4B"/>
                          </a:solidFill>
                          <a:latin typeface="Yu Gothic"/>
                          <a:ea typeface="Yu Gothic"/>
                          <a:cs typeface="Yu Gothic"/>
                        </a:rPr>
                        <a:t>勾配の大きさ</a:t>
                      </a:r>
                    </a:p>
                  </a:txBody>
                  <a:tcPr marL="91440" marR="91440" marT="45720" marB="45720"/>
                </a:tc>
                <a:tc>
                  <a:txBody>
                    <a:bodyPr/>
                    <a:lstStyle/>
                    <a:p>
                      <a:r>
                        <a:rPr sz="1050" b="1">
                          <a:solidFill>
                            <a:srgbClr val="173B4B"/>
                          </a:solidFill>
                          <a:latin typeface="Yu Gothic"/>
                          <a:ea typeface="Yu Gothic"/>
                          <a:cs typeface="Yu Gothic"/>
                        </a:rPr>
                        <a:t>更新量</a:t>
                      </a:r>
                    </a:p>
                  </a:txBody>
                  <a:tcPr marL="91440" marR="91440" marT="45720" marB="45720"/>
                </a:tc>
                <a:tc>
                  <a:txBody>
                    <a:bodyPr/>
                    <a:lstStyle/>
                    <a:p>
                      <a:r>
                        <a:rPr sz="1050" b="1">
                          <a:solidFill>
                            <a:srgbClr val="173B4B"/>
                          </a:solidFill>
                          <a:latin typeface="Yu Gothic"/>
                          <a:ea typeface="Yu Gothic"/>
                          <a:cs typeface="Yu Gothic"/>
                        </a:rPr>
                        <a:t>加重KL 更新前</a:t>
                      </a:r>
                    </a:p>
                  </a:txBody>
                  <a:tcPr marL="91440" marR="91440" marT="45720" marB="45720"/>
                </a:tc>
                <a:tc>
                  <a:txBody>
                    <a:bodyPr/>
                    <a:lstStyle/>
                    <a:p>
                      <a:r>
                        <a:rPr sz="1050" b="1">
                          <a:solidFill>
                            <a:srgbClr val="173B4B"/>
                          </a:solidFill>
                          <a:latin typeface="Yu Gothic"/>
                          <a:ea typeface="Yu Gothic"/>
                          <a:cs typeface="Yu Gothic"/>
                        </a:rPr>
                        <a:t>加重KL 更新後</a:t>
                      </a:r>
                    </a:p>
                  </a:txBody>
                  <a:tcPr marL="91440" marR="91440" marT="45720" marB="45720"/>
                </a:tc>
                <a:tc>
                  <a:txBody>
                    <a:bodyPr/>
                    <a:lstStyle/>
                    <a:p>
                      <a:r>
                        <a:rPr sz="1050" b="1">
                          <a:solidFill>
                            <a:srgbClr val="173B4B"/>
                          </a:solidFill>
                          <a:latin typeface="Yu Gothic"/>
                          <a:ea typeface="Yu Gothic"/>
                          <a:cs typeface="Yu Gothic"/>
                        </a:rPr>
                        <a:t>受理条件</a:t>
                      </a:r>
                    </a:p>
                  </a:txBody>
                  <a:tcPr marL="91440" marR="91440" marT="45720" marB="45720"/>
                </a:tc>
                <a:tc>
                  <a:txBody>
                    <a:bodyPr/>
                    <a:lstStyle/>
                    <a:p>
                      <a:r>
                        <a:rPr sz="1050" b="1">
                          <a:solidFill>
                            <a:srgbClr val="173B4B"/>
                          </a:solidFill>
                          <a:latin typeface="Yu Gothic"/>
                          <a:ea typeface="Yu Gothic"/>
                          <a:cs typeface="Yu Gothic"/>
                        </a:rPr>
                        <a:t>更新対象外</a:t>
                      </a:r>
                    </a:p>
                  </a:txBody>
                  <a:tcPr marL="91440" marR="91440" marT="45720" marB="45720"/>
                </a:tc>
              </a:tr>
              <a:tr h="419100">
                <a:tc>
                  <a:txBody>
                    <a:bodyPr/>
                    <a:lstStyle/>
                    <a:p>
                      <a:r>
                        <a:rPr sz="1200" b="0">
                          <a:solidFill>
                            <a:srgbClr val="26373D"/>
                          </a:solidFill>
                          <a:latin typeface="Yu Gothic"/>
                          <a:ea typeface="Yu Gothic"/>
                          <a:cs typeface="Yu Gothic"/>
                        </a:rPr>
                        <a:t>1</a:t>
                      </a:r>
                    </a:p>
                  </a:txBody>
                  <a:tcPr marL="91440" marR="91440" marT="45720" marB="45720"/>
                </a:tc>
                <a:tc>
                  <a:txBody>
                    <a:bodyPr/>
                    <a:lstStyle/>
                    <a:p>
                      <a:r>
                        <a:rPr sz="1200" b="0">
                          <a:solidFill>
                            <a:srgbClr val="26373D"/>
                          </a:solidFill>
                          <a:latin typeface="Yu Gothic"/>
                          <a:ea typeface="Yu Gothic"/>
                          <a:cs typeface="Yu Gothic"/>
                        </a:rPr>
                        <a:t>4.37146</a:t>
                      </a:r>
                    </a:p>
                  </a:txBody>
                  <a:tcPr marL="91440" marR="91440" marT="45720" marB="45720"/>
                </a:tc>
                <a:tc>
                  <a:txBody>
                    <a:bodyPr/>
                    <a:lstStyle/>
                    <a:p>
                      <a:r>
                        <a:rPr sz="1200" b="0">
                          <a:solidFill>
                            <a:srgbClr val="26373D"/>
                          </a:solidFill>
                          <a:latin typeface="Yu Gothic"/>
                          <a:ea typeface="Yu Gothic"/>
                          <a:cs typeface="Yu Gothic"/>
                        </a:rPr>
                        <a:t>0.00135671</a:t>
                      </a:r>
                    </a:p>
                  </a:txBody>
                  <a:tcPr marL="91440" marR="91440" marT="45720" marB="45720"/>
                </a:tc>
                <a:tc>
                  <a:txBody>
                    <a:bodyPr/>
                    <a:lstStyle/>
                    <a:p>
                      <a:r>
                        <a:rPr sz="1200" b="0">
                          <a:solidFill>
                            <a:srgbClr val="26373D"/>
                          </a:solidFill>
                          <a:latin typeface="Yu Gothic"/>
                          <a:ea typeface="Yu Gothic"/>
                          <a:cs typeface="Yu Gothic"/>
                        </a:rPr>
                        <a:t>0.054042</a:t>
                      </a:r>
                    </a:p>
                  </a:txBody>
                  <a:tcPr marL="91440" marR="91440" marT="45720" marB="45720"/>
                </a:tc>
                <a:tc>
                  <a:txBody>
                    <a:bodyPr/>
                    <a:lstStyle/>
                    <a:p>
                      <a:r>
                        <a:rPr sz="1200" b="0">
                          <a:solidFill>
                            <a:srgbClr val="26373D"/>
                          </a:solidFill>
                          <a:latin typeface="Yu Gothic"/>
                          <a:ea typeface="Yu Gothic"/>
                          <a:cs typeface="Yu Gothic"/>
                        </a:rPr>
                        <a:t>0.053431</a:t>
                      </a:r>
                    </a:p>
                  </a:txBody>
                  <a:tcPr marL="91440" marR="91440" marT="45720" marB="45720"/>
                </a:tc>
                <a:tc>
                  <a:txBody>
                    <a:bodyPr/>
                    <a:lstStyle/>
                    <a:p>
                      <a:r>
                        <a:rPr sz="1200" b="0">
                          <a:solidFill>
                            <a:srgbClr val="26373D"/>
                          </a:solidFill>
                          <a:latin typeface="Yu Gothic"/>
                          <a:ea typeface="Yu Gothic"/>
                          <a:cs typeface="Yu Gothic"/>
                        </a:rPr>
                        <a:t>非増加</a:t>
                      </a:r>
                    </a:p>
                  </a:txBody>
                  <a:tcPr marL="91440" marR="91440" marT="45720" marB="45720"/>
                </a:tc>
                <a:tc>
                  <a:txBody>
                    <a:bodyPr/>
                    <a:lstStyle/>
                    <a:p>
                      <a:r>
                        <a:rPr sz="1200" b="0">
                          <a:solidFill>
                            <a:srgbClr val="26373D"/>
                          </a:solidFill>
                          <a:latin typeface="Yu Gothic"/>
                          <a:ea typeface="Yu Gothic"/>
                          <a:cs typeface="Yu Gothic"/>
                        </a:rPr>
                        <a:t>不変</a:t>
                      </a:r>
                    </a:p>
                  </a:txBody>
                  <a:tcPr marL="91440" marR="91440" marT="45720" marB="45720"/>
                </a:tc>
              </a:tr>
              <a:tr h="419100">
                <a:tc>
                  <a:txBody>
                    <a:bodyPr/>
                    <a:lstStyle/>
                    <a:p>
                      <a:r>
                        <a:rPr sz="1200" b="0">
                          <a:solidFill>
                            <a:srgbClr val="26373D"/>
                          </a:solidFill>
                          <a:latin typeface="Yu Gothic"/>
                          <a:ea typeface="Yu Gothic"/>
                          <a:cs typeface="Yu Gothic"/>
                        </a:rPr>
                        <a:t>2</a:t>
                      </a:r>
                    </a:p>
                  </a:txBody>
                  <a:tcPr marL="91440" marR="91440" marT="45720" marB="45720"/>
                </a:tc>
                <a:tc>
                  <a:txBody>
                    <a:bodyPr/>
                    <a:lstStyle/>
                    <a:p>
                      <a:r>
                        <a:rPr sz="1200" b="0">
                          <a:solidFill>
                            <a:srgbClr val="26373D"/>
                          </a:solidFill>
                          <a:latin typeface="Yu Gothic"/>
                          <a:ea typeface="Yu Gothic"/>
                          <a:cs typeface="Yu Gothic"/>
                        </a:rPr>
                        <a:t>65.9988</a:t>
                      </a:r>
                    </a:p>
                  </a:txBody>
                  <a:tcPr marL="91440" marR="91440" marT="45720" marB="45720"/>
                </a:tc>
                <a:tc>
                  <a:txBody>
                    <a:bodyPr/>
                    <a:lstStyle/>
                    <a:p>
                      <a:r>
                        <a:rPr sz="1200" b="0">
                          <a:solidFill>
                            <a:srgbClr val="26373D"/>
                          </a:solidFill>
                          <a:latin typeface="Yu Gothic"/>
                          <a:ea typeface="Yu Gothic"/>
                          <a:cs typeface="Yu Gothic"/>
                        </a:rPr>
                        <a:t>0.00135747</a:t>
                      </a:r>
                    </a:p>
                  </a:txBody>
                  <a:tcPr marL="91440" marR="91440" marT="45720" marB="45720"/>
                </a:tc>
                <a:tc>
                  <a:txBody>
                    <a:bodyPr/>
                    <a:lstStyle/>
                    <a:p>
                      <a:r>
                        <a:rPr sz="1200" b="0">
                          <a:solidFill>
                            <a:srgbClr val="26373D"/>
                          </a:solidFill>
                          <a:latin typeface="Yu Gothic"/>
                          <a:ea typeface="Yu Gothic"/>
                          <a:cs typeface="Yu Gothic"/>
                        </a:rPr>
                        <a:t>18.4783</a:t>
                      </a:r>
                    </a:p>
                  </a:txBody>
                  <a:tcPr marL="91440" marR="91440" marT="45720" marB="45720"/>
                </a:tc>
                <a:tc>
                  <a:txBody>
                    <a:bodyPr/>
                    <a:lstStyle/>
                    <a:p>
                      <a:r>
                        <a:rPr sz="1200" b="0">
                          <a:solidFill>
                            <a:srgbClr val="26373D"/>
                          </a:solidFill>
                          <a:latin typeface="Yu Gothic"/>
                          <a:ea typeface="Yu Gothic"/>
                          <a:cs typeface="Yu Gothic"/>
                        </a:rPr>
                        <a:t>18.3390</a:t>
                      </a:r>
                    </a:p>
                  </a:txBody>
                  <a:tcPr marL="91440" marR="91440" marT="45720" marB="45720"/>
                </a:tc>
                <a:tc>
                  <a:txBody>
                    <a:bodyPr/>
                    <a:lstStyle/>
                    <a:p>
                      <a:r>
                        <a:rPr sz="1200" b="0">
                          <a:solidFill>
                            <a:srgbClr val="26373D"/>
                          </a:solidFill>
                          <a:latin typeface="Yu Gothic"/>
                          <a:ea typeface="Yu Gothic"/>
                          <a:cs typeface="Yu Gothic"/>
                        </a:rPr>
                        <a:t>非増加</a:t>
                      </a:r>
                    </a:p>
                  </a:txBody>
                  <a:tcPr marL="91440" marR="91440" marT="45720" marB="45720"/>
                </a:tc>
                <a:tc>
                  <a:txBody>
                    <a:bodyPr/>
                    <a:lstStyle/>
                    <a:p>
                      <a:r>
                        <a:rPr sz="1200" b="0">
                          <a:solidFill>
                            <a:srgbClr val="26373D"/>
                          </a:solidFill>
                          <a:latin typeface="Yu Gothic"/>
                          <a:ea typeface="Yu Gothic"/>
                          <a:cs typeface="Yu Gothic"/>
                        </a:rPr>
                        <a:t>不変</a:t>
                      </a:r>
                    </a:p>
                  </a:txBody>
                  <a:tcPr marL="91440" marR="91440" marT="45720" marB="45720"/>
                </a:tc>
              </a:tr>
              <a:tr h="419100">
                <a:tc>
                  <a:txBody>
                    <a:bodyPr/>
                    <a:lstStyle/>
                    <a:p>
                      <a:r>
                        <a:rPr sz="1200" b="0">
                          <a:solidFill>
                            <a:srgbClr val="26373D"/>
                          </a:solidFill>
                          <a:latin typeface="Yu Gothic"/>
                          <a:ea typeface="Yu Gothic"/>
                          <a:cs typeface="Yu Gothic"/>
                        </a:rPr>
                        <a:t>3</a:t>
                      </a:r>
                    </a:p>
                  </a:txBody>
                  <a:tcPr marL="91440" marR="91440" marT="45720" marB="45720"/>
                </a:tc>
                <a:tc>
                  <a:txBody>
                    <a:bodyPr/>
                    <a:lstStyle/>
                    <a:p>
                      <a:r>
                        <a:rPr sz="1200" b="0">
                          <a:solidFill>
                            <a:srgbClr val="26373D"/>
                          </a:solidFill>
                          <a:latin typeface="Yu Gothic"/>
                          <a:ea typeface="Yu Gothic"/>
                          <a:cs typeface="Yu Gothic"/>
                        </a:rPr>
                        <a:t>66.4649</a:t>
                      </a:r>
                    </a:p>
                  </a:txBody>
                  <a:tcPr marL="91440" marR="91440" marT="45720" marB="45720"/>
                </a:tc>
                <a:tc>
                  <a:txBody>
                    <a:bodyPr/>
                    <a:lstStyle/>
                    <a:p>
                      <a:r>
                        <a:rPr sz="1200" b="0">
                          <a:solidFill>
                            <a:srgbClr val="26373D"/>
                          </a:solidFill>
                          <a:latin typeface="Yu Gothic"/>
                          <a:ea typeface="Yu Gothic"/>
                          <a:cs typeface="Yu Gothic"/>
                        </a:rPr>
                        <a:t>0.00135746</a:t>
                      </a:r>
                    </a:p>
                  </a:txBody>
                  <a:tcPr marL="91440" marR="91440" marT="45720" marB="45720"/>
                </a:tc>
                <a:tc>
                  <a:txBody>
                    <a:bodyPr/>
                    <a:lstStyle/>
                    <a:p>
                      <a:r>
                        <a:rPr sz="1200" b="0">
                          <a:solidFill>
                            <a:srgbClr val="26373D"/>
                          </a:solidFill>
                          <a:latin typeface="Yu Gothic"/>
                          <a:ea typeface="Yu Gothic"/>
                          <a:cs typeface="Yu Gothic"/>
                        </a:rPr>
                        <a:t>16.1307</a:t>
                      </a:r>
                    </a:p>
                  </a:txBody>
                  <a:tcPr marL="91440" marR="91440" marT="45720" marB="45720"/>
                </a:tc>
                <a:tc>
                  <a:txBody>
                    <a:bodyPr>
                      <a:normAutofit/>
                    </a:bodyPr>
                    <a:lstStyle/>
                    <a:p>
                      <a:pPr algn="ctr"/>
                      <a:r>
                        <a:rPr sz="1125" b="1">
                          <a:solidFill>
                            <a:srgbClr val="B94A3A"/>
                          </a:solidFill>
                          <a:latin typeface="Yu Gothic"/>
                          <a:ea typeface="Yu Gothic"/>
                          <a:cs typeface="Yu Gothic"/>
                        </a:rPr>
                        <a:t>16.1776</a:t>
                      </a:r>
                    </a:p>
                  </a:txBody>
                  <a:tcPr marL="91440" marR="91440" marT="45720" marB="45720" anchor="ctr">
                    <a:solidFill>
                      <a:srgbClr val="F5DFDA"/>
                    </a:solidFill>
                  </a:tcPr>
                </a:tc>
                <a:tc>
                  <a:txBody>
                    <a:bodyPr/>
                    <a:lstStyle/>
                    <a:p>
                      <a:r>
                        <a:rPr sz="1200" b="0">
                          <a:solidFill>
                            <a:srgbClr val="26373D"/>
                          </a:solidFill>
                          <a:latin typeface="Yu Gothic"/>
                          <a:ea typeface="Yu Gothic"/>
                          <a:cs typeface="Yu Gothic"/>
                        </a:rPr>
                        <a:t>実行確認</a:t>
                      </a:r>
                    </a:p>
                  </a:txBody>
                  <a:tcPr marL="91440" marR="91440" marT="45720" marB="45720">
                    <a:solidFill>
                      <a:srgbClr val="FAE9D8"/>
                    </a:solidFill>
                  </a:tcPr>
                </a:tc>
                <a:tc>
                  <a:txBody>
                    <a:bodyPr/>
                    <a:lstStyle/>
                    <a:p>
                      <a:r>
                        <a:rPr sz="1200" b="0">
                          <a:solidFill>
                            <a:srgbClr val="26373D"/>
                          </a:solidFill>
                          <a:latin typeface="Yu Gothic"/>
                          <a:ea typeface="Yu Gothic"/>
                          <a:cs typeface="Yu Gothic"/>
                        </a:rPr>
                        <a:t>不変</a:t>
                      </a:r>
                    </a:p>
                  </a:txBody>
                  <a:tcPr marL="91440" marR="91440" marT="45720" marB="45720"/>
                </a:tc>
              </a:tr>
            </a:tbl>
          </a:graphicData>
        </a:graphic>
      </p:graphicFrame>
      <p:sp>
        <p:nvSpPr>
          <p:cNvPr id="12" name="">
            <a:extLst xmlns:a="http://schemas.openxmlformats.org/drawingml/2006/main">
              <a:ext uri="{FF2B5EF4-FFF2-40B4-BE49-F238E27FC236}">
                <a16:creationId xmlns:a16="http://schemas.microsoft.com/office/drawing/2014/main" id="{9C97590F-DDA0-466F-984D-02DF22563389}"/>
              </a:ext>
            </a:extLst>
          </p:cNvPr>
          <p:cNvSpPr>
            <a:spLocks xmlns:a="http://schemas.openxmlformats.org/drawingml/2006/main" noGrp="1"/>
          </p:cNvSpPr>
          <p:nvPr/>
        </p:nvSpPr>
        <p:spPr>
          <a:xfrm xmlns:a="http://schemas.openxmlformats.org/drawingml/2006/main">
            <a:off x="723900" y="5724525"/>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B94A3A"/>
                </a:solidFill>
                <a:latin typeface="Yu Gothic"/>
                <a:ea typeface="Yu Gothic"/>
                <a:cs typeface="Yu Gothic"/>
              </a:defRPr>
            </a:pPr>
            <a:r>
              <a:rPr sz="1350" b="1">
                <a:solidFill>
                  <a:srgbClr val="B94A3A"/>
                </a:solidFill>
                <a:latin typeface="Yu Gothic"/>
                <a:ea typeface="Yu Gothic"/>
                <a:cs typeface="Yu Gothic"/>
              </a:rPr>
              <a:t>各ラウンドで選択した4組が異なるため、加重KLをラウンド間の性能推移として比較しない</a:t>
            </a:r>
          </a:p>
        </p:txBody>
      </p:sp>
    </p:spTree>
    <p:extLst>
      <p:ext uri="{BB962C8B-B14F-4D97-AF65-F5344CB8AC3E}">
        <p14:creationId xmlns:p14="http://schemas.microsoft.com/office/powerpoint/2010/main" val="119958588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2543200-91EC-4C5A-B72F-C853476A5A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282780-8C44-4035-90F5-1215F8F219A6}"/>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669A41-27FE-4828-832C-9C0791908D02}"/>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付録3</a:t>
            </a:r>
          </a:p>
        </p:txBody>
      </p:sp>
      <p:sp>
        <p:nvSpPr>
          <p:cNvPr id="4" name="">
            <a:extLst xmlns:a="http://schemas.openxmlformats.org/drawingml/2006/main">
              <a:ext uri="{FF2B5EF4-FFF2-40B4-BE49-F238E27FC236}">
                <a16:creationId xmlns:a16="http://schemas.microsoft.com/office/drawing/2014/main" id="{94E79E99-8993-4F71-BCB3-28B27BF7AFA6}"/>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A3</a:t>
            </a:r>
          </a:p>
        </p:txBody>
      </p:sp>
      <p:sp>
        <p:nvSpPr>
          <p:cNvPr id="5" name="">
            <a:extLst xmlns:a="http://schemas.openxmlformats.org/drawingml/2006/main">
              <a:ext uri="{FF2B5EF4-FFF2-40B4-BE49-F238E27FC236}">
                <a16:creationId xmlns:a16="http://schemas.microsoft.com/office/drawing/2014/main" id="{EAB3B087-0E12-4ED9-BFB2-A71DA94D4231}"/>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99C282D-1057-4578-87E2-E438A8BCF3F6}"/>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1E3E823-2738-4624-9DF1-D8B01480E9A4}"/>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付録 3 / 3</a:t>
            </a:r>
          </a:p>
        </p:txBody>
      </p:sp>
      <p:sp>
        <p:nvSpPr>
          <p:cNvPr id="8" name="">
            <a:extLst xmlns:a="http://schemas.openxmlformats.org/drawingml/2006/main">
              <a:ext uri="{FF2B5EF4-FFF2-40B4-BE49-F238E27FC236}">
                <a16:creationId xmlns:a16="http://schemas.microsoft.com/office/drawing/2014/main" id="{14B86A81-F146-4B21-8F38-248F270C44B5}"/>
              </a:ext>
            </a:extLst>
          </p:cNvPr>
          <p:cNvSpPr>
            <a:spLocks xmlns:a="http://schemas.openxmlformats.org/drawingml/2006/main" noGrp="1"/>
          </p:cNvSpPr>
          <p:nvPr/>
        </p:nvSpPr>
        <p:spPr>
          <a:xfrm xmlns:a="http://schemas.openxmlformats.org/drawingml/2006/main">
            <a:off x="1962150" y="323850"/>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処理時間と通信監査</a:t>
            </a:r>
          </a:p>
        </p:txBody>
      </p:sp>
      <p:sp>
        <p:nvSpPr>
          <p:cNvPr id="9" name="">
            <a:extLst xmlns:a="http://schemas.openxmlformats.org/drawingml/2006/main">
              <a:ext uri="{FF2B5EF4-FFF2-40B4-BE49-F238E27FC236}">
                <a16:creationId xmlns:a16="http://schemas.microsoft.com/office/drawing/2014/main" id="{50CD97DD-6488-49F4-8276-CF162B04367B}"/>
              </a:ext>
            </a:extLst>
          </p:cNvPr>
          <p:cNvSpPr>
            <a:spLocks xmlns:a="http://schemas.openxmlformats.org/drawingml/2006/main" noGrp="1"/>
          </p:cNvSpPr>
          <p:nvPr/>
        </p:nvSpPr>
        <p:spPr>
          <a:xfrm xmlns:a="http://schemas.openxmlformats.org/drawingml/2006/main">
            <a:off x="685800" y="10287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処理時間（秒）</a:t>
            </a:r>
          </a:p>
        </p:txBody>
      </p:sp>
      <p:graphicFrame>
        <p:nvGraphicFramePr>
          <p:cNvPr id="26" name=""/>
          <p:cNvGraphicFramePr/>
          <p:nvPr/>
        </p:nvGraphicFramePr>
        <p:xfrm>
          <a:off xmlns:a="http://schemas.openxmlformats.org/drawingml/2006/main" x="647700" y="1409700"/>
          <a:ext xmlns:a="http://schemas.openxmlformats.org/drawingml/2006/main" cx="10896600" cy="1752600"/>
        </p:xfrm>
        <a:graphic xmlns:a="http://schemas.openxmlformats.org/drawingml/2006/main">
          <a:graphicData uri="http://schemas.openxmlformats.org/drawingml/2006/table">
            <a:tbl>
              <a:tblPr/>
              <a:tblGrid>
                <a:gridCol w="552450"/>
                <a:gridCol w="1571625"/>
                <a:gridCol w="1381125"/>
                <a:gridCol w="1381125"/>
                <a:gridCol w="1952625"/>
                <a:gridCol w="2238375"/>
                <a:gridCol w="1819275"/>
              </a:tblGrid>
              <a:tr h="438150">
                <a:tc>
                  <a:txBody>
                    <a:bodyPr/>
                    <a:lstStyle/>
                    <a:p>
                      <a:r>
                        <a:rPr sz="1050" b="1">
                          <a:solidFill>
                            <a:srgbClr val="173B4B"/>
                          </a:solidFill>
                          <a:latin typeface="Yu Gothic"/>
                          <a:ea typeface="Yu Gothic"/>
                          <a:cs typeface="Yu Gothic"/>
                        </a:rPr>
                        <a:t>R</a:t>
                      </a:r>
                    </a:p>
                  </a:txBody>
                  <a:tcPr marL="91440" marR="91440" marT="45720" marB="45720"/>
                </a:tc>
                <a:tc>
                  <a:txBody>
                    <a:bodyPr/>
                    <a:lstStyle/>
                    <a:p>
                      <a:r>
                        <a:rPr sz="1050" b="1">
                          <a:solidFill>
                            <a:srgbClr val="173B4B"/>
                          </a:solidFill>
                          <a:latin typeface="Yu Gothic"/>
                          <a:ea typeface="Yu Gothic"/>
                          <a:cs typeface="Yu Gothic"/>
                        </a:rPr>
                        <a:t>現場側学習</a:t>
                      </a:r>
                    </a:p>
                  </a:txBody>
                  <a:tcPr marL="91440" marR="91440" marT="45720" marB="45720"/>
                </a:tc>
                <a:tc>
                  <a:txBody>
                    <a:bodyPr/>
                    <a:lstStyle/>
                    <a:p>
                      <a:r>
                        <a:rPr sz="1050" b="1">
                          <a:solidFill>
                            <a:srgbClr val="173B4B"/>
                          </a:solidFill>
                          <a:latin typeface="Yu Gothic"/>
                          <a:ea typeface="Yu Gothic"/>
                          <a:cs typeface="Yu Gothic"/>
                        </a:rPr>
                        <a:t>60本検索</a:t>
                      </a:r>
                    </a:p>
                  </a:txBody>
                  <a:tcPr marL="91440" marR="91440" marT="45720" marB="45720"/>
                </a:tc>
                <a:tc>
                  <a:txBody>
                    <a:bodyPr/>
                    <a:lstStyle/>
                    <a:p>
                      <a:r>
                        <a:rPr sz="1050" b="1">
                          <a:solidFill>
                            <a:srgbClr val="173B4B"/>
                          </a:solidFill>
                          <a:latin typeface="Yu Gothic"/>
                          <a:ea typeface="Yu Gothic"/>
                          <a:cs typeface="Yu Gothic"/>
                        </a:rPr>
                        <a:t>変換保存</a:t>
                      </a:r>
                    </a:p>
                  </a:txBody>
                  <a:tcPr marL="91440" marR="91440" marT="45720" marB="45720"/>
                </a:tc>
                <a:tc>
                  <a:txBody>
                    <a:bodyPr/>
                    <a:lstStyle/>
                    <a:p>
                      <a:r>
                        <a:rPr sz="1050" b="1">
                          <a:solidFill>
                            <a:srgbClr val="173B4B"/>
                          </a:solidFill>
                          <a:latin typeface="Yu Gothic"/>
                          <a:ea typeface="Yu Gothic"/>
                          <a:cs typeface="Yu Gothic"/>
                        </a:rPr>
                        <a:t>変化量・目的関数</a:t>
                      </a:r>
                    </a:p>
                  </a:txBody>
                  <a:tcPr marL="91440" marR="91440" marT="45720" marB="45720"/>
                </a:tc>
                <a:tc>
                  <a:txBody>
                    <a:bodyPr/>
                    <a:lstStyle/>
                    <a:p>
                      <a:r>
                        <a:rPr sz="1050" b="1">
                          <a:solidFill>
                            <a:srgbClr val="173B4B"/>
                          </a:solidFill>
                          <a:latin typeface="Yu Gothic"/>
                          <a:ea typeface="Yu Gothic"/>
                          <a:cs typeface="Yu Gothic"/>
                        </a:rPr>
                        <a:t>中央側AI読込・更新</a:t>
                      </a:r>
                    </a:p>
                  </a:txBody>
                  <a:tcPr marL="91440" marR="91440" marT="45720" marB="45720"/>
                </a:tc>
                <a:tc>
                  <a:txBody>
                    <a:bodyPr/>
                    <a:lstStyle/>
                    <a:p>
                      <a:r>
                        <a:rPr sz="1050" b="1">
                          <a:solidFill>
                            <a:srgbClr val="173B4B"/>
                          </a:solidFill>
                          <a:latin typeface="Yu Gothic"/>
                          <a:ea typeface="Yu Gothic"/>
                          <a:cs typeface="Yu Gothic"/>
                        </a:rPr>
                        <a:t>第2・3層合計</a:t>
                      </a:r>
                    </a:p>
                  </a:txBody>
                  <a:tcPr marL="91440" marR="91440" marT="45720" marB="45720"/>
                </a:tc>
              </a:tr>
              <a:tr h="438150">
                <a:tc>
                  <a:txBody>
                    <a:bodyPr/>
                    <a:lstStyle/>
                    <a:p>
                      <a:r>
                        <a:rPr sz="1200" b="0">
                          <a:solidFill>
                            <a:srgbClr val="26373D"/>
                          </a:solidFill>
                          <a:latin typeface="Yu Gothic"/>
                          <a:ea typeface="Yu Gothic"/>
                          <a:cs typeface="Yu Gothic"/>
                        </a:rPr>
                        <a:t>1</a:t>
                      </a:r>
                    </a:p>
                  </a:txBody>
                  <a:tcPr marL="91440" marR="91440" marT="45720" marB="45720"/>
                </a:tc>
                <a:tc>
                  <a:txBody>
                    <a:bodyPr/>
                    <a:lstStyle/>
                    <a:p>
                      <a:r>
                        <a:rPr sz="1200" b="0">
                          <a:solidFill>
                            <a:srgbClr val="26373D"/>
                          </a:solidFill>
                          <a:latin typeface="Yu Gothic"/>
                          <a:ea typeface="Yu Gothic"/>
                          <a:cs typeface="Yu Gothic"/>
                        </a:rPr>
                        <a:t>96.5</a:t>
                      </a:r>
                    </a:p>
                  </a:txBody>
                  <a:tcPr marL="91440" marR="91440" marT="45720" marB="45720"/>
                </a:tc>
                <a:tc>
                  <a:txBody>
                    <a:bodyPr/>
                    <a:lstStyle/>
                    <a:p>
                      <a:r>
                        <a:rPr sz="1200" b="0">
                          <a:solidFill>
                            <a:srgbClr val="26373D"/>
                          </a:solidFill>
                          <a:latin typeface="Yu Gothic"/>
                          <a:ea typeface="Yu Gothic"/>
                          <a:cs typeface="Yu Gothic"/>
                        </a:rPr>
                        <a:t>28.6</a:t>
                      </a:r>
                    </a:p>
                  </a:txBody>
                  <a:tcPr marL="91440" marR="91440" marT="45720" marB="45720"/>
                </a:tc>
                <a:tc>
                  <a:txBody>
                    <a:bodyPr/>
                    <a:lstStyle/>
                    <a:p>
                      <a:r>
                        <a:rPr sz="1200" b="0">
                          <a:solidFill>
                            <a:srgbClr val="26373D"/>
                          </a:solidFill>
                          <a:latin typeface="Yu Gothic"/>
                          <a:ea typeface="Yu Gothic"/>
                          <a:cs typeface="Yu Gothic"/>
                        </a:rPr>
                        <a:t>4.0</a:t>
                      </a:r>
                    </a:p>
                  </a:txBody>
                  <a:tcPr marL="91440" marR="91440" marT="45720" marB="45720"/>
                </a:tc>
                <a:tc>
                  <a:txBody>
                    <a:bodyPr/>
                    <a:lstStyle/>
                    <a:p>
                      <a:r>
                        <a:rPr sz="1200" b="0">
                          <a:solidFill>
                            <a:srgbClr val="26373D"/>
                          </a:solidFill>
                          <a:latin typeface="Yu Gothic"/>
                          <a:ea typeface="Yu Gothic"/>
                          <a:cs typeface="Yu Gothic"/>
                        </a:rPr>
                        <a:t>52.9</a:t>
                      </a:r>
                    </a:p>
                  </a:txBody>
                  <a:tcPr marL="91440" marR="91440" marT="45720" marB="45720"/>
                </a:tc>
                <a:tc>
                  <a:txBody>
                    <a:bodyPr/>
                    <a:lstStyle/>
                    <a:p>
                      <a:r>
                        <a:rPr sz="1200" b="0">
                          <a:solidFill>
                            <a:srgbClr val="26373D"/>
                          </a:solidFill>
                          <a:latin typeface="Yu Gothic"/>
                          <a:ea typeface="Yu Gothic"/>
                          <a:cs typeface="Yu Gothic"/>
                        </a:rPr>
                        <a:t>171.8</a:t>
                      </a:r>
                    </a:p>
                  </a:txBody>
                  <a:tcPr marL="91440" marR="91440" marT="45720" marB="45720"/>
                </a:tc>
                <a:tc>
                  <a:txBody>
                    <a:bodyPr/>
                    <a:lstStyle/>
                    <a:p>
                      <a:r>
                        <a:rPr sz="1200" b="0">
                          <a:solidFill>
                            <a:srgbClr val="26373D"/>
                          </a:solidFill>
                          <a:latin typeface="Yu Gothic"/>
                          <a:ea typeface="Yu Gothic"/>
                          <a:cs typeface="Yu Gothic"/>
                        </a:rPr>
                        <a:t>279.1</a:t>
                      </a:r>
                    </a:p>
                  </a:txBody>
                  <a:tcPr marL="91440" marR="91440" marT="45720" marB="45720"/>
                </a:tc>
              </a:tr>
              <a:tr h="438150">
                <a:tc>
                  <a:txBody>
                    <a:bodyPr/>
                    <a:lstStyle/>
                    <a:p>
                      <a:r>
                        <a:rPr sz="1200" b="0">
                          <a:solidFill>
                            <a:srgbClr val="26373D"/>
                          </a:solidFill>
                          <a:latin typeface="Yu Gothic"/>
                          <a:ea typeface="Yu Gothic"/>
                          <a:cs typeface="Yu Gothic"/>
                        </a:rPr>
                        <a:t>2</a:t>
                      </a:r>
                    </a:p>
                  </a:txBody>
                  <a:tcPr marL="91440" marR="91440" marT="45720" marB="45720"/>
                </a:tc>
                <a:tc>
                  <a:txBody>
                    <a:bodyPr/>
                    <a:lstStyle/>
                    <a:p>
                      <a:r>
                        <a:rPr sz="1200" b="0">
                          <a:solidFill>
                            <a:srgbClr val="26373D"/>
                          </a:solidFill>
                          <a:latin typeface="Yu Gothic"/>
                          <a:ea typeface="Yu Gothic"/>
                          <a:cs typeface="Yu Gothic"/>
                        </a:rPr>
                        <a:t>97.1</a:t>
                      </a:r>
                    </a:p>
                  </a:txBody>
                  <a:tcPr marL="91440" marR="91440" marT="45720" marB="45720"/>
                </a:tc>
                <a:tc>
                  <a:txBody>
                    <a:bodyPr/>
                    <a:lstStyle/>
                    <a:p>
                      <a:r>
                        <a:rPr sz="1200" b="0">
                          <a:solidFill>
                            <a:srgbClr val="26373D"/>
                          </a:solidFill>
                          <a:latin typeface="Yu Gothic"/>
                          <a:ea typeface="Yu Gothic"/>
                          <a:cs typeface="Yu Gothic"/>
                        </a:rPr>
                        <a:t>27.0</a:t>
                      </a:r>
                    </a:p>
                  </a:txBody>
                  <a:tcPr marL="91440" marR="91440" marT="45720" marB="45720"/>
                </a:tc>
                <a:tc>
                  <a:txBody>
                    <a:bodyPr/>
                    <a:lstStyle/>
                    <a:p>
                      <a:r>
                        <a:rPr sz="1200" b="0">
                          <a:solidFill>
                            <a:srgbClr val="26373D"/>
                          </a:solidFill>
                          <a:latin typeface="Yu Gothic"/>
                          <a:ea typeface="Yu Gothic"/>
                          <a:cs typeface="Yu Gothic"/>
                        </a:rPr>
                        <a:t>4.1</a:t>
                      </a:r>
                    </a:p>
                  </a:txBody>
                  <a:tcPr marL="91440" marR="91440" marT="45720" marB="45720"/>
                </a:tc>
                <a:tc>
                  <a:txBody>
                    <a:bodyPr/>
                    <a:lstStyle/>
                    <a:p>
                      <a:r>
                        <a:rPr sz="1200" b="0">
                          <a:solidFill>
                            <a:srgbClr val="26373D"/>
                          </a:solidFill>
                          <a:latin typeface="Yu Gothic"/>
                          <a:ea typeface="Yu Gothic"/>
                          <a:cs typeface="Yu Gothic"/>
                        </a:rPr>
                        <a:t>52.7</a:t>
                      </a:r>
                    </a:p>
                  </a:txBody>
                  <a:tcPr marL="91440" marR="91440" marT="45720" marB="45720"/>
                </a:tc>
                <a:tc>
                  <a:txBody>
                    <a:bodyPr/>
                    <a:lstStyle/>
                    <a:p>
                      <a:r>
                        <a:rPr sz="1200" b="0">
                          <a:solidFill>
                            <a:srgbClr val="26373D"/>
                          </a:solidFill>
                          <a:latin typeface="Yu Gothic"/>
                          <a:ea typeface="Yu Gothic"/>
                          <a:cs typeface="Yu Gothic"/>
                        </a:rPr>
                        <a:t>173.6</a:t>
                      </a:r>
                    </a:p>
                  </a:txBody>
                  <a:tcPr marL="91440" marR="91440" marT="45720" marB="45720"/>
                </a:tc>
                <a:tc>
                  <a:txBody>
                    <a:bodyPr/>
                    <a:lstStyle/>
                    <a:p>
                      <a:r>
                        <a:rPr sz="1200" b="0">
                          <a:solidFill>
                            <a:srgbClr val="26373D"/>
                          </a:solidFill>
                          <a:latin typeface="Yu Gothic"/>
                          <a:ea typeface="Yu Gothic"/>
                          <a:cs typeface="Yu Gothic"/>
                        </a:rPr>
                        <a:t>272.5</a:t>
                      </a:r>
                    </a:p>
                  </a:txBody>
                  <a:tcPr marL="91440" marR="91440" marT="45720" marB="45720"/>
                </a:tc>
              </a:tr>
              <a:tr h="438150">
                <a:tc>
                  <a:txBody>
                    <a:bodyPr/>
                    <a:lstStyle/>
                    <a:p>
                      <a:r>
                        <a:rPr sz="1200" b="0">
                          <a:solidFill>
                            <a:srgbClr val="26373D"/>
                          </a:solidFill>
                          <a:latin typeface="Yu Gothic"/>
                          <a:ea typeface="Yu Gothic"/>
                          <a:cs typeface="Yu Gothic"/>
                        </a:rPr>
                        <a:t>3</a:t>
                      </a:r>
                    </a:p>
                  </a:txBody>
                  <a:tcPr marL="91440" marR="91440" marT="45720" marB="45720"/>
                </a:tc>
                <a:tc>
                  <a:txBody>
                    <a:bodyPr/>
                    <a:lstStyle/>
                    <a:p>
                      <a:r>
                        <a:rPr sz="1200" b="0">
                          <a:solidFill>
                            <a:srgbClr val="26373D"/>
                          </a:solidFill>
                          <a:latin typeface="Yu Gothic"/>
                          <a:ea typeface="Yu Gothic"/>
                          <a:cs typeface="Yu Gothic"/>
                        </a:rPr>
                        <a:t>131.0</a:t>
                      </a:r>
                    </a:p>
                  </a:txBody>
                  <a:tcPr marL="91440" marR="91440" marT="45720" marB="45720"/>
                </a:tc>
                <a:tc>
                  <a:txBody>
                    <a:bodyPr/>
                    <a:lstStyle/>
                    <a:p>
                      <a:r>
                        <a:rPr sz="1200" b="0">
                          <a:solidFill>
                            <a:srgbClr val="26373D"/>
                          </a:solidFill>
                          <a:latin typeface="Yu Gothic"/>
                          <a:ea typeface="Yu Gothic"/>
                          <a:cs typeface="Yu Gothic"/>
                        </a:rPr>
                        <a:t>27.1</a:t>
                      </a:r>
                    </a:p>
                  </a:txBody>
                  <a:tcPr marL="91440" marR="91440" marT="45720" marB="45720"/>
                </a:tc>
                <a:tc>
                  <a:txBody>
                    <a:bodyPr/>
                    <a:lstStyle/>
                    <a:p>
                      <a:r>
                        <a:rPr sz="1200" b="0">
                          <a:solidFill>
                            <a:srgbClr val="26373D"/>
                          </a:solidFill>
                          <a:latin typeface="Yu Gothic"/>
                          <a:ea typeface="Yu Gothic"/>
                          <a:cs typeface="Yu Gothic"/>
                        </a:rPr>
                        <a:t>4.2</a:t>
                      </a:r>
                    </a:p>
                  </a:txBody>
                  <a:tcPr marL="91440" marR="91440" marT="45720" marB="45720"/>
                </a:tc>
                <a:tc>
                  <a:txBody>
                    <a:bodyPr/>
                    <a:lstStyle/>
                    <a:p>
                      <a:r>
                        <a:rPr sz="1200" b="0">
                          <a:solidFill>
                            <a:srgbClr val="26373D"/>
                          </a:solidFill>
                          <a:latin typeface="Yu Gothic"/>
                          <a:ea typeface="Yu Gothic"/>
                          <a:cs typeface="Yu Gothic"/>
                        </a:rPr>
                        <a:t>52.7</a:t>
                      </a:r>
                    </a:p>
                  </a:txBody>
                  <a:tcPr marL="91440" marR="91440" marT="45720" marB="45720"/>
                </a:tc>
                <a:tc>
                  <a:txBody>
                    <a:bodyPr/>
                    <a:lstStyle/>
                    <a:p>
                      <a:r>
                        <a:rPr sz="1200" b="0">
                          <a:solidFill>
                            <a:srgbClr val="26373D"/>
                          </a:solidFill>
                          <a:latin typeface="Yu Gothic"/>
                          <a:ea typeface="Yu Gothic"/>
                          <a:cs typeface="Yu Gothic"/>
                        </a:rPr>
                        <a:t>178.2</a:t>
                      </a:r>
                    </a:p>
                  </a:txBody>
                  <a:tcPr marL="91440" marR="91440" marT="45720" marB="45720"/>
                </a:tc>
                <a:tc>
                  <a:txBody>
                    <a:bodyPr/>
                    <a:lstStyle/>
                    <a:p>
                      <a:r>
                        <a:rPr sz="1200" b="0">
                          <a:solidFill>
                            <a:srgbClr val="26373D"/>
                          </a:solidFill>
                          <a:latin typeface="Yu Gothic"/>
                          <a:ea typeface="Yu Gothic"/>
                          <a:cs typeface="Yu Gothic"/>
                        </a:rPr>
                        <a:t>277.3</a:t>
                      </a:r>
                    </a:p>
                  </a:txBody>
                  <a:tcPr marL="91440" marR="91440" marT="45720" marB="45720"/>
                </a:tc>
              </a:tr>
            </a:tbl>
          </a:graphicData>
        </a:graphic>
      </p:graphicFrame>
      <p:sp>
        <p:nvSpPr>
          <p:cNvPr id="11" name="">
            <a:extLst xmlns:a="http://schemas.openxmlformats.org/drawingml/2006/main">
              <a:ext uri="{FF2B5EF4-FFF2-40B4-BE49-F238E27FC236}">
                <a16:creationId xmlns:a16="http://schemas.microsoft.com/office/drawing/2014/main" id="{05C08591-16D6-432C-B3E8-C775341653A5}"/>
              </a:ext>
            </a:extLst>
          </p:cNvPr>
          <p:cNvSpPr>
            <a:spLocks xmlns:a="http://schemas.openxmlformats.org/drawingml/2006/main" noGrp="1"/>
          </p:cNvSpPr>
          <p:nvPr/>
        </p:nvSpPr>
        <p:spPr>
          <a:xfrm xmlns:a="http://schemas.openxmlformats.org/drawingml/2006/main">
            <a:off x="704850" y="348615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3B4B"/>
                </a:solidFill>
                <a:latin typeface="Yu Gothic"/>
                <a:ea typeface="Yu Gothic"/>
                <a:cs typeface="Yu Gothic"/>
              </a:defRPr>
            </a:pPr>
            <a:r>
              <a:rPr sz="1500" b="1">
                <a:solidFill>
                  <a:srgbClr val="173B4B"/>
                </a:solidFill>
                <a:latin typeface="Yu Gothic"/>
                <a:ea typeface="Yu Gothic"/>
                <a:cs typeface="Yu Gothic"/>
              </a:rPr>
              <a:t>中央側候補60本の正解ラベルと、連合集約後の小型AIの判定</a:t>
            </a:r>
          </a:p>
        </p:txBody>
      </p:sp>
      <p:graphicFrame>
        <p:nvGraphicFramePr>
          <p:cNvPr id="28" name=""/>
          <p:cNvGraphicFramePr/>
          <p:nvPr/>
        </p:nvGraphicFramePr>
        <p:xfrm>
          <a:off xmlns:a="http://schemas.openxmlformats.org/drawingml/2006/main" x="723900" y="3943350"/>
          <a:ext xmlns:a="http://schemas.openxmlformats.org/drawingml/2006/main" cx="4762500" cy="1676400"/>
        </p:xfrm>
        <a:graphic xmlns:a="http://schemas.openxmlformats.org/drawingml/2006/main">
          <a:graphicData uri="http://schemas.openxmlformats.org/drawingml/2006/table">
            <a:tbl>
              <a:tblPr/>
              <a:tblGrid>
                <a:gridCol w="1428750"/>
                <a:gridCol w="1714500"/>
                <a:gridCol w="1619250"/>
              </a:tblGrid>
              <a:tr h="419100">
                <a:tc>
                  <a:txBody>
                    <a:bodyPr/>
                    <a:lstStyle/>
                    <a:p>
                      <a:r>
                        <a:rPr sz="1100" b="1">
                          <a:solidFill>
                            <a:srgbClr val="173B4B"/>
                          </a:solidFill>
                          <a:latin typeface="Yu Gothic"/>
                          <a:ea typeface="Yu Gothic"/>
                          <a:cs typeface="Yu Gothic"/>
                        </a:rPr>
                        <a:t>ラウンド</a:t>
                      </a:r>
                    </a:p>
                  </a:txBody>
                  <a:tcPr marL="91440" marR="91440" marT="45720" marB="45720"/>
                </a:tc>
                <a:tc>
                  <a:txBody>
                    <a:bodyPr/>
                    <a:lstStyle/>
                    <a:p>
                      <a:r>
                        <a:rPr sz="1100" b="1">
                          <a:solidFill>
                            <a:srgbClr val="173B4B"/>
                          </a:solidFill>
                          <a:latin typeface="Yu Gothic"/>
                          <a:ea typeface="Yu Gothic"/>
                          <a:cs typeface="Yu Gothic"/>
                        </a:rPr>
                        <a:t>一致本数</a:t>
                      </a:r>
                    </a:p>
                  </a:txBody>
                  <a:tcPr marL="91440" marR="91440" marT="45720" marB="45720"/>
                </a:tc>
                <a:tc>
                  <a:txBody>
                    <a:bodyPr/>
                    <a:lstStyle/>
                    <a:p>
                      <a:r>
                        <a:rPr sz="1100" b="1">
                          <a:solidFill>
                            <a:srgbClr val="173B4B"/>
                          </a:solidFill>
                          <a:latin typeface="Yu Gothic"/>
                          <a:ea typeface="Yu Gothic"/>
                          <a:cs typeface="Yu Gothic"/>
                        </a:rPr>
                        <a:t>割合</a:t>
                      </a:r>
                    </a:p>
                  </a:txBody>
                  <a:tcPr marL="91440" marR="91440" marT="45720" marB="45720"/>
                </a:tc>
              </a:tr>
              <a:tr h="419100">
                <a:tc>
                  <a:txBody>
                    <a:bodyPr/>
                    <a:lstStyle/>
                    <a:p>
                      <a:r>
                        <a:rPr sz="1200" b="0">
                          <a:solidFill>
                            <a:srgbClr val="26373D"/>
                          </a:solidFill>
                          <a:latin typeface="Yu Gothic"/>
                          <a:ea typeface="Yu Gothic"/>
                          <a:cs typeface="Yu Gothic"/>
                        </a:rPr>
                        <a:t>1</a:t>
                      </a:r>
                    </a:p>
                  </a:txBody>
                  <a:tcPr marL="91440" marR="91440" marT="45720" marB="45720"/>
                </a:tc>
                <a:tc>
                  <a:txBody>
                    <a:bodyPr/>
                    <a:lstStyle/>
                    <a:p>
                      <a:r>
                        <a:rPr sz="1200" b="0">
                          <a:solidFill>
                            <a:srgbClr val="26373D"/>
                          </a:solidFill>
                          <a:latin typeface="Yu Gothic"/>
                          <a:ea typeface="Yu Gothic"/>
                          <a:cs typeface="Yu Gothic"/>
                        </a:rPr>
                        <a:t>43／60</a:t>
                      </a:r>
                    </a:p>
                  </a:txBody>
                  <a:tcPr marL="91440" marR="91440" marT="45720" marB="45720"/>
                </a:tc>
                <a:tc>
                  <a:txBody>
                    <a:bodyPr/>
                    <a:lstStyle/>
                    <a:p>
                      <a:r>
                        <a:rPr sz="1200" b="0">
                          <a:solidFill>
                            <a:srgbClr val="26373D"/>
                          </a:solidFill>
                          <a:latin typeface="Yu Gothic"/>
                          <a:ea typeface="Yu Gothic"/>
                          <a:cs typeface="Yu Gothic"/>
                        </a:rPr>
                        <a:t>71.7%</a:t>
                      </a:r>
                    </a:p>
                  </a:txBody>
                  <a:tcPr marL="91440" marR="91440" marT="45720" marB="45720"/>
                </a:tc>
              </a:tr>
              <a:tr h="419100">
                <a:tc>
                  <a:txBody>
                    <a:bodyPr/>
                    <a:lstStyle/>
                    <a:p>
                      <a:r>
                        <a:rPr sz="1200" b="0">
                          <a:solidFill>
                            <a:srgbClr val="26373D"/>
                          </a:solidFill>
                          <a:latin typeface="Yu Gothic"/>
                          <a:ea typeface="Yu Gothic"/>
                          <a:cs typeface="Yu Gothic"/>
                        </a:rPr>
                        <a:t>2</a:t>
                      </a:r>
                    </a:p>
                  </a:txBody>
                  <a:tcPr marL="91440" marR="91440" marT="45720" marB="45720"/>
                </a:tc>
                <a:tc>
                  <a:txBody>
                    <a:bodyPr/>
                    <a:lstStyle/>
                    <a:p>
                      <a:r>
                        <a:rPr sz="1200" b="0">
                          <a:solidFill>
                            <a:srgbClr val="26373D"/>
                          </a:solidFill>
                          <a:latin typeface="Yu Gothic"/>
                          <a:ea typeface="Yu Gothic"/>
                          <a:cs typeface="Yu Gothic"/>
                        </a:rPr>
                        <a:t>44／60</a:t>
                      </a:r>
                    </a:p>
                  </a:txBody>
                  <a:tcPr marL="91440" marR="91440" marT="45720" marB="45720"/>
                </a:tc>
                <a:tc>
                  <a:txBody>
                    <a:bodyPr/>
                    <a:lstStyle/>
                    <a:p>
                      <a:r>
                        <a:rPr sz="1200" b="0">
                          <a:solidFill>
                            <a:srgbClr val="26373D"/>
                          </a:solidFill>
                          <a:latin typeface="Yu Gothic"/>
                          <a:ea typeface="Yu Gothic"/>
                          <a:cs typeface="Yu Gothic"/>
                        </a:rPr>
                        <a:t>73.3%</a:t>
                      </a:r>
                    </a:p>
                  </a:txBody>
                  <a:tcPr marL="91440" marR="91440" marT="45720" marB="45720"/>
                </a:tc>
              </a:tr>
              <a:tr h="419100">
                <a:tc>
                  <a:txBody>
                    <a:bodyPr/>
                    <a:lstStyle/>
                    <a:p>
                      <a:r>
                        <a:rPr sz="1200" b="0">
                          <a:solidFill>
                            <a:srgbClr val="26373D"/>
                          </a:solidFill>
                          <a:latin typeface="Yu Gothic"/>
                          <a:ea typeface="Yu Gothic"/>
                          <a:cs typeface="Yu Gothic"/>
                        </a:rPr>
                        <a:t>3</a:t>
                      </a:r>
                    </a:p>
                  </a:txBody>
                  <a:tcPr marL="91440" marR="91440" marT="45720" marB="45720"/>
                </a:tc>
                <a:tc>
                  <a:txBody>
                    <a:bodyPr/>
                    <a:lstStyle/>
                    <a:p>
                      <a:r>
                        <a:rPr sz="1200" b="0">
                          <a:solidFill>
                            <a:srgbClr val="26373D"/>
                          </a:solidFill>
                          <a:latin typeface="Yu Gothic"/>
                          <a:ea typeface="Yu Gothic"/>
                          <a:cs typeface="Yu Gothic"/>
                        </a:rPr>
                        <a:t>43／60</a:t>
                      </a:r>
                    </a:p>
                  </a:txBody>
                  <a:tcPr marL="91440" marR="91440" marT="45720" marB="45720"/>
                </a:tc>
                <a:tc>
                  <a:txBody>
                    <a:bodyPr/>
                    <a:lstStyle/>
                    <a:p>
                      <a:r>
                        <a:rPr sz="1200" b="0">
                          <a:solidFill>
                            <a:srgbClr val="26373D"/>
                          </a:solidFill>
                          <a:latin typeface="Yu Gothic"/>
                          <a:ea typeface="Yu Gothic"/>
                          <a:cs typeface="Yu Gothic"/>
                        </a:rPr>
                        <a:t>71.7%</a:t>
                      </a:r>
                    </a:p>
                  </a:txBody>
                  <a:tcPr marL="91440" marR="91440" marT="45720" marB="45720"/>
                </a:tc>
              </a:tr>
            </a:tbl>
          </a:graphicData>
        </a:graphic>
      </p:graphicFrame>
      <p:sp>
        <p:nvSpPr>
          <p:cNvPr id="13" name="">
            <a:extLst xmlns:a="http://schemas.openxmlformats.org/drawingml/2006/main">
              <a:ext uri="{FF2B5EF4-FFF2-40B4-BE49-F238E27FC236}">
                <a16:creationId xmlns:a16="http://schemas.microsoft.com/office/drawing/2014/main" id="{CE7640E3-A6B1-4469-A01C-3CA008D5274B}"/>
              </a:ext>
            </a:extLst>
          </p:cNvPr>
          <p:cNvSpPr>
            <a:spLocks xmlns:a="http://schemas.openxmlformats.org/drawingml/2006/main" noGrp="1"/>
          </p:cNvSpPr>
          <p:nvPr/>
        </p:nvSpPr>
        <p:spPr>
          <a:xfrm xmlns:a="http://schemas.openxmlformats.org/drawingml/2006/main">
            <a:off x="6324600" y="34861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3B4B"/>
                </a:solidFill>
                <a:latin typeface="Yu Gothic"/>
                <a:ea typeface="Yu Gothic"/>
                <a:cs typeface="Yu Gothic"/>
              </a:defRPr>
            </a:pPr>
            <a:r>
              <a:rPr sz="1500" b="1">
                <a:solidFill>
                  <a:srgbClr val="173B4B"/>
                </a:solidFill>
                <a:latin typeface="Yu Gothic"/>
                <a:ea typeface="Yu Gothic"/>
                <a:cs typeface="Yu Gothic"/>
              </a:rPr>
              <a:t>通信・更新対象の監査</a:t>
            </a:r>
          </a:p>
        </p:txBody>
      </p:sp>
      <p:sp>
        <p:nvSpPr>
          <p:cNvPr id="14" name="">
            <a:extLst xmlns:a="http://schemas.openxmlformats.org/drawingml/2006/main">
              <a:ext uri="{FF2B5EF4-FFF2-40B4-BE49-F238E27FC236}">
                <a16:creationId xmlns:a16="http://schemas.microsoft.com/office/drawing/2014/main" id="{55AAC7B2-A18F-4B1D-B01F-2CE981F53D58}"/>
              </a:ext>
            </a:extLst>
          </p:cNvPr>
          <p:cNvSpPr>
            <a:spLocks xmlns:a="http://schemas.openxmlformats.org/drawingml/2006/main" noGrp="1"/>
          </p:cNvSpPr>
          <p:nvPr/>
        </p:nvSpPr>
        <p:spPr>
          <a:xfrm xmlns:a="http://schemas.openxmlformats.org/drawingml/2006/main">
            <a:off x="6324600" y="3981450"/>
            <a:ext cx="4953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562"/>
          </a:bodyPr>
          <a:lstStyle xmlns:a="http://schemas.openxmlformats.org/drawingml/2006/main"/>
          <a:p xmlns:a="http://schemas.openxmlformats.org/drawingml/2006/main">
            <a:pPr algn="l">
              <a:lnSpc>
                <a:spcPct val="116000"/>
              </a:lnSpc>
              <a:buNone/>
              <a:defRPr sz="1500" b="0">
                <a:solidFill>
                  <a:srgbClr val="26373D"/>
                </a:solidFill>
                <a:latin typeface="Yu Gothic"/>
                <a:ea typeface="Yu Gothic"/>
                <a:cs typeface="Yu Gothic"/>
              </a:defRPr>
            </a:pPr>
            <a:r>
              <a:rPr sz="1500" b="0">
                <a:solidFill>
                  <a:srgbClr val="26373D"/>
                </a:solidFill>
                <a:latin typeface="Yu Gothic"/>
                <a:ea typeface="Yu Gothic"/>
                <a:cs typeface="Yu Gothic"/>
              </a:rPr>
              <a:t>3／3ラウンド　生の動画・画像・現場内の識別番号を中央側へ保存していない</a:t>
            </a:r>
          </a:p>
          <a:p xmlns:a="http://schemas.openxmlformats.org/drawingml/2006/main">
            <a:pPr algn="l">
              <a:lnSpc>
                <a:spcPct val="116000"/>
              </a:lnSpc>
              <a:buNone/>
              <a:defRPr sz="1500" b="0">
                <a:solidFill>
                  <a:srgbClr val="26373D"/>
                </a:solidFill>
                <a:latin typeface="Yu Gothic"/>
                <a:ea typeface="Yu Gothic"/>
                <a:cs typeface="Yu Gothic"/>
              </a:defRPr>
            </a:pPr>
            <a:r>
              <a:rPr sz="1500" b="0">
                <a:solidFill>
                  <a:srgbClr val="26373D"/>
                </a:solidFill>
                <a:latin typeface="Yu Gothic"/>
                <a:ea typeface="Yu Gothic"/>
                <a:cs typeface="Yu Gothic"/>
              </a:rPr>
              <a:t>6／6送信　許可した項目だけを送信</a:t>
            </a:r>
          </a:p>
          <a:p xmlns:a="http://schemas.openxmlformats.org/drawingml/2006/main">
            <a:pPr algn="l">
              <a:lnSpc>
                <a:spcPct val="116000"/>
              </a:lnSpc>
              <a:buNone/>
              <a:defRPr sz="1500" b="0">
                <a:solidFill>
                  <a:srgbClr val="26373D"/>
                </a:solidFill>
                <a:latin typeface="Yu Gothic"/>
                <a:ea typeface="Yu Gothic"/>
                <a:cs typeface="Yu Gothic"/>
              </a:defRPr>
            </a:pPr>
            <a:r>
              <a:rPr sz="1500" b="0">
                <a:solidFill>
                  <a:srgbClr val="26373D"/>
                </a:solidFill>
                <a:latin typeface="Yu Gothic"/>
                <a:ea typeface="Yu Gothic"/>
                <a:cs typeface="Yu Gothic"/>
              </a:rPr>
              <a:t>3／3ラウンド　中央側AIの分類層と更新対象外部分は不変</a:t>
            </a:r>
          </a:p>
        </p:txBody>
      </p:sp>
      <p:sp>
        <p:nvSpPr>
          <p:cNvPr id="15" name="">
            <a:extLst xmlns:a="http://schemas.openxmlformats.org/drawingml/2006/main">
              <a:ext uri="{FF2B5EF4-FFF2-40B4-BE49-F238E27FC236}">
                <a16:creationId xmlns:a16="http://schemas.microsoft.com/office/drawing/2014/main" id="{DA5F1606-0072-4434-8861-A6392AA9BF39}"/>
              </a:ext>
            </a:extLst>
          </p:cNvPr>
          <p:cNvSpPr>
            <a:spLocks xmlns:a="http://schemas.openxmlformats.org/drawingml/2006/main" noGrp="1"/>
          </p:cNvSpPr>
          <p:nvPr/>
        </p:nvSpPr>
        <p:spPr>
          <a:xfrm xmlns:a="http://schemas.openxmlformats.org/drawingml/2006/main">
            <a:off x="6267450" y="5619750"/>
            <a:ext cx="5086350" cy="5143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500DFF2-6D5C-4144-BDCD-73EDBACC0197}"/>
              </a:ext>
            </a:extLst>
          </p:cNvPr>
          <p:cNvSpPr>
            <a:spLocks xmlns:a="http://schemas.openxmlformats.org/drawingml/2006/main" noGrp="1"/>
          </p:cNvSpPr>
          <p:nvPr/>
        </p:nvSpPr>
        <p:spPr>
          <a:xfrm xmlns:a="http://schemas.openxmlformats.org/drawingml/2006/main">
            <a:off x="6438900" y="57435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75"/>
          </a:bodyPr>
          <a:lstStyle xmlns:a="http://schemas.openxmlformats.org/drawingml/2006/main"/>
          <a:p xmlns:a="http://schemas.openxmlformats.org/drawingml/2006/main">
            <a:pPr algn="ctr">
              <a:defRPr sz="1350" b="1">
                <a:solidFill>
                  <a:srgbClr val="B94A3A"/>
                </a:solidFill>
                <a:latin typeface="Yu Gothic"/>
                <a:ea typeface="Yu Gothic"/>
                <a:cs typeface="Yu Gothic"/>
              </a:defRPr>
            </a:pPr>
            <a:r>
              <a:rPr sz="1350" b="1">
                <a:solidFill>
                  <a:srgbClr val="B94A3A"/>
                </a:solidFill>
                <a:latin typeface="Yu Gothic"/>
                <a:ea typeface="Yu Gothic"/>
                <a:cs typeface="Yu Gothic"/>
              </a:rPr>
              <a:t>通信監査は実装確認であり、形式的なプライバシー保証ではない</a:t>
            </a:r>
          </a:p>
        </p:txBody>
      </p:sp>
    </p:spTree>
    <p:extLst>
      <p:ext uri="{BB962C8B-B14F-4D97-AF65-F5344CB8AC3E}">
        <p14:creationId xmlns:p14="http://schemas.microsoft.com/office/powerpoint/2010/main" val="4190118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2026-09-18T00:26:57.8300000Z</dcterms:created>
  <dcterms:modified xsi:type="dcterms:W3CDTF">2026-09-18T00:26:57.8300000Z</dcterms:modified>
</coreProperties>
</file>