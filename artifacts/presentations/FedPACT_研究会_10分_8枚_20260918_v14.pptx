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36abf99b3f4930" /><Relationship Type="http://schemas.openxmlformats.org/officeDocument/2006/relationships/extended-properties" Target="/docProps/app.xml" Id="Re00b0f51dc264d99" /><Relationship Type="http://schemas.openxmlformats.org/officeDocument/2006/relationships/officeDocument" Target="/ppt/presentation.xml" Id="R55c78c8dc8334325" /></Relationships>
</file>

<file path=ppt/presentation.xml><?xml version="1.0" encoding="utf-8"?>
<p:presentation xmlns:p="http://schemas.openxmlformats.org/presentationml/2006/main">
  <p:sldMasterIdLst>
    <p:sldMasterId xmlns:r="http://schemas.openxmlformats.org/officeDocument/2006/relationships" id="2147483648" r:id="Rd9489ea21a1946d4"/>
  </p:sldMasterIdLst>
  <p:notesMasterIdLst>
    <p:notesMasterId xmlns:r="http://schemas.openxmlformats.org/officeDocument/2006/relationships" r:id="R3ce4b26a5d0b4c7f"/>
  </p:notesMasterIdLst>
  <p:sldIdLst>
    <p:sldId xmlns:r="http://schemas.openxmlformats.org/officeDocument/2006/relationships" id="256" r:id="R664855d408d54b19"/>
    <p:sldId xmlns:r="http://schemas.openxmlformats.org/officeDocument/2006/relationships" id="257" r:id="R6d5cfac270ac4a00"/>
    <p:sldId xmlns:r="http://schemas.openxmlformats.org/officeDocument/2006/relationships" id="258" r:id="R2191ee6df7a742bd"/>
    <p:sldId xmlns:r="http://schemas.openxmlformats.org/officeDocument/2006/relationships" id="259" r:id="R9368a83fcdd64a42"/>
    <p:sldId xmlns:r="http://schemas.openxmlformats.org/officeDocument/2006/relationships" id="260" r:id="Rac8ee240dde44c3c"/>
    <p:sldId xmlns:r="http://schemas.openxmlformats.org/officeDocument/2006/relationships" id="261" r:id="Rd0f45e26fdfd4e4c"/>
    <p:sldId xmlns:r="http://schemas.openxmlformats.org/officeDocument/2006/relationships" id="262" r:id="Ra426d9d83c874072"/>
    <p:sldId xmlns:r="http://schemas.openxmlformats.org/officeDocument/2006/relationships" id="263" r:id="R75882caa39e548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e1cc778fac4aa2" /><Relationship Type="http://schemas.openxmlformats.org/officeDocument/2006/relationships/slideMaster" Target="/ppt/slideMasters/slideMaster1.xml" Id="Rd9489ea21a1946d4" /><Relationship Type="http://schemas.openxmlformats.org/officeDocument/2006/relationships/notesMaster" Target="/ppt/notesMasters/notesMaster1.xml" Id="R3ce4b26a5d0b4c7f" /><Relationship Type="http://schemas.openxmlformats.org/officeDocument/2006/relationships/presProps" Target="/ppt/presProps.xml" Id="R3b90178191f34235" /><Relationship Type="http://schemas.openxmlformats.org/officeDocument/2006/relationships/tableStyles" Target="/ppt/tableStyles.xml" Id="Re71f48f6941a4bb1" /><Relationship Type="http://schemas.openxmlformats.org/officeDocument/2006/relationships/slide" Target="/ppt/slides/slide1.xml" Id="R664855d408d54b19" /><Relationship Type="http://schemas.openxmlformats.org/officeDocument/2006/relationships/slide" Target="/ppt/slides/slide2.xml" Id="R6d5cfac270ac4a00" /><Relationship Type="http://schemas.openxmlformats.org/officeDocument/2006/relationships/slide" Target="/ppt/slides/slide3.xml" Id="R2191ee6df7a742bd" /><Relationship Type="http://schemas.openxmlformats.org/officeDocument/2006/relationships/slide" Target="/ppt/slides/slide4.xml" Id="R9368a83fcdd64a42" /><Relationship Type="http://schemas.openxmlformats.org/officeDocument/2006/relationships/slide" Target="/ppt/slides/slide5.xml" Id="Rac8ee240dde44c3c" /><Relationship Type="http://schemas.openxmlformats.org/officeDocument/2006/relationships/slide" Target="/ppt/slides/slide6.xml" Id="Rd0f45e26fdfd4e4c" /><Relationship Type="http://schemas.openxmlformats.org/officeDocument/2006/relationships/slide" Target="/ppt/slides/slide7.xml" Id="Ra426d9d83c874072" /><Relationship Type="http://schemas.openxmlformats.org/officeDocument/2006/relationships/slide" Target="/ppt/slides/slide8.xml" Id="R75882caa39e548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650af39ac544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e476ae89d7420f" /><Relationship Type="http://schemas.openxmlformats.org/officeDocument/2006/relationships/notesMaster" Target="/ppt/notesMasters/notesMaster1.xml" Id="R2670aee93f8d43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040b8093ec4901" /><Relationship Type="http://schemas.openxmlformats.org/officeDocument/2006/relationships/notesMaster" Target="/ppt/notesMasters/notesMaster1.xml" Id="R58f22f777eaa47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e70de33c9042e9" /><Relationship Type="http://schemas.openxmlformats.org/officeDocument/2006/relationships/notesMaster" Target="/ppt/notesMasters/notesMaster1.xml" Id="R72b41e5f09f74f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5aa251633448c8" /><Relationship Type="http://schemas.openxmlformats.org/officeDocument/2006/relationships/notesMaster" Target="/ppt/notesMasters/notesMaster1.xml" Id="R889219659d0442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a6066c3c5c4a6d" /><Relationship Type="http://schemas.openxmlformats.org/officeDocument/2006/relationships/notesMaster" Target="/ppt/notesMasters/notesMaster1.xml" Id="R6412e1b6afef46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10a1ab52544c3f" /><Relationship Type="http://schemas.openxmlformats.org/officeDocument/2006/relationships/notesMaster" Target="/ppt/notesMasters/notesMaster1.xml" Id="Rc34f32dc03794c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c62ba042b445c1" /><Relationship Type="http://schemas.openxmlformats.org/officeDocument/2006/relationships/notesMaster" Target="/ppt/notesMasters/notesMaster1.xml" Id="Re325fd3aaa384b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b4b8f1e6aa4879" /><Relationship Type="http://schemas.openxmlformats.org/officeDocument/2006/relationships/notesMaster" Target="/ppt/notesMasters/notesMaster1.xml" Id="R53994b93d2a940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0:00–1:10】</a:t>
            </a:r>
          </a:p>
          <a:p xmlns:a="http://schemas.openxmlformats.org/drawingml/2006/main">
            <a:r>
              <a:t>今回は、複数の自動運転車やロボットが、同じ危険判定を行う場面を想定しています。判定内容は共通でも、場所や時間、天候が違うため、それぞれが経験する動画は異なります。ある現場で得た経験をサービス全体へ反映できれば、中央側のAIも継続的に更新できます。しかし、現場の動画をそのまま中央へ集めることは難しく、連合平均でまとめた小型AIの更新を、構造や規模が異なる中央側AIへ直接渡すこともできません。そこでFedPACTでは、現場でAIの判定がどのように変わったかを数値で受け取り、その変化を中央側が持つ動画上に表して学習へ使います。この後は、変化を測る、複数動画をまとめる、中央側の動画上に表す、中央側AIを更新する、という順番で説明しま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notes/advisor/sources/raw/2026-09-16/slack_zettsu_reply_to_chen_ja_date_unknown_received_2026-09-16.md（利用場面、接続問題、適用範囲）</a:t>
            </a:r>
          </a:p>
          <a:p xmlns:a="http://schemas.openxmlformats.org/drawingml/2006/main">
            <a:r>
              <a:t>notes/advisor/sources/raw/2026-09-01/FedPACT手法提案260901.pdf（研究目的、三層構造）</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1:10–2:10】</a:t>
            </a:r>
          </a:p>
          <a:p xmlns:a="http://schemas.openxmlformats.org/drawingml/2006/main">
            <a:r>
              <a:t>ここでは、白い車が横から接近する危険動画を例にします。この実験では、AIが出した通常と危険の確率を記録しています。q^{pre}は局所学習前、q^{post}は局所学習後に同じ動画を判定した結果です。この動画では、危険確率が0.349から0.644へ変わり、Δqはプラス0.295でした。つまり、この入力に対するAIの出力が危険側へ動いたことが分かります。ただし、この値だけから危険を正しく学習した、あるいは危険原因を理解したとは言えません。次に、このような1本ごとの反応を複数動画からまとめ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artifacts/datasets/fedpact_stage1/manifest_paired_alert_quartiles.jsonl（危険区間、4フレーム）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2:10–3:10】</a:t>
            </a:r>
          </a:p>
          <a:p xmlns:a="http://schemas.openxmlformats.org/drawingml/2006/main">
            <a:r>
              <a:t>1本の動画の結果をそのまま中央側へ送るわけではありません。先ほどの動画を含む危険動画3本について、学習後の危険確率を平均すると0.724になります。これがμ^{post}_{k,r}です。学習前後の変化量の平均はプラス0.238で、これがΔμ_{k,r}です。まとめた本数π_{k,r}は3です。この三つをQ_{k,r}として送ります。中央側へ送るのは、この要約と小型AIの更新情報です。元の動画、画像、動画ごとの識別情報は送りません。また、小型AIの更新は連合平均へ渡しますが、Q_{k,r}は平均せず、次の代理データ生成へ渡し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a:t>
            </a:r>
          </a:p>
          <a:p xmlns:a="http://schemas.openxmlformats.org/drawingml/2006/main">
            <a:r>
              <a:t>artifacts/runs/fedpact_stage1/p1d_layer1_20260917_01/communication/client-0/payload.json（r1-client-0-class1）</a:t>
            </a:r>
          </a:p>
          <a:p xmlns:a="http://schemas.openxmlformats.org/drawingml/2006/main">
            <a:r>
              <a:t>notes/advisor/sources/raw/2026-09-16/slack_zettsu_flow_feedback_date_unknown_received_2026-09-16.md（Q生成と別経路）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3:10–4:35】</a:t>
            </a:r>
          </a:p>
          <a:p xmlns:a="http://schemas.openxmlformats.org/drawingml/2006/main">
            <a:r>
              <a:t>中央側には通常動画30本と危険動画30本、合計60本を用意しています。これは現場の知識そのものではなく、現場側の判定変化を表すための材料です。まず、連合平均後の小型AIを使い、μ^{post}_{k,r}に近い判定を出す動画を探します。上位3本について、変更なし、暗くする、明るくする、コントラストを上げる、中央を切り出す、という5種類を試します。一つのQにつき15候補で、四つのQでは合計60候補です。候補を選ぶときは、学習後の判定だけでなく、連合平均前後の変化がΔμ_{k,r}に近いかも確認します。選んだ入力x̃_{k,r}と学習後の目標値μ^{post}_{k,r}からP_{k,r}を作り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artifacts/runs/fedpact_stage1/p1d_full_20260917_02/server/layer2_trace.json（60 seed、top 3、5変換、選択）</a:t>
            </a:r>
          </a:p>
          <a:p xmlns:a="http://schemas.openxmlformats.org/drawingml/2006/main">
            <a:r>
              <a:t>artifacts/runs/fedpact_stage1/p1d_full_20260917_02/server/proxy_pairs.json（Pの構成）</a:t>
            </a:r>
          </a:p>
          <a:p xmlns:a="http://schemas.openxmlformats.org/drawingml/2006/main">
            <a:r>
              <a:t>画像: artifacts/runs/fedpact_stage1/p1d_full_20260917_02/server/transformation_candidates/r1-client-0-class1-rank01-*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4:35–5:30】</a:t>
            </a:r>
          </a:p>
          <a:p xmlns:a="http://schemas.openxmlformats.org/drawingml/2006/main">
            <a:r>
              <a:t>ここまでの処理を全体図の中で整理します。第1層では二つの現場側AIが局所学習を行い、小型AIの更新情報を連合平均します。一方、判定の変化をまとめたQ_{k,r}は別経路で第2層へ渡します。第2層が本研究の中心で、Q_{k,r}を中央側が持つ動画上の代理データとして表します。第3層ではP_{k,r}を使って中央側AIを更新し、その状態を次のラウンドへ引き継ぎます。今回の合格は処理の接続に対するものであり、性能の良さを示すものではありません。</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notes/advisor/sources/raw/2026-09-16/slack_zettsu_experiment_feedback_date_unknown_received_2026-09-16.md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5:30–6:50】</a:t>
            </a:r>
          </a:p>
          <a:p xmlns:a="http://schemas.openxmlformats.org/drawingml/2006/main">
            <a:r>
              <a:t>2枚目から追ってきた危険動画3本の要約を、そのまま追跡します。現場側で求めた学習後の危険確率は0.724でした。中央側で選んだ代理データについて、連合平均後の小型AIが出した危険確率も0.724で、学習後の判定はほぼ一致しています。一方、現場側の変化量はプラス0.238でしたが、代理データでは危険確率が0.673から0.724へ変化しており、その差はプラス0.051でした。方向は同じですが、変化量は十分に再現できていません。また、元動画の正解ラベルは通常でした。ただし、中央側の60本では正解ラベルと小型AIの判定が一致したものが43本だけなので、通常動画が選ばれた原因を検索処理だけに求めることはできません。</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a:t>
            </a:r>
          </a:p>
          <a:p xmlns:a="http://schemas.openxmlformats.org/drawingml/2006/main">
            <a:r>
              <a:t>artifacts/runs/fedpact_stage1/p1d_full_20260917_02/server/proxy_pairs.json</a:t>
            </a:r>
          </a:p>
          <a:p xmlns:a="http://schemas.openxmlformats.org/drawingml/2006/main">
            <a:r>
              <a:t>artifacts/reports/fedpact_stage1_20260917/slack_report.md（labelと予測の一致43/60）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6:50–8:35】</a:t>
            </a:r>
          </a:p>
          <a:p xmlns:a="http://schemas.openxmlformats.org/drawingml/2006/main">
            <a:r>
              <a:t>3ラウンド全体の結果です。各ラウンドで二つの現場側AIが同じ状態から開始し、両方の小型AIが実際に更新されたことを確認しました。連合平均を別に再計算した差は、最大でも約1.16掛ける10のマイナス10でした。また、前のラウンドの出力と次のラウンドの入力が一致していることを、モデルの照合値から確認しました。一方、代理データの再現結果には問題が残っています。1ラウンド目では四つのうち三つで変化の方向が一致しましたが、一つは逆方向でした。さらに3ラウンド目では、中央側AIを更新した後のずれが16.1307から16.1776へ増加しました。今回確認できたのは3ラウンドの処理と状態継承であり、性能が改善した、安定して知識を移せた、という結論ではあり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artifacts/reports/fedpact_stage1_20260917/slack_report.md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8:35–10:00】</a:t>
            </a:r>
          </a:p>
          <a:p xmlns:a="http://schemas.openxmlformats.org/drawingml/2006/main">
            <a:r>
              <a:t>今回の第I段階では、代表動画の学習前後の判定からQ_{k,r}を作り、中央側で代理データを生成し、中央側AIを更新して次のラウンドへ状態を渡すところまでを対応付けました。三層の処理と3ラウンドの状態継承を、ログから追跡できるようになったことは言えます。一方で、性能向上、代理データの品質、未知動画への転移はまだ言えません。今回の第I段階は同じ3B基盤を使用しているため、構造や規模の異なるAI間で移せたとも言えません。今後は、まず同じ四つの教師データを固定し、ごく小さい1回の更新で中央側AIのずれが減ることを確認します。その後、中央側動画だけの場合、学習後の判定を使う場合、学習前後の変化も使う場合を同じ条件で比較します。評価には選択に使っていない動画を使用し、問題解消後に5ラウンドと異なる規模のAIへ進みま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59facd8b0149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8904a4be184dd1" /><Relationship Type="http://schemas.openxmlformats.org/officeDocument/2006/relationships/slideLayout" Target="/ppt/slideLayouts/slideLayout1.xml" Id="R01a2a8222b7c44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a2a8222b7c44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622820ba954011" /><Relationship Type="http://schemas.openxmlformats.org/officeDocument/2006/relationships/image" Target="/ppt/media/image.jpeg" Id="Rae6d8ae073f64ef9" /><Relationship Type="http://schemas.openxmlformats.org/officeDocument/2006/relationships/image" Target="/ppt/media/image2.jpeg" Id="R903fe013a62b4d47" /><Relationship Type="http://schemas.openxmlformats.org/officeDocument/2006/relationships/notesSlide" Target="/ppt/notesSlides/notesSlide1.xml" Id="Rc9d15b49b0d849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61401b6ee44e50" /><Relationship Type="http://schemas.openxmlformats.org/officeDocument/2006/relationships/image" Target="/ppt/media/image3.jpeg" Id="R4a4db709be9e4586" /><Relationship Type="http://schemas.openxmlformats.org/officeDocument/2006/relationships/image" Target="/ppt/media/image4.jpeg" Id="R73eb85b0f8d44174" /><Relationship Type="http://schemas.openxmlformats.org/officeDocument/2006/relationships/image" Target="/ppt/media/image5.jpeg" Id="Rb0544bbd0c9744ba" /><Relationship Type="http://schemas.openxmlformats.org/officeDocument/2006/relationships/image" Target="/ppt/media/image6.jpeg" Id="R2d37c75fada54112" /><Relationship Type="http://schemas.openxmlformats.org/officeDocument/2006/relationships/notesSlide" Target="/ppt/notesSlides/notesSlide2.xml" Id="R68fb64b6158b43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adc3675cd944da" /><Relationship Type="http://schemas.openxmlformats.org/officeDocument/2006/relationships/image" Target="/ppt/media/image7.jpeg" Id="R22b22431aa974ad8" /><Relationship Type="http://schemas.openxmlformats.org/officeDocument/2006/relationships/image" Target="/ppt/media/image8.jpeg" Id="R766992bd257c4db7" /><Relationship Type="http://schemas.openxmlformats.org/officeDocument/2006/relationships/image" Target="/ppt/media/image9.jpeg" Id="Rf8e92c7790694a02" /><Relationship Type="http://schemas.openxmlformats.org/officeDocument/2006/relationships/notesSlide" Target="/ppt/notesSlides/notesSlide3.xml" Id="R50b312c9e8b541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2581eb7b3a45b8" /><Relationship Type="http://schemas.openxmlformats.org/officeDocument/2006/relationships/image" Target="/ppt/media/image10.jpeg" Id="R9265334ddc25415c" /><Relationship Type="http://schemas.openxmlformats.org/officeDocument/2006/relationships/image" Target="/ppt/media/image.png" Id="R3e8a5bdea4b3415d" /><Relationship Type="http://schemas.openxmlformats.org/officeDocument/2006/relationships/image" Target="/ppt/media/image2.png" Id="R8712d6582671412d" /><Relationship Type="http://schemas.openxmlformats.org/officeDocument/2006/relationships/image" Target="/ppt/media/image3.png" Id="Rf51052d3ba2d4061" /><Relationship Type="http://schemas.openxmlformats.org/officeDocument/2006/relationships/image" Target="/ppt/media/image4.png" Id="R628acca8bed542c0" /><Relationship Type="http://schemas.openxmlformats.org/officeDocument/2006/relationships/image" Target="/ppt/media/image5.png" Id="Rbd78fa3e41754218" /><Relationship Type="http://schemas.openxmlformats.org/officeDocument/2006/relationships/notesSlide" Target="/ppt/notesSlides/notesSlide4.xml" Id="Rc08f7500503c4d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f308c4b5bf42a8" /><Relationship Type="http://schemas.openxmlformats.org/officeDocument/2006/relationships/notesSlide" Target="/ppt/notesSlides/notesSlide5.xml" Id="Rcbc98e58c7b54b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25fd62a3a748b2" /><Relationship Type="http://schemas.openxmlformats.org/officeDocument/2006/relationships/image" Target="/ppt/media/image6.png" Id="R4e09a3c17f0d4eca" /><Relationship Type="http://schemas.openxmlformats.org/officeDocument/2006/relationships/image" Target="/ppt/media/image7.png" Id="Ra4cc58b2eaae4f31" /><Relationship Type="http://schemas.openxmlformats.org/officeDocument/2006/relationships/image" Target="/ppt/media/image8.png" Id="R1dae470851b64699" /><Relationship Type="http://schemas.openxmlformats.org/officeDocument/2006/relationships/image" Target="/ppt/media/image9.png" Id="Rf1556320bd84460a" /><Relationship Type="http://schemas.openxmlformats.org/officeDocument/2006/relationships/notesSlide" Target="/ppt/notesSlides/notesSlide6.xml" Id="Rf74262b9761a44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d7ca806ba0746c5" /><Relationship Type="http://schemas.openxmlformats.org/officeDocument/2006/relationships/notesSlide" Target="/ppt/notesSlides/notesSlide7.xml" Id="R13b04f0559e649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6d0749252240ed" /><Relationship Type="http://schemas.openxmlformats.org/officeDocument/2006/relationships/notesSlide" Target="/ppt/notesSlides/notesSlide8.xml" Id="Rcb1ca5333b0c479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CEC81AB5-488E-415B-83D6-9E78DD9E90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FAA624-F795-4285-8C64-B8320EA0497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C6370A7-668A-46C5-946B-CCD76780471D}"/>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複数の現場で得た経験を、中央側AIへ生かす</a:t>
            </a:r>
          </a:p>
        </p:txBody>
      </p:sp>
      <p:sp>
        <p:nvSpPr>
          <p:cNvPr id="4" name="">
            <a:extLst xmlns:a="http://schemas.openxmlformats.org/drawingml/2006/main">
              <a:ext uri="{FF2B5EF4-FFF2-40B4-BE49-F238E27FC236}">
                <a16:creationId xmlns:a16="http://schemas.microsoft.com/office/drawing/2014/main" id="{03646712-2C81-4CC7-9E48-BEF4FC143B08}"/>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A990373F-5C50-4161-92D6-78C654B6D708}"/>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AE3A5D-A5F5-4655-9F28-3FC25F943847}"/>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84336801-E3FE-436D-BF3E-2F3260279205}"/>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8</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ae6d8ae073f64ef9"/>
          <a:srcRect xmlns:a="http://schemas.openxmlformats.org/drawingml/2006/main" l="0" t="85" r="0" b="85"/>
          <a:stretch xmlns:a="http://schemas.openxmlformats.org/drawingml/2006/main">
            <a:fillRect l="0" t="0" r="0" b="0"/>
          </a:stretch>
        </p:blipFill>
        <p:spPr>
          <a:xfrm xmlns:a="http://schemas.openxmlformats.org/drawingml/2006/main">
            <a:off x="590550" y="1162050"/>
            <a:ext cx="2476500" cy="1390650"/>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903fe013a62b4d47"/>
          <a:srcRect xmlns:a="http://schemas.openxmlformats.org/drawingml/2006/main" l="0" t="85" r="0" b="85"/>
          <a:stretch xmlns:a="http://schemas.openxmlformats.org/drawingml/2006/main">
            <a:fillRect l="0" t="0" r="0" b="0"/>
          </a:stretch>
        </p:blipFill>
        <p:spPr>
          <a:xfrm xmlns:a="http://schemas.openxmlformats.org/drawingml/2006/main">
            <a:off x="3219450" y="1162050"/>
            <a:ext cx="2476500" cy="1390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E7BD60E-E3F3-4C99-B2DE-CB64D3C98846}"/>
              </a:ext>
            </a:extLst>
          </p:cNvPr>
          <p:cNvSpPr>
            <a:spLocks xmlns:a="http://schemas.openxmlformats.org/drawingml/2006/main" noGrp="1"/>
          </p:cNvSpPr>
          <p:nvPr/>
        </p:nvSpPr>
        <p:spPr>
          <a:xfrm xmlns:a="http://schemas.openxmlformats.org/drawingml/2006/main">
            <a:off x="5905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現場A　昼間・市街地</a:t>
            </a:r>
          </a:p>
        </p:txBody>
      </p:sp>
      <p:sp>
        <p:nvSpPr>
          <p:cNvPr id="11" name="">
            <a:extLst xmlns:a="http://schemas.openxmlformats.org/drawingml/2006/main">
              <a:ext uri="{FF2B5EF4-FFF2-40B4-BE49-F238E27FC236}">
                <a16:creationId xmlns:a16="http://schemas.microsoft.com/office/drawing/2014/main" id="{318BA5E6-B309-41B3-BAF7-8797BEDC974F}"/>
              </a:ext>
            </a:extLst>
          </p:cNvPr>
          <p:cNvSpPr>
            <a:spLocks xmlns:a="http://schemas.openxmlformats.org/drawingml/2006/main" noGrp="1"/>
          </p:cNvSpPr>
          <p:nvPr/>
        </p:nvSpPr>
        <p:spPr>
          <a:xfrm xmlns:a="http://schemas.openxmlformats.org/drawingml/2006/main">
            <a:off x="32194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現場B　夜間・道路</a:t>
            </a:r>
          </a:p>
        </p:txBody>
      </p:sp>
      <p:sp>
        <p:nvSpPr>
          <p:cNvPr id="12" name="">
            <a:extLst xmlns:a="http://schemas.openxmlformats.org/drawingml/2006/main">
              <a:ext uri="{FF2B5EF4-FFF2-40B4-BE49-F238E27FC236}">
                <a16:creationId xmlns:a16="http://schemas.microsoft.com/office/drawing/2014/main" id="{C4F544FB-2CAF-4360-BC70-D06C3FAB14F2}"/>
              </a:ext>
            </a:extLst>
          </p:cNvPr>
          <p:cNvSpPr>
            <a:spLocks xmlns:a="http://schemas.openxmlformats.org/drawingml/2006/main" noGrp="1"/>
          </p:cNvSpPr>
          <p:nvPr/>
        </p:nvSpPr>
        <p:spPr>
          <a:xfrm xmlns:a="http://schemas.openxmlformats.org/drawingml/2006/main">
            <a:off x="666750" y="30289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73B4B"/>
                </a:solidFill>
                <a:latin typeface="Yu Gothic"/>
                <a:ea typeface="Yu Gothic"/>
                <a:cs typeface="Yu Gothic"/>
              </a:defRPr>
            </a:pPr>
            <a:r>
              <a:rPr sz="1800" b="1">
                <a:solidFill>
                  <a:srgbClr val="173B4B"/>
                </a:solidFill>
                <a:latin typeface="Yu Gothic"/>
                <a:ea typeface="Yu Gothic"/>
                <a:cs typeface="Yu Gothic"/>
              </a:rPr>
              <a:t>同じ危険判定でも、場所・時間・天候により経験する動画が異なる</a:t>
            </a:r>
          </a:p>
        </p:txBody>
      </p:sp>
      <p:sp>
        <p:nvSpPr>
          <p:cNvPr id="13" name="">
            <a:extLst xmlns:a="http://schemas.openxmlformats.org/drawingml/2006/main">
              <a:ext uri="{FF2B5EF4-FFF2-40B4-BE49-F238E27FC236}">
                <a16:creationId xmlns:a16="http://schemas.microsoft.com/office/drawing/2014/main" id="{83C772F6-3F7A-4E3E-B88D-B96149449EE4}"/>
              </a:ext>
            </a:extLst>
          </p:cNvPr>
          <p:cNvSpPr>
            <a:spLocks xmlns:a="http://schemas.openxmlformats.org/drawingml/2006/main" noGrp="1"/>
          </p:cNvSpPr>
          <p:nvPr/>
        </p:nvSpPr>
        <p:spPr>
          <a:xfrm xmlns:a="http://schemas.openxmlformats.org/drawingml/2006/main">
            <a:off x="704850" y="390525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47B78"/>
                </a:solidFill>
                <a:latin typeface="Yu Gothic"/>
                <a:ea typeface="Yu Gothic"/>
                <a:cs typeface="Yu Gothic"/>
              </a:defRPr>
            </a:pPr>
            <a:r>
              <a:rPr sz="1425" b="1">
                <a:solidFill>
                  <a:srgbClr val="147B78"/>
                </a:solidFill>
                <a:latin typeface="Yu Gothic"/>
                <a:ea typeface="Yu Gothic"/>
                <a:cs typeface="Yu Gothic"/>
              </a:rPr>
              <a:t>価値</a:t>
            </a:r>
          </a:p>
        </p:txBody>
      </p:sp>
      <p:sp>
        <p:nvSpPr>
          <p:cNvPr id="14" name="">
            <a:extLst xmlns:a="http://schemas.openxmlformats.org/drawingml/2006/main">
              <a:ext uri="{FF2B5EF4-FFF2-40B4-BE49-F238E27FC236}">
                <a16:creationId xmlns:a16="http://schemas.microsoft.com/office/drawing/2014/main" id="{89658D7A-D704-4984-ADDD-1051B008E514}"/>
              </a:ext>
            </a:extLst>
          </p:cNvPr>
          <p:cNvSpPr>
            <a:spLocks xmlns:a="http://schemas.openxmlformats.org/drawingml/2006/main" noGrp="1"/>
          </p:cNvSpPr>
          <p:nvPr/>
        </p:nvSpPr>
        <p:spPr>
          <a:xfrm xmlns:a="http://schemas.openxmlformats.org/drawingml/2006/main">
            <a:off x="704850" y="423862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6373D"/>
                </a:solidFill>
                <a:latin typeface="Yu Gothic"/>
                <a:ea typeface="Yu Gothic"/>
                <a:cs typeface="Yu Gothic"/>
              </a:defRPr>
            </a:pPr>
            <a:r>
              <a:rPr sz="1875" b="1">
                <a:solidFill>
                  <a:srgbClr val="26373D"/>
                </a:solidFill>
                <a:latin typeface="Yu Gothic"/>
                <a:ea typeface="Yu Gothic"/>
                <a:cs typeface="Yu Gothic"/>
              </a:rPr>
              <a:t>各現場が学んだ判定の変化を、サービス全体の更新に使う</a:t>
            </a:r>
          </a:p>
        </p:txBody>
      </p:sp>
      <p:sp>
        <p:nvSpPr>
          <p:cNvPr id="15" name="">
            <a:extLst xmlns:a="http://schemas.openxmlformats.org/drawingml/2006/main">
              <a:ext uri="{FF2B5EF4-FFF2-40B4-BE49-F238E27FC236}">
                <a16:creationId xmlns:a16="http://schemas.microsoft.com/office/drawing/2014/main" id="{4A7EC0F8-B4D0-418B-BC54-426A871866EC}"/>
              </a:ext>
            </a:extLst>
          </p:cNvPr>
          <p:cNvSpPr>
            <a:spLocks xmlns:a="http://schemas.openxmlformats.org/drawingml/2006/main" noGrp="1"/>
          </p:cNvSpPr>
          <p:nvPr/>
        </p:nvSpPr>
        <p:spPr>
          <a:xfrm xmlns:a="http://schemas.openxmlformats.org/drawingml/2006/main">
            <a:off x="6057900" y="1162050"/>
            <a:ext cx="19050" cy="38862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430B082-7C3E-46EC-B5DB-351CCFD677F9}"/>
              </a:ext>
            </a:extLst>
          </p:cNvPr>
          <p:cNvSpPr>
            <a:spLocks xmlns:a="http://schemas.openxmlformats.org/drawingml/2006/main" noGrp="1"/>
          </p:cNvSpPr>
          <p:nvPr/>
        </p:nvSpPr>
        <p:spPr>
          <a:xfrm xmlns:a="http://schemas.openxmlformats.org/drawingml/2006/main">
            <a:off x="6419850" y="11620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現在の接続問題</a:t>
            </a:r>
          </a:p>
        </p:txBody>
      </p:sp>
      <p:sp>
        <p:nvSpPr>
          <p:cNvPr id="17" name="">
            <a:extLst xmlns:a="http://schemas.openxmlformats.org/drawingml/2006/main">
              <a:ext uri="{FF2B5EF4-FFF2-40B4-BE49-F238E27FC236}">
                <a16:creationId xmlns:a16="http://schemas.microsoft.com/office/drawing/2014/main" id="{ED278CC9-4B1D-480C-A8B8-1B8C42704AE7}"/>
              </a:ext>
            </a:extLst>
          </p:cNvPr>
          <p:cNvSpPr>
            <a:spLocks xmlns:a="http://schemas.openxmlformats.org/drawingml/2006/main" noGrp="1"/>
          </p:cNvSpPr>
          <p:nvPr/>
        </p:nvSpPr>
        <p:spPr>
          <a:xfrm xmlns:a="http://schemas.openxmlformats.org/drawingml/2006/main">
            <a:off x="6477000" y="1790700"/>
            <a:ext cx="1333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連合平均</a:t>
            </a:r>
          </a:p>
        </p:txBody>
      </p:sp>
      <p:sp>
        <p:nvSpPr>
          <p:cNvPr id="18" name="">
            <a:extLst xmlns:a="http://schemas.openxmlformats.org/drawingml/2006/main">
              <a:ext uri="{FF2B5EF4-FFF2-40B4-BE49-F238E27FC236}">
                <a16:creationId xmlns:a16="http://schemas.microsoft.com/office/drawing/2014/main" id="{104E71B5-213B-4F83-8A7E-120CA99E87F9}"/>
              </a:ext>
            </a:extLst>
          </p:cNvPr>
          <p:cNvSpPr>
            <a:spLocks xmlns:a="http://schemas.openxmlformats.org/drawingml/2006/main" noGrp="1"/>
          </p:cNvSpPr>
          <p:nvPr/>
        </p:nvSpPr>
        <p:spPr>
          <a:xfrm xmlns:a="http://schemas.openxmlformats.org/drawingml/2006/main">
            <a:off x="8020050" y="17907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同じ構造の小型AI同士はまとめられる</a:t>
            </a:r>
          </a:p>
        </p:txBody>
      </p:sp>
      <p:sp>
        <p:nvSpPr>
          <p:cNvPr id="19" name="">
            <a:extLst xmlns:a="http://schemas.openxmlformats.org/drawingml/2006/main">
              <a:ext uri="{FF2B5EF4-FFF2-40B4-BE49-F238E27FC236}">
                <a16:creationId xmlns:a16="http://schemas.microsoft.com/office/drawing/2014/main" id="{91183578-0194-4D11-8515-0C990E735C37}"/>
              </a:ext>
            </a:extLst>
          </p:cNvPr>
          <p:cNvSpPr>
            <a:spLocks xmlns:a="http://schemas.openxmlformats.org/drawingml/2006/main" noGrp="1"/>
          </p:cNvSpPr>
          <p:nvPr/>
        </p:nvSpPr>
        <p:spPr>
          <a:xfrm xmlns:a="http://schemas.openxmlformats.org/drawingml/2006/main">
            <a:off x="6486525" y="2514600"/>
            <a:ext cx="89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94A3A"/>
                </a:solidFill>
                <a:latin typeface="Yu Gothic"/>
                <a:ea typeface="Yu Gothic"/>
                <a:cs typeface="Yu Gothic"/>
              </a:defRPr>
            </a:pPr>
            <a:r>
              <a:rPr sz="1350" b="1">
                <a:solidFill>
                  <a:srgbClr val="B94A3A"/>
                </a:solidFill>
                <a:latin typeface="Yu Gothic"/>
                <a:ea typeface="Yu Gothic"/>
                <a:cs typeface="Yu Gothic"/>
              </a:rPr>
              <a:t>しかし</a:t>
            </a:r>
          </a:p>
        </p:txBody>
      </p:sp>
      <p:sp>
        <p:nvSpPr>
          <p:cNvPr id="20" name="">
            <a:extLst xmlns:a="http://schemas.openxmlformats.org/drawingml/2006/main">
              <a:ext uri="{FF2B5EF4-FFF2-40B4-BE49-F238E27FC236}">
                <a16:creationId xmlns:a16="http://schemas.microsoft.com/office/drawing/2014/main" id="{9D15B273-56B8-4DEC-BB69-C20A3086098E}"/>
              </a:ext>
            </a:extLst>
          </p:cNvPr>
          <p:cNvSpPr>
            <a:spLocks xmlns:a="http://schemas.openxmlformats.org/drawingml/2006/main" noGrp="1"/>
          </p:cNvSpPr>
          <p:nvPr/>
        </p:nvSpPr>
        <p:spPr>
          <a:xfrm xmlns:a="http://schemas.openxmlformats.org/drawingml/2006/main">
            <a:off x="6486525" y="2876550"/>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構造や規模が異なる中央側AIへ、更新値をそのまま渡せない</a:t>
            </a:r>
          </a:p>
        </p:txBody>
      </p:sp>
      <p:sp>
        <p:nvSpPr>
          <p:cNvPr id="21" name="">
            <a:extLst xmlns:a="http://schemas.openxmlformats.org/drawingml/2006/main">
              <a:ext uri="{FF2B5EF4-FFF2-40B4-BE49-F238E27FC236}">
                <a16:creationId xmlns:a16="http://schemas.microsoft.com/office/drawing/2014/main" id="{8C14F173-4859-44C3-9F5E-4AB19650D2D0}"/>
              </a:ext>
            </a:extLst>
          </p:cNvPr>
          <p:cNvSpPr>
            <a:spLocks xmlns:a="http://schemas.openxmlformats.org/drawingml/2006/main" noGrp="1"/>
          </p:cNvSpPr>
          <p:nvPr/>
        </p:nvSpPr>
        <p:spPr>
          <a:xfrm xmlns:a="http://schemas.openxmlformats.org/drawingml/2006/main">
            <a:off x="6486525" y="386715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17078"/>
                </a:solidFill>
                <a:latin typeface="Yu Gothic"/>
                <a:ea typeface="Yu Gothic"/>
                <a:cs typeface="Yu Gothic"/>
              </a:defRPr>
            </a:pPr>
            <a:r>
              <a:rPr sz="1500" b="0">
                <a:solidFill>
                  <a:srgbClr val="617078"/>
                </a:solidFill>
                <a:latin typeface="Yu Gothic"/>
                <a:ea typeface="Yu Gothic"/>
                <a:cs typeface="Yu Gothic"/>
              </a:rPr>
              <a:t>現場動画を中央へ集めない条件では、共通の入力を使った橋渡しも難しい</a:t>
            </a:r>
          </a:p>
        </p:txBody>
      </p:sp>
      <p:sp>
        <p:nvSpPr>
          <p:cNvPr id="22" name="">
            <a:extLst xmlns:a="http://schemas.openxmlformats.org/drawingml/2006/main">
              <a:ext uri="{FF2B5EF4-FFF2-40B4-BE49-F238E27FC236}">
                <a16:creationId xmlns:a16="http://schemas.microsoft.com/office/drawing/2014/main" id="{70432B78-BCEA-4E3E-9E2D-5D33200782B9}"/>
              </a:ext>
            </a:extLst>
          </p:cNvPr>
          <p:cNvSpPr>
            <a:spLocks xmlns:a="http://schemas.openxmlformats.org/drawingml/2006/main" noGrp="1"/>
          </p:cNvSpPr>
          <p:nvPr/>
        </p:nvSpPr>
        <p:spPr>
          <a:xfrm xmlns:a="http://schemas.openxmlformats.org/drawingml/2006/main">
            <a:off x="6429375" y="4714875"/>
            <a:ext cx="4762500" cy="6858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EFD1614-4A11-47D6-8BE9-C1D7BF03654E}"/>
              </a:ext>
            </a:extLst>
          </p:cNvPr>
          <p:cNvSpPr>
            <a:spLocks xmlns:a="http://schemas.openxmlformats.org/drawingml/2006/main" noGrp="1"/>
          </p:cNvSpPr>
          <p:nvPr/>
        </p:nvSpPr>
        <p:spPr>
          <a:xfrm xmlns:a="http://schemas.openxmlformats.org/drawingml/2006/main">
            <a:off x="6667500" y="486727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439"/>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FedPACT：現場で生じた判定の変化を、中央側の動画上に表して学習へ使う</a:t>
            </a:r>
          </a:p>
        </p:txBody>
      </p:sp>
      <p:sp>
        <p:nvSpPr>
          <p:cNvPr id="24" name="">
            <a:extLst xmlns:a="http://schemas.openxmlformats.org/drawingml/2006/main">
              <a:ext uri="{FF2B5EF4-FFF2-40B4-BE49-F238E27FC236}">
                <a16:creationId xmlns:a16="http://schemas.microsoft.com/office/drawing/2014/main" id="{EF1423B7-EDDA-4E21-B2CD-8EAB7CB23CA9}"/>
              </a:ext>
            </a:extLst>
          </p:cNvPr>
          <p:cNvSpPr>
            <a:spLocks xmlns:a="http://schemas.openxmlformats.org/drawingml/2006/main" noGrp="1"/>
          </p:cNvSpPr>
          <p:nvPr/>
        </p:nvSpPr>
        <p:spPr>
          <a:xfrm xmlns:a="http://schemas.openxmlformats.org/drawingml/2006/main">
            <a:off x="628650" y="561022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17078"/>
                </a:solidFill>
                <a:latin typeface="Yu Gothic"/>
                <a:ea typeface="Yu Gothic"/>
                <a:cs typeface="Yu Gothic"/>
              </a:defRPr>
            </a:pPr>
            <a:r>
              <a:rPr sz="1275" b="1">
                <a:solidFill>
                  <a:srgbClr val="617078"/>
                </a:solidFill>
                <a:latin typeface="Yu Gothic"/>
                <a:ea typeface="Yu Gothic"/>
                <a:cs typeface="Yu Gothic"/>
              </a:rPr>
              <a:t>発表の順番</a:t>
            </a:r>
          </a:p>
        </p:txBody>
      </p:sp>
      <p:sp>
        <p:nvSpPr>
          <p:cNvPr id="25" name="">
            <a:extLst xmlns:a="http://schemas.openxmlformats.org/drawingml/2006/main">
              <a:ext uri="{FF2B5EF4-FFF2-40B4-BE49-F238E27FC236}">
                <a16:creationId xmlns:a16="http://schemas.microsoft.com/office/drawing/2014/main" id="{680D4817-410B-4864-847A-8D0B7491629E}"/>
              </a:ext>
            </a:extLst>
          </p:cNvPr>
          <p:cNvSpPr>
            <a:spLocks xmlns:a="http://schemas.openxmlformats.org/drawingml/2006/main" noGrp="1"/>
          </p:cNvSpPr>
          <p:nvPr/>
        </p:nvSpPr>
        <p:spPr>
          <a:xfrm xmlns:a="http://schemas.openxmlformats.org/drawingml/2006/main">
            <a:off x="21336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4504E61-8327-4646-8494-609FEFB7439A}"/>
              </a:ext>
            </a:extLst>
          </p:cNvPr>
          <p:cNvSpPr>
            <a:spLocks xmlns:a="http://schemas.openxmlformats.org/drawingml/2006/main" noGrp="1"/>
          </p:cNvSpPr>
          <p:nvPr/>
        </p:nvSpPr>
        <p:spPr>
          <a:xfrm xmlns:a="http://schemas.openxmlformats.org/drawingml/2006/main">
            <a:off x="21336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27" name="">
            <a:extLst xmlns:a="http://schemas.openxmlformats.org/drawingml/2006/main">
              <a:ext uri="{FF2B5EF4-FFF2-40B4-BE49-F238E27FC236}">
                <a16:creationId xmlns:a16="http://schemas.microsoft.com/office/drawing/2014/main" id="{95F369E7-B650-4906-B5A9-0D9AE96FE13E}"/>
              </a:ext>
            </a:extLst>
          </p:cNvPr>
          <p:cNvSpPr>
            <a:spLocks xmlns:a="http://schemas.openxmlformats.org/drawingml/2006/main" noGrp="1"/>
          </p:cNvSpPr>
          <p:nvPr/>
        </p:nvSpPr>
        <p:spPr>
          <a:xfrm xmlns:a="http://schemas.openxmlformats.org/drawingml/2006/main">
            <a:off x="26479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変化を測る</a:t>
            </a:r>
          </a:p>
        </p:txBody>
      </p:sp>
      <p:sp>
        <p:nvSpPr>
          <p:cNvPr id="28" name="">
            <a:extLst xmlns:a="http://schemas.openxmlformats.org/drawingml/2006/main">
              <a:ext uri="{FF2B5EF4-FFF2-40B4-BE49-F238E27FC236}">
                <a16:creationId xmlns:a16="http://schemas.microsoft.com/office/drawing/2014/main" id="{BF1803EC-E341-4575-908A-1F00C5A3E594}"/>
              </a:ext>
            </a:extLst>
          </p:cNvPr>
          <p:cNvSpPr>
            <a:spLocks xmlns:a="http://schemas.openxmlformats.org/drawingml/2006/main" noGrp="1"/>
          </p:cNvSpPr>
          <p:nvPr/>
        </p:nvSpPr>
        <p:spPr>
          <a:xfrm xmlns:a="http://schemas.openxmlformats.org/drawingml/2006/main">
            <a:off x="41624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2C06C1C-1EBE-4F55-9AFC-CA55CDDB224E}"/>
              </a:ext>
            </a:extLst>
          </p:cNvPr>
          <p:cNvSpPr>
            <a:spLocks xmlns:a="http://schemas.openxmlformats.org/drawingml/2006/main" noGrp="1"/>
          </p:cNvSpPr>
          <p:nvPr/>
        </p:nvSpPr>
        <p:spPr>
          <a:xfrm xmlns:a="http://schemas.openxmlformats.org/drawingml/2006/main">
            <a:off x="44958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0EEE2B5-FE0A-4B10-B85B-44B20AAA82E2}"/>
              </a:ext>
            </a:extLst>
          </p:cNvPr>
          <p:cNvSpPr>
            <a:spLocks xmlns:a="http://schemas.openxmlformats.org/drawingml/2006/main" noGrp="1"/>
          </p:cNvSpPr>
          <p:nvPr/>
        </p:nvSpPr>
        <p:spPr>
          <a:xfrm xmlns:a="http://schemas.openxmlformats.org/drawingml/2006/main">
            <a:off x="44958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31" name="">
            <a:extLst xmlns:a="http://schemas.openxmlformats.org/drawingml/2006/main">
              <a:ext uri="{FF2B5EF4-FFF2-40B4-BE49-F238E27FC236}">
                <a16:creationId xmlns:a16="http://schemas.microsoft.com/office/drawing/2014/main" id="{0A87D92C-3247-4D3D-9D09-54A6B2F8C2B5}"/>
              </a:ext>
            </a:extLst>
          </p:cNvPr>
          <p:cNvSpPr>
            <a:spLocks xmlns:a="http://schemas.openxmlformats.org/drawingml/2006/main" noGrp="1"/>
          </p:cNvSpPr>
          <p:nvPr/>
        </p:nvSpPr>
        <p:spPr>
          <a:xfrm xmlns:a="http://schemas.openxmlformats.org/drawingml/2006/main">
            <a:off x="50101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複数動画を要約</a:t>
            </a:r>
          </a:p>
        </p:txBody>
      </p:sp>
      <p:sp>
        <p:nvSpPr>
          <p:cNvPr id="32" name="">
            <a:extLst xmlns:a="http://schemas.openxmlformats.org/drawingml/2006/main">
              <a:ext uri="{FF2B5EF4-FFF2-40B4-BE49-F238E27FC236}">
                <a16:creationId xmlns:a16="http://schemas.microsoft.com/office/drawing/2014/main" id="{E66F1B46-6FD1-47A1-8E8A-7E24E2C1EB80}"/>
              </a:ext>
            </a:extLst>
          </p:cNvPr>
          <p:cNvSpPr>
            <a:spLocks xmlns:a="http://schemas.openxmlformats.org/drawingml/2006/main" noGrp="1"/>
          </p:cNvSpPr>
          <p:nvPr/>
        </p:nvSpPr>
        <p:spPr>
          <a:xfrm xmlns:a="http://schemas.openxmlformats.org/drawingml/2006/main">
            <a:off x="65246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1C937D0-00A7-40FE-BEA0-5085FB41564B}"/>
              </a:ext>
            </a:extLst>
          </p:cNvPr>
          <p:cNvSpPr>
            <a:spLocks xmlns:a="http://schemas.openxmlformats.org/drawingml/2006/main" noGrp="1"/>
          </p:cNvSpPr>
          <p:nvPr/>
        </p:nvSpPr>
        <p:spPr>
          <a:xfrm xmlns:a="http://schemas.openxmlformats.org/drawingml/2006/main">
            <a:off x="6858000" y="5514975"/>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355CD97-1E45-433B-81E4-271A9C97D116}"/>
              </a:ext>
            </a:extLst>
          </p:cNvPr>
          <p:cNvSpPr>
            <a:spLocks xmlns:a="http://schemas.openxmlformats.org/drawingml/2006/main" noGrp="1"/>
          </p:cNvSpPr>
          <p:nvPr/>
        </p:nvSpPr>
        <p:spPr>
          <a:xfrm xmlns:a="http://schemas.openxmlformats.org/drawingml/2006/main">
            <a:off x="68580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35" name="">
            <a:extLst xmlns:a="http://schemas.openxmlformats.org/drawingml/2006/main">
              <a:ext uri="{FF2B5EF4-FFF2-40B4-BE49-F238E27FC236}">
                <a16:creationId xmlns:a16="http://schemas.microsoft.com/office/drawing/2014/main" id="{51BBDA11-DBE0-4385-A76B-82ADE1E980CC}"/>
              </a:ext>
            </a:extLst>
          </p:cNvPr>
          <p:cNvSpPr>
            <a:spLocks xmlns:a="http://schemas.openxmlformats.org/drawingml/2006/main" noGrp="1"/>
          </p:cNvSpPr>
          <p:nvPr/>
        </p:nvSpPr>
        <p:spPr>
          <a:xfrm xmlns:a="http://schemas.openxmlformats.org/drawingml/2006/main">
            <a:off x="73723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697"/>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中央側の動画上に表す</a:t>
            </a:r>
          </a:p>
        </p:txBody>
      </p:sp>
      <p:sp>
        <p:nvSpPr>
          <p:cNvPr id="36" name="">
            <a:extLst xmlns:a="http://schemas.openxmlformats.org/drawingml/2006/main">
              <a:ext uri="{FF2B5EF4-FFF2-40B4-BE49-F238E27FC236}">
                <a16:creationId xmlns:a16="http://schemas.microsoft.com/office/drawing/2014/main" id="{60FE1FF9-FFF4-452B-A340-A9C4B86C3E74}"/>
              </a:ext>
            </a:extLst>
          </p:cNvPr>
          <p:cNvSpPr>
            <a:spLocks xmlns:a="http://schemas.openxmlformats.org/drawingml/2006/main" noGrp="1"/>
          </p:cNvSpPr>
          <p:nvPr/>
        </p:nvSpPr>
        <p:spPr>
          <a:xfrm xmlns:a="http://schemas.openxmlformats.org/drawingml/2006/main">
            <a:off x="88868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9EFC2A7-E63D-4AE4-BC28-7AF4E5E1907B}"/>
              </a:ext>
            </a:extLst>
          </p:cNvPr>
          <p:cNvSpPr>
            <a:spLocks xmlns:a="http://schemas.openxmlformats.org/drawingml/2006/main" noGrp="1"/>
          </p:cNvSpPr>
          <p:nvPr/>
        </p:nvSpPr>
        <p:spPr>
          <a:xfrm xmlns:a="http://schemas.openxmlformats.org/drawingml/2006/main">
            <a:off x="92202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8C784C7-9728-4147-B812-E6FE3CD2D22D}"/>
              </a:ext>
            </a:extLst>
          </p:cNvPr>
          <p:cNvSpPr>
            <a:spLocks xmlns:a="http://schemas.openxmlformats.org/drawingml/2006/main" noGrp="1"/>
          </p:cNvSpPr>
          <p:nvPr/>
        </p:nvSpPr>
        <p:spPr>
          <a:xfrm xmlns:a="http://schemas.openxmlformats.org/drawingml/2006/main">
            <a:off x="92202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4</a:t>
            </a:r>
          </a:p>
        </p:txBody>
      </p:sp>
      <p:sp>
        <p:nvSpPr>
          <p:cNvPr id="39" name="">
            <a:extLst xmlns:a="http://schemas.openxmlformats.org/drawingml/2006/main">
              <a:ext uri="{FF2B5EF4-FFF2-40B4-BE49-F238E27FC236}">
                <a16:creationId xmlns:a16="http://schemas.microsoft.com/office/drawing/2014/main" id="{511A2DE9-2EFD-4AED-9DAA-1CC88AAEECCC}"/>
              </a:ext>
            </a:extLst>
          </p:cNvPr>
          <p:cNvSpPr>
            <a:spLocks xmlns:a="http://schemas.openxmlformats.org/drawingml/2006/main" noGrp="1"/>
          </p:cNvSpPr>
          <p:nvPr/>
        </p:nvSpPr>
        <p:spPr>
          <a:xfrm xmlns:a="http://schemas.openxmlformats.org/drawingml/2006/main">
            <a:off x="97345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40" name="">
            <a:extLst xmlns:a="http://schemas.openxmlformats.org/drawingml/2006/main">
              <a:ext uri="{FF2B5EF4-FFF2-40B4-BE49-F238E27FC236}">
                <a16:creationId xmlns:a16="http://schemas.microsoft.com/office/drawing/2014/main" id="{809CB99D-E521-45B4-855A-E30A22DA4D77}"/>
              </a:ext>
            </a:extLst>
          </p:cNvPr>
          <p:cNvSpPr>
            <a:spLocks xmlns:a="http://schemas.openxmlformats.org/drawingml/2006/main" noGrp="1"/>
          </p:cNvSpPr>
          <p:nvPr/>
        </p:nvSpPr>
        <p:spPr>
          <a:xfrm xmlns:a="http://schemas.openxmlformats.org/drawingml/2006/main">
            <a:off x="857250" y="6076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対象は共通タスク上の予測挙動。映像の意味内容全体や危険原因の説明は対象外</a:t>
            </a:r>
          </a:p>
        </p:txBody>
      </p:sp>
    </p:spTree>
    <p:extLst>
      <p:ext uri="{BB962C8B-B14F-4D97-AF65-F5344CB8AC3E}">
        <p14:creationId xmlns:p14="http://schemas.microsoft.com/office/powerpoint/2010/main" val="77869977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2F4FFC9-A145-4AB9-9942-FF41BDFC9F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8DC6A8-261C-4651-B854-B2E989CB92B6}"/>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E464F65-A435-4663-A365-57C9344EC3E3}"/>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1本の動画で、学習前後の判定変化を測る</a:t>
            </a:r>
          </a:p>
        </p:txBody>
      </p:sp>
      <p:sp>
        <p:nvSpPr>
          <p:cNvPr id="4" name="">
            <a:extLst xmlns:a="http://schemas.openxmlformats.org/drawingml/2006/main">
              <a:ext uri="{FF2B5EF4-FFF2-40B4-BE49-F238E27FC236}">
                <a16:creationId xmlns:a16="http://schemas.microsoft.com/office/drawing/2014/main" id="{9F36048A-A8EC-40F0-A7FE-3E3B153ED4FF}"/>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1873DAE1-3F1F-451A-A6C9-07148C2FE3B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0DE43BB-BDB1-4A48-BA18-14F368D7463F}"/>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1B40001D-FA85-48D3-8C66-A86F2867E569}"/>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8</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4a4db709be9e4586"/>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D140BA3-D12B-43BE-A2B8-209881196C87}"/>
              </a:ext>
            </a:extLst>
          </p:cNvPr>
          <p:cNvSpPr>
            <a:spLocks xmlns:a="http://schemas.openxmlformats.org/drawingml/2006/main" noGrp="1"/>
          </p:cNvSpPr>
          <p:nvPr/>
        </p:nvSpPr>
        <p:spPr>
          <a:xfrm xmlns:a="http://schemas.openxmlformats.org/drawingml/2006/main">
            <a:off x="5524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危険区間の開始</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73eb85b0f8d44174"/>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693521B-53EF-4C54-8730-7611D29E9577}"/>
              </a:ext>
            </a:extLst>
          </p:cNvPr>
          <p:cNvSpPr>
            <a:spLocks xmlns:a="http://schemas.openxmlformats.org/drawingml/2006/main" noGrp="1"/>
          </p:cNvSpPr>
          <p:nvPr/>
        </p:nvSpPr>
        <p:spPr>
          <a:xfrm xmlns:a="http://schemas.openxmlformats.org/drawingml/2006/main">
            <a:off x="33718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b0544bbd0c9744ba"/>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AC941D78-436E-4465-855E-756B55DB342B}"/>
              </a:ext>
            </a:extLst>
          </p:cNvPr>
          <p:cNvSpPr>
            <a:spLocks xmlns:a="http://schemas.openxmlformats.org/drawingml/2006/main" noGrp="1"/>
          </p:cNvSpPr>
          <p:nvPr/>
        </p:nvSpPr>
        <p:spPr>
          <a:xfrm xmlns:a="http://schemas.openxmlformats.org/drawingml/2006/main">
            <a:off x="61912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2d37c75fada54112"/>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7901C092-76FE-4CA9-B6B2-4D4D399FEF37}"/>
              </a:ext>
            </a:extLst>
          </p:cNvPr>
          <p:cNvSpPr>
            <a:spLocks xmlns:a="http://schemas.openxmlformats.org/drawingml/2006/main" noGrp="1"/>
          </p:cNvSpPr>
          <p:nvPr/>
        </p:nvSpPr>
        <p:spPr>
          <a:xfrm xmlns:a="http://schemas.openxmlformats.org/drawingml/2006/main">
            <a:off x="90106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危険事象の時点</a:t>
            </a:r>
          </a:p>
        </p:txBody>
      </p:sp>
      <p:sp>
        <p:nvSpPr>
          <p:cNvPr id="16" name="">
            <a:extLst xmlns:a="http://schemas.openxmlformats.org/drawingml/2006/main">
              <a:ext uri="{FF2B5EF4-FFF2-40B4-BE49-F238E27FC236}">
                <a16:creationId xmlns:a16="http://schemas.microsoft.com/office/drawing/2014/main" id="{AE19CC6E-3657-4879-9E32-29DA05E9C928}"/>
              </a:ext>
            </a:extLst>
          </p:cNvPr>
          <p:cNvSpPr>
            <a:spLocks xmlns:a="http://schemas.openxmlformats.org/drawingml/2006/main" noGrp="1"/>
          </p:cNvSpPr>
          <p:nvPr/>
        </p:nvSpPr>
        <p:spPr>
          <a:xfrm xmlns:a="http://schemas.openxmlformats.org/drawingml/2006/main">
            <a:off x="723900" y="30956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147B78"/>
                </a:solidFill>
                <a:latin typeface="Yu Gothic"/>
                <a:ea typeface="Yu Gothic"/>
                <a:cs typeface="Yu Gothic"/>
              </a:defRPr>
            </a:pPr>
            <a:r>
              <a:rPr sz="1425" b="1">
                <a:solidFill>
                  <a:srgbClr val="147B78"/>
                </a:solidFill>
                <a:latin typeface="Yu Gothic"/>
                <a:ea typeface="Yu Gothic"/>
                <a:cs typeface="Yu Gothic"/>
              </a:rPr>
              <a:t>q = [通常の確率, 危険の確率]　この例では危険の確率だけを表示</a:t>
            </a:r>
          </a:p>
        </p:txBody>
      </p:sp>
      <p:sp>
        <p:nvSpPr>
          <p:cNvPr id="17" name="">
            <a:extLst xmlns:a="http://schemas.openxmlformats.org/drawingml/2006/main">
              <a:ext uri="{FF2B5EF4-FFF2-40B4-BE49-F238E27FC236}">
                <a16:creationId xmlns:a16="http://schemas.microsoft.com/office/drawing/2014/main" id="{46B7147B-8C7B-44F4-A2BB-F399375642F5}"/>
              </a:ext>
            </a:extLst>
          </p:cNvPr>
          <p:cNvSpPr>
            <a:spLocks xmlns:a="http://schemas.openxmlformats.org/drawingml/2006/main" noGrp="1"/>
          </p:cNvSpPr>
          <p:nvPr/>
        </p:nvSpPr>
        <p:spPr>
          <a:xfrm xmlns:a="http://schemas.openxmlformats.org/drawingml/2006/main">
            <a:off x="9334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学習前  q^{pre}</a:t>
            </a:r>
          </a:p>
        </p:txBody>
      </p:sp>
      <p:sp>
        <p:nvSpPr>
          <p:cNvPr id="18" name="">
            <a:extLst xmlns:a="http://schemas.openxmlformats.org/drawingml/2006/main">
              <a:ext uri="{FF2B5EF4-FFF2-40B4-BE49-F238E27FC236}">
                <a16:creationId xmlns:a16="http://schemas.microsoft.com/office/drawing/2014/main" id="{897072DE-DBC9-4C87-9480-11AB0C6AD7D3}"/>
              </a:ext>
            </a:extLst>
          </p:cNvPr>
          <p:cNvSpPr>
            <a:spLocks xmlns:a="http://schemas.openxmlformats.org/drawingml/2006/main" noGrp="1"/>
          </p:cNvSpPr>
          <p:nvPr/>
        </p:nvSpPr>
        <p:spPr>
          <a:xfrm xmlns:a="http://schemas.openxmlformats.org/drawingml/2006/main">
            <a:off x="9334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80AE16F1-033E-4262-8940-AF9C62716237}"/>
              </a:ext>
            </a:extLst>
          </p:cNvPr>
          <p:cNvSpPr>
            <a:spLocks xmlns:a="http://schemas.openxmlformats.org/drawingml/2006/main" noGrp="1"/>
          </p:cNvSpPr>
          <p:nvPr/>
        </p:nvSpPr>
        <p:spPr>
          <a:xfrm xmlns:a="http://schemas.openxmlformats.org/drawingml/2006/main">
            <a:off x="9334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局所学習前の危険確率</a:t>
            </a:r>
          </a:p>
        </p:txBody>
      </p:sp>
      <p:sp>
        <p:nvSpPr>
          <p:cNvPr id="20" name="">
            <a:extLst xmlns:a="http://schemas.openxmlformats.org/drawingml/2006/main">
              <a:ext uri="{FF2B5EF4-FFF2-40B4-BE49-F238E27FC236}">
                <a16:creationId xmlns:a16="http://schemas.microsoft.com/office/drawing/2014/main" id="{04F8A11F-50E6-406E-A8EE-7DEB3407846A}"/>
              </a:ext>
            </a:extLst>
          </p:cNvPr>
          <p:cNvSpPr>
            <a:spLocks xmlns:a="http://schemas.openxmlformats.org/drawingml/2006/main" noGrp="1"/>
          </p:cNvSpPr>
          <p:nvPr/>
        </p:nvSpPr>
        <p:spPr>
          <a:xfrm xmlns:a="http://schemas.openxmlformats.org/drawingml/2006/main">
            <a:off x="417195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64644D2-2165-4EBD-8558-72447AFF2F96}"/>
              </a:ext>
            </a:extLst>
          </p:cNvPr>
          <p:cNvSpPr>
            <a:spLocks xmlns:a="http://schemas.openxmlformats.org/drawingml/2006/main" noGrp="1"/>
          </p:cNvSpPr>
          <p:nvPr/>
        </p:nvSpPr>
        <p:spPr>
          <a:xfrm xmlns:a="http://schemas.openxmlformats.org/drawingml/2006/main">
            <a:off x="464820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学習後  q^{post}</a:t>
            </a:r>
          </a:p>
        </p:txBody>
      </p:sp>
      <p:sp>
        <p:nvSpPr>
          <p:cNvPr id="22" name="">
            <a:extLst xmlns:a="http://schemas.openxmlformats.org/drawingml/2006/main">
              <a:ext uri="{FF2B5EF4-FFF2-40B4-BE49-F238E27FC236}">
                <a16:creationId xmlns:a16="http://schemas.microsoft.com/office/drawing/2014/main" id="{AC9D68A3-CD03-406D-989D-17E2DFB32802}"/>
              </a:ext>
            </a:extLst>
          </p:cNvPr>
          <p:cNvSpPr>
            <a:spLocks xmlns:a="http://schemas.openxmlformats.org/drawingml/2006/main" noGrp="1"/>
          </p:cNvSpPr>
          <p:nvPr/>
        </p:nvSpPr>
        <p:spPr>
          <a:xfrm xmlns:a="http://schemas.openxmlformats.org/drawingml/2006/main">
            <a:off x="464820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0.644</a:t>
            </a:r>
          </a:p>
        </p:txBody>
      </p:sp>
      <p:sp>
        <p:nvSpPr>
          <p:cNvPr id="23" name="">
            <a:extLst xmlns:a="http://schemas.openxmlformats.org/drawingml/2006/main">
              <a:ext uri="{FF2B5EF4-FFF2-40B4-BE49-F238E27FC236}">
                <a16:creationId xmlns:a16="http://schemas.microsoft.com/office/drawing/2014/main" id="{D65117AB-F297-4AE1-BB2F-4CBFD5422090}"/>
              </a:ext>
            </a:extLst>
          </p:cNvPr>
          <p:cNvSpPr>
            <a:spLocks xmlns:a="http://schemas.openxmlformats.org/drawingml/2006/main" noGrp="1"/>
          </p:cNvSpPr>
          <p:nvPr/>
        </p:nvSpPr>
        <p:spPr>
          <a:xfrm xmlns:a="http://schemas.openxmlformats.org/drawingml/2006/main">
            <a:off x="464820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同じ動画を学習後に再判定</a:t>
            </a:r>
          </a:p>
        </p:txBody>
      </p:sp>
      <p:sp>
        <p:nvSpPr>
          <p:cNvPr id="24" name="">
            <a:extLst xmlns:a="http://schemas.openxmlformats.org/drawingml/2006/main">
              <a:ext uri="{FF2B5EF4-FFF2-40B4-BE49-F238E27FC236}">
                <a16:creationId xmlns:a16="http://schemas.microsoft.com/office/drawing/2014/main" id="{0A13DAE4-9AF3-4877-A84E-0BDC2A25907E}"/>
              </a:ext>
            </a:extLst>
          </p:cNvPr>
          <p:cNvSpPr>
            <a:spLocks xmlns:a="http://schemas.openxmlformats.org/drawingml/2006/main" noGrp="1"/>
          </p:cNvSpPr>
          <p:nvPr/>
        </p:nvSpPr>
        <p:spPr>
          <a:xfrm xmlns:a="http://schemas.openxmlformats.org/drawingml/2006/main">
            <a:off x="788670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10DF648-2796-4831-92A8-E30F0B43A3B9}"/>
              </a:ext>
            </a:extLst>
          </p:cNvPr>
          <p:cNvSpPr>
            <a:spLocks xmlns:a="http://schemas.openxmlformats.org/drawingml/2006/main" noGrp="1"/>
          </p:cNvSpPr>
          <p:nvPr/>
        </p:nvSpPr>
        <p:spPr>
          <a:xfrm xmlns:a="http://schemas.openxmlformats.org/drawingml/2006/main">
            <a:off x="83629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変化量  Δq</a:t>
            </a:r>
          </a:p>
        </p:txBody>
      </p:sp>
      <p:sp>
        <p:nvSpPr>
          <p:cNvPr id="26" name="">
            <a:extLst xmlns:a="http://schemas.openxmlformats.org/drawingml/2006/main">
              <a:ext uri="{FF2B5EF4-FFF2-40B4-BE49-F238E27FC236}">
                <a16:creationId xmlns:a16="http://schemas.microsoft.com/office/drawing/2014/main" id="{D8202DDA-57F5-4038-9BF7-444D0C5FBCAB}"/>
              </a:ext>
            </a:extLst>
          </p:cNvPr>
          <p:cNvSpPr>
            <a:spLocks xmlns:a="http://schemas.openxmlformats.org/drawingml/2006/main" noGrp="1"/>
          </p:cNvSpPr>
          <p:nvPr/>
        </p:nvSpPr>
        <p:spPr>
          <a:xfrm xmlns:a="http://schemas.openxmlformats.org/drawingml/2006/main">
            <a:off x="83629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E7833D"/>
                </a:solidFill>
                <a:latin typeface="Yu Gothic"/>
                <a:ea typeface="Yu Gothic"/>
                <a:cs typeface="Yu Gothic"/>
              </a:defRPr>
            </a:pPr>
            <a:r>
              <a:rPr sz="3150" b="1">
                <a:solidFill>
                  <a:srgbClr val="E7833D"/>
                </a:solidFill>
                <a:latin typeface="Yu Gothic"/>
                <a:ea typeface="Yu Gothic"/>
                <a:cs typeface="Yu Gothic"/>
              </a:rPr>
              <a:t>+0.295</a:t>
            </a:r>
          </a:p>
        </p:txBody>
      </p:sp>
      <p:sp>
        <p:nvSpPr>
          <p:cNvPr id="27" name="">
            <a:extLst xmlns:a="http://schemas.openxmlformats.org/drawingml/2006/main">
              <a:ext uri="{FF2B5EF4-FFF2-40B4-BE49-F238E27FC236}">
                <a16:creationId xmlns:a16="http://schemas.microsoft.com/office/drawing/2014/main" id="{3C8E1FDA-292E-4689-81B2-C100DAE8BB5C}"/>
              </a:ext>
            </a:extLst>
          </p:cNvPr>
          <p:cNvSpPr>
            <a:spLocks xmlns:a="http://schemas.openxmlformats.org/drawingml/2006/main" noGrp="1"/>
          </p:cNvSpPr>
          <p:nvPr/>
        </p:nvSpPr>
        <p:spPr>
          <a:xfrm xmlns:a="http://schemas.openxmlformats.org/drawingml/2006/main">
            <a:off x="83629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危険側へ動いた量</a:t>
            </a:r>
          </a:p>
        </p:txBody>
      </p:sp>
      <p:sp>
        <p:nvSpPr>
          <p:cNvPr id="28" name="">
            <a:extLst xmlns:a="http://schemas.openxmlformats.org/drawingml/2006/main">
              <a:ext uri="{FF2B5EF4-FFF2-40B4-BE49-F238E27FC236}">
                <a16:creationId xmlns:a16="http://schemas.microsoft.com/office/drawing/2014/main" id="{D46B090D-AF94-44BD-8384-83CBE6BDE100}"/>
              </a:ext>
            </a:extLst>
          </p:cNvPr>
          <p:cNvSpPr>
            <a:spLocks xmlns:a="http://schemas.openxmlformats.org/drawingml/2006/main" noGrp="1"/>
          </p:cNvSpPr>
          <p:nvPr/>
        </p:nvSpPr>
        <p:spPr>
          <a:xfrm xmlns:a="http://schemas.openxmlformats.org/drawingml/2006/main">
            <a:off x="704850" y="5419725"/>
            <a:ext cx="10782300" cy="666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790D4A9-9F74-468A-BE98-F228E59347D0}"/>
              </a:ext>
            </a:extLst>
          </p:cNvPr>
          <p:cNvSpPr>
            <a:spLocks xmlns:a="http://schemas.openxmlformats.org/drawingml/2006/main" noGrp="1"/>
          </p:cNvSpPr>
          <p:nvPr/>
        </p:nvSpPr>
        <p:spPr>
          <a:xfrm xmlns:a="http://schemas.openxmlformats.org/drawingml/2006/main">
            <a:off x="952500"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26373D"/>
                </a:solidFill>
                <a:latin typeface="Yu Gothic"/>
                <a:ea typeface="Yu Gothic"/>
                <a:cs typeface="Yu Gothic"/>
              </a:defRPr>
            </a:pPr>
            <a:r>
              <a:rPr sz="1500" b="1">
                <a:solidFill>
                  <a:srgbClr val="26373D"/>
                </a:solidFill>
                <a:latin typeface="Yu Gothic"/>
                <a:ea typeface="Yu Gothic"/>
                <a:cs typeface="Yu Gothic"/>
              </a:rPr>
              <a:t>ここで分かるのは、同じ入力への判定が危険側へ動いたことまで。危険理由や性能向上はまだ分からない。</a:t>
            </a:r>
          </a:p>
        </p:txBody>
      </p:sp>
      <p:sp>
        <p:nvSpPr>
          <p:cNvPr id="30" name="">
            <a:extLst xmlns:a="http://schemas.openxmlformats.org/drawingml/2006/main">
              <a:ext uri="{FF2B5EF4-FFF2-40B4-BE49-F238E27FC236}">
                <a16:creationId xmlns:a16="http://schemas.microsoft.com/office/drawing/2014/main" id="{2F15264C-975F-4375-8AB6-5F5A8B826819}"/>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66305530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D9AE655-BC12-4A98-A3D7-D51FAF8989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0942B5-F3E0-46DD-AB3C-224D1EDF25FF}"/>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65F0C9A-A8FB-45E4-9B06-995058E69C72}"/>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複数動画の反応を、3つの値に要約する</a:t>
            </a:r>
          </a:p>
        </p:txBody>
      </p:sp>
      <p:sp>
        <p:nvSpPr>
          <p:cNvPr id="4" name="">
            <a:extLst xmlns:a="http://schemas.openxmlformats.org/drawingml/2006/main">
              <a:ext uri="{FF2B5EF4-FFF2-40B4-BE49-F238E27FC236}">
                <a16:creationId xmlns:a16="http://schemas.microsoft.com/office/drawing/2014/main" id="{65624060-CF41-44BF-80E9-8253596B0E70}"/>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62D25C54-5555-4D91-A34B-ADD4A1354CB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261C18-9145-4ED2-9842-2CB2671A79B8}"/>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E7A1E197-40A5-4AB2-853C-09872B0462C9}"/>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8</a:t>
            </a:r>
          </a:p>
        </p:txBody>
      </p:sp>
      <p:sp>
        <p:nvSpPr>
          <p:cNvPr id="8" name="">
            <a:extLst xmlns:a="http://schemas.openxmlformats.org/drawingml/2006/main">
              <a:ext uri="{FF2B5EF4-FFF2-40B4-BE49-F238E27FC236}">
                <a16:creationId xmlns:a16="http://schemas.microsoft.com/office/drawing/2014/main" id="{4EF74372-C6A2-4B90-958E-4F433A72941A}"/>
              </a:ext>
            </a:extLst>
          </p:cNvPr>
          <p:cNvSpPr>
            <a:spLocks xmlns:a="http://schemas.openxmlformats.org/drawingml/2006/main" noGrp="1"/>
          </p:cNvSpPr>
          <p:nvPr/>
        </p:nvSpPr>
        <p:spPr>
          <a:xfrm xmlns:a="http://schemas.openxmlformats.org/drawingml/2006/main">
            <a:off x="609600" y="1066800"/>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同じ現場側AIの危険動画3本</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2b22431aa974ad8"/>
          <a:srcRect xmlns:a="http://schemas.openxmlformats.org/drawingml/2006/main" l="58" t="0" r="58" b="0"/>
          <a:stretch xmlns:a="http://schemas.openxmlformats.org/drawingml/2006/main">
            <a:fillRect l="0" t="0" r="0" b="0"/>
          </a:stretch>
        </p:blipFill>
        <p:spPr>
          <a:xfrm xmlns:a="http://schemas.openxmlformats.org/drawingml/2006/main">
            <a:off x="609600" y="1466850"/>
            <a:ext cx="1809750" cy="10191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279A9FF-DCFD-4F7B-B8AE-648A114E812A}"/>
              </a:ext>
            </a:extLst>
          </p:cNvPr>
          <p:cNvSpPr>
            <a:spLocks xmlns:a="http://schemas.openxmlformats.org/drawingml/2006/main" noGrp="1"/>
          </p:cNvSpPr>
          <p:nvPr/>
        </p:nvSpPr>
        <p:spPr>
          <a:xfrm xmlns:a="http://schemas.openxmlformats.org/drawingml/2006/main">
            <a:off x="6096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0.600</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+0.336</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66992bd257c4db7"/>
          <a:srcRect xmlns:a="http://schemas.openxmlformats.org/drawingml/2006/main" l="58" t="0" r="58" b="0"/>
          <a:stretch xmlns:a="http://schemas.openxmlformats.org/drawingml/2006/main">
            <a:fillRect l="0" t="0" r="0" b="0"/>
          </a:stretch>
        </p:blipFill>
        <p:spPr>
          <a:xfrm xmlns:a="http://schemas.openxmlformats.org/drawingml/2006/main">
            <a:off x="2609850" y="1466850"/>
            <a:ext cx="1809750" cy="10191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2EE2A24-C214-46F4-8B6C-D85A7E22D85A}"/>
              </a:ext>
            </a:extLst>
          </p:cNvPr>
          <p:cNvSpPr>
            <a:spLocks xmlns:a="http://schemas.openxmlformats.org/drawingml/2006/main" noGrp="1"/>
          </p:cNvSpPr>
          <p:nvPr/>
        </p:nvSpPr>
        <p:spPr>
          <a:xfrm xmlns:a="http://schemas.openxmlformats.org/drawingml/2006/main">
            <a:off x="260985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0.644</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+0.295</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8e92c7790694a02"/>
          <a:srcRect xmlns:a="http://schemas.openxmlformats.org/drawingml/2006/main" l="58" t="0" r="58" b="0"/>
          <a:stretch xmlns:a="http://schemas.openxmlformats.org/drawingml/2006/main">
            <a:fillRect l="0" t="0" r="0" b="0"/>
          </a:stretch>
        </p:blipFill>
        <p:spPr>
          <a:xfrm xmlns:a="http://schemas.openxmlformats.org/drawingml/2006/main">
            <a:off x="4610100" y="1466850"/>
            <a:ext cx="1809750" cy="10191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F8F622F-B299-4734-A6DB-54252209C1F5}"/>
              </a:ext>
            </a:extLst>
          </p:cNvPr>
          <p:cNvSpPr>
            <a:spLocks xmlns:a="http://schemas.openxmlformats.org/drawingml/2006/main" noGrp="1"/>
          </p:cNvSpPr>
          <p:nvPr/>
        </p:nvSpPr>
        <p:spPr>
          <a:xfrm xmlns:a="http://schemas.openxmlformats.org/drawingml/2006/main">
            <a:off x="46101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0.929</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+0.082</a:t>
            </a:r>
          </a:p>
        </p:txBody>
      </p:sp>
      <p:sp>
        <p:nvSpPr>
          <p:cNvPr id="15" name="">
            <a:extLst xmlns:a="http://schemas.openxmlformats.org/drawingml/2006/main">
              <a:ext uri="{FF2B5EF4-FFF2-40B4-BE49-F238E27FC236}">
                <a16:creationId xmlns:a16="http://schemas.microsoft.com/office/drawing/2014/main" id="{2D41CE1D-FDFB-466A-9E2F-C4A56E44A922}"/>
              </a:ext>
            </a:extLst>
          </p:cNvPr>
          <p:cNvSpPr>
            <a:spLocks xmlns:a="http://schemas.openxmlformats.org/drawingml/2006/main" noGrp="1"/>
          </p:cNvSpPr>
          <p:nvPr/>
        </p:nvSpPr>
        <p:spPr>
          <a:xfrm xmlns:a="http://schemas.openxmlformats.org/drawingml/2006/main">
            <a:off x="6762750" y="1123950"/>
            <a:ext cx="19050" cy="2476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C84B578-EAE7-4F90-BD4F-22443D7D7395}"/>
              </a:ext>
            </a:extLst>
          </p:cNvPr>
          <p:cNvSpPr>
            <a:spLocks xmlns:a="http://schemas.openxmlformats.org/drawingml/2006/main" noGrp="1"/>
          </p:cNvSpPr>
          <p:nvPr/>
        </p:nvSpPr>
        <p:spPr>
          <a:xfrm xmlns:a="http://schemas.openxmlformats.org/drawingml/2006/main">
            <a:off x="7143750" y="11239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73B4B"/>
                </a:solidFill>
                <a:latin typeface="Yu Gothic"/>
                <a:ea typeface="Yu Gothic"/>
                <a:cs typeface="Yu Gothic"/>
              </a:defRPr>
            </a:pPr>
            <a:r>
              <a:rPr sz="1875" b="1">
                <a:solidFill>
                  <a:srgbClr val="173B4B"/>
                </a:solidFill>
                <a:latin typeface="Yu Gothic"/>
                <a:ea typeface="Yu Gothic"/>
                <a:cs typeface="Yu Gothic"/>
              </a:rPr>
              <a:t>3本を平均して作る Q_{k,r}</a:t>
            </a:r>
          </a:p>
        </p:txBody>
      </p:sp>
      <p:sp>
        <p:nvSpPr>
          <p:cNvPr id="17" name="">
            <a:extLst xmlns:a="http://schemas.openxmlformats.org/drawingml/2006/main">
              <a:ext uri="{FF2B5EF4-FFF2-40B4-BE49-F238E27FC236}">
                <a16:creationId xmlns:a16="http://schemas.microsoft.com/office/drawing/2014/main" id="{6131D49B-C703-4769-A216-CFDAF1A82674}"/>
              </a:ext>
            </a:extLst>
          </p:cNvPr>
          <p:cNvSpPr>
            <a:spLocks xmlns:a="http://schemas.openxmlformats.org/drawingml/2006/main" noGrp="1"/>
          </p:cNvSpPr>
          <p:nvPr/>
        </p:nvSpPr>
        <p:spPr>
          <a:xfrm xmlns:a="http://schemas.openxmlformats.org/drawingml/2006/main">
            <a:off x="73342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μ^{post}_{k,r}</a:t>
            </a:r>
          </a:p>
        </p:txBody>
      </p:sp>
      <p:sp>
        <p:nvSpPr>
          <p:cNvPr id="18" name="">
            <a:extLst xmlns:a="http://schemas.openxmlformats.org/drawingml/2006/main">
              <a:ext uri="{FF2B5EF4-FFF2-40B4-BE49-F238E27FC236}">
                <a16:creationId xmlns:a16="http://schemas.microsoft.com/office/drawing/2014/main" id="{F1152228-BC84-4B22-AB94-9DA595E1B2A2}"/>
              </a:ext>
            </a:extLst>
          </p:cNvPr>
          <p:cNvSpPr>
            <a:spLocks xmlns:a="http://schemas.openxmlformats.org/drawingml/2006/main" noGrp="1"/>
          </p:cNvSpPr>
          <p:nvPr/>
        </p:nvSpPr>
        <p:spPr>
          <a:xfrm xmlns:a="http://schemas.openxmlformats.org/drawingml/2006/main">
            <a:off x="73342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0.724</a:t>
            </a:r>
          </a:p>
        </p:txBody>
      </p:sp>
      <p:sp>
        <p:nvSpPr>
          <p:cNvPr id="19" name="">
            <a:extLst xmlns:a="http://schemas.openxmlformats.org/drawingml/2006/main">
              <a:ext uri="{FF2B5EF4-FFF2-40B4-BE49-F238E27FC236}">
                <a16:creationId xmlns:a16="http://schemas.microsoft.com/office/drawing/2014/main" id="{7C545D1A-1B00-43FC-947C-00BBBE8DAA75}"/>
              </a:ext>
            </a:extLst>
          </p:cNvPr>
          <p:cNvSpPr>
            <a:spLocks xmlns:a="http://schemas.openxmlformats.org/drawingml/2006/main" noGrp="1"/>
          </p:cNvSpPr>
          <p:nvPr/>
        </p:nvSpPr>
        <p:spPr>
          <a:xfrm xmlns:a="http://schemas.openxmlformats.org/drawingml/2006/main">
            <a:off x="73342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学習後の危険確率</a:t>
            </a:r>
          </a:p>
        </p:txBody>
      </p:sp>
      <p:sp>
        <p:nvSpPr>
          <p:cNvPr id="20" name="">
            <a:extLst xmlns:a="http://schemas.openxmlformats.org/drawingml/2006/main">
              <a:ext uri="{FF2B5EF4-FFF2-40B4-BE49-F238E27FC236}">
                <a16:creationId xmlns:a16="http://schemas.microsoft.com/office/drawing/2014/main" id="{B33FAD10-80B8-425A-962E-006F944C1F08}"/>
              </a:ext>
            </a:extLst>
          </p:cNvPr>
          <p:cNvSpPr>
            <a:spLocks xmlns:a="http://schemas.openxmlformats.org/drawingml/2006/main" noGrp="1"/>
          </p:cNvSpPr>
          <p:nvPr/>
        </p:nvSpPr>
        <p:spPr>
          <a:xfrm xmlns:a="http://schemas.openxmlformats.org/drawingml/2006/main">
            <a:off x="94297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Δμ_{k,r}</a:t>
            </a:r>
          </a:p>
        </p:txBody>
      </p:sp>
      <p:sp>
        <p:nvSpPr>
          <p:cNvPr id="21" name="">
            <a:extLst xmlns:a="http://schemas.openxmlformats.org/drawingml/2006/main">
              <a:ext uri="{FF2B5EF4-FFF2-40B4-BE49-F238E27FC236}">
                <a16:creationId xmlns:a16="http://schemas.microsoft.com/office/drawing/2014/main" id="{73FBD777-AA4B-4D78-984A-FA2E697A51E4}"/>
              </a:ext>
            </a:extLst>
          </p:cNvPr>
          <p:cNvSpPr>
            <a:spLocks xmlns:a="http://schemas.openxmlformats.org/drawingml/2006/main" noGrp="1"/>
          </p:cNvSpPr>
          <p:nvPr/>
        </p:nvSpPr>
        <p:spPr>
          <a:xfrm xmlns:a="http://schemas.openxmlformats.org/drawingml/2006/main">
            <a:off x="94297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+0.238</a:t>
            </a:r>
          </a:p>
        </p:txBody>
      </p:sp>
      <p:sp>
        <p:nvSpPr>
          <p:cNvPr id="22" name="">
            <a:extLst xmlns:a="http://schemas.openxmlformats.org/drawingml/2006/main">
              <a:ext uri="{FF2B5EF4-FFF2-40B4-BE49-F238E27FC236}">
                <a16:creationId xmlns:a16="http://schemas.microsoft.com/office/drawing/2014/main" id="{1D6AC6BC-C1FE-4C27-A018-DF1774AB3F6B}"/>
              </a:ext>
            </a:extLst>
          </p:cNvPr>
          <p:cNvSpPr>
            <a:spLocks xmlns:a="http://schemas.openxmlformats.org/drawingml/2006/main" noGrp="1"/>
          </p:cNvSpPr>
          <p:nvPr/>
        </p:nvSpPr>
        <p:spPr>
          <a:xfrm xmlns:a="http://schemas.openxmlformats.org/drawingml/2006/main">
            <a:off x="94297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平均した変化量</a:t>
            </a:r>
          </a:p>
        </p:txBody>
      </p:sp>
      <p:sp>
        <p:nvSpPr>
          <p:cNvPr id="23" name="">
            <a:extLst xmlns:a="http://schemas.openxmlformats.org/drawingml/2006/main">
              <a:ext uri="{FF2B5EF4-FFF2-40B4-BE49-F238E27FC236}">
                <a16:creationId xmlns:a16="http://schemas.microsoft.com/office/drawing/2014/main" id="{C10C56EE-663F-480B-A75C-8ADC7F56B543}"/>
              </a:ext>
            </a:extLst>
          </p:cNvPr>
          <p:cNvSpPr>
            <a:spLocks xmlns:a="http://schemas.openxmlformats.org/drawingml/2006/main" noGrp="1"/>
          </p:cNvSpPr>
          <p:nvPr/>
        </p:nvSpPr>
        <p:spPr>
          <a:xfrm xmlns:a="http://schemas.openxmlformats.org/drawingml/2006/main">
            <a:off x="7334250" y="308610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π_{k,r}=3　まとめた動画の本数</a:t>
            </a:r>
          </a:p>
        </p:txBody>
      </p:sp>
      <p:sp>
        <p:nvSpPr>
          <p:cNvPr id="24" name="">
            <a:extLst xmlns:a="http://schemas.openxmlformats.org/drawingml/2006/main">
              <a:ext uri="{FF2B5EF4-FFF2-40B4-BE49-F238E27FC236}">
                <a16:creationId xmlns:a16="http://schemas.microsoft.com/office/drawing/2014/main" id="{508BFD36-02B1-4D49-8A4F-7B21E4CCE4A1}"/>
              </a:ext>
            </a:extLst>
          </p:cNvPr>
          <p:cNvSpPr>
            <a:spLocks xmlns:a="http://schemas.openxmlformats.org/drawingml/2006/main" noGrp="1"/>
          </p:cNvSpPr>
          <p:nvPr/>
        </p:nvSpPr>
        <p:spPr>
          <a:xfrm xmlns:a="http://schemas.openxmlformats.org/drawingml/2006/main">
            <a:off x="609600" y="3810000"/>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D12E7C4-3411-4EA0-8E06-4EC780512656}"/>
              </a:ext>
            </a:extLst>
          </p:cNvPr>
          <p:cNvSpPr>
            <a:spLocks xmlns:a="http://schemas.openxmlformats.org/drawingml/2006/main" noGrp="1"/>
          </p:cNvSpPr>
          <p:nvPr/>
        </p:nvSpPr>
        <p:spPr>
          <a:xfrm xmlns:a="http://schemas.openxmlformats.org/drawingml/2006/main">
            <a:off x="857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中央側へ送る</a:t>
            </a:r>
          </a:p>
        </p:txBody>
      </p:sp>
      <p:sp>
        <p:nvSpPr>
          <p:cNvPr id="26" name="">
            <a:extLst xmlns:a="http://schemas.openxmlformats.org/drawingml/2006/main">
              <a:ext uri="{FF2B5EF4-FFF2-40B4-BE49-F238E27FC236}">
                <a16:creationId xmlns:a16="http://schemas.microsoft.com/office/drawing/2014/main" id="{D26A83D6-607A-4AC4-B82F-2731C735C570}"/>
              </a:ext>
            </a:extLst>
          </p:cNvPr>
          <p:cNvSpPr>
            <a:spLocks xmlns:a="http://schemas.openxmlformats.org/drawingml/2006/main" noGrp="1"/>
          </p:cNvSpPr>
          <p:nvPr/>
        </p:nvSpPr>
        <p:spPr>
          <a:xfrm xmlns:a="http://schemas.openxmlformats.org/drawingml/2006/main">
            <a:off x="876300" y="4619625"/>
            <a:ext cx="2857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小型AIの更新情報</a:t>
            </a:r>
          </a:p>
        </p:txBody>
      </p:sp>
      <p:sp>
        <p:nvSpPr>
          <p:cNvPr id="27" name="">
            <a:extLst xmlns:a="http://schemas.openxmlformats.org/drawingml/2006/main">
              <a:ext uri="{FF2B5EF4-FFF2-40B4-BE49-F238E27FC236}">
                <a16:creationId xmlns:a16="http://schemas.microsoft.com/office/drawing/2014/main" id="{DA641D7D-EFF1-4617-9A99-015F11E84C57}"/>
              </a:ext>
            </a:extLst>
          </p:cNvPr>
          <p:cNvSpPr>
            <a:spLocks xmlns:a="http://schemas.openxmlformats.org/drawingml/2006/main" noGrp="1"/>
          </p:cNvSpPr>
          <p:nvPr/>
        </p:nvSpPr>
        <p:spPr>
          <a:xfrm xmlns:a="http://schemas.openxmlformats.org/drawingml/2006/main">
            <a:off x="4000500" y="4619625"/>
            <a:ext cx="4667250" cy="4572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Q_{k,r}=(μ^{post}_{k,r}, Δμ_{k,r}, π_{k,r})</a:t>
            </a:r>
          </a:p>
        </p:txBody>
      </p:sp>
      <p:sp>
        <p:nvSpPr>
          <p:cNvPr id="28" name="">
            <a:extLst xmlns:a="http://schemas.openxmlformats.org/drawingml/2006/main">
              <a:ext uri="{FF2B5EF4-FFF2-40B4-BE49-F238E27FC236}">
                <a16:creationId xmlns:a16="http://schemas.microsoft.com/office/drawing/2014/main" id="{204249FF-A6BE-4F45-ABDD-DD34BD4EFB7C}"/>
              </a:ext>
            </a:extLst>
          </p:cNvPr>
          <p:cNvSpPr>
            <a:spLocks xmlns:a="http://schemas.openxmlformats.org/drawingml/2006/main" noGrp="1"/>
          </p:cNvSpPr>
          <p:nvPr/>
        </p:nvSpPr>
        <p:spPr>
          <a:xfrm xmlns:a="http://schemas.openxmlformats.org/drawingml/2006/main">
            <a:off x="8858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94A3A"/>
                </a:solidFill>
                <a:latin typeface="Yu Gothic"/>
                <a:ea typeface="Yu Gothic"/>
                <a:cs typeface="Yu Gothic"/>
              </a:defRPr>
            </a:pPr>
            <a:r>
              <a:rPr sz="1650" b="1">
                <a:solidFill>
                  <a:srgbClr val="B94A3A"/>
                </a:solidFill>
                <a:latin typeface="Yu Gothic"/>
                <a:ea typeface="Yu Gothic"/>
                <a:cs typeface="Yu Gothic"/>
              </a:rPr>
              <a:t>中央側へ送らない</a:t>
            </a:r>
          </a:p>
        </p:txBody>
      </p:sp>
      <p:sp>
        <p:nvSpPr>
          <p:cNvPr id="29" name="">
            <a:extLst xmlns:a="http://schemas.openxmlformats.org/drawingml/2006/main">
              <a:ext uri="{FF2B5EF4-FFF2-40B4-BE49-F238E27FC236}">
                <a16:creationId xmlns:a16="http://schemas.microsoft.com/office/drawing/2014/main" id="{67FF5889-4523-4AF7-B321-9289B1EE431A}"/>
              </a:ext>
            </a:extLst>
          </p:cNvPr>
          <p:cNvSpPr>
            <a:spLocks xmlns:a="http://schemas.openxmlformats.org/drawingml/2006/main" noGrp="1"/>
          </p:cNvSpPr>
          <p:nvPr/>
        </p:nvSpPr>
        <p:spPr>
          <a:xfrm xmlns:a="http://schemas.openxmlformats.org/drawingml/2006/main">
            <a:off x="8858250" y="46196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B94A3A"/>
                </a:solidFill>
                <a:latin typeface="Yu Gothic"/>
                <a:ea typeface="Yu Gothic"/>
                <a:cs typeface="Yu Gothic"/>
              </a:defRPr>
            </a:pPr>
            <a:r>
              <a:rPr sz="1500" b="1">
                <a:solidFill>
                  <a:srgbClr val="B94A3A"/>
                </a:solidFill>
                <a:latin typeface="Yu Gothic"/>
                <a:ea typeface="Yu Gothic"/>
                <a:cs typeface="Yu Gothic"/>
              </a:rPr>
              <a:t>元動画・画像・動画ごとの識別情報</a:t>
            </a:r>
          </a:p>
        </p:txBody>
      </p:sp>
      <p:sp>
        <p:nvSpPr>
          <p:cNvPr id="30" name="">
            <a:extLst xmlns:a="http://schemas.openxmlformats.org/drawingml/2006/main">
              <a:ext uri="{FF2B5EF4-FFF2-40B4-BE49-F238E27FC236}">
                <a16:creationId xmlns:a16="http://schemas.microsoft.com/office/drawing/2014/main" id="{A501ACBF-E8D3-4019-B35C-5D2F8C4CCFB7}"/>
              </a:ext>
            </a:extLst>
          </p:cNvPr>
          <p:cNvSpPr>
            <a:spLocks xmlns:a="http://schemas.openxmlformats.org/drawingml/2006/main" noGrp="1"/>
          </p:cNvSpPr>
          <p:nvPr/>
        </p:nvSpPr>
        <p:spPr>
          <a:xfrm xmlns:a="http://schemas.openxmlformats.org/drawingml/2006/main">
            <a:off x="952500" y="55911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小型AIの更新は連合平均へ、Q_{k,r}は代理データ生成へ。Q_{k,r}自体は平均しない。</a:t>
            </a:r>
          </a:p>
        </p:txBody>
      </p:sp>
    </p:spTree>
    <p:extLst>
      <p:ext uri="{BB962C8B-B14F-4D97-AF65-F5344CB8AC3E}">
        <p14:creationId xmlns:p14="http://schemas.microsoft.com/office/powerpoint/2010/main" val="158354026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D81D2EC-AEA4-4462-99F1-F516A5D6EE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BCD9B5-BCCF-4234-9BFC-F9A658D60BB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A699AE-6C2E-4503-B68C-AB80A00493D5}"/>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中央側の動画から、代理データを選ぶ</a:t>
            </a:r>
          </a:p>
        </p:txBody>
      </p:sp>
      <p:sp>
        <p:nvSpPr>
          <p:cNvPr id="4" name="">
            <a:extLst xmlns:a="http://schemas.openxmlformats.org/drawingml/2006/main">
              <a:ext uri="{FF2B5EF4-FFF2-40B4-BE49-F238E27FC236}">
                <a16:creationId xmlns:a16="http://schemas.microsoft.com/office/drawing/2014/main" id="{709E401E-E6E2-48D8-90D4-540815DF9651}"/>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484F1860-564F-4BD3-9E21-79B67ED856A9}"/>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8CA4B3-C066-458F-A3C3-AFBA34E6952A}"/>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F3A4220-8DBB-4841-B396-BA810C786D59}"/>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8</a:t>
            </a:r>
          </a:p>
        </p:txBody>
      </p:sp>
      <p:sp>
        <p:nvSpPr>
          <p:cNvPr id="8" name="">
            <a:extLst xmlns:a="http://schemas.openxmlformats.org/drawingml/2006/main">
              <a:ext uri="{FF2B5EF4-FFF2-40B4-BE49-F238E27FC236}">
                <a16:creationId xmlns:a16="http://schemas.microsoft.com/office/drawing/2014/main" id="{CCF0AAE6-6FF1-451E-A6CA-203E7E9CA3FE}"/>
              </a:ext>
            </a:extLst>
          </p:cNvPr>
          <p:cNvSpPr>
            <a:spLocks xmlns:a="http://schemas.openxmlformats.org/drawingml/2006/main" noGrp="1"/>
          </p:cNvSpPr>
          <p:nvPr/>
        </p:nvSpPr>
        <p:spPr>
          <a:xfrm xmlns:a="http://schemas.openxmlformats.org/drawingml/2006/main">
            <a:off x="609600" y="1066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17078"/>
                </a:solidFill>
                <a:latin typeface="Yu Gothic"/>
                <a:ea typeface="Yu Gothic"/>
                <a:cs typeface="Yu Gothic"/>
              </a:defRPr>
            </a:pPr>
            <a:r>
              <a:rPr sz="1425" b="1">
                <a:solidFill>
                  <a:srgbClr val="617078"/>
                </a:solidFill>
                <a:latin typeface="Yu Gothic"/>
                <a:ea typeface="Yu Gothic"/>
                <a:cs typeface="Yu Gothic"/>
              </a:rPr>
              <a:t>入力</a:t>
            </a:r>
          </a:p>
        </p:txBody>
      </p:sp>
      <p:sp>
        <p:nvSpPr>
          <p:cNvPr id="9" name="">
            <a:extLst xmlns:a="http://schemas.openxmlformats.org/drawingml/2006/main">
              <a:ext uri="{FF2B5EF4-FFF2-40B4-BE49-F238E27FC236}">
                <a16:creationId xmlns:a16="http://schemas.microsoft.com/office/drawing/2014/main" id="{2E3D3F7D-0AFF-4594-B125-B3F06638F213}"/>
              </a:ext>
            </a:extLst>
          </p:cNvPr>
          <p:cNvSpPr>
            <a:spLocks xmlns:a="http://schemas.openxmlformats.org/drawingml/2006/main" noGrp="1"/>
          </p:cNvSpPr>
          <p:nvPr/>
        </p:nvSpPr>
        <p:spPr>
          <a:xfrm xmlns:a="http://schemas.openxmlformats.org/drawingml/2006/main">
            <a:off x="628650" y="1457325"/>
            <a:ext cx="1714500" cy="51435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73B4B"/>
                </a:solidFill>
                <a:latin typeface="Yu Gothic"/>
                <a:ea typeface="Yu Gothic"/>
                <a:cs typeface="Yu Gothic"/>
              </a:defRPr>
            </a:pPr>
            <a:r>
              <a:rPr sz="2025" b="1">
                <a:solidFill>
                  <a:srgbClr val="173B4B"/>
                </a:solidFill>
                <a:latin typeface="Yu Gothic"/>
                <a:ea typeface="Yu Gothic"/>
                <a:cs typeface="Yu Gothic"/>
              </a:rPr>
              <a:t>Q_{k,r}</a:t>
            </a:r>
          </a:p>
        </p:txBody>
      </p:sp>
      <p:sp>
        <p:nvSpPr>
          <p:cNvPr id="10" name="">
            <a:extLst xmlns:a="http://schemas.openxmlformats.org/drawingml/2006/main">
              <a:ext uri="{FF2B5EF4-FFF2-40B4-BE49-F238E27FC236}">
                <a16:creationId xmlns:a16="http://schemas.microsoft.com/office/drawing/2014/main" id="{3C9ABBEC-386F-4DFE-824D-D73C1A430AF5}"/>
              </a:ext>
            </a:extLst>
          </p:cNvPr>
          <p:cNvSpPr>
            <a:spLocks xmlns:a="http://schemas.openxmlformats.org/drawingml/2006/main" noGrp="1"/>
          </p:cNvSpPr>
          <p:nvPr/>
        </p:nvSpPr>
        <p:spPr>
          <a:xfrm xmlns:a="http://schemas.openxmlformats.org/drawingml/2006/main">
            <a:off x="628650" y="2095500"/>
            <a:ext cx="171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危険 0.724</a:t>
            </a:r>
          </a:p>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変化 +0.238</a:t>
            </a:r>
          </a:p>
        </p:txBody>
      </p:sp>
      <p:sp>
        <p:nvSpPr>
          <p:cNvPr id="11" name="">
            <a:extLst xmlns:a="http://schemas.openxmlformats.org/drawingml/2006/main">
              <a:ext uri="{FF2B5EF4-FFF2-40B4-BE49-F238E27FC236}">
                <a16:creationId xmlns:a16="http://schemas.microsoft.com/office/drawing/2014/main" id="{AC7DE794-C654-4BC6-91A4-F5E57D8C22A6}"/>
              </a:ext>
            </a:extLst>
          </p:cNvPr>
          <p:cNvSpPr>
            <a:spLocks xmlns:a="http://schemas.openxmlformats.org/drawingml/2006/main" noGrp="1"/>
          </p:cNvSpPr>
          <p:nvPr/>
        </p:nvSpPr>
        <p:spPr>
          <a:xfrm xmlns:a="http://schemas.openxmlformats.org/drawingml/2006/main">
            <a:off x="2562225"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28D9D7A-2E0B-4C8E-9184-E6D0BF6D51AF}"/>
              </a:ext>
            </a:extLst>
          </p:cNvPr>
          <p:cNvSpPr>
            <a:spLocks xmlns:a="http://schemas.openxmlformats.org/drawingml/2006/main" noGrp="1"/>
          </p:cNvSpPr>
          <p:nvPr/>
        </p:nvSpPr>
        <p:spPr>
          <a:xfrm xmlns:a="http://schemas.openxmlformats.org/drawingml/2006/main">
            <a:off x="3219450" y="117157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中央側の候補動画 60本</a:t>
            </a:r>
          </a:p>
        </p:txBody>
      </p:sp>
      <p:sp>
        <p:nvSpPr>
          <p:cNvPr id="13" name="">
            <a:extLst xmlns:a="http://schemas.openxmlformats.org/drawingml/2006/main">
              <a:ext uri="{FF2B5EF4-FFF2-40B4-BE49-F238E27FC236}">
                <a16:creationId xmlns:a16="http://schemas.microsoft.com/office/drawing/2014/main" id="{4649CAB3-8226-4C97-A80A-50F89BF67A0E}"/>
              </a:ext>
            </a:extLst>
          </p:cNvPr>
          <p:cNvSpPr>
            <a:spLocks xmlns:a="http://schemas.openxmlformats.org/drawingml/2006/main" noGrp="1"/>
          </p:cNvSpPr>
          <p:nvPr/>
        </p:nvSpPr>
        <p:spPr>
          <a:xfrm xmlns:a="http://schemas.openxmlformats.org/drawingml/2006/main">
            <a:off x="3219450" y="1543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通常30本　危険30本</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9265334ddc25415c"/>
          <a:srcRect xmlns:a="http://schemas.openxmlformats.org/drawingml/2006/main" l="68" t="0" r="68" b="0"/>
          <a:stretch xmlns:a="http://schemas.openxmlformats.org/drawingml/2006/main">
            <a:fillRect l="0" t="0" r="0" b="0"/>
          </a:stretch>
        </p:blipFill>
        <p:spPr>
          <a:xfrm xmlns:a="http://schemas.openxmlformats.org/drawingml/2006/main">
            <a:off x="3295650" y="1981200"/>
            <a:ext cx="2333625" cy="13144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E3E3561C-A4B7-4612-9962-3C9F9268AA14}"/>
              </a:ext>
            </a:extLst>
          </p:cNvPr>
          <p:cNvSpPr>
            <a:spLocks xmlns:a="http://schemas.openxmlformats.org/drawingml/2006/main" noGrp="1"/>
          </p:cNvSpPr>
          <p:nvPr/>
        </p:nvSpPr>
        <p:spPr>
          <a:xfrm xmlns:a="http://schemas.openxmlformats.org/drawingml/2006/main">
            <a:off x="3295650" y="33813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検索1位：正解ラベルは通常</a:t>
            </a:r>
          </a:p>
        </p:txBody>
      </p:sp>
      <p:sp>
        <p:nvSpPr>
          <p:cNvPr id="16" name="">
            <a:extLst xmlns:a="http://schemas.openxmlformats.org/drawingml/2006/main">
              <a:ext uri="{FF2B5EF4-FFF2-40B4-BE49-F238E27FC236}">
                <a16:creationId xmlns:a16="http://schemas.microsoft.com/office/drawing/2014/main" id="{D558407D-0E3B-419B-AB7B-78AE92C87155}"/>
              </a:ext>
            </a:extLst>
          </p:cNvPr>
          <p:cNvSpPr>
            <a:spLocks xmlns:a="http://schemas.openxmlformats.org/drawingml/2006/main" noGrp="1"/>
          </p:cNvSpPr>
          <p:nvPr/>
        </p:nvSpPr>
        <p:spPr>
          <a:xfrm xmlns:a="http://schemas.openxmlformats.org/drawingml/2006/main">
            <a:off x="5848350"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D62DC01-F6D7-47B1-BD09-9411CD13CC03}"/>
              </a:ext>
            </a:extLst>
          </p:cNvPr>
          <p:cNvSpPr>
            <a:spLocks xmlns:a="http://schemas.openxmlformats.org/drawingml/2006/main" noGrp="1"/>
          </p:cNvSpPr>
          <p:nvPr/>
        </p:nvSpPr>
        <p:spPr>
          <a:xfrm xmlns:a="http://schemas.openxmlformats.org/drawingml/2006/main">
            <a:off x="6515100" y="1171575"/>
            <a:ext cx="481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上位3本を5通りに変換</a:t>
            </a:r>
          </a:p>
        </p:txBody>
      </p:sp>
      <p:sp>
        <p:nvSpPr>
          <p:cNvPr id="18" name="">
            <a:extLst xmlns:a="http://schemas.openxmlformats.org/drawingml/2006/main">
              <a:ext uri="{FF2B5EF4-FFF2-40B4-BE49-F238E27FC236}">
                <a16:creationId xmlns:a16="http://schemas.microsoft.com/office/drawing/2014/main" id="{D882ADB7-66DC-4258-BABD-2E4C3FAE32D5}"/>
              </a:ext>
            </a:extLst>
          </p:cNvPr>
          <p:cNvSpPr>
            <a:spLocks xmlns:a="http://schemas.openxmlformats.org/drawingml/2006/main" noGrp="1"/>
          </p:cNvSpPr>
          <p:nvPr/>
        </p:nvSpPr>
        <p:spPr>
          <a:xfrm xmlns:a="http://schemas.openxmlformats.org/drawingml/2006/main">
            <a:off x="6515100" y="15430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1つのQにつき15候補　4つのQで合計60候補</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3e8a5bdea4b3415d"/>
          <a:srcRect xmlns:a="http://schemas.openxmlformats.org/drawingml/2006/main" l="10156" t="0" r="10156" b="0"/>
          <a:stretch xmlns:a="http://schemas.openxmlformats.org/drawingml/2006/main">
            <a:fillRect l="0" t="0" r="0" b="0"/>
          </a:stretch>
        </p:blipFill>
        <p:spPr>
          <a:xfrm xmlns:a="http://schemas.openxmlformats.org/drawingml/2006/main">
            <a:off x="6353175" y="1981200"/>
            <a:ext cx="971550" cy="6858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24BE015A-F9D1-498D-ACBD-40C0B24B794F}"/>
              </a:ext>
            </a:extLst>
          </p:cNvPr>
          <p:cNvSpPr>
            <a:spLocks xmlns:a="http://schemas.openxmlformats.org/drawingml/2006/main" noGrp="1"/>
          </p:cNvSpPr>
          <p:nvPr/>
        </p:nvSpPr>
        <p:spPr>
          <a:xfrm xmlns:a="http://schemas.openxmlformats.org/drawingml/2006/main">
            <a:off x="6324600" y="1952625"/>
            <a:ext cx="1028700" cy="742950"/>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21" name="">
            <a:extLst xmlns:a="http://schemas.openxmlformats.org/drawingml/2006/main">
              <a:ext uri="{FF2B5EF4-FFF2-40B4-BE49-F238E27FC236}">
                <a16:creationId xmlns:a16="http://schemas.microsoft.com/office/drawing/2014/main" id="{E2002CBE-5BB5-43B5-B315-50F437F544C4}"/>
              </a:ext>
            </a:extLst>
          </p:cNvPr>
          <p:cNvSpPr>
            <a:spLocks xmlns:a="http://schemas.openxmlformats.org/drawingml/2006/main" noGrp="1"/>
          </p:cNvSpPr>
          <p:nvPr/>
        </p:nvSpPr>
        <p:spPr>
          <a:xfrm xmlns:a="http://schemas.openxmlformats.org/drawingml/2006/main">
            <a:off x="63150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7833D"/>
                </a:solidFill>
                <a:latin typeface="Yu Gothic"/>
                <a:ea typeface="Yu Gothic"/>
                <a:cs typeface="Yu Gothic"/>
              </a:defRPr>
            </a:pPr>
            <a:r>
              <a:rPr sz="1050" b="1">
                <a:solidFill>
                  <a:srgbClr val="E7833D"/>
                </a:solidFill>
                <a:latin typeface="Yu Gothic"/>
                <a:ea typeface="Yu Gothic"/>
                <a:cs typeface="Yu Gothic"/>
              </a:rPr>
              <a:t>変更なし</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8712d6582671412d"/>
          <a:srcRect xmlns:a="http://schemas.openxmlformats.org/drawingml/2006/main" l="10156" t="0" r="10156" b="0"/>
          <a:stretch xmlns:a="http://schemas.openxmlformats.org/drawingml/2006/main">
            <a:fillRect l="0" t="0" r="0" b="0"/>
          </a:stretch>
        </p:blipFill>
        <p:spPr>
          <a:xfrm xmlns:a="http://schemas.openxmlformats.org/drawingml/2006/main">
            <a:off x="7410450" y="1981200"/>
            <a:ext cx="971550" cy="6858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D71C9D18-505C-40DA-8A7E-83B336E47A0B}"/>
              </a:ext>
            </a:extLst>
          </p:cNvPr>
          <p:cNvSpPr>
            <a:spLocks xmlns:a="http://schemas.openxmlformats.org/drawingml/2006/main" noGrp="1"/>
          </p:cNvSpPr>
          <p:nvPr/>
        </p:nvSpPr>
        <p:spPr>
          <a:xfrm xmlns:a="http://schemas.openxmlformats.org/drawingml/2006/main">
            <a:off x="737235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暗くする</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f51052d3ba2d4061"/>
          <a:srcRect xmlns:a="http://schemas.openxmlformats.org/drawingml/2006/main" l="10156" t="0" r="10156" b="0"/>
          <a:stretch xmlns:a="http://schemas.openxmlformats.org/drawingml/2006/main">
            <a:fillRect l="0" t="0" r="0" b="0"/>
          </a:stretch>
        </p:blipFill>
        <p:spPr>
          <a:xfrm xmlns:a="http://schemas.openxmlformats.org/drawingml/2006/main">
            <a:off x="8467725" y="1981200"/>
            <a:ext cx="971550" cy="6858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C8A6FA68-158F-4FC9-BC99-CA77C77D4F9A}"/>
              </a:ext>
            </a:extLst>
          </p:cNvPr>
          <p:cNvSpPr>
            <a:spLocks xmlns:a="http://schemas.openxmlformats.org/drawingml/2006/main" noGrp="1"/>
          </p:cNvSpPr>
          <p:nvPr/>
        </p:nvSpPr>
        <p:spPr>
          <a:xfrm xmlns:a="http://schemas.openxmlformats.org/drawingml/2006/main">
            <a:off x="842962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明るくする</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628acca8bed542c0"/>
          <a:srcRect xmlns:a="http://schemas.openxmlformats.org/drawingml/2006/main" l="10156" t="0" r="10156" b="0"/>
          <a:stretch xmlns:a="http://schemas.openxmlformats.org/drawingml/2006/main">
            <a:fillRect l="0" t="0" r="0" b="0"/>
          </a:stretch>
        </p:blipFill>
        <p:spPr>
          <a:xfrm xmlns:a="http://schemas.openxmlformats.org/drawingml/2006/main">
            <a:off x="9525000" y="1981200"/>
            <a:ext cx="971550" cy="6858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6B5B1DFF-CC55-4A50-9620-CC9768635BD0}"/>
              </a:ext>
            </a:extLst>
          </p:cNvPr>
          <p:cNvSpPr>
            <a:spLocks xmlns:a="http://schemas.openxmlformats.org/drawingml/2006/main" noGrp="1"/>
          </p:cNvSpPr>
          <p:nvPr/>
        </p:nvSpPr>
        <p:spPr>
          <a:xfrm xmlns:a="http://schemas.openxmlformats.org/drawingml/2006/main">
            <a:off x="948690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コントラスト</a:t>
            </a:r>
          </a:p>
        </p:txBody>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bd78fa3e41754218"/>
          <a:srcRect xmlns:a="http://schemas.openxmlformats.org/drawingml/2006/main" l="10156" t="0" r="10156" b="0"/>
          <a:stretch xmlns:a="http://schemas.openxmlformats.org/drawingml/2006/main">
            <a:fillRect l="0" t="0" r="0" b="0"/>
          </a:stretch>
        </p:blipFill>
        <p:spPr>
          <a:xfrm xmlns:a="http://schemas.openxmlformats.org/drawingml/2006/main">
            <a:off x="10582275" y="1981200"/>
            <a:ext cx="971550" cy="6858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FCD9328D-8E96-440B-A0A8-7F14E88DBC0D}"/>
              </a:ext>
            </a:extLst>
          </p:cNvPr>
          <p:cNvSpPr>
            <a:spLocks xmlns:a="http://schemas.openxmlformats.org/drawingml/2006/main" noGrp="1"/>
          </p:cNvSpPr>
          <p:nvPr/>
        </p:nvSpPr>
        <p:spPr>
          <a:xfrm xmlns:a="http://schemas.openxmlformats.org/drawingml/2006/main">
            <a:off x="105441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中央を切り出す</a:t>
            </a:r>
          </a:p>
        </p:txBody>
      </p:sp>
      <p:sp>
        <p:nvSpPr>
          <p:cNvPr id="30" name="">
            <a:extLst xmlns:a="http://schemas.openxmlformats.org/drawingml/2006/main">
              <a:ext uri="{FF2B5EF4-FFF2-40B4-BE49-F238E27FC236}">
                <a16:creationId xmlns:a16="http://schemas.microsoft.com/office/drawing/2014/main" id="{20761C52-EB3B-4C28-848B-975E5FE44363}"/>
              </a:ext>
            </a:extLst>
          </p:cNvPr>
          <p:cNvSpPr>
            <a:spLocks xmlns:a="http://schemas.openxmlformats.org/drawingml/2006/main" noGrp="1"/>
          </p:cNvSpPr>
          <p:nvPr/>
        </p:nvSpPr>
        <p:spPr>
          <a:xfrm xmlns:a="http://schemas.openxmlformats.org/drawingml/2006/main">
            <a:off x="609600" y="3838575"/>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4677349-BD0F-4B8F-B1E0-84CC0FDAAAC1}"/>
              </a:ext>
            </a:extLst>
          </p:cNvPr>
          <p:cNvSpPr>
            <a:spLocks xmlns:a="http://schemas.openxmlformats.org/drawingml/2006/main" noGrp="1"/>
          </p:cNvSpPr>
          <p:nvPr/>
        </p:nvSpPr>
        <p:spPr>
          <a:xfrm xmlns:a="http://schemas.openxmlformats.org/drawingml/2006/main">
            <a:off x="666750" y="40957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選択基準</a:t>
            </a:r>
          </a:p>
        </p:txBody>
      </p:sp>
      <p:sp>
        <p:nvSpPr>
          <p:cNvPr id="32" name="">
            <a:extLst xmlns:a="http://schemas.openxmlformats.org/drawingml/2006/main">
              <a:ext uri="{FF2B5EF4-FFF2-40B4-BE49-F238E27FC236}">
                <a16:creationId xmlns:a16="http://schemas.microsoft.com/office/drawing/2014/main" id="{83AD0E53-7FB2-4A18-9290-9D285CD0EAE5}"/>
              </a:ext>
            </a:extLst>
          </p:cNvPr>
          <p:cNvSpPr>
            <a:spLocks xmlns:a="http://schemas.openxmlformats.org/drawingml/2006/main" noGrp="1"/>
          </p:cNvSpPr>
          <p:nvPr/>
        </p:nvSpPr>
        <p:spPr>
          <a:xfrm xmlns:a="http://schemas.openxmlformats.org/drawingml/2006/main">
            <a:off x="762000" y="4552950"/>
            <a:ext cx="333375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① 学習後の判定が 0.724 に近い</a:t>
            </a:r>
          </a:p>
        </p:txBody>
      </p:sp>
      <p:sp>
        <p:nvSpPr>
          <p:cNvPr id="33" name="">
            <a:extLst xmlns:a="http://schemas.openxmlformats.org/drawingml/2006/main">
              <a:ext uri="{FF2B5EF4-FFF2-40B4-BE49-F238E27FC236}">
                <a16:creationId xmlns:a16="http://schemas.microsoft.com/office/drawing/2014/main" id="{5F790268-A675-4F60-90EF-F1CD80ECFD34}"/>
              </a:ext>
            </a:extLst>
          </p:cNvPr>
          <p:cNvSpPr>
            <a:spLocks xmlns:a="http://schemas.openxmlformats.org/drawingml/2006/main" noGrp="1"/>
          </p:cNvSpPr>
          <p:nvPr/>
        </p:nvSpPr>
        <p:spPr>
          <a:xfrm xmlns:a="http://schemas.openxmlformats.org/drawingml/2006/main">
            <a:off x="4400550" y="4552950"/>
            <a:ext cx="4000500" cy="4572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② 連合平均前後の変化が +0.238 に近い</a:t>
            </a:r>
          </a:p>
        </p:txBody>
      </p:sp>
      <p:sp>
        <p:nvSpPr>
          <p:cNvPr id="34" name="">
            <a:extLst xmlns:a="http://schemas.openxmlformats.org/drawingml/2006/main">
              <a:ext uri="{FF2B5EF4-FFF2-40B4-BE49-F238E27FC236}">
                <a16:creationId xmlns:a16="http://schemas.microsoft.com/office/drawing/2014/main" id="{596628CD-597E-4E7B-8642-9569EBC4930D}"/>
              </a:ext>
            </a:extLst>
          </p:cNvPr>
          <p:cNvSpPr>
            <a:spLocks xmlns:a="http://schemas.openxmlformats.org/drawingml/2006/main" noGrp="1"/>
          </p:cNvSpPr>
          <p:nvPr/>
        </p:nvSpPr>
        <p:spPr>
          <a:xfrm xmlns:a="http://schemas.openxmlformats.org/drawingml/2006/main">
            <a:off x="8591550" y="4772025"/>
            <a:ext cx="428625"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D89C9CDF-BB6B-4E9C-8AE7-C4ACCC20971F}"/>
              </a:ext>
            </a:extLst>
          </p:cNvPr>
          <p:cNvSpPr>
            <a:spLocks xmlns:a="http://schemas.openxmlformats.org/drawingml/2006/main" noGrp="1"/>
          </p:cNvSpPr>
          <p:nvPr/>
        </p:nvSpPr>
        <p:spPr>
          <a:xfrm xmlns:a="http://schemas.openxmlformats.org/drawingml/2006/main">
            <a:off x="9201150" y="4343400"/>
            <a:ext cx="2266950" cy="8763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P_{k,r}=(x̃_{k,r}, μ^{post}_{k,r})</a:t>
            </a:r>
          </a:p>
        </p:txBody>
      </p:sp>
      <p:sp>
        <p:nvSpPr>
          <p:cNvPr id="36" name="">
            <a:extLst xmlns:a="http://schemas.openxmlformats.org/drawingml/2006/main">
              <a:ext uri="{FF2B5EF4-FFF2-40B4-BE49-F238E27FC236}">
                <a16:creationId xmlns:a16="http://schemas.microsoft.com/office/drawing/2014/main" id="{BD3574E2-1152-4747-AEF9-C776AC687D2E}"/>
              </a:ext>
            </a:extLst>
          </p:cNvPr>
          <p:cNvSpPr>
            <a:spLocks xmlns:a="http://schemas.openxmlformats.org/drawingml/2006/main" noGrp="1"/>
          </p:cNvSpPr>
          <p:nvPr/>
        </p:nvSpPr>
        <p:spPr>
          <a:xfrm xmlns:a="http://schemas.openxmlformats.org/drawingml/2006/main">
            <a:off x="1047750" y="561022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変化量は候補選択に使い、中央側AIへ渡す教師値は学習後の判定 0.724</a:t>
            </a:r>
          </a:p>
        </p:txBody>
      </p:sp>
      <p:sp>
        <p:nvSpPr>
          <p:cNvPr id="37" name="">
            <a:extLst xmlns:a="http://schemas.openxmlformats.org/drawingml/2006/main">
              <a:ext uri="{FF2B5EF4-FFF2-40B4-BE49-F238E27FC236}">
                <a16:creationId xmlns:a16="http://schemas.microsoft.com/office/drawing/2014/main" id="{6F7F9389-96E7-4773-B5A2-AECB10F9AC4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6855438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F3947DF-97BB-4286-B6D9-7F2DF115AF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4553D4-8902-44FB-88CE-83B9A3ADDF97}"/>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BA783E-B1E6-442E-882D-DE093C06A709}"/>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FedPACT全体フローと今回の実験位置</a:t>
            </a:r>
          </a:p>
        </p:txBody>
      </p:sp>
      <p:sp>
        <p:nvSpPr>
          <p:cNvPr id="4" name="">
            <a:extLst xmlns:a="http://schemas.openxmlformats.org/drawingml/2006/main">
              <a:ext uri="{FF2B5EF4-FFF2-40B4-BE49-F238E27FC236}">
                <a16:creationId xmlns:a16="http://schemas.microsoft.com/office/drawing/2014/main" id="{C83A4978-64C8-414D-A1A2-5102A6EE4D91}"/>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C898936A-C482-4E8A-A936-1B4FBAE99F8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77CCD44-D985-457A-9558-F047A7FFB9CB}"/>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44BBB795-C22D-4961-BE77-8B0E7FF7A647}"/>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8</a:t>
            </a:r>
          </a:p>
        </p:txBody>
      </p:sp>
      <p:sp>
        <p:nvSpPr>
          <p:cNvPr id="8" name="">
            <a:extLst xmlns:a="http://schemas.openxmlformats.org/drawingml/2006/main">
              <a:ext uri="{FF2B5EF4-FFF2-40B4-BE49-F238E27FC236}">
                <a16:creationId xmlns:a16="http://schemas.microsoft.com/office/drawing/2014/main" id="{820BFBA0-0599-4C7D-9314-B29EA07B57D1}"/>
              </a:ext>
            </a:extLst>
          </p:cNvPr>
          <p:cNvSpPr>
            <a:spLocks xmlns:a="http://schemas.openxmlformats.org/drawingml/2006/main" noGrp="1"/>
          </p:cNvSpPr>
          <p:nvPr/>
        </p:nvSpPr>
        <p:spPr>
          <a:xfrm xmlns:a="http://schemas.openxmlformats.org/drawingml/2006/main">
            <a:off x="704850" y="1143000"/>
            <a:ext cx="10782300" cy="41910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D4135FDA-E96E-4A41-8E28-2D557A819E3C}"/>
              </a:ext>
            </a:extLst>
          </p:cNvPr>
          <p:cNvSpPr>
            <a:spLocks xmlns:a="http://schemas.openxmlformats.org/drawingml/2006/main" noGrp="1"/>
          </p:cNvSpPr>
          <p:nvPr/>
        </p:nvSpPr>
        <p:spPr>
          <a:xfrm xmlns:a="http://schemas.openxmlformats.org/drawingml/2006/main">
            <a:off x="2238375" y="2705100"/>
            <a:ext cx="771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ここに9月16日Slack共有版の</a:t>
            </a:r>
          </a:p>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フローチャートを挿入</a:t>
            </a:r>
          </a:p>
        </p:txBody>
      </p:sp>
      <p:sp>
        <p:nvSpPr>
          <p:cNvPr id="10" name="">
            <a:extLst xmlns:a="http://schemas.openxmlformats.org/drawingml/2006/main">
              <a:ext uri="{FF2B5EF4-FFF2-40B4-BE49-F238E27FC236}">
                <a16:creationId xmlns:a16="http://schemas.microsoft.com/office/drawing/2014/main" id="{4C113485-442A-40C0-A6B2-6BD8AC3D060C}"/>
              </a:ext>
            </a:extLst>
          </p:cNvPr>
          <p:cNvSpPr>
            <a:spLocks xmlns:a="http://schemas.openxmlformats.org/drawingml/2006/main" noGrp="1"/>
          </p:cNvSpPr>
          <p:nvPr/>
        </p:nvSpPr>
        <p:spPr>
          <a:xfrm xmlns:a="http://schemas.openxmlformats.org/drawingml/2006/main">
            <a:off x="895350" y="13144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7B78"/>
                </a:solidFill>
                <a:latin typeface="Yu Gothic"/>
                <a:ea typeface="Yu Gothic"/>
                <a:cs typeface="Yu Gothic"/>
              </a:defRPr>
            </a:pPr>
            <a:r>
              <a:rPr sz="1350" b="1">
                <a:solidFill>
                  <a:srgbClr val="147B78"/>
                </a:solidFill>
                <a:latin typeface="Yu Gothic"/>
                <a:ea typeface="Yu Gothic"/>
                <a:cs typeface="Yu Gothic"/>
              </a:rPr>
              <a:t>差し替え時の確認</a:t>
            </a:r>
          </a:p>
        </p:txBody>
      </p:sp>
      <p:sp>
        <p:nvSpPr>
          <p:cNvPr id="11" name="">
            <a:extLst xmlns:a="http://schemas.openxmlformats.org/drawingml/2006/main">
              <a:ext uri="{FF2B5EF4-FFF2-40B4-BE49-F238E27FC236}">
                <a16:creationId xmlns:a16="http://schemas.microsoft.com/office/drawing/2014/main" id="{8FF0DA0B-E2CD-4437-BB4D-96C6C06373B7}"/>
              </a:ext>
            </a:extLst>
          </p:cNvPr>
          <p:cNvSpPr>
            <a:spLocks xmlns:a="http://schemas.openxmlformats.org/drawingml/2006/main" noGrp="1"/>
          </p:cNvSpPr>
          <p:nvPr/>
        </p:nvSpPr>
        <p:spPr>
          <a:xfrm xmlns:a="http://schemas.openxmlformats.org/drawingml/2006/main">
            <a:off x="2914650" y="13335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a:solidFill>
                  <a:srgbClr val="617078"/>
                </a:solidFill>
                <a:latin typeface="Yu Gothic"/>
                <a:ea typeface="Yu Gothic"/>
                <a:cs typeface="Yu Gothic"/>
              </a:defRPr>
            </a:pPr>
            <a:r>
              <a:rPr sz="1275" b="0">
                <a:solidFill>
                  <a:srgbClr val="617078"/>
                </a:solidFill>
                <a:latin typeface="Yu Gothic"/>
                <a:ea typeface="Yu Gothic"/>
                <a:cs typeface="Yu Gothic"/>
              </a:rPr>
              <a:t>小型AIの更新と Q_{k,r} を別経路で表示　／　Layer 2を今回の中心として表示</a:t>
            </a:r>
          </a:p>
        </p:txBody>
      </p:sp>
      <p:sp>
        <p:nvSpPr>
          <p:cNvPr id="12" name="">
            <a:extLst xmlns:a="http://schemas.openxmlformats.org/drawingml/2006/main">
              <a:ext uri="{FF2B5EF4-FFF2-40B4-BE49-F238E27FC236}">
                <a16:creationId xmlns:a16="http://schemas.microsoft.com/office/drawing/2014/main" id="{503037FE-9F71-49FD-A900-9EB586B308ED}"/>
              </a:ext>
            </a:extLst>
          </p:cNvPr>
          <p:cNvSpPr>
            <a:spLocks xmlns:a="http://schemas.openxmlformats.org/drawingml/2006/main" noGrp="1"/>
          </p:cNvSpPr>
          <p:nvPr/>
        </p:nvSpPr>
        <p:spPr>
          <a:xfrm xmlns:a="http://schemas.openxmlformats.org/drawingml/2006/main">
            <a:off x="781050" y="56388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今回の確認範囲</a:t>
            </a:r>
          </a:p>
        </p:txBody>
      </p:sp>
      <p:sp>
        <p:nvSpPr>
          <p:cNvPr id="13" name="">
            <a:extLst xmlns:a="http://schemas.openxmlformats.org/drawingml/2006/main">
              <a:ext uri="{FF2B5EF4-FFF2-40B4-BE49-F238E27FC236}">
                <a16:creationId xmlns:a16="http://schemas.microsoft.com/office/drawing/2014/main" id="{BCE82B91-AC6F-42C2-B829-CBE7A2D25BA9}"/>
              </a:ext>
            </a:extLst>
          </p:cNvPr>
          <p:cNvSpPr>
            <a:spLocks xmlns:a="http://schemas.openxmlformats.org/drawingml/2006/main" noGrp="1"/>
          </p:cNvSpPr>
          <p:nvPr/>
        </p:nvSpPr>
        <p:spPr>
          <a:xfrm xmlns:a="http://schemas.openxmlformats.org/drawingml/2006/main">
            <a:off x="268605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1</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2台の小型AIを連合平均</a:t>
            </a:r>
          </a:p>
        </p:txBody>
      </p:sp>
      <p:sp>
        <p:nvSpPr>
          <p:cNvPr id="14" name="">
            <a:extLst xmlns:a="http://schemas.openxmlformats.org/drawingml/2006/main">
              <a:ext uri="{FF2B5EF4-FFF2-40B4-BE49-F238E27FC236}">
                <a16:creationId xmlns:a16="http://schemas.microsoft.com/office/drawing/2014/main" id="{02479B40-D664-4A3F-83B1-4F520E8FAAFA}"/>
              </a:ext>
            </a:extLst>
          </p:cNvPr>
          <p:cNvSpPr>
            <a:spLocks xmlns:a="http://schemas.openxmlformats.org/drawingml/2006/main" noGrp="1"/>
          </p:cNvSpPr>
          <p:nvPr/>
        </p:nvSpPr>
        <p:spPr>
          <a:xfrm xmlns:a="http://schemas.openxmlformats.org/drawingml/2006/main">
            <a:off x="461010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3173394-18CD-4230-AB65-0429F7FCC28C}"/>
              </a:ext>
            </a:extLst>
          </p:cNvPr>
          <p:cNvSpPr>
            <a:spLocks xmlns:a="http://schemas.openxmlformats.org/drawingml/2006/main" noGrp="1"/>
          </p:cNvSpPr>
          <p:nvPr/>
        </p:nvSpPr>
        <p:spPr>
          <a:xfrm xmlns:a="http://schemas.openxmlformats.org/drawingml/2006/main">
            <a:off x="492442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Layer 2</a:t>
            </a:r>
          </a:p>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代理データを生成</a:t>
            </a:r>
          </a:p>
        </p:txBody>
      </p:sp>
      <p:sp>
        <p:nvSpPr>
          <p:cNvPr id="16" name="">
            <a:extLst xmlns:a="http://schemas.openxmlformats.org/drawingml/2006/main">
              <a:ext uri="{FF2B5EF4-FFF2-40B4-BE49-F238E27FC236}">
                <a16:creationId xmlns:a16="http://schemas.microsoft.com/office/drawing/2014/main" id="{177D7C80-EA77-4FF7-9181-7ADA42AED749}"/>
              </a:ext>
            </a:extLst>
          </p:cNvPr>
          <p:cNvSpPr>
            <a:spLocks xmlns:a="http://schemas.openxmlformats.org/drawingml/2006/main" noGrp="1"/>
          </p:cNvSpPr>
          <p:nvPr/>
        </p:nvSpPr>
        <p:spPr>
          <a:xfrm xmlns:a="http://schemas.openxmlformats.org/drawingml/2006/main">
            <a:off x="6848475"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314CAF6-3FAF-4211-AFA6-82FFC130D281}"/>
              </a:ext>
            </a:extLst>
          </p:cNvPr>
          <p:cNvSpPr>
            <a:spLocks xmlns:a="http://schemas.openxmlformats.org/drawingml/2006/main" noGrp="1"/>
          </p:cNvSpPr>
          <p:nvPr/>
        </p:nvSpPr>
        <p:spPr>
          <a:xfrm xmlns:a="http://schemas.openxmlformats.org/drawingml/2006/main">
            <a:off x="716280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3</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18" name="">
            <a:extLst xmlns:a="http://schemas.openxmlformats.org/drawingml/2006/main">
              <a:ext uri="{FF2B5EF4-FFF2-40B4-BE49-F238E27FC236}">
                <a16:creationId xmlns:a16="http://schemas.microsoft.com/office/drawing/2014/main" id="{C88C023C-5579-49DB-A4DF-F6E514192841}"/>
              </a:ext>
            </a:extLst>
          </p:cNvPr>
          <p:cNvSpPr>
            <a:spLocks xmlns:a="http://schemas.openxmlformats.org/drawingml/2006/main" noGrp="1"/>
          </p:cNvSpPr>
          <p:nvPr/>
        </p:nvSpPr>
        <p:spPr>
          <a:xfrm xmlns:a="http://schemas.openxmlformats.org/drawingml/2006/main">
            <a:off x="908685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D4504A7-6BAD-47A2-A047-D96F5647A91F}"/>
              </a:ext>
            </a:extLst>
          </p:cNvPr>
          <p:cNvSpPr>
            <a:spLocks xmlns:a="http://schemas.openxmlformats.org/drawingml/2006/main" noGrp="1"/>
          </p:cNvSpPr>
          <p:nvPr/>
        </p:nvSpPr>
        <p:spPr>
          <a:xfrm xmlns:a="http://schemas.openxmlformats.org/drawingml/2006/main">
            <a:off x="940117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次のラウンド</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状態を引き継ぐ</a:t>
            </a:r>
          </a:p>
        </p:txBody>
      </p:sp>
      <p:sp>
        <p:nvSpPr>
          <p:cNvPr id="20" name="">
            <a:extLst xmlns:a="http://schemas.openxmlformats.org/drawingml/2006/main">
              <a:ext uri="{FF2B5EF4-FFF2-40B4-BE49-F238E27FC236}">
                <a16:creationId xmlns:a16="http://schemas.microsoft.com/office/drawing/2014/main" id="{DADCFFFD-7EF2-4123-8359-5F7669313227}"/>
              </a:ext>
            </a:extLst>
          </p:cNvPr>
          <p:cNvSpPr>
            <a:spLocks xmlns:a="http://schemas.openxmlformats.org/drawingml/2006/main" noGrp="1"/>
          </p:cNvSpPr>
          <p:nvPr/>
        </p:nvSpPr>
        <p:spPr>
          <a:xfrm xmlns:a="http://schemas.openxmlformats.org/drawingml/2006/main">
            <a:off x="952500" y="61531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26373D"/>
                </a:solidFill>
                <a:latin typeface="Yu Gothic"/>
                <a:ea typeface="Yu Gothic"/>
                <a:cs typeface="Yu Gothic"/>
              </a:defRPr>
            </a:pPr>
            <a:r>
              <a:rPr sz="1350" b="1">
                <a:solidFill>
                  <a:srgbClr val="26373D"/>
                </a:solidFill>
                <a:latin typeface="Yu Gothic"/>
                <a:ea typeface="Yu Gothic"/>
                <a:cs typeface="Yu Gothic"/>
              </a:rPr>
              <a:t>合格条件：3層と次のラウンドが正しくつながり、入力・出力・状態をログから追えること</a:t>
            </a:r>
          </a:p>
        </p:txBody>
      </p:sp>
    </p:spTree>
    <p:extLst>
      <p:ext uri="{BB962C8B-B14F-4D97-AF65-F5344CB8AC3E}">
        <p14:creationId xmlns:p14="http://schemas.microsoft.com/office/powerpoint/2010/main" val="50319470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EC0FF45-5F0A-41FB-9C1F-97768FA341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71A6E9-3A0B-4D0F-994A-627F94B82DCB}"/>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F10B5DB-62F0-46AB-8AEC-B3475D6A6EF7}"/>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学習後の判定は一致したが、変化量は再現できなかった</a:t>
            </a:r>
          </a:p>
        </p:txBody>
      </p:sp>
      <p:sp>
        <p:nvSpPr>
          <p:cNvPr id="4" name="">
            <a:extLst xmlns:a="http://schemas.openxmlformats.org/drawingml/2006/main">
              <a:ext uri="{FF2B5EF4-FFF2-40B4-BE49-F238E27FC236}">
                <a16:creationId xmlns:a16="http://schemas.microsoft.com/office/drawing/2014/main" id="{E304C7DE-5756-45D1-8002-76450AB6E9CD}"/>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30BF6E73-91B4-490D-8596-FA20653804F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9DBDC62-9B90-4CAE-A2B2-0CA70428F614}"/>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9C5F1974-5D1B-4CE6-B357-05A8B7CC3745}"/>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8</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4e09a3c17f0d4eca"/>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4cc58b2eaae4f31"/>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1dae470851b64699"/>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f1556320bd84460a"/>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273376E-02A4-4B45-800C-C035C67723EA}"/>
              </a:ext>
            </a:extLst>
          </p:cNvPr>
          <p:cNvSpPr>
            <a:spLocks xmlns:a="http://schemas.openxmlformats.org/drawingml/2006/main" noGrp="1"/>
          </p:cNvSpPr>
          <p:nvPr/>
        </p:nvSpPr>
        <p:spPr>
          <a:xfrm xmlns:a="http://schemas.openxmlformats.org/drawingml/2006/main">
            <a:off x="552450" y="2705100"/>
            <a:ext cx="11029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選ばれた中央側動画：正解ラベルは通常、変換なし</a:t>
            </a:r>
          </a:p>
        </p:txBody>
      </p:sp>
      <p:sp>
        <p:nvSpPr>
          <p:cNvPr id="13" name="">
            <a:extLst xmlns:a="http://schemas.openxmlformats.org/drawingml/2006/main">
              <a:ext uri="{FF2B5EF4-FFF2-40B4-BE49-F238E27FC236}">
                <a16:creationId xmlns:a16="http://schemas.microsoft.com/office/drawing/2014/main" id="{2DA021A0-23ED-427A-BDC6-A2302F992DA9}"/>
              </a:ext>
            </a:extLst>
          </p:cNvPr>
          <p:cNvSpPr>
            <a:spLocks xmlns:a="http://schemas.openxmlformats.org/drawingml/2006/main" noGrp="1"/>
          </p:cNvSpPr>
          <p:nvPr/>
        </p:nvSpPr>
        <p:spPr>
          <a:xfrm xmlns:a="http://schemas.openxmlformats.org/drawingml/2006/main">
            <a:off x="857250" y="3333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学習後の危険確率</a:t>
            </a:r>
          </a:p>
        </p:txBody>
      </p:sp>
      <p:sp>
        <p:nvSpPr>
          <p:cNvPr id="14" name="">
            <a:extLst xmlns:a="http://schemas.openxmlformats.org/drawingml/2006/main">
              <a:ext uri="{FF2B5EF4-FFF2-40B4-BE49-F238E27FC236}">
                <a16:creationId xmlns:a16="http://schemas.microsoft.com/office/drawing/2014/main" id="{A8FBCFED-30A6-48AC-B313-3F8B685F74AA}"/>
              </a:ext>
            </a:extLst>
          </p:cNvPr>
          <p:cNvSpPr>
            <a:spLocks xmlns:a="http://schemas.openxmlformats.org/drawingml/2006/main" noGrp="1"/>
          </p:cNvSpPr>
          <p:nvPr/>
        </p:nvSpPr>
        <p:spPr>
          <a:xfrm xmlns:a="http://schemas.openxmlformats.org/drawingml/2006/main">
            <a:off x="1047750"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15" name="">
            <a:extLst xmlns:a="http://schemas.openxmlformats.org/drawingml/2006/main">
              <a:ext uri="{FF2B5EF4-FFF2-40B4-BE49-F238E27FC236}">
                <a16:creationId xmlns:a16="http://schemas.microsoft.com/office/drawing/2014/main" id="{513EA0C3-3FAF-400D-A354-0D9E62FF4E0B}"/>
              </a:ext>
            </a:extLst>
          </p:cNvPr>
          <p:cNvSpPr>
            <a:spLocks xmlns:a="http://schemas.openxmlformats.org/drawingml/2006/main" noGrp="1"/>
          </p:cNvSpPr>
          <p:nvPr/>
        </p:nvSpPr>
        <p:spPr>
          <a:xfrm xmlns:a="http://schemas.openxmlformats.org/drawingml/2006/main">
            <a:off x="1047750"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0.724</a:t>
            </a:r>
          </a:p>
        </p:txBody>
      </p:sp>
      <p:sp>
        <p:nvSpPr>
          <p:cNvPr id="16" name="">
            <a:extLst xmlns:a="http://schemas.openxmlformats.org/drawingml/2006/main">
              <a:ext uri="{FF2B5EF4-FFF2-40B4-BE49-F238E27FC236}">
                <a16:creationId xmlns:a16="http://schemas.microsoft.com/office/drawing/2014/main" id="{242F0D94-C8C2-4068-A72A-5CE8381531C6}"/>
              </a:ext>
            </a:extLst>
          </p:cNvPr>
          <p:cNvSpPr>
            <a:spLocks xmlns:a="http://schemas.openxmlformats.org/drawingml/2006/main" noGrp="1"/>
          </p:cNvSpPr>
          <p:nvPr/>
        </p:nvSpPr>
        <p:spPr>
          <a:xfrm xmlns:a="http://schemas.openxmlformats.org/drawingml/2006/main">
            <a:off x="3381375"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17" name="">
            <a:extLst xmlns:a="http://schemas.openxmlformats.org/drawingml/2006/main">
              <a:ext uri="{FF2B5EF4-FFF2-40B4-BE49-F238E27FC236}">
                <a16:creationId xmlns:a16="http://schemas.microsoft.com/office/drawing/2014/main" id="{14E720EE-F468-4BF7-A290-38EF7584A5E5}"/>
              </a:ext>
            </a:extLst>
          </p:cNvPr>
          <p:cNvSpPr>
            <a:spLocks xmlns:a="http://schemas.openxmlformats.org/drawingml/2006/main" noGrp="1"/>
          </p:cNvSpPr>
          <p:nvPr/>
        </p:nvSpPr>
        <p:spPr>
          <a:xfrm xmlns:a="http://schemas.openxmlformats.org/drawingml/2006/main">
            <a:off x="3381375"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47B78"/>
                </a:solidFill>
                <a:latin typeface="Yu Gothic"/>
                <a:ea typeface="Yu Gothic"/>
                <a:cs typeface="Yu Gothic"/>
              </a:defRPr>
            </a:pPr>
            <a:r>
              <a:rPr sz="3000" b="1">
                <a:solidFill>
                  <a:srgbClr val="147B78"/>
                </a:solidFill>
                <a:latin typeface="Yu Gothic"/>
                <a:ea typeface="Yu Gothic"/>
                <a:cs typeface="Yu Gothic"/>
              </a:rPr>
              <a:t>0.724</a:t>
            </a:r>
          </a:p>
        </p:txBody>
      </p:sp>
      <p:sp>
        <p:nvSpPr>
          <p:cNvPr id="18" name="">
            <a:extLst xmlns:a="http://schemas.openxmlformats.org/drawingml/2006/main">
              <a:ext uri="{FF2B5EF4-FFF2-40B4-BE49-F238E27FC236}">
                <a16:creationId xmlns:a16="http://schemas.microsoft.com/office/drawing/2014/main" id="{42C013B1-89CE-4E13-8872-384D6DF3EE47}"/>
              </a:ext>
            </a:extLst>
          </p:cNvPr>
          <p:cNvSpPr>
            <a:spLocks xmlns:a="http://schemas.openxmlformats.org/drawingml/2006/main" noGrp="1"/>
          </p:cNvSpPr>
          <p:nvPr/>
        </p:nvSpPr>
        <p:spPr>
          <a:xfrm xmlns:a="http://schemas.openxmlformats.org/drawingml/2006/main">
            <a:off x="2095500" y="4886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ほぼ一致</a:t>
            </a:r>
          </a:p>
        </p:txBody>
      </p:sp>
      <p:sp>
        <p:nvSpPr>
          <p:cNvPr id="19" name="">
            <a:extLst xmlns:a="http://schemas.openxmlformats.org/drawingml/2006/main">
              <a:ext uri="{FF2B5EF4-FFF2-40B4-BE49-F238E27FC236}">
                <a16:creationId xmlns:a16="http://schemas.microsoft.com/office/drawing/2014/main" id="{47BDAA67-C3FD-4FD5-8007-816E25163486}"/>
              </a:ext>
            </a:extLst>
          </p:cNvPr>
          <p:cNvSpPr>
            <a:spLocks xmlns:a="http://schemas.openxmlformats.org/drawingml/2006/main" noGrp="1"/>
          </p:cNvSpPr>
          <p:nvPr/>
        </p:nvSpPr>
        <p:spPr>
          <a:xfrm xmlns:a="http://schemas.openxmlformats.org/drawingml/2006/main">
            <a:off x="5905500" y="3286125"/>
            <a:ext cx="19050" cy="200025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C2797B0-1446-43FC-B0DF-9AD376F7F25B}"/>
              </a:ext>
            </a:extLst>
          </p:cNvPr>
          <p:cNvSpPr>
            <a:spLocks xmlns:a="http://schemas.openxmlformats.org/drawingml/2006/main" noGrp="1"/>
          </p:cNvSpPr>
          <p:nvPr/>
        </p:nvSpPr>
        <p:spPr>
          <a:xfrm xmlns:a="http://schemas.openxmlformats.org/drawingml/2006/main">
            <a:off x="6286500" y="3333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学習による危険方向の変化</a:t>
            </a:r>
          </a:p>
        </p:txBody>
      </p:sp>
      <p:sp>
        <p:nvSpPr>
          <p:cNvPr id="21" name="">
            <a:extLst xmlns:a="http://schemas.openxmlformats.org/drawingml/2006/main">
              <a:ext uri="{FF2B5EF4-FFF2-40B4-BE49-F238E27FC236}">
                <a16:creationId xmlns:a16="http://schemas.microsoft.com/office/drawing/2014/main" id="{B70F46C2-5A15-4773-ACD4-737C642BFA83}"/>
              </a:ext>
            </a:extLst>
          </p:cNvPr>
          <p:cNvSpPr>
            <a:spLocks xmlns:a="http://schemas.openxmlformats.org/drawingml/2006/main" noGrp="1"/>
          </p:cNvSpPr>
          <p:nvPr/>
        </p:nvSpPr>
        <p:spPr>
          <a:xfrm xmlns:a="http://schemas.openxmlformats.org/drawingml/2006/main">
            <a:off x="65722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22" name="">
            <a:extLst xmlns:a="http://schemas.openxmlformats.org/drawingml/2006/main">
              <a:ext uri="{FF2B5EF4-FFF2-40B4-BE49-F238E27FC236}">
                <a16:creationId xmlns:a16="http://schemas.microsoft.com/office/drawing/2014/main" id="{84A2214D-EAA5-4C1C-B6AE-25D72082166E}"/>
              </a:ext>
            </a:extLst>
          </p:cNvPr>
          <p:cNvSpPr>
            <a:spLocks xmlns:a="http://schemas.openxmlformats.org/drawingml/2006/main" noGrp="1"/>
          </p:cNvSpPr>
          <p:nvPr/>
        </p:nvSpPr>
        <p:spPr>
          <a:xfrm xmlns:a="http://schemas.openxmlformats.org/drawingml/2006/main">
            <a:off x="65722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+0.238</a:t>
            </a:r>
          </a:p>
        </p:txBody>
      </p:sp>
      <p:sp>
        <p:nvSpPr>
          <p:cNvPr id="23" name="">
            <a:extLst xmlns:a="http://schemas.openxmlformats.org/drawingml/2006/main">
              <a:ext uri="{FF2B5EF4-FFF2-40B4-BE49-F238E27FC236}">
                <a16:creationId xmlns:a16="http://schemas.microsoft.com/office/drawing/2014/main" id="{919D41D8-ABB1-422C-92C3-DED6A36B1DFE}"/>
              </a:ext>
            </a:extLst>
          </p:cNvPr>
          <p:cNvSpPr>
            <a:spLocks xmlns:a="http://schemas.openxmlformats.org/drawingml/2006/main" noGrp="1"/>
          </p:cNvSpPr>
          <p:nvPr/>
        </p:nvSpPr>
        <p:spPr>
          <a:xfrm xmlns:a="http://schemas.openxmlformats.org/drawingml/2006/main">
            <a:off x="90487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24" name="">
            <a:extLst xmlns:a="http://schemas.openxmlformats.org/drawingml/2006/main">
              <a:ext uri="{FF2B5EF4-FFF2-40B4-BE49-F238E27FC236}">
                <a16:creationId xmlns:a16="http://schemas.microsoft.com/office/drawing/2014/main" id="{656B569D-3132-470F-9E2B-2C25392A3D3F}"/>
              </a:ext>
            </a:extLst>
          </p:cNvPr>
          <p:cNvSpPr>
            <a:spLocks xmlns:a="http://schemas.openxmlformats.org/drawingml/2006/main" noGrp="1"/>
          </p:cNvSpPr>
          <p:nvPr/>
        </p:nvSpPr>
        <p:spPr>
          <a:xfrm xmlns:a="http://schemas.openxmlformats.org/drawingml/2006/main">
            <a:off x="90487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B94A3A"/>
                </a:solidFill>
                <a:latin typeface="Yu Gothic"/>
                <a:ea typeface="Yu Gothic"/>
                <a:cs typeface="Yu Gothic"/>
              </a:defRPr>
            </a:pPr>
            <a:r>
              <a:rPr sz="3000" b="1">
                <a:solidFill>
                  <a:srgbClr val="B94A3A"/>
                </a:solidFill>
                <a:latin typeface="Yu Gothic"/>
                <a:ea typeface="Yu Gothic"/>
                <a:cs typeface="Yu Gothic"/>
              </a:rPr>
              <a:t>+0.051</a:t>
            </a:r>
          </a:p>
        </p:txBody>
      </p:sp>
      <p:sp>
        <p:nvSpPr>
          <p:cNvPr id="25" name="">
            <a:extLst xmlns:a="http://schemas.openxmlformats.org/drawingml/2006/main">
              <a:ext uri="{FF2B5EF4-FFF2-40B4-BE49-F238E27FC236}">
                <a16:creationId xmlns:a16="http://schemas.microsoft.com/office/drawing/2014/main" id="{1B3DDCEA-B627-47E6-9419-F48C66D7DFEF}"/>
              </a:ext>
            </a:extLst>
          </p:cNvPr>
          <p:cNvSpPr>
            <a:spLocks xmlns:a="http://schemas.openxmlformats.org/drawingml/2006/main" noGrp="1"/>
          </p:cNvSpPr>
          <p:nvPr/>
        </p:nvSpPr>
        <p:spPr>
          <a:xfrm xmlns:a="http://schemas.openxmlformats.org/drawingml/2006/main">
            <a:off x="9029700" y="4810125"/>
            <a:ext cx="1857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0.673 から 0.724</a:t>
            </a:r>
          </a:p>
        </p:txBody>
      </p:sp>
      <p:sp>
        <p:nvSpPr>
          <p:cNvPr id="26" name="">
            <a:extLst xmlns:a="http://schemas.openxmlformats.org/drawingml/2006/main">
              <a:ext uri="{FF2B5EF4-FFF2-40B4-BE49-F238E27FC236}">
                <a16:creationId xmlns:a16="http://schemas.microsoft.com/office/drawing/2014/main" id="{9A6D8745-DEEB-49E8-9A89-3BA6213A868B}"/>
              </a:ext>
            </a:extLst>
          </p:cNvPr>
          <p:cNvSpPr>
            <a:spLocks xmlns:a="http://schemas.openxmlformats.org/drawingml/2006/main" noGrp="1"/>
          </p:cNvSpPr>
          <p:nvPr/>
        </p:nvSpPr>
        <p:spPr>
          <a:xfrm xmlns:a="http://schemas.openxmlformats.org/drawingml/2006/main">
            <a:off x="7858125" y="50673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差が残る</a:t>
            </a:r>
          </a:p>
        </p:txBody>
      </p:sp>
      <p:sp>
        <p:nvSpPr>
          <p:cNvPr id="27" name="">
            <a:extLst xmlns:a="http://schemas.openxmlformats.org/drawingml/2006/main">
              <a:ext uri="{FF2B5EF4-FFF2-40B4-BE49-F238E27FC236}">
                <a16:creationId xmlns:a16="http://schemas.microsoft.com/office/drawing/2014/main" id="{74B7B387-B97F-4D49-9E34-7883B072668D}"/>
              </a:ext>
            </a:extLst>
          </p:cNvPr>
          <p:cNvSpPr>
            <a:spLocks xmlns:a="http://schemas.openxmlformats.org/drawingml/2006/main" noGrp="1"/>
          </p:cNvSpPr>
          <p:nvPr/>
        </p:nvSpPr>
        <p:spPr>
          <a:xfrm xmlns:a="http://schemas.openxmlformats.org/drawingml/2006/main">
            <a:off x="742950" y="5610225"/>
            <a:ext cx="10706100" cy="590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7F68CA0-678A-4953-B6C1-25CAC91D7A07}"/>
              </a:ext>
            </a:extLst>
          </p:cNvPr>
          <p:cNvSpPr>
            <a:spLocks xmlns:a="http://schemas.openxmlformats.org/drawingml/2006/main" noGrp="1"/>
          </p:cNvSpPr>
          <p:nvPr/>
        </p:nvSpPr>
        <p:spPr>
          <a:xfrm xmlns:a="http://schemas.openxmlformats.org/drawingml/2006/main">
            <a:off x="1000125" y="5753100"/>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最終的な判定の一致だけでは、現場で生じた学習変化を再現できたとは判断できない</a:t>
            </a:r>
          </a:p>
        </p:txBody>
      </p:sp>
      <p:sp>
        <p:nvSpPr>
          <p:cNvPr id="29" name="">
            <a:extLst xmlns:a="http://schemas.openxmlformats.org/drawingml/2006/main">
              <a:ext uri="{FF2B5EF4-FFF2-40B4-BE49-F238E27FC236}">
                <a16:creationId xmlns:a16="http://schemas.microsoft.com/office/drawing/2014/main" id="{A51BC901-9700-4C5E-87D9-35A437D9D716}"/>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208741018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2961AC5-C8FC-497C-AC03-1D1BF8D3B5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3AEC51-0AD1-4632-8F37-9CB8521CF45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5CCEDC-32E1-4CF8-9255-C16D546DEE53}"/>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3ラウンドの状態継承を確認、性能改善は未確認</a:t>
            </a:r>
          </a:p>
        </p:txBody>
      </p:sp>
      <p:sp>
        <p:nvSpPr>
          <p:cNvPr id="4" name="">
            <a:extLst xmlns:a="http://schemas.openxmlformats.org/drawingml/2006/main">
              <a:ext uri="{FF2B5EF4-FFF2-40B4-BE49-F238E27FC236}">
                <a16:creationId xmlns:a16="http://schemas.microsoft.com/office/drawing/2014/main" id="{0E5266C3-4BAC-49CE-8C34-6E3B2438C600}"/>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65F981C2-C7D3-460B-A41C-5352D6501732}"/>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AC09F78-297C-4178-AFD4-1C418FCDFEB5}"/>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883C19E6-1F20-4EFD-A68B-4F2D667DE400}"/>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8</a:t>
            </a:r>
          </a:p>
        </p:txBody>
      </p:sp>
      <p:graphicFrame>
        <p:nvGraphicFramePr>
          <p:cNvPr id="24" name=""/>
          <p:cNvGraphicFramePr/>
          <p:nvPr/>
        </p:nvGraphicFramePr>
        <p:xfrm>
          <a:off xmlns:a="http://schemas.openxmlformats.org/drawingml/2006/main" x="619125" y="1257300"/>
          <a:ext xmlns:a="http://schemas.openxmlformats.org/drawingml/2006/main" cx="10953750" cy="2324100"/>
        </p:xfrm>
        <a:graphic xmlns:a="http://schemas.openxmlformats.org/drawingml/2006/main">
          <a:graphicData uri="http://schemas.openxmlformats.org/drawingml/2006/table">
            <a:tbl>
              <a:tblPr/>
              <a:tblGrid>
                <a:gridCol w="1095375"/>
                <a:gridCol w="2381250"/>
                <a:gridCol w="2000250"/>
                <a:gridCol w="2381250"/>
                <a:gridCol w="3095625"/>
              </a:tblGrid>
              <a:tr h="581025">
                <a:tc>
                  <a:txBody>
                    <a:bodyPr/>
                    <a:lstStyle/>
                    <a:p>
                      <a:r>
                        <a:rPr sz="1150" b="1">
                          <a:solidFill>
                            <a:srgbClr val="173B4B"/>
                          </a:solidFill>
                          <a:latin typeface="Yu Gothic"/>
                          <a:ea typeface="Yu Gothic"/>
                          <a:cs typeface="Yu Gothic"/>
                        </a:rPr>
                        <a:t>ラウンド</a:t>
                      </a:r>
                    </a:p>
                  </a:txBody>
                  <a:tcPr marL="91440" marR="91440" marT="45720" marB="45720"/>
                </a:tc>
                <a:tc>
                  <a:txBody>
                    <a:bodyPr/>
                    <a:lstStyle/>
                    <a:p>
                      <a:r>
                        <a:rPr sz="1150" b="1">
                          <a:solidFill>
                            <a:srgbClr val="173B4B"/>
                          </a:solidFill>
                          <a:latin typeface="Yu Gothic"/>
                          <a:ea typeface="Yu Gothic"/>
                          <a:cs typeface="Yu Gothic"/>
                        </a:rPr>
                        <a:t>小型AIの状態</a:t>
                      </a:r>
                    </a:p>
                  </a:txBody>
                  <a:tcPr marL="91440" marR="91440" marT="45720" marB="45720"/>
                </a:tc>
                <a:tc>
                  <a:txBody>
                    <a:bodyPr/>
                    <a:lstStyle/>
                    <a:p>
                      <a:r>
                        <a:rPr sz="1150" b="1">
                          <a:solidFill>
                            <a:srgbClr val="173B4B"/>
                          </a:solidFill>
                          <a:latin typeface="Yu Gothic"/>
                          <a:ea typeface="Yu Gothic"/>
                          <a:cs typeface="Yu Gothic"/>
                        </a:rPr>
                        <a:t>2台の更新量</a:t>
                      </a:r>
                    </a:p>
                  </a:txBody>
                  <a:tcPr marL="91440" marR="91440" marT="45720" marB="45720"/>
                </a:tc>
                <a:tc>
                  <a:txBody>
                    <a:bodyPr/>
                    <a:lstStyle/>
                    <a:p>
                      <a:r>
                        <a:rPr sz="1150" b="1">
                          <a:solidFill>
                            <a:srgbClr val="173B4B"/>
                          </a:solidFill>
                          <a:latin typeface="Yu Gothic"/>
                          <a:ea typeface="Yu Gothic"/>
                          <a:cs typeface="Yu Gothic"/>
                        </a:rPr>
                        <a:t>連合平均の再計算差</a:t>
                      </a:r>
                    </a:p>
                  </a:txBody>
                  <a:tcPr marL="91440" marR="91440" marT="45720" marB="45720"/>
                </a:tc>
                <a:tc>
                  <a:txBody>
                    <a:bodyPr/>
                    <a:lstStyle/>
                    <a:p>
                      <a:r>
                        <a:rPr sz="1150" b="1">
                          <a:solidFill>
                            <a:srgbClr val="173B4B"/>
                          </a:solidFill>
                          <a:latin typeface="Yu Gothic"/>
                          <a:ea typeface="Yu Gothic"/>
                          <a:cs typeface="Yu Gothic"/>
                        </a:rPr>
                        <a:t>同じ4組に対する中央側AIのずれ</a:t>
                      </a:r>
                    </a:p>
                  </a:txBody>
                  <a:tcPr marL="91440" marR="91440" marT="45720" marB="45720"/>
                </a:tc>
              </a:tr>
              <a:tr h="581025">
                <a:tc>
                  <a:txBody>
                    <a:bodyPr/>
                    <a:lstStyle/>
                    <a:p>
                      <a:r>
                        <a:rPr sz="1400" b="0">
                          <a:solidFill>
                            <a:srgbClr val="26373D"/>
                          </a:solidFill>
                          <a:latin typeface="Yu Gothic"/>
                          <a:ea typeface="Yu Gothic"/>
                          <a:cs typeface="Yu Gothic"/>
                        </a:rPr>
                        <a:t>1</a:t>
                      </a:r>
                    </a:p>
                  </a:txBody>
                  <a:tcPr marL="91440" marR="91440" marT="45720" marB="45720"/>
                </a:tc>
                <a:tc>
                  <a:txBody>
                    <a:bodyPr/>
                    <a:lstStyle/>
                    <a:p>
                      <a:r>
                        <a:rPr sz="1400" b="0">
                          <a:solidFill>
                            <a:srgbClr val="26373D"/>
                          </a:solidFill>
                          <a:latin typeface="Yu Gothic"/>
                          <a:ea typeface="Yu Gothic"/>
                          <a:cs typeface="Yu Gothic"/>
                        </a:rPr>
                        <a:t>M_G^0 から M_G^1</a:t>
                      </a:r>
                    </a:p>
                  </a:txBody>
                  <a:tcPr marL="91440" marR="91440" marT="45720" marB="45720"/>
                </a:tc>
                <a:tc>
                  <a:txBody>
                    <a:bodyPr/>
                    <a:lstStyle/>
                    <a:p>
                      <a:r>
                        <a:rPr sz="1400" b="0">
                          <a:solidFill>
                            <a:srgbClr val="26373D"/>
                          </a:solidFill>
                          <a:latin typeface="Yu Gothic"/>
                          <a:ea typeface="Yu Gothic"/>
                          <a:cs typeface="Yu Gothic"/>
                        </a:rPr>
                        <a:t>0.346 / 0.292</a:t>
                      </a:r>
                    </a:p>
                  </a:txBody>
                  <a:tcPr marL="91440" marR="91440" marT="45720" marB="45720"/>
                </a:tc>
                <a:tc>
                  <a:txBody>
                    <a:bodyPr/>
                    <a:lstStyle/>
                    <a:p>
                      <a:r>
                        <a:rPr sz="1400" b="0">
                          <a:solidFill>
                            <a:srgbClr val="26373D"/>
                          </a:solidFill>
                          <a:latin typeface="Yu Gothic"/>
                          <a:ea typeface="Yu Gothic"/>
                          <a:cs typeface="Yu Gothic"/>
                        </a:rPr>
                        <a:t>5.82 × 10^-11</a:t>
                      </a:r>
                    </a:p>
                  </a:txBody>
                  <a:tcPr marL="91440" marR="91440" marT="45720" marB="45720"/>
                </a:tc>
                <a:tc>
                  <a:txBody>
                    <a:bodyPr/>
                    <a:lstStyle/>
                    <a:p>
                      <a:r>
                        <a:rPr sz="1400" b="0">
                          <a:solidFill>
                            <a:srgbClr val="26373D"/>
                          </a:solidFill>
                          <a:latin typeface="Yu Gothic"/>
                          <a:ea typeface="Yu Gothic"/>
                          <a:cs typeface="Yu Gothic"/>
                        </a:rPr>
                        <a:t>0.0540 から 0.0534</a:t>
                      </a:r>
                    </a:p>
                  </a:txBody>
                  <a:tcPr marL="91440" marR="91440" marT="45720" marB="45720"/>
                </a:tc>
              </a:tr>
              <a:tr h="581025">
                <a:tc>
                  <a:txBody>
                    <a:bodyPr/>
                    <a:lstStyle/>
                    <a:p>
                      <a:r>
                        <a:rPr sz="1400" b="0">
                          <a:solidFill>
                            <a:srgbClr val="26373D"/>
                          </a:solidFill>
                          <a:latin typeface="Yu Gothic"/>
                          <a:ea typeface="Yu Gothic"/>
                          <a:cs typeface="Yu Gothic"/>
                        </a:rPr>
                        <a:t>2</a:t>
                      </a:r>
                    </a:p>
                  </a:txBody>
                  <a:tcPr marL="91440" marR="91440" marT="45720" marB="45720"/>
                </a:tc>
                <a:tc>
                  <a:txBody>
                    <a:bodyPr/>
                    <a:lstStyle/>
                    <a:p>
                      <a:r>
                        <a:rPr sz="1400" b="0">
                          <a:solidFill>
                            <a:srgbClr val="26373D"/>
                          </a:solidFill>
                          <a:latin typeface="Yu Gothic"/>
                          <a:ea typeface="Yu Gothic"/>
                          <a:cs typeface="Yu Gothic"/>
                        </a:rPr>
                        <a:t>M_G^1 から M_G^2</a:t>
                      </a:r>
                    </a:p>
                  </a:txBody>
                  <a:tcPr marL="91440" marR="91440" marT="45720" marB="45720"/>
                </a:tc>
                <a:tc>
                  <a:txBody>
                    <a:bodyPr/>
                    <a:lstStyle/>
                    <a:p>
                      <a:r>
                        <a:rPr sz="1400" b="0">
                          <a:solidFill>
                            <a:srgbClr val="26373D"/>
                          </a:solidFill>
                          <a:latin typeface="Yu Gothic"/>
                          <a:ea typeface="Yu Gothic"/>
                          <a:cs typeface="Yu Gothic"/>
                        </a:rPr>
                        <a:t>0.323 / 0.280</a:t>
                      </a:r>
                    </a:p>
                  </a:txBody>
                  <a:tcPr marL="91440" marR="91440" marT="45720" marB="45720"/>
                </a:tc>
                <a:tc>
                  <a:txBody>
                    <a:bodyPr/>
                    <a:lstStyle/>
                    <a:p>
                      <a:r>
                        <a:rPr sz="1400" b="0">
                          <a:solidFill>
                            <a:srgbClr val="26373D"/>
                          </a:solidFill>
                          <a:latin typeface="Yu Gothic"/>
                          <a:ea typeface="Yu Gothic"/>
                          <a:cs typeface="Yu Gothic"/>
                        </a:rPr>
                        <a:t>5.82 × 10^-11</a:t>
                      </a:r>
                    </a:p>
                  </a:txBody>
                  <a:tcPr marL="91440" marR="91440" marT="45720" marB="45720"/>
                </a:tc>
                <a:tc>
                  <a:txBody>
                    <a:bodyPr/>
                    <a:lstStyle/>
                    <a:p>
                      <a:r>
                        <a:rPr sz="1400" b="0">
                          <a:solidFill>
                            <a:srgbClr val="26373D"/>
                          </a:solidFill>
                          <a:latin typeface="Yu Gothic"/>
                          <a:ea typeface="Yu Gothic"/>
                          <a:cs typeface="Yu Gothic"/>
                        </a:rPr>
                        <a:t>18.478 から 18.339</a:t>
                      </a:r>
                    </a:p>
                  </a:txBody>
                  <a:tcPr marL="91440" marR="91440" marT="45720" marB="45720"/>
                </a:tc>
              </a:tr>
              <a:tr h="581025">
                <a:tc>
                  <a:txBody>
                    <a:bodyPr/>
                    <a:lstStyle/>
                    <a:p>
                      <a:r>
                        <a:rPr sz="1400" b="0">
                          <a:solidFill>
                            <a:srgbClr val="26373D"/>
                          </a:solidFill>
                          <a:latin typeface="Yu Gothic"/>
                          <a:ea typeface="Yu Gothic"/>
                          <a:cs typeface="Yu Gothic"/>
                        </a:rPr>
                        <a:t>3</a:t>
                      </a:r>
                    </a:p>
                  </a:txBody>
                  <a:tcPr marL="91440" marR="91440" marT="45720" marB="45720"/>
                </a:tc>
                <a:tc>
                  <a:txBody>
                    <a:bodyPr/>
                    <a:lstStyle/>
                    <a:p>
                      <a:r>
                        <a:rPr sz="1400" b="0">
                          <a:solidFill>
                            <a:srgbClr val="26373D"/>
                          </a:solidFill>
                          <a:latin typeface="Yu Gothic"/>
                          <a:ea typeface="Yu Gothic"/>
                          <a:cs typeface="Yu Gothic"/>
                        </a:rPr>
                        <a:t>M_G^2 から M_G^3</a:t>
                      </a:r>
                    </a:p>
                  </a:txBody>
                  <a:tcPr marL="91440" marR="91440" marT="45720" marB="45720"/>
                </a:tc>
                <a:tc>
                  <a:txBody>
                    <a:bodyPr/>
                    <a:lstStyle/>
                    <a:p>
                      <a:r>
                        <a:rPr sz="1400" b="0">
                          <a:solidFill>
                            <a:srgbClr val="26373D"/>
                          </a:solidFill>
                          <a:latin typeface="Yu Gothic"/>
                          <a:ea typeface="Yu Gothic"/>
                          <a:cs typeface="Yu Gothic"/>
                        </a:rPr>
                        <a:t>0.320 / 0.280</a:t>
                      </a:r>
                    </a:p>
                  </a:txBody>
                  <a:tcPr marL="91440" marR="91440" marT="45720" marB="45720"/>
                </a:tc>
                <a:tc>
                  <a:txBody>
                    <a:bodyPr/>
                    <a:lstStyle/>
                    <a:p>
                      <a:r>
                        <a:rPr sz="1400" b="0">
                          <a:solidFill>
                            <a:srgbClr val="26373D"/>
                          </a:solidFill>
                          <a:latin typeface="Yu Gothic"/>
                          <a:ea typeface="Yu Gothic"/>
                          <a:cs typeface="Yu Gothic"/>
                        </a:rPr>
                        <a:t>1.16 × 10^-10</a:t>
                      </a:r>
                    </a:p>
                  </a:txBody>
                  <a:tcPr marL="91440" marR="91440" marT="45720" marB="45720"/>
                </a:tc>
                <a:tc>
                  <a:txBody>
                    <a:bodyPr>
                      <a:normAutofit/>
                    </a:bodyPr>
                    <a:lstStyle/>
                    <a:p>
                      <a:pPr algn="ctr"/>
                      <a:r>
                        <a:rPr sz="1350" b="1">
                          <a:solidFill>
                            <a:srgbClr val="B94A3A"/>
                          </a:solidFill>
                          <a:latin typeface="Yu Gothic"/>
                          <a:ea typeface="Yu Gothic"/>
                          <a:cs typeface="Yu Gothic"/>
                        </a:rPr>
                        <a:t>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97B9B605-CB41-4C37-B396-6F5846BABC2E}"/>
              </a:ext>
            </a:extLst>
          </p:cNvPr>
          <p:cNvSpPr>
            <a:spLocks xmlns:a="http://schemas.openxmlformats.org/drawingml/2006/main" noGrp="1"/>
          </p:cNvSpPr>
          <p:nvPr/>
        </p:nvSpPr>
        <p:spPr>
          <a:xfrm xmlns:a="http://schemas.openxmlformats.org/drawingml/2006/main">
            <a:off x="857250" y="3714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各ラウンドで代理データが異なるため、ずれの値をラウンド間の性能推移として比較しない</a:t>
            </a:r>
          </a:p>
        </p:txBody>
      </p:sp>
      <p:sp>
        <p:nvSpPr>
          <p:cNvPr id="10" name="">
            <a:extLst xmlns:a="http://schemas.openxmlformats.org/drawingml/2006/main">
              <a:ext uri="{FF2B5EF4-FFF2-40B4-BE49-F238E27FC236}">
                <a16:creationId xmlns:a16="http://schemas.microsoft.com/office/drawing/2014/main" id="{5B760541-66E2-49C1-8C85-59D0BB01EA02}"/>
              </a:ext>
            </a:extLst>
          </p:cNvPr>
          <p:cNvSpPr>
            <a:spLocks xmlns:a="http://schemas.openxmlformats.org/drawingml/2006/main" noGrp="1"/>
          </p:cNvSpPr>
          <p:nvPr/>
        </p:nvSpPr>
        <p:spPr>
          <a:xfrm xmlns:a="http://schemas.openxmlformats.org/drawingml/2006/main">
            <a:off x="685800" y="4191000"/>
            <a:ext cx="4953000" cy="1257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4D643DE-0CF1-4F63-9F7B-BB01E093C1F1}"/>
              </a:ext>
            </a:extLst>
          </p:cNvPr>
          <p:cNvSpPr>
            <a:spLocks xmlns:a="http://schemas.openxmlformats.org/drawingml/2006/main" noGrp="1"/>
          </p:cNvSpPr>
          <p:nvPr/>
        </p:nvSpPr>
        <p:spPr>
          <a:xfrm xmlns:a="http://schemas.openxmlformats.org/drawingml/2006/main">
            <a:off x="933450" y="43719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D155AB7B-DFDF-4D94-9A9B-041172E5125E}"/>
              </a:ext>
            </a:extLst>
          </p:cNvPr>
          <p:cNvSpPr>
            <a:spLocks xmlns:a="http://schemas.openxmlformats.org/drawingml/2006/main" noGrp="1"/>
          </p:cNvSpPr>
          <p:nvPr/>
        </p:nvSpPr>
        <p:spPr>
          <a:xfrm xmlns:a="http://schemas.openxmlformats.org/drawingml/2006/main">
            <a:off x="933450" y="475297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2台の更新は毎回ゼロではない</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連合平均を別計算で再現</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小型AIと中央側AIの状態が次回へ一致</a:t>
            </a:r>
          </a:p>
        </p:txBody>
      </p:sp>
      <p:sp>
        <p:nvSpPr>
          <p:cNvPr id="13" name="">
            <a:extLst xmlns:a="http://schemas.openxmlformats.org/drawingml/2006/main">
              <a:ext uri="{FF2B5EF4-FFF2-40B4-BE49-F238E27FC236}">
                <a16:creationId xmlns:a16="http://schemas.microsoft.com/office/drawing/2014/main" id="{5A3DD0AE-785A-4017-B1DC-9BC1283EABCF}"/>
              </a:ext>
            </a:extLst>
          </p:cNvPr>
          <p:cNvSpPr>
            <a:spLocks xmlns:a="http://schemas.openxmlformats.org/drawingml/2006/main" noGrp="1"/>
          </p:cNvSpPr>
          <p:nvPr/>
        </p:nvSpPr>
        <p:spPr>
          <a:xfrm xmlns:a="http://schemas.openxmlformats.org/drawingml/2006/main">
            <a:off x="5943600" y="4191000"/>
            <a:ext cx="5562600" cy="12573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0EE828F-0412-4490-B64C-D746CF7442E4}"/>
              </a:ext>
            </a:extLst>
          </p:cNvPr>
          <p:cNvSpPr>
            <a:spLocks xmlns:a="http://schemas.openxmlformats.org/drawingml/2006/main" noGrp="1"/>
          </p:cNvSpPr>
          <p:nvPr/>
        </p:nvSpPr>
        <p:spPr>
          <a:xfrm xmlns:a="http://schemas.openxmlformats.org/drawingml/2006/main">
            <a:off x="6191250" y="43719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残った診断点</a:t>
            </a:r>
          </a:p>
        </p:txBody>
      </p:sp>
      <p:sp>
        <p:nvSpPr>
          <p:cNvPr id="15" name="">
            <a:extLst xmlns:a="http://schemas.openxmlformats.org/drawingml/2006/main">
              <a:ext uri="{FF2B5EF4-FFF2-40B4-BE49-F238E27FC236}">
                <a16:creationId xmlns:a16="http://schemas.microsoft.com/office/drawing/2014/main" id="{ACED6D86-9D0F-4AD8-B6D4-F34E0B7C5ACE}"/>
              </a:ext>
            </a:extLst>
          </p:cNvPr>
          <p:cNvSpPr>
            <a:spLocks xmlns:a="http://schemas.openxmlformats.org/drawingml/2006/main" noGrp="1"/>
          </p:cNvSpPr>
          <p:nvPr/>
        </p:nvSpPr>
        <p:spPr>
          <a:xfrm xmlns:a="http://schemas.openxmlformats.org/drawingml/2006/main">
            <a:off x="6191250" y="47529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1ラウンド目は変化の方向が4件中3件一致</a:t>
            </a:r>
          </a:p>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3ラウンド目は中央側AIのずれが増加</a:t>
            </a:r>
          </a:p>
        </p:txBody>
      </p:sp>
      <p:sp>
        <p:nvSpPr>
          <p:cNvPr id="16" name="">
            <a:extLst xmlns:a="http://schemas.openxmlformats.org/drawingml/2006/main">
              <a:ext uri="{FF2B5EF4-FFF2-40B4-BE49-F238E27FC236}">
                <a16:creationId xmlns:a16="http://schemas.microsoft.com/office/drawing/2014/main" id="{98141882-FEC7-4986-B250-991B75FBBDCE}"/>
              </a:ext>
            </a:extLst>
          </p:cNvPr>
          <p:cNvSpPr>
            <a:spLocks xmlns:a="http://schemas.openxmlformats.org/drawingml/2006/main" noGrp="1"/>
          </p:cNvSpPr>
          <p:nvPr/>
        </p:nvSpPr>
        <p:spPr>
          <a:xfrm xmlns:a="http://schemas.openxmlformats.org/drawingml/2006/main">
            <a:off x="914400" y="583882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今回の合格は『実行・接続・状態継承』。代理データの品質や学習効果の合格ではない。</a:t>
            </a:r>
          </a:p>
        </p:txBody>
      </p:sp>
    </p:spTree>
    <p:extLst>
      <p:ext uri="{BB962C8B-B14F-4D97-AF65-F5344CB8AC3E}">
        <p14:creationId xmlns:p14="http://schemas.microsoft.com/office/powerpoint/2010/main" val="112261997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D18077A-A854-4FD5-8117-196AE71976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5208A5-8881-45DD-8BE2-622A420DFCC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59F5ED4-DC8D-46F2-9181-2F8714DDBF5E}"/>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結論と今後</a:t>
            </a:r>
          </a:p>
        </p:txBody>
      </p:sp>
      <p:sp>
        <p:nvSpPr>
          <p:cNvPr id="4" name="">
            <a:extLst xmlns:a="http://schemas.openxmlformats.org/drawingml/2006/main">
              <a:ext uri="{FF2B5EF4-FFF2-40B4-BE49-F238E27FC236}">
                <a16:creationId xmlns:a16="http://schemas.microsoft.com/office/drawing/2014/main" id="{51940518-6F0D-44E5-A6A1-9C7EB64718AA}"/>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7E884554-FF5C-4543-8245-3A0CD6CB476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6AF5230-7365-4047-BF5E-370CE7B44AB9}"/>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18DDEE3B-AAE1-4636-B44C-9D8592C419F2}"/>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8</a:t>
            </a:r>
          </a:p>
        </p:txBody>
      </p:sp>
      <p:sp>
        <p:nvSpPr>
          <p:cNvPr id="8" name="">
            <a:extLst xmlns:a="http://schemas.openxmlformats.org/drawingml/2006/main">
              <a:ext uri="{FF2B5EF4-FFF2-40B4-BE49-F238E27FC236}">
                <a16:creationId xmlns:a16="http://schemas.microsoft.com/office/drawing/2014/main" id="{36C68FAD-89A9-4FC8-9C21-7B563488F85C}"/>
              </a:ext>
            </a:extLst>
          </p:cNvPr>
          <p:cNvSpPr>
            <a:spLocks xmlns:a="http://schemas.openxmlformats.org/drawingml/2006/main" noGrp="1"/>
          </p:cNvSpPr>
          <p:nvPr/>
        </p:nvSpPr>
        <p:spPr>
          <a:xfrm xmlns:a="http://schemas.openxmlformats.org/drawingml/2006/main">
            <a:off x="7239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今回確認できたこと</a:t>
            </a:r>
          </a:p>
        </p:txBody>
      </p:sp>
      <p:sp>
        <p:nvSpPr>
          <p:cNvPr id="9" name="">
            <a:extLst xmlns:a="http://schemas.openxmlformats.org/drawingml/2006/main">
              <a:ext uri="{FF2B5EF4-FFF2-40B4-BE49-F238E27FC236}">
                <a16:creationId xmlns:a16="http://schemas.microsoft.com/office/drawing/2014/main" id="{70975381-3A5D-4FB6-8E41-EB66BE326088}"/>
              </a:ext>
            </a:extLst>
          </p:cNvPr>
          <p:cNvSpPr>
            <a:spLocks xmlns:a="http://schemas.openxmlformats.org/drawingml/2006/main" noGrp="1"/>
          </p:cNvSpPr>
          <p:nvPr/>
        </p:nvSpPr>
        <p:spPr>
          <a:xfrm xmlns:a="http://schemas.openxmlformats.org/drawingml/2006/main">
            <a:off x="781050" y="163830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・代表動画の反応を要約し、代理データへ対応付け</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・3層を接続して中央側AIを更新</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・3ラウンドの状態をログから追跡</a:t>
            </a:r>
          </a:p>
        </p:txBody>
      </p:sp>
      <p:sp>
        <p:nvSpPr>
          <p:cNvPr id="10" name="">
            <a:extLst xmlns:a="http://schemas.openxmlformats.org/drawingml/2006/main">
              <a:ext uri="{FF2B5EF4-FFF2-40B4-BE49-F238E27FC236}">
                <a16:creationId xmlns:a16="http://schemas.microsoft.com/office/drawing/2014/main" id="{CF6CAD77-2658-4B68-811B-5DBBA17BD002}"/>
              </a:ext>
            </a:extLst>
          </p:cNvPr>
          <p:cNvSpPr>
            <a:spLocks xmlns:a="http://schemas.openxmlformats.org/drawingml/2006/main" noGrp="1"/>
          </p:cNvSpPr>
          <p:nvPr/>
        </p:nvSpPr>
        <p:spPr>
          <a:xfrm xmlns:a="http://schemas.openxmlformats.org/drawingml/2006/main">
            <a:off x="5924550" y="1123950"/>
            <a:ext cx="19050" cy="2095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6FB4D18-EE0B-4E61-9C5B-A71E404D43D3}"/>
              </a:ext>
            </a:extLst>
          </p:cNvPr>
          <p:cNvSpPr>
            <a:spLocks xmlns:a="http://schemas.openxmlformats.org/drawingml/2006/main" noGrp="1"/>
          </p:cNvSpPr>
          <p:nvPr/>
        </p:nvSpPr>
        <p:spPr>
          <a:xfrm xmlns:a="http://schemas.openxmlformats.org/drawingml/2006/main">
            <a:off x="63246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B94A3A"/>
                </a:solidFill>
                <a:latin typeface="Yu Gothic"/>
                <a:ea typeface="Yu Gothic"/>
                <a:cs typeface="Yu Gothic"/>
              </a:defRPr>
            </a:pPr>
            <a:r>
              <a:rPr sz="1800" b="1">
                <a:solidFill>
                  <a:srgbClr val="B94A3A"/>
                </a:solidFill>
                <a:latin typeface="Yu Gothic"/>
                <a:ea typeface="Yu Gothic"/>
                <a:cs typeface="Yu Gothic"/>
              </a:rPr>
              <a:t>まだ言えないこと</a:t>
            </a:r>
          </a:p>
        </p:txBody>
      </p:sp>
      <p:sp>
        <p:nvSpPr>
          <p:cNvPr id="12" name="">
            <a:extLst xmlns:a="http://schemas.openxmlformats.org/drawingml/2006/main">
              <a:ext uri="{FF2B5EF4-FFF2-40B4-BE49-F238E27FC236}">
                <a16:creationId xmlns:a16="http://schemas.microsoft.com/office/drawing/2014/main" id="{B6CE3C77-694B-451D-9B94-D2823FFD0EC2}"/>
              </a:ext>
            </a:extLst>
          </p:cNvPr>
          <p:cNvSpPr>
            <a:spLocks xmlns:a="http://schemas.openxmlformats.org/drawingml/2006/main" noGrp="1"/>
          </p:cNvSpPr>
          <p:nvPr/>
        </p:nvSpPr>
        <p:spPr>
          <a:xfrm xmlns:a="http://schemas.openxmlformats.org/drawingml/2006/main">
            <a:off x="6381750" y="1638300"/>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・性能向上と未知動画への転移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・代理データが現場の学習を十分に再現したこと</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・構造や規模が異なるAI間の転移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・形式的な安全性の保証</a:t>
            </a:r>
          </a:p>
        </p:txBody>
      </p:sp>
      <p:sp>
        <p:nvSpPr>
          <p:cNvPr id="13" name="">
            <a:extLst xmlns:a="http://schemas.openxmlformats.org/drawingml/2006/main">
              <a:ext uri="{FF2B5EF4-FFF2-40B4-BE49-F238E27FC236}">
                <a16:creationId xmlns:a16="http://schemas.microsoft.com/office/drawing/2014/main" id="{1ED58023-6E13-426A-B54D-C826EF664924}"/>
              </a:ext>
            </a:extLst>
          </p:cNvPr>
          <p:cNvSpPr>
            <a:spLocks xmlns:a="http://schemas.openxmlformats.org/drawingml/2006/main" noGrp="1"/>
          </p:cNvSpPr>
          <p:nvPr/>
        </p:nvSpPr>
        <p:spPr>
          <a:xfrm xmlns:a="http://schemas.openxmlformats.org/drawingml/2006/main">
            <a:off x="685800" y="3486150"/>
            <a:ext cx="108204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54C7D56-CFD4-4F0A-A40B-955A731D551F}"/>
              </a:ext>
            </a:extLst>
          </p:cNvPr>
          <p:cNvSpPr>
            <a:spLocks xmlns:a="http://schemas.openxmlformats.org/drawingml/2006/main" noGrp="1"/>
          </p:cNvSpPr>
          <p:nvPr/>
        </p:nvSpPr>
        <p:spPr>
          <a:xfrm xmlns:a="http://schemas.openxmlformats.org/drawingml/2006/main">
            <a:off x="742950" y="37242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今後の順序</a:t>
            </a:r>
          </a:p>
        </p:txBody>
      </p:sp>
      <p:sp>
        <p:nvSpPr>
          <p:cNvPr id="15" name="">
            <a:extLst xmlns:a="http://schemas.openxmlformats.org/drawingml/2006/main">
              <a:ext uri="{FF2B5EF4-FFF2-40B4-BE49-F238E27FC236}">
                <a16:creationId xmlns:a16="http://schemas.microsoft.com/office/drawing/2014/main" id="{9334BA89-0FFE-4B11-8E19-72C54587BE8E}"/>
              </a:ext>
            </a:extLst>
          </p:cNvPr>
          <p:cNvSpPr>
            <a:spLocks xmlns:a="http://schemas.openxmlformats.org/drawingml/2006/main" noGrp="1"/>
          </p:cNvSpPr>
          <p:nvPr/>
        </p:nvSpPr>
        <p:spPr>
          <a:xfrm xmlns:a="http://schemas.openxmlformats.org/drawingml/2006/main">
            <a:off x="800100" y="4171950"/>
            <a:ext cx="400050" cy="400050"/>
          </a:xfrm>
          <a:prstGeom xmlns:a="http://schemas.openxmlformats.org/drawingml/2006/main" prst="ellipse">
            <a:avLst/>
          </a:prstGeom>
          <a:solidFill xmlns:a="http://schemas.openxmlformats.org/drawingml/2006/main">
            <a:srgbClr val="B94A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AC4BB11-786F-42CE-8BB8-267168F45EAC}"/>
              </a:ext>
            </a:extLst>
          </p:cNvPr>
          <p:cNvSpPr>
            <a:spLocks xmlns:a="http://schemas.openxmlformats.org/drawingml/2006/main" noGrp="1"/>
          </p:cNvSpPr>
          <p:nvPr/>
        </p:nvSpPr>
        <p:spPr>
          <a:xfrm xmlns:a="http://schemas.openxmlformats.org/drawingml/2006/main">
            <a:off x="800100" y="42195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17" name="">
            <a:extLst xmlns:a="http://schemas.openxmlformats.org/drawingml/2006/main">
              <a:ext uri="{FF2B5EF4-FFF2-40B4-BE49-F238E27FC236}">
                <a16:creationId xmlns:a16="http://schemas.microsoft.com/office/drawing/2014/main" id="{E44777DC-6107-4562-BB2B-CDEA2D35B54C}"/>
              </a:ext>
            </a:extLst>
          </p:cNvPr>
          <p:cNvSpPr>
            <a:spLocks xmlns:a="http://schemas.openxmlformats.org/drawingml/2006/main" noGrp="1"/>
          </p:cNvSpPr>
          <p:nvPr/>
        </p:nvSpPr>
        <p:spPr>
          <a:xfrm xmlns:a="http://schemas.openxmlformats.org/drawingml/2006/main">
            <a:off x="1428750" y="41529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中央側AIの更新方向を確認</a:t>
            </a:r>
          </a:p>
        </p:txBody>
      </p:sp>
      <p:sp>
        <p:nvSpPr>
          <p:cNvPr id="18" name="">
            <a:extLst xmlns:a="http://schemas.openxmlformats.org/drawingml/2006/main">
              <a:ext uri="{FF2B5EF4-FFF2-40B4-BE49-F238E27FC236}">
                <a16:creationId xmlns:a16="http://schemas.microsoft.com/office/drawing/2014/main" id="{E7DAA2D1-4BAC-41D1-BF7A-F0602EB8F4EB}"/>
              </a:ext>
            </a:extLst>
          </p:cNvPr>
          <p:cNvSpPr>
            <a:spLocks xmlns:a="http://schemas.openxmlformats.org/drawingml/2006/main" noGrp="1"/>
          </p:cNvSpPr>
          <p:nvPr/>
        </p:nvSpPr>
        <p:spPr>
          <a:xfrm xmlns:a="http://schemas.openxmlformats.org/drawingml/2006/main">
            <a:off x="4686300" y="41529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同じ4組を固定し、ごく小さい1回の更新でずれが減るかを確認</a:t>
            </a:r>
          </a:p>
        </p:txBody>
      </p:sp>
      <p:sp>
        <p:nvSpPr>
          <p:cNvPr id="19" name="">
            <a:extLst xmlns:a="http://schemas.openxmlformats.org/drawingml/2006/main">
              <a:ext uri="{FF2B5EF4-FFF2-40B4-BE49-F238E27FC236}">
                <a16:creationId xmlns:a16="http://schemas.microsoft.com/office/drawing/2014/main" id="{0924432E-7F7F-47C1-B6DC-7169AE71FF5B}"/>
              </a:ext>
            </a:extLst>
          </p:cNvPr>
          <p:cNvSpPr>
            <a:spLocks xmlns:a="http://schemas.openxmlformats.org/drawingml/2006/main" noGrp="1"/>
          </p:cNvSpPr>
          <p:nvPr/>
        </p:nvSpPr>
        <p:spPr>
          <a:xfrm xmlns:a="http://schemas.openxmlformats.org/drawingml/2006/main">
            <a:off x="800100" y="4800600"/>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FCD7B7C-A988-42F7-9C1B-B6B83B50CD7E}"/>
              </a:ext>
            </a:extLst>
          </p:cNvPr>
          <p:cNvSpPr>
            <a:spLocks xmlns:a="http://schemas.openxmlformats.org/drawingml/2006/main" noGrp="1"/>
          </p:cNvSpPr>
          <p:nvPr/>
        </p:nvSpPr>
        <p:spPr>
          <a:xfrm xmlns:a="http://schemas.openxmlformats.org/drawingml/2006/main">
            <a:off x="800100" y="484822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21" name="">
            <a:extLst xmlns:a="http://schemas.openxmlformats.org/drawingml/2006/main">
              <a:ext uri="{FF2B5EF4-FFF2-40B4-BE49-F238E27FC236}">
                <a16:creationId xmlns:a16="http://schemas.microsoft.com/office/drawing/2014/main" id="{37F8B41F-76E4-4F0C-83DD-F248119B369D}"/>
              </a:ext>
            </a:extLst>
          </p:cNvPr>
          <p:cNvSpPr>
            <a:spLocks xmlns:a="http://schemas.openxmlformats.org/drawingml/2006/main" noGrp="1"/>
          </p:cNvSpPr>
          <p:nvPr/>
        </p:nvSpPr>
        <p:spPr>
          <a:xfrm xmlns:a="http://schemas.openxmlformats.org/drawingml/2006/main">
            <a:off x="1428750" y="47815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第2層の条件を比較</a:t>
            </a:r>
          </a:p>
        </p:txBody>
      </p:sp>
      <p:sp>
        <p:nvSpPr>
          <p:cNvPr id="22" name="">
            <a:extLst xmlns:a="http://schemas.openxmlformats.org/drawingml/2006/main">
              <a:ext uri="{FF2B5EF4-FFF2-40B4-BE49-F238E27FC236}">
                <a16:creationId xmlns:a16="http://schemas.microsoft.com/office/drawing/2014/main" id="{97754276-6B48-468D-8E9D-915518B7A964}"/>
              </a:ext>
            </a:extLst>
          </p:cNvPr>
          <p:cNvSpPr>
            <a:spLocks xmlns:a="http://schemas.openxmlformats.org/drawingml/2006/main" noGrp="1"/>
          </p:cNvSpPr>
          <p:nvPr/>
        </p:nvSpPr>
        <p:spPr>
          <a:xfrm xmlns:a="http://schemas.openxmlformats.org/drawingml/2006/main">
            <a:off x="4686300" y="47815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中央側動画だけ、学習後の判定、学習前後の変化を同じ条件で比較</a:t>
            </a:r>
          </a:p>
        </p:txBody>
      </p:sp>
      <p:sp>
        <p:nvSpPr>
          <p:cNvPr id="23" name="">
            <a:extLst xmlns:a="http://schemas.openxmlformats.org/drawingml/2006/main">
              <a:ext uri="{FF2B5EF4-FFF2-40B4-BE49-F238E27FC236}">
                <a16:creationId xmlns:a16="http://schemas.microsoft.com/office/drawing/2014/main" id="{814902DA-3A68-4BB3-A11F-6BBEBD39EEA0}"/>
              </a:ext>
            </a:extLst>
          </p:cNvPr>
          <p:cNvSpPr>
            <a:spLocks xmlns:a="http://schemas.openxmlformats.org/drawingml/2006/main" noGrp="1"/>
          </p:cNvSpPr>
          <p:nvPr/>
        </p:nvSpPr>
        <p:spPr>
          <a:xfrm xmlns:a="http://schemas.openxmlformats.org/drawingml/2006/main">
            <a:off x="800100" y="5429250"/>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0D55375-EC37-4805-8467-CE8E8102E967}"/>
              </a:ext>
            </a:extLst>
          </p:cNvPr>
          <p:cNvSpPr>
            <a:spLocks xmlns:a="http://schemas.openxmlformats.org/drawingml/2006/main" noGrp="1"/>
          </p:cNvSpPr>
          <p:nvPr/>
        </p:nvSpPr>
        <p:spPr>
          <a:xfrm xmlns:a="http://schemas.openxmlformats.org/drawingml/2006/main">
            <a:off x="800100" y="54768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25" name="">
            <a:extLst xmlns:a="http://schemas.openxmlformats.org/drawingml/2006/main">
              <a:ext uri="{FF2B5EF4-FFF2-40B4-BE49-F238E27FC236}">
                <a16:creationId xmlns:a16="http://schemas.microsoft.com/office/drawing/2014/main" id="{3C0F057B-CB74-497F-B0F4-8A195353A23B}"/>
              </a:ext>
            </a:extLst>
          </p:cNvPr>
          <p:cNvSpPr>
            <a:spLocks xmlns:a="http://schemas.openxmlformats.org/drawingml/2006/main" noGrp="1"/>
          </p:cNvSpPr>
          <p:nvPr/>
        </p:nvSpPr>
        <p:spPr>
          <a:xfrm xmlns:a="http://schemas.openxmlformats.org/drawingml/2006/main">
            <a:off x="1428750" y="54102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独立した動画で評価</a:t>
            </a:r>
          </a:p>
        </p:txBody>
      </p:sp>
      <p:sp>
        <p:nvSpPr>
          <p:cNvPr id="26" name="">
            <a:extLst xmlns:a="http://schemas.openxmlformats.org/drawingml/2006/main">
              <a:ext uri="{FF2B5EF4-FFF2-40B4-BE49-F238E27FC236}">
                <a16:creationId xmlns:a16="http://schemas.microsoft.com/office/drawing/2014/main" id="{A9592120-713B-4FDE-BA38-09ED824449C0}"/>
              </a:ext>
            </a:extLst>
          </p:cNvPr>
          <p:cNvSpPr>
            <a:spLocks xmlns:a="http://schemas.openxmlformats.org/drawingml/2006/main" noGrp="1"/>
          </p:cNvSpPr>
          <p:nvPr/>
        </p:nvSpPr>
        <p:spPr>
          <a:xfrm xmlns:a="http://schemas.openxmlformats.org/drawingml/2006/main">
            <a:off x="4686300" y="54102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選択に使っていない動画で確認後、5ラウンドと異なる規模のAIへ進む</a:t>
            </a:r>
          </a:p>
        </p:txBody>
      </p:sp>
      <p:sp>
        <p:nvSpPr>
          <p:cNvPr id="27" name="">
            <a:extLst xmlns:a="http://schemas.openxmlformats.org/drawingml/2006/main">
              <a:ext uri="{FF2B5EF4-FFF2-40B4-BE49-F238E27FC236}">
                <a16:creationId xmlns:a16="http://schemas.microsoft.com/office/drawing/2014/main" id="{F29099DC-930E-4F20-A099-B039BBD5CFE8}"/>
              </a:ext>
            </a:extLst>
          </p:cNvPr>
          <p:cNvSpPr>
            <a:spLocks xmlns:a="http://schemas.openxmlformats.org/drawingml/2006/main" noGrp="1"/>
          </p:cNvSpPr>
          <p:nvPr/>
        </p:nvSpPr>
        <p:spPr>
          <a:xfrm xmlns:a="http://schemas.openxmlformats.org/drawingml/2006/main">
            <a:off x="685800" y="6029325"/>
            <a:ext cx="10820400" cy="3619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B7B3ABF-B04F-4824-8702-DE839652FEC2}"/>
              </a:ext>
            </a:extLst>
          </p:cNvPr>
          <p:cNvSpPr>
            <a:spLocks xmlns:a="http://schemas.openxmlformats.org/drawingml/2006/main" noGrp="1"/>
          </p:cNvSpPr>
          <p:nvPr/>
        </p:nvSpPr>
        <p:spPr>
          <a:xfrm xmlns:a="http://schemas.openxmlformats.org/drawingml/2006/main">
            <a:off x="876300" y="6096000"/>
            <a:ext cx="1043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Yu Gothic"/>
                <a:ea typeface="Yu Gothic"/>
                <a:cs typeface="Yu Gothic"/>
              </a:defRPr>
            </a:pPr>
            <a:r>
              <a:rPr sz="1500" b="1">
                <a:solidFill>
                  <a:srgbClr val="FFFFFF"/>
                </a:solidFill>
                <a:latin typeface="Yu Gothic"/>
                <a:ea typeface="Yu Gothic"/>
                <a:cs typeface="Yu Gothic"/>
              </a:rPr>
              <a:t>到達点：効果を正しく検証できる土台と、次に確認すべき失敗箇所を特定した</a:t>
            </a:r>
          </a:p>
        </p:txBody>
      </p:sp>
      <p:sp>
        <p:nvSpPr>
          <p:cNvPr id="29" name="">
            <a:extLst xmlns:a="http://schemas.openxmlformats.org/drawingml/2006/main">
              <a:ext uri="{FF2B5EF4-FFF2-40B4-BE49-F238E27FC236}">
                <a16:creationId xmlns:a16="http://schemas.microsoft.com/office/drawing/2014/main" id="{4C76FA6D-B4E3-4BC1-8974-3E8AF4F50E1C}"/>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20875549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2026-09-17T18:48:17.1500000Z</dcterms:created>
  <dcterms:modified xsi:type="dcterms:W3CDTF">2026-09-17T18:48:17.1500000Z</dcterms:modified>
</coreProperties>
</file>