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7639a7d74224e17" /><Relationship Type="http://schemas.openxmlformats.org/officeDocument/2006/relationships/extended-properties" Target="/docProps/app.xml" Id="Re101add1b62543d7" /><Relationship Type="http://schemas.openxmlformats.org/officeDocument/2006/relationships/officeDocument" Target="/ppt/presentation.xml" Id="Rf96d71087e054eaf" /></Relationships>
</file>

<file path=ppt/presentation.xml><?xml version="1.0" encoding="utf-8"?>
<p:presentation xmlns:p="http://schemas.openxmlformats.org/presentationml/2006/main">
  <p:sldMasterIdLst>
    <p:sldMasterId xmlns:r="http://schemas.openxmlformats.org/officeDocument/2006/relationships" id="2147483648" r:id="Rc10b4d31f3724b63"/>
  </p:sldMasterIdLst>
  <p:notesMasterIdLst>
    <p:notesMasterId xmlns:r="http://schemas.openxmlformats.org/officeDocument/2006/relationships" r:id="Rcfa1602a25e14ad9"/>
  </p:notesMasterIdLst>
  <p:sldIdLst>
    <p:sldId xmlns:r="http://schemas.openxmlformats.org/officeDocument/2006/relationships" id="256" r:id="Rd8c5d411df904f57"/>
    <p:sldId xmlns:r="http://schemas.openxmlformats.org/officeDocument/2006/relationships" id="257" r:id="R1d12bb58a5894ce7"/>
    <p:sldId xmlns:r="http://schemas.openxmlformats.org/officeDocument/2006/relationships" id="258" r:id="R7da2175355434c0a"/>
    <p:sldId xmlns:r="http://schemas.openxmlformats.org/officeDocument/2006/relationships" id="259" r:id="R4d4cc1dda95f498c"/>
    <p:sldId xmlns:r="http://schemas.openxmlformats.org/officeDocument/2006/relationships" id="260" r:id="Rc660907dffc64ecf"/>
    <p:sldId xmlns:r="http://schemas.openxmlformats.org/officeDocument/2006/relationships" id="261" r:id="R7945a01ec7874af8"/>
    <p:sldId xmlns:r="http://schemas.openxmlformats.org/officeDocument/2006/relationships" id="262" r:id="R8b30a2bfa1eb4afe"/>
    <p:sldId xmlns:r="http://schemas.openxmlformats.org/officeDocument/2006/relationships" id="263" r:id="R6d2cc33280c449f8"/>
    <p:sldId xmlns:r="http://schemas.openxmlformats.org/officeDocument/2006/relationships" id="264" r:id="Rab6377832e124583"/>
    <p:sldId xmlns:r="http://schemas.openxmlformats.org/officeDocument/2006/relationships" id="265" r:id="R102ab6a94f024cae"/>
    <p:sldId xmlns:r="http://schemas.openxmlformats.org/officeDocument/2006/relationships" id="266" r:id="Rc34ec4a25f8041de"/>
    <p:sldId xmlns:r="http://schemas.openxmlformats.org/officeDocument/2006/relationships" id="267" r:id="Rf10fa7591a6c49b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2210b3eef954c89" /><Relationship Type="http://schemas.openxmlformats.org/officeDocument/2006/relationships/slideMaster" Target="/ppt/slideMasters/slideMaster1.xml" Id="Rc10b4d31f3724b63" /><Relationship Type="http://schemas.openxmlformats.org/officeDocument/2006/relationships/notesMaster" Target="/ppt/notesMasters/notesMaster1.xml" Id="Rcfa1602a25e14ad9" /><Relationship Type="http://schemas.openxmlformats.org/officeDocument/2006/relationships/presProps" Target="/ppt/presProps.xml" Id="R88a2fa5b15b448e8" /><Relationship Type="http://schemas.openxmlformats.org/officeDocument/2006/relationships/tableStyles" Target="/ppt/tableStyles.xml" Id="Rcf847eaf631f47bc" /><Relationship Type="http://schemas.openxmlformats.org/officeDocument/2006/relationships/slide" Target="/ppt/slides/slide1.xml" Id="Rd8c5d411df904f57" /><Relationship Type="http://schemas.openxmlformats.org/officeDocument/2006/relationships/slide" Target="/ppt/slides/slide2.xml" Id="R1d12bb58a5894ce7" /><Relationship Type="http://schemas.openxmlformats.org/officeDocument/2006/relationships/slide" Target="/ppt/slides/slide3.xml" Id="R7da2175355434c0a" /><Relationship Type="http://schemas.openxmlformats.org/officeDocument/2006/relationships/slide" Target="/ppt/slides/slide4.xml" Id="R4d4cc1dda95f498c" /><Relationship Type="http://schemas.openxmlformats.org/officeDocument/2006/relationships/slide" Target="/ppt/slides/slide5.xml" Id="Rc660907dffc64ecf" /><Relationship Type="http://schemas.openxmlformats.org/officeDocument/2006/relationships/slide" Target="/ppt/slides/slide6.xml" Id="R7945a01ec7874af8" /><Relationship Type="http://schemas.openxmlformats.org/officeDocument/2006/relationships/slide" Target="/ppt/slides/slide7.xml" Id="R8b30a2bfa1eb4afe" /><Relationship Type="http://schemas.openxmlformats.org/officeDocument/2006/relationships/slide" Target="/ppt/slides/slide8.xml" Id="R6d2cc33280c449f8" /><Relationship Type="http://schemas.openxmlformats.org/officeDocument/2006/relationships/slide" Target="/ppt/slides/slide9.xml" Id="Rab6377832e124583" /><Relationship Type="http://schemas.openxmlformats.org/officeDocument/2006/relationships/slide" Target="/ppt/slides/slide10.xml" Id="R102ab6a94f024cae" /><Relationship Type="http://schemas.openxmlformats.org/officeDocument/2006/relationships/slide" Target="/ppt/slides/slide11.xml" Id="Rc34ec4a25f8041de" /><Relationship Type="http://schemas.openxmlformats.org/officeDocument/2006/relationships/slide" Target="/ppt/slides/slide12.xml" Id="Rf10fa7591a6c49b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a039c27565948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639509b07f94699" /><Relationship Type="http://schemas.openxmlformats.org/officeDocument/2006/relationships/notesMaster" Target="/ppt/notesMasters/notesMaster1.xml" Id="R3ecc1c971c7b48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2747d0c29046a8" /><Relationship Type="http://schemas.openxmlformats.org/officeDocument/2006/relationships/notesMaster" Target="/ppt/notesMasters/notesMaster1.xml" Id="Rb7cb05e59650496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db9f412efa245c2" /><Relationship Type="http://schemas.openxmlformats.org/officeDocument/2006/relationships/notesMaster" Target="/ppt/notesMasters/notesMaster1.xml" Id="R9a50075717b8486e" /></Relationships>
</file>

<file path=ppt/notesSlides/_rels/notesSlide4.xml.rels>&#65279;<?xml version="1.0" encoding="utf-8"?><Relationships xmlns="http://schemas.openxmlformats.org/package/2006/relationships"><Relationship Type="http://schemas.openxmlformats.org/officeDocument/2006/relationships/slide" Target="/ppt/slides/slide4.xml" Id="Rff10ba004feb4aed" /><Relationship Type="http://schemas.openxmlformats.org/officeDocument/2006/relationships/notesMaster" Target="/ppt/notesMasters/notesMaster1.xml" Id="R98b4a519f69341a7" /></Relationships>
</file>

<file path=ppt/notesSlides/_rels/notesSlide5.xml.rels>&#65279;<?xml version="1.0" encoding="utf-8"?><Relationships xmlns="http://schemas.openxmlformats.org/package/2006/relationships"><Relationship Type="http://schemas.openxmlformats.org/officeDocument/2006/relationships/slide" Target="/ppt/slides/slide5.xml" Id="R422842e7ec7047f7" /><Relationship Type="http://schemas.openxmlformats.org/officeDocument/2006/relationships/notesMaster" Target="/ppt/notesMasters/notesMaster1.xml" Id="R79e76018c1db4a7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581b49150c64580" /><Relationship Type="http://schemas.openxmlformats.org/officeDocument/2006/relationships/notesMaster" Target="/ppt/notesMasters/notesMaster1.xml" Id="R5c9215e394384b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d13ee9a8c4c240ec" /><Relationship Type="http://schemas.openxmlformats.org/officeDocument/2006/relationships/notesMaster" Target="/ppt/notesMasters/notesMaster1.xml" Id="Rad09961312844baa" /></Relationships>
</file>

<file path=ppt/notesSlides/_rels/notesSlide8.xml.rels>&#65279;<?xml version="1.0" encoding="utf-8"?><Relationships xmlns="http://schemas.openxmlformats.org/package/2006/relationships"><Relationship Type="http://schemas.openxmlformats.org/officeDocument/2006/relationships/slide" Target="/ppt/slides/slide8.xml" Id="R04093d9027b6428b" /><Relationship Type="http://schemas.openxmlformats.org/officeDocument/2006/relationships/notesMaster" Target="/ppt/notesMasters/notesMaster1.xml" Id="R504af09da73a4deb" /></Relationships>
</file>

<file path=ppt/notesSlides/_rels/notesSlide9.xml.rels>&#65279;<?xml version="1.0" encoding="utf-8"?><Relationships xmlns="http://schemas.openxmlformats.org/package/2006/relationships"><Relationship Type="http://schemas.openxmlformats.org/officeDocument/2006/relationships/slide" Target="/ppt/slides/slide9.xml" Id="Rd8a693e0b94d4043" /><Relationship Type="http://schemas.openxmlformats.org/officeDocument/2006/relationships/notesMaster" Target="/ppt/notesMasters/notesMaster1.xml" Id="Rdca702d2db88440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2783adba7934116" /><Relationship Type="http://schemas.openxmlformats.org/officeDocument/2006/relationships/notesMaster" Target="/ppt/notesMasters/notesMaster1.xml" Id="R5a0ce482ccf741b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4d1de88ea34421a" /><Relationship Type="http://schemas.openxmlformats.org/officeDocument/2006/relationships/notesMaster" Target="/ppt/notesMasters/notesMaster1.xml" Id="R6e7436dc1b7c493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17a3b867f3b4b81" /><Relationship Type="http://schemas.openxmlformats.org/officeDocument/2006/relationships/notesMaster" Target="/ppt/notesMasters/notesMaster1.xml" Id="R1c6e4301340c48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0:00–1:10】</a:t>
            </a:r>
          </a:p>
          <a:p xmlns:a="http://schemas.openxmlformats.org/drawingml/2006/main">
            <a:r>
              <a:t>今回は、複数の自動運転車やロボットが、同じ危険判定を行う場面を想定しています。判定内容は共通でも、場所や時間、天候が違うため、それぞれが経験する動画は異なります。ある現場で得た経験をサービス全体へ反映できれば、中央側のAIも継続的に更新できます。しかし、現場の動画をそのまま中央へ集めることは難しく、連合平均でまとめた小型AIの更新を、構造や規模が異なる中央側AIへ直接渡すこともできません。そこでFedPACTでは、現場でAIの判定がどのように変わったかを数値で受け取り、その変化を中央側が持つ動画上に表して学習へ使います。この後は、変化を測る、複数動画をまとめる、中央側の動画上に表す、中央側AIを更新する、という順番で説明します。</a:t>
            </a:r>
          </a:p>
          <a:p xmlns:a="http://schemas.openxmlformats.org/drawingml/2006/main">
            <a:r>
              <a:t/>
            </a:r>
          </a:p>
          <a:p xmlns:a="http://schemas.openxmlformats.org/drawingml/2006/main">
            <a:r>
              <a:t>【根拠】</a:t>
            </a:r>
          </a:p>
          <a:p xmlns:a="http://schemas.openxmlformats.org/drawingml/2006/main">
            <a:r>
              <a:t>notes/advisor/sources/raw/2026-09-16/slack_zettsu_reply_to_chen_ja_date_unknown_received_2026-09-16.md（利用場面、接続問題、適用範囲）</a:t>
            </a:r>
          </a:p>
          <a:p xmlns:a="http://schemas.openxmlformats.org/drawingml/2006/main">
            <a:r>
              <a:t>notes/advisor/sources/raw/2026-09-01/FedPACT手法提案260901.pdf（研究目的、三層構造）</a:t>
            </a:r>
          </a:p>
          <a:p xmlns:a="http://schemas.openxmlformats.org/drawingml/2006/main">
            <a:r>
              <a:t>画像: artifacts/datasets/frames/train/003d6c3909/003.jpg, artifacts/datasets/frames/train/b82e955a9fdf13e2/003.jpg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1:10–2:10】</a:t>
            </a:r>
          </a:p>
          <a:p xmlns:a="http://schemas.openxmlformats.org/drawingml/2006/main">
            <a:r>
              <a:t>ここでは、白い車が横から接近する危険動画を例にします。この実験では、AIが出した通常と危険の確率を記録しています。q^{pre}は局所学習前、q^{post}は局所学習後に同じ動画を判定した結果です。この動画では、危険確率が0.349から0.644へ変わり、Δqはプラス0.295でした。つまり、この入力に対するAIの出力が危険側へ動いたことが分かります。ただし、この値だけから危険を正しく学習した、あるいは危険原因を理解したとは言えません。次に、このような1本ごとの反応を複数動画からまとめます。</a:t>
            </a:r>
          </a:p>
          <a:p xmlns:a="http://schemas.openxmlformats.org/drawingml/2006/main">
            <a:r>
              <a:t/>
            </a:r>
          </a:p>
          <a:p xmlns:a="http://schemas.openxmlformats.org/drawingml/2006/main">
            <a:r>
              <a:t>【根拠】</a:t>
            </a:r>
          </a:p>
          <a:p xmlns:a="http://schemas.openxmlformats.org/drawingml/2006/main">
            <a:r>
              <a:t>artifacts/runs/fedpact_stage1/p1d_layer1_20260917_01/client_local/client-0/private_trace.json（sample 15a4f810cc4c2aef）</a:t>
            </a:r>
          </a:p>
          <a:p xmlns:a="http://schemas.openxmlformats.org/drawingml/2006/main">
            <a:r>
              <a:t>artifacts/datasets/fedpact_stage1/manifest_paired_alert_quartiles.jsonl（危険区間、4フレーム）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2:10–3:10】</a:t>
            </a:r>
          </a:p>
          <a:p xmlns:a="http://schemas.openxmlformats.org/drawingml/2006/main">
            <a:r>
              <a:t>1本の動画の結果をそのまま中央側へ送るわけではありません。先ほどの動画を含む危険動画3本について、学習後の危険確率を平均すると0.724になります。これがμ^{post}_{k,r}です。学習前後の変化量の平均はプラス0.238で、これがΔμ_{k,r}です。まとめた本数π_{k,r}は3です。この三つをQ_{k,r}として送ります。中央側へ送るのは、この要約と小型AIの更新情報です。元の動画、画像、動画ごとの識別情報は送りません。また、小型AIの更新は連合平均へ渡しますが、Q_{k,r}は平均せず、次の代理データ生成へ渡します。</a:t>
            </a:r>
          </a:p>
          <a:p xmlns:a="http://schemas.openxmlformats.org/drawingml/2006/main">
            <a:r>
              <a:t/>
            </a:r>
          </a:p>
          <a:p xmlns:a="http://schemas.openxmlformats.org/drawingml/2006/main">
            <a:r>
              <a:t>【根拠】</a:t>
            </a:r>
          </a:p>
          <a:p xmlns:a="http://schemas.openxmlformats.org/drawingml/2006/main">
            <a:r>
              <a:t>artifacts/runs/fedpact_stage1/p1d_layer1_20260917_01/client_local/client-0/private_trace.json</a:t>
            </a:r>
          </a:p>
          <a:p xmlns:a="http://schemas.openxmlformats.org/drawingml/2006/main">
            <a:r>
              <a:t>artifacts/runs/fedpact_stage1/p1d_layer1_20260917_01/communication/client-0/payload.json（r1-client-0-class1）</a:t>
            </a:r>
          </a:p>
          <a:p xmlns:a="http://schemas.openxmlformats.org/drawingml/2006/main">
            <a:r>
              <a:t>notes/advisor/sources/raw/2026-09-16/slack_zettsu_flow_feedback_date_unknown_received_2026-09-16.md（Q生成と別経路）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3:10–4:35】</a:t>
            </a:r>
          </a:p>
          <a:p xmlns:a="http://schemas.openxmlformats.org/drawingml/2006/main">
            <a:r>
              <a:t>ここでも、2枚目と3枚目で追った同じr1-client-0-class1を使います。中央側には通常動画30本と危険動画30本、合計60本を用意しています。これは現場の知識そのものではなく、現場側の判定変化を表すための材料です。まず、連合平均後の小型AIを使い、μ^{post}_{k,r}に近い判定を出す動画を探します。上位3本について、変更なし、暗くする、明るくする、コントラストを上げる、中央を切り出す、という5種類を試します。一つのQにつき15候補で、四つのQでは合計60候補です。候補を選ぶときは、学習後の判定だけでなく、連合平均前後の変化がΔμ_{k,r}に近いかも確認します。選んだ入力x̃_{k,r}と学習後の目標値μ^{post}_{k,r}からP_{k,r}を作ります。</a:t>
            </a:r>
          </a:p>
          <a:p xmlns:a="http://schemas.openxmlformats.org/drawingml/2006/main">
            <a:r>
              <a:t/>
            </a:r>
          </a:p>
          <a:p xmlns:a="http://schemas.openxmlformats.org/drawingml/2006/main">
            <a:r>
              <a:t>【根拠】</a:t>
            </a:r>
          </a:p>
          <a:p xmlns:a="http://schemas.openxmlformats.org/drawingml/2006/main">
            <a:r>
              <a:t>artifacts/runs/fedpact_stage1/p1d_full_20260917_02/server/layer2_trace.json（60 seed、top 3、5変換、選択）</a:t>
            </a:r>
          </a:p>
          <a:p xmlns:a="http://schemas.openxmlformats.org/drawingml/2006/main">
            <a:r>
              <a:t>artifacts/runs/fedpact_stage1/p1d_full_20260917_02/server/proxy_pairs.json（Pの構成）</a:t>
            </a:r>
          </a:p>
          <a:p xmlns:a="http://schemas.openxmlformats.org/drawingml/2006/main">
            <a:r>
              <a:t>画像: artifacts/runs/fedpact_stage1/p1d_full_20260917_02/server/transformation_candidates/r1-client-0-class1-rank01-*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4:35–5:15】</a:t>
            </a:r>
          </a:p>
          <a:p xmlns:a="http://schemas.openxmlformats.org/drawingml/2006/main">
            <a:r>
              <a:t>ここで、後半の結果を読むための実験条件を整理します。今回はNEXAR動画の通常と危険の二値判定を扱い、現場側AIを二台、三ラウンドで動かしました。各台は通常三本、危険三本を使い、一動画から四枚を入力します。危険動画は警告から事象までの区間を四分割し、通常動画も対応する同じ時刻を使いました。中央側には通常三十本と危険三十本、合計六十本を用意しました。各ラウンドでは四つのQ_{k,r}を作り、六十本を検索した後、上位三本を五通りに変換して四つのP_{k,r}を選びます。第I段階なので現場側と中央側は同じ3Bモデルです。今回の結果は接続確認であり、性能向上や異なる規模のAI間の転移を示すものではありません。</a:t>
            </a:r>
          </a:p>
          <a:p xmlns:a="http://schemas.openxmlformats.org/drawingml/2006/main">
            <a:r>
              <a:t/>
            </a:r>
          </a:p>
          <a:p xmlns:a="http://schemas.openxmlformats.org/drawingml/2006/main">
            <a:r>
              <a:t>【根拠】</a:t>
            </a:r>
          </a:p>
          <a:p xmlns:a="http://schemas.openxmlformats.org/drawingml/2006/main">
            <a:r>
              <a:t>config/fedpact_stage1.yaml</a:t>
            </a:r>
          </a:p>
          <a:p xmlns:a="http://schemas.openxmlformats.org/drawingml/2006/main">
            <a:r>
              <a:t>artifacts/runs/fedpact_stage1/p1d_full_20260917_02/summary.json</a:t>
            </a:r>
          </a:p>
          <a:p xmlns:a="http://schemas.openxmlformats.org/drawingml/2006/main">
            <a:r>
              <a:t>artifacts/reports/fedpact_stage1_20260917/three_round_state_lineage.json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5:15–5:50】</a:t>
            </a:r>
          </a:p>
          <a:p xmlns:a="http://schemas.openxmlformats.org/drawingml/2006/main">
            <a:r>
              <a:t>ここまでの処理を全体図の中で整理します。第1層では二つの現場側AIが局所学習を行い、小型AIの更新情報を連合平均します。一方、判定の変化をまとめたQ_{k,r}は別経路で第2層へ渡します。第2層が本研究の中心で、Q_{k,r}を中央側が持つ動画上の代理データとして表します。第3層ではP_{k,r}を使って中央側AIを更新し、その状態を次のラウンドへ引き継ぎます。今回の合格は処理の接続に対するものであり、性能の良さを示すものではありません。</a:t>
            </a:r>
          </a:p>
          <a:p xmlns:a="http://schemas.openxmlformats.org/drawingml/2006/main">
            <a:r>
              <a:t/>
            </a:r>
          </a:p>
          <a:p xmlns:a="http://schemas.openxmlformats.org/drawingml/2006/main">
            <a:r>
              <a:t>【根拠】</a:t>
            </a:r>
          </a:p>
          <a:p xmlns:a="http://schemas.openxmlformats.org/drawingml/2006/main">
            <a:r>
              <a:t>notes/advisor/sources/raw/2026-09-16/slack_zettsu_flow_feedback_date_unknown_received_2026-09-16.md</a:t>
            </a:r>
          </a:p>
          <a:p xmlns:a="http://schemas.openxmlformats.org/drawingml/2006/main">
            <a:r>
              <a:t>notes/advisor/sources/raw/2026-09-16/slack_zettsu_experiment_feedback_date_unknown_received_2026-09-16.md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5:50–7:00】</a:t>
            </a:r>
          </a:p>
          <a:p xmlns:a="http://schemas.openxmlformats.org/drawingml/2006/main">
            <a:r>
              <a:t>2枚目から追ってきた危険動画3本の要約を、そのまま追跡します。現場側で求めた学習後の危険確率は0.724でした。中央側で選んだ代理データについて、連合平均後の小型AIが出した危険確率も0.724で、学習後の判定はほぼ一致しています。一方、現場側の変化量はプラス0.238でしたが、代理データでは危険確率が0.673から0.724へ変化しており、その差はプラス0.051でした。方向は同じですが、変化量は十分に再現できていません。また、元動画の正解ラベルは通常でした。ただし、中央側の60本では正解ラベルと小型AIの判定が一致したものが43本だけなので、通常動画が選ばれた原因を検索処理だけに求めることはできません。</a:t>
            </a:r>
          </a:p>
          <a:p xmlns:a="http://schemas.openxmlformats.org/drawingml/2006/main">
            <a:r>
              <a:t/>
            </a:r>
          </a:p>
          <a:p xmlns:a="http://schemas.openxmlformats.org/drawingml/2006/main">
            <a:r>
              <a:t>【根拠】</a:t>
            </a:r>
          </a:p>
          <a:p xmlns:a="http://schemas.openxmlformats.org/drawingml/2006/main">
            <a:r>
              <a:t>artifacts/runs/fedpact_stage1/p1d_full_20260917_02/server/layer2_trace.json（r1-client-0-class1）</a:t>
            </a:r>
          </a:p>
          <a:p xmlns:a="http://schemas.openxmlformats.org/drawingml/2006/main">
            <a:r>
              <a:t>artifacts/runs/fedpact_stage1/p1d_full_20260917_02/server/proxy_pairs.json</a:t>
            </a:r>
          </a:p>
          <a:p xmlns:a="http://schemas.openxmlformats.org/drawingml/2006/main">
            <a:r>
              <a:t>artifacts/reports/fedpact_stage1_20260917/slack_report.md（labelと予測の一致43/60）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7:00–8:25】</a:t>
            </a:r>
          </a:p>
          <a:p xmlns:a="http://schemas.openxmlformats.org/drawingml/2006/main">
            <a:r>
              <a:t>3ラウンド全体の結果です。各ラウンドで二つの現場側AIが同じ状態から開始し、両方の小型AIが実際に更新されたことを確認しました。連合平均を別に再計算した差は、最大でも約1.16掛ける10のマイナス10でした。また、前のラウンドの出力と次のラウンドの入力が一致していることを、モデルの照合値から確認しました。一方、代理データの再現結果には問題が残っています。1ラウンド目では四つのうち三つで変化の方向が一致しましたが、一つは逆方向でした。さらに3ラウンド目では、中央側AIを更新した後のずれが16.1307から16.1776へ増加しました。今回確認できたのは3ラウンドの処理と状態継承であり、性能が改善した、安定して知識を移せた、という結論ではありません。</a:t>
            </a:r>
          </a:p>
          <a:p xmlns:a="http://schemas.openxmlformats.org/drawingml/2006/main">
            <a:r>
              <a:t/>
            </a:r>
          </a:p>
          <a:p xmlns:a="http://schemas.openxmlformats.org/drawingml/2006/main">
            <a:r>
              <a:t>【根拠】</a:t>
            </a:r>
          </a:p>
          <a:p xmlns:a="http://schemas.openxmlformats.org/drawingml/2006/main">
            <a:r>
              <a:t>artifacts/reports/fedpact_stage1_20260917/three_round_state_lineage.md</a:t>
            </a:r>
          </a:p>
          <a:p xmlns:a="http://schemas.openxmlformats.org/drawingml/2006/main">
            <a:r>
              <a:t>artifacts/reports/fedpact_stage1_20260917/three_round_state_lineage.json</a:t>
            </a:r>
          </a:p>
          <a:p xmlns:a="http://schemas.openxmlformats.org/drawingml/2006/main">
            <a:r>
              <a:t>artifacts/reports/fedpact_stage1_20260917/slack_report.md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8:25–10:00】</a:t>
            </a:r>
          </a:p>
          <a:p xmlns:a="http://schemas.openxmlformats.org/drawingml/2006/main">
            <a:r>
              <a:t>今回の第I段階では、代表動画の学習前後の判定からQ_{k,r}を作り、中央側で代理データを生成し、中央側AIを更新して次のラウンドへ状態を渡すところまでを対応付けました。三層の処理と3ラウンドの状態継承を、ログから追跡できるようになったことは言えます。一方で、性能向上、代理データの品質、未知動画への転移はまだ言えません。今回の第I段階は同じ3B基盤を使用しているため、構造や規模の異なるAI間で移せたとも言えません。今後は、まず同じ四つの教師データを固定し、ごく小さい1回の更新で中央側AIのずれが減ることを確認します。問題を解消した後に5ラウンドの接続と状態継承を確認します。その後、第II段階で中央側動画だけの場合、学習後の判定を使う場合、学習前後の変化も使う場合を同じ条件で比較し、選択に使っていない動画で評価します。最後に構造や規模が異なるAIへ進みます。</a:t>
            </a:r>
          </a:p>
          <a:p xmlns:a="http://schemas.openxmlformats.org/drawingml/2006/main">
            <a:r>
              <a:t/>
            </a:r>
          </a:p>
          <a:p xmlns:a="http://schemas.openxmlformats.org/drawingml/2006/main">
            <a:r>
              <a:t>【根拠】</a:t>
            </a:r>
          </a:p>
          <a:p xmlns:a="http://schemas.openxmlformats.org/drawingml/2006/main">
            <a:r>
              <a:t>notes/advisor/sources/raw/2026-09-16/slack_zettsu_experiment_feedback_date_unknown_received_2026-09-16.md</a:t>
            </a:r>
          </a:p>
          <a:p xmlns:a="http://schemas.openxmlformats.org/drawingml/2006/main">
            <a:r>
              <a:t>notes/advisor/sources/raw/2026-09-16/slack_zettsu_reply_to_chen_ja_date_unknown_received_2026-09-16.md</a:t>
            </a:r>
          </a:p>
          <a:p xmlns:a="http://schemas.openxmlformats.org/drawingml/2006/main">
            <a:r>
              <a:t>artifacts/reports/fedpact_stage1_20260917/three_round_state_lineage.md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質疑用】</a:t>
            </a:r>
          </a:p>
          <a:p xmlns:a="http://schemas.openxmlformats.org/drawingml/2006/main">
            <a:r>
              <a:t>各ラウンドで選択した四組、合計十二組の代理データについて、現場側が示した危険確率の変化と、代理データ上で連合集約前後の小型AIが示した危険確率の変化を並べています。方向一致は十二組中七組でした。post KLが小さくてもdelta errorが大きい組があるため、学習後の判定だけの一致を代理データ再現の成功とは扱いません。</a:t>
            </a:r>
          </a:p>
          <a:p xmlns:a="http://schemas.openxmlformats.org/drawingml/2006/main">
            <a:r>
              <a:t/>
            </a:r>
          </a:p>
          <a:p xmlns:a="http://schemas.openxmlformats.org/drawingml/2006/main">
            <a:r>
              <a:t>【根拠】</a:t>
            </a:r>
          </a:p>
          <a:p xmlns:a="http://schemas.openxmlformats.org/drawingml/2006/main">
            <a:r>
              <a:t>artifacts/reports/fedpact_stage1_20260917/three_round_state_lineage.json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質疑用】</a:t>
            </a:r>
          </a:p>
          <a:p xmlns:a="http://schemas.openxmlformats.org/drawingml/2006/main">
            <a:r>
              <a:t>上段は二台の現場側AIの軽量更新量と分類層更新量、連合平均を別計算したときの最大差です。下段は中央側AIの軽量更新部分に対する勾配、更新量、同じ四組上の加重KLです。三ラウンド目は非増加条件を満たさなかったため、性能確認ではなく有限でゼロではない更新の実行確認として保存しました。</a:t>
            </a:r>
          </a:p>
          <a:p xmlns:a="http://schemas.openxmlformats.org/drawingml/2006/main">
            <a:r>
              <a:t/>
            </a:r>
          </a:p>
          <a:p xmlns:a="http://schemas.openxmlformats.org/drawingml/2006/main">
            <a:r>
              <a:t>【根拠】</a:t>
            </a:r>
          </a:p>
          <a:p xmlns:a="http://schemas.openxmlformats.org/drawingml/2006/main">
            <a:r>
              <a:t>artifacts/reports/fedpact_stage1_20260917/three_round_state_lineage.json</a:t>
            </a:r>
          </a:p>
          <a:p xmlns:a="http://schemas.openxmlformats.org/drawingml/2006/main">
            <a:r>
              <a:t>artifacts/runs/fedpact_stage1/p1d_round3_full_20260917_02/summary.json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質疑用】</a:t>
            </a:r>
          </a:p>
          <a:p xmlns:a="http://schemas.openxmlformats.org/drawingml/2006/main">
            <a:r>
              <a:t>各処理時間は実行確認と異常検出のために記録した値で、他方式との速度比較ではありません。正解ラベルと小型AIの判定が一致した中央側動画は、各ラウンドで六十本中四十三本、四十四本、四十三本でした。選択動画のラベル不一致には検索処理だけでなく、小型AI自体の誤分類も混在します。通信監査は生の動画や画像を送っていないことの実装確認であり、形式的なプライバシー保証ではありません。</a:t>
            </a:r>
          </a:p>
          <a:p xmlns:a="http://schemas.openxmlformats.org/drawingml/2006/main">
            <a:r>
              <a:t/>
            </a:r>
          </a:p>
          <a:p xmlns:a="http://schemas.openxmlformats.org/drawingml/2006/main">
            <a:r>
              <a:t>【根拠】</a:t>
            </a:r>
          </a:p>
          <a:p xmlns:a="http://schemas.openxmlformats.org/drawingml/2006/main">
            <a:r>
              <a:t>artifacts/reports/fedpact_stage1_20260917/three_round_state_lineage.json</a:t>
            </a:r>
          </a:p>
          <a:p xmlns:a="http://schemas.openxmlformats.org/drawingml/2006/main">
            <a:r>
              <a:t>artifacts/reports/fedpact_stage1_20260917/slack_report.md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36d99a588540c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2af285bd98b44d1" /><Relationship Type="http://schemas.openxmlformats.org/officeDocument/2006/relationships/slideLayout" Target="/ppt/slideLayouts/slideLayout1.xml" Id="Rf23170fe5bd34ae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3170fe5bd34ae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2e7b94c3bcc49f2" /><Relationship Type="http://schemas.openxmlformats.org/officeDocument/2006/relationships/image" Target="/ppt/media/image.jpeg" Id="R21cc29fc389a48ea" /><Relationship Type="http://schemas.openxmlformats.org/officeDocument/2006/relationships/image" Target="/ppt/media/image2.jpeg" Id="R6a5e8523b9c046cf" /><Relationship Type="http://schemas.openxmlformats.org/officeDocument/2006/relationships/notesSlide" Target="/ppt/notesSlides/notesSlide1.xml" Id="Rf0df16ef9dd6462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e0dc5b60d3a4db8" /><Relationship Type="http://schemas.openxmlformats.org/officeDocument/2006/relationships/image" Target="/ppt/media/image3.jpeg" Id="Rfb90a6126d6c4969" /><Relationship Type="http://schemas.openxmlformats.org/officeDocument/2006/relationships/image" Target="/ppt/media/image4.jpeg" Id="Rb249dbe5b9b346c5" /><Relationship Type="http://schemas.openxmlformats.org/officeDocument/2006/relationships/image" Target="/ppt/media/image5.jpeg" Id="Re962661ac7fe4154" /><Relationship Type="http://schemas.openxmlformats.org/officeDocument/2006/relationships/image" Target="/ppt/media/image6.jpeg" Id="R7d87538a33af4b08" /><Relationship Type="http://schemas.openxmlformats.org/officeDocument/2006/relationships/notesSlide" Target="/ppt/notesSlides/notesSlide2.xml" Id="Rb7a48586b0644cb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590ec2c18ce462c" /><Relationship Type="http://schemas.openxmlformats.org/officeDocument/2006/relationships/image" Target="/ppt/media/image7.jpeg" Id="R7e4d5196a64542fb" /><Relationship Type="http://schemas.openxmlformats.org/officeDocument/2006/relationships/image" Target="/ppt/media/image8.jpeg" Id="Re6e0117782384d58" /><Relationship Type="http://schemas.openxmlformats.org/officeDocument/2006/relationships/image" Target="/ppt/media/image9.jpeg" Id="R811c14c193544de0" /><Relationship Type="http://schemas.openxmlformats.org/officeDocument/2006/relationships/notesSlide" Target="/ppt/notesSlides/notesSlide3.xml" Id="R97cdffab0c004c8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1405b3e5c914505" /><Relationship Type="http://schemas.openxmlformats.org/officeDocument/2006/relationships/image" Target="/ppt/media/image10.jpeg" Id="Rc5b6d6464c9b4699" /><Relationship Type="http://schemas.openxmlformats.org/officeDocument/2006/relationships/image" Target="/ppt/media/image.png" Id="R77e9b5e9b1244abb" /><Relationship Type="http://schemas.openxmlformats.org/officeDocument/2006/relationships/image" Target="/ppt/media/image2.png" Id="R38e4d4e0cdc440ab" /><Relationship Type="http://schemas.openxmlformats.org/officeDocument/2006/relationships/image" Target="/ppt/media/image3.png" Id="R6f6f2758d4c44c45" /><Relationship Type="http://schemas.openxmlformats.org/officeDocument/2006/relationships/image" Target="/ppt/media/image4.png" Id="Rbe6a74accc044ee6" /><Relationship Type="http://schemas.openxmlformats.org/officeDocument/2006/relationships/image" Target="/ppt/media/image5.png" Id="R45e3168536fb497d" /><Relationship Type="http://schemas.openxmlformats.org/officeDocument/2006/relationships/notesSlide" Target="/ppt/notesSlides/notesSlide4.xml" Id="R1a8254f51f09440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10a9cc48816482a" /><Relationship Type="http://schemas.openxmlformats.org/officeDocument/2006/relationships/notesSlide" Target="/ppt/notesSlides/notesSlide5.xml" Id="Rcc4607da486c413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43eb83989bc462a" /><Relationship Type="http://schemas.openxmlformats.org/officeDocument/2006/relationships/notesSlide" Target="/ppt/notesSlides/notesSlide6.xml" Id="R5f8431b98fa4490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48d41a3ec5344ff" /><Relationship Type="http://schemas.openxmlformats.org/officeDocument/2006/relationships/image" Target="/ppt/media/image6.png" Id="Rc70320e7759f4b51" /><Relationship Type="http://schemas.openxmlformats.org/officeDocument/2006/relationships/image" Target="/ppt/media/image7.png" Id="R5bc36891753d4b1b" /><Relationship Type="http://schemas.openxmlformats.org/officeDocument/2006/relationships/image" Target="/ppt/media/image8.png" Id="R873ab1a1dd4e4af3" /><Relationship Type="http://schemas.openxmlformats.org/officeDocument/2006/relationships/image" Target="/ppt/media/image9.png" Id="R1c04614b72b54165" /><Relationship Type="http://schemas.openxmlformats.org/officeDocument/2006/relationships/notesSlide" Target="/ppt/notesSlides/notesSlide7.xml" Id="R6e3510774aa54c2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0beb2db4df74495" /><Relationship Type="http://schemas.openxmlformats.org/officeDocument/2006/relationships/notesSlide" Target="/ppt/notesSlides/notesSlide8.xml" Id="Rd1a208679571465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b1818d0a5d54a7a" /><Relationship Type="http://schemas.openxmlformats.org/officeDocument/2006/relationships/notesSlide" Target="/ppt/notesSlides/notesSlide9.xml" Id="R9e2ba32caac8403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536a4eff990404f" /><Relationship Type="http://schemas.openxmlformats.org/officeDocument/2006/relationships/notesSlide" Target="/ppt/notesSlides/notesSlide10.xml" Id="R26647fbf6956478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28cadd969e44c69" /><Relationship Type="http://schemas.openxmlformats.org/officeDocument/2006/relationships/notesSlide" Target="/ppt/notesSlides/notesSlide11.xml" Id="R8506fcb032ac415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d8aecf13dcb4a0b" /><Relationship Type="http://schemas.openxmlformats.org/officeDocument/2006/relationships/notesSlide" Target="/ppt/notesSlides/notesSlide12.xml" Id="Rb6cbcde84db943d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6340F9BB-F2C9-4627-BEEE-D65DEE093A7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7814754-6384-4426-8D23-429E5CBF52CA}"/>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EF57EC4-2E07-437A-8211-75AE5CD6AD13}"/>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複数の現場で得た経験を、中央側AIへ生かす</a:t>
            </a:r>
          </a:p>
        </p:txBody>
      </p:sp>
      <p:sp>
        <p:nvSpPr>
          <p:cNvPr id="4" name="">
            <a:extLst xmlns:a="http://schemas.openxmlformats.org/drawingml/2006/main">
              <a:ext uri="{FF2B5EF4-FFF2-40B4-BE49-F238E27FC236}">
                <a16:creationId xmlns:a16="http://schemas.microsoft.com/office/drawing/2014/main" id="{17F80CC9-6A4E-4C58-B9DA-693AAE1578AF}"/>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01</a:t>
            </a:r>
          </a:p>
        </p:txBody>
      </p:sp>
      <p:sp>
        <p:nvSpPr>
          <p:cNvPr id="5" name="">
            <a:extLst xmlns:a="http://schemas.openxmlformats.org/drawingml/2006/main">
              <a:ext uri="{FF2B5EF4-FFF2-40B4-BE49-F238E27FC236}">
                <a16:creationId xmlns:a16="http://schemas.microsoft.com/office/drawing/2014/main" id="{6305C494-F5C5-4288-94CA-4AC5B6C1DF73}"/>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77E075D-DD5A-489D-BA06-B3147CE64CE5}"/>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434E703B-6265-4DDF-A921-DC9D458EE810}"/>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1 / 9</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21cc29fc389a48ea"/>
          <a:srcRect xmlns:a="http://schemas.openxmlformats.org/drawingml/2006/main" l="0" t="85" r="0" b="85"/>
          <a:stretch xmlns:a="http://schemas.openxmlformats.org/drawingml/2006/main">
            <a:fillRect l="0" t="0" r="0" b="0"/>
          </a:stretch>
        </p:blipFill>
        <p:spPr>
          <a:xfrm xmlns:a="http://schemas.openxmlformats.org/drawingml/2006/main">
            <a:off x="590550" y="1162050"/>
            <a:ext cx="2476500" cy="1390650"/>
          </a:xfrm>
          <a:prstGeom xmlns:a="http://schemas.openxmlformats.org/drawingml/2006/main" prst="rect">
            <a:avLst/>
          </a:prstGeom>
        </p:spPr>
      </p:pic>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6a5e8523b9c046cf"/>
          <a:srcRect xmlns:a="http://schemas.openxmlformats.org/drawingml/2006/main" l="0" t="85" r="0" b="85"/>
          <a:stretch xmlns:a="http://schemas.openxmlformats.org/drawingml/2006/main">
            <a:fillRect l="0" t="0" r="0" b="0"/>
          </a:stretch>
        </p:blipFill>
        <p:spPr>
          <a:xfrm xmlns:a="http://schemas.openxmlformats.org/drawingml/2006/main">
            <a:off x="3219450" y="1162050"/>
            <a:ext cx="2476500" cy="13906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34CF13AD-F142-4428-A48B-075FFCF4AED9}"/>
              </a:ext>
            </a:extLst>
          </p:cNvPr>
          <p:cNvSpPr>
            <a:spLocks xmlns:a="http://schemas.openxmlformats.org/drawingml/2006/main" noGrp="1"/>
          </p:cNvSpPr>
          <p:nvPr/>
        </p:nvSpPr>
        <p:spPr>
          <a:xfrm xmlns:a="http://schemas.openxmlformats.org/drawingml/2006/main">
            <a:off x="590550" y="26479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47B78"/>
                </a:solidFill>
                <a:latin typeface="Yu Gothic"/>
                <a:ea typeface="Yu Gothic"/>
                <a:cs typeface="Yu Gothic"/>
              </a:defRPr>
            </a:pPr>
            <a:r>
              <a:rPr sz="1125" b="1">
                <a:solidFill>
                  <a:srgbClr val="147B78"/>
                </a:solidFill>
                <a:latin typeface="Yu Gothic"/>
                <a:ea typeface="Yu Gothic"/>
                <a:cs typeface="Yu Gothic"/>
              </a:rPr>
              <a:t>現場A　昼間・市街地</a:t>
            </a:r>
          </a:p>
        </p:txBody>
      </p:sp>
      <p:sp>
        <p:nvSpPr>
          <p:cNvPr id="11" name="">
            <a:extLst xmlns:a="http://schemas.openxmlformats.org/drawingml/2006/main">
              <a:ext uri="{FF2B5EF4-FFF2-40B4-BE49-F238E27FC236}">
                <a16:creationId xmlns:a16="http://schemas.microsoft.com/office/drawing/2014/main" id="{87534689-8F8C-412B-86C3-2240694FE52B}"/>
              </a:ext>
            </a:extLst>
          </p:cNvPr>
          <p:cNvSpPr>
            <a:spLocks xmlns:a="http://schemas.openxmlformats.org/drawingml/2006/main" noGrp="1"/>
          </p:cNvSpPr>
          <p:nvPr/>
        </p:nvSpPr>
        <p:spPr>
          <a:xfrm xmlns:a="http://schemas.openxmlformats.org/drawingml/2006/main">
            <a:off x="3219450" y="26479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47B78"/>
                </a:solidFill>
                <a:latin typeface="Yu Gothic"/>
                <a:ea typeface="Yu Gothic"/>
                <a:cs typeface="Yu Gothic"/>
              </a:defRPr>
            </a:pPr>
            <a:r>
              <a:rPr sz="1125" b="1">
                <a:solidFill>
                  <a:srgbClr val="147B78"/>
                </a:solidFill>
                <a:latin typeface="Yu Gothic"/>
                <a:ea typeface="Yu Gothic"/>
                <a:cs typeface="Yu Gothic"/>
              </a:rPr>
              <a:t>現場B　夜間・道路</a:t>
            </a:r>
          </a:p>
        </p:txBody>
      </p:sp>
      <p:sp>
        <p:nvSpPr>
          <p:cNvPr id="12" name="">
            <a:extLst xmlns:a="http://schemas.openxmlformats.org/drawingml/2006/main">
              <a:ext uri="{FF2B5EF4-FFF2-40B4-BE49-F238E27FC236}">
                <a16:creationId xmlns:a16="http://schemas.microsoft.com/office/drawing/2014/main" id="{B2036FF1-6DE8-47CC-8173-FAF28F565365}"/>
              </a:ext>
            </a:extLst>
          </p:cNvPr>
          <p:cNvSpPr>
            <a:spLocks xmlns:a="http://schemas.openxmlformats.org/drawingml/2006/main" noGrp="1"/>
          </p:cNvSpPr>
          <p:nvPr/>
        </p:nvSpPr>
        <p:spPr>
          <a:xfrm xmlns:a="http://schemas.openxmlformats.org/drawingml/2006/main">
            <a:off x="666750" y="302895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00" b="1">
                <a:solidFill>
                  <a:srgbClr val="173B4B"/>
                </a:solidFill>
                <a:latin typeface="Yu Gothic"/>
                <a:ea typeface="Yu Gothic"/>
                <a:cs typeface="Yu Gothic"/>
              </a:defRPr>
            </a:pPr>
            <a:r>
              <a:rPr sz="1800" b="1">
                <a:solidFill>
                  <a:srgbClr val="173B4B"/>
                </a:solidFill>
                <a:latin typeface="Yu Gothic"/>
                <a:ea typeface="Yu Gothic"/>
                <a:cs typeface="Yu Gothic"/>
              </a:rPr>
              <a:t>同じ危険判定でも、場所・時間・天候により経験する動画が異なる</a:t>
            </a:r>
          </a:p>
        </p:txBody>
      </p:sp>
      <p:sp>
        <p:nvSpPr>
          <p:cNvPr id="13" name="">
            <a:extLst xmlns:a="http://schemas.openxmlformats.org/drawingml/2006/main">
              <a:ext uri="{FF2B5EF4-FFF2-40B4-BE49-F238E27FC236}">
                <a16:creationId xmlns:a16="http://schemas.microsoft.com/office/drawing/2014/main" id="{F74021AD-7BAF-4774-B172-9E1CD3326E57}"/>
              </a:ext>
            </a:extLst>
          </p:cNvPr>
          <p:cNvSpPr>
            <a:spLocks xmlns:a="http://schemas.openxmlformats.org/drawingml/2006/main" noGrp="1"/>
          </p:cNvSpPr>
          <p:nvPr/>
        </p:nvSpPr>
        <p:spPr>
          <a:xfrm xmlns:a="http://schemas.openxmlformats.org/drawingml/2006/main">
            <a:off x="704850" y="3905250"/>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47B78"/>
                </a:solidFill>
                <a:latin typeface="Yu Gothic"/>
                <a:ea typeface="Yu Gothic"/>
                <a:cs typeface="Yu Gothic"/>
              </a:defRPr>
            </a:pPr>
            <a:r>
              <a:rPr sz="1425" b="1">
                <a:solidFill>
                  <a:srgbClr val="147B78"/>
                </a:solidFill>
                <a:latin typeface="Yu Gothic"/>
                <a:ea typeface="Yu Gothic"/>
                <a:cs typeface="Yu Gothic"/>
              </a:rPr>
              <a:t>価値</a:t>
            </a:r>
          </a:p>
        </p:txBody>
      </p:sp>
      <p:sp>
        <p:nvSpPr>
          <p:cNvPr id="14" name="">
            <a:extLst xmlns:a="http://schemas.openxmlformats.org/drawingml/2006/main">
              <a:ext uri="{FF2B5EF4-FFF2-40B4-BE49-F238E27FC236}">
                <a16:creationId xmlns:a16="http://schemas.microsoft.com/office/drawing/2014/main" id="{E81462D1-CF75-4704-82BF-4ABF00746C68}"/>
              </a:ext>
            </a:extLst>
          </p:cNvPr>
          <p:cNvSpPr>
            <a:spLocks xmlns:a="http://schemas.openxmlformats.org/drawingml/2006/main" noGrp="1"/>
          </p:cNvSpPr>
          <p:nvPr/>
        </p:nvSpPr>
        <p:spPr>
          <a:xfrm xmlns:a="http://schemas.openxmlformats.org/drawingml/2006/main">
            <a:off x="704850" y="4238625"/>
            <a:ext cx="4857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26373D"/>
                </a:solidFill>
                <a:latin typeface="Yu Gothic"/>
                <a:ea typeface="Yu Gothic"/>
                <a:cs typeface="Yu Gothic"/>
              </a:defRPr>
            </a:pPr>
            <a:r>
              <a:rPr sz="1875" b="1">
                <a:solidFill>
                  <a:srgbClr val="26373D"/>
                </a:solidFill>
                <a:latin typeface="Yu Gothic"/>
                <a:ea typeface="Yu Gothic"/>
                <a:cs typeface="Yu Gothic"/>
              </a:rPr>
              <a:t>各現場が学んだ判定の変化を、サービス全体の更新に使う</a:t>
            </a:r>
          </a:p>
        </p:txBody>
      </p:sp>
      <p:sp>
        <p:nvSpPr>
          <p:cNvPr id="15" name="">
            <a:extLst xmlns:a="http://schemas.openxmlformats.org/drawingml/2006/main">
              <a:ext uri="{FF2B5EF4-FFF2-40B4-BE49-F238E27FC236}">
                <a16:creationId xmlns:a16="http://schemas.microsoft.com/office/drawing/2014/main" id="{5913FA2E-9441-40C2-B94B-768526864FE3}"/>
              </a:ext>
            </a:extLst>
          </p:cNvPr>
          <p:cNvSpPr>
            <a:spLocks xmlns:a="http://schemas.openxmlformats.org/drawingml/2006/main" noGrp="1"/>
          </p:cNvSpPr>
          <p:nvPr/>
        </p:nvSpPr>
        <p:spPr>
          <a:xfrm xmlns:a="http://schemas.openxmlformats.org/drawingml/2006/main">
            <a:off x="6057900" y="1162050"/>
            <a:ext cx="19050" cy="3886200"/>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3F04EB5-5442-4EFD-BB9C-673B4555C402}"/>
              </a:ext>
            </a:extLst>
          </p:cNvPr>
          <p:cNvSpPr>
            <a:spLocks xmlns:a="http://schemas.openxmlformats.org/drawingml/2006/main" noGrp="1"/>
          </p:cNvSpPr>
          <p:nvPr/>
        </p:nvSpPr>
        <p:spPr>
          <a:xfrm xmlns:a="http://schemas.openxmlformats.org/drawingml/2006/main">
            <a:off x="6419850" y="11620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E7833D"/>
                </a:solidFill>
                <a:latin typeface="Yu Gothic"/>
                <a:ea typeface="Yu Gothic"/>
                <a:cs typeface="Yu Gothic"/>
              </a:defRPr>
            </a:pPr>
            <a:r>
              <a:rPr sz="1650" b="1">
                <a:solidFill>
                  <a:srgbClr val="E7833D"/>
                </a:solidFill>
                <a:latin typeface="Yu Gothic"/>
                <a:ea typeface="Yu Gothic"/>
                <a:cs typeface="Yu Gothic"/>
              </a:rPr>
              <a:t>現在の接続問題</a:t>
            </a:r>
          </a:p>
        </p:txBody>
      </p:sp>
      <p:sp>
        <p:nvSpPr>
          <p:cNvPr id="17" name="">
            <a:extLst xmlns:a="http://schemas.openxmlformats.org/drawingml/2006/main">
              <a:ext uri="{FF2B5EF4-FFF2-40B4-BE49-F238E27FC236}">
                <a16:creationId xmlns:a16="http://schemas.microsoft.com/office/drawing/2014/main" id="{A95F0E7E-E0B1-4B30-8727-4CA29B42AB3C}"/>
              </a:ext>
            </a:extLst>
          </p:cNvPr>
          <p:cNvSpPr>
            <a:spLocks xmlns:a="http://schemas.openxmlformats.org/drawingml/2006/main" noGrp="1"/>
          </p:cNvSpPr>
          <p:nvPr/>
        </p:nvSpPr>
        <p:spPr>
          <a:xfrm xmlns:a="http://schemas.openxmlformats.org/drawingml/2006/main">
            <a:off x="6477000" y="1790700"/>
            <a:ext cx="1333500" cy="45720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73B4B"/>
                </a:solidFill>
                <a:latin typeface="Yu Gothic"/>
                <a:ea typeface="Yu Gothic"/>
                <a:cs typeface="Yu Gothic"/>
              </a:defRPr>
            </a:pPr>
            <a:r>
              <a:rPr sz="1575" b="1">
                <a:solidFill>
                  <a:srgbClr val="173B4B"/>
                </a:solidFill>
                <a:latin typeface="Yu Gothic"/>
                <a:ea typeface="Yu Gothic"/>
                <a:cs typeface="Yu Gothic"/>
              </a:rPr>
              <a:t>連合平均</a:t>
            </a:r>
          </a:p>
        </p:txBody>
      </p:sp>
      <p:sp>
        <p:nvSpPr>
          <p:cNvPr id="18" name="">
            <a:extLst xmlns:a="http://schemas.openxmlformats.org/drawingml/2006/main">
              <a:ext uri="{FF2B5EF4-FFF2-40B4-BE49-F238E27FC236}">
                <a16:creationId xmlns:a16="http://schemas.microsoft.com/office/drawing/2014/main" id="{8B7C7E3E-D408-4F11-9AC3-E0C2C6680601}"/>
              </a:ext>
            </a:extLst>
          </p:cNvPr>
          <p:cNvSpPr>
            <a:spLocks xmlns:a="http://schemas.openxmlformats.org/drawingml/2006/main" noGrp="1"/>
          </p:cNvSpPr>
          <p:nvPr/>
        </p:nvSpPr>
        <p:spPr>
          <a:xfrm xmlns:a="http://schemas.openxmlformats.org/drawingml/2006/main">
            <a:off x="8020050" y="17907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26373D"/>
                </a:solidFill>
                <a:latin typeface="Yu Gothic"/>
                <a:ea typeface="Yu Gothic"/>
                <a:cs typeface="Yu Gothic"/>
              </a:defRPr>
            </a:pPr>
            <a:r>
              <a:rPr sz="1350" b="0">
                <a:solidFill>
                  <a:srgbClr val="26373D"/>
                </a:solidFill>
                <a:latin typeface="Yu Gothic"/>
                <a:ea typeface="Yu Gothic"/>
                <a:cs typeface="Yu Gothic"/>
              </a:rPr>
              <a:t>同じ構造の小型AI同士はまとめられる</a:t>
            </a:r>
          </a:p>
        </p:txBody>
      </p:sp>
      <p:sp>
        <p:nvSpPr>
          <p:cNvPr id="19" name="">
            <a:extLst xmlns:a="http://schemas.openxmlformats.org/drawingml/2006/main">
              <a:ext uri="{FF2B5EF4-FFF2-40B4-BE49-F238E27FC236}">
                <a16:creationId xmlns:a16="http://schemas.microsoft.com/office/drawing/2014/main" id="{9C5E32B6-0367-4A3B-BEED-FE6AA2383F89}"/>
              </a:ext>
            </a:extLst>
          </p:cNvPr>
          <p:cNvSpPr>
            <a:spLocks xmlns:a="http://schemas.openxmlformats.org/drawingml/2006/main" noGrp="1"/>
          </p:cNvSpPr>
          <p:nvPr/>
        </p:nvSpPr>
        <p:spPr>
          <a:xfrm xmlns:a="http://schemas.openxmlformats.org/drawingml/2006/main">
            <a:off x="6486525" y="2514600"/>
            <a:ext cx="895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B94A3A"/>
                </a:solidFill>
                <a:latin typeface="Yu Gothic"/>
                <a:ea typeface="Yu Gothic"/>
                <a:cs typeface="Yu Gothic"/>
              </a:defRPr>
            </a:pPr>
            <a:r>
              <a:rPr sz="1350" b="1">
                <a:solidFill>
                  <a:srgbClr val="B94A3A"/>
                </a:solidFill>
                <a:latin typeface="Yu Gothic"/>
                <a:ea typeface="Yu Gothic"/>
                <a:cs typeface="Yu Gothic"/>
              </a:rPr>
              <a:t>しかし</a:t>
            </a:r>
          </a:p>
        </p:txBody>
      </p:sp>
      <p:sp>
        <p:nvSpPr>
          <p:cNvPr id="20" name="">
            <a:extLst xmlns:a="http://schemas.openxmlformats.org/drawingml/2006/main">
              <a:ext uri="{FF2B5EF4-FFF2-40B4-BE49-F238E27FC236}">
                <a16:creationId xmlns:a16="http://schemas.microsoft.com/office/drawing/2014/main" id="{589D5163-7069-431E-AEF0-C24E45DCD069}"/>
              </a:ext>
            </a:extLst>
          </p:cNvPr>
          <p:cNvSpPr>
            <a:spLocks xmlns:a="http://schemas.openxmlformats.org/drawingml/2006/main" noGrp="1"/>
          </p:cNvSpPr>
          <p:nvPr/>
        </p:nvSpPr>
        <p:spPr>
          <a:xfrm xmlns:a="http://schemas.openxmlformats.org/drawingml/2006/main">
            <a:off x="6486525" y="2876550"/>
            <a:ext cx="4572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73B4B"/>
                </a:solidFill>
                <a:latin typeface="Yu Gothic"/>
                <a:ea typeface="Yu Gothic"/>
                <a:cs typeface="Yu Gothic"/>
              </a:defRPr>
            </a:pPr>
            <a:r>
              <a:rPr sz="1875" b="1">
                <a:solidFill>
                  <a:srgbClr val="173B4B"/>
                </a:solidFill>
                <a:latin typeface="Yu Gothic"/>
                <a:ea typeface="Yu Gothic"/>
                <a:cs typeface="Yu Gothic"/>
              </a:rPr>
              <a:t>構造や規模が異なる中央側AIへ、更新値をそのまま渡せない</a:t>
            </a:r>
          </a:p>
        </p:txBody>
      </p:sp>
      <p:sp>
        <p:nvSpPr>
          <p:cNvPr id="21" name="">
            <a:extLst xmlns:a="http://schemas.openxmlformats.org/drawingml/2006/main">
              <a:ext uri="{FF2B5EF4-FFF2-40B4-BE49-F238E27FC236}">
                <a16:creationId xmlns:a16="http://schemas.microsoft.com/office/drawing/2014/main" id="{9852493C-B881-47FD-8282-FA71EEBFAF96}"/>
              </a:ext>
            </a:extLst>
          </p:cNvPr>
          <p:cNvSpPr>
            <a:spLocks xmlns:a="http://schemas.openxmlformats.org/drawingml/2006/main" noGrp="1"/>
          </p:cNvSpPr>
          <p:nvPr/>
        </p:nvSpPr>
        <p:spPr>
          <a:xfrm xmlns:a="http://schemas.openxmlformats.org/drawingml/2006/main">
            <a:off x="6486525" y="386715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617078"/>
                </a:solidFill>
                <a:latin typeface="Yu Gothic"/>
                <a:ea typeface="Yu Gothic"/>
                <a:cs typeface="Yu Gothic"/>
              </a:defRPr>
            </a:pPr>
            <a:r>
              <a:rPr sz="1500" b="0">
                <a:solidFill>
                  <a:srgbClr val="617078"/>
                </a:solidFill>
                <a:latin typeface="Yu Gothic"/>
                <a:ea typeface="Yu Gothic"/>
                <a:cs typeface="Yu Gothic"/>
              </a:rPr>
              <a:t>現場動画を中央へ集めない条件では、共通の入力を使った橋渡しも難しい</a:t>
            </a:r>
          </a:p>
        </p:txBody>
      </p:sp>
      <p:sp>
        <p:nvSpPr>
          <p:cNvPr id="22" name="">
            <a:extLst xmlns:a="http://schemas.openxmlformats.org/drawingml/2006/main">
              <a:ext uri="{FF2B5EF4-FFF2-40B4-BE49-F238E27FC236}">
                <a16:creationId xmlns:a16="http://schemas.microsoft.com/office/drawing/2014/main" id="{1529421D-8640-46B0-9AFC-1C7F02544BB5}"/>
              </a:ext>
            </a:extLst>
          </p:cNvPr>
          <p:cNvSpPr>
            <a:spLocks xmlns:a="http://schemas.openxmlformats.org/drawingml/2006/main" noGrp="1"/>
          </p:cNvSpPr>
          <p:nvPr/>
        </p:nvSpPr>
        <p:spPr>
          <a:xfrm xmlns:a="http://schemas.openxmlformats.org/drawingml/2006/main">
            <a:off x="6429375" y="4714875"/>
            <a:ext cx="4762500" cy="68580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B8459DA-DEF8-45C9-A666-4476473A218B}"/>
              </a:ext>
            </a:extLst>
          </p:cNvPr>
          <p:cNvSpPr>
            <a:spLocks xmlns:a="http://schemas.openxmlformats.org/drawingml/2006/main" noGrp="1"/>
          </p:cNvSpPr>
          <p:nvPr/>
        </p:nvSpPr>
        <p:spPr>
          <a:xfrm xmlns:a="http://schemas.openxmlformats.org/drawingml/2006/main">
            <a:off x="6667500" y="4867275"/>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1439"/>
          </a:bodyPr>
          <a:lstStyle xmlns:a="http://schemas.openxmlformats.org/drawingml/2006/main"/>
          <a:p xmlns:a="http://schemas.openxmlformats.org/drawingml/2006/main">
            <a:pPr algn="ctr">
              <a:defRPr sz="1650" b="1">
                <a:solidFill>
                  <a:srgbClr val="26373D"/>
                </a:solidFill>
                <a:latin typeface="Yu Gothic"/>
                <a:ea typeface="Yu Gothic"/>
                <a:cs typeface="Yu Gothic"/>
              </a:defRPr>
            </a:pPr>
            <a:r>
              <a:rPr sz="1650" b="1">
                <a:solidFill>
                  <a:srgbClr val="26373D"/>
                </a:solidFill>
                <a:latin typeface="Yu Gothic"/>
                <a:ea typeface="Yu Gothic"/>
                <a:cs typeface="Yu Gothic"/>
              </a:rPr>
              <a:t>FedPACT：現場で生じた判定の変化を、中央側の動画上に表して学習へ使う</a:t>
            </a:r>
          </a:p>
        </p:txBody>
      </p:sp>
      <p:sp>
        <p:nvSpPr>
          <p:cNvPr id="24" name="">
            <a:extLst xmlns:a="http://schemas.openxmlformats.org/drawingml/2006/main">
              <a:ext uri="{FF2B5EF4-FFF2-40B4-BE49-F238E27FC236}">
                <a16:creationId xmlns:a16="http://schemas.microsoft.com/office/drawing/2014/main" id="{F1E95E90-C7F7-4D66-ACC7-5B89281A42D5}"/>
              </a:ext>
            </a:extLst>
          </p:cNvPr>
          <p:cNvSpPr>
            <a:spLocks xmlns:a="http://schemas.openxmlformats.org/drawingml/2006/main" noGrp="1"/>
          </p:cNvSpPr>
          <p:nvPr/>
        </p:nvSpPr>
        <p:spPr>
          <a:xfrm xmlns:a="http://schemas.openxmlformats.org/drawingml/2006/main">
            <a:off x="628650" y="5610225"/>
            <a:ext cx="142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17078"/>
                </a:solidFill>
                <a:latin typeface="Yu Gothic"/>
                <a:ea typeface="Yu Gothic"/>
                <a:cs typeface="Yu Gothic"/>
              </a:defRPr>
            </a:pPr>
            <a:r>
              <a:rPr sz="1275" b="1">
                <a:solidFill>
                  <a:srgbClr val="617078"/>
                </a:solidFill>
                <a:latin typeface="Yu Gothic"/>
                <a:ea typeface="Yu Gothic"/>
                <a:cs typeface="Yu Gothic"/>
              </a:rPr>
              <a:t>発表の順番</a:t>
            </a:r>
          </a:p>
        </p:txBody>
      </p:sp>
      <p:sp>
        <p:nvSpPr>
          <p:cNvPr id="25" name="">
            <a:extLst xmlns:a="http://schemas.openxmlformats.org/drawingml/2006/main">
              <a:ext uri="{FF2B5EF4-FFF2-40B4-BE49-F238E27FC236}">
                <a16:creationId xmlns:a16="http://schemas.microsoft.com/office/drawing/2014/main" id="{5658D9C7-1A5C-4EFF-854D-F715AF63BD69}"/>
              </a:ext>
            </a:extLst>
          </p:cNvPr>
          <p:cNvSpPr>
            <a:spLocks xmlns:a="http://schemas.openxmlformats.org/drawingml/2006/main" noGrp="1"/>
          </p:cNvSpPr>
          <p:nvPr/>
        </p:nvSpPr>
        <p:spPr>
          <a:xfrm xmlns:a="http://schemas.openxmlformats.org/drawingml/2006/main">
            <a:off x="2133600" y="5514975"/>
            <a:ext cx="400050" cy="400050"/>
          </a:xfrm>
          <a:prstGeom xmlns:a="http://schemas.openxmlformats.org/drawingml/2006/main" prst="ellipse">
            <a:avLst/>
          </a:prstGeom>
          <a:solidFill xmlns:a="http://schemas.openxmlformats.org/drawingml/2006/main">
            <a:srgbClr val="147B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14262CE-AAEC-4454-B209-72E65EE95686}"/>
              </a:ext>
            </a:extLst>
          </p:cNvPr>
          <p:cNvSpPr>
            <a:spLocks xmlns:a="http://schemas.openxmlformats.org/drawingml/2006/main" noGrp="1"/>
          </p:cNvSpPr>
          <p:nvPr/>
        </p:nvSpPr>
        <p:spPr>
          <a:xfrm xmlns:a="http://schemas.openxmlformats.org/drawingml/2006/main">
            <a:off x="2133600" y="5562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1</a:t>
            </a:r>
          </a:p>
        </p:txBody>
      </p:sp>
      <p:sp>
        <p:nvSpPr>
          <p:cNvPr id="27" name="">
            <a:extLst xmlns:a="http://schemas.openxmlformats.org/drawingml/2006/main">
              <a:ext uri="{FF2B5EF4-FFF2-40B4-BE49-F238E27FC236}">
                <a16:creationId xmlns:a16="http://schemas.microsoft.com/office/drawing/2014/main" id="{867E04F2-4C0C-43FC-A13A-0A3B97439E19}"/>
              </a:ext>
            </a:extLst>
          </p:cNvPr>
          <p:cNvSpPr>
            <a:spLocks xmlns:a="http://schemas.openxmlformats.org/drawingml/2006/main" noGrp="1"/>
          </p:cNvSpPr>
          <p:nvPr/>
        </p:nvSpPr>
        <p:spPr>
          <a:xfrm xmlns:a="http://schemas.openxmlformats.org/drawingml/2006/main">
            <a:off x="2647950" y="5553075"/>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変化を測る</a:t>
            </a:r>
          </a:p>
        </p:txBody>
      </p:sp>
      <p:sp>
        <p:nvSpPr>
          <p:cNvPr id="28" name="">
            <a:extLst xmlns:a="http://schemas.openxmlformats.org/drawingml/2006/main">
              <a:ext uri="{FF2B5EF4-FFF2-40B4-BE49-F238E27FC236}">
                <a16:creationId xmlns:a16="http://schemas.microsoft.com/office/drawing/2014/main" id="{D12898F3-1F0E-48A7-A506-55B31E9297C9}"/>
              </a:ext>
            </a:extLst>
          </p:cNvPr>
          <p:cNvSpPr>
            <a:spLocks xmlns:a="http://schemas.openxmlformats.org/drawingml/2006/main" noGrp="1"/>
          </p:cNvSpPr>
          <p:nvPr/>
        </p:nvSpPr>
        <p:spPr>
          <a:xfrm xmlns:a="http://schemas.openxmlformats.org/drawingml/2006/main">
            <a:off x="4162425" y="5705475"/>
            <a:ext cx="266700" cy="19050"/>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1B8DFA6F-2A6F-45B7-8F88-76683B885413}"/>
              </a:ext>
            </a:extLst>
          </p:cNvPr>
          <p:cNvSpPr>
            <a:spLocks xmlns:a="http://schemas.openxmlformats.org/drawingml/2006/main" noGrp="1"/>
          </p:cNvSpPr>
          <p:nvPr/>
        </p:nvSpPr>
        <p:spPr>
          <a:xfrm xmlns:a="http://schemas.openxmlformats.org/drawingml/2006/main">
            <a:off x="4495800" y="5514975"/>
            <a:ext cx="400050" cy="400050"/>
          </a:xfrm>
          <a:prstGeom xmlns:a="http://schemas.openxmlformats.org/drawingml/2006/main" prst="ellipse">
            <a:avLst/>
          </a:prstGeom>
          <a:solidFill xmlns:a="http://schemas.openxmlformats.org/drawingml/2006/main">
            <a:srgbClr val="147B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51ED8A2C-0503-42E5-8A79-C867E150555F}"/>
              </a:ext>
            </a:extLst>
          </p:cNvPr>
          <p:cNvSpPr>
            <a:spLocks xmlns:a="http://schemas.openxmlformats.org/drawingml/2006/main" noGrp="1"/>
          </p:cNvSpPr>
          <p:nvPr/>
        </p:nvSpPr>
        <p:spPr>
          <a:xfrm xmlns:a="http://schemas.openxmlformats.org/drawingml/2006/main">
            <a:off x="4495800" y="5562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2</a:t>
            </a:r>
          </a:p>
        </p:txBody>
      </p:sp>
      <p:sp>
        <p:nvSpPr>
          <p:cNvPr id="31" name="">
            <a:extLst xmlns:a="http://schemas.openxmlformats.org/drawingml/2006/main">
              <a:ext uri="{FF2B5EF4-FFF2-40B4-BE49-F238E27FC236}">
                <a16:creationId xmlns:a16="http://schemas.microsoft.com/office/drawing/2014/main" id="{660931C1-E179-4016-A201-740E93CB4570}"/>
              </a:ext>
            </a:extLst>
          </p:cNvPr>
          <p:cNvSpPr>
            <a:spLocks xmlns:a="http://schemas.openxmlformats.org/drawingml/2006/main" noGrp="1"/>
          </p:cNvSpPr>
          <p:nvPr/>
        </p:nvSpPr>
        <p:spPr>
          <a:xfrm xmlns:a="http://schemas.openxmlformats.org/drawingml/2006/main">
            <a:off x="5010150" y="5553075"/>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複数動画を要約</a:t>
            </a:r>
          </a:p>
        </p:txBody>
      </p:sp>
      <p:sp>
        <p:nvSpPr>
          <p:cNvPr id="32" name="">
            <a:extLst xmlns:a="http://schemas.openxmlformats.org/drawingml/2006/main">
              <a:ext uri="{FF2B5EF4-FFF2-40B4-BE49-F238E27FC236}">
                <a16:creationId xmlns:a16="http://schemas.microsoft.com/office/drawing/2014/main" id="{C252E23C-719A-4FFF-9163-1199330674A2}"/>
              </a:ext>
            </a:extLst>
          </p:cNvPr>
          <p:cNvSpPr>
            <a:spLocks xmlns:a="http://schemas.openxmlformats.org/drawingml/2006/main" noGrp="1"/>
          </p:cNvSpPr>
          <p:nvPr/>
        </p:nvSpPr>
        <p:spPr>
          <a:xfrm xmlns:a="http://schemas.openxmlformats.org/drawingml/2006/main">
            <a:off x="6524625" y="5705475"/>
            <a:ext cx="266700" cy="19050"/>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39291C28-F4C9-43C4-AC7B-5EE8F014381F}"/>
              </a:ext>
            </a:extLst>
          </p:cNvPr>
          <p:cNvSpPr>
            <a:spLocks xmlns:a="http://schemas.openxmlformats.org/drawingml/2006/main" noGrp="1"/>
          </p:cNvSpPr>
          <p:nvPr/>
        </p:nvSpPr>
        <p:spPr>
          <a:xfrm xmlns:a="http://schemas.openxmlformats.org/drawingml/2006/main">
            <a:off x="6858000" y="5514975"/>
            <a:ext cx="400050" cy="400050"/>
          </a:xfrm>
          <a:prstGeom xmlns:a="http://schemas.openxmlformats.org/drawingml/2006/main" prst="ellipse">
            <a:avLst/>
          </a:prstGeom>
          <a:solidFill xmlns:a="http://schemas.openxmlformats.org/drawingml/2006/main">
            <a:srgbClr val="E7833D"/>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9FB4BC3D-8EBC-4D54-88B8-E0D01392F664}"/>
              </a:ext>
            </a:extLst>
          </p:cNvPr>
          <p:cNvSpPr>
            <a:spLocks xmlns:a="http://schemas.openxmlformats.org/drawingml/2006/main" noGrp="1"/>
          </p:cNvSpPr>
          <p:nvPr/>
        </p:nvSpPr>
        <p:spPr>
          <a:xfrm xmlns:a="http://schemas.openxmlformats.org/drawingml/2006/main">
            <a:off x="6858000" y="5562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3</a:t>
            </a:r>
          </a:p>
        </p:txBody>
      </p:sp>
      <p:sp>
        <p:nvSpPr>
          <p:cNvPr id="35" name="">
            <a:extLst xmlns:a="http://schemas.openxmlformats.org/drawingml/2006/main">
              <a:ext uri="{FF2B5EF4-FFF2-40B4-BE49-F238E27FC236}">
                <a16:creationId xmlns:a16="http://schemas.microsoft.com/office/drawing/2014/main" id="{3FA1C02D-3281-4492-8C1F-C0D68FFB1C55}"/>
              </a:ext>
            </a:extLst>
          </p:cNvPr>
          <p:cNvSpPr>
            <a:spLocks xmlns:a="http://schemas.openxmlformats.org/drawingml/2006/main" noGrp="1"/>
          </p:cNvSpPr>
          <p:nvPr/>
        </p:nvSpPr>
        <p:spPr>
          <a:xfrm xmlns:a="http://schemas.openxmlformats.org/drawingml/2006/main">
            <a:off x="7372350" y="5553075"/>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697"/>
          </a:bodyPr>
          <a:lstStyle xmlns:a="http://schemas.openxmlformats.org/drawingml/2006/main"/>
          <a:p xmlns:a="http://schemas.openxmlformats.org/drawingml/2006/main">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中央側の動画上に表す</a:t>
            </a:r>
          </a:p>
        </p:txBody>
      </p:sp>
      <p:sp>
        <p:nvSpPr>
          <p:cNvPr id="36" name="">
            <a:extLst xmlns:a="http://schemas.openxmlformats.org/drawingml/2006/main">
              <a:ext uri="{FF2B5EF4-FFF2-40B4-BE49-F238E27FC236}">
                <a16:creationId xmlns:a16="http://schemas.microsoft.com/office/drawing/2014/main" id="{FCE35F83-4C93-4875-973D-C155F596F761}"/>
              </a:ext>
            </a:extLst>
          </p:cNvPr>
          <p:cNvSpPr>
            <a:spLocks xmlns:a="http://schemas.openxmlformats.org/drawingml/2006/main" noGrp="1"/>
          </p:cNvSpPr>
          <p:nvPr/>
        </p:nvSpPr>
        <p:spPr>
          <a:xfrm xmlns:a="http://schemas.openxmlformats.org/drawingml/2006/main">
            <a:off x="8886825" y="5705475"/>
            <a:ext cx="266700" cy="19050"/>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0A22835C-6777-4E14-BF05-646A5E89C33C}"/>
              </a:ext>
            </a:extLst>
          </p:cNvPr>
          <p:cNvSpPr>
            <a:spLocks xmlns:a="http://schemas.openxmlformats.org/drawingml/2006/main" noGrp="1"/>
          </p:cNvSpPr>
          <p:nvPr/>
        </p:nvSpPr>
        <p:spPr>
          <a:xfrm xmlns:a="http://schemas.openxmlformats.org/drawingml/2006/main">
            <a:off x="9220200" y="5514975"/>
            <a:ext cx="400050" cy="400050"/>
          </a:xfrm>
          <a:prstGeom xmlns:a="http://schemas.openxmlformats.org/drawingml/2006/main" prst="ellipse">
            <a:avLst/>
          </a:prstGeom>
          <a:solidFill xmlns:a="http://schemas.openxmlformats.org/drawingml/2006/main">
            <a:srgbClr val="147B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A5B71982-9F50-4E38-80A5-391B63DAFDD1}"/>
              </a:ext>
            </a:extLst>
          </p:cNvPr>
          <p:cNvSpPr>
            <a:spLocks xmlns:a="http://schemas.openxmlformats.org/drawingml/2006/main" noGrp="1"/>
          </p:cNvSpPr>
          <p:nvPr/>
        </p:nvSpPr>
        <p:spPr>
          <a:xfrm xmlns:a="http://schemas.openxmlformats.org/drawingml/2006/main">
            <a:off x="9220200" y="5562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4</a:t>
            </a:r>
          </a:p>
        </p:txBody>
      </p:sp>
      <p:sp>
        <p:nvSpPr>
          <p:cNvPr id="39" name="">
            <a:extLst xmlns:a="http://schemas.openxmlformats.org/drawingml/2006/main">
              <a:ext uri="{FF2B5EF4-FFF2-40B4-BE49-F238E27FC236}">
                <a16:creationId xmlns:a16="http://schemas.microsoft.com/office/drawing/2014/main" id="{1A336C0B-2A1B-43C4-892B-BFCFB5B65A13}"/>
              </a:ext>
            </a:extLst>
          </p:cNvPr>
          <p:cNvSpPr>
            <a:spLocks xmlns:a="http://schemas.openxmlformats.org/drawingml/2006/main" noGrp="1"/>
          </p:cNvSpPr>
          <p:nvPr/>
        </p:nvSpPr>
        <p:spPr>
          <a:xfrm xmlns:a="http://schemas.openxmlformats.org/drawingml/2006/main">
            <a:off x="9734550" y="5553075"/>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中央側AIを更新</a:t>
            </a:r>
          </a:p>
        </p:txBody>
      </p:sp>
      <p:sp>
        <p:nvSpPr>
          <p:cNvPr id="40" name="">
            <a:extLst xmlns:a="http://schemas.openxmlformats.org/drawingml/2006/main">
              <a:ext uri="{FF2B5EF4-FFF2-40B4-BE49-F238E27FC236}">
                <a16:creationId xmlns:a16="http://schemas.microsoft.com/office/drawing/2014/main" id="{3A8691B1-48C9-4351-AFCE-C85B8635B19D}"/>
              </a:ext>
            </a:extLst>
          </p:cNvPr>
          <p:cNvSpPr>
            <a:spLocks xmlns:a="http://schemas.openxmlformats.org/drawingml/2006/main" noGrp="1"/>
          </p:cNvSpPr>
          <p:nvPr/>
        </p:nvSpPr>
        <p:spPr>
          <a:xfrm xmlns:a="http://schemas.openxmlformats.org/drawingml/2006/main">
            <a:off x="857250" y="60769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147B78"/>
                </a:solidFill>
                <a:latin typeface="Yu Gothic"/>
                <a:ea typeface="Yu Gothic"/>
                <a:cs typeface="Yu Gothic"/>
              </a:defRPr>
            </a:pPr>
            <a:r>
              <a:rPr sz="1350" b="1">
                <a:solidFill>
                  <a:srgbClr val="147B78"/>
                </a:solidFill>
                <a:latin typeface="Yu Gothic"/>
                <a:ea typeface="Yu Gothic"/>
                <a:cs typeface="Yu Gothic"/>
              </a:rPr>
              <a:t>対象は共通タスク上の予測挙動。映像の意味内容全体や危険原因の説明は対象外</a:t>
            </a:r>
          </a:p>
        </p:txBody>
      </p:sp>
    </p:spTree>
    <p:extLst>
      <p:ext uri="{BB962C8B-B14F-4D97-AF65-F5344CB8AC3E}">
        <p14:creationId xmlns:p14="http://schemas.microsoft.com/office/powerpoint/2010/main" val="171728484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7031ABD3-1713-439E-8410-869430B5932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D8EABD-0E16-4F2D-B4CC-BC6EEC88CA3D}"/>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C935961-EB93-4EFC-8B3C-9A9A05710306}"/>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1本の動画で、学習前後の判定変化を測る</a:t>
            </a:r>
          </a:p>
        </p:txBody>
      </p:sp>
      <p:sp>
        <p:nvSpPr>
          <p:cNvPr id="4" name="">
            <a:extLst xmlns:a="http://schemas.openxmlformats.org/drawingml/2006/main">
              <a:ext uri="{FF2B5EF4-FFF2-40B4-BE49-F238E27FC236}">
                <a16:creationId xmlns:a16="http://schemas.microsoft.com/office/drawing/2014/main" id="{0B609715-2D63-4FFE-ACFC-568370B38EF4}"/>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02</a:t>
            </a:r>
          </a:p>
        </p:txBody>
      </p:sp>
      <p:sp>
        <p:nvSpPr>
          <p:cNvPr id="5" name="">
            <a:extLst xmlns:a="http://schemas.openxmlformats.org/drawingml/2006/main">
              <a:ext uri="{FF2B5EF4-FFF2-40B4-BE49-F238E27FC236}">
                <a16:creationId xmlns:a16="http://schemas.microsoft.com/office/drawing/2014/main" id="{FCAE1787-DA4A-440F-AE24-24B6E4B8037F}"/>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FE8F779-8CA0-441F-8EFE-284B0BC58C7B}"/>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80A1C889-F374-4C5C-8E8F-A3B1241569E2}"/>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2 / 9</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fb90a6126d6c4969"/>
          <a:srcRect xmlns:a="http://schemas.openxmlformats.org/drawingml/2006/main" l="41" t="0" r="41" b="0"/>
          <a:stretch xmlns:a="http://schemas.openxmlformats.org/drawingml/2006/main">
            <a:fillRect l="0" t="0" r="0" b="0"/>
          </a:stretch>
        </p:blipFill>
        <p:spPr>
          <a:xfrm xmlns:a="http://schemas.openxmlformats.org/drawingml/2006/main">
            <a:off x="552450" y="1162050"/>
            <a:ext cx="2571750" cy="14478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4C9FC0A-0B40-400F-89E9-4D12CBC63FA5}"/>
              </a:ext>
            </a:extLst>
          </p:cNvPr>
          <p:cNvSpPr>
            <a:spLocks xmlns:a="http://schemas.openxmlformats.org/drawingml/2006/main" noGrp="1"/>
          </p:cNvSpPr>
          <p:nvPr/>
        </p:nvSpPr>
        <p:spPr>
          <a:xfrm xmlns:a="http://schemas.openxmlformats.org/drawingml/2006/main">
            <a:off x="552450" y="2714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617078"/>
                </a:solidFill>
                <a:latin typeface="Yu Gothic"/>
                <a:ea typeface="Yu Gothic"/>
                <a:cs typeface="Yu Gothic"/>
              </a:defRPr>
            </a:pPr>
            <a:r>
              <a:rPr sz="1125" b="1">
                <a:solidFill>
                  <a:srgbClr val="617078"/>
                </a:solidFill>
                <a:latin typeface="Yu Gothic"/>
                <a:ea typeface="Yu Gothic"/>
                <a:cs typeface="Yu Gothic"/>
              </a:rPr>
              <a:t>危険区間の開始</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b249dbe5b9b346c5"/>
          <a:srcRect xmlns:a="http://schemas.openxmlformats.org/drawingml/2006/main" l="41" t="0" r="41" b="0"/>
          <a:stretch xmlns:a="http://schemas.openxmlformats.org/drawingml/2006/main">
            <a:fillRect l="0" t="0" r="0" b="0"/>
          </a:stretch>
        </p:blipFill>
        <p:spPr>
          <a:xfrm xmlns:a="http://schemas.openxmlformats.org/drawingml/2006/main">
            <a:off x="3371850" y="1162050"/>
            <a:ext cx="2571750" cy="14478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51741FEE-3D35-4439-900B-AFDD23DE449C}"/>
              </a:ext>
            </a:extLst>
          </p:cNvPr>
          <p:cNvSpPr>
            <a:spLocks xmlns:a="http://schemas.openxmlformats.org/drawingml/2006/main" noGrp="1"/>
          </p:cNvSpPr>
          <p:nvPr/>
        </p:nvSpPr>
        <p:spPr>
          <a:xfrm xmlns:a="http://schemas.openxmlformats.org/drawingml/2006/main">
            <a:off x="3371850" y="2714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617078"/>
                </a:solidFill>
                <a:latin typeface="Yu Gothic"/>
                <a:ea typeface="Yu Gothic"/>
                <a:cs typeface="Yu Gothic"/>
              </a:defRPr>
            </a:pPr>
            <a:r>
              <a:rPr sz="1125" b="1">
                <a:solidFill>
                  <a:srgbClr val="617078"/>
                </a:solidFill>
                <a:latin typeface="Yu Gothic"/>
                <a:ea typeface="Yu Gothic"/>
                <a:cs typeface="Yu Gothic"/>
              </a:rPr>
              <a:t>約33%</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e962661ac7fe4154"/>
          <a:srcRect xmlns:a="http://schemas.openxmlformats.org/drawingml/2006/main" l="41" t="0" r="41" b="0"/>
          <a:stretch xmlns:a="http://schemas.openxmlformats.org/drawingml/2006/main">
            <a:fillRect l="0" t="0" r="0" b="0"/>
          </a:stretch>
        </p:blipFill>
        <p:spPr>
          <a:xfrm xmlns:a="http://schemas.openxmlformats.org/drawingml/2006/main">
            <a:off x="6191250" y="1162050"/>
            <a:ext cx="2571750" cy="14478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BD7B7832-554C-4C38-BACC-DC91994084F9}"/>
              </a:ext>
            </a:extLst>
          </p:cNvPr>
          <p:cNvSpPr>
            <a:spLocks xmlns:a="http://schemas.openxmlformats.org/drawingml/2006/main" noGrp="1"/>
          </p:cNvSpPr>
          <p:nvPr/>
        </p:nvSpPr>
        <p:spPr>
          <a:xfrm xmlns:a="http://schemas.openxmlformats.org/drawingml/2006/main">
            <a:off x="6191250" y="2714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617078"/>
                </a:solidFill>
                <a:latin typeface="Yu Gothic"/>
                <a:ea typeface="Yu Gothic"/>
                <a:cs typeface="Yu Gothic"/>
              </a:defRPr>
            </a:pPr>
            <a:r>
              <a:rPr sz="1125" b="1">
                <a:solidFill>
                  <a:srgbClr val="617078"/>
                </a:solidFill>
                <a:latin typeface="Yu Gothic"/>
                <a:ea typeface="Yu Gothic"/>
                <a:cs typeface="Yu Gothic"/>
              </a:rPr>
              <a:t>約67%</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7d87538a33af4b08"/>
          <a:srcRect xmlns:a="http://schemas.openxmlformats.org/drawingml/2006/main" l="41" t="0" r="41" b="0"/>
          <a:stretch xmlns:a="http://schemas.openxmlformats.org/drawingml/2006/main">
            <a:fillRect l="0" t="0" r="0" b="0"/>
          </a:stretch>
        </p:blipFill>
        <p:spPr>
          <a:xfrm xmlns:a="http://schemas.openxmlformats.org/drawingml/2006/main">
            <a:off x="9010650" y="1162050"/>
            <a:ext cx="2571750" cy="14478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42D5A99E-AD95-4D23-B080-A1D2AC6D087D}"/>
              </a:ext>
            </a:extLst>
          </p:cNvPr>
          <p:cNvSpPr>
            <a:spLocks xmlns:a="http://schemas.openxmlformats.org/drawingml/2006/main" noGrp="1"/>
          </p:cNvSpPr>
          <p:nvPr/>
        </p:nvSpPr>
        <p:spPr>
          <a:xfrm xmlns:a="http://schemas.openxmlformats.org/drawingml/2006/main">
            <a:off x="9010650" y="2714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E7833D"/>
                </a:solidFill>
                <a:latin typeface="Yu Gothic"/>
                <a:ea typeface="Yu Gothic"/>
                <a:cs typeface="Yu Gothic"/>
              </a:defRPr>
            </a:pPr>
            <a:r>
              <a:rPr sz="1125" b="1">
                <a:solidFill>
                  <a:srgbClr val="E7833D"/>
                </a:solidFill>
                <a:latin typeface="Yu Gothic"/>
                <a:ea typeface="Yu Gothic"/>
                <a:cs typeface="Yu Gothic"/>
              </a:rPr>
              <a:t>危険事象の時点</a:t>
            </a:r>
          </a:p>
        </p:txBody>
      </p:sp>
      <p:sp>
        <p:nvSpPr>
          <p:cNvPr id="16" name="">
            <a:extLst xmlns:a="http://schemas.openxmlformats.org/drawingml/2006/main">
              <a:ext uri="{FF2B5EF4-FFF2-40B4-BE49-F238E27FC236}">
                <a16:creationId xmlns:a16="http://schemas.microsoft.com/office/drawing/2014/main" id="{63122CBB-7DD1-404C-A0C4-4C6971857AEB}"/>
              </a:ext>
            </a:extLst>
          </p:cNvPr>
          <p:cNvSpPr>
            <a:spLocks xmlns:a="http://schemas.openxmlformats.org/drawingml/2006/main" noGrp="1"/>
          </p:cNvSpPr>
          <p:nvPr/>
        </p:nvSpPr>
        <p:spPr>
          <a:xfrm xmlns:a="http://schemas.openxmlformats.org/drawingml/2006/main">
            <a:off x="723900" y="3095625"/>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147B78"/>
                </a:solidFill>
                <a:latin typeface="Yu Gothic"/>
                <a:ea typeface="Yu Gothic"/>
                <a:cs typeface="Yu Gothic"/>
              </a:defRPr>
            </a:pPr>
            <a:r>
              <a:rPr sz="1425" b="1">
                <a:solidFill>
                  <a:srgbClr val="147B78"/>
                </a:solidFill>
                <a:latin typeface="Yu Gothic"/>
                <a:ea typeface="Yu Gothic"/>
                <a:cs typeface="Yu Gothic"/>
              </a:rPr>
              <a:t>q = [通常の確率, 危険の確率]　この例では危険の確率だけを表示</a:t>
            </a:r>
          </a:p>
        </p:txBody>
      </p:sp>
      <p:sp>
        <p:nvSpPr>
          <p:cNvPr id="17" name="">
            <a:extLst xmlns:a="http://schemas.openxmlformats.org/drawingml/2006/main">
              <a:ext uri="{FF2B5EF4-FFF2-40B4-BE49-F238E27FC236}">
                <a16:creationId xmlns:a16="http://schemas.microsoft.com/office/drawing/2014/main" id="{C14F4F49-BE45-431F-8C12-B205F3D80FA5}"/>
              </a:ext>
            </a:extLst>
          </p:cNvPr>
          <p:cNvSpPr>
            <a:spLocks xmlns:a="http://schemas.openxmlformats.org/drawingml/2006/main" noGrp="1"/>
          </p:cNvSpPr>
          <p:nvPr/>
        </p:nvSpPr>
        <p:spPr>
          <a:xfrm xmlns:a="http://schemas.openxmlformats.org/drawingml/2006/main">
            <a:off x="933450" y="3667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学習前  qᵖʳᵉ</a:t>
            </a:r>
          </a:p>
        </p:txBody>
      </p:sp>
      <p:sp>
        <p:nvSpPr>
          <p:cNvPr id="18" name="">
            <a:extLst xmlns:a="http://schemas.openxmlformats.org/drawingml/2006/main">
              <a:ext uri="{FF2B5EF4-FFF2-40B4-BE49-F238E27FC236}">
                <a16:creationId xmlns:a16="http://schemas.microsoft.com/office/drawing/2014/main" id="{7BA5245F-9201-4D9F-B788-E5B5ABB79076}"/>
              </a:ext>
            </a:extLst>
          </p:cNvPr>
          <p:cNvSpPr>
            <a:spLocks xmlns:a="http://schemas.openxmlformats.org/drawingml/2006/main" noGrp="1"/>
          </p:cNvSpPr>
          <p:nvPr/>
        </p:nvSpPr>
        <p:spPr>
          <a:xfrm xmlns:a="http://schemas.openxmlformats.org/drawingml/2006/main">
            <a:off x="933450" y="403860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150" b="1">
                <a:solidFill>
                  <a:srgbClr val="173B4B"/>
                </a:solidFill>
                <a:latin typeface="Yu Gothic"/>
                <a:ea typeface="Yu Gothic"/>
                <a:cs typeface="Yu Gothic"/>
              </a:defRPr>
            </a:pPr>
            <a:r>
              <a:rPr sz="3150" b="1">
                <a:solidFill>
                  <a:srgbClr val="173B4B"/>
                </a:solidFill>
                <a:latin typeface="Yu Gothic"/>
                <a:ea typeface="Yu Gothic"/>
                <a:cs typeface="Yu Gothic"/>
              </a:rPr>
              <a:t>0.349</a:t>
            </a:r>
          </a:p>
        </p:txBody>
      </p:sp>
      <p:sp>
        <p:nvSpPr>
          <p:cNvPr id="19" name="">
            <a:extLst xmlns:a="http://schemas.openxmlformats.org/drawingml/2006/main">
              <a:ext uri="{FF2B5EF4-FFF2-40B4-BE49-F238E27FC236}">
                <a16:creationId xmlns:a16="http://schemas.microsoft.com/office/drawing/2014/main" id="{274028C4-5615-4047-9B9A-3F00EE52F506}"/>
              </a:ext>
            </a:extLst>
          </p:cNvPr>
          <p:cNvSpPr>
            <a:spLocks xmlns:a="http://schemas.openxmlformats.org/drawingml/2006/main" noGrp="1"/>
          </p:cNvSpPr>
          <p:nvPr/>
        </p:nvSpPr>
        <p:spPr>
          <a:xfrm xmlns:a="http://schemas.openxmlformats.org/drawingml/2006/main">
            <a:off x="933450" y="46958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26373D"/>
                </a:solidFill>
                <a:latin typeface="Yu Gothic"/>
                <a:ea typeface="Yu Gothic"/>
                <a:cs typeface="Yu Gothic"/>
              </a:defRPr>
            </a:pPr>
            <a:r>
              <a:rPr sz="1350" b="0">
                <a:solidFill>
                  <a:srgbClr val="26373D"/>
                </a:solidFill>
                <a:latin typeface="Yu Gothic"/>
                <a:ea typeface="Yu Gothic"/>
                <a:cs typeface="Yu Gothic"/>
              </a:rPr>
              <a:t>局所学習前の危険確率</a:t>
            </a:r>
          </a:p>
        </p:txBody>
      </p:sp>
      <p:sp>
        <p:nvSpPr>
          <p:cNvPr id="20" name="">
            <a:extLst xmlns:a="http://schemas.openxmlformats.org/drawingml/2006/main">
              <a:ext uri="{FF2B5EF4-FFF2-40B4-BE49-F238E27FC236}">
                <a16:creationId xmlns:a16="http://schemas.microsoft.com/office/drawing/2014/main" id="{37BFC690-9CC8-459C-9825-B8B604BF9F7F}"/>
              </a:ext>
            </a:extLst>
          </p:cNvPr>
          <p:cNvSpPr>
            <a:spLocks xmlns:a="http://schemas.openxmlformats.org/drawingml/2006/main" noGrp="1"/>
          </p:cNvSpPr>
          <p:nvPr/>
        </p:nvSpPr>
        <p:spPr>
          <a:xfrm xmlns:a="http://schemas.openxmlformats.org/drawingml/2006/main">
            <a:off x="4171950" y="3743325"/>
            <a:ext cx="19050" cy="1285875"/>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D662741-511F-4F5B-B589-E7369DF5791A}"/>
              </a:ext>
            </a:extLst>
          </p:cNvPr>
          <p:cNvSpPr>
            <a:spLocks xmlns:a="http://schemas.openxmlformats.org/drawingml/2006/main" noGrp="1"/>
          </p:cNvSpPr>
          <p:nvPr/>
        </p:nvSpPr>
        <p:spPr>
          <a:xfrm xmlns:a="http://schemas.openxmlformats.org/drawingml/2006/main">
            <a:off x="4648200" y="3667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学習後  qᵖᵒˢᵗ</a:t>
            </a:r>
          </a:p>
        </p:txBody>
      </p:sp>
      <p:sp>
        <p:nvSpPr>
          <p:cNvPr id="22" name="">
            <a:extLst xmlns:a="http://schemas.openxmlformats.org/drawingml/2006/main">
              <a:ext uri="{FF2B5EF4-FFF2-40B4-BE49-F238E27FC236}">
                <a16:creationId xmlns:a16="http://schemas.microsoft.com/office/drawing/2014/main" id="{2A1C30CD-619B-4D4C-B244-F38ADD35E50E}"/>
              </a:ext>
            </a:extLst>
          </p:cNvPr>
          <p:cNvSpPr>
            <a:spLocks xmlns:a="http://schemas.openxmlformats.org/drawingml/2006/main" noGrp="1"/>
          </p:cNvSpPr>
          <p:nvPr/>
        </p:nvSpPr>
        <p:spPr>
          <a:xfrm xmlns:a="http://schemas.openxmlformats.org/drawingml/2006/main">
            <a:off x="4648200" y="403860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150" b="1">
                <a:solidFill>
                  <a:srgbClr val="173B4B"/>
                </a:solidFill>
                <a:latin typeface="Yu Gothic"/>
                <a:ea typeface="Yu Gothic"/>
                <a:cs typeface="Yu Gothic"/>
              </a:defRPr>
            </a:pPr>
            <a:r>
              <a:rPr sz="3150" b="1">
                <a:solidFill>
                  <a:srgbClr val="173B4B"/>
                </a:solidFill>
                <a:latin typeface="Yu Gothic"/>
                <a:ea typeface="Yu Gothic"/>
                <a:cs typeface="Yu Gothic"/>
              </a:rPr>
              <a:t>0.644</a:t>
            </a:r>
          </a:p>
        </p:txBody>
      </p:sp>
      <p:sp>
        <p:nvSpPr>
          <p:cNvPr id="23" name="">
            <a:extLst xmlns:a="http://schemas.openxmlformats.org/drawingml/2006/main">
              <a:ext uri="{FF2B5EF4-FFF2-40B4-BE49-F238E27FC236}">
                <a16:creationId xmlns:a16="http://schemas.microsoft.com/office/drawing/2014/main" id="{537D9F90-3A3F-44CD-995F-D8BBC5105F45}"/>
              </a:ext>
            </a:extLst>
          </p:cNvPr>
          <p:cNvSpPr>
            <a:spLocks xmlns:a="http://schemas.openxmlformats.org/drawingml/2006/main" noGrp="1"/>
          </p:cNvSpPr>
          <p:nvPr/>
        </p:nvSpPr>
        <p:spPr>
          <a:xfrm xmlns:a="http://schemas.openxmlformats.org/drawingml/2006/main">
            <a:off x="4648200" y="46958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26373D"/>
                </a:solidFill>
                <a:latin typeface="Yu Gothic"/>
                <a:ea typeface="Yu Gothic"/>
                <a:cs typeface="Yu Gothic"/>
              </a:defRPr>
            </a:pPr>
            <a:r>
              <a:rPr sz="1350" b="0">
                <a:solidFill>
                  <a:srgbClr val="26373D"/>
                </a:solidFill>
                <a:latin typeface="Yu Gothic"/>
                <a:ea typeface="Yu Gothic"/>
                <a:cs typeface="Yu Gothic"/>
              </a:rPr>
              <a:t>同じ動画を学習後に再判定</a:t>
            </a:r>
          </a:p>
        </p:txBody>
      </p:sp>
      <p:sp>
        <p:nvSpPr>
          <p:cNvPr id="24" name="">
            <a:extLst xmlns:a="http://schemas.openxmlformats.org/drawingml/2006/main">
              <a:ext uri="{FF2B5EF4-FFF2-40B4-BE49-F238E27FC236}">
                <a16:creationId xmlns:a16="http://schemas.microsoft.com/office/drawing/2014/main" id="{0FDCA22D-A284-4481-856D-E5B83F7B7B59}"/>
              </a:ext>
            </a:extLst>
          </p:cNvPr>
          <p:cNvSpPr>
            <a:spLocks xmlns:a="http://schemas.openxmlformats.org/drawingml/2006/main" noGrp="1"/>
          </p:cNvSpPr>
          <p:nvPr/>
        </p:nvSpPr>
        <p:spPr>
          <a:xfrm xmlns:a="http://schemas.openxmlformats.org/drawingml/2006/main">
            <a:off x="7886700" y="3743325"/>
            <a:ext cx="19050" cy="1285875"/>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1DD9186-E38C-4B02-98B8-D53E83A95E21}"/>
              </a:ext>
            </a:extLst>
          </p:cNvPr>
          <p:cNvSpPr>
            <a:spLocks xmlns:a="http://schemas.openxmlformats.org/drawingml/2006/main" noGrp="1"/>
          </p:cNvSpPr>
          <p:nvPr/>
        </p:nvSpPr>
        <p:spPr>
          <a:xfrm xmlns:a="http://schemas.openxmlformats.org/drawingml/2006/main">
            <a:off x="8362950" y="3667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変化量  Δq</a:t>
            </a:r>
          </a:p>
        </p:txBody>
      </p:sp>
      <p:sp>
        <p:nvSpPr>
          <p:cNvPr id="26" name="">
            <a:extLst xmlns:a="http://schemas.openxmlformats.org/drawingml/2006/main">
              <a:ext uri="{FF2B5EF4-FFF2-40B4-BE49-F238E27FC236}">
                <a16:creationId xmlns:a16="http://schemas.microsoft.com/office/drawing/2014/main" id="{8187D33E-47C1-49C0-8A97-53CC2D50F2B4}"/>
              </a:ext>
            </a:extLst>
          </p:cNvPr>
          <p:cNvSpPr>
            <a:spLocks xmlns:a="http://schemas.openxmlformats.org/drawingml/2006/main" noGrp="1"/>
          </p:cNvSpPr>
          <p:nvPr/>
        </p:nvSpPr>
        <p:spPr>
          <a:xfrm xmlns:a="http://schemas.openxmlformats.org/drawingml/2006/main">
            <a:off x="8362950" y="403860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150" b="1">
                <a:solidFill>
                  <a:srgbClr val="E7833D"/>
                </a:solidFill>
                <a:latin typeface="Yu Gothic"/>
                <a:ea typeface="Yu Gothic"/>
                <a:cs typeface="Yu Gothic"/>
              </a:defRPr>
            </a:pPr>
            <a:r>
              <a:rPr sz="3150" b="1">
                <a:solidFill>
                  <a:srgbClr val="E7833D"/>
                </a:solidFill>
                <a:latin typeface="Yu Gothic"/>
                <a:ea typeface="Yu Gothic"/>
                <a:cs typeface="Yu Gothic"/>
              </a:rPr>
              <a:t>+0.295</a:t>
            </a:r>
          </a:p>
        </p:txBody>
      </p:sp>
      <p:sp>
        <p:nvSpPr>
          <p:cNvPr id="27" name="">
            <a:extLst xmlns:a="http://schemas.openxmlformats.org/drawingml/2006/main">
              <a:ext uri="{FF2B5EF4-FFF2-40B4-BE49-F238E27FC236}">
                <a16:creationId xmlns:a16="http://schemas.microsoft.com/office/drawing/2014/main" id="{BD281809-B8A2-4D94-983D-A72815D986D9}"/>
              </a:ext>
            </a:extLst>
          </p:cNvPr>
          <p:cNvSpPr>
            <a:spLocks xmlns:a="http://schemas.openxmlformats.org/drawingml/2006/main" noGrp="1"/>
          </p:cNvSpPr>
          <p:nvPr/>
        </p:nvSpPr>
        <p:spPr>
          <a:xfrm xmlns:a="http://schemas.openxmlformats.org/drawingml/2006/main">
            <a:off x="8362950" y="46958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26373D"/>
                </a:solidFill>
                <a:latin typeface="Yu Gothic"/>
                <a:ea typeface="Yu Gothic"/>
                <a:cs typeface="Yu Gothic"/>
              </a:defRPr>
            </a:pPr>
            <a:r>
              <a:rPr sz="1350" b="0">
                <a:solidFill>
                  <a:srgbClr val="26373D"/>
                </a:solidFill>
                <a:latin typeface="Yu Gothic"/>
                <a:ea typeface="Yu Gothic"/>
                <a:cs typeface="Yu Gothic"/>
              </a:rPr>
              <a:t>危険側へ動いた量</a:t>
            </a:r>
          </a:p>
        </p:txBody>
      </p:sp>
      <p:sp>
        <p:nvSpPr>
          <p:cNvPr id="28" name="">
            <a:extLst xmlns:a="http://schemas.openxmlformats.org/drawingml/2006/main">
              <a:ext uri="{FF2B5EF4-FFF2-40B4-BE49-F238E27FC236}">
                <a16:creationId xmlns:a16="http://schemas.microsoft.com/office/drawing/2014/main" id="{28FB2757-9044-40A5-BFDA-88145E078940}"/>
              </a:ext>
            </a:extLst>
          </p:cNvPr>
          <p:cNvSpPr>
            <a:spLocks xmlns:a="http://schemas.openxmlformats.org/drawingml/2006/main" noGrp="1"/>
          </p:cNvSpPr>
          <p:nvPr/>
        </p:nvSpPr>
        <p:spPr>
          <a:xfrm xmlns:a="http://schemas.openxmlformats.org/drawingml/2006/main">
            <a:off x="704850" y="5419725"/>
            <a:ext cx="10782300" cy="66675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0538FDAE-7E1E-42AC-B689-484AA3214C8A}"/>
              </a:ext>
            </a:extLst>
          </p:cNvPr>
          <p:cNvSpPr>
            <a:spLocks xmlns:a="http://schemas.openxmlformats.org/drawingml/2006/main" noGrp="1"/>
          </p:cNvSpPr>
          <p:nvPr/>
        </p:nvSpPr>
        <p:spPr>
          <a:xfrm xmlns:a="http://schemas.openxmlformats.org/drawingml/2006/main">
            <a:off x="952500" y="554355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26373D"/>
                </a:solidFill>
                <a:latin typeface="Yu Gothic"/>
                <a:ea typeface="Yu Gothic"/>
                <a:cs typeface="Yu Gothic"/>
              </a:defRPr>
            </a:pPr>
            <a:r>
              <a:rPr sz="1500" b="1">
                <a:solidFill>
                  <a:srgbClr val="26373D"/>
                </a:solidFill>
                <a:latin typeface="Yu Gothic"/>
                <a:ea typeface="Yu Gothic"/>
                <a:cs typeface="Yu Gothic"/>
              </a:rPr>
              <a:t>ここで分かるのは、同じ入力への判定が危険側へ動いたことまで。危険理由や性能向上はまだ分からない。</a:t>
            </a:r>
          </a:p>
        </p:txBody>
      </p:sp>
      <p:sp>
        <p:nvSpPr>
          <p:cNvPr id="30" name="">
            <a:extLst xmlns:a="http://schemas.openxmlformats.org/drawingml/2006/main">
              <a:ext uri="{FF2B5EF4-FFF2-40B4-BE49-F238E27FC236}">
                <a16:creationId xmlns:a16="http://schemas.microsoft.com/office/drawing/2014/main" id="{122FEE6B-1F4C-4080-BEFB-90E2C7065492}"/>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Tree>
    <p:extLst>
      <p:ext uri="{BB962C8B-B14F-4D97-AF65-F5344CB8AC3E}">
        <p14:creationId xmlns:p14="http://schemas.microsoft.com/office/powerpoint/2010/main" val="35621002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1458E871-28FE-4BBA-A0BD-558C1ADEE83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3CD23B4-2B85-4C45-A45A-11C1350C77B2}"/>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834CA47-F988-433E-90BE-71D1FEF88CC5}"/>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複数動画の反応を、3つの値に要約する</a:t>
            </a:r>
          </a:p>
        </p:txBody>
      </p:sp>
      <p:sp>
        <p:nvSpPr>
          <p:cNvPr id="4" name="">
            <a:extLst xmlns:a="http://schemas.openxmlformats.org/drawingml/2006/main">
              <a:ext uri="{FF2B5EF4-FFF2-40B4-BE49-F238E27FC236}">
                <a16:creationId xmlns:a16="http://schemas.microsoft.com/office/drawing/2014/main" id="{3FA09F85-733A-4516-B10C-D2406E47E90D}"/>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03</a:t>
            </a:r>
          </a:p>
        </p:txBody>
      </p:sp>
      <p:sp>
        <p:nvSpPr>
          <p:cNvPr id="5" name="">
            <a:extLst xmlns:a="http://schemas.openxmlformats.org/drawingml/2006/main">
              <a:ext uri="{FF2B5EF4-FFF2-40B4-BE49-F238E27FC236}">
                <a16:creationId xmlns:a16="http://schemas.microsoft.com/office/drawing/2014/main" id="{5135A9AF-062F-4333-B7D9-F23D268E98C0}"/>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8C426F2-6C33-441E-91B2-29E77BC80B3E}"/>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DE989895-BA5D-4981-8BDF-AE4783E41425}"/>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3 / 9</a:t>
            </a:r>
          </a:p>
        </p:txBody>
      </p:sp>
      <p:sp>
        <p:nvSpPr>
          <p:cNvPr id="8" name="">
            <a:extLst xmlns:a="http://schemas.openxmlformats.org/drawingml/2006/main">
              <a:ext uri="{FF2B5EF4-FFF2-40B4-BE49-F238E27FC236}">
                <a16:creationId xmlns:a16="http://schemas.microsoft.com/office/drawing/2014/main" id="{4E3919C9-3151-4AC1-9513-15D476653EFB}"/>
              </a:ext>
            </a:extLst>
          </p:cNvPr>
          <p:cNvSpPr>
            <a:spLocks xmlns:a="http://schemas.openxmlformats.org/drawingml/2006/main" noGrp="1"/>
          </p:cNvSpPr>
          <p:nvPr/>
        </p:nvSpPr>
        <p:spPr>
          <a:xfrm xmlns:a="http://schemas.openxmlformats.org/drawingml/2006/main">
            <a:off x="609600" y="1066800"/>
            <a:ext cx="600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47B78"/>
                </a:solidFill>
                <a:latin typeface="Yu Gothic"/>
                <a:ea typeface="Yu Gothic"/>
                <a:cs typeface="Yu Gothic"/>
              </a:defRPr>
            </a:pPr>
            <a:r>
              <a:rPr sz="1575" b="1">
                <a:solidFill>
                  <a:srgbClr val="147B78"/>
                </a:solidFill>
                <a:latin typeface="Yu Gothic"/>
                <a:ea typeface="Yu Gothic"/>
                <a:cs typeface="Yu Gothic"/>
              </a:rPr>
              <a:t>同じ現場側AIの危険動画3本</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7e4d5196a64542fb"/>
          <a:srcRect xmlns:a="http://schemas.openxmlformats.org/drawingml/2006/main" l="58" t="0" r="58" b="0"/>
          <a:stretch xmlns:a="http://schemas.openxmlformats.org/drawingml/2006/main">
            <a:fillRect l="0" t="0" r="0" b="0"/>
          </a:stretch>
        </p:blipFill>
        <p:spPr>
          <a:xfrm xmlns:a="http://schemas.openxmlformats.org/drawingml/2006/main">
            <a:off x="609600" y="1466850"/>
            <a:ext cx="1809750" cy="10191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4D256DB3-0E46-413A-B77F-617FBFE1342F}"/>
              </a:ext>
            </a:extLst>
          </p:cNvPr>
          <p:cNvSpPr>
            <a:spLocks xmlns:a="http://schemas.openxmlformats.org/drawingml/2006/main" noGrp="1"/>
          </p:cNvSpPr>
          <p:nvPr/>
        </p:nvSpPr>
        <p:spPr>
          <a:xfrm xmlns:a="http://schemas.openxmlformats.org/drawingml/2006/main">
            <a:off x="609600" y="2590800"/>
            <a:ext cx="1809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学習後 危険 0.600</a:t>
            </a:r>
          </a:p>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変化量 +0.336</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e6e0117782384d58"/>
          <a:srcRect xmlns:a="http://schemas.openxmlformats.org/drawingml/2006/main" l="58" t="0" r="58" b="0"/>
          <a:stretch xmlns:a="http://schemas.openxmlformats.org/drawingml/2006/main">
            <a:fillRect l="0" t="0" r="0" b="0"/>
          </a:stretch>
        </p:blipFill>
        <p:spPr>
          <a:xfrm xmlns:a="http://schemas.openxmlformats.org/drawingml/2006/main">
            <a:off x="2609850" y="1466850"/>
            <a:ext cx="1809750" cy="10191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42D48AD4-E9DA-4ACB-9880-ED5839E388E4}"/>
              </a:ext>
            </a:extLst>
          </p:cNvPr>
          <p:cNvSpPr>
            <a:spLocks xmlns:a="http://schemas.openxmlformats.org/drawingml/2006/main" noGrp="1"/>
          </p:cNvSpPr>
          <p:nvPr/>
        </p:nvSpPr>
        <p:spPr>
          <a:xfrm xmlns:a="http://schemas.openxmlformats.org/drawingml/2006/main">
            <a:off x="2609850" y="2590800"/>
            <a:ext cx="1809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学習後 危険 0.644</a:t>
            </a:r>
          </a:p>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変化量 +0.295</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811c14c193544de0"/>
          <a:srcRect xmlns:a="http://schemas.openxmlformats.org/drawingml/2006/main" l="58" t="0" r="58" b="0"/>
          <a:stretch xmlns:a="http://schemas.openxmlformats.org/drawingml/2006/main">
            <a:fillRect l="0" t="0" r="0" b="0"/>
          </a:stretch>
        </p:blipFill>
        <p:spPr>
          <a:xfrm xmlns:a="http://schemas.openxmlformats.org/drawingml/2006/main">
            <a:off x="4610100" y="1466850"/>
            <a:ext cx="1809750" cy="10191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C0AEC07C-4E4E-4D7E-900C-0777889FFF48}"/>
              </a:ext>
            </a:extLst>
          </p:cNvPr>
          <p:cNvSpPr>
            <a:spLocks xmlns:a="http://schemas.openxmlformats.org/drawingml/2006/main" noGrp="1"/>
          </p:cNvSpPr>
          <p:nvPr/>
        </p:nvSpPr>
        <p:spPr>
          <a:xfrm xmlns:a="http://schemas.openxmlformats.org/drawingml/2006/main">
            <a:off x="4610100" y="2590800"/>
            <a:ext cx="1809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学習後 危険 0.929</a:t>
            </a:r>
          </a:p>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変化量 +0.082</a:t>
            </a:r>
          </a:p>
        </p:txBody>
      </p:sp>
      <p:sp>
        <p:nvSpPr>
          <p:cNvPr id="15" name="">
            <a:extLst xmlns:a="http://schemas.openxmlformats.org/drawingml/2006/main">
              <a:ext uri="{FF2B5EF4-FFF2-40B4-BE49-F238E27FC236}">
                <a16:creationId xmlns:a16="http://schemas.microsoft.com/office/drawing/2014/main" id="{4E63D07E-855B-418B-B374-D76C57A55570}"/>
              </a:ext>
            </a:extLst>
          </p:cNvPr>
          <p:cNvSpPr>
            <a:spLocks xmlns:a="http://schemas.openxmlformats.org/drawingml/2006/main" noGrp="1"/>
          </p:cNvSpPr>
          <p:nvPr/>
        </p:nvSpPr>
        <p:spPr>
          <a:xfrm xmlns:a="http://schemas.openxmlformats.org/drawingml/2006/main">
            <a:off x="2581275" y="1438275"/>
            <a:ext cx="1866900" cy="1076325"/>
          </a:xfrm>
          <a:prstGeom xmlns:a="http://schemas.openxmlformats.org/drawingml/2006/main" prst="rect">
            <a:avLst/>
          </a:prstGeom>
          <a:noFill xmlns:a="http://schemas.openxmlformats.org/drawingml/2006/main"/>
          <a:ln xmlns:a="http://schemas.openxmlformats.org/drawingml/2006/main" w="28575">
            <a:solidFill>
              <a:srgbClr val="E7833D"/>
            </a:solidFill>
          </a:ln>
        </p:spPr>
      </p:sp>
      <p:sp>
        <p:nvSpPr>
          <p:cNvPr id="16" name="">
            <a:extLst xmlns:a="http://schemas.openxmlformats.org/drawingml/2006/main">
              <a:ext uri="{FF2B5EF4-FFF2-40B4-BE49-F238E27FC236}">
                <a16:creationId xmlns:a16="http://schemas.microsoft.com/office/drawing/2014/main" id="{6E31315D-6BD3-4425-AC15-C58A883F31F5}"/>
              </a:ext>
            </a:extLst>
          </p:cNvPr>
          <p:cNvSpPr>
            <a:spLocks xmlns:a="http://schemas.openxmlformats.org/drawingml/2006/main" noGrp="1"/>
          </p:cNvSpPr>
          <p:nvPr/>
        </p:nvSpPr>
        <p:spPr>
          <a:xfrm xmlns:a="http://schemas.openxmlformats.org/drawingml/2006/main">
            <a:off x="2647950" y="1504950"/>
            <a:ext cx="876300" cy="209550"/>
          </a:xfrm>
          <a:prstGeom xmlns:a="http://schemas.openxmlformats.org/drawingml/2006/main" prst="rect">
            <a:avLst/>
          </a:prstGeom>
          <a:solidFill xmlns:a="http://schemas.openxmlformats.org/drawingml/2006/main">
            <a:srgbClr val="E7833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a:solidFill>
                  <a:srgbClr val="FFFFFF"/>
                </a:solidFill>
                <a:latin typeface="Yu Gothic"/>
                <a:ea typeface="Yu Gothic"/>
                <a:cs typeface="Yu Gothic"/>
              </a:defRPr>
            </a:pPr>
            <a:r>
              <a:rPr sz="900" b="1">
                <a:solidFill>
                  <a:srgbClr val="FFFFFF"/>
                </a:solidFill>
                <a:latin typeface="Yu Gothic"/>
                <a:ea typeface="Yu Gothic"/>
                <a:cs typeface="Yu Gothic"/>
              </a:rPr>
              <a:t>2枚目の動画</a:t>
            </a:r>
          </a:p>
        </p:txBody>
      </p:sp>
      <p:sp>
        <p:nvSpPr>
          <p:cNvPr id="17" name="">
            <a:extLst xmlns:a="http://schemas.openxmlformats.org/drawingml/2006/main">
              <a:ext uri="{FF2B5EF4-FFF2-40B4-BE49-F238E27FC236}">
                <a16:creationId xmlns:a16="http://schemas.microsoft.com/office/drawing/2014/main" id="{D693DB42-3632-4424-A5C2-137B17AA11AA}"/>
              </a:ext>
            </a:extLst>
          </p:cNvPr>
          <p:cNvSpPr>
            <a:spLocks xmlns:a="http://schemas.openxmlformats.org/drawingml/2006/main" noGrp="1"/>
          </p:cNvSpPr>
          <p:nvPr/>
        </p:nvSpPr>
        <p:spPr>
          <a:xfrm xmlns:a="http://schemas.openxmlformats.org/drawingml/2006/main">
            <a:off x="6762750" y="1123950"/>
            <a:ext cx="19050" cy="2476500"/>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201DEF8-2A9D-4B67-B3ED-5B7D6E8863BD}"/>
              </a:ext>
            </a:extLst>
          </p:cNvPr>
          <p:cNvSpPr>
            <a:spLocks xmlns:a="http://schemas.openxmlformats.org/drawingml/2006/main" noGrp="1"/>
          </p:cNvSpPr>
          <p:nvPr/>
        </p:nvSpPr>
        <p:spPr>
          <a:xfrm xmlns:a="http://schemas.openxmlformats.org/drawingml/2006/main">
            <a:off x="7143750" y="1123950"/>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173B4B"/>
                </a:solidFill>
                <a:latin typeface="Yu Gothic"/>
                <a:ea typeface="Yu Gothic"/>
                <a:cs typeface="Yu Gothic"/>
              </a:defRPr>
            </a:pPr>
            <a:r>
              <a:rPr sz="1875" b="1">
                <a:solidFill>
                  <a:srgbClr val="173B4B"/>
                </a:solidFill>
                <a:latin typeface="Yu Gothic"/>
                <a:ea typeface="Yu Gothic"/>
                <a:cs typeface="Yu Gothic"/>
              </a:rPr>
              <a:t>3本を平均して作る Qₖ,ᵣ</a:t>
            </a:r>
          </a:p>
        </p:txBody>
      </p:sp>
      <p:sp>
        <p:nvSpPr>
          <p:cNvPr id="19" name="">
            <a:extLst xmlns:a="http://schemas.openxmlformats.org/drawingml/2006/main">
              <a:ext uri="{FF2B5EF4-FFF2-40B4-BE49-F238E27FC236}">
                <a16:creationId xmlns:a16="http://schemas.microsoft.com/office/drawing/2014/main" id="{DE90ECF6-1483-42C9-ACCE-D4DA1AA4B8BC}"/>
              </a:ext>
            </a:extLst>
          </p:cNvPr>
          <p:cNvSpPr>
            <a:spLocks xmlns:a="http://schemas.openxmlformats.org/drawingml/2006/main" noGrp="1"/>
          </p:cNvSpPr>
          <p:nvPr/>
        </p:nvSpPr>
        <p:spPr>
          <a:xfrm xmlns:a="http://schemas.openxmlformats.org/drawingml/2006/main">
            <a:off x="7334250" y="17240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617078"/>
                </a:solidFill>
                <a:latin typeface="Yu Gothic"/>
                <a:ea typeface="Yu Gothic"/>
                <a:cs typeface="Yu Gothic"/>
              </a:defRPr>
            </a:pPr>
            <a:r>
              <a:rPr sz="1575" b="1">
                <a:solidFill>
                  <a:srgbClr val="617078"/>
                </a:solidFill>
                <a:latin typeface="Yu Gothic"/>
                <a:ea typeface="Yu Gothic"/>
                <a:cs typeface="Yu Gothic"/>
              </a:rPr>
              <a:t>μᵖᵒˢᵗₖ,ᵣ</a:t>
            </a:r>
          </a:p>
        </p:txBody>
      </p:sp>
      <p:sp>
        <p:nvSpPr>
          <p:cNvPr id="20" name="">
            <a:extLst xmlns:a="http://schemas.openxmlformats.org/drawingml/2006/main">
              <a:ext uri="{FF2B5EF4-FFF2-40B4-BE49-F238E27FC236}">
                <a16:creationId xmlns:a16="http://schemas.microsoft.com/office/drawing/2014/main" id="{ED77BB72-28AD-41F4-950D-612C410D3ABA}"/>
              </a:ext>
            </a:extLst>
          </p:cNvPr>
          <p:cNvSpPr>
            <a:spLocks xmlns:a="http://schemas.openxmlformats.org/drawingml/2006/main" noGrp="1"/>
          </p:cNvSpPr>
          <p:nvPr/>
        </p:nvSpPr>
        <p:spPr>
          <a:xfrm xmlns:a="http://schemas.openxmlformats.org/drawingml/2006/main">
            <a:off x="7334250" y="207645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173B4B"/>
                </a:solidFill>
                <a:latin typeface="Yu Gothic"/>
                <a:ea typeface="Yu Gothic"/>
                <a:cs typeface="Yu Gothic"/>
              </a:defRPr>
            </a:pPr>
            <a:r>
              <a:rPr sz="2850" b="1">
                <a:solidFill>
                  <a:srgbClr val="173B4B"/>
                </a:solidFill>
                <a:latin typeface="Yu Gothic"/>
                <a:ea typeface="Yu Gothic"/>
                <a:cs typeface="Yu Gothic"/>
              </a:rPr>
              <a:t>0.724</a:t>
            </a:r>
          </a:p>
        </p:txBody>
      </p:sp>
      <p:sp>
        <p:nvSpPr>
          <p:cNvPr id="21" name="">
            <a:extLst xmlns:a="http://schemas.openxmlformats.org/drawingml/2006/main">
              <a:ext uri="{FF2B5EF4-FFF2-40B4-BE49-F238E27FC236}">
                <a16:creationId xmlns:a16="http://schemas.microsoft.com/office/drawing/2014/main" id="{4F2373A4-B500-4A30-99A4-A5A6F3A1B672}"/>
              </a:ext>
            </a:extLst>
          </p:cNvPr>
          <p:cNvSpPr>
            <a:spLocks xmlns:a="http://schemas.openxmlformats.org/drawingml/2006/main" noGrp="1"/>
          </p:cNvSpPr>
          <p:nvPr/>
        </p:nvSpPr>
        <p:spPr>
          <a:xfrm xmlns:a="http://schemas.openxmlformats.org/drawingml/2006/main">
            <a:off x="7334250" y="26479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学習後の危険確率</a:t>
            </a:r>
          </a:p>
        </p:txBody>
      </p:sp>
      <p:sp>
        <p:nvSpPr>
          <p:cNvPr id="22" name="">
            <a:extLst xmlns:a="http://schemas.openxmlformats.org/drawingml/2006/main">
              <a:ext uri="{FF2B5EF4-FFF2-40B4-BE49-F238E27FC236}">
                <a16:creationId xmlns:a16="http://schemas.microsoft.com/office/drawing/2014/main" id="{13E2B9C9-3A11-4284-AD59-71E4E1FDAE82}"/>
              </a:ext>
            </a:extLst>
          </p:cNvPr>
          <p:cNvSpPr>
            <a:spLocks xmlns:a="http://schemas.openxmlformats.org/drawingml/2006/main" noGrp="1"/>
          </p:cNvSpPr>
          <p:nvPr/>
        </p:nvSpPr>
        <p:spPr>
          <a:xfrm xmlns:a="http://schemas.openxmlformats.org/drawingml/2006/main">
            <a:off x="9429750" y="17240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617078"/>
                </a:solidFill>
                <a:latin typeface="Yu Gothic"/>
                <a:ea typeface="Yu Gothic"/>
                <a:cs typeface="Yu Gothic"/>
              </a:defRPr>
            </a:pPr>
            <a:r>
              <a:rPr sz="1575" b="1">
                <a:solidFill>
                  <a:srgbClr val="617078"/>
                </a:solidFill>
                <a:latin typeface="Yu Gothic"/>
                <a:ea typeface="Yu Gothic"/>
                <a:cs typeface="Yu Gothic"/>
              </a:rPr>
              <a:t>Δμₖ,ᵣ</a:t>
            </a:r>
          </a:p>
        </p:txBody>
      </p:sp>
      <p:sp>
        <p:nvSpPr>
          <p:cNvPr id="23" name="">
            <a:extLst xmlns:a="http://schemas.openxmlformats.org/drawingml/2006/main">
              <a:ext uri="{FF2B5EF4-FFF2-40B4-BE49-F238E27FC236}">
                <a16:creationId xmlns:a16="http://schemas.microsoft.com/office/drawing/2014/main" id="{C1CF8A53-08B9-4257-BBA0-E598DA19F624}"/>
              </a:ext>
            </a:extLst>
          </p:cNvPr>
          <p:cNvSpPr>
            <a:spLocks xmlns:a="http://schemas.openxmlformats.org/drawingml/2006/main" noGrp="1"/>
          </p:cNvSpPr>
          <p:nvPr/>
        </p:nvSpPr>
        <p:spPr>
          <a:xfrm xmlns:a="http://schemas.openxmlformats.org/drawingml/2006/main">
            <a:off x="9429750" y="207645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E7833D"/>
                </a:solidFill>
                <a:latin typeface="Yu Gothic"/>
                <a:ea typeface="Yu Gothic"/>
                <a:cs typeface="Yu Gothic"/>
              </a:defRPr>
            </a:pPr>
            <a:r>
              <a:rPr sz="2850" b="1">
                <a:solidFill>
                  <a:srgbClr val="E7833D"/>
                </a:solidFill>
                <a:latin typeface="Yu Gothic"/>
                <a:ea typeface="Yu Gothic"/>
                <a:cs typeface="Yu Gothic"/>
              </a:rPr>
              <a:t>+0.238</a:t>
            </a:r>
          </a:p>
        </p:txBody>
      </p:sp>
      <p:sp>
        <p:nvSpPr>
          <p:cNvPr id="24" name="">
            <a:extLst xmlns:a="http://schemas.openxmlformats.org/drawingml/2006/main">
              <a:ext uri="{FF2B5EF4-FFF2-40B4-BE49-F238E27FC236}">
                <a16:creationId xmlns:a16="http://schemas.microsoft.com/office/drawing/2014/main" id="{6C2483FC-A8DA-4047-8BCE-72FB7B390EAF}"/>
              </a:ext>
            </a:extLst>
          </p:cNvPr>
          <p:cNvSpPr>
            <a:spLocks xmlns:a="http://schemas.openxmlformats.org/drawingml/2006/main" noGrp="1"/>
          </p:cNvSpPr>
          <p:nvPr/>
        </p:nvSpPr>
        <p:spPr>
          <a:xfrm xmlns:a="http://schemas.openxmlformats.org/drawingml/2006/main">
            <a:off x="9429750" y="26479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平均した変化量</a:t>
            </a:r>
          </a:p>
        </p:txBody>
      </p:sp>
      <p:sp>
        <p:nvSpPr>
          <p:cNvPr id="25" name="">
            <a:extLst xmlns:a="http://schemas.openxmlformats.org/drawingml/2006/main">
              <a:ext uri="{FF2B5EF4-FFF2-40B4-BE49-F238E27FC236}">
                <a16:creationId xmlns:a16="http://schemas.microsoft.com/office/drawing/2014/main" id="{0D274A25-38DC-4D52-9602-508B95B0EA7A}"/>
              </a:ext>
            </a:extLst>
          </p:cNvPr>
          <p:cNvSpPr>
            <a:spLocks xmlns:a="http://schemas.openxmlformats.org/drawingml/2006/main" noGrp="1"/>
          </p:cNvSpPr>
          <p:nvPr/>
        </p:nvSpPr>
        <p:spPr>
          <a:xfrm xmlns:a="http://schemas.openxmlformats.org/drawingml/2006/main">
            <a:off x="7334250" y="3086100"/>
            <a:ext cx="381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147B78"/>
                </a:solidFill>
                <a:latin typeface="Yu Gothic"/>
                <a:ea typeface="Yu Gothic"/>
                <a:cs typeface="Yu Gothic"/>
              </a:defRPr>
            </a:pPr>
            <a:r>
              <a:rPr sz="1650" b="1">
                <a:solidFill>
                  <a:srgbClr val="147B78"/>
                </a:solidFill>
                <a:latin typeface="Yu Gothic"/>
                <a:ea typeface="Yu Gothic"/>
                <a:cs typeface="Yu Gothic"/>
              </a:rPr>
              <a:t>πₖ,ᵣ = 3　まとめた動画の本数</a:t>
            </a:r>
          </a:p>
        </p:txBody>
      </p:sp>
      <p:sp>
        <p:nvSpPr>
          <p:cNvPr id="26" name="">
            <a:extLst xmlns:a="http://schemas.openxmlformats.org/drawingml/2006/main">
              <a:ext uri="{FF2B5EF4-FFF2-40B4-BE49-F238E27FC236}">
                <a16:creationId xmlns:a16="http://schemas.microsoft.com/office/drawing/2014/main" id="{B4280E54-B74F-4E52-B163-5CAD4AD747F8}"/>
              </a:ext>
            </a:extLst>
          </p:cNvPr>
          <p:cNvSpPr>
            <a:spLocks xmlns:a="http://schemas.openxmlformats.org/drawingml/2006/main" noGrp="1"/>
          </p:cNvSpPr>
          <p:nvPr/>
        </p:nvSpPr>
        <p:spPr>
          <a:xfrm xmlns:a="http://schemas.openxmlformats.org/drawingml/2006/main">
            <a:off x="7286625" y="3514725"/>
            <a:ext cx="390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17078"/>
                </a:solidFill>
                <a:latin typeface="Yu Gothic"/>
                <a:ea typeface="Yu Gothic"/>
                <a:cs typeface="Yu Gothic"/>
              </a:defRPr>
            </a:pPr>
            <a:r>
              <a:rPr sz="1125" b="0">
                <a:solidFill>
                  <a:srgbClr val="617078"/>
                </a:solidFill>
                <a:latin typeface="Yu Gothic"/>
                <a:ea typeface="Yu Gothic"/>
                <a:cs typeface="Yu Gothic"/>
              </a:rPr>
              <a:t>k：現場側AI　　r：通常・危険の動画群</a:t>
            </a:r>
          </a:p>
        </p:txBody>
      </p:sp>
      <p:sp>
        <p:nvSpPr>
          <p:cNvPr id="27" name="">
            <a:extLst xmlns:a="http://schemas.openxmlformats.org/drawingml/2006/main">
              <a:ext uri="{FF2B5EF4-FFF2-40B4-BE49-F238E27FC236}">
                <a16:creationId xmlns:a16="http://schemas.microsoft.com/office/drawing/2014/main" id="{E8A3073A-46BE-442B-8630-27AB16C80173}"/>
              </a:ext>
            </a:extLst>
          </p:cNvPr>
          <p:cNvSpPr>
            <a:spLocks xmlns:a="http://schemas.openxmlformats.org/drawingml/2006/main" noGrp="1"/>
          </p:cNvSpPr>
          <p:nvPr/>
        </p:nvSpPr>
        <p:spPr>
          <a:xfrm xmlns:a="http://schemas.openxmlformats.org/drawingml/2006/main">
            <a:off x="609600" y="3810000"/>
            <a:ext cx="10858500" cy="14288"/>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2CBAEBF-1F5B-461B-837A-9A493B32FD44}"/>
              </a:ext>
            </a:extLst>
          </p:cNvPr>
          <p:cNvSpPr>
            <a:spLocks xmlns:a="http://schemas.openxmlformats.org/drawingml/2006/main" noGrp="1"/>
          </p:cNvSpPr>
          <p:nvPr/>
        </p:nvSpPr>
        <p:spPr>
          <a:xfrm xmlns:a="http://schemas.openxmlformats.org/drawingml/2006/main">
            <a:off x="857250" y="41433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中央側へ送る</a:t>
            </a:r>
          </a:p>
        </p:txBody>
      </p:sp>
      <p:sp>
        <p:nvSpPr>
          <p:cNvPr id="29" name="">
            <a:extLst xmlns:a="http://schemas.openxmlformats.org/drawingml/2006/main">
              <a:ext uri="{FF2B5EF4-FFF2-40B4-BE49-F238E27FC236}">
                <a16:creationId xmlns:a16="http://schemas.microsoft.com/office/drawing/2014/main" id="{CE68EEAA-1E50-422D-B1FA-28225377E07B}"/>
              </a:ext>
            </a:extLst>
          </p:cNvPr>
          <p:cNvSpPr>
            <a:spLocks xmlns:a="http://schemas.openxmlformats.org/drawingml/2006/main" noGrp="1"/>
          </p:cNvSpPr>
          <p:nvPr/>
        </p:nvSpPr>
        <p:spPr>
          <a:xfrm xmlns:a="http://schemas.openxmlformats.org/drawingml/2006/main">
            <a:off x="876300" y="4619625"/>
            <a:ext cx="2857500" cy="45720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小型AIの更新情報</a:t>
            </a:r>
          </a:p>
        </p:txBody>
      </p:sp>
      <p:sp>
        <p:nvSpPr>
          <p:cNvPr id="30" name="">
            <a:extLst xmlns:a="http://schemas.openxmlformats.org/drawingml/2006/main">
              <a:ext uri="{FF2B5EF4-FFF2-40B4-BE49-F238E27FC236}">
                <a16:creationId xmlns:a16="http://schemas.microsoft.com/office/drawing/2014/main" id="{523E03D3-4742-4CE4-9065-816B34982879}"/>
              </a:ext>
            </a:extLst>
          </p:cNvPr>
          <p:cNvSpPr>
            <a:spLocks xmlns:a="http://schemas.openxmlformats.org/drawingml/2006/main" noGrp="1"/>
          </p:cNvSpPr>
          <p:nvPr/>
        </p:nvSpPr>
        <p:spPr>
          <a:xfrm xmlns:a="http://schemas.openxmlformats.org/drawingml/2006/main">
            <a:off x="4000500" y="4619625"/>
            <a:ext cx="4667250" cy="457200"/>
          </a:xfrm>
          <a:prstGeom xmlns:a="http://schemas.openxmlformats.org/drawingml/2006/main" prst="rect">
            <a:avLst/>
          </a:prstGeom>
          <a:solidFill xmlns:a="http://schemas.openxmlformats.org/drawingml/2006/main">
            <a:srgbClr val="DDF0E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Qₖ,ᵣ = ( μᵖᵒˢᵗₖ,ᵣ,  Δμₖ,ᵣ,  πₖ,ᵣ )</a:t>
            </a:r>
          </a:p>
        </p:txBody>
      </p:sp>
      <p:sp>
        <p:nvSpPr>
          <p:cNvPr id="31" name="">
            <a:extLst xmlns:a="http://schemas.openxmlformats.org/drawingml/2006/main">
              <a:ext uri="{FF2B5EF4-FFF2-40B4-BE49-F238E27FC236}">
                <a16:creationId xmlns:a16="http://schemas.microsoft.com/office/drawing/2014/main" id="{A1F34E6A-6437-4E91-94E0-A9E58638239D}"/>
              </a:ext>
            </a:extLst>
          </p:cNvPr>
          <p:cNvSpPr>
            <a:spLocks xmlns:a="http://schemas.openxmlformats.org/drawingml/2006/main" noGrp="1"/>
          </p:cNvSpPr>
          <p:nvPr/>
        </p:nvSpPr>
        <p:spPr>
          <a:xfrm xmlns:a="http://schemas.openxmlformats.org/drawingml/2006/main">
            <a:off x="8858250" y="41433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B94A3A"/>
                </a:solidFill>
                <a:latin typeface="Yu Gothic"/>
                <a:ea typeface="Yu Gothic"/>
                <a:cs typeface="Yu Gothic"/>
              </a:defRPr>
            </a:pPr>
            <a:r>
              <a:rPr sz="1650" b="1">
                <a:solidFill>
                  <a:srgbClr val="B94A3A"/>
                </a:solidFill>
                <a:latin typeface="Yu Gothic"/>
                <a:ea typeface="Yu Gothic"/>
                <a:cs typeface="Yu Gothic"/>
              </a:rPr>
              <a:t>中央側へ送らない</a:t>
            </a:r>
          </a:p>
        </p:txBody>
      </p:sp>
      <p:sp>
        <p:nvSpPr>
          <p:cNvPr id="32" name="">
            <a:extLst xmlns:a="http://schemas.openxmlformats.org/drawingml/2006/main">
              <a:ext uri="{FF2B5EF4-FFF2-40B4-BE49-F238E27FC236}">
                <a16:creationId xmlns:a16="http://schemas.microsoft.com/office/drawing/2014/main" id="{64B5378B-536E-4E19-BE04-D9A40497BA2F}"/>
              </a:ext>
            </a:extLst>
          </p:cNvPr>
          <p:cNvSpPr>
            <a:spLocks xmlns:a="http://schemas.openxmlformats.org/drawingml/2006/main" noGrp="1"/>
          </p:cNvSpPr>
          <p:nvPr/>
        </p:nvSpPr>
        <p:spPr>
          <a:xfrm xmlns:a="http://schemas.openxmlformats.org/drawingml/2006/main">
            <a:off x="8858250" y="4619625"/>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B94A3A"/>
                </a:solidFill>
                <a:latin typeface="Yu Gothic"/>
                <a:ea typeface="Yu Gothic"/>
                <a:cs typeface="Yu Gothic"/>
              </a:defRPr>
            </a:pPr>
            <a:r>
              <a:rPr sz="1500" b="1">
                <a:solidFill>
                  <a:srgbClr val="B94A3A"/>
                </a:solidFill>
                <a:latin typeface="Yu Gothic"/>
                <a:ea typeface="Yu Gothic"/>
                <a:cs typeface="Yu Gothic"/>
              </a:rPr>
              <a:t>元動画・画像・動画ごとの識別情報</a:t>
            </a:r>
          </a:p>
        </p:txBody>
      </p:sp>
      <p:sp>
        <p:nvSpPr>
          <p:cNvPr id="33" name="">
            <a:extLst xmlns:a="http://schemas.openxmlformats.org/drawingml/2006/main">
              <a:ext uri="{FF2B5EF4-FFF2-40B4-BE49-F238E27FC236}">
                <a16:creationId xmlns:a16="http://schemas.microsoft.com/office/drawing/2014/main" id="{EDC68E85-26A8-4384-BBE3-F837DB8E2C49}"/>
              </a:ext>
            </a:extLst>
          </p:cNvPr>
          <p:cNvSpPr>
            <a:spLocks xmlns:a="http://schemas.openxmlformats.org/drawingml/2006/main" noGrp="1"/>
          </p:cNvSpPr>
          <p:nvPr/>
        </p:nvSpPr>
        <p:spPr>
          <a:xfrm xmlns:a="http://schemas.openxmlformats.org/drawingml/2006/main">
            <a:off x="952500" y="559117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26373D"/>
                </a:solidFill>
                <a:latin typeface="Yu Gothic"/>
                <a:ea typeface="Yu Gothic"/>
                <a:cs typeface="Yu Gothic"/>
              </a:defRPr>
            </a:pPr>
            <a:r>
              <a:rPr sz="1650" b="1">
                <a:solidFill>
                  <a:srgbClr val="26373D"/>
                </a:solidFill>
                <a:latin typeface="Yu Gothic"/>
                <a:ea typeface="Yu Gothic"/>
                <a:cs typeface="Yu Gothic"/>
              </a:rPr>
              <a:t>小型AIの更新は連合平均へ、Qₖ,ᵣは代理データ生成へ。Qₖ,ᵣ自体は平均しない。</a:t>
            </a:r>
          </a:p>
        </p:txBody>
      </p:sp>
    </p:spTree>
    <p:extLst>
      <p:ext uri="{BB962C8B-B14F-4D97-AF65-F5344CB8AC3E}">
        <p14:creationId xmlns:p14="http://schemas.microsoft.com/office/powerpoint/2010/main" val="135208429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9495CBC3-8646-47EE-9596-BBDF2728171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48179BC-F6BC-4EF3-A002-7CB809F6C071}"/>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CD48667-D0FA-4DCE-9F03-BA0312E67BFE}"/>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中央側の動画から、代理データを選ぶ</a:t>
            </a:r>
          </a:p>
        </p:txBody>
      </p:sp>
      <p:sp>
        <p:nvSpPr>
          <p:cNvPr id="4" name="">
            <a:extLst xmlns:a="http://schemas.openxmlformats.org/drawingml/2006/main">
              <a:ext uri="{FF2B5EF4-FFF2-40B4-BE49-F238E27FC236}">
                <a16:creationId xmlns:a16="http://schemas.microsoft.com/office/drawing/2014/main" id="{3FE6A895-E023-470E-9826-42E8254A4416}"/>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04</a:t>
            </a:r>
          </a:p>
        </p:txBody>
      </p:sp>
      <p:sp>
        <p:nvSpPr>
          <p:cNvPr id="5" name="">
            <a:extLst xmlns:a="http://schemas.openxmlformats.org/drawingml/2006/main">
              <a:ext uri="{FF2B5EF4-FFF2-40B4-BE49-F238E27FC236}">
                <a16:creationId xmlns:a16="http://schemas.microsoft.com/office/drawing/2014/main" id="{F316D776-8978-4B67-8C18-A45AD974A84D}"/>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C90D1D5-734B-4E8A-AD5D-2D30EAF52AA9}"/>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D007BFD9-75D5-4666-A615-36BD24509AB7}"/>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4 / 9</a:t>
            </a:r>
          </a:p>
        </p:txBody>
      </p:sp>
      <p:sp>
        <p:nvSpPr>
          <p:cNvPr id="8" name="">
            <a:extLst xmlns:a="http://schemas.openxmlformats.org/drawingml/2006/main">
              <a:ext uri="{FF2B5EF4-FFF2-40B4-BE49-F238E27FC236}">
                <a16:creationId xmlns:a16="http://schemas.microsoft.com/office/drawing/2014/main" id="{27C5F666-2B0B-4872-96E9-4A185857F086}"/>
              </a:ext>
            </a:extLst>
          </p:cNvPr>
          <p:cNvSpPr>
            <a:spLocks xmlns:a="http://schemas.openxmlformats.org/drawingml/2006/main" noGrp="1"/>
          </p:cNvSpPr>
          <p:nvPr/>
        </p:nvSpPr>
        <p:spPr>
          <a:xfrm xmlns:a="http://schemas.openxmlformats.org/drawingml/2006/main">
            <a:off x="609600" y="10668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17078"/>
                </a:solidFill>
                <a:latin typeface="Yu Gothic"/>
                <a:ea typeface="Yu Gothic"/>
                <a:cs typeface="Yu Gothic"/>
              </a:defRPr>
            </a:pPr>
            <a:r>
              <a:rPr sz="1425" b="1">
                <a:solidFill>
                  <a:srgbClr val="617078"/>
                </a:solidFill>
                <a:latin typeface="Yu Gothic"/>
                <a:ea typeface="Yu Gothic"/>
                <a:cs typeface="Yu Gothic"/>
              </a:rPr>
              <a:t>入力</a:t>
            </a:r>
          </a:p>
        </p:txBody>
      </p:sp>
      <p:sp>
        <p:nvSpPr>
          <p:cNvPr id="9" name="">
            <a:extLst xmlns:a="http://schemas.openxmlformats.org/drawingml/2006/main">
              <a:ext uri="{FF2B5EF4-FFF2-40B4-BE49-F238E27FC236}">
                <a16:creationId xmlns:a16="http://schemas.microsoft.com/office/drawing/2014/main" id="{F5F3C379-825B-4581-A26F-C42D66804268}"/>
              </a:ext>
            </a:extLst>
          </p:cNvPr>
          <p:cNvSpPr>
            <a:spLocks xmlns:a="http://schemas.openxmlformats.org/drawingml/2006/main" noGrp="1"/>
          </p:cNvSpPr>
          <p:nvPr/>
        </p:nvSpPr>
        <p:spPr>
          <a:xfrm xmlns:a="http://schemas.openxmlformats.org/drawingml/2006/main">
            <a:off x="628650" y="1457325"/>
            <a:ext cx="1714500" cy="514350"/>
          </a:xfrm>
          <a:prstGeom xmlns:a="http://schemas.openxmlformats.org/drawingml/2006/main" prst="rect">
            <a:avLst/>
          </a:prstGeom>
          <a:solidFill xmlns:a="http://schemas.openxmlformats.org/drawingml/2006/main">
            <a:srgbClr val="DDF0E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025" b="1">
                <a:solidFill>
                  <a:srgbClr val="173B4B"/>
                </a:solidFill>
                <a:latin typeface="Yu Gothic"/>
                <a:ea typeface="Yu Gothic"/>
                <a:cs typeface="Yu Gothic"/>
              </a:defRPr>
            </a:pPr>
            <a:r>
              <a:rPr sz="2025" b="1">
                <a:solidFill>
                  <a:srgbClr val="173B4B"/>
                </a:solidFill>
                <a:latin typeface="Yu Gothic"/>
                <a:ea typeface="Yu Gothic"/>
                <a:cs typeface="Yu Gothic"/>
              </a:rPr>
              <a:t>Qₖ,ᵣ</a:t>
            </a:r>
          </a:p>
        </p:txBody>
      </p:sp>
      <p:sp>
        <p:nvSpPr>
          <p:cNvPr id="10" name="">
            <a:extLst xmlns:a="http://schemas.openxmlformats.org/drawingml/2006/main">
              <a:ext uri="{FF2B5EF4-FFF2-40B4-BE49-F238E27FC236}">
                <a16:creationId xmlns:a16="http://schemas.microsoft.com/office/drawing/2014/main" id="{9B599528-687A-4721-825C-0A1C77B1F706}"/>
              </a:ext>
            </a:extLst>
          </p:cNvPr>
          <p:cNvSpPr>
            <a:spLocks xmlns:a="http://schemas.openxmlformats.org/drawingml/2006/main" noGrp="1"/>
          </p:cNvSpPr>
          <p:nvPr/>
        </p:nvSpPr>
        <p:spPr>
          <a:xfrm xmlns:a="http://schemas.openxmlformats.org/drawingml/2006/main">
            <a:off x="628650" y="2095500"/>
            <a:ext cx="1714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a:solidFill>
                  <a:srgbClr val="26373D"/>
                </a:solidFill>
                <a:latin typeface="Yu Gothic"/>
                <a:ea typeface="Yu Gothic"/>
                <a:cs typeface="Yu Gothic"/>
              </a:defRPr>
            </a:pPr>
            <a:r>
              <a:rPr sz="1500" b="0">
                <a:solidFill>
                  <a:srgbClr val="26373D"/>
                </a:solidFill>
                <a:latin typeface="Yu Gothic"/>
                <a:ea typeface="Yu Gothic"/>
                <a:cs typeface="Yu Gothic"/>
              </a:rPr>
              <a:t>危険 0.724</a:t>
            </a:r>
          </a:p>
          <a:p xmlns:a="http://schemas.openxmlformats.org/drawingml/2006/main">
            <a:pPr algn="ctr">
              <a:defRPr sz="1500" b="0">
                <a:solidFill>
                  <a:srgbClr val="26373D"/>
                </a:solidFill>
                <a:latin typeface="Yu Gothic"/>
                <a:ea typeface="Yu Gothic"/>
                <a:cs typeface="Yu Gothic"/>
              </a:defRPr>
            </a:pPr>
            <a:r>
              <a:rPr sz="1500" b="0">
                <a:solidFill>
                  <a:srgbClr val="26373D"/>
                </a:solidFill>
                <a:latin typeface="Yu Gothic"/>
                <a:ea typeface="Yu Gothic"/>
                <a:cs typeface="Yu Gothic"/>
              </a:rPr>
              <a:t>変化 +0.238</a:t>
            </a:r>
          </a:p>
        </p:txBody>
      </p:sp>
      <p:sp>
        <p:nvSpPr>
          <p:cNvPr id="11" name="">
            <a:extLst xmlns:a="http://schemas.openxmlformats.org/drawingml/2006/main">
              <a:ext uri="{FF2B5EF4-FFF2-40B4-BE49-F238E27FC236}">
                <a16:creationId xmlns:a16="http://schemas.microsoft.com/office/drawing/2014/main" id="{C7638DB0-2E72-4CB4-B12C-CD79F5233C6E}"/>
              </a:ext>
            </a:extLst>
          </p:cNvPr>
          <p:cNvSpPr>
            <a:spLocks xmlns:a="http://schemas.openxmlformats.org/drawingml/2006/main" noGrp="1"/>
          </p:cNvSpPr>
          <p:nvPr/>
        </p:nvSpPr>
        <p:spPr>
          <a:xfrm xmlns:a="http://schemas.openxmlformats.org/drawingml/2006/main">
            <a:off x="2562225" y="1724025"/>
            <a:ext cx="495300" cy="2857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0FCB6F6-D00E-4274-BA77-51DB9425115D}"/>
              </a:ext>
            </a:extLst>
          </p:cNvPr>
          <p:cNvSpPr>
            <a:spLocks xmlns:a="http://schemas.openxmlformats.org/drawingml/2006/main" noGrp="1"/>
          </p:cNvSpPr>
          <p:nvPr/>
        </p:nvSpPr>
        <p:spPr>
          <a:xfrm xmlns:a="http://schemas.openxmlformats.org/drawingml/2006/main">
            <a:off x="3219450" y="1171575"/>
            <a:ext cx="247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73B4B"/>
                </a:solidFill>
                <a:latin typeface="Yu Gothic"/>
                <a:ea typeface="Yu Gothic"/>
                <a:cs typeface="Yu Gothic"/>
              </a:defRPr>
            </a:pPr>
            <a:r>
              <a:rPr sz="1725" b="1">
                <a:solidFill>
                  <a:srgbClr val="173B4B"/>
                </a:solidFill>
                <a:latin typeface="Yu Gothic"/>
                <a:ea typeface="Yu Gothic"/>
                <a:cs typeface="Yu Gothic"/>
              </a:rPr>
              <a:t>中央側の候補動画 60本</a:t>
            </a:r>
          </a:p>
        </p:txBody>
      </p:sp>
      <p:sp>
        <p:nvSpPr>
          <p:cNvPr id="13" name="">
            <a:extLst xmlns:a="http://schemas.openxmlformats.org/drawingml/2006/main">
              <a:ext uri="{FF2B5EF4-FFF2-40B4-BE49-F238E27FC236}">
                <a16:creationId xmlns:a16="http://schemas.microsoft.com/office/drawing/2014/main" id="{FCC3884B-822A-4B1D-8377-3200019E1687}"/>
              </a:ext>
            </a:extLst>
          </p:cNvPr>
          <p:cNvSpPr>
            <a:spLocks xmlns:a="http://schemas.openxmlformats.org/drawingml/2006/main" noGrp="1"/>
          </p:cNvSpPr>
          <p:nvPr/>
        </p:nvSpPr>
        <p:spPr>
          <a:xfrm xmlns:a="http://schemas.openxmlformats.org/drawingml/2006/main">
            <a:off x="3219450" y="15430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通常30本　危険30本</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c5b6d6464c9b4699"/>
          <a:srcRect xmlns:a="http://schemas.openxmlformats.org/drawingml/2006/main" l="68" t="0" r="68" b="0"/>
          <a:stretch xmlns:a="http://schemas.openxmlformats.org/drawingml/2006/main">
            <a:fillRect l="0" t="0" r="0" b="0"/>
          </a:stretch>
        </p:blipFill>
        <p:spPr>
          <a:xfrm xmlns:a="http://schemas.openxmlformats.org/drawingml/2006/main">
            <a:off x="3295650" y="1981200"/>
            <a:ext cx="2333625" cy="13144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E273D9A4-442C-4B53-9316-852859932368}"/>
              </a:ext>
            </a:extLst>
          </p:cNvPr>
          <p:cNvSpPr>
            <a:spLocks xmlns:a="http://schemas.openxmlformats.org/drawingml/2006/main" noGrp="1"/>
          </p:cNvSpPr>
          <p:nvPr/>
        </p:nvSpPr>
        <p:spPr>
          <a:xfrm xmlns:a="http://schemas.openxmlformats.org/drawingml/2006/main">
            <a:off x="3295650" y="338137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E7833D"/>
                </a:solidFill>
                <a:latin typeface="Yu Gothic"/>
                <a:ea typeface="Yu Gothic"/>
                <a:cs typeface="Yu Gothic"/>
              </a:defRPr>
            </a:pPr>
            <a:r>
              <a:rPr sz="1125" b="1">
                <a:solidFill>
                  <a:srgbClr val="E7833D"/>
                </a:solidFill>
                <a:latin typeface="Yu Gothic"/>
                <a:ea typeface="Yu Gothic"/>
                <a:cs typeface="Yu Gothic"/>
              </a:rPr>
              <a:t>検索1位：正解ラベルは通常</a:t>
            </a:r>
          </a:p>
        </p:txBody>
      </p:sp>
      <p:sp>
        <p:nvSpPr>
          <p:cNvPr id="16" name="">
            <a:extLst xmlns:a="http://schemas.openxmlformats.org/drawingml/2006/main">
              <a:ext uri="{FF2B5EF4-FFF2-40B4-BE49-F238E27FC236}">
                <a16:creationId xmlns:a16="http://schemas.microsoft.com/office/drawing/2014/main" id="{E4C8A53E-B5B4-4CFB-8DCB-9B7D8A7276E6}"/>
              </a:ext>
            </a:extLst>
          </p:cNvPr>
          <p:cNvSpPr>
            <a:spLocks xmlns:a="http://schemas.openxmlformats.org/drawingml/2006/main" noGrp="1"/>
          </p:cNvSpPr>
          <p:nvPr/>
        </p:nvSpPr>
        <p:spPr>
          <a:xfrm xmlns:a="http://schemas.openxmlformats.org/drawingml/2006/main">
            <a:off x="5848350" y="1724025"/>
            <a:ext cx="495300" cy="2857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7FB9441-5659-4A9F-BE44-2822432E582B}"/>
              </a:ext>
            </a:extLst>
          </p:cNvPr>
          <p:cNvSpPr>
            <a:spLocks xmlns:a="http://schemas.openxmlformats.org/drawingml/2006/main" noGrp="1"/>
          </p:cNvSpPr>
          <p:nvPr/>
        </p:nvSpPr>
        <p:spPr>
          <a:xfrm xmlns:a="http://schemas.openxmlformats.org/drawingml/2006/main">
            <a:off x="6515100" y="1171575"/>
            <a:ext cx="4810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73B4B"/>
                </a:solidFill>
                <a:latin typeface="Yu Gothic"/>
                <a:ea typeface="Yu Gothic"/>
                <a:cs typeface="Yu Gothic"/>
              </a:defRPr>
            </a:pPr>
            <a:r>
              <a:rPr sz="1725" b="1">
                <a:solidFill>
                  <a:srgbClr val="173B4B"/>
                </a:solidFill>
                <a:latin typeface="Yu Gothic"/>
                <a:ea typeface="Yu Gothic"/>
                <a:cs typeface="Yu Gothic"/>
              </a:rPr>
              <a:t>上位3本を5通りに変換</a:t>
            </a:r>
          </a:p>
        </p:txBody>
      </p:sp>
      <p:sp>
        <p:nvSpPr>
          <p:cNvPr id="18" name="">
            <a:extLst xmlns:a="http://schemas.openxmlformats.org/drawingml/2006/main">
              <a:ext uri="{FF2B5EF4-FFF2-40B4-BE49-F238E27FC236}">
                <a16:creationId xmlns:a16="http://schemas.microsoft.com/office/drawing/2014/main" id="{A4A57957-C752-412A-AE48-23DCA9374A80}"/>
              </a:ext>
            </a:extLst>
          </p:cNvPr>
          <p:cNvSpPr>
            <a:spLocks xmlns:a="http://schemas.openxmlformats.org/drawingml/2006/main" noGrp="1"/>
          </p:cNvSpPr>
          <p:nvPr/>
        </p:nvSpPr>
        <p:spPr>
          <a:xfrm xmlns:a="http://schemas.openxmlformats.org/drawingml/2006/main">
            <a:off x="6515100" y="1543050"/>
            <a:ext cx="481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1つのQにつき15候補　4つのQで合計60候補</a:t>
            </a:r>
          </a:p>
        </p:txBody>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77e9b5e9b1244abb"/>
          <a:srcRect xmlns:a="http://schemas.openxmlformats.org/drawingml/2006/main" l="10156" t="0" r="10156" b="0"/>
          <a:stretch xmlns:a="http://schemas.openxmlformats.org/drawingml/2006/main">
            <a:fillRect l="0" t="0" r="0" b="0"/>
          </a:stretch>
        </p:blipFill>
        <p:spPr>
          <a:xfrm xmlns:a="http://schemas.openxmlformats.org/drawingml/2006/main">
            <a:off x="6353175" y="1981200"/>
            <a:ext cx="971550" cy="6858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32792F85-33CA-4F28-82B7-F40F4F84C2F6}"/>
              </a:ext>
            </a:extLst>
          </p:cNvPr>
          <p:cNvSpPr>
            <a:spLocks xmlns:a="http://schemas.openxmlformats.org/drawingml/2006/main" noGrp="1"/>
          </p:cNvSpPr>
          <p:nvPr/>
        </p:nvSpPr>
        <p:spPr>
          <a:xfrm xmlns:a="http://schemas.openxmlformats.org/drawingml/2006/main">
            <a:off x="6324600" y="1952625"/>
            <a:ext cx="1028700" cy="742950"/>
          </a:xfrm>
          <a:prstGeom xmlns:a="http://schemas.openxmlformats.org/drawingml/2006/main" prst="rect">
            <a:avLst/>
          </a:prstGeom>
          <a:noFill xmlns:a="http://schemas.openxmlformats.org/drawingml/2006/main"/>
          <a:ln xmlns:a="http://schemas.openxmlformats.org/drawingml/2006/main" w="28575">
            <a:solidFill>
              <a:srgbClr val="E7833D"/>
            </a:solidFill>
          </a:ln>
        </p:spPr>
      </p:sp>
      <p:sp>
        <p:nvSpPr>
          <p:cNvPr id="21" name="">
            <a:extLst xmlns:a="http://schemas.openxmlformats.org/drawingml/2006/main">
              <a:ext uri="{FF2B5EF4-FFF2-40B4-BE49-F238E27FC236}">
                <a16:creationId xmlns:a16="http://schemas.microsoft.com/office/drawing/2014/main" id="{80BCB2D5-9F84-4000-AEAD-F231E7EECB82}"/>
              </a:ext>
            </a:extLst>
          </p:cNvPr>
          <p:cNvSpPr>
            <a:spLocks xmlns:a="http://schemas.openxmlformats.org/drawingml/2006/main" noGrp="1"/>
          </p:cNvSpPr>
          <p:nvPr/>
        </p:nvSpPr>
        <p:spPr>
          <a:xfrm xmlns:a="http://schemas.openxmlformats.org/drawingml/2006/main">
            <a:off x="6315075"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E7833D"/>
                </a:solidFill>
                <a:latin typeface="Yu Gothic"/>
                <a:ea typeface="Yu Gothic"/>
                <a:cs typeface="Yu Gothic"/>
              </a:defRPr>
            </a:pPr>
            <a:r>
              <a:rPr sz="1050" b="1">
                <a:solidFill>
                  <a:srgbClr val="E7833D"/>
                </a:solidFill>
                <a:latin typeface="Yu Gothic"/>
                <a:ea typeface="Yu Gothic"/>
                <a:cs typeface="Yu Gothic"/>
              </a:rPr>
              <a:t>変更なし</a:t>
            </a:r>
          </a:p>
        </p:txBody>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38e4d4e0cdc440ab"/>
          <a:srcRect xmlns:a="http://schemas.openxmlformats.org/drawingml/2006/main" l="10156" t="0" r="10156" b="0"/>
          <a:stretch xmlns:a="http://schemas.openxmlformats.org/drawingml/2006/main">
            <a:fillRect l="0" t="0" r="0" b="0"/>
          </a:stretch>
        </p:blipFill>
        <p:spPr>
          <a:xfrm xmlns:a="http://schemas.openxmlformats.org/drawingml/2006/main">
            <a:off x="7410450" y="1981200"/>
            <a:ext cx="971550" cy="68580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6D8D0154-6E85-4B45-A22E-3F4F2C29134F}"/>
              </a:ext>
            </a:extLst>
          </p:cNvPr>
          <p:cNvSpPr>
            <a:spLocks xmlns:a="http://schemas.openxmlformats.org/drawingml/2006/main" noGrp="1"/>
          </p:cNvSpPr>
          <p:nvPr/>
        </p:nvSpPr>
        <p:spPr>
          <a:xfrm xmlns:a="http://schemas.openxmlformats.org/drawingml/2006/main">
            <a:off x="7372350"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暗くする</a:t>
            </a:r>
          </a:p>
        </p:txBody>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6f6f2758d4c44c45"/>
          <a:srcRect xmlns:a="http://schemas.openxmlformats.org/drawingml/2006/main" l="10156" t="0" r="10156" b="0"/>
          <a:stretch xmlns:a="http://schemas.openxmlformats.org/drawingml/2006/main">
            <a:fillRect l="0" t="0" r="0" b="0"/>
          </a:stretch>
        </p:blipFill>
        <p:spPr>
          <a:xfrm xmlns:a="http://schemas.openxmlformats.org/drawingml/2006/main">
            <a:off x="8467725" y="1981200"/>
            <a:ext cx="971550" cy="6858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67F16789-8526-496C-AB12-2D4695A434C4}"/>
              </a:ext>
            </a:extLst>
          </p:cNvPr>
          <p:cNvSpPr>
            <a:spLocks xmlns:a="http://schemas.openxmlformats.org/drawingml/2006/main" noGrp="1"/>
          </p:cNvSpPr>
          <p:nvPr/>
        </p:nvSpPr>
        <p:spPr>
          <a:xfrm xmlns:a="http://schemas.openxmlformats.org/drawingml/2006/main">
            <a:off x="8429625"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明るくする</a:t>
            </a:r>
          </a:p>
        </p:txBody>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be6a74accc044ee6"/>
          <a:srcRect xmlns:a="http://schemas.openxmlformats.org/drawingml/2006/main" l="10156" t="0" r="10156" b="0"/>
          <a:stretch xmlns:a="http://schemas.openxmlformats.org/drawingml/2006/main">
            <a:fillRect l="0" t="0" r="0" b="0"/>
          </a:stretch>
        </p:blipFill>
        <p:spPr>
          <a:xfrm xmlns:a="http://schemas.openxmlformats.org/drawingml/2006/main">
            <a:off x="9525000" y="1981200"/>
            <a:ext cx="971550" cy="68580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2EF1650D-1F3B-4B05-86EC-D59232150DEF}"/>
              </a:ext>
            </a:extLst>
          </p:cNvPr>
          <p:cNvSpPr>
            <a:spLocks xmlns:a="http://schemas.openxmlformats.org/drawingml/2006/main" noGrp="1"/>
          </p:cNvSpPr>
          <p:nvPr/>
        </p:nvSpPr>
        <p:spPr>
          <a:xfrm xmlns:a="http://schemas.openxmlformats.org/drawingml/2006/main">
            <a:off x="9486900"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コントラスト</a:t>
            </a:r>
          </a:p>
        </p:txBody>
      </p:sp>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45e3168536fb497d"/>
          <a:srcRect xmlns:a="http://schemas.openxmlformats.org/drawingml/2006/main" l="10156" t="0" r="10156" b="0"/>
          <a:stretch xmlns:a="http://schemas.openxmlformats.org/drawingml/2006/main">
            <a:fillRect l="0" t="0" r="0" b="0"/>
          </a:stretch>
        </p:blipFill>
        <p:spPr>
          <a:xfrm xmlns:a="http://schemas.openxmlformats.org/drawingml/2006/main">
            <a:off x="10582275" y="1981200"/>
            <a:ext cx="971550" cy="68580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5A994187-93F6-4700-AE31-5B05ED771049}"/>
              </a:ext>
            </a:extLst>
          </p:cNvPr>
          <p:cNvSpPr>
            <a:spLocks xmlns:a="http://schemas.openxmlformats.org/drawingml/2006/main" noGrp="1"/>
          </p:cNvSpPr>
          <p:nvPr/>
        </p:nvSpPr>
        <p:spPr>
          <a:xfrm xmlns:a="http://schemas.openxmlformats.org/drawingml/2006/main">
            <a:off x="10544175"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中央を切り出す</a:t>
            </a:r>
          </a:p>
        </p:txBody>
      </p:sp>
      <p:sp>
        <p:nvSpPr>
          <p:cNvPr id="30" name="">
            <a:extLst xmlns:a="http://schemas.openxmlformats.org/drawingml/2006/main">
              <a:ext uri="{FF2B5EF4-FFF2-40B4-BE49-F238E27FC236}">
                <a16:creationId xmlns:a16="http://schemas.microsoft.com/office/drawing/2014/main" id="{141CA7C7-8F54-436C-88EC-2790E7FA3D6F}"/>
              </a:ext>
            </a:extLst>
          </p:cNvPr>
          <p:cNvSpPr>
            <a:spLocks xmlns:a="http://schemas.openxmlformats.org/drawingml/2006/main" noGrp="1"/>
          </p:cNvSpPr>
          <p:nvPr/>
        </p:nvSpPr>
        <p:spPr>
          <a:xfrm xmlns:a="http://schemas.openxmlformats.org/drawingml/2006/main">
            <a:off x="609600" y="3838575"/>
            <a:ext cx="10858500" cy="14288"/>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6349729A-3DE9-498C-8358-9907193FFEC3}"/>
              </a:ext>
            </a:extLst>
          </p:cNvPr>
          <p:cNvSpPr>
            <a:spLocks xmlns:a="http://schemas.openxmlformats.org/drawingml/2006/main" noGrp="1"/>
          </p:cNvSpPr>
          <p:nvPr/>
        </p:nvSpPr>
        <p:spPr>
          <a:xfrm xmlns:a="http://schemas.openxmlformats.org/drawingml/2006/main">
            <a:off x="666750" y="40957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47B78"/>
                </a:solidFill>
                <a:latin typeface="Yu Gothic"/>
                <a:ea typeface="Yu Gothic"/>
                <a:cs typeface="Yu Gothic"/>
              </a:defRPr>
            </a:pPr>
            <a:r>
              <a:rPr sz="1575" b="1">
                <a:solidFill>
                  <a:srgbClr val="147B78"/>
                </a:solidFill>
                <a:latin typeface="Yu Gothic"/>
                <a:ea typeface="Yu Gothic"/>
                <a:cs typeface="Yu Gothic"/>
              </a:rPr>
              <a:t>選択基準</a:t>
            </a:r>
          </a:p>
        </p:txBody>
      </p:sp>
      <p:sp>
        <p:nvSpPr>
          <p:cNvPr id="32" name="">
            <a:extLst xmlns:a="http://schemas.openxmlformats.org/drawingml/2006/main">
              <a:ext uri="{FF2B5EF4-FFF2-40B4-BE49-F238E27FC236}">
                <a16:creationId xmlns:a16="http://schemas.microsoft.com/office/drawing/2014/main" id="{CDFAD562-7BFF-4D50-85C9-85124BD78628}"/>
              </a:ext>
            </a:extLst>
          </p:cNvPr>
          <p:cNvSpPr>
            <a:spLocks xmlns:a="http://schemas.openxmlformats.org/drawingml/2006/main" noGrp="1"/>
          </p:cNvSpPr>
          <p:nvPr/>
        </p:nvSpPr>
        <p:spPr>
          <a:xfrm xmlns:a="http://schemas.openxmlformats.org/drawingml/2006/main">
            <a:off x="762000" y="4552950"/>
            <a:ext cx="3333750" cy="45720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① 学習後の判定が 0.724 に近い</a:t>
            </a:r>
          </a:p>
        </p:txBody>
      </p:sp>
      <p:sp>
        <p:nvSpPr>
          <p:cNvPr id="33" name="">
            <a:extLst xmlns:a="http://schemas.openxmlformats.org/drawingml/2006/main">
              <a:ext uri="{FF2B5EF4-FFF2-40B4-BE49-F238E27FC236}">
                <a16:creationId xmlns:a16="http://schemas.microsoft.com/office/drawing/2014/main" id="{4A858B64-505B-44F9-95DF-6D5B87660EC1}"/>
              </a:ext>
            </a:extLst>
          </p:cNvPr>
          <p:cNvSpPr>
            <a:spLocks xmlns:a="http://schemas.openxmlformats.org/drawingml/2006/main" noGrp="1"/>
          </p:cNvSpPr>
          <p:nvPr/>
        </p:nvSpPr>
        <p:spPr>
          <a:xfrm xmlns:a="http://schemas.openxmlformats.org/drawingml/2006/main">
            <a:off x="4400550" y="4552950"/>
            <a:ext cx="4000500" cy="457200"/>
          </a:xfrm>
          <a:prstGeom xmlns:a="http://schemas.openxmlformats.org/drawingml/2006/main" prst="rect">
            <a:avLst/>
          </a:prstGeom>
          <a:solidFill xmlns:a="http://schemas.openxmlformats.org/drawingml/2006/main">
            <a:srgbClr val="FAE9D8"/>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② 連合平均前後の変化が +0.238 に近い</a:t>
            </a:r>
          </a:p>
        </p:txBody>
      </p:sp>
      <p:sp>
        <p:nvSpPr>
          <p:cNvPr id="34" name="">
            <a:extLst xmlns:a="http://schemas.openxmlformats.org/drawingml/2006/main">
              <a:ext uri="{FF2B5EF4-FFF2-40B4-BE49-F238E27FC236}">
                <a16:creationId xmlns:a16="http://schemas.microsoft.com/office/drawing/2014/main" id="{7B9500FB-397A-4706-99A5-45F8AA4F461C}"/>
              </a:ext>
            </a:extLst>
          </p:cNvPr>
          <p:cNvSpPr>
            <a:spLocks xmlns:a="http://schemas.openxmlformats.org/drawingml/2006/main" noGrp="1"/>
          </p:cNvSpPr>
          <p:nvPr/>
        </p:nvSpPr>
        <p:spPr>
          <a:xfrm xmlns:a="http://schemas.openxmlformats.org/drawingml/2006/main">
            <a:off x="8591550" y="4772025"/>
            <a:ext cx="428625" cy="2857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A26E090D-C048-446F-BF7A-D30E5E902742}"/>
              </a:ext>
            </a:extLst>
          </p:cNvPr>
          <p:cNvSpPr>
            <a:spLocks xmlns:a="http://schemas.openxmlformats.org/drawingml/2006/main" noGrp="1"/>
          </p:cNvSpPr>
          <p:nvPr/>
        </p:nvSpPr>
        <p:spPr>
          <a:xfrm xmlns:a="http://schemas.openxmlformats.org/drawingml/2006/main">
            <a:off x="9201150" y="4343400"/>
            <a:ext cx="2266950" cy="876300"/>
          </a:xfrm>
          <a:prstGeom xmlns:a="http://schemas.openxmlformats.org/drawingml/2006/main" prst="rect">
            <a:avLst/>
          </a:prstGeom>
          <a:solidFill xmlns:a="http://schemas.openxmlformats.org/drawingml/2006/main">
            <a:srgbClr val="DDF0E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Pₖ,ᵣ = ( x̃ₖ,ᵣ,</a:t>
            </a:r>
          </a:p>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μᵖᵒˢᵗₖ,ᵣ )</a:t>
            </a:r>
          </a:p>
        </p:txBody>
      </p:sp>
      <p:sp>
        <p:nvSpPr>
          <p:cNvPr id="36" name="">
            <a:extLst xmlns:a="http://schemas.openxmlformats.org/drawingml/2006/main">
              <a:ext uri="{FF2B5EF4-FFF2-40B4-BE49-F238E27FC236}">
                <a16:creationId xmlns:a16="http://schemas.microsoft.com/office/drawing/2014/main" id="{CD4A3250-6DA6-4616-A82D-774667B33635}"/>
              </a:ext>
            </a:extLst>
          </p:cNvPr>
          <p:cNvSpPr>
            <a:spLocks xmlns:a="http://schemas.openxmlformats.org/drawingml/2006/main" noGrp="1"/>
          </p:cNvSpPr>
          <p:nvPr/>
        </p:nvSpPr>
        <p:spPr>
          <a:xfrm xmlns:a="http://schemas.openxmlformats.org/drawingml/2006/main">
            <a:off x="9201150" y="5286375"/>
            <a:ext cx="2266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17078"/>
                </a:solidFill>
                <a:latin typeface="Yu Gothic"/>
                <a:ea typeface="Yu Gothic"/>
                <a:cs typeface="Yu Gothic"/>
              </a:defRPr>
            </a:pPr>
            <a:r>
              <a:rPr sz="1125" b="0">
                <a:solidFill>
                  <a:srgbClr val="617078"/>
                </a:solidFill>
                <a:latin typeface="Yu Gothic"/>
                <a:ea typeface="Yu Gothic"/>
                <a:cs typeface="Yu Gothic"/>
              </a:rPr>
              <a:t>x̃ₖ,ᵣ：選ばれた変換後動画</a:t>
            </a:r>
          </a:p>
        </p:txBody>
      </p:sp>
      <p:sp>
        <p:nvSpPr>
          <p:cNvPr id="37" name="">
            <a:extLst xmlns:a="http://schemas.openxmlformats.org/drawingml/2006/main">
              <a:ext uri="{FF2B5EF4-FFF2-40B4-BE49-F238E27FC236}">
                <a16:creationId xmlns:a16="http://schemas.microsoft.com/office/drawing/2014/main" id="{276C2729-B6A2-4CBE-9AD0-47C116B1D742}"/>
              </a:ext>
            </a:extLst>
          </p:cNvPr>
          <p:cNvSpPr>
            <a:spLocks xmlns:a="http://schemas.openxmlformats.org/drawingml/2006/main" noGrp="1"/>
          </p:cNvSpPr>
          <p:nvPr/>
        </p:nvSpPr>
        <p:spPr>
          <a:xfrm xmlns:a="http://schemas.openxmlformats.org/drawingml/2006/main">
            <a:off x="1047750" y="571500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変化量は候補選択に使い、πₖ,ᵣは学習時の重みに使う。教師値は学習後の判定 0.724</a:t>
            </a:r>
          </a:p>
        </p:txBody>
      </p:sp>
      <p:sp>
        <p:nvSpPr>
          <p:cNvPr id="38" name="">
            <a:extLst xmlns:a="http://schemas.openxmlformats.org/drawingml/2006/main">
              <a:ext uri="{FF2B5EF4-FFF2-40B4-BE49-F238E27FC236}">
                <a16:creationId xmlns:a16="http://schemas.microsoft.com/office/drawing/2014/main" id="{9CD4B6FF-3AA8-432F-92A8-3578BB9C64B1}"/>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Tree>
    <p:extLst>
      <p:ext uri="{BB962C8B-B14F-4D97-AF65-F5344CB8AC3E}">
        <p14:creationId xmlns:p14="http://schemas.microsoft.com/office/powerpoint/2010/main" val="181468526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F79D2B1-6F6F-4A8A-B199-82BA4236A5F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AD137B-D426-49FE-825C-91669C0BEAE8}"/>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F143853-C9C8-4E65-B974-C211AAAA1434}"/>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今回の実験設定</a:t>
            </a:r>
          </a:p>
        </p:txBody>
      </p:sp>
      <p:sp>
        <p:nvSpPr>
          <p:cNvPr id="4" name="">
            <a:extLst xmlns:a="http://schemas.openxmlformats.org/drawingml/2006/main">
              <a:ext uri="{FF2B5EF4-FFF2-40B4-BE49-F238E27FC236}">
                <a16:creationId xmlns:a16="http://schemas.microsoft.com/office/drawing/2014/main" id="{CE67E50B-C0D8-4D33-970B-CB64A91D5D99}"/>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05</a:t>
            </a:r>
          </a:p>
        </p:txBody>
      </p:sp>
      <p:sp>
        <p:nvSpPr>
          <p:cNvPr id="5" name="">
            <a:extLst xmlns:a="http://schemas.openxmlformats.org/drawingml/2006/main">
              <a:ext uri="{FF2B5EF4-FFF2-40B4-BE49-F238E27FC236}">
                <a16:creationId xmlns:a16="http://schemas.microsoft.com/office/drawing/2014/main" id="{795EE6EA-6695-4F8D-A09D-9CE49A309890}"/>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A8309D7-695B-42B8-B010-E0A8F2D2DB52}"/>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D52D0217-58EA-4F10-BE64-1F052CC30DB6}"/>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5 / 9</a:t>
            </a:r>
          </a:p>
        </p:txBody>
      </p:sp>
      <p:sp>
        <p:nvSpPr>
          <p:cNvPr id="8" name="">
            <a:extLst xmlns:a="http://schemas.openxmlformats.org/drawingml/2006/main">
              <a:ext uri="{FF2B5EF4-FFF2-40B4-BE49-F238E27FC236}">
                <a16:creationId xmlns:a16="http://schemas.microsoft.com/office/drawing/2014/main" id="{FD1ABDAB-F3A0-4815-849E-B222DAF0FF5A}"/>
              </a:ext>
            </a:extLst>
          </p:cNvPr>
          <p:cNvSpPr>
            <a:spLocks xmlns:a="http://schemas.openxmlformats.org/drawingml/2006/main" noGrp="1"/>
          </p:cNvSpPr>
          <p:nvPr/>
        </p:nvSpPr>
        <p:spPr>
          <a:xfrm xmlns:a="http://schemas.openxmlformats.org/drawingml/2006/main">
            <a:off x="685800" y="106680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47B78"/>
                </a:solidFill>
                <a:latin typeface="Yu Gothic"/>
                <a:ea typeface="Yu Gothic"/>
                <a:cs typeface="Yu Gothic"/>
              </a:defRPr>
            </a:pPr>
            <a:r>
              <a:rPr sz="1575" b="1">
                <a:solidFill>
                  <a:srgbClr val="147B78"/>
                </a:solidFill>
                <a:latin typeface="Yu Gothic"/>
                <a:ea typeface="Yu Gothic"/>
                <a:cs typeface="Yu Gothic"/>
              </a:rPr>
              <a:t>第I段階の目的</a:t>
            </a:r>
          </a:p>
        </p:txBody>
      </p:sp>
      <p:sp>
        <p:nvSpPr>
          <p:cNvPr id="9" name="">
            <a:extLst xmlns:a="http://schemas.openxmlformats.org/drawingml/2006/main">
              <a:ext uri="{FF2B5EF4-FFF2-40B4-BE49-F238E27FC236}">
                <a16:creationId xmlns:a16="http://schemas.microsoft.com/office/drawing/2014/main" id="{9FD0047F-63AA-44EF-B7B2-63B18BC7E509}"/>
              </a:ext>
            </a:extLst>
          </p:cNvPr>
          <p:cNvSpPr>
            <a:spLocks xmlns:a="http://schemas.openxmlformats.org/drawingml/2006/main" noGrp="1"/>
          </p:cNvSpPr>
          <p:nvPr/>
        </p:nvSpPr>
        <p:spPr>
          <a:xfrm xmlns:a="http://schemas.openxmlformats.org/drawingml/2006/main">
            <a:off x="2647950" y="1019175"/>
            <a:ext cx="866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173B4B"/>
                </a:solidFill>
                <a:latin typeface="Yu Gothic"/>
                <a:ea typeface="Yu Gothic"/>
                <a:cs typeface="Yu Gothic"/>
              </a:defRPr>
            </a:pPr>
            <a:r>
              <a:rPr sz="1875" b="1">
                <a:solidFill>
                  <a:srgbClr val="173B4B"/>
                </a:solidFill>
                <a:latin typeface="Yu Gothic"/>
                <a:ea typeface="Yu Gothic"/>
                <a:cs typeface="Yu Gothic"/>
              </a:rPr>
              <a:t>3層の実行・接続と、次のラウンドへの状態継承を確認</a:t>
            </a:r>
          </a:p>
        </p:txBody>
      </p:sp>
      <p:graphicFrame>
        <p:nvGraphicFramePr>
          <p:cNvPr id="23" name=""/>
          <p:cNvGraphicFramePr/>
          <p:nvPr/>
        </p:nvGraphicFramePr>
        <p:xfrm>
          <a:off xmlns:a="http://schemas.openxmlformats.org/drawingml/2006/main" x="628650" y="1600200"/>
          <a:ext xmlns:a="http://schemas.openxmlformats.org/drawingml/2006/main" cx="10953750" cy="3810000"/>
        </p:xfrm>
        <a:graphic xmlns:a="http://schemas.openxmlformats.org/drawingml/2006/main">
          <a:graphicData uri="http://schemas.openxmlformats.org/drawingml/2006/table">
            <a:tbl>
              <a:tblPr/>
              <a:tblGrid>
                <a:gridCol w="1257300"/>
                <a:gridCol w="4305300"/>
                <a:gridCol w="1352550"/>
                <a:gridCol w="4038600"/>
              </a:tblGrid>
              <a:tr h="423333">
                <a:tc>
                  <a:txBody>
                    <a:bodyPr/>
                    <a:lstStyle/>
                    <a:p>
                      <a:r>
                        <a:rPr sz="1150" b="1">
                          <a:solidFill>
                            <a:srgbClr val="173B4B"/>
                          </a:solidFill>
                          <a:latin typeface="Yu Gothic"/>
                          <a:ea typeface="Yu Gothic"/>
                          <a:cs typeface="Yu Gothic"/>
                        </a:rPr>
                        <a:t>区分</a:t>
                      </a:r>
                    </a:p>
                  </a:txBody>
                  <a:tcPr marL="91440" marR="91440" marT="45720" marB="45720"/>
                </a:tc>
                <a:tc>
                  <a:txBody>
                    <a:bodyPr/>
                    <a:lstStyle/>
                    <a:p>
                      <a:r>
                        <a:rPr sz="1150" b="1">
                          <a:solidFill>
                            <a:srgbClr val="173B4B"/>
                          </a:solidFill>
                          <a:latin typeface="Yu Gothic"/>
                          <a:ea typeface="Yu Gothic"/>
                          <a:cs typeface="Yu Gothic"/>
                        </a:rPr>
                        <a:t>設定</a:t>
                      </a:r>
                    </a:p>
                  </a:txBody>
                  <a:tcPr marL="91440" marR="91440" marT="45720" marB="45720"/>
                </a:tc>
                <a:tc>
                  <a:txBody>
                    <a:bodyPr/>
                    <a:lstStyle/>
                    <a:p>
                      <a:r>
                        <a:rPr sz="1150" b="1">
                          <a:solidFill>
                            <a:srgbClr val="173B4B"/>
                          </a:solidFill>
                          <a:latin typeface="Yu Gothic"/>
                          <a:ea typeface="Yu Gothic"/>
                          <a:cs typeface="Yu Gothic"/>
                        </a:rPr>
                        <a:t>区分</a:t>
                      </a:r>
                    </a:p>
                  </a:txBody>
                  <a:tcPr marL="91440" marR="91440" marT="45720" marB="45720"/>
                </a:tc>
                <a:tc>
                  <a:txBody>
                    <a:bodyPr/>
                    <a:lstStyle/>
                    <a:p>
                      <a:r>
                        <a:rPr sz="1150" b="1">
                          <a:solidFill>
                            <a:srgbClr val="173B4B"/>
                          </a:solidFill>
                          <a:latin typeface="Yu Gothic"/>
                          <a:ea typeface="Yu Gothic"/>
                          <a:cs typeface="Yu Gothic"/>
                        </a:rPr>
                        <a:t>設定</a:t>
                      </a:r>
                    </a:p>
                  </a:txBody>
                  <a:tcPr marL="91440" marR="91440" marT="45720" marB="45720"/>
                </a:tc>
              </a:tr>
              <a:tr h="423333">
                <a:tc>
                  <a:txBody>
                    <a:bodyPr lIns="76200" tIns="38100" rIns="57150" bIns="38100">
                      <a:normAutofit/>
                    </a:bodyPr>
                    <a:lstStyle/>
                    <a:p>
                      <a:pPr algn="l"/>
                      <a:r>
                        <a:rPr sz="1200" b="1">
                          <a:solidFill>
                            <a:srgbClr val="147B78"/>
                          </a:solidFill>
                          <a:latin typeface="Yu Gothic"/>
                          <a:ea typeface="Yu Gothic"/>
                          <a:cs typeface="Yu Gothic"/>
                        </a:rPr>
                        <a:t>予測課題</a:t>
                      </a:r>
                    </a:p>
                  </a:txBody>
                  <a:tcPr marL="91440" marR="91440" marT="45720" marB="45720" anchor="ctr"/>
                </a:tc>
                <a:tc>
                  <a:txBody>
                    <a:bodyPr/>
                    <a:lstStyle/>
                    <a:p>
                      <a:r>
                        <a:rPr sz="1350" b="0">
                          <a:solidFill>
                            <a:srgbClr val="26373D"/>
                          </a:solidFill>
                          <a:latin typeface="Yu Gothic"/>
                          <a:ea typeface="Yu Gothic"/>
                          <a:cs typeface="Yu Gothic"/>
                        </a:rPr>
                        <a:t>NEXAR動画の通常／危険の二値判定</a:t>
                      </a:r>
                    </a:p>
                  </a:txBody>
                  <a:tcPr marL="91440" marR="91440" marT="45720" marB="45720"/>
                </a:tc>
                <a:tc>
                  <a:txBody>
                    <a:bodyPr lIns="76200" tIns="38100" rIns="57150" bIns="38100">
                      <a:normAutofit/>
                    </a:bodyPr>
                    <a:lstStyle/>
                    <a:p>
                      <a:pPr algn="l"/>
                      <a:r>
                        <a:rPr sz="1200" b="1">
                          <a:solidFill>
                            <a:srgbClr val="147B78"/>
                          </a:solidFill>
                          <a:latin typeface="Yu Gothic"/>
                          <a:ea typeface="Yu Gothic"/>
                          <a:cs typeface="Yu Gothic"/>
                        </a:rPr>
                        <a:t>ラウンド</a:t>
                      </a:r>
                    </a:p>
                  </a:txBody>
                  <a:tcPr marL="91440" marR="91440" marT="45720" marB="45720" anchor="ctr"/>
                </a:tc>
                <a:tc>
                  <a:txBody>
                    <a:bodyPr/>
                    <a:lstStyle/>
                    <a:p>
                      <a:r>
                        <a:rPr sz="1350" b="0">
                          <a:solidFill>
                            <a:srgbClr val="26373D"/>
                          </a:solidFill>
                          <a:latin typeface="Yu Gothic"/>
                          <a:ea typeface="Yu Gothic"/>
                          <a:cs typeface="Yu Gothic"/>
                        </a:rPr>
                        <a:t>3回</a:t>
                      </a:r>
                    </a:p>
                  </a:txBody>
                  <a:tcPr marL="91440" marR="91440" marT="45720" marB="45720"/>
                </a:tc>
              </a:tr>
              <a:tr h="423333">
                <a:tc>
                  <a:txBody>
                    <a:bodyPr lIns="76200" tIns="38100" rIns="57150" bIns="38100">
                      <a:normAutofit/>
                    </a:bodyPr>
                    <a:lstStyle/>
                    <a:p>
                      <a:pPr algn="l"/>
                      <a:r>
                        <a:rPr sz="1200" b="1">
                          <a:solidFill>
                            <a:srgbClr val="147B78"/>
                          </a:solidFill>
                          <a:latin typeface="Yu Gothic"/>
                          <a:ea typeface="Yu Gothic"/>
                          <a:cs typeface="Yu Gothic"/>
                        </a:rPr>
                        <a:t>現場側</a:t>
                      </a:r>
                    </a:p>
                  </a:txBody>
                  <a:tcPr marL="91440" marR="91440" marT="45720" marB="45720" anchor="ctr"/>
                </a:tc>
                <a:tc>
                  <a:txBody>
                    <a:bodyPr/>
                    <a:lstStyle/>
                    <a:p>
                      <a:r>
                        <a:rPr sz="1350" b="0">
                          <a:solidFill>
                            <a:srgbClr val="26373D"/>
                          </a:solidFill>
                          <a:latin typeface="Yu Gothic"/>
                          <a:ea typeface="Yu Gothic"/>
                          <a:cs typeface="Yu Gothic"/>
                        </a:rPr>
                        <a:t>2台、各6本（通常3・危険3）</a:t>
                      </a:r>
                    </a:p>
                  </a:txBody>
                  <a:tcPr marL="91440" marR="91440" marT="45720" marB="45720"/>
                </a:tc>
                <a:tc>
                  <a:txBody>
                    <a:bodyPr lIns="76200" tIns="38100" rIns="57150" bIns="38100">
                      <a:normAutofit/>
                    </a:bodyPr>
                    <a:lstStyle/>
                    <a:p>
                      <a:pPr algn="l"/>
                      <a:r>
                        <a:rPr sz="1200" b="1">
                          <a:solidFill>
                            <a:srgbClr val="147B78"/>
                          </a:solidFill>
                          <a:latin typeface="Yu Gothic"/>
                          <a:ea typeface="Yu Gothic"/>
                          <a:cs typeface="Yu Gothic"/>
                        </a:rPr>
                        <a:t>中央側候補</a:t>
                      </a:r>
                    </a:p>
                  </a:txBody>
                  <a:tcPr marL="91440" marR="91440" marT="45720" marB="45720" anchor="ctr"/>
                </a:tc>
                <a:tc>
                  <a:txBody>
                    <a:bodyPr/>
                    <a:lstStyle/>
                    <a:p>
                      <a:r>
                        <a:rPr sz="1350" b="0">
                          <a:solidFill>
                            <a:srgbClr val="26373D"/>
                          </a:solidFill>
                          <a:latin typeface="Yu Gothic"/>
                          <a:ea typeface="Yu Gothic"/>
                          <a:cs typeface="Yu Gothic"/>
                        </a:rPr>
                        <a:t>60本（通常30・危険30）</a:t>
                      </a:r>
                    </a:p>
                  </a:txBody>
                  <a:tcPr marL="91440" marR="91440" marT="45720" marB="45720"/>
                </a:tc>
              </a:tr>
              <a:tr h="423333">
                <a:tc>
                  <a:txBody>
                    <a:bodyPr lIns="76200" tIns="38100" rIns="57150" bIns="38100">
                      <a:normAutofit/>
                    </a:bodyPr>
                    <a:lstStyle/>
                    <a:p>
                      <a:pPr algn="l"/>
                      <a:r>
                        <a:rPr sz="1200" b="1">
                          <a:solidFill>
                            <a:srgbClr val="147B78"/>
                          </a:solidFill>
                          <a:latin typeface="Yu Gothic"/>
                          <a:ea typeface="Yu Gothic"/>
                          <a:cs typeface="Yu Gothic"/>
                        </a:rPr>
                        <a:t>データ分割</a:t>
                      </a:r>
                    </a:p>
                  </a:txBody>
                  <a:tcPr marL="91440" marR="91440" marT="45720" marB="45720" anchor="ctr"/>
                </a:tc>
                <a:tc>
                  <a:txBody>
                    <a:bodyPr/>
                    <a:lstStyle/>
                    <a:p>
                      <a:r>
                        <a:rPr sz="1350" b="0">
                          <a:solidFill>
                            <a:srgbClr val="26373D"/>
                          </a:solidFill>
                          <a:latin typeface="Yu Gothic"/>
                          <a:ea typeface="Yu Gothic"/>
                          <a:cs typeface="Yu Gothic"/>
                        </a:rPr>
                        <a:t>現場側12本・中央側60本・確認用2本・最終評価用2本は動画単位で非重複</a:t>
                      </a:r>
                    </a:p>
                  </a:txBody>
                  <a:tcPr marL="91440" marR="91440" marT="45720" marB="45720"/>
                </a:tc>
                <a:tc>
                  <a:txBody>
                    <a:bodyPr lIns="76200" tIns="38100" rIns="57150" bIns="38100">
                      <a:normAutofit/>
                    </a:bodyPr>
                    <a:lstStyle/>
                    <a:p>
                      <a:pPr algn="l"/>
                      <a:r>
                        <a:rPr sz="1200" b="1">
                          <a:solidFill>
                            <a:srgbClr val="147B78"/>
                          </a:solidFill>
                          <a:latin typeface="Yu Gothic"/>
                          <a:ea typeface="Yu Gothic"/>
                          <a:cs typeface="Yu Gothic"/>
                        </a:rPr>
                        <a:t>反復条件</a:t>
                      </a:r>
                    </a:p>
                  </a:txBody>
                  <a:tcPr marL="91440" marR="91440" marT="45720" marB="45720" anchor="ctr"/>
                </a:tc>
                <a:tc>
                  <a:txBody>
                    <a:bodyPr/>
                    <a:lstStyle/>
                    <a:p>
                      <a:r>
                        <a:rPr sz="1350" b="0">
                          <a:solidFill>
                            <a:srgbClr val="26373D"/>
                          </a:solidFill>
                          <a:latin typeface="Yu Gothic"/>
                          <a:ea typeface="Yu Gothic"/>
                          <a:cs typeface="Yu Gothic"/>
                        </a:rPr>
                        <a:t>乱数seed 42の1実行。3ラウンドで同じ現場動画を使用し、最適化状態は毎回初期化</a:t>
                      </a:r>
                    </a:p>
                  </a:txBody>
                  <a:tcPr marL="91440" marR="91440" marT="45720" marB="45720"/>
                </a:tc>
              </a:tr>
              <a:tr h="423333">
                <a:tc>
                  <a:txBody>
                    <a:bodyPr lIns="76200" tIns="38100" rIns="57150" bIns="38100">
                      <a:normAutofit/>
                    </a:bodyPr>
                    <a:lstStyle/>
                    <a:p>
                      <a:pPr algn="l"/>
                      <a:r>
                        <a:rPr sz="1200" b="1">
                          <a:solidFill>
                            <a:srgbClr val="147B78"/>
                          </a:solidFill>
                          <a:latin typeface="Yu Gothic"/>
                          <a:ea typeface="Yu Gothic"/>
                          <a:cs typeface="Yu Gothic"/>
                        </a:rPr>
                        <a:t>入力画像</a:t>
                      </a:r>
                    </a:p>
                  </a:txBody>
                  <a:tcPr marL="91440" marR="91440" marT="45720" marB="45720" anchor="ctr"/>
                </a:tc>
                <a:tc>
                  <a:txBody>
                    <a:bodyPr/>
                    <a:lstStyle/>
                    <a:p>
                      <a:r>
                        <a:rPr sz="1350" b="0">
                          <a:solidFill>
                            <a:srgbClr val="26373D"/>
                          </a:solidFill>
                          <a:latin typeface="Yu Gothic"/>
                          <a:ea typeface="Yu Gothic"/>
                          <a:cs typeface="Yu Gothic"/>
                        </a:rPr>
                        <a:t>1動画4枚。危険区間の4時刻と、対応する通常動画の同じ4時刻</a:t>
                      </a:r>
                    </a:p>
                  </a:txBody>
                  <a:tcPr marL="91440" marR="91440" marT="45720" marB="45720"/>
                </a:tc>
                <a:tc>
                  <a:txBody>
                    <a:bodyPr lIns="76200" tIns="38100" rIns="57150" bIns="38100">
                      <a:normAutofit/>
                    </a:bodyPr>
                    <a:lstStyle/>
                    <a:p>
                      <a:pPr algn="l"/>
                      <a:r>
                        <a:rPr sz="1200" b="1">
                          <a:solidFill>
                            <a:srgbClr val="147B78"/>
                          </a:solidFill>
                          <a:latin typeface="Yu Gothic"/>
                          <a:ea typeface="Yu Gothic"/>
                          <a:cs typeface="Yu Gothic"/>
                        </a:rPr>
                        <a:t>要約</a:t>
                      </a:r>
                    </a:p>
                  </a:txBody>
                  <a:tcPr marL="91440" marR="91440" marT="45720" marB="45720" anchor="ctr"/>
                </a:tc>
                <a:tc>
                  <a:txBody>
                    <a:bodyPr/>
                    <a:lstStyle/>
                    <a:p>
                      <a:r>
                        <a:rPr sz="1350" b="0">
                          <a:solidFill>
                            <a:srgbClr val="26373D"/>
                          </a:solidFill>
                          <a:latin typeface="Yu Gothic"/>
                          <a:ea typeface="Yu Gothic"/>
                          <a:cs typeface="Yu Gothic"/>
                        </a:rPr>
                        <a:t>softmax確率（T=1）を各台・各classで平均し、4つのQₖ,ᵣ</a:t>
                      </a:r>
                    </a:p>
                  </a:txBody>
                  <a:tcPr marL="91440" marR="91440" marT="45720" marB="45720"/>
                </a:tc>
              </a:tr>
              <a:tr h="423333">
                <a:tc>
                  <a:txBody>
                    <a:bodyPr lIns="76200" tIns="38100" rIns="57150" bIns="38100">
                      <a:normAutofit/>
                    </a:bodyPr>
                    <a:lstStyle/>
                    <a:p>
                      <a:pPr algn="l"/>
                      <a:r>
                        <a:rPr sz="1200" b="1">
                          <a:solidFill>
                            <a:srgbClr val="147B78"/>
                          </a:solidFill>
                          <a:latin typeface="Yu Gothic"/>
                          <a:ea typeface="Yu Gothic"/>
                          <a:cs typeface="Yu Gothic"/>
                        </a:rPr>
                        <a:t>使用モデル</a:t>
                      </a:r>
                    </a:p>
                  </a:txBody>
                  <a:tcPr marL="91440" marR="91440" marT="45720" marB="45720" anchor="ctr"/>
                </a:tc>
                <a:tc>
                  <a:txBody>
                    <a:bodyPr/>
                    <a:lstStyle/>
                    <a:p>
                      <a:r>
                        <a:rPr sz="1350" b="0">
                          <a:solidFill>
                            <a:srgbClr val="26373D"/>
                          </a:solidFill>
                          <a:latin typeface="Yu Gothic"/>
                          <a:ea typeface="Yu Gothic"/>
                          <a:cs typeface="Yu Gothic"/>
                        </a:rPr>
                        <a:t>現場側・中央側とも Qwen2.5-VL-3B-Instruct</a:t>
                      </a:r>
                    </a:p>
                  </a:txBody>
                  <a:tcPr marL="91440" marR="91440" marT="45720" marB="45720"/>
                </a:tc>
                <a:tc>
                  <a:txBody>
                    <a:bodyPr lIns="76200" tIns="38100" rIns="57150" bIns="38100">
                      <a:normAutofit/>
                    </a:bodyPr>
                    <a:lstStyle/>
                    <a:p>
                      <a:pPr algn="l"/>
                      <a:r>
                        <a:rPr sz="1200" b="1">
                          <a:solidFill>
                            <a:srgbClr val="147B78"/>
                          </a:solidFill>
                          <a:latin typeface="Yu Gothic"/>
                          <a:ea typeface="Yu Gothic"/>
                          <a:cs typeface="Yu Gothic"/>
                        </a:rPr>
                        <a:t>更新対象</a:t>
                      </a:r>
                    </a:p>
                  </a:txBody>
                  <a:tcPr marL="91440" marR="91440" marT="45720" marB="45720" anchor="ctr"/>
                </a:tc>
                <a:tc>
                  <a:txBody>
                    <a:bodyPr/>
                    <a:lstStyle/>
                    <a:p>
                      <a:r>
                        <a:rPr sz="1350" b="0">
                          <a:solidFill>
                            <a:srgbClr val="26373D"/>
                          </a:solidFill>
                          <a:latin typeface="Yu Gothic"/>
                          <a:ea typeface="Yu Gothic"/>
                          <a:cs typeface="Yu Gothic"/>
                        </a:rPr>
                        <a:t>現場側：軽量更新部分（LoRA）＋分類層
中央側：軽量更新部分（LoRA）のみ</a:t>
                      </a:r>
                    </a:p>
                  </a:txBody>
                  <a:tcPr marL="91440" marR="91440" marT="45720" marB="45720"/>
                </a:tc>
              </a:tr>
              <a:tr h="423333">
                <a:tc>
                  <a:txBody>
                    <a:bodyPr lIns="76200" tIns="38100" rIns="57150" bIns="38100">
                      <a:normAutofit/>
                    </a:bodyPr>
                    <a:lstStyle/>
                    <a:p>
                      <a:pPr algn="l"/>
                      <a:r>
                        <a:rPr sz="1200" b="1">
                          <a:solidFill>
                            <a:srgbClr val="147B78"/>
                          </a:solidFill>
                          <a:latin typeface="Yu Gothic"/>
                          <a:ea typeface="Yu Gothic"/>
                          <a:cs typeface="Yu Gothic"/>
                        </a:rPr>
                        <a:t>現場側学習</a:t>
                      </a:r>
                    </a:p>
                  </a:txBody>
                  <a:tcPr marL="91440" marR="91440" marT="45720" marB="45720" anchor="ctr"/>
                </a:tc>
                <a:tc>
                  <a:txBody>
                    <a:bodyPr/>
                    <a:lstStyle/>
                    <a:p>
                      <a:r>
                        <a:rPr sz="1350" b="0">
                          <a:solidFill>
                            <a:srgbClr val="26373D"/>
                          </a:solidFill>
                          <a:latin typeface="Yu Gothic"/>
                          <a:ea typeface="Yu Gothic"/>
                          <a:cs typeface="Yu Gothic"/>
                        </a:rPr>
                        <a:t>AdamW、学習率 1×10⁻⁴、1回に1動画、6回更新</a:t>
                      </a:r>
                    </a:p>
                  </a:txBody>
                  <a:tcPr marL="91440" marR="91440" marT="45720" marB="45720"/>
                </a:tc>
                <a:tc>
                  <a:txBody>
                    <a:bodyPr lIns="76200" tIns="38100" rIns="57150" bIns="38100">
                      <a:normAutofit/>
                    </a:bodyPr>
                    <a:lstStyle/>
                    <a:p>
                      <a:pPr algn="l"/>
                      <a:r>
                        <a:rPr sz="1200" b="1">
                          <a:solidFill>
                            <a:srgbClr val="147B78"/>
                          </a:solidFill>
                          <a:latin typeface="Yu Gothic"/>
                          <a:ea typeface="Yu Gothic"/>
                          <a:cs typeface="Yu Gothic"/>
                        </a:rPr>
                        <a:t>軽量更新</a:t>
                      </a:r>
                    </a:p>
                  </a:txBody>
                  <a:tcPr marL="91440" marR="91440" marT="45720" marB="45720" anchor="ctr"/>
                </a:tc>
                <a:tc>
                  <a:txBody>
                    <a:bodyPr/>
                    <a:lstStyle/>
                    <a:p>
                      <a:r>
                        <a:rPr sz="1350" b="0">
                          <a:solidFill>
                            <a:srgbClr val="26373D"/>
                          </a:solidFill>
                          <a:latin typeface="Yu Gothic"/>
                          <a:ea typeface="Yu Gothic"/>
                          <a:cs typeface="Yu Gothic"/>
                        </a:rPr>
                        <a:t>r=8、α=16、dropout=0</a:t>
                      </a:r>
                    </a:p>
                  </a:txBody>
                  <a:tcPr marL="91440" marR="91440" marT="45720" marB="45720"/>
                </a:tc>
              </a:tr>
              <a:tr h="423333">
                <a:tc>
                  <a:txBody>
                    <a:bodyPr lIns="76200" tIns="38100" rIns="57150" bIns="38100">
                      <a:normAutofit/>
                    </a:bodyPr>
                    <a:lstStyle/>
                    <a:p>
                      <a:pPr algn="l"/>
                      <a:r>
                        <a:rPr sz="1200" b="1">
                          <a:solidFill>
                            <a:srgbClr val="147B78"/>
                          </a:solidFill>
                          <a:latin typeface="Yu Gothic"/>
                          <a:ea typeface="Yu Gothic"/>
                          <a:cs typeface="Yu Gothic"/>
                        </a:rPr>
                        <a:t>連合平均</a:t>
                      </a:r>
                    </a:p>
                  </a:txBody>
                  <a:tcPr marL="91440" marR="91440" marT="45720" marB="45720" anchor="ctr"/>
                </a:tc>
                <a:tc>
                  <a:txBody>
                    <a:bodyPr/>
                    <a:lstStyle/>
                    <a:p>
                      <a:r>
                        <a:rPr sz="1350" b="0">
                          <a:solidFill>
                            <a:srgbClr val="26373D"/>
                          </a:solidFill>
                          <a:latin typeface="Yu Gothic"/>
                          <a:ea typeface="Yu Gothic"/>
                          <a:cs typeface="Yu Gothic"/>
                        </a:rPr>
                        <a:t>各台6本のため重みは0.5ずつ</a:t>
                      </a:r>
                    </a:p>
                  </a:txBody>
                  <a:tcPr marL="91440" marR="91440" marT="45720" marB="45720"/>
                </a:tc>
                <a:tc>
                  <a:txBody>
                    <a:bodyPr lIns="76200" tIns="38100" rIns="57150" bIns="38100">
                      <a:normAutofit/>
                    </a:bodyPr>
                    <a:lstStyle/>
                    <a:p>
                      <a:pPr algn="l"/>
                      <a:r>
                        <a:rPr sz="1200" b="1">
                          <a:solidFill>
                            <a:srgbClr val="147B78"/>
                          </a:solidFill>
                          <a:latin typeface="Yu Gothic"/>
                          <a:ea typeface="Yu Gothic"/>
                          <a:cs typeface="Yu Gothic"/>
                        </a:rPr>
                        <a:t>代理データ</a:t>
                      </a:r>
                    </a:p>
                  </a:txBody>
                  <a:tcPr marL="91440" marR="91440" marT="45720" marB="45720" anchor="ctr"/>
                </a:tc>
                <a:tc>
                  <a:txBody>
                    <a:bodyPr/>
                    <a:lstStyle/>
                    <a:p>
                      <a:r>
                        <a:rPr sz="1350" b="0">
                          <a:solidFill>
                            <a:srgbClr val="26373D"/>
                          </a:solidFill>
                          <a:latin typeface="Yu Gothic"/>
                          <a:ea typeface="Yu Gothic"/>
                          <a:cs typeface="Yu Gothic"/>
                        </a:rPr>
                        <a:t>class制限なしで60本を検索し、上位3本×5変換から4つのPₖ,ᵣを選択</a:t>
                      </a:r>
                    </a:p>
                  </a:txBody>
                  <a:tcPr marL="91440" marR="91440" marT="45720" marB="45720"/>
                </a:tc>
              </a:tr>
              <a:tr h="423333">
                <a:tc>
                  <a:txBody>
                    <a:bodyPr lIns="76200" tIns="38100" rIns="57150" bIns="38100">
                      <a:normAutofit/>
                    </a:bodyPr>
                    <a:lstStyle/>
                    <a:p>
                      <a:pPr algn="l"/>
                      <a:r>
                        <a:rPr sz="1200" b="1">
                          <a:solidFill>
                            <a:srgbClr val="147B78"/>
                          </a:solidFill>
                          <a:latin typeface="Yu Gothic"/>
                          <a:ea typeface="Yu Gothic"/>
                          <a:cs typeface="Yu Gothic"/>
                        </a:rPr>
                        <a:t>中央側更新</a:t>
                      </a:r>
                    </a:p>
                  </a:txBody>
                  <a:tcPr marL="91440" marR="91440" marT="45720" marB="45720" anchor="ctr"/>
                </a:tc>
                <a:tc>
                  <a:txBody>
                    <a:bodyPr/>
                    <a:lstStyle/>
                    <a:p>
                      <a:r>
                        <a:rPr sz="1350" b="0">
                          <a:solidFill>
                            <a:srgbClr val="26373D"/>
                          </a:solidFill>
                          <a:latin typeface="Yu Gothic"/>
                          <a:ea typeface="Yu Gothic"/>
                          <a:cs typeface="Yu Gothic"/>
                        </a:rPr>
                        <a:t>学習率 1×10⁻⁶、1回更新</a:t>
                      </a:r>
                    </a:p>
                  </a:txBody>
                  <a:tcPr marL="91440" marR="91440" marT="45720" marB="45720"/>
                </a:tc>
                <a:tc>
                  <a:txBody>
                    <a:bodyPr lIns="76200" tIns="38100" rIns="57150" bIns="38100">
                      <a:normAutofit/>
                    </a:bodyPr>
                    <a:lstStyle/>
                    <a:p>
                      <a:pPr algn="l"/>
                      <a:r>
                        <a:rPr sz="1200" b="1">
                          <a:solidFill>
                            <a:srgbClr val="147B78"/>
                          </a:solidFill>
                          <a:latin typeface="Yu Gothic"/>
                          <a:ea typeface="Yu Gothic"/>
                          <a:cs typeface="Yu Gothic"/>
                        </a:rPr>
                        <a:t>更新対象外</a:t>
                      </a:r>
                    </a:p>
                  </a:txBody>
                  <a:tcPr marL="91440" marR="91440" marT="45720" marB="45720" anchor="ctr"/>
                </a:tc>
                <a:tc>
                  <a:txBody>
                    <a:bodyPr/>
                    <a:lstStyle/>
                    <a:p>
                      <a:r>
                        <a:rPr sz="1350" b="0">
                          <a:solidFill>
                            <a:srgbClr val="26373D"/>
                          </a:solidFill>
                          <a:latin typeface="Yu Gothic"/>
                          <a:ea typeface="Yu Gothic"/>
                          <a:cs typeface="Yu Gothic"/>
                        </a:rPr>
                        <a:t>中央側の分類層とその他の部分は固定</a:t>
                      </a:r>
                    </a:p>
                  </a:txBody>
                  <a:tcPr marL="91440" marR="91440" marT="45720" marB="45720"/>
                </a:tc>
              </a:tr>
            </a:tbl>
          </a:graphicData>
        </a:graphic>
      </p:graphicFrame>
      <p:sp>
        <p:nvSpPr>
          <p:cNvPr id="11" name="">
            <a:extLst xmlns:a="http://schemas.openxmlformats.org/drawingml/2006/main">
              <a:ext uri="{FF2B5EF4-FFF2-40B4-BE49-F238E27FC236}">
                <a16:creationId xmlns:a16="http://schemas.microsoft.com/office/drawing/2014/main" id="{A549F32F-C837-45AB-8151-435DEC412ECE}"/>
              </a:ext>
            </a:extLst>
          </p:cNvPr>
          <p:cNvSpPr>
            <a:spLocks xmlns:a="http://schemas.openxmlformats.org/drawingml/2006/main" noGrp="1"/>
          </p:cNvSpPr>
          <p:nvPr/>
        </p:nvSpPr>
        <p:spPr>
          <a:xfrm xmlns:a="http://schemas.openxmlformats.org/drawingml/2006/main">
            <a:off x="685800" y="5743575"/>
            <a:ext cx="10820400" cy="47625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D0F5151-816C-4A50-AE28-5ABA37949E32}"/>
              </a:ext>
            </a:extLst>
          </p:cNvPr>
          <p:cNvSpPr>
            <a:spLocks xmlns:a="http://schemas.openxmlformats.org/drawingml/2006/main" noGrp="1"/>
          </p:cNvSpPr>
          <p:nvPr/>
        </p:nvSpPr>
        <p:spPr>
          <a:xfrm xmlns:a="http://schemas.openxmlformats.org/drawingml/2006/main">
            <a:off x="914400" y="5829300"/>
            <a:ext cx="10363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B94A3A"/>
                </a:solidFill>
                <a:latin typeface="Yu Gothic"/>
                <a:ea typeface="Yu Gothic"/>
                <a:cs typeface="Yu Gothic"/>
              </a:defRPr>
            </a:pPr>
            <a:r>
              <a:rPr sz="1575" b="1">
                <a:solidFill>
                  <a:srgbClr val="B94A3A"/>
                </a:solidFill>
                <a:latin typeface="Yu Gothic"/>
                <a:ea typeface="Yu Gothic"/>
                <a:cs typeface="Yu Gothic"/>
              </a:rPr>
              <a:t>今回の合格条件は実行・接続・状態継承。性能向上と異なる規模のAI間の転移は未確認</a:t>
            </a:r>
          </a:p>
        </p:txBody>
      </p:sp>
      <p:sp>
        <p:nvSpPr>
          <p:cNvPr id="13" name="">
            <a:extLst xmlns:a="http://schemas.openxmlformats.org/drawingml/2006/main">
              <a:ext uri="{FF2B5EF4-FFF2-40B4-BE49-F238E27FC236}">
                <a16:creationId xmlns:a16="http://schemas.microsoft.com/office/drawing/2014/main" id="{1DB53169-43EF-4E14-8F01-8C729E585289}"/>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Tree>
    <p:extLst>
      <p:ext uri="{BB962C8B-B14F-4D97-AF65-F5344CB8AC3E}">
        <p14:creationId xmlns:p14="http://schemas.microsoft.com/office/powerpoint/2010/main" val="19052375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1A792DC-0427-4FF2-8BEF-EA5C24DDD82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29CF59C-E746-4D40-B7BD-003B845BB36A}"/>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C9D52AE-89E9-48E3-95D1-4CC994212F35}"/>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FedPACT全体フローと今回の実験位置</a:t>
            </a:r>
          </a:p>
        </p:txBody>
      </p:sp>
      <p:sp>
        <p:nvSpPr>
          <p:cNvPr id="4" name="">
            <a:extLst xmlns:a="http://schemas.openxmlformats.org/drawingml/2006/main">
              <a:ext uri="{FF2B5EF4-FFF2-40B4-BE49-F238E27FC236}">
                <a16:creationId xmlns:a16="http://schemas.microsoft.com/office/drawing/2014/main" id="{8040A6D4-9578-4D74-8130-E782E4144E4C}"/>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06</a:t>
            </a:r>
          </a:p>
        </p:txBody>
      </p:sp>
      <p:sp>
        <p:nvSpPr>
          <p:cNvPr id="5" name="">
            <a:extLst xmlns:a="http://schemas.openxmlformats.org/drawingml/2006/main">
              <a:ext uri="{FF2B5EF4-FFF2-40B4-BE49-F238E27FC236}">
                <a16:creationId xmlns:a16="http://schemas.microsoft.com/office/drawing/2014/main" id="{6E09940F-0DE8-414B-9123-7F8F130BD8A0}"/>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9DED365-DE56-446B-9491-DBD6888AE5E3}"/>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6D99E2AD-232A-4C91-948B-2D9FF64D67AF}"/>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6 / 9</a:t>
            </a:r>
          </a:p>
        </p:txBody>
      </p:sp>
      <p:sp>
        <p:nvSpPr>
          <p:cNvPr id="8" name="">
            <a:extLst xmlns:a="http://schemas.openxmlformats.org/drawingml/2006/main">
              <a:ext uri="{FF2B5EF4-FFF2-40B4-BE49-F238E27FC236}">
                <a16:creationId xmlns:a16="http://schemas.microsoft.com/office/drawing/2014/main" id="{5019E67B-9687-45EA-94C6-6AD6EFEE8277}"/>
              </a:ext>
            </a:extLst>
          </p:cNvPr>
          <p:cNvSpPr>
            <a:spLocks xmlns:a="http://schemas.openxmlformats.org/drawingml/2006/main" noGrp="1"/>
          </p:cNvSpPr>
          <p:nvPr/>
        </p:nvSpPr>
        <p:spPr>
          <a:xfrm xmlns:a="http://schemas.openxmlformats.org/drawingml/2006/main">
            <a:off x="704850" y="1143000"/>
            <a:ext cx="10782300" cy="4191000"/>
          </a:xfrm>
          <a:prstGeom xmlns:a="http://schemas.openxmlformats.org/drawingml/2006/main" prst="rect">
            <a:avLst/>
          </a:prstGeom>
          <a:solidFill xmlns:a="http://schemas.openxmlformats.org/drawingml/2006/main">
            <a:srgbClr val="ECEFEB"/>
          </a:solidFill>
          <a:ln xmlns:a="http://schemas.openxmlformats.org/drawingml/2006/main" w="19050">
            <a:solidFill>
              <a:srgbClr val="87979C"/>
            </a:solidFill>
          </a:ln>
        </p:spPr>
      </p:sp>
      <p:sp>
        <p:nvSpPr>
          <p:cNvPr id="9" name="">
            <a:extLst xmlns:a="http://schemas.openxmlformats.org/drawingml/2006/main">
              <a:ext uri="{FF2B5EF4-FFF2-40B4-BE49-F238E27FC236}">
                <a16:creationId xmlns:a16="http://schemas.microsoft.com/office/drawing/2014/main" id="{68690781-6D8D-4F9B-800C-4F2684102104}"/>
              </a:ext>
            </a:extLst>
          </p:cNvPr>
          <p:cNvSpPr>
            <a:spLocks xmlns:a="http://schemas.openxmlformats.org/drawingml/2006/main" noGrp="1"/>
          </p:cNvSpPr>
          <p:nvPr/>
        </p:nvSpPr>
        <p:spPr>
          <a:xfrm xmlns:a="http://schemas.openxmlformats.org/drawingml/2006/main">
            <a:off x="2238375" y="2705100"/>
            <a:ext cx="7715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325" b="1">
                <a:solidFill>
                  <a:srgbClr val="617078"/>
                </a:solidFill>
                <a:latin typeface="Yu Gothic"/>
                <a:ea typeface="Yu Gothic"/>
                <a:cs typeface="Yu Gothic"/>
              </a:defRPr>
            </a:pPr>
            <a:r>
              <a:rPr sz="2325" b="1">
                <a:solidFill>
                  <a:srgbClr val="617078"/>
                </a:solidFill>
                <a:latin typeface="Yu Gothic"/>
                <a:ea typeface="Yu Gothic"/>
                <a:cs typeface="Yu Gothic"/>
              </a:rPr>
              <a:t>ここに9月16日Slack共有版の</a:t>
            </a:r>
          </a:p>
          <a:p xmlns:a="http://schemas.openxmlformats.org/drawingml/2006/main">
            <a:pPr algn="ctr">
              <a:defRPr sz="2325" b="1">
                <a:solidFill>
                  <a:srgbClr val="617078"/>
                </a:solidFill>
                <a:latin typeface="Yu Gothic"/>
                <a:ea typeface="Yu Gothic"/>
                <a:cs typeface="Yu Gothic"/>
              </a:defRPr>
            </a:pPr>
            <a:r>
              <a:rPr sz="2325" b="1">
                <a:solidFill>
                  <a:srgbClr val="617078"/>
                </a:solidFill>
                <a:latin typeface="Yu Gothic"/>
                <a:ea typeface="Yu Gothic"/>
                <a:cs typeface="Yu Gothic"/>
              </a:rPr>
              <a:t>フローチャートを挿入</a:t>
            </a:r>
          </a:p>
        </p:txBody>
      </p:sp>
      <p:sp>
        <p:nvSpPr>
          <p:cNvPr id="10" name="">
            <a:extLst xmlns:a="http://schemas.openxmlformats.org/drawingml/2006/main">
              <a:ext uri="{FF2B5EF4-FFF2-40B4-BE49-F238E27FC236}">
                <a16:creationId xmlns:a16="http://schemas.microsoft.com/office/drawing/2014/main" id="{E0FA4DC4-DCE1-424C-B3FD-5B2255C67A7D}"/>
              </a:ext>
            </a:extLst>
          </p:cNvPr>
          <p:cNvSpPr>
            <a:spLocks xmlns:a="http://schemas.openxmlformats.org/drawingml/2006/main" noGrp="1"/>
          </p:cNvSpPr>
          <p:nvPr/>
        </p:nvSpPr>
        <p:spPr>
          <a:xfrm xmlns:a="http://schemas.openxmlformats.org/drawingml/2006/main">
            <a:off x="895350" y="13144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7B78"/>
                </a:solidFill>
                <a:latin typeface="Yu Gothic"/>
                <a:ea typeface="Yu Gothic"/>
                <a:cs typeface="Yu Gothic"/>
              </a:defRPr>
            </a:pPr>
            <a:r>
              <a:rPr sz="1350" b="1">
                <a:solidFill>
                  <a:srgbClr val="147B78"/>
                </a:solidFill>
                <a:latin typeface="Yu Gothic"/>
                <a:ea typeface="Yu Gothic"/>
                <a:cs typeface="Yu Gothic"/>
              </a:rPr>
              <a:t>差し替え時の確認</a:t>
            </a:r>
          </a:p>
        </p:txBody>
      </p:sp>
      <p:sp>
        <p:nvSpPr>
          <p:cNvPr id="11" name="">
            <a:extLst xmlns:a="http://schemas.openxmlformats.org/drawingml/2006/main">
              <a:ext uri="{FF2B5EF4-FFF2-40B4-BE49-F238E27FC236}">
                <a16:creationId xmlns:a16="http://schemas.microsoft.com/office/drawing/2014/main" id="{1602B224-676C-4FE5-8BE2-3DC3B0B301AD}"/>
              </a:ext>
            </a:extLst>
          </p:cNvPr>
          <p:cNvSpPr>
            <a:spLocks xmlns:a="http://schemas.openxmlformats.org/drawingml/2006/main" noGrp="1"/>
          </p:cNvSpPr>
          <p:nvPr/>
        </p:nvSpPr>
        <p:spPr>
          <a:xfrm xmlns:a="http://schemas.openxmlformats.org/drawingml/2006/main">
            <a:off x="2914650" y="13335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75" b="0">
                <a:solidFill>
                  <a:srgbClr val="617078"/>
                </a:solidFill>
                <a:latin typeface="Yu Gothic"/>
                <a:ea typeface="Yu Gothic"/>
                <a:cs typeface="Yu Gothic"/>
              </a:defRPr>
            </a:pPr>
            <a:r>
              <a:rPr sz="1275" b="0">
                <a:solidFill>
                  <a:srgbClr val="617078"/>
                </a:solidFill>
                <a:latin typeface="Yu Gothic"/>
                <a:ea typeface="Yu Gothic"/>
                <a:cs typeface="Yu Gothic"/>
              </a:rPr>
              <a:t>小型AIの更新と Qₖ,ᵣ を別経路で表示　／　Layer 2を今回の中心として表示</a:t>
            </a:r>
          </a:p>
        </p:txBody>
      </p:sp>
      <p:sp>
        <p:nvSpPr>
          <p:cNvPr id="12" name="">
            <a:extLst xmlns:a="http://schemas.openxmlformats.org/drawingml/2006/main">
              <a:ext uri="{FF2B5EF4-FFF2-40B4-BE49-F238E27FC236}">
                <a16:creationId xmlns:a16="http://schemas.microsoft.com/office/drawing/2014/main" id="{4EDDD149-D1ED-49BB-ABD8-5E0B8C54374F}"/>
              </a:ext>
            </a:extLst>
          </p:cNvPr>
          <p:cNvSpPr>
            <a:spLocks xmlns:a="http://schemas.openxmlformats.org/drawingml/2006/main" noGrp="1"/>
          </p:cNvSpPr>
          <p:nvPr/>
        </p:nvSpPr>
        <p:spPr>
          <a:xfrm xmlns:a="http://schemas.openxmlformats.org/drawingml/2006/main">
            <a:off x="781050" y="563880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47B78"/>
                </a:solidFill>
                <a:latin typeface="Yu Gothic"/>
                <a:ea typeface="Yu Gothic"/>
                <a:cs typeface="Yu Gothic"/>
              </a:defRPr>
            </a:pPr>
            <a:r>
              <a:rPr sz="1500" b="1">
                <a:solidFill>
                  <a:srgbClr val="147B78"/>
                </a:solidFill>
                <a:latin typeface="Yu Gothic"/>
                <a:ea typeface="Yu Gothic"/>
                <a:cs typeface="Yu Gothic"/>
              </a:rPr>
              <a:t>今回の確認範囲</a:t>
            </a:r>
          </a:p>
        </p:txBody>
      </p:sp>
      <p:sp>
        <p:nvSpPr>
          <p:cNvPr id="13" name="">
            <a:extLst xmlns:a="http://schemas.openxmlformats.org/drawingml/2006/main">
              <a:ext uri="{FF2B5EF4-FFF2-40B4-BE49-F238E27FC236}">
                <a16:creationId xmlns:a16="http://schemas.microsoft.com/office/drawing/2014/main" id="{468D9C5E-DB72-499A-A8AD-8D187453D689}"/>
              </a:ext>
            </a:extLst>
          </p:cNvPr>
          <p:cNvSpPr>
            <a:spLocks xmlns:a="http://schemas.openxmlformats.org/drawingml/2006/main" noGrp="1"/>
          </p:cNvSpPr>
          <p:nvPr/>
        </p:nvSpPr>
        <p:spPr>
          <a:xfrm xmlns:a="http://schemas.openxmlformats.org/drawingml/2006/main">
            <a:off x="2686050" y="5505450"/>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Layer 1</a:t>
            </a:r>
          </a:p>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2台の小型AIを連合平均</a:t>
            </a:r>
          </a:p>
        </p:txBody>
      </p:sp>
      <p:sp>
        <p:nvSpPr>
          <p:cNvPr id="14" name="">
            <a:extLst xmlns:a="http://schemas.openxmlformats.org/drawingml/2006/main">
              <a:ext uri="{FF2B5EF4-FFF2-40B4-BE49-F238E27FC236}">
                <a16:creationId xmlns:a16="http://schemas.microsoft.com/office/drawing/2014/main" id="{A27A3539-9D23-4D66-BCFC-7E81866579C1}"/>
              </a:ext>
            </a:extLst>
          </p:cNvPr>
          <p:cNvSpPr>
            <a:spLocks xmlns:a="http://schemas.openxmlformats.org/drawingml/2006/main" noGrp="1"/>
          </p:cNvSpPr>
          <p:nvPr/>
        </p:nvSpPr>
        <p:spPr>
          <a:xfrm xmlns:a="http://schemas.openxmlformats.org/drawingml/2006/main">
            <a:off x="4610100" y="5800725"/>
            <a:ext cx="238125" cy="1905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D1C32B6-2388-4157-A770-02A18E7C8822}"/>
              </a:ext>
            </a:extLst>
          </p:cNvPr>
          <p:cNvSpPr>
            <a:spLocks xmlns:a="http://schemas.openxmlformats.org/drawingml/2006/main" noGrp="1"/>
          </p:cNvSpPr>
          <p:nvPr/>
        </p:nvSpPr>
        <p:spPr>
          <a:xfrm xmlns:a="http://schemas.openxmlformats.org/drawingml/2006/main">
            <a:off x="4924425" y="5505450"/>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E7833D"/>
                </a:solidFill>
                <a:latin typeface="Yu Gothic"/>
                <a:ea typeface="Yu Gothic"/>
                <a:cs typeface="Yu Gothic"/>
              </a:defRPr>
            </a:pPr>
            <a:r>
              <a:rPr sz="1350" b="1">
                <a:solidFill>
                  <a:srgbClr val="E7833D"/>
                </a:solidFill>
                <a:latin typeface="Yu Gothic"/>
                <a:ea typeface="Yu Gothic"/>
                <a:cs typeface="Yu Gothic"/>
              </a:rPr>
              <a:t>Layer 2</a:t>
            </a:r>
          </a:p>
          <a:p xmlns:a="http://schemas.openxmlformats.org/drawingml/2006/main">
            <a:pPr algn="ctr">
              <a:defRPr sz="1350" b="1">
                <a:solidFill>
                  <a:srgbClr val="E7833D"/>
                </a:solidFill>
                <a:latin typeface="Yu Gothic"/>
                <a:ea typeface="Yu Gothic"/>
                <a:cs typeface="Yu Gothic"/>
              </a:defRPr>
            </a:pPr>
            <a:r>
              <a:rPr sz="1350" b="1">
                <a:solidFill>
                  <a:srgbClr val="E7833D"/>
                </a:solidFill>
                <a:latin typeface="Yu Gothic"/>
                <a:ea typeface="Yu Gothic"/>
                <a:cs typeface="Yu Gothic"/>
              </a:rPr>
              <a:t>代理データを生成</a:t>
            </a:r>
          </a:p>
        </p:txBody>
      </p:sp>
      <p:sp>
        <p:nvSpPr>
          <p:cNvPr id="16" name="">
            <a:extLst xmlns:a="http://schemas.openxmlformats.org/drawingml/2006/main">
              <a:ext uri="{FF2B5EF4-FFF2-40B4-BE49-F238E27FC236}">
                <a16:creationId xmlns:a16="http://schemas.microsoft.com/office/drawing/2014/main" id="{96BBC238-C631-4B7D-B08E-EE42D8CFFA36}"/>
              </a:ext>
            </a:extLst>
          </p:cNvPr>
          <p:cNvSpPr>
            <a:spLocks xmlns:a="http://schemas.openxmlformats.org/drawingml/2006/main" noGrp="1"/>
          </p:cNvSpPr>
          <p:nvPr/>
        </p:nvSpPr>
        <p:spPr>
          <a:xfrm xmlns:a="http://schemas.openxmlformats.org/drawingml/2006/main">
            <a:off x="6848475" y="5800725"/>
            <a:ext cx="238125" cy="1905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3568579-59B0-4153-BFD9-4356FC4CB0C1}"/>
              </a:ext>
            </a:extLst>
          </p:cNvPr>
          <p:cNvSpPr>
            <a:spLocks xmlns:a="http://schemas.openxmlformats.org/drawingml/2006/main" noGrp="1"/>
          </p:cNvSpPr>
          <p:nvPr/>
        </p:nvSpPr>
        <p:spPr>
          <a:xfrm xmlns:a="http://schemas.openxmlformats.org/drawingml/2006/main">
            <a:off x="7162800" y="5505450"/>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Layer 3</a:t>
            </a:r>
          </a:p>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中央側AIを更新</a:t>
            </a:r>
          </a:p>
        </p:txBody>
      </p:sp>
      <p:sp>
        <p:nvSpPr>
          <p:cNvPr id="18" name="">
            <a:extLst xmlns:a="http://schemas.openxmlformats.org/drawingml/2006/main">
              <a:ext uri="{FF2B5EF4-FFF2-40B4-BE49-F238E27FC236}">
                <a16:creationId xmlns:a16="http://schemas.microsoft.com/office/drawing/2014/main" id="{648964D3-F3D3-4CEB-B8F2-20A557208125}"/>
              </a:ext>
            </a:extLst>
          </p:cNvPr>
          <p:cNvSpPr>
            <a:spLocks xmlns:a="http://schemas.openxmlformats.org/drawingml/2006/main" noGrp="1"/>
          </p:cNvSpPr>
          <p:nvPr/>
        </p:nvSpPr>
        <p:spPr>
          <a:xfrm xmlns:a="http://schemas.openxmlformats.org/drawingml/2006/main">
            <a:off x="9086850" y="5800725"/>
            <a:ext cx="238125" cy="1905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C9E7AFC-C093-4061-A36C-96110A8ACBAA}"/>
              </a:ext>
            </a:extLst>
          </p:cNvPr>
          <p:cNvSpPr>
            <a:spLocks xmlns:a="http://schemas.openxmlformats.org/drawingml/2006/main" noGrp="1"/>
          </p:cNvSpPr>
          <p:nvPr/>
        </p:nvSpPr>
        <p:spPr>
          <a:xfrm xmlns:a="http://schemas.openxmlformats.org/drawingml/2006/main">
            <a:off x="9401175" y="5505450"/>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次のラウンド</a:t>
            </a:r>
          </a:p>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状態を引き継ぐ</a:t>
            </a:r>
          </a:p>
        </p:txBody>
      </p:sp>
      <p:sp>
        <p:nvSpPr>
          <p:cNvPr id="20" name="">
            <a:extLst xmlns:a="http://schemas.openxmlformats.org/drawingml/2006/main">
              <a:ext uri="{FF2B5EF4-FFF2-40B4-BE49-F238E27FC236}">
                <a16:creationId xmlns:a16="http://schemas.microsoft.com/office/drawing/2014/main" id="{145F6F0E-3DA0-49F6-876F-76126AABC390}"/>
              </a:ext>
            </a:extLst>
          </p:cNvPr>
          <p:cNvSpPr>
            <a:spLocks xmlns:a="http://schemas.openxmlformats.org/drawingml/2006/main" noGrp="1"/>
          </p:cNvSpPr>
          <p:nvPr/>
        </p:nvSpPr>
        <p:spPr>
          <a:xfrm xmlns:a="http://schemas.openxmlformats.org/drawingml/2006/main">
            <a:off x="952500" y="615315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26373D"/>
                </a:solidFill>
                <a:latin typeface="Yu Gothic"/>
                <a:ea typeface="Yu Gothic"/>
                <a:cs typeface="Yu Gothic"/>
              </a:defRPr>
            </a:pPr>
            <a:r>
              <a:rPr sz="1350" b="1">
                <a:solidFill>
                  <a:srgbClr val="26373D"/>
                </a:solidFill>
                <a:latin typeface="Yu Gothic"/>
                <a:ea typeface="Yu Gothic"/>
                <a:cs typeface="Yu Gothic"/>
              </a:rPr>
              <a:t>合格条件：3層と次のラウンドが正しくつながり、入力・出力・状態をログから追えること</a:t>
            </a:r>
          </a:p>
        </p:txBody>
      </p:sp>
    </p:spTree>
    <p:extLst>
      <p:ext uri="{BB962C8B-B14F-4D97-AF65-F5344CB8AC3E}">
        <p14:creationId xmlns:p14="http://schemas.microsoft.com/office/powerpoint/2010/main" val="52334411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756DEE7F-FED2-4341-B679-171A5586F04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402747A-0F20-401F-8B14-C2CF18696EEE}"/>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F098CB7-82DC-47A3-9B15-79654A30F0EA}"/>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学習後の判定は一致したが、変化量には差が残った</a:t>
            </a:r>
          </a:p>
        </p:txBody>
      </p:sp>
      <p:sp>
        <p:nvSpPr>
          <p:cNvPr id="4" name="">
            <a:extLst xmlns:a="http://schemas.openxmlformats.org/drawingml/2006/main">
              <a:ext uri="{FF2B5EF4-FFF2-40B4-BE49-F238E27FC236}">
                <a16:creationId xmlns:a16="http://schemas.microsoft.com/office/drawing/2014/main" id="{C0E0FB0C-4A80-4C14-BFDC-67BA01D00FF7}"/>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07</a:t>
            </a:r>
          </a:p>
        </p:txBody>
      </p:sp>
      <p:sp>
        <p:nvSpPr>
          <p:cNvPr id="5" name="">
            <a:extLst xmlns:a="http://schemas.openxmlformats.org/drawingml/2006/main">
              <a:ext uri="{FF2B5EF4-FFF2-40B4-BE49-F238E27FC236}">
                <a16:creationId xmlns:a16="http://schemas.microsoft.com/office/drawing/2014/main" id="{A0D409D2-54E0-481C-9FE6-6E701E28F34F}"/>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D13C51A-633A-4273-B5F4-A4A86B6F9F5B}"/>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DA275D78-1670-421E-A2F9-3B50FC7D5E2D}"/>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7 / 9</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c70320e7759f4b51"/>
          <a:srcRect xmlns:a="http://schemas.openxmlformats.org/drawingml/2006/main" l="41" t="0" r="41" b="0"/>
          <a:stretch xmlns:a="http://schemas.openxmlformats.org/drawingml/2006/main">
            <a:fillRect l="0" t="0" r="0" b="0"/>
          </a:stretch>
        </p:blipFill>
        <p:spPr>
          <a:xfrm xmlns:a="http://schemas.openxmlformats.org/drawingml/2006/main">
            <a:off x="552450" y="1162050"/>
            <a:ext cx="2571750" cy="1447800"/>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5bc36891753d4b1b"/>
          <a:srcRect xmlns:a="http://schemas.openxmlformats.org/drawingml/2006/main" l="41" t="0" r="41" b="0"/>
          <a:stretch xmlns:a="http://schemas.openxmlformats.org/drawingml/2006/main">
            <a:fillRect l="0" t="0" r="0" b="0"/>
          </a:stretch>
        </p:blipFill>
        <p:spPr>
          <a:xfrm xmlns:a="http://schemas.openxmlformats.org/drawingml/2006/main">
            <a:off x="3371850" y="1162050"/>
            <a:ext cx="2571750" cy="1447800"/>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873ab1a1dd4e4af3"/>
          <a:srcRect xmlns:a="http://schemas.openxmlformats.org/drawingml/2006/main" l="41" t="0" r="41" b="0"/>
          <a:stretch xmlns:a="http://schemas.openxmlformats.org/drawingml/2006/main">
            <a:fillRect l="0" t="0" r="0" b="0"/>
          </a:stretch>
        </p:blipFill>
        <p:spPr>
          <a:xfrm xmlns:a="http://schemas.openxmlformats.org/drawingml/2006/main">
            <a:off x="6191250" y="1162050"/>
            <a:ext cx="2571750" cy="1447800"/>
          </a:xfrm>
          <a:prstGeom xmlns:a="http://schemas.openxmlformats.org/drawingml/2006/main" prst="rect">
            <a:avLst/>
          </a:prstGeom>
        </p:spPr>
      </p:pic>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1c04614b72b54165"/>
          <a:srcRect xmlns:a="http://schemas.openxmlformats.org/drawingml/2006/main" l="41" t="0" r="41" b="0"/>
          <a:stretch xmlns:a="http://schemas.openxmlformats.org/drawingml/2006/main">
            <a:fillRect l="0" t="0" r="0" b="0"/>
          </a:stretch>
        </p:blipFill>
        <p:spPr>
          <a:xfrm xmlns:a="http://schemas.openxmlformats.org/drawingml/2006/main">
            <a:off x="9010650" y="1162050"/>
            <a:ext cx="2571750" cy="14478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CFB63F7-5FA3-4795-86EA-D98A84792B05}"/>
              </a:ext>
            </a:extLst>
          </p:cNvPr>
          <p:cNvSpPr>
            <a:spLocks xmlns:a="http://schemas.openxmlformats.org/drawingml/2006/main" noGrp="1"/>
          </p:cNvSpPr>
          <p:nvPr/>
        </p:nvSpPr>
        <p:spPr>
          <a:xfrm xmlns:a="http://schemas.openxmlformats.org/drawingml/2006/main">
            <a:off x="552450" y="2705100"/>
            <a:ext cx="11029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E7833D"/>
                </a:solidFill>
                <a:latin typeface="Yu Gothic"/>
                <a:ea typeface="Yu Gothic"/>
                <a:cs typeface="Yu Gothic"/>
              </a:defRPr>
            </a:pPr>
            <a:r>
              <a:rPr sz="1125" b="1">
                <a:solidFill>
                  <a:srgbClr val="E7833D"/>
                </a:solidFill>
                <a:latin typeface="Yu Gothic"/>
                <a:ea typeface="Yu Gothic"/>
                <a:cs typeface="Yu Gothic"/>
              </a:rPr>
              <a:t>4枚目で選んだ中央側動画：正解ラベルは通常、変換なし</a:t>
            </a:r>
          </a:p>
        </p:txBody>
      </p:sp>
      <p:sp>
        <p:nvSpPr>
          <p:cNvPr id="13" name="">
            <a:extLst xmlns:a="http://schemas.openxmlformats.org/drawingml/2006/main">
              <a:ext uri="{FF2B5EF4-FFF2-40B4-BE49-F238E27FC236}">
                <a16:creationId xmlns:a16="http://schemas.microsoft.com/office/drawing/2014/main" id="{48773EDF-49BA-4247-A7B3-935B9DDF7195}"/>
              </a:ext>
            </a:extLst>
          </p:cNvPr>
          <p:cNvSpPr>
            <a:spLocks xmlns:a="http://schemas.openxmlformats.org/drawingml/2006/main" noGrp="1"/>
          </p:cNvSpPr>
          <p:nvPr/>
        </p:nvSpPr>
        <p:spPr>
          <a:xfrm xmlns:a="http://schemas.openxmlformats.org/drawingml/2006/main">
            <a:off x="857250" y="33337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47B78"/>
                </a:solidFill>
                <a:latin typeface="Yu Gothic"/>
                <a:ea typeface="Yu Gothic"/>
                <a:cs typeface="Yu Gothic"/>
              </a:defRPr>
            </a:pPr>
            <a:r>
              <a:rPr sz="1725" b="1">
                <a:solidFill>
                  <a:srgbClr val="147B78"/>
                </a:solidFill>
                <a:latin typeface="Yu Gothic"/>
                <a:ea typeface="Yu Gothic"/>
                <a:cs typeface="Yu Gothic"/>
              </a:rPr>
              <a:t>学習後の危険確率</a:t>
            </a:r>
          </a:p>
        </p:txBody>
      </p:sp>
      <p:sp>
        <p:nvSpPr>
          <p:cNvPr id="14" name="">
            <a:extLst xmlns:a="http://schemas.openxmlformats.org/drawingml/2006/main">
              <a:ext uri="{FF2B5EF4-FFF2-40B4-BE49-F238E27FC236}">
                <a16:creationId xmlns:a16="http://schemas.microsoft.com/office/drawing/2014/main" id="{510142C6-32A2-4612-AE21-3DBAFB8451E3}"/>
              </a:ext>
            </a:extLst>
          </p:cNvPr>
          <p:cNvSpPr>
            <a:spLocks xmlns:a="http://schemas.openxmlformats.org/drawingml/2006/main" noGrp="1"/>
          </p:cNvSpPr>
          <p:nvPr/>
        </p:nvSpPr>
        <p:spPr>
          <a:xfrm xmlns:a="http://schemas.openxmlformats.org/drawingml/2006/main">
            <a:off x="1047750" y="389572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現場側の目標</a:t>
            </a:r>
          </a:p>
        </p:txBody>
      </p:sp>
      <p:sp>
        <p:nvSpPr>
          <p:cNvPr id="15" name="">
            <a:extLst xmlns:a="http://schemas.openxmlformats.org/drawingml/2006/main">
              <a:ext uri="{FF2B5EF4-FFF2-40B4-BE49-F238E27FC236}">
                <a16:creationId xmlns:a16="http://schemas.microsoft.com/office/drawing/2014/main" id="{1FC230E6-C0CD-439D-AD4C-D4DBEFD101C9}"/>
              </a:ext>
            </a:extLst>
          </p:cNvPr>
          <p:cNvSpPr>
            <a:spLocks xmlns:a="http://schemas.openxmlformats.org/drawingml/2006/main" noGrp="1"/>
          </p:cNvSpPr>
          <p:nvPr/>
        </p:nvSpPr>
        <p:spPr>
          <a:xfrm xmlns:a="http://schemas.openxmlformats.org/drawingml/2006/main">
            <a:off x="1047750" y="422910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173B4B"/>
                </a:solidFill>
                <a:latin typeface="Yu Gothic"/>
                <a:ea typeface="Yu Gothic"/>
                <a:cs typeface="Yu Gothic"/>
              </a:defRPr>
            </a:pPr>
            <a:r>
              <a:rPr sz="3000" b="1">
                <a:solidFill>
                  <a:srgbClr val="173B4B"/>
                </a:solidFill>
                <a:latin typeface="Yu Gothic"/>
                <a:ea typeface="Yu Gothic"/>
                <a:cs typeface="Yu Gothic"/>
              </a:rPr>
              <a:t>0.724</a:t>
            </a:r>
          </a:p>
        </p:txBody>
      </p:sp>
      <p:sp>
        <p:nvSpPr>
          <p:cNvPr id="16" name="">
            <a:extLst xmlns:a="http://schemas.openxmlformats.org/drawingml/2006/main">
              <a:ext uri="{FF2B5EF4-FFF2-40B4-BE49-F238E27FC236}">
                <a16:creationId xmlns:a16="http://schemas.microsoft.com/office/drawing/2014/main" id="{34D92D60-CF46-4F0C-A2D4-A95AC5D777F5}"/>
              </a:ext>
            </a:extLst>
          </p:cNvPr>
          <p:cNvSpPr>
            <a:spLocks xmlns:a="http://schemas.openxmlformats.org/drawingml/2006/main" noGrp="1"/>
          </p:cNvSpPr>
          <p:nvPr/>
        </p:nvSpPr>
        <p:spPr>
          <a:xfrm xmlns:a="http://schemas.openxmlformats.org/drawingml/2006/main">
            <a:off x="3381375" y="389572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代理データ</a:t>
            </a:r>
          </a:p>
        </p:txBody>
      </p:sp>
      <p:sp>
        <p:nvSpPr>
          <p:cNvPr id="17" name="">
            <a:extLst xmlns:a="http://schemas.openxmlformats.org/drawingml/2006/main">
              <a:ext uri="{FF2B5EF4-FFF2-40B4-BE49-F238E27FC236}">
                <a16:creationId xmlns:a16="http://schemas.microsoft.com/office/drawing/2014/main" id="{F818BC61-7066-48D9-8E56-403E90255487}"/>
              </a:ext>
            </a:extLst>
          </p:cNvPr>
          <p:cNvSpPr>
            <a:spLocks xmlns:a="http://schemas.openxmlformats.org/drawingml/2006/main" noGrp="1"/>
          </p:cNvSpPr>
          <p:nvPr/>
        </p:nvSpPr>
        <p:spPr>
          <a:xfrm xmlns:a="http://schemas.openxmlformats.org/drawingml/2006/main">
            <a:off x="3381375" y="422910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147B78"/>
                </a:solidFill>
                <a:latin typeface="Yu Gothic"/>
                <a:ea typeface="Yu Gothic"/>
                <a:cs typeface="Yu Gothic"/>
              </a:defRPr>
            </a:pPr>
            <a:r>
              <a:rPr sz="3000" b="1">
                <a:solidFill>
                  <a:srgbClr val="147B78"/>
                </a:solidFill>
                <a:latin typeface="Yu Gothic"/>
                <a:ea typeface="Yu Gothic"/>
                <a:cs typeface="Yu Gothic"/>
              </a:rPr>
              <a:t>0.724</a:t>
            </a:r>
          </a:p>
        </p:txBody>
      </p:sp>
      <p:sp>
        <p:nvSpPr>
          <p:cNvPr id="18" name="">
            <a:extLst xmlns:a="http://schemas.openxmlformats.org/drawingml/2006/main">
              <a:ext uri="{FF2B5EF4-FFF2-40B4-BE49-F238E27FC236}">
                <a16:creationId xmlns:a16="http://schemas.microsoft.com/office/drawing/2014/main" id="{E4DE33AD-B94E-41FF-8CDF-DA9E2268FBCE}"/>
              </a:ext>
            </a:extLst>
          </p:cNvPr>
          <p:cNvSpPr>
            <a:spLocks xmlns:a="http://schemas.openxmlformats.org/drawingml/2006/main" noGrp="1"/>
          </p:cNvSpPr>
          <p:nvPr/>
        </p:nvSpPr>
        <p:spPr>
          <a:xfrm xmlns:a="http://schemas.openxmlformats.org/drawingml/2006/main">
            <a:off x="2095500" y="4886325"/>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147B78"/>
                </a:solidFill>
                <a:latin typeface="Yu Gothic"/>
                <a:ea typeface="Yu Gothic"/>
                <a:cs typeface="Yu Gothic"/>
              </a:defRPr>
            </a:pPr>
            <a:r>
              <a:rPr sz="1650" b="1">
                <a:solidFill>
                  <a:srgbClr val="147B78"/>
                </a:solidFill>
                <a:latin typeface="Yu Gothic"/>
                <a:ea typeface="Yu Gothic"/>
                <a:cs typeface="Yu Gothic"/>
              </a:rPr>
              <a:t>ほぼ一致</a:t>
            </a:r>
          </a:p>
        </p:txBody>
      </p:sp>
      <p:sp>
        <p:nvSpPr>
          <p:cNvPr id="19" name="">
            <a:extLst xmlns:a="http://schemas.openxmlformats.org/drawingml/2006/main">
              <a:ext uri="{FF2B5EF4-FFF2-40B4-BE49-F238E27FC236}">
                <a16:creationId xmlns:a16="http://schemas.microsoft.com/office/drawing/2014/main" id="{12DFFFBB-C17D-4E18-BAC2-59B12555162C}"/>
              </a:ext>
            </a:extLst>
          </p:cNvPr>
          <p:cNvSpPr>
            <a:spLocks xmlns:a="http://schemas.openxmlformats.org/drawingml/2006/main" noGrp="1"/>
          </p:cNvSpPr>
          <p:nvPr/>
        </p:nvSpPr>
        <p:spPr>
          <a:xfrm xmlns:a="http://schemas.openxmlformats.org/drawingml/2006/main">
            <a:off x="5905500" y="3286125"/>
            <a:ext cx="19050" cy="2000250"/>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7400A0D-FFD3-48FB-BAB4-3A38B9F215E8}"/>
              </a:ext>
            </a:extLst>
          </p:cNvPr>
          <p:cNvSpPr>
            <a:spLocks xmlns:a="http://schemas.openxmlformats.org/drawingml/2006/main" noGrp="1"/>
          </p:cNvSpPr>
          <p:nvPr/>
        </p:nvSpPr>
        <p:spPr>
          <a:xfrm xmlns:a="http://schemas.openxmlformats.org/drawingml/2006/main">
            <a:off x="6286500" y="33337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47B78"/>
                </a:solidFill>
                <a:latin typeface="Yu Gothic"/>
                <a:ea typeface="Yu Gothic"/>
                <a:cs typeface="Yu Gothic"/>
              </a:defRPr>
            </a:pPr>
            <a:r>
              <a:rPr sz="1725" b="1">
                <a:solidFill>
                  <a:srgbClr val="147B78"/>
                </a:solidFill>
                <a:latin typeface="Yu Gothic"/>
                <a:ea typeface="Yu Gothic"/>
                <a:cs typeface="Yu Gothic"/>
              </a:rPr>
              <a:t>学習による危険方向の変化</a:t>
            </a:r>
          </a:p>
        </p:txBody>
      </p:sp>
      <p:sp>
        <p:nvSpPr>
          <p:cNvPr id="21" name="">
            <a:extLst xmlns:a="http://schemas.openxmlformats.org/drawingml/2006/main">
              <a:ext uri="{FF2B5EF4-FFF2-40B4-BE49-F238E27FC236}">
                <a16:creationId xmlns:a16="http://schemas.microsoft.com/office/drawing/2014/main" id="{03E2AD1D-BB10-444F-ACE3-B4327A3C949D}"/>
              </a:ext>
            </a:extLst>
          </p:cNvPr>
          <p:cNvSpPr>
            <a:spLocks xmlns:a="http://schemas.openxmlformats.org/drawingml/2006/main" noGrp="1"/>
          </p:cNvSpPr>
          <p:nvPr/>
        </p:nvSpPr>
        <p:spPr>
          <a:xfrm xmlns:a="http://schemas.openxmlformats.org/drawingml/2006/main">
            <a:off x="6572250" y="389572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現場側の目標</a:t>
            </a:r>
          </a:p>
        </p:txBody>
      </p:sp>
      <p:sp>
        <p:nvSpPr>
          <p:cNvPr id="22" name="">
            <a:extLst xmlns:a="http://schemas.openxmlformats.org/drawingml/2006/main">
              <a:ext uri="{FF2B5EF4-FFF2-40B4-BE49-F238E27FC236}">
                <a16:creationId xmlns:a16="http://schemas.microsoft.com/office/drawing/2014/main" id="{111ECB9C-A1AC-4600-9554-71FE9C8CAA8C}"/>
              </a:ext>
            </a:extLst>
          </p:cNvPr>
          <p:cNvSpPr>
            <a:spLocks xmlns:a="http://schemas.openxmlformats.org/drawingml/2006/main" noGrp="1"/>
          </p:cNvSpPr>
          <p:nvPr/>
        </p:nvSpPr>
        <p:spPr>
          <a:xfrm xmlns:a="http://schemas.openxmlformats.org/drawingml/2006/main">
            <a:off x="6572250" y="422910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173B4B"/>
                </a:solidFill>
                <a:latin typeface="Yu Gothic"/>
                <a:ea typeface="Yu Gothic"/>
                <a:cs typeface="Yu Gothic"/>
              </a:defRPr>
            </a:pPr>
            <a:r>
              <a:rPr sz="3000" b="1">
                <a:solidFill>
                  <a:srgbClr val="173B4B"/>
                </a:solidFill>
                <a:latin typeface="Yu Gothic"/>
                <a:ea typeface="Yu Gothic"/>
                <a:cs typeface="Yu Gothic"/>
              </a:rPr>
              <a:t>+0.238</a:t>
            </a:r>
          </a:p>
        </p:txBody>
      </p:sp>
      <p:sp>
        <p:nvSpPr>
          <p:cNvPr id="23" name="">
            <a:extLst xmlns:a="http://schemas.openxmlformats.org/drawingml/2006/main">
              <a:ext uri="{FF2B5EF4-FFF2-40B4-BE49-F238E27FC236}">
                <a16:creationId xmlns:a16="http://schemas.microsoft.com/office/drawing/2014/main" id="{2027D83F-E706-4561-BC11-89B6A88B54D7}"/>
              </a:ext>
            </a:extLst>
          </p:cNvPr>
          <p:cNvSpPr>
            <a:spLocks xmlns:a="http://schemas.openxmlformats.org/drawingml/2006/main" noGrp="1"/>
          </p:cNvSpPr>
          <p:nvPr/>
        </p:nvSpPr>
        <p:spPr>
          <a:xfrm xmlns:a="http://schemas.openxmlformats.org/drawingml/2006/main">
            <a:off x="9048750" y="389572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代理データ</a:t>
            </a:r>
          </a:p>
        </p:txBody>
      </p:sp>
      <p:sp>
        <p:nvSpPr>
          <p:cNvPr id="24" name="">
            <a:extLst xmlns:a="http://schemas.openxmlformats.org/drawingml/2006/main">
              <a:ext uri="{FF2B5EF4-FFF2-40B4-BE49-F238E27FC236}">
                <a16:creationId xmlns:a16="http://schemas.microsoft.com/office/drawing/2014/main" id="{5131F888-464F-4241-9845-F82F045284DC}"/>
              </a:ext>
            </a:extLst>
          </p:cNvPr>
          <p:cNvSpPr>
            <a:spLocks xmlns:a="http://schemas.openxmlformats.org/drawingml/2006/main" noGrp="1"/>
          </p:cNvSpPr>
          <p:nvPr/>
        </p:nvSpPr>
        <p:spPr>
          <a:xfrm xmlns:a="http://schemas.openxmlformats.org/drawingml/2006/main">
            <a:off x="9048750" y="422910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B94A3A"/>
                </a:solidFill>
                <a:latin typeface="Yu Gothic"/>
                <a:ea typeface="Yu Gothic"/>
                <a:cs typeface="Yu Gothic"/>
              </a:defRPr>
            </a:pPr>
            <a:r>
              <a:rPr sz="3000" b="1">
                <a:solidFill>
                  <a:srgbClr val="B94A3A"/>
                </a:solidFill>
                <a:latin typeface="Yu Gothic"/>
                <a:ea typeface="Yu Gothic"/>
                <a:cs typeface="Yu Gothic"/>
              </a:rPr>
              <a:t>+0.051</a:t>
            </a:r>
          </a:p>
        </p:txBody>
      </p:sp>
      <p:sp>
        <p:nvSpPr>
          <p:cNvPr id="25" name="">
            <a:extLst xmlns:a="http://schemas.openxmlformats.org/drawingml/2006/main">
              <a:ext uri="{FF2B5EF4-FFF2-40B4-BE49-F238E27FC236}">
                <a16:creationId xmlns:a16="http://schemas.microsoft.com/office/drawing/2014/main" id="{4C458759-1B4C-47B0-9D7C-B056B2712779}"/>
              </a:ext>
            </a:extLst>
          </p:cNvPr>
          <p:cNvSpPr>
            <a:spLocks xmlns:a="http://schemas.openxmlformats.org/drawingml/2006/main" noGrp="1"/>
          </p:cNvSpPr>
          <p:nvPr/>
        </p:nvSpPr>
        <p:spPr>
          <a:xfrm xmlns:a="http://schemas.openxmlformats.org/drawingml/2006/main">
            <a:off x="9029700" y="4810125"/>
            <a:ext cx="1857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0.673 から 0.724</a:t>
            </a:r>
          </a:p>
        </p:txBody>
      </p:sp>
      <p:sp>
        <p:nvSpPr>
          <p:cNvPr id="26" name="">
            <a:extLst xmlns:a="http://schemas.openxmlformats.org/drawingml/2006/main">
              <a:ext uri="{FF2B5EF4-FFF2-40B4-BE49-F238E27FC236}">
                <a16:creationId xmlns:a16="http://schemas.microsoft.com/office/drawing/2014/main" id="{EAA7996F-E5BF-4701-AED8-977208721D7A}"/>
              </a:ext>
            </a:extLst>
          </p:cNvPr>
          <p:cNvSpPr>
            <a:spLocks xmlns:a="http://schemas.openxmlformats.org/drawingml/2006/main" noGrp="1"/>
          </p:cNvSpPr>
          <p:nvPr/>
        </p:nvSpPr>
        <p:spPr>
          <a:xfrm xmlns:a="http://schemas.openxmlformats.org/drawingml/2006/main">
            <a:off x="7858125" y="506730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B94A3A"/>
                </a:solidFill>
                <a:latin typeface="Yu Gothic"/>
                <a:ea typeface="Yu Gothic"/>
                <a:cs typeface="Yu Gothic"/>
              </a:defRPr>
            </a:pPr>
            <a:r>
              <a:rPr sz="1650" b="1">
                <a:solidFill>
                  <a:srgbClr val="B94A3A"/>
                </a:solidFill>
                <a:latin typeface="Yu Gothic"/>
                <a:ea typeface="Yu Gothic"/>
                <a:cs typeface="Yu Gothic"/>
              </a:rPr>
              <a:t>差が残る</a:t>
            </a:r>
          </a:p>
        </p:txBody>
      </p:sp>
      <p:sp>
        <p:nvSpPr>
          <p:cNvPr id="27" name="">
            <a:extLst xmlns:a="http://schemas.openxmlformats.org/drawingml/2006/main">
              <a:ext uri="{FF2B5EF4-FFF2-40B4-BE49-F238E27FC236}">
                <a16:creationId xmlns:a16="http://schemas.microsoft.com/office/drawing/2014/main" id="{93B0B888-A9DC-4442-855E-A16A66173D69}"/>
              </a:ext>
            </a:extLst>
          </p:cNvPr>
          <p:cNvSpPr>
            <a:spLocks xmlns:a="http://schemas.openxmlformats.org/drawingml/2006/main" noGrp="1"/>
          </p:cNvSpPr>
          <p:nvPr/>
        </p:nvSpPr>
        <p:spPr>
          <a:xfrm xmlns:a="http://schemas.openxmlformats.org/drawingml/2006/main">
            <a:off x="742950" y="5610225"/>
            <a:ext cx="10706100" cy="59055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4E910C66-D891-4FC1-83FB-BDABF7874337}"/>
              </a:ext>
            </a:extLst>
          </p:cNvPr>
          <p:cNvSpPr>
            <a:spLocks xmlns:a="http://schemas.openxmlformats.org/drawingml/2006/main" noGrp="1"/>
          </p:cNvSpPr>
          <p:nvPr/>
        </p:nvSpPr>
        <p:spPr>
          <a:xfrm xmlns:a="http://schemas.openxmlformats.org/drawingml/2006/main">
            <a:off x="1000125" y="5753100"/>
            <a:ext cx="1019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725" b="1">
                <a:solidFill>
                  <a:srgbClr val="26373D"/>
                </a:solidFill>
                <a:latin typeface="Yu Gothic"/>
                <a:ea typeface="Yu Gothic"/>
                <a:cs typeface="Yu Gothic"/>
              </a:defRPr>
            </a:pPr>
            <a:r>
              <a:rPr sz="1725" b="1">
                <a:solidFill>
                  <a:srgbClr val="26373D"/>
                </a:solidFill>
                <a:latin typeface="Yu Gothic"/>
                <a:ea typeface="Yu Gothic"/>
                <a:cs typeface="Yu Gothic"/>
              </a:rPr>
              <a:t>最終的な判定の一致だけでは、現場で生じた学習変化を再現できたとは判断できない</a:t>
            </a:r>
          </a:p>
        </p:txBody>
      </p:sp>
      <p:sp>
        <p:nvSpPr>
          <p:cNvPr id="29" name="">
            <a:extLst xmlns:a="http://schemas.openxmlformats.org/drawingml/2006/main">
              <a:ext uri="{FF2B5EF4-FFF2-40B4-BE49-F238E27FC236}">
                <a16:creationId xmlns:a16="http://schemas.microsoft.com/office/drawing/2014/main" id="{340C5E94-7D77-4306-9547-13B29E3C6B3A}"/>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Tree>
    <p:extLst>
      <p:ext uri="{BB962C8B-B14F-4D97-AF65-F5344CB8AC3E}">
        <p14:creationId xmlns:p14="http://schemas.microsoft.com/office/powerpoint/2010/main" val="138072820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F7A6ED6-65A3-4D50-A83D-126185EDD57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D8E98A-5BB4-428D-87C9-0A03CDCB89D0}"/>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1847A33-CA07-41AA-9C7E-D986C8A93A34}"/>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3ラウンドの状態継承を確認、性能改善は未確認</a:t>
            </a:r>
          </a:p>
        </p:txBody>
      </p:sp>
      <p:sp>
        <p:nvSpPr>
          <p:cNvPr id="4" name="">
            <a:extLst xmlns:a="http://schemas.openxmlformats.org/drawingml/2006/main">
              <a:ext uri="{FF2B5EF4-FFF2-40B4-BE49-F238E27FC236}">
                <a16:creationId xmlns:a16="http://schemas.microsoft.com/office/drawing/2014/main" id="{1294B34E-6F81-44F1-AB64-E842FD036D83}"/>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08</a:t>
            </a:r>
          </a:p>
        </p:txBody>
      </p:sp>
      <p:sp>
        <p:nvSpPr>
          <p:cNvPr id="5" name="">
            <a:extLst xmlns:a="http://schemas.openxmlformats.org/drawingml/2006/main">
              <a:ext uri="{FF2B5EF4-FFF2-40B4-BE49-F238E27FC236}">
                <a16:creationId xmlns:a16="http://schemas.microsoft.com/office/drawing/2014/main" id="{51E6F6FB-ABB3-40FD-8846-321335F6C70E}"/>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1832FCA-C58A-404D-B77E-F8C5F8B8E5E8}"/>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A5EB2A5D-24D2-4BB3-98F7-442C95D64C55}"/>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8 / 9</a:t>
            </a:r>
          </a:p>
        </p:txBody>
      </p:sp>
      <p:graphicFrame>
        <p:nvGraphicFramePr>
          <p:cNvPr id="24" name=""/>
          <p:cNvGraphicFramePr/>
          <p:nvPr/>
        </p:nvGraphicFramePr>
        <p:xfrm>
          <a:off xmlns:a="http://schemas.openxmlformats.org/drawingml/2006/main" x="619125" y="1257300"/>
          <a:ext xmlns:a="http://schemas.openxmlformats.org/drawingml/2006/main" cx="10953750" cy="2324100"/>
        </p:xfrm>
        <a:graphic xmlns:a="http://schemas.openxmlformats.org/drawingml/2006/main">
          <a:graphicData uri="http://schemas.openxmlformats.org/drawingml/2006/table">
            <a:tbl>
              <a:tblPr/>
              <a:tblGrid>
                <a:gridCol w="1095375"/>
                <a:gridCol w="2143125"/>
                <a:gridCol w="2381250"/>
                <a:gridCol w="2095500"/>
                <a:gridCol w="3238500"/>
              </a:tblGrid>
              <a:tr h="581025">
                <a:tc>
                  <a:txBody>
                    <a:bodyPr/>
                    <a:lstStyle/>
                    <a:p>
                      <a:r>
                        <a:rPr sz="1150" b="1">
                          <a:solidFill>
                            <a:srgbClr val="173B4B"/>
                          </a:solidFill>
                          <a:latin typeface="Yu Gothic"/>
                          <a:ea typeface="Yu Gothic"/>
                          <a:cs typeface="Yu Gothic"/>
                        </a:rPr>
                        <a:t>ラウンド</a:t>
                      </a:r>
                    </a:p>
                  </a:txBody>
                  <a:tcPr marL="91440" marR="91440" marT="45720" marB="45720"/>
                </a:tc>
                <a:tc>
                  <a:txBody>
                    <a:bodyPr/>
                    <a:lstStyle/>
                    <a:p>
                      <a:r>
                        <a:rPr sz="1150" b="1">
                          <a:solidFill>
                            <a:srgbClr val="173B4B"/>
                          </a:solidFill>
                          <a:latin typeface="Yu Gothic"/>
                          <a:ea typeface="Yu Gothic"/>
                          <a:cs typeface="Yu Gothic"/>
                        </a:rPr>
                        <a:t>2台の局所更新</a:t>
                      </a:r>
                    </a:p>
                  </a:txBody>
                  <a:tcPr marL="91440" marR="91440" marT="45720" marB="45720"/>
                </a:tc>
                <a:tc>
                  <a:txBody>
                    <a:bodyPr/>
                    <a:lstStyle/>
                    <a:p>
                      <a:r>
                        <a:rPr sz="1150" b="1">
                          <a:solidFill>
                            <a:srgbClr val="173B4B"/>
                          </a:solidFill>
                          <a:latin typeface="Yu Gothic"/>
                          <a:ea typeface="Yu Gothic"/>
                          <a:cs typeface="Yu Gothic"/>
                        </a:rPr>
                        <a:t>連合平均の再計算差</a:t>
                      </a:r>
                    </a:p>
                  </a:txBody>
                  <a:tcPr marL="91440" marR="91440" marT="45720" marB="45720"/>
                </a:tc>
                <a:tc>
                  <a:txBody>
                    <a:bodyPr/>
                    <a:lstStyle/>
                    <a:p>
                      <a:r>
                        <a:rPr sz="1150" b="1">
                          <a:solidFill>
                            <a:srgbClr val="173B4B"/>
                          </a:solidFill>
                          <a:latin typeface="Yu Gothic"/>
                          <a:ea typeface="Yu Gothic"/>
                          <a:cs typeface="Yu Gothic"/>
                        </a:rPr>
                        <a:t>次回入力との照合</a:t>
                      </a:r>
                    </a:p>
                  </a:txBody>
                  <a:tcPr marL="91440" marR="91440" marT="45720" marB="45720"/>
                </a:tc>
                <a:tc>
                  <a:txBody>
                    <a:bodyPr/>
                    <a:lstStyle/>
                    <a:p>
                      <a:r>
                        <a:rPr sz="1150" b="1">
                          <a:solidFill>
                            <a:srgbClr val="173B4B"/>
                          </a:solidFill>
                          <a:latin typeface="Yu Gothic"/>
                          <a:ea typeface="Yu Gothic"/>
                          <a:cs typeface="Yu Gothic"/>
                        </a:rPr>
                        <a:t>中央側AI更新（各ラウンドで選んだ4組）</a:t>
                      </a:r>
                    </a:p>
                  </a:txBody>
                  <a:tcPr marL="91440" marR="91440" marT="45720" marB="45720"/>
                </a:tc>
              </a:tr>
              <a:tr h="581025">
                <a:tc>
                  <a:txBody>
                    <a:bodyPr/>
                    <a:lstStyle/>
                    <a:p>
                      <a:r>
                        <a:rPr sz="1400" b="0">
                          <a:solidFill>
                            <a:srgbClr val="26373D"/>
                          </a:solidFill>
                          <a:latin typeface="Yu Gothic"/>
                          <a:ea typeface="Yu Gothic"/>
                          <a:cs typeface="Yu Gothic"/>
                        </a:rPr>
                        <a:t>1</a:t>
                      </a:r>
                    </a:p>
                  </a:txBody>
                  <a:tcPr marL="91440" marR="91440" marT="45720" marB="45720"/>
                </a:tc>
                <a:tc>
                  <a:txBody>
                    <a:bodyPr/>
                    <a:lstStyle/>
                    <a:p>
                      <a:r>
                        <a:rPr sz="1400" b="0">
                          <a:solidFill>
                            <a:srgbClr val="26373D"/>
                          </a:solidFill>
                          <a:latin typeface="Yu Gothic"/>
                          <a:ea typeface="Yu Gothic"/>
                          <a:cs typeface="Yu Gothic"/>
                        </a:rPr>
                        <a:t>2台とも非ゼロ</a:t>
                      </a:r>
                    </a:p>
                  </a:txBody>
                  <a:tcPr marL="91440" marR="91440" marT="45720" marB="45720"/>
                </a:tc>
                <a:tc>
                  <a:txBody>
                    <a:bodyPr/>
                    <a:lstStyle/>
                    <a:p>
                      <a:r>
                        <a:rPr sz="1400" b="0">
                          <a:solidFill>
                            <a:srgbClr val="26373D"/>
                          </a:solidFill>
                          <a:latin typeface="Yu Gothic"/>
                          <a:ea typeface="Yu Gothic"/>
                          <a:cs typeface="Yu Gothic"/>
                        </a:rPr>
                        <a:t>5.82 × 10⁻¹¹</a:t>
                      </a:r>
                    </a:p>
                  </a:txBody>
                  <a:tcPr marL="91440" marR="91440" marT="45720" marB="45720"/>
                </a:tc>
                <a:tc>
                  <a:txBody>
                    <a:bodyPr/>
                    <a:lstStyle/>
                    <a:p>
                      <a:r>
                        <a:rPr sz="1400" b="0">
                          <a:solidFill>
                            <a:srgbClr val="26373D"/>
                          </a:solidFill>
                          <a:latin typeface="Yu Gothic"/>
                          <a:ea typeface="Yu Gothic"/>
                          <a:cs typeface="Yu Gothic"/>
                        </a:rPr>
                        <a:t>一致</a:t>
                      </a:r>
                    </a:p>
                  </a:txBody>
                  <a:tcPr marL="91440" marR="91440" marT="45720" marB="45720"/>
                </a:tc>
                <a:tc>
                  <a:txBody>
                    <a:bodyPr/>
                    <a:lstStyle/>
                    <a:p>
                      <a:r>
                        <a:rPr sz="1400" b="0">
                          <a:solidFill>
                            <a:srgbClr val="26373D"/>
                          </a:solidFill>
                          <a:latin typeface="Yu Gothic"/>
                          <a:ea typeface="Yu Gothic"/>
                          <a:cs typeface="Yu Gothic"/>
                        </a:rPr>
                        <a:t>加重KL 0.0540 から 0.0534</a:t>
                      </a:r>
                    </a:p>
                  </a:txBody>
                  <a:tcPr marL="91440" marR="91440" marT="45720" marB="45720"/>
                </a:tc>
              </a:tr>
              <a:tr h="581025">
                <a:tc>
                  <a:txBody>
                    <a:bodyPr/>
                    <a:lstStyle/>
                    <a:p>
                      <a:r>
                        <a:rPr sz="1400" b="0">
                          <a:solidFill>
                            <a:srgbClr val="26373D"/>
                          </a:solidFill>
                          <a:latin typeface="Yu Gothic"/>
                          <a:ea typeface="Yu Gothic"/>
                          <a:cs typeface="Yu Gothic"/>
                        </a:rPr>
                        <a:t>2</a:t>
                      </a:r>
                    </a:p>
                  </a:txBody>
                  <a:tcPr marL="91440" marR="91440" marT="45720" marB="45720"/>
                </a:tc>
                <a:tc>
                  <a:txBody>
                    <a:bodyPr/>
                    <a:lstStyle/>
                    <a:p>
                      <a:r>
                        <a:rPr sz="1400" b="0">
                          <a:solidFill>
                            <a:srgbClr val="26373D"/>
                          </a:solidFill>
                          <a:latin typeface="Yu Gothic"/>
                          <a:ea typeface="Yu Gothic"/>
                          <a:cs typeface="Yu Gothic"/>
                        </a:rPr>
                        <a:t>2台とも非ゼロ</a:t>
                      </a:r>
                    </a:p>
                  </a:txBody>
                  <a:tcPr marL="91440" marR="91440" marT="45720" marB="45720"/>
                </a:tc>
                <a:tc>
                  <a:txBody>
                    <a:bodyPr/>
                    <a:lstStyle/>
                    <a:p>
                      <a:r>
                        <a:rPr sz="1400" b="0">
                          <a:solidFill>
                            <a:srgbClr val="26373D"/>
                          </a:solidFill>
                          <a:latin typeface="Yu Gothic"/>
                          <a:ea typeface="Yu Gothic"/>
                          <a:cs typeface="Yu Gothic"/>
                        </a:rPr>
                        <a:t>5.82 × 10⁻¹¹</a:t>
                      </a:r>
                    </a:p>
                  </a:txBody>
                  <a:tcPr marL="91440" marR="91440" marT="45720" marB="45720"/>
                </a:tc>
                <a:tc>
                  <a:txBody>
                    <a:bodyPr/>
                    <a:lstStyle/>
                    <a:p>
                      <a:r>
                        <a:rPr sz="1400" b="0">
                          <a:solidFill>
                            <a:srgbClr val="26373D"/>
                          </a:solidFill>
                          <a:latin typeface="Yu Gothic"/>
                          <a:ea typeface="Yu Gothic"/>
                          <a:cs typeface="Yu Gothic"/>
                        </a:rPr>
                        <a:t>一致</a:t>
                      </a:r>
                    </a:p>
                  </a:txBody>
                  <a:tcPr marL="91440" marR="91440" marT="45720" marB="45720"/>
                </a:tc>
                <a:tc>
                  <a:txBody>
                    <a:bodyPr/>
                    <a:lstStyle/>
                    <a:p>
                      <a:r>
                        <a:rPr sz="1400" b="0">
                          <a:solidFill>
                            <a:srgbClr val="26373D"/>
                          </a:solidFill>
                          <a:latin typeface="Yu Gothic"/>
                          <a:ea typeface="Yu Gothic"/>
                          <a:cs typeface="Yu Gothic"/>
                        </a:rPr>
                        <a:t>加重KL 18.478 から 18.339</a:t>
                      </a:r>
                    </a:p>
                  </a:txBody>
                  <a:tcPr marL="91440" marR="91440" marT="45720" marB="45720"/>
                </a:tc>
              </a:tr>
              <a:tr h="581025">
                <a:tc>
                  <a:txBody>
                    <a:bodyPr/>
                    <a:lstStyle/>
                    <a:p>
                      <a:r>
                        <a:rPr sz="1400" b="0">
                          <a:solidFill>
                            <a:srgbClr val="26373D"/>
                          </a:solidFill>
                          <a:latin typeface="Yu Gothic"/>
                          <a:ea typeface="Yu Gothic"/>
                          <a:cs typeface="Yu Gothic"/>
                        </a:rPr>
                        <a:t>3</a:t>
                      </a:r>
                    </a:p>
                  </a:txBody>
                  <a:tcPr marL="91440" marR="91440" marT="45720" marB="45720"/>
                </a:tc>
                <a:tc>
                  <a:txBody>
                    <a:bodyPr/>
                    <a:lstStyle/>
                    <a:p>
                      <a:r>
                        <a:rPr sz="1400" b="0">
                          <a:solidFill>
                            <a:srgbClr val="26373D"/>
                          </a:solidFill>
                          <a:latin typeface="Yu Gothic"/>
                          <a:ea typeface="Yu Gothic"/>
                          <a:cs typeface="Yu Gothic"/>
                        </a:rPr>
                        <a:t>2台とも非ゼロ</a:t>
                      </a:r>
                    </a:p>
                  </a:txBody>
                  <a:tcPr marL="91440" marR="91440" marT="45720" marB="45720"/>
                </a:tc>
                <a:tc>
                  <a:txBody>
                    <a:bodyPr/>
                    <a:lstStyle/>
                    <a:p>
                      <a:r>
                        <a:rPr sz="1400" b="0">
                          <a:solidFill>
                            <a:srgbClr val="26373D"/>
                          </a:solidFill>
                          <a:latin typeface="Yu Gothic"/>
                          <a:ea typeface="Yu Gothic"/>
                          <a:cs typeface="Yu Gothic"/>
                        </a:rPr>
                        <a:t>1.16 × 10⁻¹⁰</a:t>
                      </a:r>
                    </a:p>
                  </a:txBody>
                  <a:tcPr marL="91440" marR="91440" marT="45720" marB="45720"/>
                </a:tc>
                <a:tc>
                  <a:txBody>
                    <a:bodyPr/>
                    <a:lstStyle/>
                    <a:p>
                      <a:r>
                        <a:rPr sz="1400" b="0">
                          <a:solidFill>
                            <a:srgbClr val="26373D"/>
                          </a:solidFill>
                          <a:latin typeface="Yu Gothic"/>
                          <a:ea typeface="Yu Gothic"/>
                          <a:cs typeface="Yu Gothic"/>
                        </a:rPr>
                        <a:t>一致</a:t>
                      </a:r>
                    </a:p>
                  </a:txBody>
                  <a:tcPr marL="91440" marR="91440" marT="45720" marB="45720"/>
                </a:tc>
                <a:tc>
                  <a:txBody>
                    <a:bodyPr>
                      <a:normAutofit/>
                    </a:bodyPr>
                    <a:lstStyle/>
                    <a:p>
                      <a:pPr algn="ctr"/>
                      <a:r>
                        <a:rPr sz="1350" b="1">
                          <a:solidFill>
                            <a:srgbClr val="B94A3A"/>
                          </a:solidFill>
                          <a:latin typeface="Yu Gothic"/>
                          <a:ea typeface="Yu Gothic"/>
                          <a:cs typeface="Yu Gothic"/>
                        </a:rPr>
                        <a:t>加重KL 16.131 から 16.178</a:t>
                      </a:r>
                    </a:p>
                  </a:txBody>
                  <a:tcPr marL="91440" marR="91440" marT="45720" marB="45720" anchor="ctr">
                    <a:solidFill>
                      <a:srgbClr val="F5DFDA"/>
                    </a:solidFill>
                  </a:tcPr>
                </a:tc>
              </a:tr>
            </a:tbl>
          </a:graphicData>
        </a:graphic>
      </p:graphicFrame>
      <p:sp>
        <p:nvSpPr>
          <p:cNvPr id="9" name="">
            <a:extLst xmlns:a="http://schemas.openxmlformats.org/drawingml/2006/main">
              <a:ext uri="{FF2B5EF4-FFF2-40B4-BE49-F238E27FC236}">
                <a16:creationId xmlns:a16="http://schemas.microsoft.com/office/drawing/2014/main" id="{9BBE4147-F076-42B0-AB5D-81EB5D804858}"/>
              </a:ext>
            </a:extLst>
          </p:cNvPr>
          <p:cNvSpPr>
            <a:spLocks xmlns:a="http://schemas.openxmlformats.org/drawingml/2006/main" noGrp="1"/>
          </p:cNvSpPr>
          <p:nvPr/>
        </p:nvSpPr>
        <p:spPr>
          <a:xfrm xmlns:a="http://schemas.openxmlformats.org/drawingml/2006/main">
            <a:off x="857250" y="3714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a:solidFill>
                  <a:srgbClr val="617078"/>
                </a:solidFill>
                <a:latin typeface="Yu Gothic"/>
                <a:ea typeface="Yu Gothic"/>
                <a:cs typeface="Yu Gothic"/>
              </a:defRPr>
            </a:pPr>
            <a:r>
              <a:rPr sz="1275" b="0">
                <a:solidFill>
                  <a:srgbClr val="617078"/>
                </a:solidFill>
                <a:latin typeface="Yu Gothic"/>
                <a:ea typeface="Yu Gothic"/>
                <a:cs typeface="Yu Gothic"/>
              </a:rPr>
              <a:t>各ラウンドで代理データが異なるため、ずれの値をラウンド間の性能推移として比較しない</a:t>
            </a:r>
          </a:p>
        </p:txBody>
      </p:sp>
      <p:sp>
        <p:nvSpPr>
          <p:cNvPr id="10" name="">
            <a:extLst xmlns:a="http://schemas.openxmlformats.org/drawingml/2006/main">
              <a:ext uri="{FF2B5EF4-FFF2-40B4-BE49-F238E27FC236}">
                <a16:creationId xmlns:a16="http://schemas.microsoft.com/office/drawing/2014/main" id="{B5AAA8E4-A05E-4E0F-98AB-D055C7A49E11}"/>
              </a:ext>
            </a:extLst>
          </p:cNvPr>
          <p:cNvSpPr>
            <a:spLocks xmlns:a="http://schemas.openxmlformats.org/drawingml/2006/main" noGrp="1"/>
          </p:cNvSpPr>
          <p:nvPr/>
        </p:nvSpPr>
        <p:spPr>
          <a:xfrm xmlns:a="http://schemas.openxmlformats.org/drawingml/2006/main">
            <a:off x="685800" y="4191000"/>
            <a:ext cx="4953000" cy="125730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6727115-ACC7-493F-9110-0B9D22A43F3A}"/>
              </a:ext>
            </a:extLst>
          </p:cNvPr>
          <p:cNvSpPr>
            <a:spLocks xmlns:a="http://schemas.openxmlformats.org/drawingml/2006/main" noGrp="1"/>
          </p:cNvSpPr>
          <p:nvPr/>
        </p:nvSpPr>
        <p:spPr>
          <a:xfrm xmlns:a="http://schemas.openxmlformats.org/drawingml/2006/main">
            <a:off x="933450" y="4371975"/>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確認できたこと</a:t>
            </a:r>
          </a:p>
        </p:txBody>
      </p:sp>
      <p:sp>
        <p:nvSpPr>
          <p:cNvPr id="12" name="">
            <a:extLst xmlns:a="http://schemas.openxmlformats.org/drawingml/2006/main">
              <a:ext uri="{FF2B5EF4-FFF2-40B4-BE49-F238E27FC236}">
                <a16:creationId xmlns:a16="http://schemas.microsoft.com/office/drawing/2014/main" id="{14A73D8B-765E-4D97-9E15-92E337CF0989}"/>
              </a:ext>
            </a:extLst>
          </p:cNvPr>
          <p:cNvSpPr>
            <a:spLocks xmlns:a="http://schemas.openxmlformats.org/drawingml/2006/main" noGrp="1"/>
          </p:cNvSpPr>
          <p:nvPr/>
        </p:nvSpPr>
        <p:spPr>
          <a:xfrm xmlns:a="http://schemas.openxmlformats.org/drawingml/2006/main">
            <a:off x="933450" y="4752975"/>
            <a:ext cx="438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333"/>
          </a:bodyPr>
          <a:lstStyle xmlns:a="http://schemas.openxmlformats.org/drawingml/2006/main"/>
          <a:p xmlns:a="http://schemas.openxmlformats.org/drawingml/2006/main">
            <a:pPr algn="l">
              <a:defRPr sz="1500" b="0">
                <a:solidFill>
                  <a:srgbClr val="26373D"/>
                </a:solidFill>
                <a:latin typeface="Yu Gothic"/>
                <a:ea typeface="Yu Gothic"/>
                <a:cs typeface="Yu Gothic"/>
              </a:defRPr>
            </a:pPr>
            <a:r>
              <a:rPr sz="1500" b="0">
                <a:solidFill>
                  <a:srgbClr val="26373D"/>
                </a:solidFill>
                <a:latin typeface="Yu Gothic"/>
                <a:ea typeface="Yu Gothic"/>
                <a:cs typeface="Yu Gothic"/>
              </a:rPr>
              <a:t>2台の更新は毎回ゼロではない</a:t>
            </a:r>
          </a:p>
          <a:p xmlns:a="http://schemas.openxmlformats.org/drawingml/2006/main">
            <a:pPr algn="l">
              <a:defRPr sz="1500" b="0">
                <a:solidFill>
                  <a:srgbClr val="26373D"/>
                </a:solidFill>
                <a:latin typeface="Yu Gothic"/>
                <a:ea typeface="Yu Gothic"/>
                <a:cs typeface="Yu Gothic"/>
              </a:defRPr>
            </a:pPr>
            <a:r>
              <a:rPr sz="1500" b="0">
                <a:solidFill>
                  <a:srgbClr val="26373D"/>
                </a:solidFill>
                <a:latin typeface="Yu Gothic"/>
                <a:ea typeface="Yu Gothic"/>
                <a:cs typeface="Yu Gothic"/>
              </a:rPr>
              <a:t>連合平均を別計算で再現</a:t>
            </a:r>
          </a:p>
          <a:p xmlns:a="http://schemas.openxmlformats.org/drawingml/2006/main">
            <a:pPr algn="l">
              <a:defRPr sz="1500" b="0">
                <a:solidFill>
                  <a:srgbClr val="26373D"/>
                </a:solidFill>
                <a:latin typeface="Yu Gothic"/>
                <a:ea typeface="Yu Gothic"/>
                <a:cs typeface="Yu Gothic"/>
              </a:defRPr>
            </a:pPr>
            <a:r>
              <a:rPr sz="1500" b="0">
                <a:solidFill>
                  <a:srgbClr val="26373D"/>
                </a:solidFill>
                <a:latin typeface="Yu Gothic"/>
                <a:ea typeface="Yu Gothic"/>
                <a:cs typeface="Yu Gothic"/>
              </a:rPr>
              <a:t>小型AIと中央側AIの状態が次回へ一致</a:t>
            </a:r>
          </a:p>
        </p:txBody>
      </p:sp>
      <p:sp>
        <p:nvSpPr>
          <p:cNvPr id="13" name="">
            <a:extLst xmlns:a="http://schemas.openxmlformats.org/drawingml/2006/main">
              <a:ext uri="{FF2B5EF4-FFF2-40B4-BE49-F238E27FC236}">
                <a16:creationId xmlns:a16="http://schemas.microsoft.com/office/drawing/2014/main" id="{EEA7175E-37D5-4BA2-8B26-32EBEC09CAD4}"/>
              </a:ext>
            </a:extLst>
          </p:cNvPr>
          <p:cNvSpPr>
            <a:spLocks xmlns:a="http://schemas.openxmlformats.org/drawingml/2006/main" noGrp="1"/>
          </p:cNvSpPr>
          <p:nvPr/>
        </p:nvSpPr>
        <p:spPr>
          <a:xfrm xmlns:a="http://schemas.openxmlformats.org/drawingml/2006/main">
            <a:off x="5943600" y="4191000"/>
            <a:ext cx="5562600" cy="125730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1FCF8B3-E713-4ABA-BCA9-73B8ECAE6B27}"/>
              </a:ext>
            </a:extLst>
          </p:cNvPr>
          <p:cNvSpPr>
            <a:spLocks xmlns:a="http://schemas.openxmlformats.org/drawingml/2006/main" noGrp="1"/>
          </p:cNvSpPr>
          <p:nvPr/>
        </p:nvSpPr>
        <p:spPr>
          <a:xfrm xmlns:a="http://schemas.openxmlformats.org/drawingml/2006/main">
            <a:off x="6191250" y="4371975"/>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E7833D"/>
                </a:solidFill>
                <a:latin typeface="Yu Gothic"/>
                <a:ea typeface="Yu Gothic"/>
                <a:cs typeface="Yu Gothic"/>
              </a:defRPr>
            </a:pPr>
            <a:r>
              <a:rPr sz="1650" b="1">
                <a:solidFill>
                  <a:srgbClr val="E7833D"/>
                </a:solidFill>
                <a:latin typeface="Yu Gothic"/>
                <a:ea typeface="Yu Gothic"/>
                <a:cs typeface="Yu Gothic"/>
              </a:rPr>
              <a:t>残った診断点</a:t>
            </a:r>
          </a:p>
        </p:txBody>
      </p:sp>
      <p:sp>
        <p:nvSpPr>
          <p:cNvPr id="15" name="">
            <a:extLst xmlns:a="http://schemas.openxmlformats.org/drawingml/2006/main">
              <a:ext uri="{FF2B5EF4-FFF2-40B4-BE49-F238E27FC236}">
                <a16:creationId xmlns:a16="http://schemas.microsoft.com/office/drawing/2014/main" id="{8C003294-9251-43E1-9100-8D45C005DFC1}"/>
              </a:ext>
            </a:extLst>
          </p:cNvPr>
          <p:cNvSpPr>
            <a:spLocks xmlns:a="http://schemas.openxmlformats.org/drawingml/2006/main" noGrp="1"/>
          </p:cNvSpPr>
          <p:nvPr/>
        </p:nvSpPr>
        <p:spPr>
          <a:xfrm xmlns:a="http://schemas.openxmlformats.org/drawingml/2006/main">
            <a:off x="6191250" y="47529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6373D"/>
                </a:solidFill>
                <a:latin typeface="Yu Gothic"/>
                <a:ea typeface="Yu Gothic"/>
                <a:cs typeface="Yu Gothic"/>
              </a:defRPr>
            </a:pPr>
            <a:r>
              <a:rPr sz="1575" b="1">
                <a:solidFill>
                  <a:srgbClr val="26373D"/>
                </a:solidFill>
                <a:latin typeface="Yu Gothic"/>
                <a:ea typeface="Yu Gothic"/>
                <a:cs typeface="Yu Gothic"/>
              </a:rPr>
              <a:t>1ラウンド目は変化の方向が4件中3件一致</a:t>
            </a:r>
          </a:p>
          <a:p xmlns:a="http://schemas.openxmlformats.org/drawingml/2006/main">
            <a:pPr algn="l">
              <a:defRPr sz="1575" b="1">
                <a:solidFill>
                  <a:srgbClr val="26373D"/>
                </a:solidFill>
                <a:latin typeface="Yu Gothic"/>
                <a:ea typeface="Yu Gothic"/>
                <a:cs typeface="Yu Gothic"/>
              </a:defRPr>
            </a:pPr>
            <a:r>
              <a:rPr sz="1575" b="1">
                <a:solidFill>
                  <a:srgbClr val="26373D"/>
                </a:solidFill>
                <a:latin typeface="Yu Gothic"/>
                <a:ea typeface="Yu Gothic"/>
                <a:cs typeface="Yu Gothic"/>
              </a:rPr>
              <a:t>3ラウンド目は中央側AIのずれが増加</a:t>
            </a:r>
          </a:p>
        </p:txBody>
      </p:sp>
      <p:sp>
        <p:nvSpPr>
          <p:cNvPr id="16" name="">
            <a:extLst xmlns:a="http://schemas.openxmlformats.org/drawingml/2006/main">
              <a:ext uri="{FF2B5EF4-FFF2-40B4-BE49-F238E27FC236}">
                <a16:creationId xmlns:a16="http://schemas.microsoft.com/office/drawing/2014/main" id="{8D2FCCB0-6BAB-4BEF-98AF-B170E1FDAB15}"/>
              </a:ext>
            </a:extLst>
          </p:cNvPr>
          <p:cNvSpPr>
            <a:spLocks xmlns:a="http://schemas.openxmlformats.org/drawingml/2006/main" noGrp="1"/>
          </p:cNvSpPr>
          <p:nvPr/>
        </p:nvSpPr>
        <p:spPr>
          <a:xfrm xmlns:a="http://schemas.openxmlformats.org/drawingml/2006/main">
            <a:off x="914400" y="583882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B94A3A"/>
                </a:solidFill>
                <a:latin typeface="Yu Gothic"/>
                <a:ea typeface="Yu Gothic"/>
                <a:cs typeface="Yu Gothic"/>
              </a:defRPr>
            </a:pPr>
            <a:r>
              <a:rPr sz="1650" b="1">
                <a:solidFill>
                  <a:srgbClr val="B94A3A"/>
                </a:solidFill>
                <a:latin typeface="Yu Gothic"/>
                <a:ea typeface="Yu Gothic"/>
                <a:cs typeface="Yu Gothic"/>
              </a:rPr>
              <a:t>今回の合格は『実行・接続・状態継承』。代理データの品質や学習効果の合格ではない。</a:t>
            </a:r>
          </a:p>
        </p:txBody>
      </p:sp>
    </p:spTree>
    <p:extLst>
      <p:ext uri="{BB962C8B-B14F-4D97-AF65-F5344CB8AC3E}">
        <p14:creationId xmlns:p14="http://schemas.microsoft.com/office/powerpoint/2010/main" val="11629045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0EDC76B-8917-4B59-BAA7-C903F965ED6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B60BEA1-B542-45C1-8732-6EBDEEA7E910}"/>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8BA1987-A892-47E3-8390-F82A43052123}"/>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結論と今後</a:t>
            </a:r>
          </a:p>
        </p:txBody>
      </p:sp>
      <p:sp>
        <p:nvSpPr>
          <p:cNvPr id="4" name="">
            <a:extLst xmlns:a="http://schemas.openxmlformats.org/drawingml/2006/main">
              <a:ext uri="{FF2B5EF4-FFF2-40B4-BE49-F238E27FC236}">
                <a16:creationId xmlns:a16="http://schemas.microsoft.com/office/drawing/2014/main" id="{EF1C3FF2-3801-49B1-A356-15AB6791EC92}"/>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09</a:t>
            </a:r>
          </a:p>
        </p:txBody>
      </p:sp>
      <p:sp>
        <p:nvSpPr>
          <p:cNvPr id="5" name="">
            <a:extLst xmlns:a="http://schemas.openxmlformats.org/drawingml/2006/main">
              <a:ext uri="{FF2B5EF4-FFF2-40B4-BE49-F238E27FC236}">
                <a16:creationId xmlns:a16="http://schemas.microsoft.com/office/drawing/2014/main" id="{C9292507-92BC-4F51-9F45-7333BD0EE38F}"/>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DE43CC3-FDCE-4227-82C5-831E0A7FCDEB}"/>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B959C95E-8ACE-47F3-B413-240D8061E907}"/>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9 / 9</a:t>
            </a:r>
          </a:p>
        </p:txBody>
      </p:sp>
      <p:sp>
        <p:nvSpPr>
          <p:cNvPr id="8" name="">
            <a:extLst xmlns:a="http://schemas.openxmlformats.org/drawingml/2006/main">
              <a:ext uri="{FF2B5EF4-FFF2-40B4-BE49-F238E27FC236}">
                <a16:creationId xmlns:a16="http://schemas.microsoft.com/office/drawing/2014/main" id="{A88D63D1-8C64-48A6-ACB9-E5204A9D4FE6}"/>
              </a:ext>
            </a:extLst>
          </p:cNvPr>
          <p:cNvSpPr>
            <a:spLocks xmlns:a="http://schemas.openxmlformats.org/drawingml/2006/main" noGrp="1"/>
          </p:cNvSpPr>
          <p:nvPr/>
        </p:nvSpPr>
        <p:spPr>
          <a:xfrm xmlns:a="http://schemas.openxmlformats.org/drawingml/2006/main">
            <a:off x="723900" y="1123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7B78"/>
                </a:solidFill>
                <a:latin typeface="Yu Gothic"/>
                <a:ea typeface="Yu Gothic"/>
                <a:cs typeface="Yu Gothic"/>
              </a:defRPr>
            </a:pPr>
            <a:r>
              <a:rPr sz="1800" b="1">
                <a:solidFill>
                  <a:srgbClr val="147B78"/>
                </a:solidFill>
                <a:latin typeface="Yu Gothic"/>
                <a:ea typeface="Yu Gothic"/>
                <a:cs typeface="Yu Gothic"/>
              </a:rPr>
              <a:t>今回確認できたこと</a:t>
            </a:r>
          </a:p>
        </p:txBody>
      </p:sp>
      <p:sp>
        <p:nvSpPr>
          <p:cNvPr id="9" name="">
            <a:extLst xmlns:a="http://schemas.openxmlformats.org/drawingml/2006/main">
              <a:ext uri="{FF2B5EF4-FFF2-40B4-BE49-F238E27FC236}">
                <a16:creationId xmlns:a16="http://schemas.microsoft.com/office/drawing/2014/main" id="{A0868030-5C5C-4A85-993F-0B38D9CDDA83}"/>
              </a:ext>
            </a:extLst>
          </p:cNvPr>
          <p:cNvSpPr>
            <a:spLocks xmlns:a="http://schemas.openxmlformats.org/drawingml/2006/main" noGrp="1"/>
          </p:cNvSpPr>
          <p:nvPr/>
        </p:nvSpPr>
        <p:spPr>
          <a:xfrm xmlns:a="http://schemas.openxmlformats.org/drawingml/2006/main">
            <a:off x="781050" y="1638300"/>
            <a:ext cx="4762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4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・代表動画の反応を要約し、代理データへ対応付け</a:t>
            </a:r>
          </a:p>
          <a:p xmlns:a="http://schemas.openxmlformats.org/drawingml/2006/main">
            <a:pPr algn="l">
              <a:lnSpc>
                <a:spcPct val="114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・3層を接続して中央側AIを更新</a:t>
            </a:r>
          </a:p>
          <a:p xmlns:a="http://schemas.openxmlformats.org/drawingml/2006/main">
            <a:pPr algn="l">
              <a:lnSpc>
                <a:spcPct val="114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・3ラウンドの状態をログから追跡</a:t>
            </a:r>
          </a:p>
        </p:txBody>
      </p:sp>
      <p:sp>
        <p:nvSpPr>
          <p:cNvPr id="10" name="">
            <a:extLst xmlns:a="http://schemas.openxmlformats.org/drawingml/2006/main">
              <a:ext uri="{FF2B5EF4-FFF2-40B4-BE49-F238E27FC236}">
                <a16:creationId xmlns:a16="http://schemas.microsoft.com/office/drawing/2014/main" id="{C1E83E1C-28A9-4231-8F29-0795A699EF3E}"/>
              </a:ext>
            </a:extLst>
          </p:cNvPr>
          <p:cNvSpPr>
            <a:spLocks xmlns:a="http://schemas.openxmlformats.org/drawingml/2006/main" noGrp="1"/>
          </p:cNvSpPr>
          <p:nvPr/>
        </p:nvSpPr>
        <p:spPr>
          <a:xfrm xmlns:a="http://schemas.openxmlformats.org/drawingml/2006/main">
            <a:off x="5924550" y="1123950"/>
            <a:ext cx="19050" cy="2095500"/>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DA6817E-909B-4C18-8E58-30F4917EC721}"/>
              </a:ext>
            </a:extLst>
          </p:cNvPr>
          <p:cNvSpPr>
            <a:spLocks xmlns:a="http://schemas.openxmlformats.org/drawingml/2006/main" noGrp="1"/>
          </p:cNvSpPr>
          <p:nvPr/>
        </p:nvSpPr>
        <p:spPr>
          <a:xfrm xmlns:a="http://schemas.openxmlformats.org/drawingml/2006/main">
            <a:off x="6324600" y="1123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B94A3A"/>
                </a:solidFill>
                <a:latin typeface="Yu Gothic"/>
                <a:ea typeface="Yu Gothic"/>
                <a:cs typeface="Yu Gothic"/>
              </a:defRPr>
            </a:pPr>
            <a:r>
              <a:rPr sz="1800" b="1">
                <a:solidFill>
                  <a:srgbClr val="B94A3A"/>
                </a:solidFill>
                <a:latin typeface="Yu Gothic"/>
                <a:ea typeface="Yu Gothic"/>
                <a:cs typeface="Yu Gothic"/>
              </a:rPr>
              <a:t>まだ言えないこと</a:t>
            </a:r>
          </a:p>
        </p:txBody>
      </p:sp>
      <p:sp>
        <p:nvSpPr>
          <p:cNvPr id="12" name="">
            <a:extLst xmlns:a="http://schemas.openxmlformats.org/drawingml/2006/main">
              <a:ext uri="{FF2B5EF4-FFF2-40B4-BE49-F238E27FC236}">
                <a16:creationId xmlns:a16="http://schemas.microsoft.com/office/drawing/2014/main" id="{1605FB39-6CD9-4E5C-AF46-BE5A1252AC28}"/>
              </a:ext>
            </a:extLst>
          </p:cNvPr>
          <p:cNvSpPr>
            <a:spLocks xmlns:a="http://schemas.openxmlformats.org/drawingml/2006/main" noGrp="1"/>
          </p:cNvSpPr>
          <p:nvPr/>
        </p:nvSpPr>
        <p:spPr>
          <a:xfrm xmlns:a="http://schemas.openxmlformats.org/drawingml/2006/main">
            <a:off x="6381750" y="1638300"/>
            <a:ext cx="4762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・性能向上と未知動画への転移</a:t>
            </a:r>
          </a:p>
          <a:p xmlns:a="http://schemas.openxmlformats.org/drawingml/2006/main">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・代理データが現場の学習を十分に再現したこと</a:t>
            </a:r>
          </a:p>
          <a:p xmlns:a="http://schemas.openxmlformats.org/drawingml/2006/main">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・構造や規模が異なるAI間の転移</a:t>
            </a:r>
          </a:p>
          <a:p xmlns:a="http://schemas.openxmlformats.org/drawingml/2006/main">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・情報漏えいへの形式的保証</a:t>
            </a:r>
          </a:p>
        </p:txBody>
      </p:sp>
      <p:sp>
        <p:nvSpPr>
          <p:cNvPr id="13" name="">
            <a:extLst xmlns:a="http://schemas.openxmlformats.org/drawingml/2006/main">
              <a:ext uri="{FF2B5EF4-FFF2-40B4-BE49-F238E27FC236}">
                <a16:creationId xmlns:a16="http://schemas.microsoft.com/office/drawing/2014/main" id="{C11312DF-4594-4C03-AF76-0A805CC928D0}"/>
              </a:ext>
            </a:extLst>
          </p:cNvPr>
          <p:cNvSpPr>
            <a:spLocks xmlns:a="http://schemas.openxmlformats.org/drawingml/2006/main" noGrp="1"/>
          </p:cNvSpPr>
          <p:nvPr/>
        </p:nvSpPr>
        <p:spPr>
          <a:xfrm xmlns:a="http://schemas.openxmlformats.org/drawingml/2006/main">
            <a:off x="685800" y="3486150"/>
            <a:ext cx="10820400" cy="14288"/>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0C4D1E4-01C4-419F-BEA6-E8DFD5872BBE}"/>
              </a:ext>
            </a:extLst>
          </p:cNvPr>
          <p:cNvSpPr>
            <a:spLocks xmlns:a="http://schemas.openxmlformats.org/drawingml/2006/main" noGrp="1"/>
          </p:cNvSpPr>
          <p:nvPr/>
        </p:nvSpPr>
        <p:spPr>
          <a:xfrm xmlns:a="http://schemas.openxmlformats.org/drawingml/2006/main">
            <a:off x="742950" y="37242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今後の順序</a:t>
            </a:r>
          </a:p>
        </p:txBody>
      </p:sp>
      <p:sp>
        <p:nvSpPr>
          <p:cNvPr id="15" name="">
            <a:extLst xmlns:a="http://schemas.openxmlformats.org/drawingml/2006/main">
              <a:ext uri="{FF2B5EF4-FFF2-40B4-BE49-F238E27FC236}">
                <a16:creationId xmlns:a16="http://schemas.microsoft.com/office/drawing/2014/main" id="{DA6A8899-2B2B-4A2A-90E0-794BDE82ACB9}"/>
              </a:ext>
            </a:extLst>
          </p:cNvPr>
          <p:cNvSpPr>
            <a:spLocks xmlns:a="http://schemas.openxmlformats.org/drawingml/2006/main" noGrp="1"/>
          </p:cNvSpPr>
          <p:nvPr/>
        </p:nvSpPr>
        <p:spPr>
          <a:xfrm xmlns:a="http://schemas.openxmlformats.org/drawingml/2006/main">
            <a:off x="800100" y="4171950"/>
            <a:ext cx="400050" cy="400050"/>
          </a:xfrm>
          <a:prstGeom xmlns:a="http://schemas.openxmlformats.org/drawingml/2006/main" prst="ellipse">
            <a:avLst/>
          </a:prstGeom>
          <a:solidFill xmlns:a="http://schemas.openxmlformats.org/drawingml/2006/main">
            <a:srgbClr val="B94A3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4924A65-1B0C-476E-B491-A1F9819965C6}"/>
              </a:ext>
            </a:extLst>
          </p:cNvPr>
          <p:cNvSpPr>
            <a:spLocks xmlns:a="http://schemas.openxmlformats.org/drawingml/2006/main" noGrp="1"/>
          </p:cNvSpPr>
          <p:nvPr/>
        </p:nvSpPr>
        <p:spPr>
          <a:xfrm xmlns:a="http://schemas.openxmlformats.org/drawingml/2006/main">
            <a:off x="800100" y="42195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1</a:t>
            </a:r>
          </a:p>
        </p:txBody>
      </p:sp>
      <p:sp>
        <p:nvSpPr>
          <p:cNvPr id="17" name="">
            <a:extLst xmlns:a="http://schemas.openxmlformats.org/drawingml/2006/main">
              <a:ext uri="{FF2B5EF4-FFF2-40B4-BE49-F238E27FC236}">
                <a16:creationId xmlns:a16="http://schemas.microsoft.com/office/drawing/2014/main" id="{CF8A4B6C-90A1-4269-9468-99A52E695964}"/>
              </a:ext>
            </a:extLst>
          </p:cNvPr>
          <p:cNvSpPr>
            <a:spLocks xmlns:a="http://schemas.openxmlformats.org/drawingml/2006/main" noGrp="1"/>
          </p:cNvSpPr>
          <p:nvPr/>
        </p:nvSpPr>
        <p:spPr>
          <a:xfrm xmlns:a="http://schemas.openxmlformats.org/drawingml/2006/main">
            <a:off x="1428750" y="41529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中央側AIの更新方向を確認</a:t>
            </a:r>
          </a:p>
        </p:txBody>
      </p:sp>
      <p:sp>
        <p:nvSpPr>
          <p:cNvPr id="18" name="">
            <a:extLst xmlns:a="http://schemas.openxmlformats.org/drawingml/2006/main">
              <a:ext uri="{FF2B5EF4-FFF2-40B4-BE49-F238E27FC236}">
                <a16:creationId xmlns:a16="http://schemas.microsoft.com/office/drawing/2014/main" id="{6FE447AA-860A-4793-990E-6A9D81FE77A8}"/>
              </a:ext>
            </a:extLst>
          </p:cNvPr>
          <p:cNvSpPr>
            <a:spLocks xmlns:a="http://schemas.openxmlformats.org/drawingml/2006/main" noGrp="1"/>
          </p:cNvSpPr>
          <p:nvPr/>
        </p:nvSpPr>
        <p:spPr>
          <a:xfrm xmlns:a="http://schemas.openxmlformats.org/drawingml/2006/main">
            <a:off x="4686300" y="415290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6373D"/>
                </a:solidFill>
                <a:latin typeface="Yu Gothic"/>
                <a:ea typeface="Yu Gothic"/>
                <a:cs typeface="Yu Gothic"/>
              </a:defRPr>
            </a:pPr>
            <a:r>
              <a:rPr sz="1425" b="0">
                <a:solidFill>
                  <a:srgbClr val="26373D"/>
                </a:solidFill>
                <a:latin typeface="Yu Gothic"/>
                <a:ea typeface="Yu Gothic"/>
                <a:cs typeface="Yu Gothic"/>
              </a:rPr>
              <a:t>同じ4組を固定し、ごく小さい1回の更新でずれが減るかを確認</a:t>
            </a:r>
          </a:p>
        </p:txBody>
      </p:sp>
      <p:sp>
        <p:nvSpPr>
          <p:cNvPr id="19" name="">
            <a:extLst xmlns:a="http://schemas.openxmlformats.org/drawingml/2006/main">
              <a:ext uri="{FF2B5EF4-FFF2-40B4-BE49-F238E27FC236}">
                <a16:creationId xmlns:a16="http://schemas.microsoft.com/office/drawing/2014/main" id="{C7606CB8-F47D-4461-B63E-EE8779B1CD5B}"/>
              </a:ext>
            </a:extLst>
          </p:cNvPr>
          <p:cNvSpPr>
            <a:spLocks xmlns:a="http://schemas.openxmlformats.org/drawingml/2006/main" noGrp="1"/>
          </p:cNvSpPr>
          <p:nvPr/>
        </p:nvSpPr>
        <p:spPr>
          <a:xfrm xmlns:a="http://schemas.openxmlformats.org/drawingml/2006/main">
            <a:off x="800100" y="4800600"/>
            <a:ext cx="400050" cy="400050"/>
          </a:xfrm>
          <a:prstGeom xmlns:a="http://schemas.openxmlformats.org/drawingml/2006/main" prst="ellipse">
            <a:avLst/>
          </a:prstGeom>
          <a:solidFill xmlns:a="http://schemas.openxmlformats.org/drawingml/2006/main">
            <a:srgbClr val="E7833D"/>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575A498-3FE2-4245-8282-ABAD34AEEEB5}"/>
              </a:ext>
            </a:extLst>
          </p:cNvPr>
          <p:cNvSpPr>
            <a:spLocks xmlns:a="http://schemas.openxmlformats.org/drawingml/2006/main" noGrp="1"/>
          </p:cNvSpPr>
          <p:nvPr/>
        </p:nvSpPr>
        <p:spPr>
          <a:xfrm xmlns:a="http://schemas.openxmlformats.org/drawingml/2006/main">
            <a:off x="800100" y="484822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2</a:t>
            </a:r>
          </a:p>
        </p:txBody>
      </p:sp>
      <p:sp>
        <p:nvSpPr>
          <p:cNvPr id="21" name="">
            <a:extLst xmlns:a="http://schemas.openxmlformats.org/drawingml/2006/main">
              <a:ext uri="{FF2B5EF4-FFF2-40B4-BE49-F238E27FC236}">
                <a16:creationId xmlns:a16="http://schemas.microsoft.com/office/drawing/2014/main" id="{7FCD4E66-F535-4D17-A15B-3AA272B010A3}"/>
              </a:ext>
            </a:extLst>
          </p:cNvPr>
          <p:cNvSpPr>
            <a:spLocks xmlns:a="http://schemas.openxmlformats.org/drawingml/2006/main" noGrp="1"/>
          </p:cNvSpPr>
          <p:nvPr/>
        </p:nvSpPr>
        <p:spPr>
          <a:xfrm xmlns:a="http://schemas.openxmlformats.org/drawingml/2006/main">
            <a:off x="1428750" y="47815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問題解消後に5ラウンド</a:t>
            </a:r>
          </a:p>
        </p:txBody>
      </p:sp>
      <p:sp>
        <p:nvSpPr>
          <p:cNvPr id="22" name="">
            <a:extLst xmlns:a="http://schemas.openxmlformats.org/drawingml/2006/main">
              <a:ext uri="{FF2B5EF4-FFF2-40B4-BE49-F238E27FC236}">
                <a16:creationId xmlns:a16="http://schemas.microsoft.com/office/drawing/2014/main" id="{CE0E98F3-6DE3-4289-8013-77F9248F0FF7}"/>
              </a:ext>
            </a:extLst>
          </p:cNvPr>
          <p:cNvSpPr>
            <a:spLocks xmlns:a="http://schemas.openxmlformats.org/drawingml/2006/main" noGrp="1"/>
          </p:cNvSpPr>
          <p:nvPr/>
        </p:nvSpPr>
        <p:spPr>
          <a:xfrm xmlns:a="http://schemas.openxmlformats.org/drawingml/2006/main">
            <a:off x="4686300" y="478155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6373D"/>
                </a:solidFill>
                <a:latin typeface="Yu Gothic"/>
                <a:ea typeface="Yu Gothic"/>
                <a:cs typeface="Yu Gothic"/>
              </a:defRPr>
            </a:pPr>
            <a:r>
              <a:rPr sz="1425" b="0">
                <a:solidFill>
                  <a:srgbClr val="26373D"/>
                </a:solidFill>
                <a:latin typeface="Yu Gothic"/>
                <a:ea typeface="Yu Gothic"/>
                <a:cs typeface="Yu Gothic"/>
              </a:rPr>
              <a:t>同じ記録形式で、三層の接続と次回への状態継承を確認</a:t>
            </a:r>
          </a:p>
        </p:txBody>
      </p:sp>
      <p:sp>
        <p:nvSpPr>
          <p:cNvPr id="23" name="">
            <a:extLst xmlns:a="http://schemas.openxmlformats.org/drawingml/2006/main">
              <a:ext uri="{FF2B5EF4-FFF2-40B4-BE49-F238E27FC236}">
                <a16:creationId xmlns:a16="http://schemas.microsoft.com/office/drawing/2014/main" id="{EB400891-C54C-4FB8-AD6F-F2CC4DA13A6F}"/>
              </a:ext>
            </a:extLst>
          </p:cNvPr>
          <p:cNvSpPr>
            <a:spLocks xmlns:a="http://schemas.openxmlformats.org/drawingml/2006/main" noGrp="1"/>
          </p:cNvSpPr>
          <p:nvPr/>
        </p:nvSpPr>
        <p:spPr>
          <a:xfrm xmlns:a="http://schemas.openxmlformats.org/drawingml/2006/main">
            <a:off x="800100" y="5429250"/>
            <a:ext cx="400050" cy="400050"/>
          </a:xfrm>
          <a:prstGeom xmlns:a="http://schemas.openxmlformats.org/drawingml/2006/main" prst="ellipse">
            <a:avLst/>
          </a:prstGeom>
          <a:solidFill xmlns:a="http://schemas.openxmlformats.org/drawingml/2006/main">
            <a:srgbClr val="147B7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E17A874-8993-4EB3-9CDD-CCF1B5E618FA}"/>
              </a:ext>
            </a:extLst>
          </p:cNvPr>
          <p:cNvSpPr>
            <a:spLocks xmlns:a="http://schemas.openxmlformats.org/drawingml/2006/main" noGrp="1"/>
          </p:cNvSpPr>
          <p:nvPr/>
        </p:nvSpPr>
        <p:spPr>
          <a:xfrm xmlns:a="http://schemas.openxmlformats.org/drawingml/2006/main">
            <a:off x="800100" y="54768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3</a:t>
            </a:r>
          </a:p>
        </p:txBody>
      </p:sp>
      <p:sp>
        <p:nvSpPr>
          <p:cNvPr id="25" name="">
            <a:extLst xmlns:a="http://schemas.openxmlformats.org/drawingml/2006/main">
              <a:ext uri="{FF2B5EF4-FFF2-40B4-BE49-F238E27FC236}">
                <a16:creationId xmlns:a16="http://schemas.microsoft.com/office/drawing/2014/main" id="{53E16CCE-AF0F-4E46-A869-3B7B16B44901}"/>
              </a:ext>
            </a:extLst>
          </p:cNvPr>
          <p:cNvSpPr>
            <a:spLocks xmlns:a="http://schemas.openxmlformats.org/drawingml/2006/main" noGrp="1"/>
          </p:cNvSpPr>
          <p:nvPr/>
        </p:nvSpPr>
        <p:spPr>
          <a:xfrm xmlns:a="http://schemas.openxmlformats.org/drawingml/2006/main">
            <a:off x="1428750" y="54102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第II段階で比較・独立評価</a:t>
            </a:r>
          </a:p>
        </p:txBody>
      </p:sp>
      <p:sp>
        <p:nvSpPr>
          <p:cNvPr id="26" name="">
            <a:extLst xmlns:a="http://schemas.openxmlformats.org/drawingml/2006/main">
              <a:ext uri="{FF2B5EF4-FFF2-40B4-BE49-F238E27FC236}">
                <a16:creationId xmlns:a16="http://schemas.microsoft.com/office/drawing/2014/main" id="{807BACCB-2472-43FC-A6C7-00394DB4E9F9}"/>
              </a:ext>
            </a:extLst>
          </p:cNvPr>
          <p:cNvSpPr>
            <a:spLocks xmlns:a="http://schemas.openxmlformats.org/drawingml/2006/main" noGrp="1"/>
          </p:cNvSpPr>
          <p:nvPr/>
        </p:nvSpPr>
        <p:spPr>
          <a:xfrm xmlns:a="http://schemas.openxmlformats.org/drawingml/2006/main">
            <a:off x="4686300" y="541020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6373D"/>
                </a:solidFill>
                <a:latin typeface="Yu Gothic"/>
                <a:ea typeface="Yu Gothic"/>
                <a:cs typeface="Yu Gothic"/>
              </a:defRPr>
            </a:pPr>
            <a:r>
              <a:rPr sz="1425" b="0">
                <a:solidFill>
                  <a:srgbClr val="26373D"/>
                </a:solidFill>
                <a:latin typeface="Yu Gothic"/>
                <a:ea typeface="Yu Gothic"/>
                <a:cs typeface="Yu Gothic"/>
              </a:rPr>
              <a:t>中央側動画のみ、学習後、学習後＋変化を未使用動画で比較</a:t>
            </a:r>
          </a:p>
        </p:txBody>
      </p:sp>
      <p:sp>
        <p:nvSpPr>
          <p:cNvPr id="27" name="">
            <a:extLst xmlns:a="http://schemas.openxmlformats.org/drawingml/2006/main">
              <a:ext uri="{FF2B5EF4-FFF2-40B4-BE49-F238E27FC236}">
                <a16:creationId xmlns:a16="http://schemas.microsoft.com/office/drawing/2014/main" id="{53604119-9D33-435B-BAFF-7FE4ACD846BB}"/>
              </a:ext>
            </a:extLst>
          </p:cNvPr>
          <p:cNvSpPr>
            <a:spLocks xmlns:a="http://schemas.openxmlformats.org/drawingml/2006/main" noGrp="1"/>
          </p:cNvSpPr>
          <p:nvPr/>
        </p:nvSpPr>
        <p:spPr>
          <a:xfrm xmlns:a="http://schemas.openxmlformats.org/drawingml/2006/main">
            <a:off x="685800" y="6029325"/>
            <a:ext cx="10820400" cy="361950"/>
          </a:xfrm>
          <a:prstGeom xmlns:a="http://schemas.openxmlformats.org/drawingml/2006/main" prst="rect">
            <a:avLst/>
          </a:prstGeom>
          <a:solidFill xmlns:a="http://schemas.openxmlformats.org/drawingml/2006/main">
            <a:srgbClr val="173B4B"/>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D158FFAE-36A5-4F6D-B920-65EEF6142195}"/>
              </a:ext>
            </a:extLst>
          </p:cNvPr>
          <p:cNvSpPr>
            <a:spLocks xmlns:a="http://schemas.openxmlformats.org/drawingml/2006/main" noGrp="1"/>
          </p:cNvSpPr>
          <p:nvPr/>
        </p:nvSpPr>
        <p:spPr>
          <a:xfrm xmlns:a="http://schemas.openxmlformats.org/drawingml/2006/main">
            <a:off x="876300" y="6096000"/>
            <a:ext cx="10439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FFFFFF"/>
                </a:solidFill>
                <a:latin typeface="Yu Gothic"/>
                <a:ea typeface="Yu Gothic"/>
                <a:cs typeface="Yu Gothic"/>
              </a:defRPr>
            </a:pPr>
            <a:r>
              <a:rPr sz="1500" b="1">
                <a:solidFill>
                  <a:srgbClr val="FFFFFF"/>
                </a:solidFill>
                <a:latin typeface="Yu Gothic"/>
                <a:ea typeface="Yu Gothic"/>
                <a:cs typeface="Yu Gothic"/>
              </a:rPr>
              <a:t>到達点：効果を正しく検証できる土台と、次に確認すべき失敗箇所を特定した</a:t>
            </a:r>
          </a:p>
        </p:txBody>
      </p:sp>
      <p:sp>
        <p:nvSpPr>
          <p:cNvPr id="29" name="">
            <a:extLst xmlns:a="http://schemas.openxmlformats.org/drawingml/2006/main">
              <a:ext uri="{FF2B5EF4-FFF2-40B4-BE49-F238E27FC236}">
                <a16:creationId xmlns:a16="http://schemas.microsoft.com/office/drawing/2014/main" id="{F6DC3075-EBC1-4DCB-BAB9-FD127C462BA3}"/>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Tree>
    <p:extLst>
      <p:ext uri="{BB962C8B-B14F-4D97-AF65-F5344CB8AC3E}">
        <p14:creationId xmlns:p14="http://schemas.microsoft.com/office/powerpoint/2010/main" val="7318288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DD48FC6-71D3-4079-894C-C271E6B0F9C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87D683D-BD3E-4E0C-B511-7ED60E6E4479}"/>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DCC21A1-38B0-438D-8269-3392538F043C}"/>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付録1　選択した12組の代理データ結果</a:t>
            </a:r>
          </a:p>
        </p:txBody>
      </p:sp>
      <p:sp>
        <p:nvSpPr>
          <p:cNvPr id="4" name="">
            <a:extLst xmlns:a="http://schemas.openxmlformats.org/drawingml/2006/main">
              <a:ext uri="{FF2B5EF4-FFF2-40B4-BE49-F238E27FC236}">
                <a16:creationId xmlns:a16="http://schemas.microsoft.com/office/drawing/2014/main" id="{14B0E1E2-1A9C-4B21-8AAD-81339BE5EBC1}"/>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A1</a:t>
            </a:r>
          </a:p>
        </p:txBody>
      </p:sp>
      <p:sp>
        <p:nvSpPr>
          <p:cNvPr id="5" name="">
            <a:extLst xmlns:a="http://schemas.openxmlformats.org/drawingml/2006/main">
              <a:ext uri="{FF2B5EF4-FFF2-40B4-BE49-F238E27FC236}">
                <a16:creationId xmlns:a16="http://schemas.microsoft.com/office/drawing/2014/main" id="{73CF7FC2-9EEF-41A0-9A70-F1DE0E5F5495}"/>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FC77F18-9440-4340-9A11-5865DD56282B}"/>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39A6AA93-1FA9-4D7E-8CB5-083B51D72A17}"/>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付録 1 / 3</a:t>
            </a:r>
          </a:p>
        </p:txBody>
      </p:sp>
      <p:sp>
        <p:nvSpPr>
          <p:cNvPr id="8" name="">
            <a:extLst xmlns:a="http://schemas.openxmlformats.org/drawingml/2006/main">
              <a:ext uri="{FF2B5EF4-FFF2-40B4-BE49-F238E27FC236}">
                <a16:creationId xmlns:a16="http://schemas.microsoft.com/office/drawing/2014/main" id="{A5F152CA-2A15-47CB-B83B-7B4CF5E987DF}"/>
              </a:ext>
            </a:extLst>
          </p:cNvPr>
          <p:cNvSpPr>
            <a:spLocks xmlns:a="http://schemas.openxmlformats.org/drawingml/2006/main" noGrp="1"/>
          </p:cNvSpPr>
          <p:nvPr/>
        </p:nvSpPr>
        <p:spPr>
          <a:xfrm xmlns:a="http://schemas.openxmlformats.org/drawingml/2006/main">
            <a:off x="666750" y="10287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173B4B"/>
                </a:solidFill>
                <a:latin typeface="Yu Gothic"/>
                <a:ea typeface="Yu Gothic"/>
                <a:cs typeface="Yu Gothic"/>
              </a:defRPr>
            </a:pPr>
            <a:r>
              <a:rPr sz="1575" b="1">
                <a:solidFill>
                  <a:srgbClr val="173B4B"/>
                </a:solidFill>
                <a:latin typeface="Yu Gothic"/>
                <a:ea typeface="Yu Gothic"/>
                <a:cs typeface="Yu Gothic"/>
              </a:rPr>
              <a:t>変化の方向は7／12組で一致。prototypeと選択動画の正解ラベルは6／12組で一致</a:t>
            </a:r>
          </a:p>
        </p:txBody>
      </p:sp>
      <p:graphicFrame>
        <p:nvGraphicFramePr>
          <p:cNvPr id="19" name=""/>
          <p:cNvGraphicFramePr/>
          <p:nvPr/>
        </p:nvGraphicFramePr>
        <p:xfrm>
          <a:off xmlns:a="http://schemas.openxmlformats.org/drawingml/2006/main" x="609600" y="1438275"/>
          <a:ext xmlns:a="http://schemas.openxmlformats.org/drawingml/2006/main" cx="10972800" cy="4362450"/>
        </p:xfrm>
        <a:graphic xmlns:a="http://schemas.openxmlformats.org/drawingml/2006/main">
          <a:graphicData uri="http://schemas.openxmlformats.org/drawingml/2006/table">
            <a:tbl>
              <a:tblPr/>
              <a:tblGrid>
                <a:gridCol w="523875"/>
                <a:gridCol w="1381125"/>
                <a:gridCol w="1000125"/>
                <a:gridCol w="1190625"/>
                <a:gridCol w="1190625"/>
                <a:gridCol w="1095375"/>
                <a:gridCol w="1381125"/>
                <a:gridCol w="1571625"/>
                <a:gridCol w="1638300"/>
              </a:tblGrid>
              <a:tr h="335573">
                <a:tc>
                  <a:txBody>
                    <a:bodyPr/>
                    <a:lstStyle/>
                    <a:p>
                      <a:r>
                        <a:rPr sz="1050" b="1">
                          <a:solidFill>
                            <a:srgbClr val="173B4B"/>
                          </a:solidFill>
                          <a:latin typeface="Yu Gothic"/>
                          <a:ea typeface="Yu Gothic"/>
                          <a:cs typeface="Yu Gothic"/>
                        </a:rPr>
                        <a:t>R</a:t>
                      </a:r>
                    </a:p>
                  </a:txBody>
                  <a:tcPr marL="91440" marR="91440" marT="45720" marB="45720"/>
                </a:tc>
                <a:tc>
                  <a:txBody>
                    <a:bodyPr/>
                    <a:lstStyle/>
                    <a:p>
                      <a:r>
                        <a:rPr sz="1050" b="1">
                          <a:solidFill>
                            <a:srgbClr val="173B4B"/>
                          </a:solidFill>
                          <a:latin typeface="Yu Gothic"/>
                          <a:ea typeface="Yu Gothic"/>
                          <a:cs typeface="Yu Gothic"/>
                        </a:rPr>
                        <a:t>対象</a:t>
                      </a:r>
                    </a:p>
                  </a:txBody>
                  <a:tcPr marL="91440" marR="91440" marT="45720" marB="45720"/>
                </a:tc>
                <a:tc>
                  <a:txBody>
                    <a:bodyPr/>
                    <a:lstStyle/>
                    <a:p>
                      <a:r>
                        <a:rPr sz="1050" b="1">
                          <a:solidFill>
                            <a:srgbClr val="173B4B"/>
                          </a:solidFill>
                          <a:latin typeface="Yu Gothic"/>
                          <a:ea typeface="Yu Gothic"/>
                          <a:cs typeface="Yu Gothic"/>
                        </a:rPr>
                        <a:t>選択動画</a:t>
                      </a:r>
                    </a:p>
                  </a:txBody>
                  <a:tcPr marL="91440" marR="91440" marT="45720" marB="45720"/>
                </a:tc>
                <a:tc>
                  <a:txBody>
                    <a:bodyPr/>
                    <a:lstStyle/>
                    <a:p>
                      <a:r>
                        <a:rPr sz="1050" b="1">
                          <a:solidFill>
                            <a:srgbClr val="173B4B"/>
                          </a:solidFill>
                          <a:latin typeface="Yu Gothic"/>
                          <a:ea typeface="Yu Gothic"/>
                          <a:cs typeface="Yu Gothic"/>
                        </a:rPr>
                        <a:t>目標Δ危険</a:t>
                      </a:r>
                    </a:p>
                  </a:txBody>
                  <a:tcPr marL="91440" marR="91440" marT="45720" marB="45720"/>
                </a:tc>
                <a:tc>
                  <a:txBody>
                    <a:bodyPr/>
                    <a:lstStyle/>
                    <a:p>
                      <a:r>
                        <a:rPr sz="1050" b="1">
                          <a:solidFill>
                            <a:srgbClr val="173B4B"/>
                          </a:solidFill>
                          <a:latin typeface="Yu Gothic"/>
                          <a:ea typeface="Yu Gothic"/>
                          <a:cs typeface="Yu Gothic"/>
                        </a:rPr>
                        <a:t>代理Δ危険</a:t>
                      </a:r>
                    </a:p>
                  </a:txBody>
                  <a:tcPr marL="91440" marR="91440" marT="45720" marB="45720"/>
                </a:tc>
                <a:tc>
                  <a:txBody>
                    <a:bodyPr/>
                    <a:lstStyle/>
                    <a:p>
                      <a:r>
                        <a:rPr sz="1050" b="1">
                          <a:solidFill>
                            <a:srgbClr val="173B4B"/>
                          </a:solidFill>
                          <a:latin typeface="Yu Gothic"/>
                          <a:ea typeface="Yu Gothic"/>
                          <a:cs typeface="Yu Gothic"/>
                        </a:rPr>
                        <a:t>方向</a:t>
                      </a:r>
                    </a:p>
                  </a:txBody>
                  <a:tcPr marL="91440" marR="91440" marT="45720" marB="45720"/>
                </a:tc>
                <a:tc>
                  <a:txBody>
                    <a:bodyPr/>
                    <a:lstStyle/>
                    <a:p>
                      <a:r>
                        <a:rPr sz="1050" b="1">
                          <a:solidFill>
                            <a:srgbClr val="173B4B"/>
                          </a:solidFill>
                          <a:latin typeface="Yu Gothic"/>
                          <a:ea typeface="Yu Gothic"/>
                          <a:cs typeface="Yu Gothic"/>
                        </a:rPr>
                        <a:t>post KL</a:t>
                      </a:r>
                    </a:p>
                  </a:txBody>
                  <a:tcPr marL="91440" marR="91440" marT="45720" marB="45720"/>
                </a:tc>
                <a:tc>
                  <a:txBody>
                    <a:bodyPr/>
                    <a:lstStyle/>
                    <a:p>
                      <a:r>
                        <a:rPr sz="1050" b="1">
                          <a:solidFill>
                            <a:srgbClr val="173B4B"/>
                          </a:solidFill>
                          <a:latin typeface="Yu Gothic"/>
                          <a:ea typeface="Yu Gothic"/>
                          <a:cs typeface="Yu Gothic"/>
                        </a:rPr>
                        <a:t>delta error</a:t>
                      </a:r>
                    </a:p>
                  </a:txBody>
                  <a:tcPr marL="91440" marR="91440" marT="45720" marB="45720"/>
                </a:tc>
                <a:tc>
                  <a:txBody>
                    <a:bodyPr/>
                    <a:lstStyle/>
                    <a:p>
                      <a:r>
                        <a:rPr sz="1050" b="1">
                          <a:solidFill>
                            <a:srgbClr val="173B4B"/>
                          </a:solidFill>
                          <a:latin typeface="Yu Gothic"/>
                          <a:ea typeface="Yu Gothic"/>
                          <a:cs typeface="Yu Gothic"/>
                        </a:rPr>
                        <a:t>L_match</a:t>
                      </a:r>
                    </a:p>
                  </a:txBody>
                  <a:tcPr marL="91440" marR="91440" marT="45720" marB="45720"/>
                </a:tc>
              </a:tr>
              <a:tr h="335573">
                <a:tc>
                  <a:txBody>
                    <a:bodyPr/>
                    <a:lstStyle/>
                    <a:p>
                      <a:r>
                        <a:rPr sz="1050" b="0">
                          <a:solidFill>
                            <a:srgbClr val="26373D"/>
                          </a:solidFill>
                          <a:latin typeface="Yu Gothic"/>
                          <a:ea typeface="Yu Gothic"/>
                          <a:cs typeface="Yu Gothic"/>
                        </a:rPr>
                        <a:t>1</a:t>
                      </a:r>
                    </a:p>
                  </a:txBody>
                  <a:tcPr marL="91440" marR="91440" marT="45720" marB="45720"/>
                </a:tc>
                <a:tc>
                  <a:txBody>
                    <a:bodyPr/>
                    <a:lstStyle/>
                    <a:p>
                      <a:r>
                        <a:rPr sz="1050" b="0">
                          <a:solidFill>
                            <a:srgbClr val="26373D"/>
                          </a:solidFill>
                          <a:latin typeface="Yu Gothic"/>
                          <a:ea typeface="Yu Gothic"/>
                          <a:cs typeface="Yu Gothic"/>
                        </a:rPr>
                        <a:t>現場0／通常</a:t>
                      </a:r>
                    </a:p>
                  </a:txBody>
                  <a:tcPr marL="91440" marR="91440" marT="45720" marB="45720"/>
                </a:tc>
                <a:tc>
                  <a:txBody>
                    <a:bodyPr/>
                    <a:lstStyle/>
                    <a:p>
                      <a:r>
                        <a:rPr sz="1050" b="0">
                          <a:solidFill>
                            <a:srgbClr val="26373D"/>
                          </a:solidFill>
                          <a:latin typeface="Yu Gothic"/>
                          <a:ea typeface="Yu Gothic"/>
                          <a:cs typeface="Yu Gothic"/>
                        </a:rPr>
                        <a:t>危険</a:t>
                      </a:r>
                    </a:p>
                  </a:txBody>
                  <a:tcPr marL="91440" marR="91440" marT="45720" marB="45720"/>
                </a:tc>
                <a:tc>
                  <a:txBody>
                    <a:bodyPr/>
                    <a:lstStyle/>
                    <a:p>
                      <a:r>
                        <a:rPr sz="1050" b="0">
                          <a:solidFill>
                            <a:srgbClr val="26373D"/>
                          </a:solidFill>
                          <a:latin typeface="Yu Gothic"/>
                          <a:ea typeface="Yu Gothic"/>
                          <a:cs typeface="Yu Gothic"/>
                        </a:rPr>
                        <a:t>+0.0938</a:t>
                      </a:r>
                    </a:p>
                  </a:txBody>
                  <a:tcPr marL="91440" marR="91440" marT="45720" marB="45720"/>
                </a:tc>
                <a:tc>
                  <a:txBody>
                    <a:bodyPr/>
                    <a:lstStyle/>
                    <a:p>
                      <a:r>
                        <a:rPr sz="1050" b="0">
                          <a:solidFill>
                            <a:srgbClr val="26373D"/>
                          </a:solidFill>
                          <a:latin typeface="Yu Gothic"/>
                          <a:ea typeface="Yu Gothic"/>
                          <a:cs typeface="Yu Gothic"/>
                        </a:rPr>
                        <a:t>+0.0716</a:t>
                      </a:r>
                    </a:p>
                  </a:txBody>
                  <a:tcPr marL="91440" marR="91440" marT="45720" marB="45720"/>
                </a:tc>
                <a:tc>
                  <a:txBody>
                    <a:bodyPr/>
                    <a:lstStyle/>
                    <a:p>
                      <a:r>
                        <a:rPr sz="1050" b="0">
                          <a:solidFill>
                            <a:srgbClr val="26373D"/>
                          </a:solidFill>
                          <a:latin typeface="Yu Gothic"/>
                          <a:ea typeface="Yu Gothic"/>
                          <a:cs typeface="Yu Gothic"/>
                        </a:rPr>
                        <a:t>一致</a:t>
                      </a:r>
                    </a:p>
                  </a:txBody>
                  <a:tcPr marL="91440" marR="91440" marT="45720" marB="45720"/>
                </a:tc>
                <a:tc>
                  <a:txBody>
                    <a:bodyPr/>
                    <a:lstStyle/>
                    <a:p>
                      <a:r>
                        <a:rPr sz="1050" b="0">
                          <a:solidFill>
                            <a:srgbClr val="26373D"/>
                          </a:solidFill>
                          <a:latin typeface="Yu Gothic"/>
                          <a:ea typeface="Yu Gothic"/>
                          <a:cs typeface="Yu Gothic"/>
                        </a:rPr>
                        <a:t>2.04×10⁻⁴</a:t>
                      </a:r>
                    </a:p>
                  </a:txBody>
                  <a:tcPr marL="91440" marR="91440" marT="45720" marB="45720"/>
                </a:tc>
                <a:tc>
                  <a:txBody>
                    <a:bodyPr/>
                    <a:lstStyle/>
                    <a:p>
                      <a:r>
                        <a:rPr sz="1050" b="0">
                          <a:solidFill>
                            <a:srgbClr val="26373D"/>
                          </a:solidFill>
                          <a:latin typeface="Yu Gothic"/>
                          <a:ea typeface="Yu Gothic"/>
                          <a:cs typeface="Yu Gothic"/>
                        </a:rPr>
                        <a:t>4.94×10⁻⁴</a:t>
                      </a:r>
                    </a:p>
                  </a:txBody>
                  <a:tcPr marL="91440" marR="91440" marT="45720" marB="45720"/>
                </a:tc>
                <a:tc>
                  <a:txBody>
                    <a:bodyPr/>
                    <a:lstStyle/>
                    <a:p>
                      <a:r>
                        <a:rPr sz="1050" b="0">
                          <a:solidFill>
                            <a:srgbClr val="26373D"/>
                          </a:solidFill>
                          <a:latin typeface="Yu Gothic"/>
                          <a:ea typeface="Yu Gothic"/>
                          <a:cs typeface="Yu Gothic"/>
                        </a:rPr>
                        <a:t>6.99×10⁻⁴</a:t>
                      </a:r>
                    </a:p>
                  </a:txBody>
                  <a:tcPr marL="91440" marR="91440" marT="45720" marB="45720"/>
                </a:tc>
              </a:tr>
              <a:tr h="335573">
                <a:tc>
                  <a:txBody>
                    <a:bodyPr/>
                    <a:lstStyle/>
                    <a:p>
                      <a:r>
                        <a:rPr sz="1050" b="0">
                          <a:solidFill>
                            <a:srgbClr val="26373D"/>
                          </a:solidFill>
                          <a:latin typeface="Yu Gothic"/>
                          <a:ea typeface="Yu Gothic"/>
                          <a:cs typeface="Yu Gothic"/>
                        </a:rPr>
                        <a:t>1</a:t>
                      </a:r>
                    </a:p>
                  </a:txBody>
                  <a:tcPr marL="91440" marR="91440" marT="45720" marB="45720"/>
                </a:tc>
                <a:tc>
                  <a:txBody>
                    <a:bodyPr/>
                    <a:lstStyle/>
                    <a:p>
                      <a:r>
                        <a:rPr sz="1050" b="0">
                          <a:solidFill>
                            <a:srgbClr val="26373D"/>
                          </a:solidFill>
                          <a:latin typeface="Yu Gothic"/>
                          <a:ea typeface="Yu Gothic"/>
                          <a:cs typeface="Yu Gothic"/>
                        </a:rPr>
                        <a:t>現場0／危険</a:t>
                      </a:r>
                    </a:p>
                  </a:txBody>
                  <a:tcPr marL="91440" marR="91440" marT="45720" marB="45720"/>
                </a:tc>
                <a:tc>
                  <a:txBody>
                    <a:bodyPr/>
                    <a:lstStyle/>
                    <a:p>
                      <a:r>
                        <a:rPr sz="1050" b="0">
                          <a:solidFill>
                            <a:srgbClr val="26373D"/>
                          </a:solidFill>
                          <a:latin typeface="Yu Gothic"/>
                          <a:ea typeface="Yu Gothic"/>
                          <a:cs typeface="Yu Gothic"/>
                        </a:rPr>
                        <a:t>通常</a:t>
                      </a:r>
                    </a:p>
                  </a:txBody>
                  <a:tcPr marL="91440" marR="91440" marT="45720" marB="45720"/>
                </a:tc>
                <a:tc>
                  <a:txBody>
                    <a:bodyPr/>
                    <a:lstStyle/>
                    <a:p>
                      <a:r>
                        <a:rPr sz="1050" b="0">
                          <a:solidFill>
                            <a:srgbClr val="26373D"/>
                          </a:solidFill>
                          <a:latin typeface="Yu Gothic"/>
                          <a:ea typeface="Yu Gothic"/>
                          <a:cs typeface="Yu Gothic"/>
                        </a:rPr>
                        <a:t>+0.2377</a:t>
                      </a:r>
                    </a:p>
                  </a:txBody>
                  <a:tcPr marL="91440" marR="91440" marT="45720" marB="45720"/>
                </a:tc>
                <a:tc>
                  <a:txBody>
                    <a:bodyPr/>
                    <a:lstStyle/>
                    <a:p>
                      <a:r>
                        <a:rPr sz="1050" b="0">
                          <a:solidFill>
                            <a:srgbClr val="26373D"/>
                          </a:solidFill>
                          <a:latin typeface="Yu Gothic"/>
                          <a:ea typeface="Yu Gothic"/>
                          <a:cs typeface="Yu Gothic"/>
                        </a:rPr>
                        <a:t>+0.0509</a:t>
                      </a:r>
                    </a:p>
                  </a:txBody>
                  <a:tcPr marL="91440" marR="91440" marT="45720" marB="45720"/>
                </a:tc>
                <a:tc>
                  <a:txBody>
                    <a:bodyPr/>
                    <a:lstStyle/>
                    <a:p>
                      <a:r>
                        <a:rPr sz="1050" b="0">
                          <a:solidFill>
                            <a:srgbClr val="26373D"/>
                          </a:solidFill>
                          <a:latin typeface="Yu Gothic"/>
                          <a:ea typeface="Yu Gothic"/>
                          <a:cs typeface="Yu Gothic"/>
                        </a:rPr>
                        <a:t>一致</a:t>
                      </a:r>
                    </a:p>
                  </a:txBody>
                  <a:tcPr marL="91440" marR="91440" marT="45720" marB="45720"/>
                </a:tc>
                <a:tc>
                  <a:txBody>
                    <a:bodyPr/>
                    <a:lstStyle/>
                    <a:p>
                      <a:r>
                        <a:rPr sz="1050" b="0">
                          <a:solidFill>
                            <a:srgbClr val="26373D"/>
                          </a:solidFill>
                          <a:latin typeface="Yu Gothic"/>
                          <a:ea typeface="Yu Gothic"/>
                          <a:cs typeface="Yu Gothic"/>
                        </a:rPr>
                        <a:t>8.35×10⁻¹⁰</a:t>
                      </a:r>
                    </a:p>
                  </a:txBody>
                  <a:tcPr marL="91440" marR="91440" marT="45720" marB="45720"/>
                </a:tc>
                <a:tc>
                  <a:txBody>
                    <a:bodyPr/>
                    <a:lstStyle/>
                    <a:p>
                      <a:r>
                        <a:rPr sz="1050" b="0">
                          <a:solidFill>
                            <a:srgbClr val="26373D"/>
                          </a:solidFill>
                          <a:latin typeface="Yu Gothic"/>
                          <a:ea typeface="Yu Gothic"/>
                          <a:cs typeface="Yu Gothic"/>
                        </a:rPr>
                        <a:t>3.489×10⁻²</a:t>
                      </a:r>
                    </a:p>
                  </a:txBody>
                  <a:tcPr marL="91440" marR="91440" marT="45720" marB="45720"/>
                </a:tc>
                <a:tc>
                  <a:txBody>
                    <a:bodyPr/>
                    <a:lstStyle/>
                    <a:p>
                      <a:r>
                        <a:rPr sz="1050" b="0">
                          <a:solidFill>
                            <a:srgbClr val="26373D"/>
                          </a:solidFill>
                          <a:latin typeface="Yu Gothic"/>
                          <a:ea typeface="Yu Gothic"/>
                          <a:cs typeface="Yu Gothic"/>
                        </a:rPr>
                        <a:t>3.489×10⁻²</a:t>
                      </a:r>
                    </a:p>
                  </a:txBody>
                  <a:tcPr marL="91440" marR="91440" marT="45720" marB="45720"/>
                </a:tc>
              </a:tr>
              <a:tr h="335573">
                <a:tc>
                  <a:txBody>
                    <a:bodyPr/>
                    <a:lstStyle/>
                    <a:p>
                      <a:r>
                        <a:rPr sz="1050" b="0">
                          <a:solidFill>
                            <a:srgbClr val="26373D"/>
                          </a:solidFill>
                          <a:latin typeface="Yu Gothic"/>
                          <a:ea typeface="Yu Gothic"/>
                          <a:cs typeface="Yu Gothic"/>
                        </a:rPr>
                        <a:t>1</a:t>
                      </a:r>
                    </a:p>
                  </a:txBody>
                  <a:tcPr marL="91440" marR="91440" marT="45720" marB="45720"/>
                </a:tc>
                <a:tc>
                  <a:txBody>
                    <a:bodyPr/>
                    <a:lstStyle/>
                    <a:p>
                      <a:r>
                        <a:rPr sz="1050" b="0">
                          <a:solidFill>
                            <a:srgbClr val="26373D"/>
                          </a:solidFill>
                          <a:latin typeface="Yu Gothic"/>
                          <a:ea typeface="Yu Gothic"/>
                          <a:cs typeface="Yu Gothic"/>
                        </a:rPr>
                        <a:t>現場1／通常</a:t>
                      </a:r>
                    </a:p>
                  </a:txBody>
                  <a:tcPr marL="91440" marR="91440" marT="45720" marB="45720"/>
                </a:tc>
                <a:tc>
                  <a:txBody>
                    <a:bodyPr/>
                    <a:lstStyle/>
                    <a:p>
                      <a:r>
                        <a:rPr sz="1050" b="0">
                          <a:solidFill>
                            <a:srgbClr val="26373D"/>
                          </a:solidFill>
                          <a:latin typeface="Yu Gothic"/>
                          <a:ea typeface="Yu Gothic"/>
                          <a:cs typeface="Yu Gothic"/>
                        </a:rPr>
                        <a:t>危険</a:t>
                      </a:r>
                    </a:p>
                  </a:txBody>
                  <a:tcPr marL="91440" marR="91440" marT="45720" marB="45720"/>
                </a:tc>
                <a:tc>
                  <a:txBody>
                    <a:bodyPr/>
                    <a:lstStyle/>
                    <a:p>
                      <a:r>
                        <a:rPr sz="1050" b="0">
                          <a:solidFill>
                            <a:srgbClr val="26373D"/>
                          </a:solidFill>
                          <a:latin typeface="Yu Gothic"/>
                          <a:ea typeface="Yu Gothic"/>
                          <a:cs typeface="Yu Gothic"/>
                        </a:rPr>
                        <a:t>−0.1027</a:t>
                      </a:r>
                    </a:p>
                  </a:txBody>
                  <a:tcPr marL="91440" marR="91440" marT="45720" marB="45720"/>
                </a:tc>
                <a:tc>
                  <a:txBody>
                    <a:bodyPr/>
                    <a:lstStyle/>
                    <a:p>
                      <a:r>
                        <a:rPr sz="1050" b="0">
                          <a:solidFill>
                            <a:srgbClr val="26373D"/>
                          </a:solidFill>
                          <a:latin typeface="Yu Gothic"/>
                          <a:ea typeface="Yu Gothic"/>
                          <a:cs typeface="Yu Gothic"/>
                        </a:rPr>
                        <a:t>+0.0559</a:t>
                      </a:r>
                    </a:p>
                  </a:txBody>
                  <a:tcPr marL="91440" marR="91440" marT="45720" marB="45720"/>
                </a:tc>
                <a:tc>
                  <a:txBody>
                    <a:bodyPr>
                      <a:normAutofit/>
                    </a:bodyPr>
                    <a:lstStyle/>
                    <a:p>
                      <a:pPr algn="ctr"/>
                      <a:r>
                        <a:rPr sz="1013" b="1">
                          <a:solidFill>
                            <a:srgbClr val="B94A3A"/>
                          </a:solidFill>
                          <a:latin typeface="Yu Gothic"/>
                          <a:ea typeface="Yu Gothic"/>
                          <a:cs typeface="Yu Gothic"/>
                        </a:rPr>
                        <a:t>不一致</a:t>
                      </a:r>
                    </a:p>
                  </a:txBody>
                  <a:tcPr marL="91440" marR="91440" marT="45720" marB="45720" anchor="ctr">
                    <a:solidFill>
                      <a:srgbClr val="F5DFDA"/>
                    </a:solidFill>
                  </a:tcPr>
                </a:tc>
                <a:tc>
                  <a:txBody>
                    <a:bodyPr/>
                    <a:lstStyle/>
                    <a:p>
                      <a:r>
                        <a:rPr sz="1050" b="0">
                          <a:solidFill>
                            <a:srgbClr val="26373D"/>
                          </a:solidFill>
                          <a:latin typeface="Yu Gothic"/>
                          <a:ea typeface="Yu Gothic"/>
                          <a:cs typeface="Yu Gothic"/>
                        </a:rPr>
                        <a:t>3.51×10⁻⁴</a:t>
                      </a:r>
                    </a:p>
                  </a:txBody>
                  <a:tcPr marL="91440" marR="91440" marT="45720" marB="45720"/>
                </a:tc>
                <a:tc>
                  <a:txBody>
                    <a:bodyPr/>
                    <a:lstStyle/>
                    <a:p>
                      <a:r>
                        <a:rPr sz="1050" b="0">
                          <a:solidFill>
                            <a:srgbClr val="26373D"/>
                          </a:solidFill>
                          <a:latin typeface="Yu Gothic"/>
                          <a:ea typeface="Yu Gothic"/>
                          <a:cs typeface="Yu Gothic"/>
                        </a:rPr>
                        <a:t>2.514×10⁻²</a:t>
                      </a:r>
                    </a:p>
                  </a:txBody>
                  <a:tcPr marL="91440" marR="91440" marT="45720" marB="45720"/>
                </a:tc>
                <a:tc>
                  <a:txBody>
                    <a:bodyPr/>
                    <a:lstStyle/>
                    <a:p>
                      <a:r>
                        <a:rPr sz="1050" b="0">
                          <a:solidFill>
                            <a:srgbClr val="26373D"/>
                          </a:solidFill>
                          <a:latin typeface="Yu Gothic"/>
                          <a:ea typeface="Yu Gothic"/>
                          <a:cs typeface="Yu Gothic"/>
                        </a:rPr>
                        <a:t>2.549×10⁻²</a:t>
                      </a:r>
                    </a:p>
                  </a:txBody>
                  <a:tcPr marL="91440" marR="91440" marT="45720" marB="45720"/>
                </a:tc>
              </a:tr>
              <a:tr h="335573">
                <a:tc>
                  <a:txBody>
                    <a:bodyPr/>
                    <a:lstStyle/>
                    <a:p>
                      <a:r>
                        <a:rPr sz="1050" b="0">
                          <a:solidFill>
                            <a:srgbClr val="26373D"/>
                          </a:solidFill>
                          <a:latin typeface="Yu Gothic"/>
                          <a:ea typeface="Yu Gothic"/>
                          <a:cs typeface="Yu Gothic"/>
                        </a:rPr>
                        <a:t>1</a:t>
                      </a:r>
                    </a:p>
                  </a:txBody>
                  <a:tcPr marL="91440" marR="91440" marT="45720" marB="45720"/>
                </a:tc>
                <a:tc>
                  <a:txBody>
                    <a:bodyPr/>
                    <a:lstStyle/>
                    <a:p>
                      <a:r>
                        <a:rPr sz="1050" b="0">
                          <a:solidFill>
                            <a:srgbClr val="26373D"/>
                          </a:solidFill>
                          <a:latin typeface="Yu Gothic"/>
                          <a:ea typeface="Yu Gothic"/>
                          <a:cs typeface="Yu Gothic"/>
                        </a:rPr>
                        <a:t>現場1／危険</a:t>
                      </a:r>
                    </a:p>
                  </a:txBody>
                  <a:tcPr marL="91440" marR="91440" marT="45720" marB="45720"/>
                </a:tc>
                <a:tc>
                  <a:txBody>
                    <a:bodyPr/>
                    <a:lstStyle/>
                    <a:p>
                      <a:r>
                        <a:rPr sz="1050" b="0">
                          <a:solidFill>
                            <a:srgbClr val="26373D"/>
                          </a:solidFill>
                          <a:latin typeface="Yu Gothic"/>
                          <a:ea typeface="Yu Gothic"/>
                          <a:cs typeface="Yu Gothic"/>
                        </a:rPr>
                        <a:t>通常</a:t>
                      </a:r>
                    </a:p>
                  </a:txBody>
                  <a:tcPr marL="91440" marR="91440" marT="45720" marB="45720"/>
                </a:tc>
                <a:tc>
                  <a:txBody>
                    <a:bodyPr/>
                    <a:lstStyle/>
                    <a:p>
                      <a:r>
                        <a:rPr sz="1050" b="0">
                          <a:solidFill>
                            <a:srgbClr val="26373D"/>
                          </a:solidFill>
                          <a:latin typeface="Yu Gothic"/>
                          <a:ea typeface="Yu Gothic"/>
                          <a:cs typeface="Yu Gothic"/>
                        </a:rPr>
                        <a:t>+0.00546</a:t>
                      </a:r>
                    </a:p>
                  </a:txBody>
                  <a:tcPr marL="91440" marR="91440" marT="45720" marB="45720"/>
                </a:tc>
                <a:tc>
                  <a:txBody>
                    <a:bodyPr/>
                    <a:lstStyle/>
                    <a:p>
                      <a:r>
                        <a:rPr sz="1050" b="0">
                          <a:solidFill>
                            <a:srgbClr val="26373D"/>
                          </a:solidFill>
                          <a:latin typeface="Yu Gothic"/>
                          <a:ea typeface="Yu Gothic"/>
                          <a:cs typeface="Yu Gothic"/>
                        </a:rPr>
                        <a:t>+0.00968</a:t>
                      </a:r>
                    </a:p>
                  </a:txBody>
                  <a:tcPr marL="91440" marR="91440" marT="45720" marB="45720"/>
                </a:tc>
                <a:tc>
                  <a:txBody>
                    <a:bodyPr/>
                    <a:lstStyle/>
                    <a:p>
                      <a:r>
                        <a:rPr sz="1050" b="0">
                          <a:solidFill>
                            <a:srgbClr val="26373D"/>
                          </a:solidFill>
                          <a:latin typeface="Yu Gothic"/>
                          <a:ea typeface="Yu Gothic"/>
                          <a:cs typeface="Yu Gothic"/>
                        </a:rPr>
                        <a:t>一致</a:t>
                      </a:r>
                    </a:p>
                  </a:txBody>
                  <a:tcPr marL="91440" marR="91440" marT="45720" marB="45720"/>
                </a:tc>
                <a:tc>
                  <a:txBody>
                    <a:bodyPr/>
                    <a:lstStyle/>
                    <a:p>
                      <a:r>
                        <a:rPr sz="1050" b="0">
                          <a:solidFill>
                            <a:srgbClr val="26373D"/>
                          </a:solidFill>
                          <a:latin typeface="Yu Gothic"/>
                          <a:ea typeface="Yu Gothic"/>
                          <a:cs typeface="Yu Gothic"/>
                        </a:rPr>
                        <a:t>9.45×10⁻⁵</a:t>
                      </a:r>
                    </a:p>
                  </a:txBody>
                  <a:tcPr marL="91440" marR="91440" marT="45720" marB="45720"/>
                </a:tc>
                <a:tc>
                  <a:txBody>
                    <a:bodyPr/>
                    <a:lstStyle/>
                    <a:p>
                      <a:r>
                        <a:rPr sz="1050" b="0">
                          <a:solidFill>
                            <a:srgbClr val="26373D"/>
                          </a:solidFill>
                          <a:latin typeface="Yu Gothic"/>
                          <a:ea typeface="Yu Gothic"/>
                          <a:cs typeface="Yu Gothic"/>
                        </a:rPr>
                        <a:t>1.78×10⁻⁵</a:t>
                      </a:r>
                    </a:p>
                  </a:txBody>
                  <a:tcPr marL="91440" marR="91440" marT="45720" marB="45720"/>
                </a:tc>
                <a:tc>
                  <a:txBody>
                    <a:bodyPr/>
                    <a:lstStyle/>
                    <a:p>
                      <a:r>
                        <a:rPr sz="1050" b="0">
                          <a:solidFill>
                            <a:srgbClr val="26373D"/>
                          </a:solidFill>
                          <a:latin typeface="Yu Gothic"/>
                          <a:ea typeface="Yu Gothic"/>
                          <a:cs typeface="Yu Gothic"/>
                        </a:rPr>
                        <a:t>1.12×10⁻⁴</a:t>
                      </a:r>
                    </a:p>
                  </a:txBody>
                  <a:tcPr marL="91440" marR="91440" marT="45720" marB="45720"/>
                </a:tc>
              </a:tr>
              <a:tr h="335573">
                <a:tc>
                  <a:txBody>
                    <a:bodyPr/>
                    <a:lstStyle/>
                    <a:p>
                      <a:r>
                        <a:rPr sz="1050" b="0">
                          <a:solidFill>
                            <a:srgbClr val="26373D"/>
                          </a:solidFill>
                          <a:latin typeface="Yu Gothic"/>
                          <a:ea typeface="Yu Gothic"/>
                          <a:cs typeface="Yu Gothic"/>
                        </a:rPr>
                        <a:t>2</a:t>
                      </a:r>
                    </a:p>
                  </a:txBody>
                  <a:tcPr marL="91440" marR="91440" marT="45720" marB="45720"/>
                </a:tc>
                <a:tc>
                  <a:txBody>
                    <a:bodyPr/>
                    <a:lstStyle/>
                    <a:p>
                      <a:r>
                        <a:rPr sz="1050" b="0">
                          <a:solidFill>
                            <a:srgbClr val="26373D"/>
                          </a:solidFill>
                          <a:latin typeface="Yu Gothic"/>
                          <a:ea typeface="Yu Gothic"/>
                          <a:cs typeface="Yu Gothic"/>
                        </a:rPr>
                        <a:t>現場0／通常</a:t>
                      </a:r>
                    </a:p>
                  </a:txBody>
                  <a:tcPr marL="91440" marR="91440" marT="45720" marB="45720"/>
                </a:tc>
                <a:tc>
                  <a:txBody>
                    <a:bodyPr/>
                    <a:lstStyle/>
                    <a:p>
                      <a:r>
                        <a:rPr sz="1050" b="0">
                          <a:solidFill>
                            <a:srgbClr val="26373D"/>
                          </a:solidFill>
                          <a:latin typeface="Yu Gothic"/>
                          <a:ea typeface="Yu Gothic"/>
                          <a:cs typeface="Yu Gothic"/>
                        </a:rPr>
                        <a:t>危険</a:t>
                      </a:r>
                    </a:p>
                  </a:txBody>
                  <a:tcPr marL="91440" marR="91440" marT="45720" marB="45720"/>
                </a:tc>
                <a:tc>
                  <a:txBody>
                    <a:bodyPr/>
                    <a:lstStyle/>
                    <a:p>
                      <a:r>
                        <a:rPr sz="1050" b="0">
                          <a:solidFill>
                            <a:srgbClr val="26373D"/>
                          </a:solidFill>
                          <a:latin typeface="Yu Gothic"/>
                          <a:ea typeface="Yu Gothic"/>
                          <a:cs typeface="Yu Gothic"/>
                        </a:rPr>
                        <a:t>+0.03448</a:t>
                      </a:r>
                    </a:p>
                  </a:txBody>
                  <a:tcPr marL="91440" marR="91440" marT="45720" marB="45720"/>
                </a:tc>
                <a:tc>
                  <a:txBody>
                    <a:bodyPr/>
                    <a:lstStyle/>
                    <a:p>
                      <a:r>
                        <a:rPr sz="1050" b="0">
                          <a:solidFill>
                            <a:srgbClr val="26373D"/>
                          </a:solidFill>
                          <a:latin typeface="Yu Gothic"/>
                          <a:ea typeface="Yu Gothic"/>
                          <a:cs typeface="Yu Gothic"/>
                        </a:rPr>
                        <a:t>+0.01343</a:t>
                      </a:r>
                    </a:p>
                  </a:txBody>
                  <a:tcPr marL="91440" marR="91440" marT="45720" marB="45720"/>
                </a:tc>
                <a:tc>
                  <a:txBody>
                    <a:bodyPr/>
                    <a:lstStyle/>
                    <a:p>
                      <a:r>
                        <a:rPr sz="1050" b="0">
                          <a:solidFill>
                            <a:srgbClr val="26373D"/>
                          </a:solidFill>
                          <a:latin typeface="Yu Gothic"/>
                          <a:ea typeface="Yu Gothic"/>
                          <a:cs typeface="Yu Gothic"/>
                        </a:rPr>
                        <a:t>一致</a:t>
                      </a:r>
                    </a:p>
                  </a:txBody>
                  <a:tcPr marL="91440" marR="91440" marT="45720" marB="45720"/>
                </a:tc>
                <a:tc>
                  <a:txBody>
                    <a:bodyPr/>
                    <a:lstStyle/>
                    <a:p>
                      <a:r>
                        <a:rPr sz="1050" b="0">
                          <a:solidFill>
                            <a:srgbClr val="26373D"/>
                          </a:solidFill>
                          <a:latin typeface="Yu Gothic"/>
                          <a:ea typeface="Yu Gothic"/>
                          <a:cs typeface="Yu Gothic"/>
                        </a:rPr>
                        <a:t>2.27×10⁻⁷</a:t>
                      </a:r>
                    </a:p>
                  </a:txBody>
                  <a:tcPr marL="91440" marR="91440" marT="45720" marB="45720"/>
                </a:tc>
                <a:tc>
                  <a:txBody>
                    <a:bodyPr/>
                    <a:lstStyle/>
                    <a:p>
                      <a:r>
                        <a:rPr sz="1050" b="0">
                          <a:solidFill>
                            <a:srgbClr val="26373D"/>
                          </a:solidFill>
                          <a:latin typeface="Yu Gothic"/>
                          <a:ea typeface="Yu Gothic"/>
                          <a:cs typeface="Yu Gothic"/>
                        </a:rPr>
                        <a:t>4.43×10⁻⁴</a:t>
                      </a:r>
                    </a:p>
                  </a:txBody>
                  <a:tcPr marL="91440" marR="91440" marT="45720" marB="45720"/>
                </a:tc>
                <a:tc>
                  <a:txBody>
                    <a:bodyPr/>
                    <a:lstStyle/>
                    <a:p>
                      <a:r>
                        <a:rPr sz="1050" b="0">
                          <a:solidFill>
                            <a:srgbClr val="26373D"/>
                          </a:solidFill>
                          <a:latin typeface="Yu Gothic"/>
                          <a:ea typeface="Yu Gothic"/>
                          <a:cs typeface="Yu Gothic"/>
                        </a:rPr>
                        <a:t>4.43×10⁻⁴</a:t>
                      </a:r>
                    </a:p>
                  </a:txBody>
                  <a:tcPr marL="91440" marR="91440" marT="45720" marB="45720"/>
                </a:tc>
              </a:tr>
              <a:tr h="335573">
                <a:tc>
                  <a:txBody>
                    <a:bodyPr/>
                    <a:lstStyle/>
                    <a:p>
                      <a:r>
                        <a:rPr sz="1050" b="0">
                          <a:solidFill>
                            <a:srgbClr val="26373D"/>
                          </a:solidFill>
                          <a:latin typeface="Yu Gothic"/>
                          <a:ea typeface="Yu Gothic"/>
                          <a:cs typeface="Yu Gothic"/>
                        </a:rPr>
                        <a:t>2</a:t>
                      </a:r>
                    </a:p>
                  </a:txBody>
                  <a:tcPr marL="91440" marR="91440" marT="45720" marB="45720"/>
                </a:tc>
                <a:tc>
                  <a:txBody>
                    <a:bodyPr/>
                    <a:lstStyle/>
                    <a:p>
                      <a:r>
                        <a:rPr sz="1050" b="0">
                          <a:solidFill>
                            <a:srgbClr val="26373D"/>
                          </a:solidFill>
                          <a:latin typeface="Yu Gothic"/>
                          <a:ea typeface="Yu Gothic"/>
                          <a:cs typeface="Yu Gothic"/>
                        </a:rPr>
                        <a:t>現場0／危険</a:t>
                      </a:r>
                    </a:p>
                  </a:txBody>
                  <a:tcPr marL="91440" marR="91440" marT="45720" marB="45720"/>
                </a:tc>
                <a:tc>
                  <a:txBody>
                    <a:bodyPr/>
                    <a:lstStyle/>
                    <a:p>
                      <a:r>
                        <a:rPr sz="1050" b="0">
                          <a:solidFill>
                            <a:srgbClr val="26373D"/>
                          </a:solidFill>
                          <a:latin typeface="Yu Gothic"/>
                          <a:ea typeface="Yu Gothic"/>
                          <a:cs typeface="Yu Gothic"/>
                        </a:rPr>
                        <a:t>危険</a:t>
                      </a:r>
                    </a:p>
                  </a:txBody>
                  <a:tcPr marL="91440" marR="91440" marT="45720" marB="45720"/>
                </a:tc>
                <a:tc>
                  <a:txBody>
                    <a:bodyPr/>
                    <a:lstStyle/>
                    <a:p>
                      <a:r>
                        <a:rPr sz="1050" b="0">
                          <a:solidFill>
                            <a:srgbClr val="26373D"/>
                          </a:solidFill>
                          <a:latin typeface="Yu Gothic"/>
                          <a:ea typeface="Yu Gothic"/>
                          <a:cs typeface="Yu Gothic"/>
                        </a:rPr>
                        <a:t>+0.17458</a:t>
                      </a:r>
                    </a:p>
                  </a:txBody>
                  <a:tcPr marL="91440" marR="91440" marT="45720" marB="45720"/>
                </a:tc>
                <a:tc>
                  <a:txBody>
                    <a:bodyPr/>
                    <a:lstStyle/>
                    <a:p>
                      <a:r>
                        <a:rPr sz="1050" b="0">
                          <a:solidFill>
                            <a:srgbClr val="26373D"/>
                          </a:solidFill>
                          <a:latin typeface="Yu Gothic"/>
                          <a:ea typeface="Yu Gothic"/>
                          <a:cs typeface="Yu Gothic"/>
                        </a:rPr>
                        <a:t>+0.00516</a:t>
                      </a:r>
                    </a:p>
                  </a:txBody>
                  <a:tcPr marL="91440" marR="91440" marT="45720" marB="45720"/>
                </a:tc>
                <a:tc>
                  <a:txBody>
                    <a:bodyPr/>
                    <a:lstStyle/>
                    <a:p>
                      <a:r>
                        <a:rPr sz="1050" b="0">
                          <a:solidFill>
                            <a:srgbClr val="26373D"/>
                          </a:solidFill>
                          <a:latin typeface="Yu Gothic"/>
                          <a:ea typeface="Yu Gothic"/>
                          <a:cs typeface="Yu Gothic"/>
                        </a:rPr>
                        <a:t>一致</a:t>
                      </a:r>
                    </a:p>
                  </a:txBody>
                  <a:tcPr marL="91440" marR="91440" marT="45720" marB="45720"/>
                </a:tc>
                <a:tc>
                  <a:txBody>
                    <a:bodyPr/>
                    <a:lstStyle/>
                    <a:p>
                      <a:r>
                        <a:rPr sz="1050" b="0">
                          <a:solidFill>
                            <a:srgbClr val="26373D"/>
                          </a:solidFill>
                          <a:latin typeface="Yu Gothic"/>
                          <a:ea typeface="Yu Gothic"/>
                          <a:cs typeface="Yu Gothic"/>
                        </a:rPr>
                        <a:t>2.67×10⁻⁵</a:t>
                      </a:r>
                    </a:p>
                  </a:txBody>
                  <a:tcPr marL="91440" marR="91440" marT="45720" marB="45720"/>
                </a:tc>
                <a:tc>
                  <a:txBody>
                    <a:bodyPr/>
                    <a:lstStyle/>
                    <a:p>
                      <a:r>
                        <a:rPr sz="1050" b="0">
                          <a:solidFill>
                            <a:srgbClr val="26373D"/>
                          </a:solidFill>
                          <a:latin typeface="Yu Gothic"/>
                          <a:ea typeface="Yu Gothic"/>
                          <a:cs typeface="Yu Gothic"/>
                        </a:rPr>
                        <a:t>2.870×10⁻²</a:t>
                      </a:r>
                    </a:p>
                  </a:txBody>
                  <a:tcPr marL="91440" marR="91440" marT="45720" marB="45720"/>
                </a:tc>
                <a:tc>
                  <a:txBody>
                    <a:bodyPr/>
                    <a:lstStyle/>
                    <a:p>
                      <a:r>
                        <a:rPr sz="1050" b="0">
                          <a:solidFill>
                            <a:srgbClr val="26373D"/>
                          </a:solidFill>
                          <a:latin typeface="Yu Gothic"/>
                          <a:ea typeface="Yu Gothic"/>
                          <a:cs typeface="Yu Gothic"/>
                        </a:rPr>
                        <a:t>2.873×10⁻²</a:t>
                      </a:r>
                    </a:p>
                  </a:txBody>
                  <a:tcPr marL="91440" marR="91440" marT="45720" marB="45720"/>
                </a:tc>
              </a:tr>
              <a:tr h="335573">
                <a:tc>
                  <a:txBody>
                    <a:bodyPr/>
                    <a:lstStyle/>
                    <a:p>
                      <a:r>
                        <a:rPr sz="1050" b="0">
                          <a:solidFill>
                            <a:srgbClr val="26373D"/>
                          </a:solidFill>
                          <a:latin typeface="Yu Gothic"/>
                          <a:ea typeface="Yu Gothic"/>
                          <a:cs typeface="Yu Gothic"/>
                        </a:rPr>
                        <a:t>2</a:t>
                      </a:r>
                    </a:p>
                  </a:txBody>
                  <a:tcPr marL="91440" marR="91440" marT="45720" marB="45720"/>
                </a:tc>
                <a:tc>
                  <a:txBody>
                    <a:bodyPr/>
                    <a:lstStyle/>
                    <a:p>
                      <a:r>
                        <a:rPr sz="1050" b="0">
                          <a:solidFill>
                            <a:srgbClr val="26373D"/>
                          </a:solidFill>
                          <a:latin typeface="Yu Gothic"/>
                          <a:ea typeface="Yu Gothic"/>
                          <a:cs typeface="Yu Gothic"/>
                        </a:rPr>
                        <a:t>現場1／通常</a:t>
                      </a:r>
                    </a:p>
                  </a:txBody>
                  <a:tcPr marL="91440" marR="91440" marT="45720" marB="45720"/>
                </a:tc>
                <a:tc>
                  <a:txBody>
                    <a:bodyPr/>
                    <a:lstStyle/>
                    <a:p>
                      <a:r>
                        <a:rPr sz="1050" b="0">
                          <a:solidFill>
                            <a:srgbClr val="26373D"/>
                          </a:solidFill>
                          <a:latin typeface="Yu Gothic"/>
                          <a:ea typeface="Yu Gothic"/>
                          <a:cs typeface="Yu Gothic"/>
                        </a:rPr>
                        <a:t>通常</a:t>
                      </a:r>
                    </a:p>
                  </a:txBody>
                  <a:tcPr marL="91440" marR="91440" marT="45720" marB="45720"/>
                </a:tc>
                <a:tc>
                  <a:txBody>
                    <a:bodyPr/>
                    <a:lstStyle/>
                    <a:p>
                      <a:r>
                        <a:rPr sz="1050" b="0">
                          <a:solidFill>
                            <a:srgbClr val="26373D"/>
                          </a:solidFill>
                          <a:latin typeface="Yu Gothic"/>
                          <a:ea typeface="Yu Gothic"/>
                          <a:cs typeface="Yu Gothic"/>
                        </a:rPr>
                        <a:t>−0.11137</a:t>
                      </a:r>
                    </a:p>
                  </a:txBody>
                  <a:tcPr marL="91440" marR="91440" marT="45720" marB="45720"/>
                </a:tc>
                <a:tc>
                  <a:txBody>
                    <a:bodyPr/>
                    <a:lstStyle/>
                    <a:p>
                      <a:r>
                        <a:rPr sz="1050" b="0">
                          <a:solidFill>
                            <a:srgbClr val="26373D"/>
                          </a:solidFill>
                          <a:latin typeface="Yu Gothic"/>
                          <a:ea typeface="Yu Gothic"/>
                          <a:cs typeface="Yu Gothic"/>
                        </a:rPr>
                        <a:t>+0.00511</a:t>
                      </a:r>
                    </a:p>
                  </a:txBody>
                  <a:tcPr marL="91440" marR="91440" marT="45720" marB="45720"/>
                </a:tc>
                <a:tc>
                  <a:txBody>
                    <a:bodyPr>
                      <a:normAutofit/>
                    </a:bodyPr>
                    <a:lstStyle/>
                    <a:p>
                      <a:pPr algn="ctr"/>
                      <a:r>
                        <a:rPr sz="1013" b="1">
                          <a:solidFill>
                            <a:srgbClr val="B94A3A"/>
                          </a:solidFill>
                          <a:latin typeface="Yu Gothic"/>
                          <a:ea typeface="Yu Gothic"/>
                          <a:cs typeface="Yu Gothic"/>
                        </a:rPr>
                        <a:t>不一致</a:t>
                      </a:r>
                    </a:p>
                  </a:txBody>
                  <a:tcPr marL="91440" marR="91440" marT="45720" marB="45720" anchor="ctr">
                    <a:solidFill>
                      <a:srgbClr val="F5DFDA"/>
                    </a:solidFill>
                  </a:tcPr>
                </a:tc>
                <a:tc>
                  <a:txBody>
                    <a:bodyPr/>
                    <a:lstStyle/>
                    <a:p>
                      <a:r>
                        <a:rPr sz="1050" b="0">
                          <a:solidFill>
                            <a:srgbClr val="26373D"/>
                          </a:solidFill>
                          <a:latin typeface="Yu Gothic"/>
                          <a:ea typeface="Yu Gothic"/>
                          <a:cs typeface="Yu Gothic"/>
                        </a:rPr>
                        <a:t>9.15×10⁻⁵</a:t>
                      </a:r>
                    </a:p>
                  </a:txBody>
                  <a:tcPr marL="91440" marR="91440" marT="45720" marB="45720"/>
                </a:tc>
                <a:tc>
                  <a:txBody>
                    <a:bodyPr/>
                    <a:lstStyle/>
                    <a:p>
                      <a:r>
                        <a:rPr sz="1050" b="0">
                          <a:solidFill>
                            <a:srgbClr val="26373D"/>
                          </a:solidFill>
                          <a:latin typeface="Yu Gothic"/>
                          <a:ea typeface="Yu Gothic"/>
                          <a:cs typeface="Yu Gothic"/>
                        </a:rPr>
                        <a:t>1.357×10⁻²</a:t>
                      </a:r>
                    </a:p>
                  </a:txBody>
                  <a:tcPr marL="91440" marR="91440" marT="45720" marB="45720"/>
                </a:tc>
                <a:tc>
                  <a:txBody>
                    <a:bodyPr/>
                    <a:lstStyle/>
                    <a:p>
                      <a:r>
                        <a:rPr sz="1050" b="0">
                          <a:solidFill>
                            <a:srgbClr val="26373D"/>
                          </a:solidFill>
                          <a:latin typeface="Yu Gothic"/>
                          <a:ea typeface="Yu Gothic"/>
                          <a:cs typeface="Yu Gothic"/>
                        </a:rPr>
                        <a:t>1.366×10⁻²</a:t>
                      </a:r>
                    </a:p>
                  </a:txBody>
                  <a:tcPr marL="91440" marR="91440" marT="45720" marB="45720"/>
                </a:tc>
              </a:tr>
              <a:tr h="335573">
                <a:tc>
                  <a:txBody>
                    <a:bodyPr/>
                    <a:lstStyle/>
                    <a:p>
                      <a:r>
                        <a:rPr sz="1050" b="0">
                          <a:solidFill>
                            <a:srgbClr val="26373D"/>
                          </a:solidFill>
                          <a:latin typeface="Yu Gothic"/>
                          <a:ea typeface="Yu Gothic"/>
                          <a:cs typeface="Yu Gothic"/>
                        </a:rPr>
                        <a:t>2</a:t>
                      </a:r>
                    </a:p>
                  </a:txBody>
                  <a:tcPr marL="91440" marR="91440" marT="45720" marB="45720"/>
                </a:tc>
                <a:tc>
                  <a:txBody>
                    <a:bodyPr/>
                    <a:lstStyle/>
                    <a:p>
                      <a:r>
                        <a:rPr sz="1050" b="0">
                          <a:solidFill>
                            <a:srgbClr val="26373D"/>
                          </a:solidFill>
                          <a:latin typeface="Yu Gothic"/>
                          <a:ea typeface="Yu Gothic"/>
                          <a:cs typeface="Yu Gothic"/>
                        </a:rPr>
                        <a:t>現場1／危険</a:t>
                      </a:r>
                    </a:p>
                  </a:txBody>
                  <a:tcPr marL="91440" marR="91440" marT="45720" marB="45720"/>
                </a:tc>
                <a:tc>
                  <a:txBody>
                    <a:bodyPr/>
                    <a:lstStyle/>
                    <a:p>
                      <a:r>
                        <a:rPr sz="1050" b="0">
                          <a:solidFill>
                            <a:srgbClr val="26373D"/>
                          </a:solidFill>
                          <a:latin typeface="Yu Gothic"/>
                          <a:ea typeface="Yu Gothic"/>
                          <a:cs typeface="Yu Gothic"/>
                        </a:rPr>
                        <a:t>危険</a:t>
                      </a:r>
                    </a:p>
                  </a:txBody>
                  <a:tcPr marL="91440" marR="91440" marT="45720" marB="45720"/>
                </a:tc>
                <a:tc>
                  <a:txBody>
                    <a:bodyPr/>
                    <a:lstStyle/>
                    <a:p>
                      <a:r>
                        <a:rPr sz="1050" b="0">
                          <a:solidFill>
                            <a:srgbClr val="26373D"/>
                          </a:solidFill>
                          <a:latin typeface="Yu Gothic"/>
                          <a:ea typeface="Yu Gothic"/>
                          <a:cs typeface="Yu Gothic"/>
                        </a:rPr>
                        <a:t>−0.00697</a:t>
                      </a:r>
                    </a:p>
                  </a:txBody>
                  <a:tcPr marL="91440" marR="91440" marT="45720" marB="45720"/>
                </a:tc>
                <a:tc>
                  <a:txBody>
                    <a:bodyPr/>
                    <a:lstStyle/>
                    <a:p>
                      <a:r>
                        <a:rPr sz="1050" b="0">
                          <a:solidFill>
                            <a:srgbClr val="26373D"/>
                          </a:solidFill>
                          <a:latin typeface="Yu Gothic"/>
                          <a:ea typeface="Yu Gothic"/>
                          <a:cs typeface="Yu Gothic"/>
                        </a:rPr>
                        <a:t>+0.00882</a:t>
                      </a:r>
                    </a:p>
                  </a:txBody>
                  <a:tcPr marL="91440" marR="91440" marT="45720" marB="45720"/>
                </a:tc>
                <a:tc>
                  <a:txBody>
                    <a:bodyPr>
                      <a:normAutofit/>
                    </a:bodyPr>
                    <a:lstStyle/>
                    <a:p>
                      <a:pPr algn="ctr"/>
                      <a:r>
                        <a:rPr sz="1013" b="1">
                          <a:solidFill>
                            <a:srgbClr val="B94A3A"/>
                          </a:solidFill>
                          <a:latin typeface="Yu Gothic"/>
                          <a:ea typeface="Yu Gothic"/>
                          <a:cs typeface="Yu Gothic"/>
                        </a:rPr>
                        <a:t>不一致</a:t>
                      </a:r>
                    </a:p>
                  </a:txBody>
                  <a:tcPr marL="91440" marR="91440" marT="45720" marB="45720" anchor="ctr">
                    <a:solidFill>
                      <a:srgbClr val="F5DFDA"/>
                    </a:solidFill>
                  </a:tcPr>
                </a:tc>
                <a:tc>
                  <a:txBody>
                    <a:bodyPr/>
                    <a:lstStyle/>
                    <a:p>
                      <a:r>
                        <a:rPr sz="1050" b="0">
                          <a:solidFill>
                            <a:srgbClr val="26373D"/>
                          </a:solidFill>
                          <a:latin typeface="Yu Gothic"/>
                          <a:ea typeface="Yu Gothic"/>
                          <a:cs typeface="Yu Gothic"/>
                        </a:rPr>
                        <a:t>1.16×10⁻⁴</a:t>
                      </a:r>
                    </a:p>
                  </a:txBody>
                  <a:tcPr marL="91440" marR="91440" marT="45720" marB="45720"/>
                </a:tc>
                <a:tc>
                  <a:txBody>
                    <a:bodyPr/>
                    <a:lstStyle/>
                    <a:p>
                      <a:r>
                        <a:rPr sz="1050" b="0">
                          <a:solidFill>
                            <a:srgbClr val="26373D"/>
                          </a:solidFill>
                          <a:latin typeface="Yu Gothic"/>
                          <a:ea typeface="Yu Gothic"/>
                          <a:cs typeface="Yu Gothic"/>
                        </a:rPr>
                        <a:t>2.49×10⁻⁴</a:t>
                      </a:r>
                    </a:p>
                  </a:txBody>
                  <a:tcPr marL="91440" marR="91440" marT="45720" marB="45720"/>
                </a:tc>
                <a:tc>
                  <a:txBody>
                    <a:bodyPr/>
                    <a:lstStyle/>
                    <a:p>
                      <a:r>
                        <a:rPr sz="1050" b="0">
                          <a:solidFill>
                            <a:srgbClr val="26373D"/>
                          </a:solidFill>
                          <a:latin typeface="Yu Gothic"/>
                          <a:ea typeface="Yu Gothic"/>
                          <a:cs typeface="Yu Gothic"/>
                        </a:rPr>
                        <a:t>3.66×10⁻⁴</a:t>
                      </a:r>
                    </a:p>
                  </a:txBody>
                  <a:tcPr marL="91440" marR="91440" marT="45720" marB="45720"/>
                </a:tc>
              </a:tr>
              <a:tr h="335573">
                <a:tc>
                  <a:txBody>
                    <a:bodyPr/>
                    <a:lstStyle/>
                    <a:p>
                      <a:r>
                        <a:rPr sz="1050" b="0">
                          <a:solidFill>
                            <a:srgbClr val="26373D"/>
                          </a:solidFill>
                          <a:latin typeface="Yu Gothic"/>
                          <a:ea typeface="Yu Gothic"/>
                          <a:cs typeface="Yu Gothic"/>
                        </a:rPr>
                        <a:t>3</a:t>
                      </a:r>
                    </a:p>
                  </a:txBody>
                  <a:tcPr marL="91440" marR="91440" marT="45720" marB="45720"/>
                </a:tc>
                <a:tc>
                  <a:txBody>
                    <a:bodyPr/>
                    <a:lstStyle/>
                    <a:p>
                      <a:r>
                        <a:rPr sz="1050" b="0">
                          <a:solidFill>
                            <a:srgbClr val="26373D"/>
                          </a:solidFill>
                          <a:latin typeface="Yu Gothic"/>
                          <a:ea typeface="Yu Gothic"/>
                          <a:cs typeface="Yu Gothic"/>
                        </a:rPr>
                        <a:t>現場0／通常</a:t>
                      </a:r>
                    </a:p>
                  </a:txBody>
                  <a:tcPr marL="91440" marR="91440" marT="45720" marB="45720"/>
                </a:tc>
                <a:tc>
                  <a:txBody>
                    <a:bodyPr/>
                    <a:lstStyle/>
                    <a:p>
                      <a:r>
                        <a:rPr sz="1050" b="0">
                          <a:solidFill>
                            <a:srgbClr val="26373D"/>
                          </a:solidFill>
                          <a:latin typeface="Yu Gothic"/>
                          <a:ea typeface="Yu Gothic"/>
                          <a:cs typeface="Yu Gothic"/>
                        </a:rPr>
                        <a:t>危険</a:t>
                      </a:r>
                    </a:p>
                  </a:txBody>
                  <a:tcPr marL="91440" marR="91440" marT="45720" marB="45720"/>
                </a:tc>
                <a:tc>
                  <a:txBody>
                    <a:bodyPr/>
                    <a:lstStyle/>
                    <a:p>
                      <a:r>
                        <a:rPr sz="1050" b="0">
                          <a:solidFill>
                            <a:srgbClr val="26373D"/>
                          </a:solidFill>
                          <a:latin typeface="Yu Gothic"/>
                          <a:ea typeface="Yu Gothic"/>
                          <a:cs typeface="Yu Gothic"/>
                        </a:rPr>
                        <a:t>+0.00723</a:t>
                      </a:r>
                    </a:p>
                  </a:txBody>
                  <a:tcPr marL="91440" marR="91440" marT="45720" marB="45720"/>
                </a:tc>
                <a:tc>
                  <a:txBody>
                    <a:bodyPr/>
                    <a:lstStyle/>
                    <a:p>
                      <a:r>
                        <a:rPr sz="1050" b="0">
                          <a:solidFill>
                            <a:srgbClr val="26373D"/>
                          </a:solidFill>
                          <a:latin typeface="Yu Gothic"/>
                          <a:ea typeface="Yu Gothic"/>
                          <a:cs typeface="Yu Gothic"/>
                        </a:rPr>
                        <a:t>−0.00603</a:t>
                      </a:r>
                    </a:p>
                  </a:txBody>
                  <a:tcPr marL="91440" marR="91440" marT="45720" marB="45720"/>
                </a:tc>
                <a:tc>
                  <a:txBody>
                    <a:bodyPr>
                      <a:normAutofit/>
                    </a:bodyPr>
                    <a:lstStyle/>
                    <a:p>
                      <a:pPr algn="ctr"/>
                      <a:r>
                        <a:rPr sz="1013" b="1">
                          <a:solidFill>
                            <a:srgbClr val="B94A3A"/>
                          </a:solidFill>
                          <a:latin typeface="Yu Gothic"/>
                          <a:ea typeface="Yu Gothic"/>
                          <a:cs typeface="Yu Gothic"/>
                        </a:rPr>
                        <a:t>不一致</a:t>
                      </a:r>
                    </a:p>
                  </a:txBody>
                  <a:tcPr marL="91440" marR="91440" marT="45720" marB="45720" anchor="ctr">
                    <a:solidFill>
                      <a:srgbClr val="F5DFDA"/>
                    </a:solidFill>
                  </a:tcPr>
                </a:tc>
                <a:tc>
                  <a:txBody>
                    <a:bodyPr/>
                    <a:lstStyle/>
                    <a:p>
                      <a:r>
                        <a:rPr sz="1050" b="0">
                          <a:solidFill>
                            <a:srgbClr val="26373D"/>
                          </a:solidFill>
                          <a:latin typeface="Yu Gothic"/>
                          <a:ea typeface="Yu Gothic"/>
                          <a:cs typeface="Yu Gothic"/>
                        </a:rPr>
                        <a:t>2.55×10⁻⁵</a:t>
                      </a:r>
                    </a:p>
                  </a:txBody>
                  <a:tcPr marL="91440" marR="91440" marT="45720" marB="45720"/>
                </a:tc>
                <a:tc>
                  <a:txBody>
                    <a:bodyPr/>
                    <a:lstStyle/>
                    <a:p>
                      <a:r>
                        <a:rPr sz="1050" b="0">
                          <a:solidFill>
                            <a:srgbClr val="26373D"/>
                          </a:solidFill>
                          <a:latin typeface="Yu Gothic"/>
                          <a:ea typeface="Yu Gothic"/>
                          <a:cs typeface="Yu Gothic"/>
                        </a:rPr>
                        <a:t>1.76×10⁻⁴</a:t>
                      </a:r>
                    </a:p>
                  </a:txBody>
                  <a:tcPr marL="91440" marR="91440" marT="45720" marB="45720"/>
                </a:tc>
                <a:tc>
                  <a:txBody>
                    <a:bodyPr/>
                    <a:lstStyle/>
                    <a:p>
                      <a:r>
                        <a:rPr sz="1050" b="0">
                          <a:solidFill>
                            <a:srgbClr val="26373D"/>
                          </a:solidFill>
                          <a:latin typeface="Yu Gothic"/>
                          <a:ea typeface="Yu Gothic"/>
                          <a:cs typeface="Yu Gothic"/>
                        </a:rPr>
                        <a:t>2.01×10⁻⁴</a:t>
                      </a:r>
                    </a:p>
                  </a:txBody>
                  <a:tcPr marL="91440" marR="91440" marT="45720" marB="45720"/>
                </a:tc>
              </a:tr>
              <a:tr h="335573">
                <a:tc>
                  <a:txBody>
                    <a:bodyPr/>
                    <a:lstStyle/>
                    <a:p>
                      <a:r>
                        <a:rPr sz="1050" b="0">
                          <a:solidFill>
                            <a:srgbClr val="26373D"/>
                          </a:solidFill>
                          <a:latin typeface="Yu Gothic"/>
                          <a:ea typeface="Yu Gothic"/>
                          <a:cs typeface="Yu Gothic"/>
                        </a:rPr>
                        <a:t>3</a:t>
                      </a:r>
                    </a:p>
                  </a:txBody>
                  <a:tcPr marL="91440" marR="91440" marT="45720" marB="45720"/>
                </a:tc>
                <a:tc>
                  <a:txBody>
                    <a:bodyPr/>
                    <a:lstStyle/>
                    <a:p>
                      <a:r>
                        <a:rPr sz="1050" b="0">
                          <a:solidFill>
                            <a:srgbClr val="26373D"/>
                          </a:solidFill>
                          <a:latin typeface="Yu Gothic"/>
                          <a:ea typeface="Yu Gothic"/>
                          <a:cs typeface="Yu Gothic"/>
                        </a:rPr>
                        <a:t>現場0／危険</a:t>
                      </a:r>
                    </a:p>
                  </a:txBody>
                  <a:tcPr marL="91440" marR="91440" marT="45720" marB="45720"/>
                </a:tc>
                <a:tc>
                  <a:txBody>
                    <a:bodyPr/>
                    <a:lstStyle/>
                    <a:p>
                      <a:r>
                        <a:rPr sz="1050" b="0">
                          <a:solidFill>
                            <a:srgbClr val="26373D"/>
                          </a:solidFill>
                          <a:latin typeface="Yu Gothic"/>
                          <a:ea typeface="Yu Gothic"/>
                          <a:cs typeface="Yu Gothic"/>
                        </a:rPr>
                        <a:t>危険</a:t>
                      </a:r>
                    </a:p>
                  </a:txBody>
                  <a:tcPr marL="91440" marR="91440" marT="45720" marB="45720"/>
                </a:tc>
                <a:tc>
                  <a:txBody>
                    <a:bodyPr/>
                    <a:lstStyle/>
                    <a:p>
                      <a:r>
                        <a:rPr sz="1050" b="0">
                          <a:solidFill>
                            <a:srgbClr val="26373D"/>
                          </a:solidFill>
                          <a:latin typeface="Yu Gothic"/>
                          <a:ea typeface="Yu Gothic"/>
                          <a:cs typeface="Yu Gothic"/>
                        </a:rPr>
                        <a:t>+0.14805</a:t>
                      </a:r>
                    </a:p>
                  </a:txBody>
                  <a:tcPr marL="91440" marR="91440" marT="45720" marB="45720"/>
                </a:tc>
                <a:tc>
                  <a:txBody>
                    <a:bodyPr/>
                    <a:lstStyle/>
                    <a:p>
                      <a:r>
                        <a:rPr sz="1050" b="0">
                          <a:solidFill>
                            <a:srgbClr val="26373D"/>
                          </a:solidFill>
                          <a:latin typeface="Yu Gothic"/>
                          <a:ea typeface="Yu Gothic"/>
                          <a:cs typeface="Yu Gothic"/>
                        </a:rPr>
                        <a:t>+0.00013</a:t>
                      </a:r>
                    </a:p>
                  </a:txBody>
                  <a:tcPr marL="91440" marR="91440" marT="45720" marB="45720"/>
                </a:tc>
                <a:tc>
                  <a:txBody>
                    <a:bodyPr/>
                    <a:lstStyle/>
                    <a:p>
                      <a:r>
                        <a:rPr sz="1050" b="0">
                          <a:solidFill>
                            <a:srgbClr val="26373D"/>
                          </a:solidFill>
                          <a:latin typeface="Yu Gothic"/>
                          <a:ea typeface="Yu Gothic"/>
                          <a:cs typeface="Yu Gothic"/>
                        </a:rPr>
                        <a:t>一致</a:t>
                      </a:r>
                    </a:p>
                  </a:txBody>
                  <a:tcPr marL="91440" marR="91440" marT="45720" marB="45720"/>
                </a:tc>
                <a:tc>
                  <a:txBody>
                    <a:bodyPr/>
                    <a:lstStyle/>
                    <a:p>
                      <a:r>
                        <a:rPr sz="1050" b="0">
                          <a:solidFill>
                            <a:srgbClr val="26373D"/>
                          </a:solidFill>
                          <a:latin typeface="Yu Gothic"/>
                          <a:ea typeface="Yu Gothic"/>
                          <a:cs typeface="Yu Gothic"/>
                        </a:rPr>
                        <a:t>8.30×10⁻⁵</a:t>
                      </a:r>
                    </a:p>
                  </a:txBody>
                  <a:tcPr marL="91440" marR="91440" marT="45720" marB="45720"/>
                </a:tc>
                <a:tc>
                  <a:txBody>
                    <a:bodyPr/>
                    <a:lstStyle/>
                    <a:p>
                      <a:r>
                        <a:rPr sz="1050" b="0">
                          <a:solidFill>
                            <a:srgbClr val="26373D"/>
                          </a:solidFill>
                          <a:latin typeface="Yu Gothic"/>
                          <a:ea typeface="Yu Gothic"/>
                          <a:cs typeface="Yu Gothic"/>
                        </a:rPr>
                        <a:t>2.188×10⁻²</a:t>
                      </a:r>
                    </a:p>
                  </a:txBody>
                  <a:tcPr marL="91440" marR="91440" marT="45720" marB="45720"/>
                </a:tc>
                <a:tc>
                  <a:txBody>
                    <a:bodyPr/>
                    <a:lstStyle/>
                    <a:p>
                      <a:r>
                        <a:rPr sz="1050" b="0">
                          <a:solidFill>
                            <a:srgbClr val="26373D"/>
                          </a:solidFill>
                          <a:latin typeface="Yu Gothic"/>
                          <a:ea typeface="Yu Gothic"/>
                          <a:cs typeface="Yu Gothic"/>
                        </a:rPr>
                        <a:t>2.196×10⁻²</a:t>
                      </a:r>
                    </a:p>
                  </a:txBody>
                  <a:tcPr marL="91440" marR="91440" marT="45720" marB="45720"/>
                </a:tc>
              </a:tr>
              <a:tr h="335573">
                <a:tc>
                  <a:txBody>
                    <a:bodyPr/>
                    <a:lstStyle/>
                    <a:p>
                      <a:r>
                        <a:rPr sz="1050" b="0">
                          <a:solidFill>
                            <a:srgbClr val="26373D"/>
                          </a:solidFill>
                          <a:latin typeface="Yu Gothic"/>
                          <a:ea typeface="Yu Gothic"/>
                          <a:cs typeface="Yu Gothic"/>
                        </a:rPr>
                        <a:t>3</a:t>
                      </a:r>
                    </a:p>
                  </a:txBody>
                  <a:tcPr marL="91440" marR="91440" marT="45720" marB="45720"/>
                </a:tc>
                <a:tc>
                  <a:txBody>
                    <a:bodyPr/>
                    <a:lstStyle/>
                    <a:p>
                      <a:r>
                        <a:rPr sz="1050" b="0">
                          <a:solidFill>
                            <a:srgbClr val="26373D"/>
                          </a:solidFill>
                          <a:latin typeface="Yu Gothic"/>
                          <a:ea typeface="Yu Gothic"/>
                          <a:cs typeface="Yu Gothic"/>
                        </a:rPr>
                        <a:t>現場1／通常</a:t>
                      </a:r>
                    </a:p>
                  </a:txBody>
                  <a:tcPr marL="91440" marR="91440" marT="45720" marB="45720"/>
                </a:tc>
                <a:tc>
                  <a:txBody>
                    <a:bodyPr/>
                    <a:lstStyle/>
                    <a:p>
                      <a:r>
                        <a:rPr sz="1050" b="0">
                          <a:solidFill>
                            <a:srgbClr val="26373D"/>
                          </a:solidFill>
                          <a:latin typeface="Yu Gothic"/>
                          <a:ea typeface="Yu Gothic"/>
                          <a:cs typeface="Yu Gothic"/>
                        </a:rPr>
                        <a:t>通常</a:t>
                      </a:r>
                    </a:p>
                  </a:txBody>
                  <a:tcPr marL="91440" marR="91440" marT="45720" marB="45720"/>
                </a:tc>
                <a:tc>
                  <a:txBody>
                    <a:bodyPr/>
                    <a:lstStyle/>
                    <a:p>
                      <a:r>
                        <a:rPr sz="1050" b="0">
                          <a:solidFill>
                            <a:srgbClr val="26373D"/>
                          </a:solidFill>
                          <a:latin typeface="Yu Gothic"/>
                          <a:ea typeface="Yu Gothic"/>
                          <a:cs typeface="Yu Gothic"/>
                        </a:rPr>
                        <a:t>−0.11538</a:t>
                      </a:r>
                    </a:p>
                  </a:txBody>
                  <a:tcPr marL="91440" marR="91440" marT="45720" marB="45720"/>
                </a:tc>
                <a:tc>
                  <a:txBody>
                    <a:bodyPr/>
                    <a:lstStyle/>
                    <a:p>
                      <a:r>
                        <a:rPr sz="1050" b="0">
                          <a:solidFill>
                            <a:srgbClr val="26373D"/>
                          </a:solidFill>
                          <a:latin typeface="Yu Gothic"/>
                          <a:ea typeface="Yu Gothic"/>
                          <a:cs typeface="Yu Gothic"/>
                        </a:rPr>
                        <a:t>−0.02566</a:t>
                      </a:r>
                    </a:p>
                  </a:txBody>
                  <a:tcPr marL="91440" marR="91440" marT="45720" marB="45720"/>
                </a:tc>
                <a:tc>
                  <a:txBody>
                    <a:bodyPr/>
                    <a:lstStyle/>
                    <a:p>
                      <a:r>
                        <a:rPr sz="1050" b="0">
                          <a:solidFill>
                            <a:srgbClr val="26373D"/>
                          </a:solidFill>
                          <a:latin typeface="Yu Gothic"/>
                          <a:ea typeface="Yu Gothic"/>
                          <a:cs typeface="Yu Gothic"/>
                        </a:rPr>
                        <a:t>一致</a:t>
                      </a:r>
                    </a:p>
                  </a:txBody>
                  <a:tcPr marL="91440" marR="91440" marT="45720" marB="45720"/>
                </a:tc>
                <a:tc>
                  <a:txBody>
                    <a:bodyPr/>
                    <a:lstStyle/>
                    <a:p>
                      <a:r>
                        <a:rPr sz="1050" b="0">
                          <a:solidFill>
                            <a:srgbClr val="26373D"/>
                          </a:solidFill>
                          <a:latin typeface="Yu Gothic"/>
                          <a:ea typeface="Yu Gothic"/>
                          <a:cs typeface="Yu Gothic"/>
                        </a:rPr>
                        <a:t>4.62×10⁻⁴</a:t>
                      </a:r>
                    </a:p>
                  </a:txBody>
                  <a:tcPr marL="91440" marR="91440" marT="45720" marB="45720"/>
                </a:tc>
                <a:tc>
                  <a:txBody>
                    <a:bodyPr/>
                    <a:lstStyle/>
                    <a:p>
                      <a:r>
                        <a:rPr sz="1050" b="0">
                          <a:solidFill>
                            <a:srgbClr val="26373D"/>
                          </a:solidFill>
                          <a:latin typeface="Yu Gothic"/>
                          <a:ea typeface="Yu Gothic"/>
                          <a:cs typeface="Yu Gothic"/>
                        </a:rPr>
                        <a:t>8.05×10⁻³</a:t>
                      </a:r>
                    </a:p>
                  </a:txBody>
                  <a:tcPr marL="91440" marR="91440" marT="45720" marB="45720"/>
                </a:tc>
                <a:tc>
                  <a:txBody>
                    <a:bodyPr/>
                    <a:lstStyle/>
                    <a:p>
                      <a:r>
                        <a:rPr sz="1050" b="0">
                          <a:solidFill>
                            <a:srgbClr val="26373D"/>
                          </a:solidFill>
                          <a:latin typeface="Yu Gothic"/>
                          <a:ea typeface="Yu Gothic"/>
                          <a:cs typeface="Yu Gothic"/>
                        </a:rPr>
                        <a:t>8.51×10⁻³</a:t>
                      </a:r>
                    </a:p>
                  </a:txBody>
                  <a:tcPr marL="91440" marR="91440" marT="45720" marB="45720"/>
                </a:tc>
              </a:tr>
              <a:tr h="335573">
                <a:tc>
                  <a:txBody>
                    <a:bodyPr/>
                    <a:lstStyle/>
                    <a:p>
                      <a:r>
                        <a:rPr sz="1050" b="0">
                          <a:solidFill>
                            <a:srgbClr val="26373D"/>
                          </a:solidFill>
                          <a:latin typeface="Yu Gothic"/>
                          <a:ea typeface="Yu Gothic"/>
                          <a:cs typeface="Yu Gothic"/>
                        </a:rPr>
                        <a:t>3</a:t>
                      </a:r>
                    </a:p>
                  </a:txBody>
                  <a:tcPr marL="91440" marR="91440" marT="45720" marB="45720"/>
                </a:tc>
                <a:tc>
                  <a:txBody>
                    <a:bodyPr/>
                    <a:lstStyle/>
                    <a:p>
                      <a:r>
                        <a:rPr sz="1050" b="0">
                          <a:solidFill>
                            <a:srgbClr val="26373D"/>
                          </a:solidFill>
                          <a:latin typeface="Yu Gothic"/>
                          <a:ea typeface="Yu Gothic"/>
                          <a:cs typeface="Yu Gothic"/>
                        </a:rPr>
                        <a:t>現場1／危険</a:t>
                      </a:r>
                    </a:p>
                  </a:txBody>
                  <a:tcPr marL="91440" marR="91440" marT="45720" marB="45720"/>
                </a:tc>
                <a:tc>
                  <a:txBody>
                    <a:bodyPr/>
                    <a:lstStyle/>
                    <a:p>
                      <a:r>
                        <a:rPr sz="1050" b="0">
                          <a:solidFill>
                            <a:srgbClr val="26373D"/>
                          </a:solidFill>
                          <a:latin typeface="Yu Gothic"/>
                          <a:ea typeface="Yu Gothic"/>
                          <a:cs typeface="Yu Gothic"/>
                        </a:rPr>
                        <a:t>危険</a:t>
                      </a:r>
                    </a:p>
                  </a:txBody>
                  <a:tcPr marL="91440" marR="91440" marT="45720" marB="45720"/>
                </a:tc>
                <a:tc>
                  <a:txBody>
                    <a:bodyPr/>
                    <a:lstStyle/>
                    <a:p>
                      <a:r>
                        <a:rPr sz="1050" b="0">
                          <a:solidFill>
                            <a:srgbClr val="26373D"/>
                          </a:solidFill>
                          <a:latin typeface="Yu Gothic"/>
                          <a:ea typeface="Yu Gothic"/>
                          <a:cs typeface="Yu Gothic"/>
                        </a:rPr>
                        <a:t>−0.01229</a:t>
                      </a:r>
                    </a:p>
                  </a:txBody>
                  <a:tcPr marL="91440" marR="91440" marT="45720" marB="45720"/>
                </a:tc>
                <a:tc>
                  <a:txBody>
                    <a:bodyPr/>
                    <a:lstStyle/>
                    <a:p>
                      <a:r>
                        <a:rPr sz="1050" b="0">
                          <a:solidFill>
                            <a:srgbClr val="26373D"/>
                          </a:solidFill>
                          <a:latin typeface="Yu Gothic"/>
                          <a:ea typeface="Yu Gothic"/>
                          <a:cs typeface="Yu Gothic"/>
                        </a:rPr>
                        <a:t>+0.00081</a:t>
                      </a:r>
                    </a:p>
                  </a:txBody>
                  <a:tcPr marL="91440" marR="91440" marT="45720" marB="45720"/>
                </a:tc>
                <a:tc>
                  <a:txBody>
                    <a:bodyPr>
                      <a:normAutofit/>
                    </a:bodyPr>
                    <a:lstStyle/>
                    <a:p>
                      <a:pPr algn="ctr"/>
                      <a:r>
                        <a:rPr sz="1013" b="1">
                          <a:solidFill>
                            <a:srgbClr val="B94A3A"/>
                          </a:solidFill>
                          <a:latin typeface="Yu Gothic"/>
                          <a:ea typeface="Yu Gothic"/>
                          <a:cs typeface="Yu Gothic"/>
                        </a:rPr>
                        <a:t>不一致</a:t>
                      </a:r>
                    </a:p>
                  </a:txBody>
                  <a:tcPr marL="91440" marR="91440" marT="45720" marB="45720" anchor="ctr">
                    <a:solidFill>
                      <a:srgbClr val="F5DFDA"/>
                    </a:solidFill>
                  </a:tcPr>
                </a:tc>
                <a:tc>
                  <a:txBody>
                    <a:bodyPr/>
                    <a:lstStyle/>
                    <a:p>
                      <a:r>
                        <a:rPr sz="1050" b="0">
                          <a:solidFill>
                            <a:srgbClr val="26373D"/>
                          </a:solidFill>
                          <a:latin typeface="Yu Gothic"/>
                          <a:ea typeface="Yu Gothic"/>
                          <a:cs typeface="Yu Gothic"/>
                        </a:rPr>
                        <a:t>4.74×10⁻⁴</a:t>
                      </a:r>
                    </a:p>
                  </a:txBody>
                  <a:tcPr marL="91440" marR="91440" marT="45720" marB="45720"/>
                </a:tc>
                <a:tc>
                  <a:txBody>
                    <a:bodyPr/>
                    <a:lstStyle/>
                    <a:p>
                      <a:r>
                        <a:rPr sz="1050" b="0">
                          <a:solidFill>
                            <a:srgbClr val="26373D"/>
                          </a:solidFill>
                          <a:latin typeface="Yu Gothic"/>
                          <a:ea typeface="Yu Gothic"/>
                          <a:cs typeface="Yu Gothic"/>
                        </a:rPr>
                        <a:t>1.71×10⁻⁴</a:t>
                      </a:r>
                    </a:p>
                  </a:txBody>
                  <a:tcPr marL="91440" marR="91440" marT="45720" marB="45720"/>
                </a:tc>
                <a:tc>
                  <a:txBody>
                    <a:bodyPr/>
                    <a:lstStyle/>
                    <a:p>
                      <a:r>
                        <a:rPr sz="1050" b="0">
                          <a:solidFill>
                            <a:srgbClr val="26373D"/>
                          </a:solidFill>
                          <a:latin typeface="Yu Gothic"/>
                          <a:ea typeface="Yu Gothic"/>
                          <a:cs typeface="Yu Gothic"/>
                        </a:rPr>
                        <a:t>6.46×10⁻⁴</a:t>
                      </a:r>
                    </a:p>
                  </a:txBody>
                  <a:tcPr marL="91440" marR="91440" marT="45720" marB="45720"/>
                </a:tc>
              </a:tr>
            </a:tbl>
          </a:graphicData>
        </a:graphic>
      </p:graphicFrame>
      <p:sp>
        <p:nvSpPr>
          <p:cNvPr id="10" name="">
            <a:extLst xmlns:a="http://schemas.openxmlformats.org/drawingml/2006/main">
              <a:ext uri="{FF2B5EF4-FFF2-40B4-BE49-F238E27FC236}">
                <a16:creationId xmlns:a16="http://schemas.microsoft.com/office/drawing/2014/main" id="{A6E0FFD9-2340-4425-BB87-24DD1DD0B14E}"/>
              </a:ext>
            </a:extLst>
          </p:cNvPr>
          <p:cNvSpPr>
            <a:spLocks xmlns:a="http://schemas.openxmlformats.org/drawingml/2006/main" noGrp="1"/>
          </p:cNvSpPr>
          <p:nvPr/>
        </p:nvSpPr>
        <p:spPr>
          <a:xfrm xmlns:a="http://schemas.openxmlformats.org/drawingml/2006/main">
            <a:off x="723900" y="5934075"/>
            <a:ext cx="1074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B94A3A"/>
                </a:solidFill>
                <a:latin typeface="Yu Gothic"/>
                <a:ea typeface="Yu Gothic"/>
                <a:cs typeface="Yu Gothic"/>
              </a:defRPr>
            </a:pPr>
            <a:r>
              <a:rPr sz="1350" b="1">
                <a:solidFill>
                  <a:srgbClr val="B94A3A"/>
                </a:solidFill>
                <a:latin typeface="Yu Gothic"/>
                <a:ea typeface="Yu Gothic"/>
                <a:cs typeface="Yu Gothic"/>
              </a:rPr>
              <a:t>Δ危険は危険確率の変化。値が小さいだけでは、動画内容の意味が一致したとは判断しない</a:t>
            </a:r>
          </a:p>
        </p:txBody>
      </p:sp>
    </p:spTree>
    <p:extLst>
      <p:ext uri="{BB962C8B-B14F-4D97-AF65-F5344CB8AC3E}">
        <p14:creationId xmlns:p14="http://schemas.microsoft.com/office/powerpoint/2010/main" val="158135314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9744A09-CF58-49D3-8E6C-51BBAE8D343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0879FFB-146E-463B-A8B7-D230D23977E1}"/>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5C05A51-94CF-4B4A-935A-02237D6BD661}"/>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付録2　更新量と状態継承の数値</a:t>
            </a:r>
          </a:p>
        </p:txBody>
      </p:sp>
      <p:sp>
        <p:nvSpPr>
          <p:cNvPr id="4" name="">
            <a:extLst xmlns:a="http://schemas.openxmlformats.org/drawingml/2006/main">
              <a:ext uri="{FF2B5EF4-FFF2-40B4-BE49-F238E27FC236}">
                <a16:creationId xmlns:a16="http://schemas.microsoft.com/office/drawing/2014/main" id="{2782E037-D256-4305-A090-D637AFCE1C7C}"/>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A2</a:t>
            </a:r>
          </a:p>
        </p:txBody>
      </p:sp>
      <p:sp>
        <p:nvSpPr>
          <p:cNvPr id="5" name="">
            <a:extLst xmlns:a="http://schemas.openxmlformats.org/drawingml/2006/main">
              <a:ext uri="{FF2B5EF4-FFF2-40B4-BE49-F238E27FC236}">
                <a16:creationId xmlns:a16="http://schemas.microsoft.com/office/drawing/2014/main" id="{FED32AE5-A363-4F75-9956-61527F8B5F3B}"/>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72176F0-283C-4748-95D1-460E44B6AA38}"/>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6C46B23F-CBCB-409A-9144-72F1BDD00F2D}"/>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付録 2 / 3</a:t>
            </a:r>
          </a:p>
        </p:txBody>
      </p:sp>
      <p:sp>
        <p:nvSpPr>
          <p:cNvPr id="8" name="">
            <a:extLst xmlns:a="http://schemas.openxmlformats.org/drawingml/2006/main">
              <a:ext uri="{FF2B5EF4-FFF2-40B4-BE49-F238E27FC236}">
                <a16:creationId xmlns:a16="http://schemas.microsoft.com/office/drawing/2014/main" id="{F8F2CB97-9A78-41C1-ABDB-A00FE3AB5A9F}"/>
              </a:ext>
            </a:extLst>
          </p:cNvPr>
          <p:cNvSpPr>
            <a:spLocks xmlns:a="http://schemas.openxmlformats.org/drawingml/2006/main" noGrp="1"/>
          </p:cNvSpPr>
          <p:nvPr/>
        </p:nvSpPr>
        <p:spPr>
          <a:xfrm xmlns:a="http://schemas.openxmlformats.org/drawingml/2006/main">
            <a:off x="685800" y="102870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現場側の更新と連合平均</a:t>
            </a:r>
          </a:p>
        </p:txBody>
      </p:sp>
      <p:graphicFrame>
        <p:nvGraphicFramePr>
          <p:cNvPr id="21" name=""/>
          <p:cNvGraphicFramePr/>
          <p:nvPr/>
        </p:nvGraphicFramePr>
        <p:xfrm>
          <a:off xmlns:a="http://schemas.openxmlformats.org/drawingml/2006/main" x="647700" y="1409700"/>
          <a:ext xmlns:a="http://schemas.openxmlformats.org/drawingml/2006/main" cx="10896600" cy="1676400"/>
        </p:xfrm>
        <a:graphic xmlns:a="http://schemas.openxmlformats.org/drawingml/2006/main">
          <a:graphicData uri="http://schemas.openxmlformats.org/drawingml/2006/table">
            <a:tbl>
              <a:tblPr/>
              <a:tblGrid>
                <a:gridCol w="552450"/>
                <a:gridCol w="1571625"/>
                <a:gridCol w="1571625"/>
                <a:gridCol w="1714500"/>
                <a:gridCol w="1714500"/>
                <a:gridCol w="2000250"/>
                <a:gridCol w="1771650"/>
              </a:tblGrid>
              <a:tr h="419100">
                <a:tc>
                  <a:txBody>
                    <a:bodyPr/>
                    <a:lstStyle/>
                    <a:p>
                      <a:r>
                        <a:rPr sz="1050" b="1">
                          <a:solidFill>
                            <a:srgbClr val="173B4B"/>
                          </a:solidFill>
                          <a:latin typeface="Yu Gothic"/>
                          <a:ea typeface="Yu Gothic"/>
                          <a:cs typeface="Yu Gothic"/>
                        </a:rPr>
                        <a:t>R</a:t>
                      </a:r>
                    </a:p>
                  </a:txBody>
                  <a:tcPr marL="91440" marR="91440" marT="45720" marB="45720"/>
                </a:tc>
                <a:tc>
                  <a:txBody>
                    <a:bodyPr/>
                    <a:lstStyle/>
                    <a:p>
                      <a:r>
                        <a:rPr sz="1050" b="1">
                          <a:solidFill>
                            <a:srgbClr val="173B4B"/>
                          </a:solidFill>
                          <a:latin typeface="Yu Gothic"/>
                          <a:ea typeface="Yu Gothic"/>
                          <a:cs typeface="Yu Gothic"/>
                        </a:rPr>
                        <a:t>軽量更新量
現場0</a:t>
                      </a:r>
                    </a:p>
                  </a:txBody>
                  <a:tcPr marL="91440" marR="91440" marT="45720" marB="45720"/>
                </a:tc>
                <a:tc>
                  <a:txBody>
                    <a:bodyPr/>
                    <a:lstStyle/>
                    <a:p>
                      <a:r>
                        <a:rPr sz="1050" b="1">
                          <a:solidFill>
                            <a:srgbClr val="173B4B"/>
                          </a:solidFill>
                          <a:latin typeface="Yu Gothic"/>
                          <a:ea typeface="Yu Gothic"/>
                          <a:cs typeface="Yu Gothic"/>
                        </a:rPr>
                        <a:t>軽量更新量
現場1</a:t>
                      </a:r>
                    </a:p>
                  </a:txBody>
                  <a:tcPr marL="91440" marR="91440" marT="45720" marB="45720"/>
                </a:tc>
                <a:tc>
                  <a:txBody>
                    <a:bodyPr/>
                    <a:lstStyle/>
                    <a:p>
                      <a:r>
                        <a:rPr sz="1050" b="1">
                          <a:solidFill>
                            <a:srgbClr val="173B4B"/>
                          </a:solidFill>
                          <a:latin typeface="Yu Gothic"/>
                          <a:ea typeface="Yu Gothic"/>
                          <a:cs typeface="Yu Gothic"/>
                        </a:rPr>
                        <a:t>分類層更新量
現場0</a:t>
                      </a:r>
                    </a:p>
                  </a:txBody>
                  <a:tcPr marL="91440" marR="91440" marT="45720" marB="45720"/>
                </a:tc>
                <a:tc>
                  <a:txBody>
                    <a:bodyPr/>
                    <a:lstStyle/>
                    <a:p>
                      <a:r>
                        <a:rPr sz="1050" b="1">
                          <a:solidFill>
                            <a:srgbClr val="173B4B"/>
                          </a:solidFill>
                          <a:latin typeface="Yu Gothic"/>
                          <a:ea typeface="Yu Gothic"/>
                          <a:cs typeface="Yu Gothic"/>
                        </a:rPr>
                        <a:t>分類層更新量
現場1</a:t>
                      </a:r>
                    </a:p>
                  </a:txBody>
                  <a:tcPr marL="91440" marR="91440" marT="45720" marB="45720"/>
                </a:tc>
                <a:tc>
                  <a:txBody>
                    <a:bodyPr/>
                    <a:lstStyle/>
                    <a:p>
                      <a:r>
                        <a:rPr sz="1050" b="1">
                          <a:solidFill>
                            <a:srgbClr val="173B4B"/>
                          </a:solidFill>
                          <a:latin typeface="Yu Gothic"/>
                          <a:ea typeface="Yu Gothic"/>
                          <a:cs typeface="Yu Gothic"/>
                        </a:rPr>
                        <a:t>連合平均の
再計算差</a:t>
                      </a:r>
                    </a:p>
                  </a:txBody>
                  <a:tcPr marL="91440" marR="91440" marT="45720" marB="45720"/>
                </a:tc>
                <a:tc>
                  <a:txBody>
                    <a:bodyPr/>
                    <a:lstStyle/>
                    <a:p>
                      <a:r>
                        <a:rPr sz="1050" b="1">
                          <a:solidFill>
                            <a:srgbClr val="173B4B"/>
                          </a:solidFill>
                          <a:latin typeface="Yu Gothic"/>
                          <a:ea typeface="Yu Gothic"/>
                          <a:cs typeface="Yu Gothic"/>
                        </a:rPr>
                        <a:t>次回入力</a:t>
                      </a:r>
                    </a:p>
                  </a:txBody>
                  <a:tcPr marL="91440" marR="91440" marT="45720" marB="45720"/>
                </a:tc>
              </a:tr>
              <a:tr h="419100">
                <a:tc>
                  <a:txBody>
                    <a:bodyPr/>
                    <a:lstStyle/>
                    <a:p>
                      <a:r>
                        <a:rPr sz="1200" b="0">
                          <a:solidFill>
                            <a:srgbClr val="26373D"/>
                          </a:solidFill>
                          <a:latin typeface="Yu Gothic"/>
                          <a:ea typeface="Yu Gothic"/>
                          <a:cs typeface="Yu Gothic"/>
                        </a:rPr>
                        <a:t>1</a:t>
                      </a:r>
                    </a:p>
                  </a:txBody>
                  <a:tcPr marL="91440" marR="91440" marT="45720" marB="45720"/>
                </a:tc>
                <a:tc>
                  <a:txBody>
                    <a:bodyPr/>
                    <a:lstStyle/>
                    <a:p>
                      <a:r>
                        <a:rPr sz="1200" b="0">
                          <a:solidFill>
                            <a:srgbClr val="26373D"/>
                          </a:solidFill>
                          <a:latin typeface="Yu Gothic"/>
                          <a:ea typeface="Yu Gothic"/>
                          <a:cs typeface="Yu Gothic"/>
                        </a:rPr>
                        <a:t>0.346093</a:t>
                      </a:r>
                    </a:p>
                  </a:txBody>
                  <a:tcPr marL="91440" marR="91440" marT="45720" marB="45720"/>
                </a:tc>
                <a:tc>
                  <a:txBody>
                    <a:bodyPr/>
                    <a:lstStyle/>
                    <a:p>
                      <a:r>
                        <a:rPr sz="1200" b="0">
                          <a:solidFill>
                            <a:srgbClr val="26373D"/>
                          </a:solidFill>
                          <a:latin typeface="Yu Gothic"/>
                          <a:ea typeface="Yu Gothic"/>
                          <a:cs typeface="Yu Gothic"/>
                        </a:rPr>
                        <a:t>0.291624</a:t>
                      </a:r>
                    </a:p>
                  </a:txBody>
                  <a:tcPr marL="91440" marR="91440" marT="45720" marB="45720"/>
                </a:tc>
                <a:tc>
                  <a:txBody>
                    <a:bodyPr/>
                    <a:lstStyle/>
                    <a:p>
                      <a:r>
                        <a:rPr sz="1200" b="0">
                          <a:solidFill>
                            <a:srgbClr val="26373D"/>
                          </a:solidFill>
                          <a:latin typeface="Yu Gothic"/>
                          <a:ea typeface="Yu Gothic"/>
                          <a:cs typeface="Yu Gothic"/>
                        </a:rPr>
                        <a:t>0.012345</a:t>
                      </a:r>
                    </a:p>
                  </a:txBody>
                  <a:tcPr marL="91440" marR="91440" marT="45720" marB="45720"/>
                </a:tc>
                <a:tc>
                  <a:txBody>
                    <a:bodyPr/>
                    <a:lstStyle/>
                    <a:p>
                      <a:r>
                        <a:rPr sz="1200" b="0">
                          <a:solidFill>
                            <a:srgbClr val="26373D"/>
                          </a:solidFill>
                          <a:latin typeface="Yu Gothic"/>
                          <a:ea typeface="Yu Gothic"/>
                          <a:cs typeface="Yu Gothic"/>
                        </a:rPr>
                        <a:t>0.009560</a:t>
                      </a:r>
                    </a:p>
                  </a:txBody>
                  <a:tcPr marL="91440" marR="91440" marT="45720" marB="45720"/>
                </a:tc>
                <a:tc>
                  <a:txBody>
                    <a:bodyPr/>
                    <a:lstStyle/>
                    <a:p>
                      <a:r>
                        <a:rPr sz="1200" b="0">
                          <a:solidFill>
                            <a:srgbClr val="26373D"/>
                          </a:solidFill>
                          <a:latin typeface="Yu Gothic"/>
                          <a:ea typeface="Yu Gothic"/>
                          <a:cs typeface="Yu Gothic"/>
                        </a:rPr>
                        <a:t>5.82×10⁻¹¹</a:t>
                      </a:r>
                    </a:p>
                  </a:txBody>
                  <a:tcPr marL="91440" marR="91440" marT="45720" marB="45720"/>
                </a:tc>
                <a:tc>
                  <a:txBody>
                    <a:bodyPr/>
                    <a:lstStyle/>
                    <a:p>
                      <a:r>
                        <a:rPr sz="1200" b="0">
                          <a:solidFill>
                            <a:srgbClr val="26373D"/>
                          </a:solidFill>
                          <a:latin typeface="Yu Gothic"/>
                          <a:ea typeface="Yu Gothic"/>
                          <a:cs typeface="Yu Gothic"/>
                        </a:rPr>
                        <a:t>一致</a:t>
                      </a:r>
                    </a:p>
                  </a:txBody>
                  <a:tcPr marL="91440" marR="91440" marT="45720" marB="45720"/>
                </a:tc>
              </a:tr>
              <a:tr h="419100">
                <a:tc>
                  <a:txBody>
                    <a:bodyPr/>
                    <a:lstStyle/>
                    <a:p>
                      <a:r>
                        <a:rPr sz="1200" b="0">
                          <a:solidFill>
                            <a:srgbClr val="26373D"/>
                          </a:solidFill>
                          <a:latin typeface="Yu Gothic"/>
                          <a:ea typeface="Yu Gothic"/>
                          <a:cs typeface="Yu Gothic"/>
                        </a:rPr>
                        <a:t>2</a:t>
                      </a:r>
                    </a:p>
                  </a:txBody>
                  <a:tcPr marL="91440" marR="91440" marT="45720" marB="45720"/>
                </a:tc>
                <a:tc>
                  <a:txBody>
                    <a:bodyPr/>
                    <a:lstStyle/>
                    <a:p>
                      <a:r>
                        <a:rPr sz="1200" b="0">
                          <a:solidFill>
                            <a:srgbClr val="26373D"/>
                          </a:solidFill>
                          <a:latin typeface="Yu Gothic"/>
                          <a:ea typeface="Yu Gothic"/>
                          <a:cs typeface="Yu Gothic"/>
                        </a:rPr>
                        <a:t>0.322764</a:t>
                      </a:r>
                    </a:p>
                  </a:txBody>
                  <a:tcPr marL="91440" marR="91440" marT="45720" marB="45720"/>
                </a:tc>
                <a:tc>
                  <a:txBody>
                    <a:bodyPr/>
                    <a:lstStyle/>
                    <a:p>
                      <a:r>
                        <a:rPr sz="1200" b="0">
                          <a:solidFill>
                            <a:srgbClr val="26373D"/>
                          </a:solidFill>
                          <a:latin typeface="Yu Gothic"/>
                          <a:ea typeface="Yu Gothic"/>
                          <a:cs typeface="Yu Gothic"/>
                        </a:rPr>
                        <a:t>0.280291</a:t>
                      </a:r>
                    </a:p>
                  </a:txBody>
                  <a:tcPr marL="91440" marR="91440" marT="45720" marB="45720"/>
                </a:tc>
                <a:tc>
                  <a:txBody>
                    <a:bodyPr/>
                    <a:lstStyle/>
                    <a:p>
                      <a:r>
                        <a:rPr sz="1200" b="0">
                          <a:solidFill>
                            <a:srgbClr val="26373D"/>
                          </a:solidFill>
                          <a:latin typeface="Yu Gothic"/>
                          <a:ea typeface="Yu Gothic"/>
                          <a:cs typeface="Yu Gothic"/>
                        </a:rPr>
                        <a:t>0.011066</a:t>
                      </a:r>
                    </a:p>
                  </a:txBody>
                  <a:tcPr marL="91440" marR="91440" marT="45720" marB="45720"/>
                </a:tc>
                <a:tc>
                  <a:txBody>
                    <a:bodyPr/>
                    <a:lstStyle/>
                    <a:p>
                      <a:r>
                        <a:rPr sz="1200" b="0">
                          <a:solidFill>
                            <a:srgbClr val="26373D"/>
                          </a:solidFill>
                          <a:latin typeface="Yu Gothic"/>
                          <a:ea typeface="Yu Gothic"/>
                          <a:cs typeface="Yu Gothic"/>
                        </a:rPr>
                        <a:t>0.009495</a:t>
                      </a:r>
                    </a:p>
                  </a:txBody>
                  <a:tcPr marL="91440" marR="91440" marT="45720" marB="45720"/>
                </a:tc>
                <a:tc>
                  <a:txBody>
                    <a:bodyPr/>
                    <a:lstStyle/>
                    <a:p>
                      <a:r>
                        <a:rPr sz="1200" b="0">
                          <a:solidFill>
                            <a:srgbClr val="26373D"/>
                          </a:solidFill>
                          <a:latin typeface="Yu Gothic"/>
                          <a:ea typeface="Yu Gothic"/>
                          <a:cs typeface="Yu Gothic"/>
                        </a:rPr>
                        <a:t>5.82×10⁻¹¹</a:t>
                      </a:r>
                    </a:p>
                  </a:txBody>
                  <a:tcPr marL="91440" marR="91440" marT="45720" marB="45720"/>
                </a:tc>
                <a:tc>
                  <a:txBody>
                    <a:bodyPr/>
                    <a:lstStyle/>
                    <a:p>
                      <a:r>
                        <a:rPr sz="1200" b="0">
                          <a:solidFill>
                            <a:srgbClr val="26373D"/>
                          </a:solidFill>
                          <a:latin typeface="Yu Gothic"/>
                          <a:ea typeface="Yu Gothic"/>
                          <a:cs typeface="Yu Gothic"/>
                        </a:rPr>
                        <a:t>一致</a:t>
                      </a:r>
                    </a:p>
                  </a:txBody>
                  <a:tcPr marL="91440" marR="91440" marT="45720" marB="45720"/>
                </a:tc>
              </a:tr>
              <a:tr h="419100">
                <a:tc>
                  <a:txBody>
                    <a:bodyPr/>
                    <a:lstStyle/>
                    <a:p>
                      <a:r>
                        <a:rPr sz="1200" b="0">
                          <a:solidFill>
                            <a:srgbClr val="26373D"/>
                          </a:solidFill>
                          <a:latin typeface="Yu Gothic"/>
                          <a:ea typeface="Yu Gothic"/>
                          <a:cs typeface="Yu Gothic"/>
                        </a:rPr>
                        <a:t>3</a:t>
                      </a:r>
                    </a:p>
                  </a:txBody>
                  <a:tcPr marL="91440" marR="91440" marT="45720" marB="45720"/>
                </a:tc>
                <a:tc>
                  <a:txBody>
                    <a:bodyPr/>
                    <a:lstStyle/>
                    <a:p>
                      <a:r>
                        <a:rPr sz="1200" b="0">
                          <a:solidFill>
                            <a:srgbClr val="26373D"/>
                          </a:solidFill>
                          <a:latin typeface="Yu Gothic"/>
                          <a:ea typeface="Yu Gothic"/>
                          <a:cs typeface="Yu Gothic"/>
                        </a:rPr>
                        <a:t>0.320213</a:t>
                      </a:r>
                    </a:p>
                  </a:txBody>
                  <a:tcPr marL="91440" marR="91440" marT="45720" marB="45720"/>
                </a:tc>
                <a:tc>
                  <a:txBody>
                    <a:bodyPr/>
                    <a:lstStyle/>
                    <a:p>
                      <a:r>
                        <a:rPr sz="1200" b="0">
                          <a:solidFill>
                            <a:srgbClr val="26373D"/>
                          </a:solidFill>
                          <a:latin typeface="Yu Gothic"/>
                          <a:ea typeface="Yu Gothic"/>
                          <a:cs typeface="Yu Gothic"/>
                        </a:rPr>
                        <a:t>0.280363</a:t>
                      </a:r>
                    </a:p>
                  </a:txBody>
                  <a:tcPr marL="91440" marR="91440" marT="45720" marB="45720"/>
                </a:tc>
                <a:tc>
                  <a:txBody>
                    <a:bodyPr/>
                    <a:lstStyle/>
                    <a:p>
                      <a:r>
                        <a:rPr sz="1200" b="0">
                          <a:solidFill>
                            <a:srgbClr val="26373D"/>
                          </a:solidFill>
                          <a:latin typeface="Yu Gothic"/>
                          <a:ea typeface="Yu Gothic"/>
                          <a:cs typeface="Yu Gothic"/>
                        </a:rPr>
                        <a:t>0.010754</a:t>
                      </a:r>
                    </a:p>
                  </a:txBody>
                  <a:tcPr marL="91440" marR="91440" marT="45720" marB="45720"/>
                </a:tc>
                <a:tc>
                  <a:txBody>
                    <a:bodyPr/>
                    <a:lstStyle/>
                    <a:p>
                      <a:r>
                        <a:rPr sz="1200" b="0">
                          <a:solidFill>
                            <a:srgbClr val="26373D"/>
                          </a:solidFill>
                          <a:latin typeface="Yu Gothic"/>
                          <a:ea typeface="Yu Gothic"/>
                          <a:cs typeface="Yu Gothic"/>
                        </a:rPr>
                        <a:t>0.009461</a:t>
                      </a:r>
                    </a:p>
                  </a:txBody>
                  <a:tcPr marL="91440" marR="91440" marT="45720" marB="45720"/>
                </a:tc>
                <a:tc>
                  <a:txBody>
                    <a:bodyPr/>
                    <a:lstStyle/>
                    <a:p>
                      <a:r>
                        <a:rPr sz="1200" b="0">
                          <a:solidFill>
                            <a:srgbClr val="26373D"/>
                          </a:solidFill>
                          <a:latin typeface="Yu Gothic"/>
                          <a:ea typeface="Yu Gothic"/>
                          <a:cs typeface="Yu Gothic"/>
                        </a:rPr>
                        <a:t>1.16×10⁻¹⁰</a:t>
                      </a:r>
                    </a:p>
                  </a:txBody>
                  <a:tcPr marL="91440" marR="91440" marT="45720" marB="45720"/>
                </a:tc>
                <a:tc>
                  <a:txBody>
                    <a:bodyPr/>
                    <a:lstStyle/>
                    <a:p>
                      <a:r>
                        <a:rPr sz="1200" b="0">
                          <a:solidFill>
                            <a:srgbClr val="26373D"/>
                          </a:solidFill>
                          <a:latin typeface="Yu Gothic"/>
                          <a:ea typeface="Yu Gothic"/>
                          <a:cs typeface="Yu Gothic"/>
                        </a:rPr>
                        <a:t>一致</a:t>
                      </a:r>
                    </a:p>
                  </a:txBody>
                  <a:tcPr marL="91440" marR="91440" marT="45720" marB="45720"/>
                </a:tc>
              </a:tr>
            </a:tbl>
          </a:graphicData>
        </a:graphic>
      </p:graphicFrame>
      <p:sp>
        <p:nvSpPr>
          <p:cNvPr id="10" name="">
            <a:extLst xmlns:a="http://schemas.openxmlformats.org/drawingml/2006/main">
              <a:ext uri="{FF2B5EF4-FFF2-40B4-BE49-F238E27FC236}">
                <a16:creationId xmlns:a16="http://schemas.microsoft.com/office/drawing/2014/main" id="{2879B2C7-5AFA-4E59-B588-9ACC317493D0}"/>
              </a:ext>
            </a:extLst>
          </p:cNvPr>
          <p:cNvSpPr>
            <a:spLocks xmlns:a="http://schemas.openxmlformats.org/drawingml/2006/main" noGrp="1"/>
          </p:cNvSpPr>
          <p:nvPr/>
        </p:nvSpPr>
        <p:spPr>
          <a:xfrm xmlns:a="http://schemas.openxmlformats.org/drawingml/2006/main">
            <a:off x="685800" y="337185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中央側AIの更新</a:t>
            </a:r>
          </a:p>
        </p:txBody>
      </p:sp>
      <p:graphicFrame>
        <p:nvGraphicFramePr>
          <p:cNvPr id="23" name=""/>
          <p:cNvGraphicFramePr/>
          <p:nvPr/>
        </p:nvGraphicFramePr>
        <p:xfrm>
          <a:off xmlns:a="http://schemas.openxmlformats.org/drawingml/2006/main" x="647700" y="3752850"/>
          <a:ext xmlns:a="http://schemas.openxmlformats.org/drawingml/2006/main" cx="10896600" cy="1676400"/>
        </p:xfrm>
        <a:graphic xmlns:a="http://schemas.openxmlformats.org/drawingml/2006/main">
          <a:graphicData uri="http://schemas.openxmlformats.org/drawingml/2006/table">
            <a:tbl>
              <a:tblPr/>
              <a:tblGrid>
                <a:gridCol w="552450"/>
                <a:gridCol w="1619250"/>
                <a:gridCol w="1524000"/>
                <a:gridCol w="1809750"/>
                <a:gridCol w="1809750"/>
                <a:gridCol w="1809750"/>
                <a:gridCol w="1771650"/>
              </a:tblGrid>
              <a:tr h="419100">
                <a:tc>
                  <a:txBody>
                    <a:bodyPr/>
                    <a:lstStyle/>
                    <a:p>
                      <a:r>
                        <a:rPr sz="1050" b="1">
                          <a:solidFill>
                            <a:srgbClr val="173B4B"/>
                          </a:solidFill>
                          <a:latin typeface="Yu Gothic"/>
                          <a:ea typeface="Yu Gothic"/>
                          <a:cs typeface="Yu Gothic"/>
                        </a:rPr>
                        <a:t>R</a:t>
                      </a:r>
                    </a:p>
                  </a:txBody>
                  <a:tcPr marL="91440" marR="91440" marT="45720" marB="45720"/>
                </a:tc>
                <a:tc>
                  <a:txBody>
                    <a:bodyPr/>
                    <a:lstStyle/>
                    <a:p>
                      <a:r>
                        <a:rPr sz="1050" b="1">
                          <a:solidFill>
                            <a:srgbClr val="173B4B"/>
                          </a:solidFill>
                          <a:latin typeface="Yu Gothic"/>
                          <a:ea typeface="Yu Gothic"/>
                          <a:cs typeface="Yu Gothic"/>
                        </a:rPr>
                        <a:t>勾配の大きさ</a:t>
                      </a:r>
                    </a:p>
                  </a:txBody>
                  <a:tcPr marL="91440" marR="91440" marT="45720" marB="45720"/>
                </a:tc>
                <a:tc>
                  <a:txBody>
                    <a:bodyPr/>
                    <a:lstStyle/>
                    <a:p>
                      <a:r>
                        <a:rPr sz="1050" b="1">
                          <a:solidFill>
                            <a:srgbClr val="173B4B"/>
                          </a:solidFill>
                          <a:latin typeface="Yu Gothic"/>
                          <a:ea typeface="Yu Gothic"/>
                          <a:cs typeface="Yu Gothic"/>
                        </a:rPr>
                        <a:t>更新量</a:t>
                      </a:r>
                    </a:p>
                  </a:txBody>
                  <a:tcPr marL="91440" marR="91440" marT="45720" marB="45720"/>
                </a:tc>
                <a:tc>
                  <a:txBody>
                    <a:bodyPr/>
                    <a:lstStyle/>
                    <a:p>
                      <a:r>
                        <a:rPr sz="1050" b="1">
                          <a:solidFill>
                            <a:srgbClr val="173B4B"/>
                          </a:solidFill>
                          <a:latin typeface="Yu Gothic"/>
                          <a:ea typeface="Yu Gothic"/>
                          <a:cs typeface="Yu Gothic"/>
                        </a:rPr>
                        <a:t>加重KL 更新前</a:t>
                      </a:r>
                    </a:p>
                  </a:txBody>
                  <a:tcPr marL="91440" marR="91440" marT="45720" marB="45720"/>
                </a:tc>
                <a:tc>
                  <a:txBody>
                    <a:bodyPr/>
                    <a:lstStyle/>
                    <a:p>
                      <a:r>
                        <a:rPr sz="1050" b="1">
                          <a:solidFill>
                            <a:srgbClr val="173B4B"/>
                          </a:solidFill>
                          <a:latin typeface="Yu Gothic"/>
                          <a:ea typeface="Yu Gothic"/>
                          <a:cs typeface="Yu Gothic"/>
                        </a:rPr>
                        <a:t>加重KL 更新後</a:t>
                      </a:r>
                    </a:p>
                  </a:txBody>
                  <a:tcPr marL="91440" marR="91440" marT="45720" marB="45720"/>
                </a:tc>
                <a:tc>
                  <a:txBody>
                    <a:bodyPr/>
                    <a:lstStyle/>
                    <a:p>
                      <a:r>
                        <a:rPr sz="1050" b="1">
                          <a:solidFill>
                            <a:srgbClr val="173B4B"/>
                          </a:solidFill>
                          <a:latin typeface="Yu Gothic"/>
                          <a:ea typeface="Yu Gothic"/>
                          <a:cs typeface="Yu Gothic"/>
                        </a:rPr>
                        <a:t>受理条件</a:t>
                      </a:r>
                    </a:p>
                  </a:txBody>
                  <a:tcPr marL="91440" marR="91440" marT="45720" marB="45720"/>
                </a:tc>
                <a:tc>
                  <a:txBody>
                    <a:bodyPr/>
                    <a:lstStyle/>
                    <a:p>
                      <a:r>
                        <a:rPr sz="1050" b="1">
                          <a:solidFill>
                            <a:srgbClr val="173B4B"/>
                          </a:solidFill>
                          <a:latin typeface="Yu Gothic"/>
                          <a:ea typeface="Yu Gothic"/>
                          <a:cs typeface="Yu Gothic"/>
                        </a:rPr>
                        <a:t>更新対象外</a:t>
                      </a:r>
                    </a:p>
                  </a:txBody>
                  <a:tcPr marL="91440" marR="91440" marT="45720" marB="45720"/>
                </a:tc>
              </a:tr>
              <a:tr h="419100">
                <a:tc>
                  <a:txBody>
                    <a:bodyPr/>
                    <a:lstStyle/>
                    <a:p>
                      <a:r>
                        <a:rPr sz="1200" b="0">
                          <a:solidFill>
                            <a:srgbClr val="26373D"/>
                          </a:solidFill>
                          <a:latin typeface="Yu Gothic"/>
                          <a:ea typeface="Yu Gothic"/>
                          <a:cs typeface="Yu Gothic"/>
                        </a:rPr>
                        <a:t>1</a:t>
                      </a:r>
                    </a:p>
                  </a:txBody>
                  <a:tcPr marL="91440" marR="91440" marT="45720" marB="45720"/>
                </a:tc>
                <a:tc>
                  <a:txBody>
                    <a:bodyPr/>
                    <a:lstStyle/>
                    <a:p>
                      <a:r>
                        <a:rPr sz="1200" b="0">
                          <a:solidFill>
                            <a:srgbClr val="26373D"/>
                          </a:solidFill>
                          <a:latin typeface="Yu Gothic"/>
                          <a:ea typeface="Yu Gothic"/>
                          <a:cs typeface="Yu Gothic"/>
                        </a:rPr>
                        <a:t>4.37146</a:t>
                      </a:r>
                    </a:p>
                  </a:txBody>
                  <a:tcPr marL="91440" marR="91440" marT="45720" marB="45720"/>
                </a:tc>
                <a:tc>
                  <a:txBody>
                    <a:bodyPr/>
                    <a:lstStyle/>
                    <a:p>
                      <a:r>
                        <a:rPr sz="1200" b="0">
                          <a:solidFill>
                            <a:srgbClr val="26373D"/>
                          </a:solidFill>
                          <a:latin typeface="Yu Gothic"/>
                          <a:ea typeface="Yu Gothic"/>
                          <a:cs typeface="Yu Gothic"/>
                        </a:rPr>
                        <a:t>0.00135671</a:t>
                      </a:r>
                    </a:p>
                  </a:txBody>
                  <a:tcPr marL="91440" marR="91440" marT="45720" marB="45720"/>
                </a:tc>
                <a:tc>
                  <a:txBody>
                    <a:bodyPr/>
                    <a:lstStyle/>
                    <a:p>
                      <a:r>
                        <a:rPr sz="1200" b="0">
                          <a:solidFill>
                            <a:srgbClr val="26373D"/>
                          </a:solidFill>
                          <a:latin typeface="Yu Gothic"/>
                          <a:ea typeface="Yu Gothic"/>
                          <a:cs typeface="Yu Gothic"/>
                        </a:rPr>
                        <a:t>0.054042</a:t>
                      </a:r>
                    </a:p>
                  </a:txBody>
                  <a:tcPr marL="91440" marR="91440" marT="45720" marB="45720"/>
                </a:tc>
                <a:tc>
                  <a:txBody>
                    <a:bodyPr/>
                    <a:lstStyle/>
                    <a:p>
                      <a:r>
                        <a:rPr sz="1200" b="0">
                          <a:solidFill>
                            <a:srgbClr val="26373D"/>
                          </a:solidFill>
                          <a:latin typeface="Yu Gothic"/>
                          <a:ea typeface="Yu Gothic"/>
                          <a:cs typeface="Yu Gothic"/>
                        </a:rPr>
                        <a:t>0.053431</a:t>
                      </a:r>
                    </a:p>
                  </a:txBody>
                  <a:tcPr marL="91440" marR="91440" marT="45720" marB="45720"/>
                </a:tc>
                <a:tc>
                  <a:txBody>
                    <a:bodyPr/>
                    <a:lstStyle/>
                    <a:p>
                      <a:r>
                        <a:rPr sz="1200" b="0">
                          <a:solidFill>
                            <a:srgbClr val="26373D"/>
                          </a:solidFill>
                          <a:latin typeface="Yu Gothic"/>
                          <a:ea typeface="Yu Gothic"/>
                          <a:cs typeface="Yu Gothic"/>
                        </a:rPr>
                        <a:t>非増加</a:t>
                      </a:r>
                    </a:p>
                  </a:txBody>
                  <a:tcPr marL="91440" marR="91440" marT="45720" marB="45720"/>
                </a:tc>
                <a:tc>
                  <a:txBody>
                    <a:bodyPr/>
                    <a:lstStyle/>
                    <a:p>
                      <a:r>
                        <a:rPr sz="1200" b="0">
                          <a:solidFill>
                            <a:srgbClr val="26373D"/>
                          </a:solidFill>
                          <a:latin typeface="Yu Gothic"/>
                          <a:ea typeface="Yu Gothic"/>
                          <a:cs typeface="Yu Gothic"/>
                        </a:rPr>
                        <a:t>不変</a:t>
                      </a:r>
                    </a:p>
                  </a:txBody>
                  <a:tcPr marL="91440" marR="91440" marT="45720" marB="45720"/>
                </a:tc>
              </a:tr>
              <a:tr h="419100">
                <a:tc>
                  <a:txBody>
                    <a:bodyPr/>
                    <a:lstStyle/>
                    <a:p>
                      <a:r>
                        <a:rPr sz="1200" b="0">
                          <a:solidFill>
                            <a:srgbClr val="26373D"/>
                          </a:solidFill>
                          <a:latin typeface="Yu Gothic"/>
                          <a:ea typeface="Yu Gothic"/>
                          <a:cs typeface="Yu Gothic"/>
                        </a:rPr>
                        <a:t>2</a:t>
                      </a:r>
                    </a:p>
                  </a:txBody>
                  <a:tcPr marL="91440" marR="91440" marT="45720" marB="45720"/>
                </a:tc>
                <a:tc>
                  <a:txBody>
                    <a:bodyPr/>
                    <a:lstStyle/>
                    <a:p>
                      <a:r>
                        <a:rPr sz="1200" b="0">
                          <a:solidFill>
                            <a:srgbClr val="26373D"/>
                          </a:solidFill>
                          <a:latin typeface="Yu Gothic"/>
                          <a:ea typeface="Yu Gothic"/>
                          <a:cs typeface="Yu Gothic"/>
                        </a:rPr>
                        <a:t>65.9988</a:t>
                      </a:r>
                    </a:p>
                  </a:txBody>
                  <a:tcPr marL="91440" marR="91440" marT="45720" marB="45720"/>
                </a:tc>
                <a:tc>
                  <a:txBody>
                    <a:bodyPr/>
                    <a:lstStyle/>
                    <a:p>
                      <a:r>
                        <a:rPr sz="1200" b="0">
                          <a:solidFill>
                            <a:srgbClr val="26373D"/>
                          </a:solidFill>
                          <a:latin typeface="Yu Gothic"/>
                          <a:ea typeface="Yu Gothic"/>
                          <a:cs typeface="Yu Gothic"/>
                        </a:rPr>
                        <a:t>0.00135747</a:t>
                      </a:r>
                    </a:p>
                  </a:txBody>
                  <a:tcPr marL="91440" marR="91440" marT="45720" marB="45720"/>
                </a:tc>
                <a:tc>
                  <a:txBody>
                    <a:bodyPr/>
                    <a:lstStyle/>
                    <a:p>
                      <a:r>
                        <a:rPr sz="1200" b="0">
                          <a:solidFill>
                            <a:srgbClr val="26373D"/>
                          </a:solidFill>
                          <a:latin typeface="Yu Gothic"/>
                          <a:ea typeface="Yu Gothic"/>
                          <a:cs typeface="Yu Gothic"/>
                        </a:rPr>
                        <a:t>18.4783</a:t>
                      </a:r>
                    </a:p>
                  </a:txBody>
                  <a:tcPr marL="91440" marR="91440" marT="45720" marB="45720"/>
                </a:tc>
                <a:tc>
                  <a:txBody>
                    <a:bodyPr/>
                    <a:lstStyle/>
                    <a:p>
                      <a:r>
                        <a:rPr sz="1200" b="0">
                          <a:solidFill>
                            <a:srgbClr val="26373D"/>
                          </a:solidFill>
                          <a:latin typeface="Yu Gothic"/>
                          <a:ea typeface="Yu Gothic"/>
                          <a:cs typeface="Yu Gothic"/>
                        </a:rPr>
                        <a:t>18.3390</a:t>
                      </a:r>
                    </a:p>
                  </a:txBody>
                  <a:tcPr marL="91440" marR="91440" marT="45720" marB="45720"/>
                </a:tc>
                <a:tc>
                  <a:txBody>
                    <a:bodyPr/>
                    <a:lstStyle/>
                    <a:p>
                      <a:r>
                        <a:rPr sz="1200" b="0">
                          <a:solidFill>
                            <a:srgbClr val="26373D"/>
                          </a:solidFill>
                          <a:latin typeface="Yu Gothic"/>
                          <a:ea typeface="Yu Gothic"/>
                          <a:cs typeface="Yu Gothic"/>
                        </a:rPr>
                        <a:t>非増加</a:t>
                      </a:r>
                    </a:p>
                  </a:txBody>
                  <a:tcPr marL="91440" marR="91440" marT="45720" marB="45720"/>
                </a:tc>
                <a:tc>
                  <a:txBody>
                    <a:bodyPr/>
                    <a:lstStyle/>
                    <a:p>
                      <a:r>
                        <a:rPr sz="1200" b="0">
                          <a:solidFill>
                            <a:srgbClr val="26373D"/>
                          </a:solidFill>
                          <a:latin typeface="Yu Gothic"/>
                          <a:ea typeface="Yu Gothic"/>
                          <a:cs typeface="Yu Gothic"/>
                        </a:rPr>
                        <a:t>不変</a:t>
                      </a:r>
                    </a:p>
                  </a:txBody>
                  <a:tcPr marL="91440" marR="91440" marT="45720" marB="45720"/>
                </a:tc>
              </a:tr>
              <a:tr h="419100">
                <a:tc>
                  <a:txBody>
                    <a:bodyPr/>
                    <a:lstStyle/>
                    <a:p>
                      <a:r>
                        <a:rPr sz="1200" b="0">
                          <a:solidFill>
                            <a:srgbClr val="26373D"/>
                          </a:solidFill>
                          <a:latin typeface="Yu Gothic"/>
                          <a:ea typeface="Yu Gothic"/>
                          <a:cs typeface="Yu Gothic"/>
                        </a:rPr>
                        <a:t>3</a:t>
                      </a:r>
                    </a:p>
                  </a:txBody>
                  <a:tcPr marL="91440" marR="91440" marT="45720" marB="45720"/>
                </a:tc>
                <a:tc>
                  <a:txBody>
                    <a:bodyPr/>
                    <a:lstStyle/>
                    <a:p>
                      <a:r>
                        <a:rPr sz="1200" b="0">
                          <a:solidFill>
                            <a:srgbClr val="26373D"/>
                          </a:solidFill>
                          <a:latin typeface="Yu Gothic"/>
                          <a:ea typeface="Yu Gothic"/>
                          <a:cs typeface="Yu Gothic"/>
                        </a:rPr>
                        <a:t>66.4649</a:t>
                      </a:r>
                    </a:p>
                  </a:txBody>
                  <a:tcPr marL="91440" marR="91440" marT="45720" marB="45720"/>
                </a:tc>
                <a:tc>
                  <a:txBody>
                    <a:bodyPr/>
                    <a:lstStyle/>
                    <a:p>
                      <a:r>
                        <a:rPr sz="1200" b="0">
                          <a:solidFill>
                            <a:srgbClr val="26373D"/>
                          </a:solidFill>
                          <a:latin typeface="Yu Gothic"/>
                          <a:ea typeface="Yu Gothic"/>
                          <a:cs typeface="Yu Gothic"/>
                        </a:rPr>
                        <a:t>0.00135746</a:t>
                      </a:r>
                    </a:p>
                  </a:txBody>
                  <a:tcPr marL="91440" marR="91440" marT="45720" marB="45720"/>
                </a:tc>
                <a:tc>
                  <a:txBody>
                    <a:bodyPr/>
                    <a:lstStyle/>
                    <a:p>
                      <a:r>
                        <a:rPr sz="1200" b="0">
                          <a:solidFill>
                            <a:srgbClr val="26373D"/>
                          </a:solidFill>
                          <a:latin typeface="Yu Gothic"/>
                          <a:ea typeface="Yu Gothic"/>
                          <a:cs typeface="Yu Gothic"/>
                        </a:rPr>
                        <a:t>16.1307</a:t>
                      </a:r>
                    </a:p>
                  </a:txBody>
                  <a:tcPr marL="91440" marR="91440" marT="45720" marB="45720"/>
                </a:tc>
                <a:tc>
                  <a:txBody>
                    <a:bodyPr>
                      <a:normAutofit/>
                    </a:bodyPr>
                    <a:lstStyle/>
                    <a:p>
                      <a:pPr algn="ctr"/>
                      <a:r>
                        <a:rPr sz="1125" b="1">
                          <a:solidFill>
                            <a:srgbClr val="B94A3A"/>
                          </a:solidFill>
                          <a:latin typeface="Yu Gothic"/>
                          <a:ea typeface="Yu Gothic"/>
                          <a:cs typeface="Yu Gothic"/>
                        </a:rPr>
                        <a:t>16.1776</a:t>
                      </a:r>
                    </a:p>
                  </a:txBody>
                  <a:tcPr marL="91440" marR="91440" marT="45720" marB="45720" anchor="ctr">
                    <a:solidFill>
                      <a:srgbClr val="F5DFDA"/>
                    </a:solidFill>
                  </a:tcPr>
                </a:tc>
                <a:tc>
                  <a:txBody>
                    <a:bodyPr/>
                    <a:lstStyle/>
                    <a:p>
                      <a:r>
                        <a:rPr sz="1200" b="0">
                          <a:solidFill>
                            <a:srgbClr val="26373D"/>
                          </a:solidFill>
                          <a:latin typeface="Yu Gothic"/>
                          <a:ea typeface="Yu Gothic"/>
                          <a:cs typeface="Yu Gothic"/>
                        </a:rPr>
                        <a:t>実行確認</a:t>
                      </a:r>
                    </a:p>
                  </a:txBody>
                  <a:tcPr marL="91440" marR="91440" marT="45720" marB="45720">
                    <a:solidFill>
                      <a:srgbClr val="FAE9D8"/>
                    </a:solidFill>
                  </a:tcPr>
                </a:tc>
                <a:tc>
                  <a:txBody>
                    <a:bodyPr/>
                    <a:lstStyle/>
                    <a:p>
                      <a:r>
                        <a:rPr sz="1200" b="0">
                          <a:solidFill>
                            <a:srgbClr val="26373D"/>
                          </a:solidFill>
                          <a:latin typeface="Yu Gothic"/>
                          <a:ea typeface="Yu Gothic"/>
                          <a:cs typeface="Yu Gothic"/>
                        </a:rPr>
                        <a:t>不変</a:t>
                      </a:r>
                    </a:p>
                  </a:txBody>
                  <a:tcPr marL="91440" marR="91440" marT="45720" marB="45720"/>
                </a:tc>
              </a:tr>
            </a:tbl>
          </a:graphicData>
        </a:graphic>
      </p:graphicFrame>
      <p:sp>
        <p:nvSpPr>
          <p:cNvPr id="12" name="">
            <a:extLst xmlns:a="http://schemas.openxmlformats.org/drawingml/2006/main">
              <a:ext uri="{FF2B5EF4-FFF2-40B4-BE49-F238E27FC236}">
                <a16:creationId xmlns:a16="http://schemas.microsoft.com/office/drawing/2014/main" id="{9A741C6B-8225-4E61-8530-A0D3BB89D764}"/>
              </a:ext>
            </a:extLst>
          </p:cNvPr>
          <p:cNvSpPr>
            <a:spLocks xmlns:a="http://schemas.openxmlformats.org/drawingml/2006/main" noGrp="1"/>
          </p:cNvSpPr>
          <p:nvPr/>
        </p:nvSpPr>
        <p:spPr>
          <a:xfrm xmlns:a="http://schemas.openxmlformats.org/drawingml/2006/main">
            <a:off x="723900" y="5724525"/>
            <a:ext cx="10744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B94A3A"/>
                </a:solidFill>
                <a:latin typeface="Yu Gothic"/>
                <a:ea typeface="Yu Gothic"/>
                <a:cs typeface="Yu Gothic"/>
              </a:defRPr>
            </a:pPr>
            <a:r>
              <a:rPr sz="1350" b="1">
                <a:solidFill>
                  <a:srgbClr val="B94A3A"/>
                </a:solidFill>
                <a:latin typeface="Yu Gothic"/>
                <a:ea typeface="Yu Gothic"/>
                <a:cs typeface="Yu Gothic"/>
              </a:rPr>
              <a:t>各ラウンドで選択した4組が異なるため、加重KLをラウンド間の性能推移として比較しない</a:t>
            </a:r>
          </a:p>
        </p:txBody>
      </p:sp>
    </p:spTree>
    <p:extLst>
      <p:ext uri="{BB962C8B-B14F-4D97-AF65-F5344CB8AC3E}">
        <p14:creationId xmlns:p14="http://schemas.microsoft.com/office/powerpoint/2010/main" val="185298237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9E5635B-BD65-418E-A2EB-217700F5D51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3656181-FACE-4B93-BACD-43377472D9A0}"/>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E8FC8C8-CFFF-466D-BF61-2FEFDB6DBADB}"/>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付録3　処理時間と通信監査</a:t>
            </a:r>
          </a:p>
        </p:txBody>
      </p:sp>
      <p:sp>
        <p:nvSpPr>
          <p:cNvPr id="4" name="">
            <a:extLst xmlns:a="http://schemas.openxmlformats.org/drawingml/2006/main">
              <a:ext uri="{FF2B5EF4-FFF2-40B4-BE49-F238E27FC236}">
                <a16:creationId xmlns:a16="http://schemas.microsoft.com/office/drawing/2014/main" id="{B4858C39-7EEF-438D-9395-65B46E70C243}"/>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A3</a:t>
            </a:r>
          </a:p>
        </p:txBody>
      </p:sp>
      <p:sp>
        <p:nvSpPr>
          <p:cNvPr id="5" name="">
            <a:extLst xmlns:a="http://schemas.openxmlformats.org/drawingml/2006/main">
              <a:ext uri="{FF2B5EF4-FFF2-40B4-BE49-F238E27FC236}">
                <a16:creationId xmlns:a16="http://schemas.microsoft.com/office/drawing/2014/main" id="{98E067D9-8C24-4CD4-9B6A-D3691672E31D}"/>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E40A5AB-A98A-4BFE-BF65-EEC64A2AF4A6}"/>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189559F4-83ED-4A61-9262-4D383C2D64FE}"/>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付録 3 / 3</a:t>
            </a:r>
          </a:p>
        </p:txBody>
      </p:sp>
      <p:sp>
        <p:nvSpPr>
          <p:cNvPr id="8" name="">
            <a:extLst xmlns:a="http://schemas.openxmlformats.org/drawingml/2006/main">
              <a:ext uri="{FF2B5EF4-FFF2-40B4-BE49-F238E27FC236}">
                <a16:creationId xmlns:a16="http://schemas.microsoft.com/office/drawing/2014/main" id="{BC9B2616-6123-4963-B943-7E2DDD0A3EB2}"/>
              </a:ext>
            </a:extLst>
          </p:cNvPr>
          <p:cNvSpPr>
            <a:spLocks xmlns:a="http://schemas.openxmlformats.org/drawingml/2006/main" noGrp="1"/>
          </p:cNvSpPr>
          <p:nvPr/>
        </p:nvSpPr>
        <p:spPr>
          <a:xfrm xmlns:a="http://schemas.openxmlformats.org/drawingml/2006/main">
            <a:off x="685800" y="102870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処理時間（秒）</a:t>
            </a:r>
          </a:p>
        </p:txBody>
      </p:sp>
      <p:graphicFrame>
        <p:nvGraphicFramePr>
          <p:cNvPr id="24" name=""/>
          <p:cNvGraphicFramePr/>
          <p:nvPr/>
        </p:nvGraphicFramePr>
        <p:xfrm>
          <a:off xmlns:a="http://schemas.openxmlformats.org/drawingml/2006/main" x="647700" y="1409700"/>
          <a:ext xmlns:a="http://schemas.openxmlformats.org/drawingml/2006/main" cx="10896600" cy="1752600"/>
        </p:xfrm>
        <a:graphic xmlns:a="http://schemas.openxmlformats.org/drawingml/2006/main">
          <a:graphicData uri="http://schemas.openxmlformats.org/drawingml/2006/table">
            <a:tbl>
              <a:tblPr/>
              <a:tblGrid>
                <a:gridCol w="552450"/>
                <a:gridCol w="1571625"/>
                <a:gridCol w="1381125"/>
                <a:gridCol w="1381125"/>
                <a:gridCol w="1952625"/>
                <a:gridCol w="2238375"/>
                <a:gridCol w="1819275"/>
              </a:tblGrid>
              <a:tr h="438150">
                <a:tc>
                  <a:txBody>
                    <a:bodyPr/>
                    <a:lstStyle/>
                    <a:p>
                      <a:r>
                        <a:rPr sz="1050" b="1">
                          <a:solidFill>
                            <a:srgbClr val="173B4B"/>
                          </a:solidFill>
                          <a:latin typeface="Yu Gothic"/>
                          <a:ea typeface="Yu Gothic"/>
                          <a:cs typeface="Yu Gothic"/>
                        </a:rPr>
                        <a:t>R</a:t>
                      </a:r>
                    </a:p>
                  </a:txBody>
                  <a:tcPr marL="91440" marR="91440" marT="45720" marB="45720"/>
                </a:tc>
                <a:tc>
                  <a:txBody>
                    <a:bodyPr/>
                    <a:lstStyle/>
                    <a:p>
                      <a:r>
                        <a:rPr sz="1050" b="1">
                          <a:solidFill>
                            <a:srgbClr val="173B4B"/>
                          </a:solidFill>
                          <a:latin typeface="Yu Gothic"/>
                          <a:ea typeface="Yu Gothic"/>
                          <a:cs typeface="Yu Gothic"/>
                        </a:rPr>
                        <a:t>現場側学習</a:t>
                      </a:r>
                    </a:p>
                  </a:txBody>
                  <a:tcPr marL="91440" marR="91440" marT="45720" marB="45720"/>
                </a:tc>
                <a:tc>
                  <a:txBody>
                    <a:bodyPr/>
                    <a:lstStyle/>
                    <a:p>
                      <a:r>
                        <a:rPr sz="1050" b="1">
                          <a:solidFill>
                            <a:srgbClr val="173B4B"/>
                          </a:solidFill>
                          <a:latin typeface="Yu Gothic"/>
                          <a:ea typeface="Yu Gothic"/>
                          <a:cs typeface="Yu Gothic"/>
                        </a:rPr>
                        <a:t>60本検索</a:t>
                      </a:r>
                    </a:p>
                  </a:txBody>
                  <a:tcPr marL="91440" marR="91440" marT="45720" marB="45720"/>
                </a:tc>
                <a:tc>
                  <a:txBody>
                    <a:bodyPr/>
                    <a:lstStyle/>
                    <a:p>
                      <a:r>
                        <a:rPr sz="1050" b="1">
                          <a:solidFill>
                            <a:srgbClr val="173B4B"/>
                          </a:solidFill>
                          <a:latin typeface="Yu Gothic"/>
                          <a:ea typeface="Yu Gothic"/>
                          <a:cs typeface="Yu Gothic"/>
                        </a:rPr>
                        <a:t>変換保存</a:t>
                      </a:r>
                    </a:p>
                  </a:txBody>
                  <a:tcPr marL="91440" marR="91440" marT="45720" marB="45720"/>
                </a:tc>
                <a:tc>
                  <a:txBody>
                    <a:bodyPr/>
                    <a:lstStyle/>
                    <a:p>
                      <a:r>
                        <a:rPr sz="1050" b="1">
                          <a:solidFill>
                            <a:srgbClr val="173B4B"/>
                          </a:solidFill>
                          <a:latin typeface="Yu Gothic"/>
                          <a:ea typeface="Yu Gothic"/>
                          <a:cs typeface="Yu Gothic"/>
                        </a:rPr>
                        <a:t>変化量・目的関数</a:t>
                      </a:r>
                    </a:p>
                  </a:txBody>
                  <a:tcPr marL="91440" marR="91440" marT="45720" marB="45720"/>
                </a:tc>
                <a:tc>
                  <a:txBody>
                    <a:bodyPr/>
                    <a:lstStyle/>
                    <a:p>
                      <a:r>
                        <a:rPr sz="1050" b="1">
                          <a:solidFill>
                            <a:srgbClr val="173B4B"/>
                          </a:solidFill>
                          <a:latin typeface="Yu Gothic"/>
                          <a:ea typeface="Yu Gothic"/>
                          <a:cs typeface="Yu Gothic"/>
                        </a:rPr>
                        <a:t>中央側AI読込・更新</a:t>
                      </a:r>
                    </a:p>
                  </a:txBody>
                  <a:tcPr marL="91440" marR="91440" marT="45720" marB="45720"/>
                </a:tc>
                <a:tc>
                  <a:txBody>
                    <a:bodyPr/>
                    <a:lstStyle/>
                    <a:p>
                      <a:r>
                        <a:rPr sz="1050" b="1">
                          <a:solidFill>
                            <a:srgbClr val="173B4B"/>
                          </a:solidFill>
                          <a:latin typeface="Yu Gothic"/>
                          <a:ea typeface="Yu Gothic"/>
                          <a:cs typeface="Yu Gothic"/>
                        </a:rPr>
                        <a:t>第2・3層合計</a:t>
                      </a:r>
                    </a:p>
                  </a:txBody>
                  <a:tcPr marL="91440" marR="91440" marT="45720" marB="45720"/>
                </a:tc>
              </a:tr>
              <a:tr h="438150">
                <a:tc>
                  <a:txBody>
                    <a:bodyPr/>
                    <a:lstStyle/>
                    <a:p>
                      <a:r>
                        <a:rPr sz="1200" b="0">
                          <a:solidFill>
                            <a:srgbClr val="26373D"/>
                          </a:solidFill>
                          <a:latin typeface="Yu Gothic"/>
                          <a:ea typeface="Yu Gothic"/>
                          <a:cs typeface="Yu Gothic"/>
                        </a:rPr>
                        <a:t>1</a:t>
                      </a:r>
                    </a:p>
                  </a:txBody>
                  <a:tcPr marL="91440" marR="91440" marT="45720" marB="45720"/>
                </a:tc>
                <a:tc>
                  <a:txBody>
                    <a:bodyPr/>
                    <a:lstStyle/>
                    <a:p>
                      <a:r>
                        <a:rPr sz="1200" b="0">
                          <a:solidFill>
                            <a:srgbClr val="26373D"/>
                          </a:solidFill>
                          <a:latin typeface="Yu Gothic"/>
                          <a:ea typeface="Yu Gothic"/>
                          <a:cs typeface="Yu Gothic"/>
                        </a:rPr>
                        <a:t>96.5</a:t>
                      </a:r>
                    </a:p>
                  </a:txBody>
                  <a:tcPr marL="91440" marR="91440" marT="45720" marB="45720"/>
                </a:tc>
                <a:tc>
                  <a:txBody>
                    <a:bodyPr/>
                    <a:lstStyle/>
                    <a:p>
                      <a:r>
                        <a:rPr sz="1200" b="0">
                          <a:solidFill>
                            <a:srgbClr val="26373D"/>
                          </a:solidFill>
                          <a:latin typeface="Yu Gothic"/>
                          <a:ea typeface="Yu Gothic"/>
                          <a:cs typeface="Yu Gothic"/>
                        </a:rPr>
                        <a:t>28.6</a:t>
                      </a:r>
                    </a:p>
                  </a:txBody>
                  <a:tcPr marL="91440" marR="91440" marT="45720" marB="45720"/>
                </a:tc>
                <a:tc>
                  <a:txBody>
                    <a:bodyPr/>
                    <a:lstStyle/>
                    <a:p>
                      <a:r>
                        <a:rPr sz="1200" b="0">
                          <a:solidFill>
                            <a:srgbClr val="26373D"/>
                          </a:solidFill>
                          <a:latin typeface="Yu Gothic"/>
                          <a:ea typeface="Yu Gothic"/>
                          <a:cs typeface="Yu Gothic"/>
                        </a:rPr>
                        <a:t>4.0</a:t>
                      </a:r>
                    </a:p>
                  </a:txBody>
                  <a:tcPr marL="91440" marR="91440" marT="45720" marB="45720"/>
                </a:tc>
                <a:tc>
                  <a:txBody>
                    <a:bodyPr/>
                    <a:lstStyle/>
                    <a:p>
                      <a:r>
                        <a:rPr sz="1200" b="0">
                          <a:solidFill>
                            <a:srgbClr val="26373D"/>
                          </a:solidFill>
                          <a:latin typeface="Yu Gothic"/>
                          <a:ea typeface="Yu Gothic"/>
                          <a:cs typeface="Yu Gothic"/>
                        </a:rPr>
                        <a:t>52.9</a:t>
                      </a:r>
                    </a:p>
                  </a:txBody>
                  <a:tcPr marL="91440" marR="91440" marT="45720" marB="45720"/>
                </a:tc>
                <a:tc>
                  <a:txBody>
                    <a:bodyPr/>
                    <a:lstStyle/>
                    <a:p>
                      <a:r>
                        <a:rPr sz="1200" b="0">
                          <a:solidFill>
                            <a:srgbClr val="26373D"/>
                          </a:solidFill>
                          <a:latin typeface="Yu Gothic"/>
                          <a:ea typeface="Yu Gothic"/>
                          <a:cs typeface="Yu Gothic"/>
                        </a:rPr>
                        <a:t>171.8</a:t>
                      </a:r>
                    </a:p>
                  </a:txBody>
                  <a:tcPr marL="91440" marR="91440" marT="45720" marB="45720"/>
                </a:tc>
                <a:tc>
                  <a:txBody>
                    <a:bodyPr/>
                    <a:lstStyle/>
                    <a:p>
                      <a:r>
                        <a:rPr sz="1200" b="0">
                          <a:solidFill>
                            <a:srgbClr val="26373D"/>
                          </a:solidFill>
                          <a:latin typeface="Yu Gothic"/>
                          <a:ea typeface="Yu Gothic"/>
                          <a:cs typeface="Yu Gothic"/>
                        </a:rPr>
                        <a:t>279.1</a:t>
                      </a:r>
                    </a:p>
                  </a:txBody>
                  <a:tcPr marL="91440" marR="91440" marT="45720" marB="45720"/>
                </a:tc>
              </a:tr>
              <a:tr h="438150">
                <a:tc>
                  <a:txBody>
                    <a:bodyPr/>
                    <a:lstStyle/>
                    <a:p>
                      <a:r>
                        <a:rPr sz="1200" b="0">
                          <a:solidFill>
                            <a:srgbClr val="26373D"/>
                          </a:solidFill>
                          <a:latin typeface="Yu Gothic"/>
                          <a:ea typeface="Yu Gothic"/>
                          <a:cs typeface="Yu Gothic"/>
                        </a:rPr>
                        <a:t>2</a:t>
                      </a:r>
                    </a:p>
                  </a:txBody>
                  <a:tcPr marL="91440" marR="91440" marT="45720" marB="45720"/>
                </a:tc>
                <a:tc>
                  <a:txBody>
                    <a:bodyPr/>
                    <a:lstStyle/>
                    <a:p>
                      <a:r>
                        <a:rPr sz="1200" b="0">
                          <a:solidFill>
                            <a:srgbClr val="26373D"/>
                          </a:solidFill>
                          <a:latin typeface="Yu Gothic"/>
                          <a:ea typeface="Yu Gothic"/>
                          <a:cs typeface="Yu Gothic"/>
                        </a:rPr>
                        <a:t>97.1</a:t>
                      </a:r>
                    </a:p>
                  </a:txBody>
                  <a:tcPr marL="91440" marR="91440" marT="45720" marB="45720"/>
                </a:tc>
                <a:tc>
                  <a:txBody>
                    <a:bodyPr/>
                    <a:lstStyle/>
                    <a:p>
                      <a:r>
                        <a:rPr sz="1200" b="0">
                          <a:solidFill>
                            <a:srgbClr val="26373D"/>
                          </a:solidFill>
                          <a:latin typeface="Yu Gothic"/>
                          <a:ea typeface="Yu Gothic"/>
                          <a:cs typeface="Yu Gothic"/>
                        </a:rPr>
                        <a:t>27.0</a:t>
                      </a:r>
                    </a:p>
                  </a:txBody>
                  <a:tcPr marL="91440" marR="91440" marT="45720" marB="45720"/>
                </a:tc>
                <a:tc>
                  <a:txBody>
                    <a:bodyPr/>
                    <a:lstStyle/>
                    <a:p>
                      <a:r>
                        <a:rPr sz="1200" b="0">
                          <a:solidFill>
                            <a:srgbClr val="26373D"/>
                          </a:solidFill>
                          <a:latin typeface="Yu Gothic"/>
                          <a:ea typeface="Yu Gothic"/>
                          <a:cs typeface="Yu Gothic"/>
                        </a:rPr>
                        <a:t>4.1</a:t>
                      </a:r>
                    </a:p>
                  </a:txBody>
                  <a:tcPr marL="91440" marR="91440" marT="45720" marB="45720"/>
                </a:tc>
                <a:tc>
                  <a:txBody>
                    <a:bodyPr/>
                    <a:lstStyle/>
                    <a:p>
                      <a:r>
                        <a:rPr sz="1200" b="0">
                          <a:solidFill>
                            <a:srgbClr val="26373D"/>
                          </a:solidFill>
                          <a:latin typeface="Yu Gothic"/>
                          <a:ea typeface="Yu Gothic"/>
                          <a:cs typeface="Yu Gothic"/>
                        </a:rPr>
                        <a:t>52.7</a:t>
                      </a:r>
                    </a:p>
                  </a:txBody>
                  <a:tcPr marL="91440" marR="91440" marT="45720" marB="45720"/>
                </a:tc>
                <a:tc>
                  <a:txBody>
                    <a:bodyPr/>
                    <a:lstStyle/>
                    <a:p>
                      <a:r>
                        <a:rPr sz="1200" b="0">
                          <a:solidFill>
                            <a:srgbClr val="26373D"/>
                          </a:solidFill>
                          <a:latin typeface="Yu Gothic"/>
                          <a:ea typeface="Yu Gothic"/>
                          <a:cs typeface="Yu Gothic"/>
                        </a:rPr>
                        <a:t>173.6</a:t>
                      </a:r>
                    </a:p>
                  </a:txBody>
                  <a:tcPr marL="91440" marR="91440" marT="45720" marB="45720"/>
                </a:tc>
                <a:tc>
                  <a:txBody>
                    <a:bodyPr/>
                    <a:lstStyle/>
                    <a:p>
                      <a:r>
                        <a:rPr sz="1200" b="0">
                          <a:solidFill>
                            <a:srgbClr val="26373D"/>
                          </a:solidFill>
                          <a:latin typeface="Yu Gothic"/>
                          <a:ea typeface="Yu Gothic"/>
                          <a:cs typeface="Yu Gothic"/>
                        </a:rPr>
                        <a:t>272.5</a:t>
                      </a:r>
                    </a:p>
                  </a:txBody>
                  <a:tcPr marL="91440" marR="91440" marT="45720" marB="45720"/>
                </a:tc>
              </a:tr>
              <a:tr h="438150">
                <a:tc>
                  <a:txBody>
                    <a:bodyPr/>
                    <a:lstStyle/>
                    <a:p>
                      <a:r>
                        <a:rPr sz="1200" b="0">
                          <a:solidFill>
                            <a:srgbClr val="26373D"/>
                          </a:solidFill>
                          <a:latin typeface="Yu Gothic"/>
                          <a:ea typeface="Yu Gothic"/>
                          <a:cs typeface="Yu Gothic"/>
                        </a:rPr>
                        <a:t>3</a:t>
                      </a:r>
                    </a:p>
                  </a:txBody>
                  <a:tcPr marL="91440" marR="91440" marT="45720" marB="45720"/>
                </a:tc>
                <a:tc>
                  <a:txBody>
                    <a:bodyPr/>
                    <a:lstStyle/>
                    <a:p>
                      <a:r>
                        <a:rPr sz="1200" b="0">
                          <a:solidFill>
                            <a:srgbClr val="26373D"/>
                          </a:solidFill>
                          <a:latin typeface="Yu Gothic"/>
                          <a:ea typeface="Yu Gothic"/>
                          <a:cs typeface="Yu Gothic"/>
                        </a:rPr>
                        <a:t>131.0</a:t>
                      </a:r>
                    </a:p>
                  </a:txBody>
                  <a:tcPr marL="91440" marR="91440" marT="45720" marB="45720"/>
                </a:tc>
                <a:tc>
                  <a:txBody>
                    <a:bodyPr/>
                    <a:lstStyle/>
                    <a:p>
                      <a:r>
                        <a:rPr sz="1200" b="0">
                          <a:solidFill>
                            <a:srgbClr val="26373D"/>
                          </a:solidFill>
                          <a:latin typeface="Yu Gothic"/>
                          <a:ea typeface="Yu Gothic"/>
                          <a:cs typeface="Yu Gothic"/>
                        </a:rPr>
                        <a:t>27.1</a:t>
                      </a:r>
                    </a:p>
                  </a:txBody>
                  <a:tcPr marL="91440" marR="91440" marT="45720" marB="45720"/>
                </a:tc>
                <a:tc>
                  <a:txBody>
                    <a:bodyPr/>
                    <a:lstStyle/>
                    <a:p>
                      <a:r>
                        <a:rPr sz="1200" b="0">
                          <a:solidFill>
                            <a:srgbClr val="26373D"/>
                          </a:solidFill>
                          <a:latin typeface="Yu Gothic"/>
                          <a:ea typeface="Yu Gothic"/>
                          <a:cs typeface="Yu Gothic"/>
                        </a:rPr>
                        <a:t>4.2</a:t>
                      </a:r>
                    </a:p>
                  </a:txBody>
                  <a:tcPr marL="91440" marR="91440" marT="45720" marB="45720"/>
                </a:tc>
                <a:tc>
                  <a:txBody>
                    <a:bodyPr/>
                    <a:lstStyle/>
                    <a:p>
                      <a:r>
                        <a:rPr sz="1200" b="0">
                          <a:solidFill>
                            <a:srgbClr val="26373D"/>
                          </a:solidFill>
                          <a:latin typeface="Yu Gothic"/>
                          <a:ea typeface="Yu Gothic"/>
                          <a:cs typeface="Yu Gothic"/>
                        </a:rPr>
                        <a:t>52.7</a:t>
                      </a:r>
                    </a:p>
                  </a:txBody>
                  <a:tcPr marL="91440" marR="91440" marT="45720" marB="45720"/>
                </a:tc>
                <a:tc>
                  <a:txBody>
                    <a:bodyPr/>
                    <a:lstStyle/>
                    <a:p>
                      <a:r>
                        <a:rPr sz="1200" b="0">
                          <a:solidFill>
                            <a:srgbClr val="26373D"/>
                          </a:solidFill>
                          <a:latin typeface="Yu Gothic"/>
                          <a:ea typeface="Yu Gothic"/>
                          <a:cs typeface="Yu Gothic"/>
                        </a:rPr>
                        <a:t>178.2</a:t>
                      </a:r>
                    </a:p>
                  </a:txBody>
                  <a:tcPr marL="91440" marR="91440" marT="45720" marB="45720"/>
                </a:tc>
                <a:tc>
                  <a:txBody>
                    <a:bodyPr/>
                    <a:lstStyle/>
                    <a:p>
                      <a:r>
                        <a:rPr sz="1200" b="0">
                          <a:solidFill>
                            <a:srgbClr val="26373D"/>
                          </a:solidFill>
                          <a:latin typeface="Yu Gothic"/>
                          <a:ea typeface="Yu Gothic"/>
                          <a:cs typeface="Yu Gothic"/>
                        </a:rPr>
                        <a:t>277.3</a:t>
                      </a:r>
                    </a:p>
                  </a:txBody>
                  <a:tcPr marL="91440" marR="91440" marT="45720" marB="45720"/>
                </a:tc>
              </a:tr>
            </a:tbl>
          </a:graphicData>
        </a:graphic>
      </p:graphicFrame>
      <p:sp>
        <p:nvSpPr>
          <p:cNvPr id="10" name="">
            <a:extLst xmlns:a="http://schemas.openxmlformats.org/drawingml/2006/main">
              <a:ext uri="{FF2B5EF4-FFF2-40B4-BE49-F238E27FC236}">
                <a16:creationId xmlns:a16="http://schemas.microsoft.com/office/drawing/2014/main" id="{56E9FBB2-5DDC-4131-9B48-5284E417D014}"/>
              </a:ext>
            </a:extLst>
          </p:cNvPr>
          <p:cNvSpPr>
            <a:spLocks xmlns:a="http://schemas.openxmlformats.org/drawingml/2006/main" noGrp="1"/>
          </p:cNvSpPr>
          <p:nvPr/>
        </p:nvSpPr>
        <p:spPr>
          <a:xfrm xmlns:a="http://schemas.openxmlformats.org/drawingml/2006/main">
            <a:off x="704850" y="3486150"/>
            <a:ext cx="619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73B4B"/>
                </a:solidFill>
                <a:latin typeface="Yu Gothic"/>
                <a:ea typeface="Yu Gothic"/>
                <a:cs typeface="Yu Gothic"/>
              </a:defRPr>
            </a:pPr>
            <a:r>
              <a:rPr sz="1500" b="1">
                <a:solidFill>
                  <a:srgbClr val="173B4B"/>
                </a:solidFill>
                <a:latin typeface="Yu Gothic"/>
                <a:ea typeface="Yu Gothic"/>
                <a:cs typeface="Yu Gothic"/>
              </a:rPr>
              <a:t>中央側候補60本の正解ラベルと、連合集約後の小型AIの判定</a:t>
            </a:r>
          </a:p>
        </p:txBody>
      </p:sp>
      <p:graphicFrame>
        <p:nvGraphicFramePr>
          <p:cNvPr id="26" name=""/>
          <p:cNvGraphicFramePr/>
          <p:nvPr/>
        </p:nvGraphicFramePr>
        <p:xfrm>
          <a:off xmlns:a="http://schemas.openxmlformats.org/drawingml/2006/main" x="723900" y="3943350"/>
          <a:ext xmlns:a="http://schemas.openxmlformats.org/drawingml/2006/main" cx="4762500" cy="1676400"/>
        </p:xfrm>
        <a:graphic xmlns:a="http://schemas.openxmlformats.org/drawingml/2006/main">
          <a:graphicData uri="http://schemas.openxmlformats.org/drawingml/2006/table">
            <a:tbl>
              <a:tblPr/>
              <a:tblGrid>
                <a:gridCol w="1428750"/>
                <a:gridCol w="1714500"/>
                <a:gridCol w="1619250"/>
              </a:tblGrid>
              <a:tr h="419100">
                <a:tc>
                  <a:txBody>
                    <a:bodyPr/>
                    <a:lstStyle/>
                    <a:p>
                      <a:r>
                        <a:rPr sz="1100" b="1">
                          <a:solidFill>
                            <a:srgbClr val="173B4B"/>
                          </a:solidFill>
                          <a:latin typeface="Yu Gothic"/>
                          <a:ea typeface="Yu Gothic"/>
                          <a:cs typeface="Yu Gothic"/>
                        </a:rPr>
                        <a:t>ラウンド</a:t>
                      </a:r>
                    </a:p>
                  </a:txBody>
                  <a:tcPr marL="91440" marR="91440" marT="45720" marB="45720"/>
                </a:tc>
                <a:tc>
                  <a:txBody>
                    <a:bodyPr/>
                    <a:lstStyle/>
                    <a:p>
                      <a:r>
                        <a:rPr sz="1100" b="1">
                          <a:solidFill>
                            <a:srgbClr val="173B4B"/>
                          </a:solidFill>
                          <a:latin typeface="Yu Gothic"/>
                          <a:ea typeface="Yu Gothic"/>
                          <a:cs typeface="Yu Gothic"/>
                        </a:rPr>
                        <a:t>一致本数</a:t>
                      </a:r>
                    </a:p>
                  </a:txBody>
                  <a:tcPr marL="91440" marR="91440" marT="45720" marB="45720"/>
                </a:tc>
                <a:tc>
                  <a:txBody>
                    <a:bodyPr/>
                    <a:lstStyle/>
                    <a:p>
                      <a:r>
                        <a:rPr sz="1100" b="1">
                          <a:solidFill>
                            <a:srgbClr val="173B4B"/>
                          </a:solidFill>
                          <a:latin typeface="Yu Gothic"/>
                          <a:ea typeface="Yu Gothic"/>
                          <a:cs typeface="Yu Gothic"/>
                        </a:rPr>
                        <a:t>割合</a:t>
                      </a:r>
                    </a:p>
                  </a:txBody>
                  <a:tcPr marL="91440" marR="91440" marT="45720" marB="45720"/>
                </a:tc>
              </a:tr>
              <a:tr h="419100">
                <a:tc>
                  <a:txBody>
                    <a:bodyPr/>
                    <a:lstStyle/>
                    <a:p>
                      <a:r>
                        <a:rPr sz="1200" b="0">
                          <a:solidFill>
                            <a:srgbClr val="26373D"/>
                          </a:solidFill>
                          <a:latin typeface="Yu Gothic"/>
                          <a:ea typeface="Yu Gothic"/>
                          <a:cs typeface="Yu Gothic"/>
                        </a:rPr>
                        <a:t>1</a:t>
                      </a:r>
                    </a:p>
                  </a:txBody>
                  <a:tcPr marL="91440" marR="91440" marT="45720" marB="45720"/>
                </a:tc>
                <a:tc>
                  <a:txBody>
                    <a:bodyPr/>
                    <a:lstStyle/>
                    <a:p>
                      <a:r>
                        <a:rPr sz="1200" b="0">
                          <a:solidFill>
                            <a:srgbClr val="26373D"/>
                          </a:solidFill>
                          <a:latin typeface="Yu Gothic"/>
                          <a:ea typeface="Yu Gothic"/>
                          <a:cs typeface="Yu Gothic"/>
                        </a:rPr>
                        <a:t>43／60</a:t>
                      </a:r>
                    </a:p>
                  </a:txBody>
                  <a:tcPr marL="91440" marR="91440" marT="45720" marB="45720"/>
                </a:tc>
                <a:tc>
                  <a:txBody>
                    <a:bodyPr/>
                    <a:lstStyle/>
                    <a:p>
                      <a:r>
                        <a:rPr sz="1200" b="0">
                          <a:solidFill>
                            <a:srgbClr val="26373D"/>
                          </a:solidFill>
                          <a:latin typeface="Yu Gothic"/>
                          <a:ea typeface="Yu Gothic"/>
                          <a:cs typeface="Yu Gothic"/>
                        </a:rPr>
                        <a:t>71.7%</a:t>
                      </a:r>
                    </a:p>
                  </a:txBody>
                  <a:tcPr marL="91440" marR="91440" marT="45720" marB="45720"/>
                </a:tc>
              </a:tr>
              <a:tr h="419100">
                <a:tc>
                  <a:txBody>
                    <a:bodyPr/>
                    <a:lstStyle/>
                    <a:p>
                      <a:r>
                        <a:rPr sz="1200" b="0">
                          <a:solidFill>
                            <a:srgbClr val="26373D"/>
                          </a:solidFill>
                          <a:latin typeface="Yu Gothic"/>
                          <a:ea typeface="Yu Gothic"/>
                          <a:cs typeface="Yu Gothic"/>
                        </a:rPr>
                        <a:t>2</a:t>
                      </a:r>
                    </a:p>
                  </a:txBody>
                  <a:tcPr marL="91440" marR="91440" marT="45720" marB="45720"/>
                </a:tc>
                <a:tc>
                  <a:txBody>
                    <a:bodyPr/>
                    <a:lstStyle/>
                    <a:p>
                      <a:r>
                        <a:rPr sz="1200" b="0">
                          <a:solidFill>
                            <a:srgbClr val="26373D"/>
                          </a:solidFill>
                          <a:latin typeface="Yu Gothic"/>
                          <a:ea typeface="Yu Gothic"/>
                          <a:cs typeface="Yu Gothic"/>
                        </a:rPr>
                        <a:t>44／60</a:t>
                      </a:r>
                    </a:p>
                  </a:txBody>
                  <a:tcPr marL="91440" marR="91440" marT="45720" marB="45720"/>
                </a:tc>
                <a:tc>
                  <a:txBody>
                    <a:bodyPr/>
                    <a:lstStyle/>
                    <a:p>
                      <a:r>
                        <a:rPr sz="1200" b="0">
                          <a:solidFill>
                            <a:srgbClr val="26373D"/>
                          </a:solidFill>
                          <a:latin typeface="Yu Gothic"/>
                          <a:ea typeface="Yu Gothic"/>
                          <a:cs typeface="Yu Gothic"/>
                        </a:rPr>
                        <a:t>73.3%</a:t>
                      </a:r>
                    </a:p>
                  </a:txBody>
                  <a:tcPr marL="91440" marR="91440" marT="45720" marB="45720"/>
                </a:tc>
              </a:tr>
              <a:tr h="419100">
                <a:tc>
                  <a:txBody>
                    <a:bodyPr/>
                    <a:lstStyle/>
                    <a:p>
                      <a:r>
                        <a:rPr sz="1200" b="0">
                          <a:solidFill>
                            <a:srgbClr val="26373D"/>
                          </a:solidFill>
                          <a:latin typeface="Yu Gothic"/>
                          <a:ea typeface="Yu Gothic"/>
                          <a:cs typeface="Yu Gothic"/>
                        </a:rPr>
                        <a:t>3</a:t>
                      </a:r>
                    </a:p>
                  </a:txBody>
                  <a:tcPr marL="91440" marR="91440" marT="45720" marB="45720"/>
                </a:tc>
                <a:tc>
                  <a:txBody>
                    <a:bodyPr/>
                    <a:lstStyle/>
                    <a:p>
                      <a:r>
                        <a:rPr sz="1200" b="0">
                          <a:solidFill>
                            <a:srgbClr val="26373D"/>
                          </a:solidFill>
                          <a:latin typeface="Yu Gothic"/>
                          <a:ea typeface="Yu Gothic"/>
                          <a:cs typeface="Yu Gothic"/>
                        </a:rPr>
                        <a:t>43／60</a:t>
                      </a:r>
                    </a:p>
                  </a:txBody>
                  <a:tcPr marL="91440" marR="91440" marT="45720" marB="45720"/>
                </a:tc>
                <a:tc>
                  <a:txBody>
                    <a:bodyPr/>
                    <a:lstStyle/>
                    <a:p>
                      <a:r>
                        <a:rPr sz="1200" b="0">
                          <a:solidFill>
                            <a:srgbClr val="26373D"/>
                          </a:solidFill>
                          <a:latin typeface="Yu Gothic"/>
                          <a:ea typeface="Yu Gothic"/>
                          <a:cs typeface="Yu Gothic"/>
                        </a:rPr>
                        <a:t>71.7%</a:t>
                      </a:r>
                    </a:p>
                  </a:txBody>
                  <a:tcPr marL="91440" marR="91440" marT="45720" marB="45720"/>
                </a:tc>
              </a:tr>
            </a:tbl>
          </a:graphicData>
        </a:graphic>
      </p:graphicFrame>
      <p:sp>
        <p:nvSpPr>
          <p:cNvPr id="12" name="">
            <a:extLst xmlns:a="http://schemas.openxmlformats.org/drawingml/2006/main">
              <a:ext uri="{FF2B5EF4-FFF2-40B4-BE49-F238E27FC236}">
                <a16:creationId xmlns:a16="http://schemas.microsoft.com/office/drawing/2014/main" id="{1663E3A8-87CE-474B-8781-B88321CAE209}"/>
              </a:ext>
            </a:extLst>
          </p:cNvPr>
          <p:cNvSpPr>
            <a:spLocks xmlns:a="http://schemas.openxmlformats.org/drawingml/2006/main" noGrp="1"/>
          </p:cNvSpPr>
          <p:nvPr/>
        </p:nvSpPr>
        <p:spPr>
          <a:xfrm xmlns:a="http://schemas.openxmlformats.org/drawingml/2006/main">
            <a:off x="6324600" y="34861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73B4B"/>
                </a:solidFill>
                <a:latin typeface="Yu Gothic"/>
                <a:ea typeface="Yu Gothic"/>
                <a:cs typeface="Yu Gothic"/>
              </a:defRPr>
            </a:pPr>
            <a:r>
              <a:rPr sz="1500" b="1">
                <a:solidFill>
                  <a:srgbClr val="173B4B"/>
                </a:solidFill>
                <a:latin typeface="Yu Gothic"/>
                <a:ea typeface="Yu Gothic"/>
                <a:cs typeface="Yu Gothic"/>
              </a:rPr>
              <a:t>通信・更新対象の監査</a:t>
            </a:r>
          </a:p>
        </p:txBody>
      </p:sp>
      <p:sp>
        <p:nvSpPr>
          <p:cNvPr id="13" name="">
            <a:extLst xmlns:a="http://schemas.openxmlformats.org/drawingml/2006/main">
              <a:ext uri="{FF2B5EF4-FFF2-40B4-BE49-F238E27FC236}">
                <a16:creationId xmlns:a16="http://schemas.microsoft.com/office/drawing/2014/main" id="{CB324125-8517-45ED-BFB0-4C0E85E1D584}"/>
              </a:ext>
            </a:extLst>
          </p:cNvPr>
          <p:cNvSpPr>
            <a:spLocks xmlns:a="http://schemas.openxmlformats.org/drawingml/2006/main" noGrp="1"/>
          </p:cNvSpPr>
          <p:nvPr/>
        </p:nvSpPr>
        <p:spPr>
          <a:xfrm xmlns:a="http://schemas.openxmlformats.org/drawingml/2006/main">
            <a:off x="6324600" y="3981450"/>
            <a:ext cx="4953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500" b="0">
                <a:solidFill>
                  <a:srgbClr val="26373D"/>
                </a:solidFill>
                <a:latin typeface="Yu Gothic"/>
                <a:ea typeface="Yu Gothic"/>
                <a:cs typeface="Yu Gothic"/>
              </a:defRPr>
            </a:pPr>
            <a:r>
              <a:rPr sz="1500" b="0">
                <a:solidFill>
                  <a:srgbClr val="26373D"/>
                </a:solidFill>
                <a:latin typeface="Yu Gothic"/>
                <a:ea typeface="Yu Gothic"/>
                <a:cs typeface="Yu Gothic"/>
              </a:rPr>
              <a:t>3／3ラウンド　生の動画・画像・現場内sample IDを中央側へ保存していない</a:t>
            </a:r>
          </a:p>
          <a:p xmlns:a="http://schemas.openxmlformats.org/drawingml/2006/main">
            <a:pPr algn="l">
              <a:lnSpc>
                <a:spcPct val="116000"/>
              </a:lnSpc>
              <a:buNone/>
              <a:defRPr sz="1500" b="0">
                <a:solidFill>
                  <a:srgbClr val="26373D"/>
                </a:solidFill>
                <a:latin typeface="Yu Gothic"/>
                <a:ea typeface="Yu Gothic"/>
                <a:cs typeface="Yu Gothic"/>
              </a:defRPr>
            </a:pPr>
            <a:r>
              <a:rPr sz="1500" b="0">
                <a:solidFill>
                  <a:srgbClr val="26373D"/>
                </a:solidFill>
                <a:latin typeface="Yu Gothic"/>
                <a:ea typeface="Yu Gothic"/>
                <a:cs typeface="Yu Gothic"/>
              </a:rPr>
              <a:t>6／6 payload　許可した項目だけを送信</a:t>
            </a:r>
          </a:p>
          <a:p xmlns:a="http://schemas.openxmlformats.org/drawingml/2006/main">
            <a:pPr algn="l">
              <a:lnSpc>
                <a:spcPct val="116000"/>
              </a:lnSpc>
              <a:buNone/>
              <a:defRPr sz="1500" b="0">
                <a:solidFill>
                  <a:srgbClr val="26373D"/>
                </a:solidFill>
                <a:latin typeface="Yu Gothic"/>
                <a:ea typeface="Yu Gothic"/>
                <a:cs typeface="Yu Gothic"/>
              </a:defRPr>
            </a:pPr>
            <a:r>
              <a:rPr sz="1500" b="0">
                <a:solidFill>
                  <a:srgbClr val="26373D"/>
                </a:solidFill>
                <a:latin typeface="Yu Gothic"/>
                <a:ea typeface="Yu Gothic"/>
                <a:cs typeface="Yu Gothic"/>
              </a:rPr>
              <a:t>3／3ラウンド　中央側AIの分類層と更新対象外部分は不変</a:t>
            </a:r>
          </a:p>
        </p:txBody>
      </p:sp>
      <p:sp>
        <p:nvSpPr>
          <p:cNvPr id="14" name="">
            <a:extLst xmlns:a="http://schemas.openxmlformats.org/drawingml/2006/main">
              <a:ext uri="{FF2B5EF4-FFF2-40B4-BE49-F238E27FC236}">
                <a16:creationId xmlns:a16="http://schemas.microsoft.com/office/drawing/2014/main" id="{A002535B-4EC7-4D4C-B8E2-C1949D4BAF81}"/>
              </a:ext>
            </a:extLst>
          </p:cNvPr>
          <p:cNvSpPr>
            <a:spLocks xmlns:a="http://schemas.openxmlformats.org/drawingml/2006/main" noGrp="1"/>
          </p:cNvSpPr>
          <p:nvPr/>
        </p:nvSpPr>
        <p:spPr>
          <a:xfrm xmlns:a="http://schemas.openxmlformats.org/drawingml/2006/main">
            <a:off x="6267450" y="5619750"/>
            <a:ext cx="5086350" cy="51435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5F37C65-48A3-44D7-8E0F-F3A303EA24DF}"/>
              </a:ext>
            </a:extLst>
          </p:cNvPr>
          <p:cNvSpPr>
            <a:spLocks xmlns:a="http://schemas.openxmlformats.org/drawingml/2006/main" noGrp="1"/>
          </p:cNvSpPr>
          <p:nvPr/>
        </p:nvSpPr>
        <p:spPr>
          <a:xfrm xmlns:a="http://schemas.openxmlformats.org/drawingml/2006/main">
            <a:off x="6438900" y="574357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875"/>
          </a:bodyPr>
          <a:lstStyle xmlns:a="http://schemas.openxmlformats.org/drawingml/2006/main"/>
          <a:p xmlns:a="http://schemas.openxmlformats.org/drawingml/2006/main">
            <a:pPr algn="ctr">
              <a:defRPr sz="1350" b="1">
                <a:solidFill>
                  <a:srgbClr val="B94A3A"/>
                </a:solidFill>
                <a:latin typeface="Yu Gothic"/>
                <a:ea typeface="Yu Gothic"/>
                <a:cs typeface="Yu Gothic"/>
              </a:defRPr>
            </a:pPr>
            <a:r>
              <a:rPr sz="1350" b="1">
                <a:solidFill>
                  <a:srgbClr val="B94A3A"/>
                </a:solidFill>
                <a:latin typeface="Yu Gothic"/>
                <a:ea typeface="Yu Gothic"/>
                <a:cs typeface="Yu Gothic"/>
              </a:rPr>
              <a:t>通信監査は実装確認であり、形式的なプライバシー保証ではない</a:t>
            </a:r>
          </a:p>
        </p:txBody>
      </p:sp>
    </p:spTree>
    <p:extLst>
      <p:ext uri="{BB962C8B-B14F-4D97-AF65-F5344CB8AC3E}">
        <p14:creationId xmlns:p14="http://schemas.microsoft.com/office/powerpoint/2010/main" val="6969393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2026-09-18T00:21:48.9740000Z</dcterms:created>
  <dcterms:modified xsi:type="dcterms:W3CDTF">2026-09-18T00:21:48.9740000Z</dcterms:modified>
</coreProperties>
</file>