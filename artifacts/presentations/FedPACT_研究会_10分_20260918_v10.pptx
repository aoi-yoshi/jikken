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f73825531448a2" /><Relationship Type="http://schemas.openxmlformats.org/officeDocument/2006/relationships/extended-properties" Target="/docProps/app.xml" Id="Rdb9e10b10e874843" /><Relationship Type="http://schemas.openxmlformats.org/officeDocument/2006/relationships/officeDocument" Target="/ppt/presentation.xml" Id="R3bdc098b45ee4a4e" /></Relationships>
</file>

<file path=ppt/presentation.xml><?xml version="1.0" encoding="utf-8"?>
<p:presentation xmlns:p="http://schemas.openxmlformats.org/presentationml/2006/main">
  <p:sldMasterIdLst>
    <p:sldMasterId xmlns:r="http://schemas.openxmlformats.org/officeDocument/2006/relationships" id="2147483648" r:id="R355b34683ae84999"/>
  </p:sldMasterIdLst>
  <p:notesMasterIdLst>
    <p:notesMasterId xmlns:r="http://schemas.openxmlformats.org/officeDocument/2006/relationships" r:id="R6117c278eed6406f"/>
  </p:notesMasterIdLst>
  <p:sldIdLst>
    <p:sldId xmlns:r="http://schemas.openxmlformats.org/officeDocument/2006/relationships" id="256" r:id="R89ec0f0466df45ba"/>
    <p:sldId xmlns:r="http://schemas.openxmlformats.org/officeDocument/2006/relationships" id="257" r:id="R80154e0806a0416a"/>
    <p:sldId xmlns:r="http://schemas.openxmlformats.org/officeDocument/2006/relationships" id="258" r:id="R5234e7cd3f7142a4"/>
    <p:sldId xmlns:r="http://schemas.openxmlformats.org/officeDocument/2006/relationships" id="259" r:id="R1e46ac845c2d4c2a"/>
    <p:sldId xmlns:r="http://schemas.openxmlformats.org/officeDocument/2006/relationships" id="260" r:id="R035bca62b38541c5"/>
    <p:sldId xmlns:r="http://schemas.openxmlformats.org/officeDocument/2006/relationships" id="261" r:id="Ra6e1584b19b1408b"/>
    <p:sldId xmlns:r="http://schemas.openxmlformats.org/officeDocument/2006/relationships" id="262" r:id="Rb0d07f8cf83346fb"/>
    <p:sldId xmlns:r="http://schemas.openxmlformats.org/officeDocument/2006/relationships" id="263" r:id="R5541f85b2b86451e"/>
    <p:sldId xmlns:r="http://schemas.openxmlformats.org/officeDocument/2006/relationships" id="264" r:id="R9b68db13748a4f48"/>
    <p:sldId xmlns:r="http://schemas.openxmlformats.org/officeDocument/2006/relationships" id="265" r:id="Rb70c0880b1e448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714bdbd37d45ae" /><Relationship Type="http://schemas.openxmlformats.org/officeDocument/2006/relationships/slideMaster" Target="/ppt/slideMasters/slideMaster1.xml" Id="R355b34683ae84999" /><Relationship Type="http://schemas.openxmlformats.org/officeDocument/2006/relationships/notesMaster" Target="/ppt/notesMasters/notesMaster1.xml" Id="R6117c278eed6406f" /><Relationship Type="http://schemas.openxmlformats.org/officeDocument/2006/relationships/presProps" Target="/ppt/presProps.xml" Id="Re95c0da5047047e0" /><Relationship Type="http://schemas.openxmlformats.org/officeDocument/2006/relationships/tableStyles" Target="/ppt/tableStyles.xml" Id="Ra09add3e658c448e" /><Relationship Type="http://schemas.openxmlformats.org/officeDocument/2006/relationships/slide" Target="/ppt/slides/slide1.xml" Id="R89ec0f0466df45ba" /><Relationship Type="http://schemas.openxmlformats.org/officeDocument/2006/relationships/slide" Target="/ppt/slides/slide2.xml" Id="R80154e0806a0416a" /><Relationship Type="http://schemas.openxmlformats.org/officeDocument/2006/relationships/slide" Target="/ppt/slides/slide3.xml" Id="R5234e7cd3f7142a4" /><Relationship Type="http://schemas.openxmlformats.org/officeDocument/2006/relationships/slide" Target="/ppt/slides/slide4.xml" Id="R1e46ac845c2d4c2a" /><Relationship Type="http://schemas.openxmlformats.org/officeDocument/2006/relationships/slide" Target="/ppt/slides/slide5.xml" Id="R035bca62b38541c5" /><Relationship Type="http://schemas.openxmlformats.org/officeDocument/2006/relationships/slide" Target="/ppt/slides/slide6.xml" Id="Ra6e1584b19b1408b" /><Relationship Type="http://schemas.openxmlformats.org/officeDocument/2006/relationships/slide" Target="/ppt/slides/slide7.xml" Id="Rb0d07f8cf83346fb" /><Relationship Type="http://schemas.openxmlformats.org/officeDocument/2006/relationships/slide" Target="/ppt/slides/slide8.xml" Id="R5541f85b2b86451e" /><Relationship Type="http://schemas.openxmlformats.org/officeDocument/2006/relationships/slide" Target="/ppt/slides/slide9.xml" Id="R9b68db13748a4f48" /><Relationship Type="http://schemas.openxmlformats.org/officeDocument/2006/relationships/slide" Target="/ppt/slides/slide10.xml" Id="Rb70c0880b1e448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0a3ff9baf42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34f09c23a54b3a" /><Relationship Type="http://schemas.openxmlformats.org/officeDocument/2006/relationships/notesMaster" Target="/ppt/notesMasters/notesMaster1.xml" Id="R22ce7f09c0554c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7e482124484a2b" /><Relationship Type="http://schemas.openxmlformats.org/officeDocument/2006/relationships/notesMaster" Target="/ppt/notesMasters/notesMaster1.xml" Id="Rfee5b1ed27244a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37f23f92aa404d" /><Relationship Type="http://schemas.openxmlformats.org/officeDocument/2006/relationships/notesMaster" Target="/ppt/notesMasters/notesMaster1.xml" Id="R6747824f8ef14c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749ac48b8f4d9a" /><Relationship Type="http://schemas.openxmlformats.org/officeDocument/2006/relationships/notesMaster" Target="/ppt/notesMasters/notesMaster1.xml" Id="R8946e6ac473b40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f3bcf9e4f14cfa" /><Relationship Type="http://schemas.openxmlformats.org/officeDocument/2006/relationships/notesMaster" Target="/ppt/notesMasters/notesMaster1.xml" Id="Rba1d572a7e9249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266fb558ae4e02" /><Relationship Type="http://schemas.openxmlformats.org/officeDocument/2006/relationships/notesMaster" Target="/ppt/notesMasters/notesMaster1.xml" Id="R7b285442b37f4f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b7dcfbff464425" /><Relationship Type="http://schemas.openxmlformats.org/officeDocument/2006/relationships/notesMaster" Target="/ppt/notesMasters/notesMaster1.xml" Id="Ra27f70e96b8445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15537831604540" /><Relationship Type="http://schemas.openxmlformats.org/officeDocument/2006/relationships/notesMaster" Target="/ppt/notesMasters/notesMaster1.xml" Id="R8abd9952c1d346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087a1e61994356" /><Relationship Type="http://schemas.openxmlformats.org/officeDocument/2006/relationships/notesMaster" Target="/ppt/notesMasters/notesMaster1.xml" Id="Rbcbfb57871314a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fc67a923034d37" /><Relationship Type="http://schemas.openxmlformats.org/officeDocument/2006/relationships/notesMaster" Target="/ppt/notesMasters/notesMaster1.xml" Id="R02ae24f972ea45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0:00–0:50】</a:t>
            </a:r>
          </a:p>
          <a:p xmlns:a="http://schemas.openxmlformats.org/drawingml/2006/main">
            <a:r>
              <a:t>まず、この研究が想定している利用場面から説明します。前提として、すべてのclientとcloudは同じtaskと共通のoutput meaningを持ちます。同じ危険検知taskを行う自動運転車やrobotでも、昼の市街地と夜間の道路では、各clientがprivate dataから獲得する局所適応挙動が異なります。目指す価値は、各現場の経験をcloud側へ還元し、共通taskのprediction quality改善に生かすことです。しかし、FedAvgが統合できるのは同じ構造のsurrogate間です。構造や規模が異なるcloud側foundationへparameterをそのまま渡すことはできません。また、共通・公開data上で出力を交換する蒸留が多い一方、今回はclientとcloudで整合用dataを共有しません。そこでFedPACTは、private映像そのものではなく、局所適応後の予測と変化方向を要約し、server seed上のproxyとして顕在化して、異種foundationへ反映できるかを検証します。対象は場面の意味内容全体ではなく、共通task上の予測挙動です。server seedだけでclient側の適応を十分coverできる場合は追加効果が小さくなるため、必要性と性能への効果は第II段階で比較します。今回の第I段階は、その価値の実証ではなく、まず情報の流れを接続して追跡できるかの確認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notes/advisor/sources/raw/2026-09-16/slack_zettsu_reply_to_chen_ja_date_unknown_received_2026-09-16.md（11:00、target scenario、既存手法との違い、server seedとproxyの位置付け）</a:t>
            </a:r>
          </a:p>
          <a:p xmlns:a="http://schemas.openxmlformats.org/drawingml/2006/main">
            <a:r>
              <a:t>notes/advisor/sources/raw/2026-09-01/FedPACT手法提案260901.pdf（研究目的とproxy-mediated transfer）</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572bf039e04b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9cd5ee22ca49b1" /><Relationship Type="http://schemas.openxmlformats.org/officeDocument/2006/relationships/slideLayout" Target="/ppt/slideLayouts/slideLayout1.xml" Id="Rbffc02ef555144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fc02ef555144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9a09c4092148b6" /><Relationship Type="http://schemas.openxmlformats.org/officeDocument/2006/relationships/image" Target="/ppt/media/image.jpeg" Id="R801cfee86337460c" /><Relationship Type="http://schemas.openxmlformats.org/officeDocument/2006/relationships/image" Target="/ppt/media/image2.jpeg" Id="R32c15e9092624a01" /><Relationship Type="http://schemas.openxmlformats.org/officeDocument/2006/relationships/notesSlide" Target="/ppt/notesSlides/notesSlide1.xml" Id="R889d1c33e55845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a57d75cc914c60" /><Relationship Type="http://schemas.openxmlformats.org/officeDocument/2006/relationships/image" Target="/ppt/media/image3.jpeg" Id="R8bc64a13c4e44f6c" /><Relationship Type="http://schemas.openxmlformats.org/officeDocument/2006/relationships/image" Target="/ppt/media/image4.jpeg" Id="R1554713391a1407e" /><Relationship Type="http://schemas.openxmlformats.org/officeDocument/2006/relationships/notesSlide" Target="/ppt/notesSlides/notesSlide2.xml" Id="R890de8b6c6ee43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4ca253996148a1" /><Relationship Type="http://schemas.openxmlformats.org/officeDocument/2006/relationships/notesSlide" Target="/ppt/notesSlides/notesSlide3.xml" Id="R3ea2b5f8f29942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262545c7b0432f" /><Relationship Type="http://schemas.openxmlformats.org/officeDocument/2006/relationships/notesSlide" Target="/ppt/notesSlides/notesSlide4.xml" Id="R527bb82bfc8141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59f1cd26ba4de7" /><Relationship Type="http://schemas.openxmlformats.org/officeDocument/2006/relationships/image" Target="/ppt/media/image5.jpeg" Id="R0b057571b5d14fdc" /><Relationship Type="http://schemas.openxmlformats.org/officeDocument/2006/relationships/image" Target="/ppt/media/image6.jpeg" Id="Rd2f379011a524622" /><Relationship Type="http://schemas.openxmlformats.org/officeDocument/2006/relationships/image" Target="/ppt/media/image7.jpeg" Id="R77f39e6bd1c945d9" /><Relationship Type="http://schemas.openxmlformats.org/officeDocument/2006/relationships/image" Target="/ppt/media/image8.jpeg" Id="R55ce72ba57764818" /><Relationship Type="http://schemas.openxmlformats.org/officeDocument/2006/relationships/notesSlide" Target="/ppt/notesSlides/notesSlide5.xml" Id="R9625218af3ee4f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2b41c4ecf7487f" /><Relationship Type="http://schemas.openxmlformats.org/officeDocument/2006/relationships/image" Target="/ppt/media/image9.jpeg" Id="Ra28d13fbdd554897" /><Relationship Type="http://schemas.openxmlformats.org/officeDocument/2006/relationships/image" Target="/ppt/media/image10.jpeg" Id="Rd3a3eaf5ecdb4dfa" /><Relationship Type="http://schemas.openxmlformats.org/officeDocument/2006/relationships/image" Target="/ppt/media/image11.jpeg" Id="R6c4a14a3ec2f420b" /><Relationship Type="http://schemas.openxmlformats.org/officeDocument/2006/relationships/image" Target="/ppt/media/image12.jpeg" Id="Rc329528fbc1345c3" /><Relationship Type="http://schemas.openxmlformats.org/officeDocument/2006/relationships/notesSlide" Target="/ppt/notesSlides/notesSlide6.xml" Id="R1eee4ee03bc04d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c5510af3234646" /><Relationship Type="http://schemas.openxmlformats.org/officeDocument/2006/relationships/image" Target="/ppt/media/image13.jpeg" Id="R8143997c64c848fa" /><Relationship Type="http://schemas.openxmlformats.org/officeDocument/2006/relationships/image" Target="/ppt/media/image14.jpeg" Id="Rfe185e4a2fc049b9" /><Relationship Type="http://schemas.openxmlformats.org/officeDocument/2006/relationships/image" Target="/ppt/media/image15.jpeg" Id="R5fdad380fae34a8a" /><Relationship Type="http://schemas.openxmlformats.org/officeDocument/2006/relationships/image" Target="/ppt/media/image16.jpeg" Id="R00836140b76f4798" /><Relationship Type="http://schemas.openxmlformats.org/officeDocument/2006/relationships/notesSlide" Target="/ppt/notesSlides/notesSlide7.xml" Id="R72afc677aa7e4e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e79e513e734ed4" /><Relationship Type="http://schemas.openxmlformats.org/officeDocument/2006/relationships/notesSlide" Target="/ppt/notesSlides/notesSlide8.xml" Id="R4281c140cf2b4a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a2a2c81cd24d00" /><Relationship Type="http://schemas.openxmlformats.org/officeDocument/2006/relationships/notesSlide" Target="/ppt/notesSlides/notesSlide9.xml" Id="Rb9593a2abe2b47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970ff666c94d03" /><Relationship Type="http://schemas.openxmlformats.org/officeDocument/2006/relationships/notesSlide" Target="/ppt/notesSlides/notesSlide10.xml" Id="R0108aa4d6bb54b3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4224819-1A23-4D46-83D6-EE38A65C73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C45616-325D-4919-B049-8CF06434526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B84D0C-1E33-4606-BFE9-13FA5E6D690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異なる現場で得た適応を、cloud側のfoundationへ還元する</a:t>
            </a:r>
          </a:p>
        </p:txBody>
      </p:sp>
      <p:sp>
        <p:nvSpPr>
          <p:cNvPr id="4" name="">
            <a:extLst xmlns:a="http://schemas.openxmlformats.org/drawingml/2006/main">
              <a:ext uri="{FF2B5EF4-FFF2-40B4-BE49-F238E27FC236}">
                <a16:creationId xmlns:a16="http://schemas.microsoft.com/office/drawing/2014/main" id="{0145DB92-3B3E-40E2-9B16-55309D84C1F7}"/>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B4329149-829D-40FB-BCD3-1FE8A72ABE98}"/>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6F48FA7-BC33-4D3A-B6ED-736AE4D9B010}"/>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A392352-155A-4166-AD6B-8E0B64A0E83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10</a:t>
            </a:r>
          </a:p>
        </p:txBody>
      </p:sp>
      <p:sp>
        <p:nvSpPr>
          <p:cNvPr id="8" name="">
            <a:extLst xmlns:a="http://schemas.openxmlformats.org/drawingml/2006/main">
              <a:ext uri="{FF2B5EF4-FFF2-40B4-BE49-F238E27FC236}">
                <a16:creationId xmlns:a16="http://schemas.microsoft.com/office/drawing/2014/main" id="{6DC3F2E6-0F98-44CD-A0DB-ED39B9301D9D}"/>
              </a:ext>
            </a:extLst>
          </p:cNvPr>
          <p:cNvSpPr>
            <a:spLocks xmlns:a="http://schemas.openxmlformats.org/drawingml/2006/main" noGrp="1"/>
          </p:cNvSpPr>
          <p:nvPr/>
        </p:nvSpPr>
        <p:spPr>
          <a:xfrm xmlns:a="http://schemas.openxmlformats.org/drawingml/2006/main">
            <a:off x="666750" y="98107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同じ危険検知task・共通のnormal／riskでも、場所や時間が変われば、各clientが経験する状況は異なる</a:t>
            </a:r>
          </a:p>
        </p:txBody>
      </p:sp>
      <p:sp>
        <p:nvSpPr>
          <p:cNvPr id="9" name="">
            <a:extLst xmlns:a="http://schemas.openxmlformats.org/drawingml/2006/main">
              <a:ext uri="{FF2B5EF4-FFF2-40B4-BE49-F238E27FC236}">
                <a16:creationId xmlns:a16="http://schemas.microsoft.com/office/drawing/2014/main" id="{738C597B-315E-499B-982E-8283164E5488}"/>
              </a:ext>
            </a:extLst>
          </p:cNvPr>
          <p:cNvSpPr>
            <a:spLocks xmlns:a="http://schemas.openxmlformats.org/drawingml/2006/main" noGrp="1"/>
          </p:cNvSpPr>
          <p:nvPr/>
        </p:nvSpPr>
        <p:spPr>
          <a:xfrm xmlns:a="http://schemas.openxmlformats.org/drawingml/2006/main">
            <a:off x="552450" y="143827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1　想定する利用場面と価値</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01cfee86337460c"/>
          <a:srcRect xmlns:a="http://schemas.openxmlformats.org/drawingml/2006/main" l="5804" t="0" r="5804" b="0"/>
          <a:stretch xmlns:a="http://schemas.openxmlformats.org/drawingml/2006/main">
            <a:fillRect l="0" t="0" r="0" b="0"/>
          </a:stretch>
        </p:blipFill>
        <p:spPr>
          <a:xfrm xmlns:a="http://schemas.openxmlformats.org/drawingml/2006/main">
            <a:off x="552450" y="1838325"/>
            <a:ext cx="1676400" cy="10668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2c15e9092624a01"/>
          <a:srcRect xmlns:a="http://schemas.openxmlformats.org/drawingml/2006/main" l="5804" t="0" r="5804" b="0"/>
          <a:stretch xmlns:a="http://schemas.openxmlformats.org/drawingml/2006/main">
            <a:fillRect l="0" t="0" r="0" b="0"/>
          </a:stretch>
        </p:blipFill>
        <p:spPr>
          <a:xfrm xmlns:a="http://schemas.openxmlformats.org/drawingml/2006/main">
            <a:off x="2343150" y="1838325"/>
            <a:ext cx="1676400" cy="1066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5C38A13-DD45-431A-B39C-5982BF37A93A}"/>
              </a:ext>
            </a:extLst>
          </p:cNvPr>
          <p:cNvSpPr>
            <a:spLocks xmlns:a="http://schemas.openxmlformats.org/drawingml/2006/main" noGrp="1"/>
          </p:cNvSpPr>
          <p:nvPr/>
        </p:nvSpPr>
        <p:spPr>
          <a:xfrm xmlns:a="http://schemas.openxmlformats.org/drawingml/2006/main">
            <a:off x="5619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A</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昼間・市街地</a:t>
            </a:r>
          </a:p>
        </p:txBody>
      </p:sp>
      <p:sp>
        <p:nvSpPr>
          <p:cNvPr id="13" name="">
            <a:extLst xmlns:a="http://schemas.openxmlformats.org/drawingml/2006/main">
              <a:ext uri="{FF2B5EF4-FFF2-40B4-BE49-F238E27FC236}">
                <a16:creationId xmlns:a16="http://schemas.microsoft.com/office/drawing/2014/main" id="{2A446256-25EA-497A-99F6-9FA9F913FEB5}"/>
              </a:ext>
            </a:extLst>
          </p:cNvPr>
          <p:cNvSpPr>
            <a:spLocks xmlns:a="http://schemas.openxmlformats.org/drawingml/2006/main" noGrp="1"/>
          </p:cNvSpPr>
          <p:nvPr/>
        </p:nvSpPr>
        <p:spPr>
          <a:xfrm xmlns:a="http://schemas.openxmlformats.org/drawingml/2006/main">
            <a:off x="23526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B</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夜間・交差点</a:t>
            </a:r>
          </a:p>
        </p:txBody>
      </p:sp>
      <p:sp>
        <p:nvSpPr>
          <p:cNvPr id="14" name="">
            <a:extLst xmlns:a="http://schemas.openxmlformats.org/drawingml/2006/main">
              <a:ext uri="{FF2B5EF4-FFF2-40B4-BE49-F238E27FC236}">
                <a16:creationId xmlns:a16="http://schemas.microsoft.com/office/drawing/2014/main" id="{FBCA5DD8-42B8-4961-AE38-2BEADFE9D215}"/>
              </a:ext>
            </a:extLst>
          </p:cNvPr>
          <p:cNvSpPr>
            <a:spLocks xmlns:a="http://schemas.openxmlformats.org/drawingml/2006/main" noGrp="1"/>
          </p:cNvSpPr>
          <p:nvPr/>
        </p:nvSpPr>
        <p:spPr>
          <a:xfrm xmlns:a="http://schemas.openxmlformats.org/drawingml/2006/main">
            <a:off x="628650" y="357187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各clientは、自分のprivate dataから</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異なる局所適応挙動を獲得する</a:t>
            </a:r>
          </a:p>
        </p:txBody>
      </p:sp>
      <p:sp>
        <p:nvSpPr>
          <p:cNvPr id="15" name="">
            <a:extLst xmlns:a="http://schemas.openxmlformats.org/drawingml/2006/main">
              <a:ext uri="{FF2B5EF4-FFF2-40B4-BE49-F238E27FC236}">
                <a16:creationId xmlns:a16="http://schemas.microsoft.com/office/drawing/2014/main" id="{327E3B28-AF49-4DED-BDB6-074B9B4B52EE}"/>
              </a:ext>
            </a:extLst>
          </p:cNvPr>
          <p:cNvSpPr>
            <a:spLocks xmlns:a="http://schemas.openxmlformats.org/drawingml/2006/main" noGrp="1"/>
          </p:cNvSpPr>
          <p:nvPr/>
        </p:nvSpPr>
        <p:spPr>
          <a:xfrm xmlns:a="http://schemas.openxmlformats.org/drawingml/2006/main">
            <a:off x="552450" y="4343400"/>
            <a:ext cx="3467100" cy="876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E1D5E0-3BF6-47A8-ADAF-D518ABC66833}"/>
              </a:ext>
            </a:extLst>
          </p:cNvPr>
          <p:cNvSpPr>
            <a:spLocks xmlns:a="http://schemas.openxmlformats.org/drawingml/2006/main" noGrp="1"/>
          </p:cNvSpPr>
          <p:nvPr/>
        </p:nvSpPr>
        <p:spPr>
          <a:xfrm xmlns:a="http://schemas.openxmlformats.org/drawingml/2006/main">
            <a:off x="742950" y="4467225"/>
            <a:ext cx="3086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目指す価値</a:t>
            </a:r>
          </a:p>
        </p:txBody>
      </p:sp>
      <p:sp>
        <p:nvSpPr>
          <p:cNvPr id="17" name="">
            <a:extLst xmlns:a="http://schemas.openxmlformats.org/drawingml/2006/main">
              <a:ext uri="{FF2B5EF4-FFF2-40B4-BE49-F238E27FC236}">
                <a16:creationId xmlns:a16="http://schemas.microsoft.com/office/drawing/2014/main" id="{5F2311B7-B009-4AD3-8B80-891374189996}"/>
              </a:ext>
            </a:extLst>
          </p:cNvPr>
          <p:cNvSpPr>
            <a:spLocks xmlns:a="http://schemas.openxmlformats.org/drawingml/2006/main" noGrp="1"/>
          </p:cNvSpPr>
          <p:nvPr/>
        </p:nvSpPr>
        <p:spPr>
          <a:xfrm xmlns:a="http://schemas.openxmlformats.org/drawingml/2006/main">
            <a:off x="723900" y="4752975"/>
            <a:ext cx="312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各現場の経験を、共通taskの</a:t>
            </a:r>
          </a:p>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prediction quality改善に生かす</a:t>
            </a:r>
          </a:p>
        </p:txBody>
      </p:sp>
      <p:sp>
        <p:nvSpPr>
          <p:cNvPr id="18" name="">
            <a:extLst xmlns:a="http://schemas.openxmlformats.org/drawingml/2006/main">
              <a:ext uri="{FF2B5EF4-FFF2-40B4-BE49-F238E27FC236}">
                <a16:creationId xmlns:a16="http://schemas.microsoft.com/office/drawing/2014/main" id="{6B3EF9D2-BAA3-4EC4-946F-867634012CF6}"/>
              </a:ext>
            </a:extLst>
          </p:cNvPr>
          <p:cNvSpPr>
            <a:spLocks xmlns:a="http://schemas.openxmlformats.org/drawingml/2006/main" noGrp="1"/>
          </p:cNvSpPr>
          <p:nvPr/>
        </p:nvSpPr>
        <p:spPr>
          <a:xfrm xmlns:a="http://schemas.openxmlformats.org/drawingml/2006/main">
            <a:off x="42672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5256A19-3AB6-4B90-BD67-0C1A8B3D9691}"/>
              </a:ext>
            </a:extLst>
          </p:cNvPr>
          <p:cNvSpPr>
            <a:spLocks xmlns:a="http://schemas.openxmlformats.org/drawingml/2006/main" noGrp="1"/>
          </p:cNvSpPr>
          <p:nvPr/>
        </p:nvSpPr>
        <p:spPr>
          <a:xfrm xmlns:a="http://schemas.openxmlformats.org/drawingml/2006/main">
            <a:off x="4514850" y="1438275"/>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2　従来手法で残る接続問題</a:t>
            </a:r>
          </a:p>
        </p:txBody>
      </p:sp>
      <p:sp>
        <p:nvSpPr>
          <p:cNvPr id="20" name="">
            <a:extLst xmlns:a="http://schemas.openxmlformats.org/drawingml/2006/main">
              <a:ext uri="{FF2B5EF4-FFF2-40B4-BE49-F238E27FC236}">
                <a16:creationId xmlns:a16="http://schemas.microsoft.com/office/drawing/2014/main" id="{377FA16A-0D1C-4CB6-86AF-DA259F509E7A}"/>
              </a:ext>
            </a:extLst>
          </p:cNvPr>
          <p:cNvSpPr>
            <a:spLocks xmlns:a="http://schemas.openxmlformats.org/drawingml/2006/main" noGrp="1"/>
          </p:cNvSpPr>
          <p:nvPr/>
        </p:nvSpPr>
        <p:spPr>
          <a:xfrm xmlns:a="http://schemas.openxmlformats.org/drawingml/2006/main">
            <a:off x="4648200" y="2028825"/>
            <a:ext cx="1285875" cy="4381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client surrogate</a:t>
            </a:r>
          </a:p>
        </p:txBody>
      </p:sp>
      <p:sp>
        <p:nvSpPr>
          <p:cNvPr id="21" name="">
            <a:extLst xmlns:a="http://schemas.openxmlformats.org/drawingml/2006/main">
              <a:ext uri="{FF2B5EF4-FFF2-40B4-BE49-F238E27FC236}">
                <a16:creationId xmlns:a16="http://schemas.microsoft.com/office/drawing/2014/main" id="{B1655C9A-142F-403A-8068-8B61D0FEEC82}"/>
              </a:ext>
            </a:extLst>
          </p:cNvPr>
          <p:cNvSpPr>
            <a:spLocks xmlns:a="http://schemas.openxmlformats.org/drawingml/2006/main" noGrp="1"/>
          </p:cNvSpPr>
          <p:nvPr/>
        </p:nvSpPr>
        <p:spPr>
          <a:xfrm xmlns:a="http://schemas.openxmlformats.org/drawingml/2006/main">
            <a:off x="6096000" y="1943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FedAvg</a:t>
            </a:r>
          </a:p>
        </p:txBody>
      </p:sp>
      <p:sp>
        <p:nvSpPr>
          <p:cNvPr id="22" name="">
            <a:extLst xmlns:a="http://schemas.openxmlformats.org/drawingml/2006/main">
              <a:ext uri="{FF2B5EF4-FFF2-40B4-BE49-F238E27FC236}">
                <a16:creationId xmlns:a16="http://schemas.microsoft.com/office/drawing/2014/main" id="{8500D8F2-8CC2-4087-B917-0D85AC1F105E}"/>
              </a:ext>
            </a:extLst>
          </p:cNvPr>
          <p:cNvSpPr>
            <a:spLocks xmlns:a="http://schemas.openxmlformats.org/drawingml/2006/main" noGrp="1"/>
          </p:cNvSpPr>
          <p:nvPr/>
        </p:nvSpPr>
        <p:spPr>
          <a:xfrm xmlns:a="http://schemas.openxmlformats.org/drawingml/2006/main">
            <a:off x="5905500" y="2238375"/>
            <a:ext cx="876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060EFB2-1778-462E-A0D9-20258028A605}"/>
              </a:ext>
            </a:extLst>
          </p:cNvPr>
          <p:cNvSpPr>
            <a:spLocks xmlns:a="http://schemas.openxmlformats.org/drawingml/2006/main" noGrp="1"/>
          </p:cNvSpPr>
          <p:nvPr/>
        </p:nvSpPr>
        <p:spPr>
          <a:xfrm xmlns:a="http://schemas.openxmlformats.org/drawingml/2006/main">
            <a:off x="6886575" y="1971675"/>
            <a:ext cx="838200" cy="5524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global</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surrogate</a:t>
            </a:r>
          </a:p>
        </p:txBody>
      </p:sp>
      <p:sp>
        <p:nvSpPr>
          <p:cNvPr id="24" name="">
            <a:extLst xmlns:a="http://schemas.openxmlformats.org/drawingml/2006/main">
              <a:ext uri="{FF2B5EF4-FFF2-40B4-BE49-F238E27FC236}">
                <a16:creationId xmlns:a16="http://schemas.microsoft.com/office/drawing/2014/main" id="{79E3EA3C-4446-4FEC-88D2-ABA27D9C2ACA}"/>
              </a:ext>
            </a:extLst>
          </p:cNvPr>
          <p:cNvSpPr>
            <a:spLocks xmlns:a="http://schemas.openxmlformats.org/drawingml/2006/main" noGrp="1"/>
          </p:cNvSpPr>
          <p:nvPr/>
        </p:nvSpPr>
        <p:spPr>
          <a:xfrm xmlns:a="http://schemas.openxmlformats.org/drawingml/2006/main">
            <a:off x="5857875" y="27813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B94A3A"/>
                </a:solidFill>
                <a:latin typeface="Yu Gothic"/>
                <a:ea typeface="Yu Gothic"/>
                <a:cs typeface="Yu Gothic"/>
              </a:defRPr>
            </a:pPr>
            <a:r>
              <a:rPr sz="2850" b="1">
                <a:solidFill>
                  <a:srgbClr val="B94A3A"/>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6155C25A-DCDA-4C63-B1F2-C9658C541706}"/>
              </a:ext>
            </a:extLst>
          </p:cNvPr>
          <p:cNvSpPr>
            <a:spLocks xmlns:a="http://schemas.openxmlformats.org/drawingml/2006/main" noGrp="1"/>
          </p:cNvSpPr>
          <p:nvPr/>
        </p:nvSpPr>
        <p:spPr>
          <a:xfrm xmlns:a="http://schemas.openxmlformats.org/drawingml/2006/main">
            <a:off x="4657725" y="3371850"/>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異種のcloud foundationへ</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parameterをそのまま渡せない</a:t>
            </a:r>
          </a:p>
        </p:txBody>
      </p:sp>
      <p:sp>
        <p:nvSpPr>
          <p:cNvPr id="26" name="">
            <a:extLst xmlns:a="http://schemas.openxmlformats.org/drawingml/2006/main">
              <a:ext uri="{FF2B5EF4-FFF2-40B4-BE49-F238E27FC236}">
                <a16:creationId xmlns:a16="http://schemas.microsoft.com/office/drawing/2014/main" id="{5C5E4422-FBAE-4263-B0E2-9E672E1FB2E5}"/>
              </a:ext>
            </a:extLst>
          </p:cNvPr>
          <p:cNvSpPr>
            <a:spLocks xmlns:a="http://schemas.openxmlformats.org/drawingml/2006/main" noGrp="1"/>
          </p:cNvSpPr>
          <p:nvPr/>
        </p:nvSpPr>
        <p:spPr>
          <a:xfrm xmlns:a="http://schemas.openxmlformats.org/drawingml/2006/main">
            <a:off x="4619625" y="4248150"/>
            <a:ext cx="302895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C47089A-5B57-4163-B4C5-1057E02322D6}"/>
              </a:ext>
            </a:extLst>
          </p:cNvPr>
          <p:cNvSpPr>
            <a:spLocks xmlns:a="http://schemas.openxmlformats.org/drawingml/2006/main" noGrp="1"/>
          </p:cNvSpPr>
          <p:nvPr/>
        </p:nvSpPr>
        <p:spPr>
          <a:xfrm xmlns:a="http://schemas.openxmlformats.org/drawingml/2006/main">
            <a:off x="4495800" y="4438650"/>
            <a:ext cx="3276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既存蒸留は共通・公開dataを使う例が多い</a:t>
            </a:r>
          </a:p>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今回は整合用dataを</a:t>
            </a:r>
          </a:p>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client／cloudで共有しない</a:t>
            </a:r>
          </a:p>
        </p:txBody>
      </p:sp>
      <p:sp>
        <p:nvSpPr>
          <p:cNvPr id="28" name="">
            <a:extLst xmlns:a="http://schemas.openxmlformats.org/drawingml/2006/main">
              <a:ext uri="{FF2B5EF4-FFF2-40B4-BE49-F238E27FC236}">
                <a16:creationId xmlns:a16="http://schemas.microsoft.com/office/drawing/2014/main" id="{91AA9BF7-ECF3-4E1F-B4A7-79AE6B73925C}"/>
              </a:ext>
            </a:extLst>
          </p:cNvPr>
          <p:cNvSpPr>
            <a:spLocks xmlns:a="http://schemas.openxmlformats.org/drawingml/2006/main" noGrp="1"/>
          </p:cNvSpPr>
          <p:nvPr/>
        </p:nvSpPr>
        <p:spPr>
          <a:xfrm xmlns:a="http://schemas.openxmlformats.org/drawingml/2006/main">
            <a:off x="79248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300BF6E-D377-4244-9BC1-54A9DEE31AC3}"/>
              </a:ext>
            </a:extLst>
          </p:cNvPr>
          <p:cNvSpPr>
            <a:spLocks xmlns:a="http://schemas.openxmlformats.org/drawingml/2006/main" noGrp="1"/>
          </p:cNvSpPr>
          <p:nvPr/>
        </p:nvSpPr>
        <p:spPr>
          <a:xfrm xmlns:a="http://schemas.openxmlformats.org/drawingml/2006/main">
            <a:off x="8153400" y="143827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3　FedPACTが担う接続</a:t>
            </a:r>
          </a:p>
        </p:txBody>
      </p:sp>
      <p:sp>
        <p:nvSpPr>
          <p:cNvPr id="30" name="">
            <a:extLst xmlns:a="http://schemas.openxmlformats.org/drawingml/2006/main">
              <a:ext uri="{FF2B5EF4-FFF2-40B4-BE49-F238E27FC236}">
                <a16:creationId xmlns:a16="http://schemas.microsoft.com/office/drawing/2014/main" id="{1D1C21E5-DAB1-421E-B78F-43C1368DCFB2}"/>
              </a:ext>
            </a:extLst>
          </p:cNvPr>
          <p:cNvSpPr>
            <a:spLocks xmlns:a="http://schemas.openxmlformats.org/drawingml/2006/main" noGrp="1"/>
          </p:cNvSpPr>
          <p:nvPr/>
        </p:nvSpPr>
        <p:spPr>
          <a:xfrm xmlns:a="http://schemas.openxmlformats.org/drawingml/2006/main">
            <a:off x="8334375" y="1952625"/>
            <a:ext cx="3000375" cy="6096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局所適応後の予測と</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変化方向の要約</a:t>
            </a:r>
          </a:p>
        </p:txBody>
      </p:sp>
      <p:sp>
        <p:nvSpPr>
          <p:cNvPr id="31" name="">
            <a:extLst xmlns:a="http://schemas.openxmlformats.org/drawingml/2006/main">
              <a:ext uri="{FF2B5EF4-FFF2-40B4-BE49-F238E27FC236}">
                <a16:creationId xmlns:a16="http://schemas.microsoft.com/office/drawing/2014/main" id="{F074DD3B-402C-4E28-88A9-704B79F1C0D6}"/>
              </a:ext>
            </a:extLst>
          </p:cNvPr>
          <p:cNvSpPr>
            <a:spLocks xmlns:a="http://schemas.openxmlformats.org/drawingml/2006/main" noGrp="1"/>
          </p:cNvSpPr>
          <p:nvPr/>
        </p:nvSpPr>
        <p:spPr>
          <a:xfrm xmlns:a="http://schemas.openxmlformats.org/drawingml/2006/main">
            <a:off x="9801225" y="2562225"/>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032F087-EA9D-4ADF-8353-97AEA28A160C}"/>
              </a:ext>
            </a:extLst>
          </p:cNvPr>
          <p:cNvSpPr>
            <a:spLocks xmlns:a="http://schemas.openxmlformats.org/drawingml/2006/main" noGrp="1"/>
          </p:cNvSpPr>
          <p:nvPr/>
        </p:nvSpPr>
        <p:spPr>
          <a:xfrm xmlns:a="http://schemas.openxmlformats.org/drawingml/2006/main">
            <a:off x="8334375" y="2800350"/>
            <a:ext cx="3000375" cy="6477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 seed上で</a:t>
            </a:r>
          </a:p>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server-side proxyとして顕在化</a:t>
            </a:r>
          </a:p>
        </p:txBody>
      </p:sp>
      <p:sp>
        <p:nvSpPr>
          <p:cNvPr id="33" name="">
            <a:extLst xmlns:a="http://schemas.openxmlformats.org/drawingml/2006/main">
              <a:ext uri="{FF2B5EF4-FFF2-40B4-BE49-F238E27FC236}">
                <a16:creationId xmlns:a16="http://schemas.microsoft.com/office/drawing/2014/main" id="{C64262EC-7A1F-4B0F-BE7A-1C4135E9A062}"/>
              </a:ext>
            </a:extLst>
          </p:cNvPr>
          <p:cNvSpPr>
            <a:spLocks xmlns:a="http://schemas.openxmlformats.org/drawingml/2006/main" noGrp="1"/>
          </p:cNvSpPr>
          <p:nvPr/>
        </p:nvSpPr>
        <p:spPr>
          <a:xfrm xmlns:a="http://schemas.openxmlformats.org/drawingml/2006/main">
            <a:off x="9801225" y="3448050"/>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AC48D79-189D-455F-B42E-91637B048018}"/>
              </a:ext>
            </a:extLst>
          </p:cNvPr>
          <p:cNvSpPr>
            <a:spLocks xmlns:a="http://schemas.openxmlformats.org/drawingml/2006/main" noGrp="1"/>
          </p:cNvSpPr>
          <p:nvPr/>
        </p:nvSpPr>
        <p:spPr>
          <a:xfrm xmlns:a="http://schemas.openxmlformats.org/drawingml/2006/main">
            <a:off x="8334375" y="3686175"/>
            <a:ext cx="3000375" cy="6477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異種foundationへ</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反映できるかを検証</a:t>
            </a:r>
          </a:p>
        </p:txBody>
      </p:sp>
      <p:sp>
        <p:nvSpPr>
          <p:cNvPr id="35" name="">
            <a:extLst xmlns:a="http://schemas.openxmlformats.org/drawingml/2006/main">
              <a:ext uri="{FF2B5EF4-FFF2-40B4-BE49-F238E27FC236}">
                <a16:creationId xmlns:a16="http://schemas.microsoft.com/office/drawing/2014/main" id="{A263A6B4-DC57-4E8F-A0A4-565B31A09186}"/>
              </a:ext>
            </a:extLst>
          </p:cNvPr>
          <p:cNvSpPr>
            <a:spLocks xmlns:a="http://schemas.openxmlformats.org/drawingml/2006/main" noGrp="1"/>
          </p:cNvSpPr>
          <p:nvPr/>
        </p:nvSpPr>
        <p:spPr>
          <a:xfrm xmlns:a="http://schemas.openxmlformats.org/drawingml/2006/main">
            <a:off x="8401050" y="4572000"/>
            <a:ext cx="2867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proxy-mediated transferが</a:t>
            </a:r>
          </a:p>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2つのモデルをつなぐ</a:t>
            </a:r>
          </a:p>
        </p:txBody>
      </p:sp>
      <p:sp>
        <p:nvSpPr>
          <p:cNvPr id="36" name="">
            <a:extLst xmlns:a="http://schemas.openxmlformats.org/drawingml/2006/main">
              <a:ext uri="{FF2B5EF4-FFF2-40B4-BE49-F238E27FC236}">
                <a16:creationId xmlns:a16="http://schemas.microsoft.com/office/drawing/2014/main" id="{0A56FA27-A27B-4198-AAC7-F74C0D73D798}"/>
              </a:ext>
            </a:extLst>
          </p:cNvPr>
          <p:cNvSpPr>
            <a:spLocks xmlns:a="http://schemas.openxmlformats.org/drawingml/2006/main" noGrp="1"/>
          </p:cNvSpPr>
          <p:nvPr/>
        </p:nvSpPr>
        <p:spPr>
          <a:xfrm xmlns:a="http://schemas.openxmlformats.org/drawingml/2006/main">
            <a:off x="552450" y="5562600"/>
            <a:ext cx="11087100" cy="657225"/>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12C182D-CB27-42C5-B5AB-5BC34BB014A0}"/>
              </a:ext>
            </a:extLst>
          </p:cNvPr>
          <p:cNvSpPr>
            <a:spLocks xmlns:a="http://schemas.openxmlformats.org/drawingml/2006/main" noGrp="1"/>
          </p:cNvSpPr>
          <p:nvPr/>
        </p:nvSpPr>
        <p:spPr>
          <a:xfrm xmlns:a="http://schemas.openxmlformats.org/drawingml/2006/main">
            <a:off x="781050" y="5743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Yu Gothic"/>
                <a:ea typeface="Yu Gothic"/>
                <a:cs typeface="Yu Gothic"/>
              </a:defRPr>
            </a:pPr>
            <a:r>
              <a:rPr sz="1575" b="1">
                <a:solidFill>
                  <a:srgbClr val="FFFFFF"/>
                </a:solidFill>
                <a:latin typeface="Yu Gothic"/>
                <a:ea typeface="Yu Gothic"/>
                <a:cs typeface="Yu Gothic"/>
              </a:rPr>
              <a:t>対象：共通task上のtask-relevantな予測挙動　（private sampleの意味内容全体は対象外）</a:t>
            </a:r>
          </a:p>
        </p:txBody>
      </p:sp>
    </p:spTree>
    <p:extLst>
      <p:ext uri="{BB962C8B-B14F-4D97-AF65-F5344CB8AC3E}">
        <p14:creationId xmlns:p14="http://schemas.microsoft.com/office/powerpoint/2010/main" val="11087190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1B6122-6CA4-48A4-89C9-F3CD10DEF4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BA0C7D-9ACF-4724-8811-FEF0996F815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1BA0F8-7925-4EA4-BE63-8838ED924038}"/>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0CE8FFEF-B801-4DCE-9D99-CB3F31059FA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9AB9E0EF-BBD5-4CE8-84F9-4E06EF26D138}"/>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273E13-C30E-4FB1-8FEB-28D7608A4588}"/>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A2676A3-B196-4A7B-AA5E-58BC506D83E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bc64a13c4e44f6c"/>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554713391a1407e"/>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3A10DD2-63F9-4CA5-9F3C-9205363ECB01}"/>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B72C1DF9-E6F9-4B16-8CBA-00525BE139E3}"/>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1CD8F57D-B935-46AE-9158-B9C7A7461B73}"/>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E77EDDB8-74E3-4CD6-905A-889651EE8977}"/>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F71D853C-8397-49EE-B4F2-EE0C04B4CB9B}"/>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A1A116-A84E-4C49-987A-7D151D364C34}"/>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100216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F21B68C-8404-4BCA-AE72-05025C6348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AC9D8F-7F38-482F-8140-A4A093137F4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C923BE-6CE5-4830-98D6-E4420BCC6370}"/>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2CFBE93D-05BC-4BA7-BB1A-63E336CBFAC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B9AD501D-3D48-4F72-9233-D9C9344412E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4C80A55-5A87-4CBD-916C-39B65ED7A1F7}"/>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3C9185F-37DD-4794-B4E8-2204999AF6E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AFF8F6B3-2C2F-4F2C-B5C0-F08DB2AB2784}"/>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F6C7DEF4-6113-41AD-BB6B-6C0422951D06}"/>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264EFF-8954-48A9-B0FC-9EE1231910EA}"/>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5222C1DB-75E9-4FB2-B5FF-C8C5CA682340}"/>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機能を一度に入れると失敗原因を切り分けられない。中心課題と最小構成を先に確認する。</a:t>
            </a:r>
          </a:p>
        </p:txBody>
      </p:sp>
      <p:sp>
        <p:nvSpPr>
          <p:cNvPr id="12" name="">
            <a:extLst xmlns:a="http://schemas.openxmlformats.org/drawingml/2006/main">
              <a:ext uri="{FF2B5EF4-FFF2-40B4-BE49-F238E27FC236}">
                <a16:creationId xmlns:a16="http://schemas.microsoft.com/office/drawing/2014/main" id="{790AA2E6-672D-4A13-91A6-962F6C4ACDB3}"/>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C5DAF6EE-44EC-489E-9BC4-72B6DE961634}"/>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383770-59BE-42A2-ABFF-C7BB386D4BB8}"/>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0620E036-DD05-45A3-9DA8-78CF8B031EB4}"/>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三層構造は維持し、研究の中核を第2層に置く。第I段階では性能より、処理とstateの追跡を確認する。</a:t>
            </a:r>
          </a:p>
        </p:txBody>
      </p:sp>
      <p:sp>
        <p:nvSpPr>
          <p:cNvPr id="16" name="">
            <a:extLst xmlns:a="http://schemas.openxmlformats.org/drawingml/2006/main">
              <a:ext uri="{FF2B5EF4-FFF2-40B4-BE49-F238E27FC236}">
                <a16:creationId xmlns:a16="http://schemas.microsoft.com/office/drawing/2014/main" id="{933CB87D-769C-44B7-ABD6-460FB78383FE}"/>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A5184089-BE0F-43FC-B41D-331A737FD03A}"/>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0D24199-72E9-44F8-AAF5-1EDE720005C9}"/>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A2DBF8D6-2F30-4CF1-8506-A2E321037394}"/>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入力条件を修正した。2 clientからfoundation更新、次roundのstate継承までをログ付きで実行した。</a:t>
            </a:r>
          </a:p>
        </p:txBody>
      </p:sp>
      <p:sp>
        <p:nvSpPr>
          <p:cNvPr id="20" name="">
            <a:extLst xmlns:a="http://schemas.openxmlformats.org/drawingml/2006/main">
              <a:ext uri="{FF2B5EF4-FFF2-40B4-BE49-F238E27FC236}">
                <a16:creationId xmlns:a16="http://schemas.microsoft.com/office/drawing/2014/main" id="{3E774C4C-0947-4BF6-9502-B549A99DD8BC}"/>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02BE558-5320-4C4F-A5D1-09F3239CA7E7}"/>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A13C360-9BD4-4566-A956-E77FBE378B2E}"/>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3E2083F2-C59A-4243-B287-E4341B792162}"/>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3049076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E80D4D-687E-4535-8D73-2AAD6EDFC5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24032F-7DAD-45A9-8F95-C69FEDBB97A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DA2533-393C-40B1-96E4-AD360108BA5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5D88446B-3EF2-4AF7-9A69-FEB2D1BCF4AC}"/>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F7DF23FC-B2AB-4118-8AD6-E88BBC28190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E7A293-BAD7-44D5-906B-CF608EE84625}"/>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15F9687-BF8E-4BD8-8687-F70E4D7BED3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1E06F15A-107E-4D42-A20F-7D834496194B}"/>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0629D00A-5B13-4079-909F-3AD911B9BB0F}"/>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77B20B40-3792-4936-8A1E-1C112B1220CB}"/>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2911141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4CE1784-E4D1-40F7-97C6-8458EB8514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7C7CDA-6D36-4455-99F9-2733F5EF691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B111B4-2447-46B8-B70B-D58645642D4C}"/>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5ECE5877-33CF-4086-993C-A377287456D9}"/>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06F6ABF0-DE2D-4BDA-BB41-7B9924470DF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67C162-2041-4A81-AA11-19003449CE1B}"/>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6E7D927-BD04-4CEA-9064-CD73F98010E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D1A15FCB-AAD5-41CE-B73B-7841B5A52152}"/>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C24E7A6C-7874-489D-A34C-CE0FEC58CFC5}"/>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F803A02E-98E6-4A06-A542-110ABE1966BA}"/>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83285DB8-4816-40BC-937E-15DD89120812}"/>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8295C386-AC40-4D21-B79F-736CA9300C57}"/>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A419CAA1-9103-4A1E-8522-3307DD422898}"/>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A604DF87-2AFB-4177-8B65-CC521F1BCE9E}"/>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23A1FF5A-6337-45BC-9C18-EF73045C360F}"/>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b057571b5d14fdc"/>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2f379011a524622"/>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21725BF-880C-4804-8774-2B08EE35670E}"/>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7f39e6bd1c945d9"/>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5ce72ba57764818"/>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907E0C82-9982-410A-B0FF-E716ED0A6445}"/>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FA100B3-878D-46F4-83E0-60FB114710EE}"/>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19131078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63BDBF7-A6ED-4BB5-B91C-0F714E383A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BD4F0F-5C23-4F74-A1E1-0C484D65309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042CC2-AB38-4829-A4C7-2D14004CBF72}"/>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73A7047A-D669-4DA6-80E8-F6CF6959BCB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453CC2F8-8713-48F0-8373-C2AB41A683D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619D8D-CE36-43FB-A8A2-8B7544203D67}"/>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0D972D7-7E03-4D07-9A05-7837EA7B2CD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28d13fbdd554897"/>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3a3eaf5ecdb4dfa"/>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c4a14a3ec2f420b"/>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329528fbc1345c3"/>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379B229-91B9-42A8-A516-487022EB980C}"/>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E80B1625-28AE-4137-A1AE-23A09E3BC3F9}"/>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9355F447-FB9A-41B0-9AB0-E117011B48B4}"/>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6C3C0F17-AD86-49FD-9F3C-89F120464AA6}"/>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11AF2CD9-90F2-4EA6-8BF6-17A5964ABD50}"/>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E0181319-D9FD-4B63-AF7C-C4A34075EE5B}"/>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16BF04F6-F24D-4CF5-8FF2-5C20EB3591DA}"/>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A53E41AD-8EC6-4A54-9EFC-64F0338BC727}"/>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60E39A0E-6C10-4644-AA18-2CECDCB187EA}"/>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FD931A0A-C2F9-4EA4-8983-D5037F4067DC}"/>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A00A4C24-03AE-42E7-B3D8-CB03661A5CBB}"/>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170485FA-28D6-4BEC-BB3E-EECBB4F9C87B}"/>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2217018-3803-4BBE-9807-828C20B92165}"/>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D3816A68-E6E7-4111-8B1D-AF1C973D3C31}"/>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BC848165-E830-42D6-8DFD-F0BE7013A5EA}"/>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1BB75FB1-1830-469D-8239-7A5DFA5A0CB4}"/>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112369099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3C92891-9326-4348-80BA-5E1F6C3256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118932-3011-41AE-A376-93701609778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6CE665-C24A-4BFB-8743-AF2BAD7FECC6}"/>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552E3BC2-36BD-449C-9386-D5BE52273B52}"/>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974A2CF4-37AF-463C-80D3-9D172C956F5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7E187D0-49FE-4857-BA16-A1ED81FBF34C}"/>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F7E95FC-7459-45DC-A3CE-93534022073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6882D2E0-D20B-49D0-BFD8-900A06209604}"/>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143997c64c848fa"/>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e185e4a2fc049b9"/>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fdad380fae34a8a"/>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0836140b76f4798"/>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DA57BFA-A090-4EC6-94A2-1F0121A69686}"/>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5D60D4FE-084C-48E5-B81E-4EB31D232DAB}"/>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02D850C8-7DCB-4EA1-B1F4-76D541D57CA5}"/>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EA4CCBB1-DF08-4756-A81D-885C1FD701AF}"/>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96523D30-A501-41CA-BADD-848254B653D0}"/>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197AA80-6074-4578-9C1F-B25DAE376ECA}"/>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0C8C2C3A-C71D-425A-B3CD-0B7BBC9CA8CA}"/>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9B0615EB-F2D1-4275-B214-67937362FE95}"/>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BB92C0C5-463E-4A11-A7C8-4FD0585DA8A1}"/>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AD2E456C-4F31-4542-859B-96CD25DCE488}"/>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9E80C35-A046-4926-8772-26A2DC612241}"/>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27F8A8BA-8B3F-49D5-8957-34CBA15ADA81}"/>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27615BE2-4177-402A-BA5A-87EFCAEFB878}"/>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37708142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A7BF91-663B-45BC-B07E-72A0403835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121E77-2EA1-498F-BB78-40B48D0E524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BA69CE-B2D1-43BA-B2F8-30BC12D35A3E}"/>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BD6AE934-FD6E-4D0E-A1B0-F1235AC90045}"/>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34D1514F-F948-449F-870F-76319383819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D7EA51-76E8-4799-9B46-704096274453}"/>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8289EA9-8F9E-47B2-A517-0887D651396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173B4B"/>
                          </a:solidFill>
                          <a:latin typeface="Yu Gothic"/>
                          <a:ea typeface="Yu Gothic"/>
                          <a:cs typeface="Yu Gothic"/>
                        </a:rPr>
                        <a:t>prototype</a:t>
                      </a:r>
                    </a:p>
                  </a:txBody>
                  <a:tcPr marL="91440" marR="91440" marT="45720" marB="45720"/>
                </a:tc>
                <a:tc>
                  <a:txBody>
                    <a:bodyPr/>
                    <a:lstStyle/>
                    <a:p>
                      <a:r>
                        <a:rPr sz="1300" b="1">
                          <a:solidFill>
                            <a:srgbClr val="173B4B"/>
                          </a:solidFill>
                          <a:latin typeface="Yu Gothic"/>
                          <a:ea typeface="Yu Gothic"/>
                          <a:cs typeface="Yu Gothic"/>
                        </a:rPr>
                        <a:t>target Δrisk</a:t>
                      </a:r>
                    </a:p>
                  </a:txBody>
                  <a:tcPr marL="91440" marR="91440" marT="45720" marB="45720"/>
                </a:tc>
                <a:tc>
                  <a:txBody>
                    <a:bodyPr/>
                    <a:lstStyle/>
                    <a:p>
                      <a:r>
                        <a:rPr sz="1300" b="1">
                          <a:solidFill>
                            <a:srgbClr val="173B4B"/>
                          </a:solidFill>
                          <a:latin typeface="Yu Gothic"/>
                          <a:ea typeface="Yu Gothic"/>
                          <a:cs typeface="Yu Gothic"/>
                        </a:rPr>
                        <a:t>proxy Δrisk</a:t>
                      </a:r>
                    </a:p>
                  </a:txBody>
                  <a:tcPr marL="91440" marR="91440" marT="45720" marB="45720"/>
                </a:tc>
                <a:tc>
                  <a:txBody>
                    <a:bodyPr/>
                    <a:lstStyle/>
                    <a:p>
                      <a:r>
                        <a:rPr sz="1300" b="1">
                          <a:solidFill>
                            <a:srgbClr val="173B4B"/>
                          </a:solidFill>
                          <a:latin typeface="Yu Gothic"/>
                          <a:ea typeface="Yu Gothic"/>
                          <a:cs typeface="Yu Gothic"/>
                        </a:rPr>
                        <a:t>方向</a:t>
                      </a:r>
                    </a:p>
                  </a:txBody>
                  <a:tcPr marL="91440" marR="91440" marT="45720" marB="45720"/>
                </a:tc>
                <a:tc>
                  <a:txBody>
                    <a:bodyPr/>
                    <a:lstStyle/>
                    <a:p>
                      <a:r>
                        <a:rPr sz="1300" b="1">
                          <a:solidFill>
                            <a:srgbClr val="173B4B"/>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5AE26D0F-DA61-4914-901A-EF41852D1396}"/>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4F6E00-6B0E-453E-85D5-0338EF7AA8AC}"/>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5A6D5F2A-B91E-4C39-94E0-31346126AE2A}"/>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4813024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13DFA5A-1DB6-400E-9477-8EC2E202C7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413AC1-5617-4D6B-83CB-C3BB6DA2FC9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987527-0D78-44E6-B54C-7500B08BAB48}"/>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5EE57A29-549A-40D3-BA3C-742209571922}"/>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F379347B-B6BF-426B-8089-50948AD08B8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6CFDE8-57B0-43A5-903E-1D8D69167F66}"/>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264025A-A7CC-4499-BDFD-F559AE400E3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173B4B"/>
                          </a:solidFill>
                          <a:latin typeface="Yu Gothic"/>
                          <a:ea typeface="Yu Gothic"/>
                          <a:cs typeface="Yu Gothic"/>
                        </a:rPr>
                        <a:t>round</a:t>
                      </a:r>
                    </a:p>
                  </a:txBody>
                  <a:tcPr marL="91440" marR="91440" marT="45720" marB="45720"/>
                </a:tc>
                <a:tc>
                  <a:txBody>
                    <a:bodyPr/>
                    <a:lstStyle/>
                    <a:p>
                      <a:r>
                        <a:rPr sz="1200" b="1">
                          <a:solidFill>
                            <a:srgbClr val="173B4B"/>
                          </a:solidFill>
                          <a:latin typeface="Yu Gothic"/>
                          <a:ea typeface="Yu Gothic"/>
                          <a:cs typeface="Yu Gothic"/>
                        </a:rPr>
                        <a:t>入力 M_G</a:t>
                      </a:r>
                    </a:p>
                  </a:txBody>
                  <a:tcPr marL="91440" marR="91440" marT="45720" marB="45720"/>
                </a:tc>
                <a:tc>
                  <a:txBody>
                    <a:bodyPr/>
                    <a:lstStyle/>
                    <a:p>
                      <a:r>
                        <a:rPr sz="1200" b="1">
                          <a:solidFill>
                            <a:srgbClr val="173B4B"/>
                          </a:solidFill>
                          <a:latin typeface="Yu Gothic"/>
                          <a:ea typeface="Yu Gothic"/>
                          <a:cs typeface="Yu Gothic"/>
                        </a:rPr>
                        <a:t>出力 M_G</a:t>
                      </a:r>
                    </a:p>
                  </a:txBody>
                  <a:tcPr marL="91440" marR="91440" marT="45720" marB="45720"/>
                </a:tc>
                <a:tc>
                  <a:txBody>
                    <a:bodyPr/>
                    <a:lstStyle/>
                    <a:p>
                      <a:r>
                        <a:rPr sz="1200" b="1">
                          <a:solidFill>
                            <a:srgbClr val="173B4B"/>
                          </a:solidFill>
                          <a:latin typeface="Yu Gothic"/>
                          <a:ea typeface="Yu Gothic"/>
                          <a:cs typeface="Yu Gothic"/>
                        </a:rPr>
                        <a:t>client LoRA update norm</a:t>
                      </a:r>
                    </a:p>
                  </a:txBody>
                  <a:tcPr marL="91440" marR="91440" marT="45720" marB="45720"/>
                </a:tc>
                <a:tc>
                  <a:txBody>
                    <a:bodyPr/>
                    <a:lstStyle/>
                    <a:p>
                      <a:r>
                        <a:rPr sz="1200" b="1">
                          <a:solidFill>
                            <a:srgbClr val="173B4B"/>
                          </a:solidFill>
                          <a:latin typeface="Yu Gothic"/>
                          <a:ea typeface="Yu Gothic"/>
                          <a:cs typeface="Yu Gothic"/>
                        </a:rPr>
                        <a:t>FedAvg再計算差</a:t>
                      </a:r>
                    </a:p>
                  </a:txBody>
                  <a:tcPr marL="91440" marR="91440" marT="45720" marB="45720"/>
                </a:tc>
                <a:tc>
                  <a:txBody>
                    <a:bodyPr/>
                    <a:lstStyle/>
                    <a:p>
                      <a:r>
                        <a:rPr sz="1200" b="1">
                          <a:solidFill>
                            <a:srgbClr val="173B4B"/>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7BF8EFEA-F44E-4DE8-A309-BF9070288FBE}"/>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77867186-0F54-47E0-93E0-72E5676E4635}"/>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BC5FBA-AC56-479B-97CC-63854FB5D4D5}"/>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78577BEC-E42C-4A71-B188-521DE02E2D68}"/>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C0903F3C-8B2B-4F5D-8DF8-881C2850A7D5}"/>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4F94BE-0FF5-41E2-AEBB-DCD40468F46C}"/>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EDC7691A-0EB7-4AC4-B8D9-AC4BF051112D}"/>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加重KLを減らす条件をround 3で満たせず、実行確認として更新した。処理は動いたが、安定したfoundation更新とは言えない。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D325463C-C2A5-4330-B1BA-FFE25208E6F4}"/>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1483901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48F5523-7599-4F28-9159-5714DD2C9A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784B1E-BF35-4EEA-A76D-C29C0DCA628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A43F55-3BAA-47C0-8726-BB68C77A619C}"/>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054EC4D6-D510-45B7-892F-DAD1EDEE1EA1}"/>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CABC8A6F-CEFA-4C80-B21E-C3AFCC38F3F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2B1B67-28B1-4475-9263-AC288B0C4E90}"/>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DF59A0E-C615-424D-B220-A1A14E18879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D48E2FD3-F932-4B0E-A867-56CC7DC0E37D}"/>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904368A5-4989-4E15-BE6D-8467A52ABA4E}"/>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DAE3F9A9-8C8F-42F2-A3EC-E5FCBAE0917E}"/>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A58B6507-9316-4CCC-9CC8-A07C4E6B95E6}"/>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5A395F0-5B5E-4272-8276-AEE7E958ED56}"/>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1EFD5974-231A-454D-8D4D-BF8742793836}"/>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3408E8CC-195D-4CE9-B0FB-316D8F6C6666}"/>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DF6BE3F7-9512-4357-A58A-451C43E596CB}"/>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582B4A-CF27-45B1-83A8-D54660D5B186}"/>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5E02E7A9-7FFD-46FC-9E66-62D8A50CD561}"/>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A58CBA36-5911-4CF7-91E5-2CAA0B082B13}"/>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BC67238A-3D72-4DDA-B92D-E1D1501A5DB7}"/>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AE5550-2D02-4181-A2A3-383BDC4B58A1}"/>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1935178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2026-09-17T17:58:13.5790000Z</dcterms:created>
  <dcterms:modified xsi:type="dcterms:W3CDTF">2026-09-17T17:58:13.5790000Z</dcterms:modified>
</coreProperties>
</file>