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5f78a4d7854d01" /><Relationship Type="http://schemas.openxmlformats.org/officeDocument/2006/relationships/extended-properties" Target="/docProps/app.xml" Id="Rdbed99bc9838446a" /><Relationship Type="http://schemas.openxmlformats.org/officeDocument/2006/relationships/officeDocument" Target="/ppt/presentation.xml" Id="R2af45dca12754b52" /></Relationships>
</file>

<file path=ppt/presentation.xml><?xml version="1.0" encoding="utf-8"?>
<p:presentation xmlns:p="http://schemas.openxmlformats.org/presentationml/2006/main">
  <p:sldMasterIdLst>
    <p:sldMasterId xmlns:r="http://schemas.openxmlformats.org/officeDocument/2006/relationships" id="2147483648" r:id="R93b0cba3da95450e"/>
  </p:sldMasterIdLst>
  <p:notesMasterIdLst>
    <p:notesMasterId xmlns:r="http://schemas.openxmlformats.org/officeDocument/2006/relationships" r:id="R651d4e09489b4457"/>
  </p:notesMasterIdLst>
  <p:sldIdLst>
    <p:sldId xmlns:r="http://schemas.openxmlformats.org/officeDocument/2006/relationships" id="256" r:id="R722a86e7d9a841de"/>
    <p:sldId xmlns:r="http://schemas.openxmlformats.org/officeDocument/2006/relationships" id="257" r:id="R2751519d84414d36"/>
    <p:sldId xmlns:r="http://schemas.openxmlformats.org/officeDocument/2006/relationships" id="258" r:id="Rfa122e683b974068"/>
    <p:sldId xmlns:r="http://schemas.openxmlformats.org/officeDocument/2006/relationships" id="259" r:id="R61aeabffe92840b4"/>
    <p:sldId xmlns:r="http://schemas.openxmlformats.org/officeDocument/2006/relationships" id="260" r:id="Rb88426718311408d"/>
    <p:sldId xmlns:r="http://schemas.openxmlformats.org/officeDocument/2006/relationships" id="261" r:id="Re9a667e20a1544c8"/>
    <p:sldId xmlns:r="http://schemas.openxmlformats.org/officeDocument/2006/relationships" id="262" r:id="R11b708b639c749a9"/>
    <p:sldId xmlns:r="http://schemas.openxmlformats.org/officeDocument/2006/relationships" id="263" r:id="Ra101368b87d847d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f60a9d1ddf4cca" /><Relationship Type="http://schemas.openxmlformats.org/officeDocument/2006/relationships/slideMaster" Target="/ppt/slideMasters/slideMaster1.xml" Id="R93b0cba3da95450e" /><Relationship Type="http://schemas.openxmlformats.org/officeDocument/2006/relationships/notesMaster" Target="/ppt/notesMasters/notesMaster1.xml" Id="R651d4e09489b4457" /><Relationship Type="http://schemas.openxmlformats.org/officeDocument/2006/relationships/presProps" Target="/ppt/presProps.xml" Id="Rc4403c1d5df24e1a" /><Relationship Type="http://schemas.openxmlformats.org/officeDocument/2006/relationships/tableStyles" Target="/ppt/tableStyles.xml" Id="R27766b28d9f245c2" /><Relationship Type="http://schemas.openxmlformats.org/officeDocument/2006/relationships/slide" Target="/ppt/slides/slide1.xml" Id="R722a86e7d9a841de" /><Relationship Type="http://schemas.openxmlformats.org/officeDocument/2006/relationships/slide" Target="/ppt/slides/slide2.xml" Id="R2751519d84414d36" /><Relationship Type="http://schemas.openxmlformats.org/officeDocument/2006/relationships/slide" Target="/ppt/slides/slide3.xml" Id="Rfa122e683b974068" /><Relationship Type="http://schemas.openxmlformats.org/officeDocument/2006/relationships/slide" Target="/ppt/slides/slide4.xml" Id="R61aeabffe92840b4" /><Relationship Type="http://schemas.openxmlformats.org/officeDocument/2006/relationships/slide" Target="/ppt/slides/slide5.xml" Id="Rb88426718311408d" /><Relationship Type="http://schemas.openxmlformats.org/officeDocument/2006/relationships/slide" Target="/ppt/slides/slide6.xml" Id="Re9a667e20a1544c8" /><Relationship Type="http://schemas.openxmlformats.org/officeDocument/2006/relationships/slide" Target="/ppt/slides/slide7.xml" Id="R11b708b639c749a9" /><Relationship Type="http://schemas.openxmlformats.org/officeDocument/2006/relationships/slide" Target="/ppt/slides/slide8.xml" Id="Ra101368b87d847d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6df29e229448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7f7ec796ddd4ec7" /><Relationship Type="http://schemas.openxmlformats.org/officeDocument/2006/relationships/notesMaster" Target="/ppt/notesMasters/notesMaster1.xml" Id="R099ba40932ae4e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830bc049ee416a" /><Relationship Type="http://schemas.openxmlformats.org/officeDocument/2006/relationships/notesMaster" Target="/ppt/notesMasters/notesMaster1.xml" Id="R659020e513f64b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900ff7f35648c1" /><Relationship Type="http://schemas.openxmlformats.org/officeDocument/2006/relationships/notesMaster" Target="/ppt/notesMasters/notesMaster1.xml" Id="R89fb37723ee447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c1d1592b0f4e9d" /><Relationship Type="http://schemas.openxmlformats.org/officeDocument/2006/relationships/notesMaster" Target="/ppt/notesMasters/notesMaster1.xml" Id="R47825f30fd2a4a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8afead136649db" /><Relationship Type="http://schemas.openxmlformats.org/officeDocument/2006/relationships/notesMaster" Target="/ppt/notesMasters/notesMaster1.xml" Id="Rebf677b2edf44c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d8def5216a437a" /><Relationship Type="http://schemas.openxmlformats.org/officeDocument/2006/relationships/notesMaster" Target="/ppt/notesMasters/notesMaster1.xml" Id="Rdbb371eb0ba945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979feed0364c3c" /><Relationship Type="http://schemas.openxmlformats.org/officeDocument/2006/relationships/notesMaster" Target="/ppt/notesMasters/notesMaster1.xml" Id="R5f616107fc0044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c9356ec5444d87" /><Relationship Type="http://schemas.openxmlformats.org/officeDocument/2006/relationships/notesMaster" Target="/ppt/notesMasters/notesMaster1.xml" Id="Ra76c4a81309142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0:00–1:10】</a:t>
            </a:r>
          </a:p>
          <a:p xmlns:a="http://schemas.openxmlformats.org/drawingml/2006/main">
            <a:r>
              <a:t>今回は、複数の自動運転車やロボットが、同じ危険判定を行う場面を想定しています。判定内容は共通でも、場所や時間、天候が違うため、それぞれが経験する動画は異なります。ある現場で得た経験をサービス全体へ反映できれば、中央側のAIも継続的に更新できます。しかし、現場の動画をそのまま中央へ集めることは難しく、連合平均でまとめた小型AIの更新を、構造や規模が異なる中央側AIへ直接渡すこともできません。そこでFedPACTでは、現場でAIの判定がどのように変わったかを数値で受け取り、その変化を中央側が持つ動画上に表して学習へ使います。この後は、変化を測る、複数動画をまとめる、中央側の動画上に表す、中央側AIを更新する、という順番で説明しま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notes/advisor/sources/raw/2026-09-16/slack_zettsu_reply_to_chen_ja_date_unknown_received_2026-09-16.md（利用場面、接続問題、適用範囲）</a:t>
            </a:r>
          </a:p>
          <a:p xmlns:a="http://schemas.openxmlformats.org/drawingml/2006/main">
            <a:r>
              <a:t>notes/advisor/sources/raw/2026-09-01/FedPACT手法提案260901.pdf（研究目的、三層構造）</a:t>
            </a:r>
          </a:p>
          <a:p xmlns:a="http://schemas.openxmlformats.org/drawingml/2006/main">
            <a:r>
              <a:t>画像: artifacts/datasets/frames/train/003d6c3909/003.jpg, artifacts/datasets/frames/train/b82e955a9fdf13e2/003.jpg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1:10–2:10】</a:t>
            </a:r>
          </a:p>
          <a:p xmlns:a="http://schemas.openxmlformats.org/drawingml/2006/main">
            <a:r>
              <a:t>ここでは、白い車が横から接近する危険動画を例にします。この実験では、AIが出した通常と危険の確率を記録しています。q^{pre}は局所学習前、q^{post}は局所学習後に同じ動画を判定した結果です。この動画では、危険確率が0.349から0.644へ変わり、Δqはプラス0.295でした。つまり、この入力に対するAIの出力が危険側へ動いたことが分かります。ただし、この値だけから危険を正しく学習した、あるいは危険原因を理解したとは言えません。次に、このような1本ごとの反応を複数動画からまとめます。</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artifacts/runs/fedpact_stage1/p1d_layer1_20260917_01/client_local/client-0/private_trace.json（sample 15a4f810cc4c2aef）</a:t>
            </a:r>
          </a:p>
          <a:p xmlns:a="http://schemas.openxmlformats.org/drawingml/2006/main">
            <a:r>
              <a:t>artifacts/datasets/fedpact_stage1/manifest_paired_alert_quartiles.jsonl（危険区間、4フレーム）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2:10–3:10】</a:t>
            </a:r>
          </a:p>
          <a:p xmlns:a="http://schemas.openxmlformats.org/drawingml/2006/main">
            <a:r>
              <a:t>1本の動画の結果をそのまま中央側へ送るわけではありません。先ほどの動画を含む危険動画3本について、学習後の危険確率を平均すると0.724になります。これがμ^{post}_{k,r}です。学習前後の変化量の平均はプラス0.238で、これがΔμ_{k,r}です。まとめた本数π_{k,r}は3です。この三つをQ_{k,r}として送ります。中央側へ送るのは、この要約と小型AIの更新情報です。元の動画、画像、動画ごとの識別情報は送りません。また、小型AIの更新は連合平均へ渡しますが、Q_{k,r}は平均せず、次の代理データ生成へ渡します。</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a:t>
            </a:r>
          </a:p>
          <a:p xmlns:a="http://schemas.openxmlformats.org/drawingml/2006/main">
            <a:r>
              <a:t>artifacts/runs/fedpact_stage1/p1d_layer1_20260917_01/communication/client-0/payload.json（r1-client-0-class1）</a:t>
            </a:r>
          </a:p>
          <a:p xmlns:a="http://schemas.openxmlformats.org/drawingml/2006/main">
            <a:r>
              <a:t>notes/advisor/sources/raw/2026-09-16/slack_zettsu_flow_feedback_date_unknown_received_2026-09-16.md（Q生成と別経路）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3:10–4:35】</a:t>
            </a:r>
          </a:p>
          <a:p xmlns:a="http://schemas.openxmlformats.org/drawingml/2006/main">
            <a:r>
              <a:t>中央側には通常動画30本と危険動画30本、合計60本を用意しています。これは現場の知識そのものではなく、現場側の判定変化を表すための材料です。まず、連合平均後の小型AIを使い、μ^{post}_{k,r}に近い判定を出す動画を探します。上位3本について、変更なし、暗くする、明るくする、コントラストを上げる、中央を切り出す、という5種類を試します。一つのQにつき15候補で、四つのQでは合計60候補です。候補を選ぶときは、学習後の判定だけでなく、連合平均前後の変化がΔμ_{k,r}に近いかも確認します。選んだ入力x̃_{k,r}と学習後の目標値μ^{post}_{k,r}からP_{k,r}を作りま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artifacts/runs/fedpact_stage1/p1d_full_20260917_02/server/layer2_trace.json（60 seed、top 3、5変換、選択）</a:t>
            </a:r>
          </a:p>
          <a:p xmlns:a="http://schemas.openxmlformats.org/drawingml/2006/main">
            <a:r>
              <a:t>artifacts/runs/fedpact_stage1/p1d_full_20260917_02/server/proxy_pairs.json（Pの構成）</a:t>
            </a:r>
          </a:p>
          <a:p xmlns:a="http://schemas.openxmlformats.org/drawingml/2006/main">
            <a:r>
              <a:t>画像: artifacts/runs/fedpact_stage1/p1d_full_20260917_02/server/transformation_candidates/r1-client-0-class1-rank01-*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4:35–5:30】</a:t>
            </a:r>
          </a:p>
          <a:p xmlns:a="http://schemas.openxmlformats.org/drawingml/2006/main">
            <a:r>
              <a:t>ここまでの処理を全体図の中で整理します。第1層では二つの現場側AIが局所学習を行い、小型AIの更新情報を連合平均します。一方、判定の変化をまとめたQ_{k,r}は別経路で第2層へ渡します。第2層が本研究の中心で、Q_{k,r}を中央側が持つ動画上の代理データとして表します。第3層ではP_{k,r}を使って中央側AIを更新し、その状態を次のラウンドへ引き継ぎます。今回の合格は処理の接続に対するものであり、性能の良さを示すものではありません。</a:t>
            </a:r>
          </a:p>
          <a:p xmlns:a="http://schemas.openxmlformats.org/drawingml/2006/main">
            <a:r>
              <a:t/>
            </a:r>
          </a:p>
          <a:p xmlns:a="http://schemas.openxmlformats.org/drawingml/2006/main">
            <a:r>
              <a:t>【根拠】</a:t>
            </a:r>
          </a:p>
          <a:p xmlns:a="http://schemas.openxmlformats.org/drawingml/2006/main">
            <a:r>
              <a:t>notes/advisor/sources/raw/2026-09-16/slack_zettsu_flow_feedback_date_unknown_received_2026-09-16.md</a:t>
            </a:r>
          </a:p>
          <a:p xmlns:a="http://schemas.openxmlformats.org/drawingml/2006/main">
            <a:r>
              <a:t>notes/advisor/sources/raw/2026-09-16/slack_zettsu_experiment_feedback_date_unknown_received_2026-09-16.md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5:30–6:50】</a:t>
            </a:r>
          </a:p>
          <a:p xmlns:a="http://schemas.openxmlformats.org/drawingml/2006/main">
            <a:r>
              <a:t>2枚目から追ってきた危険動画3本の要約を、そのまま追跡します。現場側で求めた学習後の危険確率は0.724でした。中央側で選んだ代理データについて、連合平均後の小型AIが出した危険確率も0.724で、学習後の判定はほぼ一致しています。一方、現場側の変化量はプラス0.238でしたが、代理データでは危険確率が0.673から0.724へ変化しており、その差はプラス0.051でした。方向は同じですが、変化量は十分に再現できていません。また、元動画の正解ラベルは通常でした。ただし、中央側の60本では正解ラベルと小型AIの判定が一致したものが43本だけなので、通常動画が選ばれた原因を検索処理だけに求めることはできません。</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artifacts/runs/fedpact_stage1/p1d_full_20260917_02/server/layer2_trace.json（r1-client-0-class1）</a:t>
            </a:r>
          </a:p>
          <a:p xmlns:a="http://schemas.openxmlformats.org/drawingml/2006/main">
            <a:r>
              <a:t>artifacts/runs/fedpact_stage1/p1d_full_20260917_02/server/proxy_pairs.json</a:t>
            </a:r>
          </a:p>
          <a:p xmlns:a="http://schemas.openxmlformats.org/drawingml/2006/main">
            <a:r>
              <a:t>artifacts/reports/fedpact_stage1_20260917/slack_report.md（labelと予測の一致43/60）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6:50–8:35】</a:t>
            </a:r>
          </a:p>
          <a:p xmlns:a="http://schemas.openxmlformats.org/drawingml/2006/main">
            <a:r>
              <a:t>3ラウンド全体の結果です。各ラウンドで二つの現場側AIが同じ状態から開始し、両方の小型AIが実際に更新されたことを確認しました。連合平均を別に再計算した差は、最大でも約1.16掛ける10のマイナス10でした。また、前のラウンドの出力と次のラウンドの入力が一致していることを、モデルの照合値から確認しました。一方、代理データの再現結果には問題が残っています。1ラウンド目では四つのうち三つで変化の方向が一致しましたが、一つは逆方向でした。さらに3ラウンド目では、中央側AIを更新した後のずれが16.1307から16.1776へ増加しました。今回確認できたのは3ラウンドの処理と状態継承であり、性能が改善した、安定して知識を移せた、という結論ではあり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artifacts/reports/fedpact_stage1_20260917/three_round_state_lineage.json</a:t>
            </a:r>
          </a:p>
          <a:p xmlns:a="http://schemas.openxmlformats.org/drawingml/2006/main">
            <a:r>
              <a:t>artifacts/reports/fedpact_stage1_20260917/slack_report.md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8:35–10:00】</a:t>
            </a:r>
          </a:p>
          <a:p xmlns:a="http://schemas.openxmlformats.org/drawingml/2006/main">
            <a:r>
              <a:t>今回の第I段階では、代表動画の学習前後の判定からQ_{k,r}を作り、中央側で代理データを生成し、中央側AIを更新して次のラウンドへ状態を渡すところまでを対応付けました。三層の処理と3ラウンドの状態継承を、ログから追跡できるようになったことは言えます。一方で、性能向上、代理データの品質、未知動画への転移はまだ言えません。今回の第I段階は同じ3B基盤を使用しているため、構造や規模の異なるAI間で移せたとも言えません。今後は、まず同じ四つの教師データを固定し、ごく小さい1回の更新で中央側AIのずれが減ることを確認します。その後、中央側動画だけの場合、学習後の判定を使う場合、学習前後の変化も使う場合を同じ条件で比較します。評価には選択に使っていない動画を使用し、問題解消後に5ラウンドと異なる規模のAIへ進みます。</a:t>
            </a:r>
          </a:p>
          <a:p xmlns:a="http://schemas.openxmlformats.org/drawingml/2006/main">
            <a:r>
              <a:t/>
            </a:r>
          </a:p>
          <a:p xmlns:a="http://schemas.openxmlformats.org/drawingml/2006/main">
            <a:r>
              <a:t>【根拠】</a:t>
            </a:r>
          </a:p>
          <a:p xmlns:a="http://schemas.openxmlformats.org/drawingml/2006/main">
            <a:r>
              <a:t>notes/advisor/sources/raw/2026-09-16/slack_zettsu_experiment_feedback_date_unknown_received_2026-09-16.md</a:t>
            </a:r>
          </a:p>
          <a:p xmlns:a="http://schemas.openxmlformats.org/drawingml/2006/main">
            <a:r>
              <a:t>notes/advisor/sources/raw/2026-09-16/slack_zettsu_reply_to_chen_ja_date_unknown_received_2026-09-16.md</a:t>
            </a:r>
          </a:p>
          <a:p xmlns:a="http://schemas.openxmlformats.org/drawingml/2006/main">
            <a:r>
              <a:t>artifacts/reports/fedpact_stage1_20260917/three_round_state_lineage.md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ad10cfee0c40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e9ec0cb5a340f7" /><Relationship Type="http://schemas.openxmlformats.org/officeDocument/2006/relationships/slideLayout" Target="/ppt/slideLayouts/slideLayout1.xml" Id="R390cf5c1045f4b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0cf5c1045f4b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b415fc8eb44734" /><Relationship Type="http://schemas.openxmlformats.org/officeDocument/2006/relationships/image" Target="/ppt/media/image.jpeg" Id="R22cc663089904f18" /><Relationship Type="http://schemas.openxmlformats.org/officeDocument/2006/relationships/image" Target="/ppt/media/image2.jpeg" Id="Rc3c28fdd506c4b20" /><Relationship Type="http://schemas.openxmlformats.org/officeDocument/2006/relationships/notesSlide" Target="/ppt/notesSlides/notesSlide1.xml" Id="R22b061abe06a4c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ce9e40600b74b08" /><Relationship Type="http://schemas.openxmlformats.org/officeDocument/2006/relationships/image" Target="/ppt/media/image3.jpeg" Id="R781d1fecdb974ee0" /><Relationship Type="http://schemas.openxmlformats.org/officeDocument/2006/relationships/image" Target="/ppt/media/image4.jpeg" Id="Rfed2f53d0069498d" /><Relationship Type="http://schemas.openxmlformats.org/officeDocument/2006/relationships/image" Target="/ppt/media/image5.jpeg" Id="R2ae7903fc7fc47f7" /><Relationship Type="http://schemas.openxmlformats.org/officeDocument/2006/relationships/image" Target="/ppt/media/image6.jpeg" Id="Ref46640e9c584af9" /><Relationship Type="http://schemas.openxmlformats.org/officeDocument/2006/relationships/notesSlide" Target="/ppt/notesSlides/notesSlide2.xml" Id="Rde044e6afe8b49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ac849ce3e154e3a" /><Relationship Type="http://schemas.openxmlformats.org/officeDocument/2006/relationships/image" Target="/ppt/media/image7.jpeg" Id="R62b2abb48b2743ab" /><Relationship Type="http://schemas.openxmlformats.org/officeDocument/2006/relationships/image" Target="/ppt/media/image8.jpeg" Id="R4b4b00cdc3a24094" /><Relationship Type="http://schemas.openxmlformats.org/officeDocument/2006/relationships/image" Target="/ppt/media/image9.jpeg" Id="Rb901ddb13bad47b5" /><Relationship Type="http://schemas.openxmlformats.org/officeDocument/2006/relationships/notesSlide" Target="/ppt/notesSlides/notesSlide3.xml" Id="R53f02fb737a94c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e17a9566f77468b" /><Relationship Type="http://schemas.openxmlformats.org/officeDocument/2006/relationships/image" Target="/ppt/media/image10.jpeg" Id="R29d9bdf9ca4b4410" /><Relationship Type="http://schemas.openxmlformats.org/officeDocument/2006/relationships/image" Target="/ppt/media/image.png" Id="R76bc008acf3f42cb" /><Relationship Type="http://schemas.openxmlformats.org/officeDocument/2006/relationships/image" Target="/ppt/media/image2.png" Id="Ra670ab05ad61408a" /><Relationship Type="http://schemas.openxmlformats.org/officeDocument/2006/relationships/image" Target="/ppt/media/image3.png" Id="R8418b4340dfe4718" /><Relationship Type="http://schemas.openxmlformats.org/officeDocument/2006/relationships/image" Target="/ppt/media/image4.png" Id="R994a57e31c804aa2" /><Relationship Type="http://schemas.openxmlformats.org/officeDocument/2006/relationships/image" Target="/ppt/media/image5.png" Id="Rb3b8c235f9f84349" /><Relationship Type="http://schemas.openxmlformats.org/officeDocument/2006/relationships/notesSlide" Target="/ppt/notesSlides/notesSlide4.xml" Id="R5932eba6d93548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a6b296d71ea42be" /><Relationship Type="http://schemas.openxmlformats.org/officeDocument/2006/relationships/notesSlide" Target="/ppt/notesSlides/notesSlide5.xml" Id="R32eaf664359a42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665dc6981dd4457" /><Relationship Type="http://schemas.openxmlformats.org/officeDocument/2006/relationships/image" Target="/ppt/media/image6.png" Id="Rbf5933c9b261403b" /><Relationship Type="http://schemas.openxmlformats.org/officeDocument/2006/relationships/image" Target="/ppt/media/image7.png" Id="Rc5571fcdcfd34cda" /><Relationship Type="http://schemas.openxmlformats.org/officeDocument/2006/relationships/image" Target="/ppt/media/image8.png" Id="Re695c881597f4c92" /><Relationship Type="http://schemas.openxmlformats.org/officeDocument/2006/relationships/image" Target="/ppt/media/image9.png" Id="Rb9af062ecb354523" /><Relationship Type="http://schemas.openxmlformats.org/officeDocument/2006/relationships/notesSlide" Target="/ppt/notesSlides/notesSlide6.xml" Id="Rd3c21e3c6b4747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46ca510f484b99" /><Relationship Type="http://schemas.openxmlformats.org/officeDocument/2006/relationships/notesSlide" Target="/ppt/notesSlides/notesSlide7.xml" Id="R11cb6b95afcc41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3854dcaaaf44478" /><Relationship Type="http://schemas.openxmlformats.org/officeDocument/2006/relationships/notesSlide" Target="/ppt/notesSlides/notesSlide8.xml" Id="Rae34d130df6c406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13B79018-C86D-436A-A02A-F31A1F46443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CD2DE0-8DE3-45B2-AFFC-44A2960789D0}"/>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FD73E84-87C6-42C1-85EF-CB2DAF840A8F}"/>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複数の現場で得た経験を、中央側AIへ生かす</a:t>
            </a:r>
          </a:p>
        </p:txBody>
      </p:sp>
      <p:sp>
        <p:nvSpPr>
          <p:cNvPr id="4" name="">
            <a:extLst xmlns:a="http://schemas.openxmlformats.org/drawingml/2006/main">
              <a:ext uri="{FF2B5EF4-FFF2-40B4-BE49-F238E27FC236}">
                <a16:creationId xmlns:a16="http://schemas.microsoft.com/office/drawing/2014/main" id="{115D38B2-61AA-4F09-B4E8-F71BB1D6E319}"/>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CF5C0437-36F7-4A6B-A127-979FF72E28AD}"/>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B8FF730-6383-425A-8415-0B478773D700}"/>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ACC9A5A7-FCC7-4C8B-9163-AF17825ACE94}"/>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 / 8</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22cc663089904f18"/>
          <a:srcRect xmlns:a="http://schemas.openxmlformats.org/drawingml/2006/main" l="0" t="85" r="0" b="85"/>
          <a:stretch xmlns:a="http://schemas.openxmlformats.org/drawingml/2006/main">
            <a:fillRect l="0" t="0" r="0" b="0"/>
          </a:stretch>
        </p:blipFill>
        <p:spPr>
          <a:xfrm xmlns:a="http://schemas.openxmlformats.org/drawingml/2006/main">
            <a:off x="590550" y="1162050"/>
            <a:ext cx="2476500" cy="1390650"/>
          </a:xfrm>
          <a:prstGeom xmlns:a="http://schemas.openxmlformats.org/drawingml/2006/main" prst="rect">
            <a:avLst/>
          </a:prstGeom>
        </p:spPr>
      </p:pic>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c3c28fdd506c4b20"/>
          <a:srcRect xmlns:a="http://schemas.openxmlformats.org/drawingml/2006/main" l="0" t="85" r="0" b="85"/>
          <a:stretch xmlns:a="http://schemas.openxmlformats.org/drawingml/2006/main">
            <a:fillRect l="0" t="0" r="0" b="0"/>
          </a:stretch>
        </p:blipFill>
        <p:spPr>
          <a:xfrm xmlns:a="http://schemas.openxmlformats.org/drawingml/2006/main">
            <a:off x="3219450" y="1162050"/>
            <a:ext cx="2476500" cy="1390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F28BBA9-9988-4C31-9277-D69ABB55D8C3}"/>
              </a:ext>
            </a:extLst>
          </p:cNvPr>
          <p:cNvSpPr>
            <a:spLocks xmlns:a="http://schemas.openxmlformats.org/drawingml/2006/main" noGrp="1"/>
          </p:cNvSpPr>
          <p:nvPr/>
        </p:nvSpPr>
        <p:spPr>
          <a:xfrm xmlns:a="http://schemas.openxmlformats.org/drawingml/2006/main">
            <a:off x="590550" y="26479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現場A　昼間・市街地</a:t>
            </a:r>
          </a:p>
        </p:txBody>
      </p:sp>
      <p:sp>
        <p:nvSpPr>
          <p:cNvPr id="11" name="">
            <a:extLst xmlns:a="http://schemas.openxmlformats.org/drawingml/2006/main">
              <a:ext uri="{FF2B5EF4-FFF2-40B4-BE49-F238E27FC236}">
                <a16:creationId xmlns:a16="http://schemas.microsoft.com/office/drawing/2014/main" id="{3EAA66BA-FF0A-4746-8718-C2109444D592}"/>
              </a:ext>
            </a:extLst>
          </p:cNvPr>
          <p:cNvSpPr>
            <a:spLocks xmlns:a="http://schemas.openxmlformats.org/drawingml/2006/main" noGrp="1"/>
          </p:cNvSpPr>
          <p:nvPr/>
        </p:nvSpPr>
        <p:spPr>
          <a:xfrm xmlns:a="http://schemas.openxmlformats.org/drawingml/2006/main">
            <a:off x="3219450" y="26479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現場B　夜間・道路</a:t>
            </a:r>
          </a:p>
        </p:txBody>
      </p:sp>
      <p:sp>
        <p:nvSpPr>
          <p:cNvPr id="12" name="">
            <a:extLst xmlns:a="http://schemas.openxmlformats.org/drawingml/2006/main">
              <a:ext uri="{FF2B5EF4-FFF2-40B4-BE49-F238E27FC236}">
                <a16:creationId xmlns:a16="http://schemas.microsoft.com/office/drawing/2014/main" id="{F03B36BF-C77B-4504-ADB4-E38CF0C73380}"/>
              </a:ext>
            </a:extLst>
          </p:cNvPr>
          <p:cNvSpPr>
            <a:spLocks xmlns:a="http://schemas.openxmlformats.org/drawingml/2006/main" noGrp="1"/>
          </p:cNvSpPr>
          <p:nvPr/>
        </p:nvSpPr>
        <p:spPr>
          <a:xfrm xmlns:a="http://schemas.openxmlformats.org/drawingml/2006/main">
            <a:off x="666750" y="30289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a:solidFill>
                  <a:srgbClr val="173B4B"/>
                </a:solidFill>
                <a:latin typeface="Yu Gothic"/>
                <a:ea typeface="Yu Gothic"/>
                <a:cs typeface="Yu Gothic"/>
              </a:defRPr>
            </a:pPr>
            <a:r>
              <a:rPr sz="1800" b="1">
                <a:solidFill>
                  <a:srgbClr val="173B4B"/>
                </a:solidFill>
                <a:latin typeface="Yu Gothic"/>
                <a:ea typeface="Yu Gothic"/>
                <a:cs typeface="Yu Gothic"/>
              </a:rPr>
              <a:t>同じ危険判定でも、場所・時間・天候により経験する動画が異なる</a:t>
            </a:r>
          </a:p>
        </p:txBody>
      </p:sp>
      <p:sp>
        <p:nvSpPr>
          <p:cNvPr id="13" name="">
            <a:extLst xmlns:a="http://schemas.openxmlformats.org/drawingml/2006/main">
              <a:ext uri="{FF2B5EF4-FFF2-40B4-BE49-F238E27FC236}">
                <a16:creationId xmlns:a16="http://schemas.microsoft.com/office/drawing/2014/main" id="{5723A6DD-2FA0-43AE-A35F-6672C75F0764}"/>
              </a:ext>
            </a:extLst>
          </p:cNvPr>
          <p:cNvSpPr>
            <a:spLocks xmlns:a="http://schemas.openxmlformats.org/drawingml/2006/main" noGrp="1"/>
          </p:cNvSpPr>
          <p:nvPr/>
        </p:nvSpPr>
        <p:spPr>
          <a:xfrm xmlns:a="http://schemas.openxmlformats.org/drawingml/2006/main">
            <a:off x="704850" y="390525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47B78"/>
                </a:solidFill>
                <a:latin typeface="Yu Gothic"/>
                <a:ea typeface="Yu Gothic"/>
                <a:cs typeface="Yu Gothic"/>
              </a:defRPr>
            </a:pPr>
            <a:r>
              <a:rPr sz="1425" b="1">
                <a:solidFill>
                  <a:srgbClr val="147B78"/>
                </a:solidFill>
                <a:latin typeface="Yu Gothic"/>
                <a:ea typeface="Yu Gothic"/>
                <a:cs typeface="Yu Gothic"/>
              </a:rPr>
              <a:t>価値</a:t>
            </a:r>
          </a:p>
        </p:txBody>
      </p:sp>
      <p:sp>
        <p:nvSpPr>
          <p:cNvPr id="14" name="">
            <a:extLst xmlns:a="http://schemas.openxmlformats.org/drawingml/2006/main">
              <a:ext uri="{FF2B5EF4-FFF2-40B4-BE49-F238E27FC236}">
                <a16:creationId xmlns:a16="http://schemas.microsoft.com/office/drawing/2014/main" id="{760B149D-E49E-4B40-96A8-5A2C255D799F}"/>
              </a:ext>
            </a:extLst>
          </p:cNvPr>
          <p:cNvSpPr>
            <a:spLocks xmlns:a="http://schemas.openxmlformats.org/drawingml/2006/main" noGrp="1"/>
          </p:cNvSpPr>
          <p:nvPr/>
        </p:nvSpPr>
        <p:spPr>
          <a:xfrm xmlns:a="http://schemas.openxmlformats.org/drawingml/2006/main">
            <a:off x="704850" y="4238625"/>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26373D"/>
                </a:solidFill>
                <a:latin typeface="Yu Gothic"/>
                <a:ea typeface="Yu Gothic"/>
                <a:cs typeface="Yu Gothic"/>
              </a:defRPr>
            </a:pPr>
            <a:r>
              <a:rPr sz="1875" b="1">
                <a:solidFill>
                  <a:srgbClr val="26373D"/>
                </a:solidFill>
                <a:latin typeface="Yu Gothic"/>
                <a:ea typeface="Yu Gothic"/>
                <a:cs typeface="Yu Gothic"/>
              </a:rPr>
              <a:t>各現場が学んだ判定の変化を、サービス全体の更新に使う</a:t>
            </a:r>
          </a:p>
        </p:txBody>
      </p:sp>
      <p:sp>
        <p:nvSpPr>
          <p:cNvPr id="15" name="">
            <a:extLst xmlns:a="http://schemas.openxmlformats.org/drawingml/2006/main">
              <a:ext uri="{FF2B5EF4-FFF2-40B4-BE49-F238E27FC236}">
                <a16:creationId xmlns:a16="http://schemas.microsoft.com/office/drawing/2014/main" id="{BA6A185B-14B6-4742-AAB6-7A5B71D3DBBC}"/>
              </a:ext>
            </a:extLst>
          </p:cNvPr>
          <p:cNvSpPr>
            <a:spLocks xmlns:a="http://schemas.openxmlformats.org/drawingml/2006/main" noGrp="1"/>
          </p:cNvSpPr>
          <p:nvPr/>
        </p:nvSpPr>
        <p:spPr>
          <a:xfrm xmlns:a="http://schemas.openxmlformats.org/drawingml/2006/main">
            <a:off x="6057900" y="1162050"/>
            <a:ext cx="19050" cy="38862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5C8CFDB-FFA1-48B7-A1B1-2B9492052770}"/>
              </a:ext>
            </a:extLst>
          </p:cNvPr>
          <p:cNvSpPr>
            <a:spLocks xmlns:a="http://schemas.openxmlformats.org/drawingml/2006/main" noGrp="1"/>
          </p:cNvSpPr>
          <p:nvPr/>
        </p:nvSpPr>
        <p:spPr>
          <a:xfrm xmlns:a="http://schemas.openxmlformats.org/drawingml/2006/main">
            <a:off x="6419850" y="11620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現在の接続問題</a:t>
            </a:r>
          </a:p>
        </p:txBody>
      </p:sp>
      <p:sp>
        <p:nvSpPr>
          <p:cNvPr id="17" name="">
            <a:extLst xmlns:a="http://schemas.openxmlformats.org/drawingml/2006/main">
              <a:ext uri="{FF2B5EF4-FFF2-40B4-BE49-F238E27FC236}">
                <a16:creationId xmlns:a16="http://schemas.microsoft.com/office/drawing/2014/main" id="{78B692A7-FE26-44D7-88C2-889F8F4F51DD}"/>
              </a:ext>
            </a:extLst>
          </p:cNvPr>
          <p:cNvSpPr>
            <a:spLocks xmlns:a="http://schemas.openxmlformats.org/drawingml/2006/main" noGrp="1"/>
          </p:cNvSpPr>
          <p:nvPr/>
        </p:nvSpPr>
        <p:spPr>
          <a:xfrm xmlns:a="http://schemas.openxmlformats.org/drawingml/2006/main">
            <a:off x="6477000" y="1790700"/>
            <a:ext cx="133350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連合平均</a:t>
            </a:r>
          </a:p>
        </p:txBody>
      </p:sp>
      <p:sp>
        <p:nvSpPr>
          <p:cNvPr id="18" name="">
            <a:extLst xmlns:a="http://schemas.openxmlformats.org/drawingml/2006/main">
              <a:ext uri="{FF2B5EF4-FFF2-40B4-BE49-F238E27FC236}">
                <a16:creationId xmlns:a16="http://schemas.microsoft.com/office/drawing/2014/main" id="{66379C21-DAC4-4A75-B927-7FF2A36F70E9}"/>
              </a:ext>
            </a:extLst>
          </p:cNvPr>
          <p:cNvSpPr>
            <a:spLocks xmlns:a="http://schemas.openxmlformats.org/drawingml/2006/main" noGrp="1"/>
          </p:cNvSpPr>
          <p:nvPr/>
        </p:nvSpPr>
        <p:spPr>
          <a:xfrm xmlns:a="http://schemas.openxmlformats.org/drawingml/2006/main">
            <a:off x="8020050" y="17907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同じ構造の小型AI同士はまとめられる</a:t>
            </a:r>
          </a:p>
        </p:txBody>
      </p:sp>
      <p:sp>
        <p:nvSpPr>
          <p:cNvPr id="19" name="">
            <a:extLst xmlns:a="http://schemas.openxmlformats.org/drawingml/2006/main">
              <a:ext uri="{FF2B5EF4-FFF2-40B4-BE49-F238E27FC236}">
                <a16:creationId xmlns:a16="http://schemas.microsoft.com/office/drawing/2014/main" id="{127B499F-8C1E-4A9E-899D-2EDAD0599AC5}"/>
              </a:ext>
            </a:extLst>
          </p:cNvPr>
          <p:cNvSpPr>
            <a:spLocks xmlns:a="http://schemas.openxmlformats.org/drawingml/2006/main" noGrp="1"/>
          </p:cNvSpPr>
          <p:nvPr/>
        </p:nvSpPr>
        <p:spPr>
          <a:xfrm xmlns:a="http://schemas.openxmlformats.org/drawingml/2006/main">
            <a:off x="6486525" y="2514600"/>
            <a:ext cx="895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B94A3A"/>
                </a:solidFill>
                <a:latin typeface="Yu Gothic"/>
                <a:ea typeface="Yu Gothic"/>
                <a:cs typeface="Yu Gothic"/>
              </a:defRPr>
            </a:pPr>
            <a:r>
              <a:rPr sz="1350" b="1">
                <a:solidFill>
                  <a:srgbClr val="B94A3A"/>
                </a:solidFill>
                <a:latin typeface="Yu Gothic"/>
                <a:ea typeface="Yu Gothic"/>
                <a:cs typeface="Yu Gothic"/>
              </a:rPr>
              <a:t>しかし</a:t>
            </a:r>
          </a:p>
        </p:txBody>
      </p:sp>
      <p:sp>
        <p:nvSpPr>
          <p:cNvPr id="20" name="">
            <a:extLst xmlns:a="http://schemas.openxmlformats.org/drawingml/2006/main">
              <a:ext uri="{FF2B5EF4-FFF2-40B4-BE49-F238E27FC236}">
                <a16:creationId xmlns:a16="http://schemas.microsoft.com/office/drawing/2014/main" id="{6F9AD7E8-67CA-413E-8DB3-7F5A8FB6FFFC}"/>
              </a:ext>
            </a:extLst>
          </p:cNvPr>
          <p:cNvSpPr>
            <a:spLocks xmlns:a="http://schemas.openxmlformats.org/drawingml/2006/main" noGrp="1"/>
          </p:cNvSpPr>
          <p:nvPr/>
        </p:nvSpPr>
        <p:spPr>
          <a:xfrm xmlns:a="http://schemas.openxmlformats.org/drawingml/2006/main">
            <a:off x="6486525" y="2876550"/>
            <a:ext cx="457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73B4B"/>
                </a:solidFill>
                <a:latin typeface="Yu Gothic"/>
                <a:ea typeface="Yu Gothic"/>
                <a:cs typeface="Yu Gothic"/>
              </a:defRPr>
            </a:pPr>
            <a:r>
              <a:rPr sz="1875" b="1">
                <a:solidFill>
                  <a:srgbClr val="173B4B"/>
                </a:solidFill>
                <a:latin typeface="Yu Gothic"/>
                <a:ea typeface="Yu Gothic"/>
                <a:cs typeface="Yu Gothic"/>
              </a:rPr>
              <a:t>構造や規模が異なる中央側AIへ、更新値をそのまま渡せない</a:t>
            </a:r>
          </a:p>
        </p:txBody>
      </p:sp>
      <p:sp>
        <p:nvSpPr>
          <p:cNvPr id="21" name="">
            <a:extLst xmlns:a="http://schemas.openxmlformats.org/drawingml/2006/main">
              <a:ext uri="{FF2B5EF4-FFF2-40B4-BE49-F238E27FC236}">
                <a16:creationId xmlns:a16="http://schemas.microsoft.com/office/drawing/2014/main" id="{CE60FE82-82AB-45B5-9D34-198926135675}"/>
              </a:ext>
            </a:extLst>
          </p:cNvPr>
          <p:cNvSpPr>
            <a:spLocks xmlns:a="http://schemas.openxmlformats.org/drawingml/2006/main" noGrp="1"/>
          </p:cNvSpPr>
          <p:nvPr/>
        </p:nvSpPr>
        <p:spPr>
          <a:xfrm xmlns:a="http://schemas.openxmlformats.org/drawingml/2006/main">
            <a:off x="6486525" y="386715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617078"/>
                </a:solidFill>
                <a:latin typeface="Yu Gothic"/>
                <a:ea typeface="Yu Gothic"/>
                <a:cs typeface="Yu Gothic"/>
              </a:defRPr>
            </a:pPr>
            <a:r>
              <a:rPr sz="1500" b="0">
                <a:solidFill>
                  <a:srgbClr val="617078"/>
                </a:solidFill>
                <a:latin typeface="Yu Gothic"/>
                <a:ea typeface="Yu Gothic"/>
                <a:cs typeface="Yu Gothic"/>
              </a:rPr>
              <a:t>現場動画を中央へ集めない条件では、共通の入力を使った橋渡しも難しい</a:t>
            </a:r>
          </a:p>
        </p:txBody>
      </p:sp>
      <p:sp>
        <p:nvSpPr>
          <p:cNvPr id="22" name="">
            <a:extLst xmlns:a="http://schemas.openxmlformats.org/drawingml/2006/main">
              <a:ext uri="{FF2B5EF4-FFF2-40B4-BE49-F238E27FC236}">
                <a16:creationId xmlns:a16="http://schemas.microsoft.com/office/drawing/2014/main" id="{C7C86921-1C51-4B02-8DEF-E9BB2B72010B}"/>
              </a:ext>
            </a:extLst>
          </p:cNvPr>
          <p:cNvSpPr>
            <a:spLocks xmlns:a="http://schemas.openxmlformats.org/drawingml/2006/main" noGrp="1"/>
          </p:cNvSpPr>
          <p:nvPr/>
        </p:nvSpPr>
        <p:spPr>
          <a:xfrm xmlns:a="http://schemas.openxmlformats.org/drawingml/2006/main">
            <a:off x="6429375" y="4714875"/>
            <a:ext cx="4762500" cy="68580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967FC21-6114-4024-AFE2-F055375DD3F7}"/>
              </a:ext>
            </a:extLst>
          </p:cNvPr>
          <p:cNvSpPr>
            <a:spLocks xmlns:a="http://schemas.openxmlformats.org/drawingml/2006/main" noGrp="1"/>
          </p:cNvSpPr>
          <p:nvPr/>
        </p:nvSpPr>
        <p:spPr>
          <a:xfrm xmlns:a="http://schemas.openxmlformats.org/drawingml/2006/main">
            <a:off x="6667500" y="486727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1439"/>
          </a:bodyPr>
          <a:lstStyle xmlns:a="http://schemas.openxmlformats.org/drawingml/2006/main"/>
          <a:p xmlns:a="http://schemas.openxmlformats.org/drawingml/2006/main">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FedPACT：現場で生じた判定の変化を、中央側の動画上に表して学習へ使う</a:t>
            </a:r>
          </a:p>
        </p:txBody>
      </p:sp>
      <p:sp>
        <p:nvSpPr>
          <p:cNvPr id="24" name="">
            <a:extLst xmlns:a="http://schemas.openxmlformats.org/drawingml/2006/main">
              <a:ext uri="{FF2B5EF4-FFF2-40B4-BE49-F238E27FC236}">
                <a16:creationId xmlns:a16="http://schemas.microsoft.com/office/drawing/2014/main" id="{BA2A0C76-B9EC-44D6-9BEC-B781C453C22E}"/>
              </a:ext>
            </a:extLst>
          </p:cNvPr>
          <p:cNvSpPr>
            <a:spLocks xmlns:a="http://schemas.openxmlformats.org/drawingml/2006/main" noGrp="1"/>
          </p:cNvSpPr>
          <p:nvPr/>
        </p:nvSpPr>
        <p:spPr>
          <a:xfrm xmlns:a="http://schemas.openxmlformats.org/drawingml/2006/main">
            <a:off x="628650" y="5610225"/>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17078"/>
                </a:solidFill>
                <a:latin typeface="Yu Gothic"/>
                <a:ea typeface="Yu Gothic"/>
                <a:cs typeface="Yu Gothic"/>
              </a:defRPr>
            </a:pPr>
            <a:r>
              <a:rPr sz="1275" b="1">
                <a:solidFill>
                  <a:srgbClr val="617078"/>
                </a:solidFill>
                <a:latin typeface="Yu Gothic"/>
                <a:ea typeface="Yu Gothic"/>
                <a:cs typeface="Yu Gothic"/>
              </a:rPr>
              <a:t>発表の順番</a:t>
            </a:r>
          </a:p>
        </p:txBody>
      </p:sp>
      <p:sp>
        <p:nvSpPr>
          <p:cNvPr id="25" name="">
            <a:extLst xmlns:a="http://schemas.openxmlformats.org/drawingml/2006/main">
              <a:ext uri="{FF2B5EF4-FFF2-40B4-BE49-F238E27FC236}">
                <a16:creationId xmlns:a16="http://schemas.microsoft.com/office/drawing/2014/main" id="{AD44EC5E-48C5-4D6D-8D32-86717E5EE8FE}"/>
              </a:ext>
            </a:extLst>
          </p:cNvPr>
          <p:cNvSpPr>
            <a:spLocks xmlns:a="http://schemas.openxmlformats.org/drawingml/2006/main" noGrp="1"/>
          </p:cNvSpPr>
          <p:nvPr/>
        </p:nvSpPr>
        <p:spPr>
          <a:xfrm xmlns:a="http://schemas.openxmlformats.org/drawingml/2006/main">
            <a:off x="21336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A112B7C-A203-4049-A7B6-41513B1AD6B8}"/>
              </a:ext>
            </a:extLst>
          </p:cNvPr>
          <p:cNvSpPr>
            <a:spLocks xmlns:a="http://schemas.openxmlformats.org/drawingml/2006/main" noGrp="1"/>
          </p:cNvSpPr>
          <p:nvPr/>
        </p:nvSpPr>
        <p:spPr>
          <a:xfrm xmlns:a="http://schemas.openxmlformats.org/drawingml/2006/main">
            <a:off x="21336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27" name="">
            <a:extLst xmlns:a="http://schemas.openxmlformats.org/drawingml/2006/main">
              <a:ext uri="{FF2B5EF4-FFF2-40B4-BE49-F238E27FC236}">
                <a16:creationId xmlns:a16="http://schemas.microsoft.com/office/drawing/2014/main" id="{BD1B0C54-1E29-429B-9B63-DFD5C79B4329}"/>
              </a:ext>
            </a:extLst>
          </p:cNvPr>
          <p:cNvSpPr>
            <a:spLocks xmlns:a="http://schemas.openxmlformats.org/drawingml/2006/main" noGrp="1"/>
          </p:cNvSpPr>
          <p:nvPr/>
        </p:nvSpPr>
        <p:spPr>
          <a:xfrm xmlns:a="http://schemas.openxmlformats.org/drawingml/2006/main">
            <a:off x="26479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変化を測る</a:t>
            </a:r>
          </a:p>
        </p:txBody>
      </p:sp>
      <p:sp>
        <p:nvSpPr>
          <p:cNvPr id="28" name="">
            <a:extLst xmlns:a="http://schemas.openxmlformats.org/drawingml/2006/main">
              <a:ext uri="{FF2B5EF4-FFF2-40B4-BE49-F238E27FC236}">
                <a16:creationId xmlns:a16="http://schemas.microsoft.com/office/drawing/2014/main" id="{25914A43-ABA3-4B86-9AE0-04D1D7E7B4D6}"/>
              </a:ext>
            </a:extLst>
          </p:cNvPr>
          <p:cNvSpPr>
            <a:spLocks xmlns:a="http://schemas.openxmlformats.org/drawingml/2006/main" noGrp="1"/>
          </p:cNvSpPr>
          <p:nvPr/>
        </p:nvSpPr>
        <p:spPr>
          <a:xfrm xmlns:a="http://schemas.openxmlformats.org/drawingml/2006/main">
            <a:off x="41624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83EA17D-FECC-4E67-8007-C5DC0FB1F77F}"/>
              </a:ext>
            </a:extLst>
          </p:cNvPr>
          <p:cNvSpPr>
            <a:spLocks xmlns:a="http://schemas.openxmlformats.org/drawingml/2006/main" noGrp="1"/>
          </p:cNvSpPr>
          <p:nvPr/>
        </p:nvSpPr>
        <p:spPr>
          <a:xfrm xmlns:a="http://schemas.openxmlformats.org/drawingml/2006/main">
            <a:off x="44958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E5B1C7F-3DED-4A36-97E9-7E77C3B33241}"/>
              </a:ext>
            </a:extLst>
          </p:cNvPr>
          <p:cNvSpPr>
            <a:spLocks xmlns:a="http://schemas.openxmlformats.org/drawingml/2006/main" noGrp="1"/>
          </p:cNvSpPr>
          <p:nvPr/>
        </p:nvSpPr>
        <p:spPr>
          <a:xfrm xmlns:a="http://schemas.openxmlformats.org/drawingml/2006/main">
            <a:off x="44958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31" name="">
            <a:extLst xmlns:a="http://schemas.openxmlformats.org/drawingml/2006/main">
              <a:ext uri="{FF2B5EF4-FFF2-40B4-BE49-F238E27FC236}">
                <a16:creationId xmlns:a16="http://schemas.microsoft.com/office/drawing/2014/main" id="{FF0DE15A-3E0A-4E0F-9141-1770ABBE65D3}"/>
              </a:ext>
            </a:extLst>
          </p:cNvPr>
          <p:cNvSpPr>
            <a:spLocks xmlns:a="http://schemas.openxmlformats.org/drawingml/2006/main" noGrp="1"/>
          </p:cNvSpPr>
          <p:nvPr/>
        </p:nvSpPr>
        <p:spPr>
          <a:xfrm xmlns:a="http://schemas.openxmlformats.org/drawingml/2006/main">
            <a:off x="50101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複数動画を要約</a:t>
            </a:r>
          </a:p>
        </p:txBody>
      </p:sp>
      <p:sp>
        <p:nvSpPr>
          <p:cNvPr id="32" name="">
            <a:extLst xmlns:a="http://schemas.openxmlformats.org/drawingml/2006/main">
              <a:ext uri="{FF2B5EF4-FFF2-40B4-BE49-F238E27FC236}">
                <a16:creationId xmlns:a16="http://schemas.microsoft.com/office/drawing/2014/main" id="{AA769E78-D040-4839-A7CD-9F2114D6A7A1}"/>
              </a:ext>
            </a:extLst>
          </p:cNvPr>
          <p:cNvSpPr>
            <a:spLocks xmlns:a="http://schemas.openxmlformats.org/drawingml/2006/main" noGrp="1"/>
          </p:cNvSpPr>
          <p:nvPr/>
        </p:nvSpPr>
        <p:spPr>
          <a:xfrm xmlns:a="http://schemas.openxmlformats.org/drawingml/2006/main">
            <a:off x="65246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C01454B-408B-453C-829C-8D6CFE83BAEA}"/>
              </a:ext>
            </a:extLst>
          </p:cNvPr>
          <p:cNvSpPr>
            <a:spLocks xmlns:a="http://schemas.openxmlformats.org/drawingml/2006/main" noGrp="1"/>
          </p:cNvSpPr>
          <p:nvPr/>
        </p:nvSpPr>
        <p:spPr>
          <a:xfrm xmlns:a="http://schemas.openxmlformats.org/drawingml/2006/main">
            <a:off x="6858000" y="5514975"/>
            <a:ext cx="400050" cy="400050"/>
          </a:xfrm>
          <a:prstGeom xmlns:a="http://schemas.openxmlformats.org/drawingml/2006/main" prst="ellipse">
            <a:avLst/>
          </a:prstGeom>
          <a:solidFill xmlns:a="http://schemas.openxmlformats.org/drawingml/2006/main">
            <a:srgbClr val="E7833D"/>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AADC6E84-3050-4654-80C7-1285B1293952}"/>
              </a:ext>
            </a:extLst>
          </p:cNvPr>
          <p:cNvSpPr>
            <a:spLocks xmlns:a="http://schemas.openxmlformats.org/drawingml/2006/main" noGrp="1"/>
          </p:cNvSpPr>
          <p:nvPr/>
        </p:nvSpPr>
        <p:spPr>
          <a:xfrm xmlns:a="http://schemas.openxmlformats.org/drawingml/2006/main">
            <a:off x="68580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35" name="">
            <a:extLst xmlns:a="http://schemas.openxmlformats.org/drawingml/2006/main">
              <a:ext uri="{FF2B5EF4-FFF2-40B4-BE49-F238E27FC236}">
                <a16:creationId xmlns:a16="http://schemas.microsoft.com/office/drawing/2014/main" id="{258D3FF8-E5D2-4964-B4D0-670179FDBD0C}"/>
              </a:ext>
            </a:extLst>
          </p:cNvPr>
          <p:cNvSpPr>
            <a:spLocks xmlns:a="http://schemas.openxmlformats.org/drawingml/2006/main" noGrp="1"/>
          </p:cNvSpPr>
          <p:nvPr/>
        </p:nvSpPr>
        <p:spPr>
          <a:xfrm xmlns:a="http://schemas.openxmlformats.org/drawingml/2006/main">
            <a:off x="73723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697"/>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中央側の動画上に表す</a:t>
            </a:r>
          </a:p>
        </p:txBody>
      </p:sp>
      <p:sp>
        <p:nvSpPr>
          <p:cNvPr id="36" name="">
            <a:extLst xmlns:a="http://schemas.openxmlformats.org/drawingml/2006/main">
              <a:ext uri="{FF2B5EF4-FFF2-40B4-BE49-F238E27FC236}">
                <a16:creationId xmlns:a16="http://schemas.microsoft.com/office/drawing/2014/main" id="{FD05461C-FF08-40AC-B44E-40E02E3C0A4A}"/>
              </a:ext>
            </a:extLst>
          </p:cNvPr>
          <p:cNvSpPr>
            <a:spLocks xmlns:a="http://schemas.openxmlformats.org/drawingml/2006/main" noGrp="1"/>
          </p:cNvSpPr>
          <p:nvPr/>
        </p:nvSpPr>
        <p:spPr>
          <a:xfrm xmlns:a="http://schemas.openxmlformats.org/drawingml/2006/main">
            <a:off x="88868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4AE26E0-1BF1-4CEF-ABC9-3C61C32F3B4C}"/>
              </a:ext>
            </a:extLst>
          </p:cNvPr>
          <p:cNvSpPr>
            <a:spLocks xmlns:a="http://schemas.openxmlformats.org/drawingml/2006/main" noGrp="1"/>
          </p:cNvSpPr>
          <p:nvPr/>
        </p:nvSpPr>
        <p:spPr>
          <a:xfrm xmlns:a="http://schemas.openxmlformats.org/drawingml/2006/main">
            <a:off x="92202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F6A97E15-0E30-4738-8431-0B65541258BA}"/>
              </a:ext>
            </a:extLst>
          </p:cNvPr>
          <p:cNvSpPr>
            <a:spLocks xmlns:a="http://schemas.openxmlformats.org/drawingml/2006/main" noGrp="1"/>
          </p:cNvSpPr>
          <p:nvPr/>
        </p:nvSpPr>
        <p:spPr>
          <a:xfrm xmlns:a="http://schemas.openxmlformats.org/drawingml/2006/main">
            <a:off x="92202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4</a:t>
            </a:r>
          </a:p>
        </p:txBody>
      </p:sp>
      <p:sp>
        <p:nvSpPr>
          <p:cNvPr id="39" name="">
            <a:extLst xmlns:a="http://schemas.openxmlformats.org/drawingml/2006/main">
              <a:ext uri="{FF2B5EF4-FFF2-40B4-BE49-F238E27FC236}">
                <a16:creationId xmlns:a16="http://schemas.microsoft.com/office/drawing/2014/main" id="{3C8BB171-9737-4786-B25F-2BFFBB3F4D06}"/>
              </a:ext>
            </a:extLst>
          </p:cNvPr>
          <p:cNvSpPr>
            <a:spLocks xmlns:a="http://schemas.openxmlformats.org/drawingml/2006/main" noGrp="1"/>
          </p:cNvSpPr>
          <p:nvPr/>
        </p:nvSpPr>
        <p:spPr>
          <a:xfrm xmlns:a="http://schemas.openxmlformats.org/drawingml/2006/main">
            <a:off x="97345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40" name="">
            <a:extLst xmlns:a="http://schemas.openxmlformats.org/drawingml/2006/main">
              <a:ext uri="{FF2B5EF4-FFF2-40B4-BE49-F238E27FC236}">
                <a16:creationId xmlns:a16="http://schemas.microsoft.com/office/drawing/2014/main" id="{0746C8DC-A363-4499-94EA-49B638A46A9A}"/>
              </a:ext>
            </a:extLst>
          </p:cNvPr>
          <p:cNvSpPr>
            <a:spLocks xmlns:a="http://schemas.openxmlformats.org/drawingml/2006/main" noGrp="1"/>
          </p:cNvSpPr>
          <p:nvPr/>
        </p:nvSpPr>
        <p:spPr>
          <a:xfrm xmlns:a="http://schemas.openxmlformats.org/drawingml/2006/main">
            <a:off x="857250" y="6076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47B78"/>
                </a:solidFill>
                <a:latin typeface="Yu Gothic"/>
                <a:ea typeface="Yu Gothic"/>
                <a:cs typeface="Yu Gothic"/>
              </a:defRPr>
            </a:pPr>
            <a:r>
              <a:rPr sz="1350" b="1">
                <a:solidFill>
                  <a:srgbClr val="147B78"/>
                </a:solidFill>
                <a:latin typeface="Yu Gothic"/>
                <a:ea typeface="Yu Gothic"/>
                <a:cs typeface="Yu Gothic"/>
              </a:rPr>
              <a:t>対象は共通タスク上の予測挙動。映像の意味内容全体や危険原因の説明は対象外</a:t>
            </a:r>
          </a:p>
        </p:txBody>
      </p:sp>
    </p:spTree>
    <p:extLst>
      <p:ext uri="{BB962C8B-B14F-4D97-AF65-F5344CB8AC3E}">
        <p14:creationId xmlns:p14="http://schemas.microsoft.com/office/powerpoint/2010/main" val="1418051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3B5A0BF-2F67-4EB7-A4CA-D453E9D6542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DB329B-CC7E-46AB-A4E4-80DC2DF86403}"/>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D958DCE-FCAF-4C4B-A832-E86A3F3F9304}"/>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1本の動画で、学習前後の判定変化を測る</a:t>
            </a:r>
          </a:p>
        </p:txBody>
      </p:sp>
      <p:sp>
        <p:nvSpPr>
          <p:cNvPr id="4" name="">
            <a:extLst xmlns:a="http://schemas.openxmlformats.org/drawingml/2006/main">
              <a:ext uri="{FF2B5EF4-FFF2-40B4-BE49-F238E27FC236}">
                <a16:creationId xmlns:a16="http://schemas.microsoft.com/office/drawing/2014/main" id="{60480A4D-79B6-4C48-B913-A7FBC5F112C9}"/>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AE83056A-27CF-43F9-A8BB-EC58EA5B3907}"/>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205C194-9836-497C-BD22-C0FBFF8C4458}"/>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DC190C72-36AA-4788-AD08-29C88A4B284E}"/>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2 / 8</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781d1fecdb974ee0"/>
          <a:srcRect xmlns:a="http://schemas.openxmlformats.org/drawingml/2006/main" l="41" t="0" r="41" b="0"/>
          <a:stretch xmlns:a="http://schemas.openxmlformats.org/drawingml/2006/main">
            <a:fillRect l="0" t="0" r="0" b="0"/>
          </a:stretch>
        </p:blipFill>
        <p:spPr>
          <a:xfrm xmlns:a="http://schemas.openxmlformats.org/drawingml/2006/main">
            <a:off x="552450" y="1162050"/>
            <a:ext cx="2571750" cy="1447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0AA89A4-D85A-4BAD-A48A-5F0BE96A195B}"/>
              </a:ext>
            </a:extLst>
          </p:cNvPr>
          <p:cNvSpPr>
            <a:spLocks xmlns:a="http://schemas.openxmlformats.org/drawingml/2006/main" noGrp="1"/>
          </p:cNvSpPr>
          <p:nvPr/>
        </p:nvSpPr>
        <p:spPr>
          <a:xfrm xmlns:a="http://schemas.openxmlformats.org/drawingml/2006/main">
            <a:off x="5524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危険区間の開始</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fed2f53d0069498d"/>
          <a:srcRect xmlns:a="http://schemas.openxmlformats.org/drawingml/2006/main" l="41" t="0" r="41" b="0"/>
          <a:stretch xmlns:a="http://schemas.openxmlformats.org/drawingml/2006/main">
            <a:fillRect l="0" t="0" r="0" b="0"/>
          </a:stretch>
        </p:blipFill>
        <p:spPr>
          <a:xfrm xmlns:a="http://schemas.openxmlformats.org/drawingml/2006/main">
            <a:off x="3371850" y="1162050"/>
            <a:ext cx="2571750" cy="1447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DAD080CB-71AC-458B-AF70-2A0FF2C055A5}"/>
              </a:ext>
            </a:extLst>
          </p:cNvPr>
          <p:cNvSpPr>
            <a:spLocks xmlns:a="http://schemas.openxmlformats.org/drawingml/2006/main" noGrp="1"/>
          </p:cNvSpPr>
          <p:nvPr/>
        </p:nvSpPr>
        <p:spPr>
          <a:xfrm xmlns:a="http://schemas.openxmlformats.org/drawingml/2006/main">
            <a:off x="33718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約33%</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2ae7903fc7fc47f7"/>
          <a:srcRect xmlns:a="http://schemas.openxmlformats.org/drawingml/2006/main" l="41" t="0" r="41" b="0"/>
          <a:stretch xmlns:a="http://schemas.openxmlformats.org/drawingml/2006/main">
            <a:fillRect l="0" t="0" r="0" b="0"/>
          </a:stretch>
        </p:blipFill>
        <p:spPr>
          <a:xfrm xmlns:a="http://schemas.openxmlformats.org/drawingml/2006/main">
            <a:off x="6191250" y="1162050"/>
            <a:ext cx="2571750" cy="14478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D5BD6BE-2B5B-4548-9EA4-7F4990025465}"/>
              </a:ext>
            </a:extLst>
          </p:cNvPr>
          <p:cNvSpPr>
            <a:spLocks xmlns:a="http://schemas.openxmlformats.org/drawingml/2006/main" noGrp="1"/>
          </p:cNvSpPr>
          <p:nvPr/>
        </p:nvSpPr>
        <p:spPr>
          <a:xfrm xmlns:a="http://schemas.openxmlformats.org/drawingml/2006/main">
            <a:off x="61912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約67%</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ef46640e9c584af9"/>
          <a:srcRect xmlns:a="http://schemas.openxmlformats.org/drawingml/2006/main" l="41" t="0" r="41" b="0"/>
          <a:stretch xmlns:a="http://schemas.openxmlformats.org/drawingml/2006/main">
            <a:fillRect l="0" t="0" r="0" b="0"/>
          </a:stretch>
        </p:blipFill>
        <p:spPr>
          <a:xfrm xmlns:a="http://schemas.openxmlformats.org/drawingml/2006/main">
            <a:off x="9010650" y="1162050"/>
            <a:ext cx="2571750" cy="14478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55A67253-B3B2-4BC7-9597-F0924BE4644F}"/>
              </a:ext>
            </a:extLst>
          </p:cNvPr>
          <p:cNvSpPr>
            <a:spLocks xmlns:a="http://schemas.openxmlformats.org/drawingml/2006/main" noGrp="1"/>
          </p:cNvSpPr>
          <p:nvPr/>
        </p:nvSpPr>
        <p:spPr>
          <a:xfrm xmlns:a="http://schemas.openxmlformats.org/drawingml/2006/main">
            <a:off x="90106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危険事象の時点</a:t>
            </a:r>
          </a:p>
        </p:txBody>
      </p:sp>
      <p:sp>
        <p:nvSpPr>
          <p:cNvPr id="16" name="">
            <a:extLst xmlns:a="http://schemas.openxmlformats.org/drawingml/2006/main">
              <a:ext uri="{FF2B5EF4-FFF2-40B4-BE49-F238E27FC236}">
                <a16:creationId xmlns:a16="http://schemas.microsoft.com/office/drawing/2014/main" id="{FB903017-2505-4725-8FB9-CA8778592E56}"/>
              </a:ext>
            </a:extLst>
          </p:cNvPr>
          <p:cNvSpPr>
            <a:spLocks xmlns:a="http://schemas.openxmlformats.org/drawingml/2006/main" noGrp="1"/>
          </p:cNvSpPr>
          <p:nvPr/>
        </p:nvSpPr>
        <p:spPr>
          <a:xfrm xmlns:a="http://schemas.openxmlformats.org/drawingml/2006/main">
            <a:off x="723900" y="30956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147B78"/>
                </a:solidFill>
                <a:latin typeface="Yu Gothic"/>
                <a:ea typeface="Yu Gothic"/>
                <a:cs typeface="Yu Gothic"/>
              </a:defRPr>
            </a:pPr>
            <a:r>
              <a:rPr sz="1425" b="1">
                <a:solidFill>
                  <a:srgbClr val="147B78"/>
                </a:solidFill>
                <a:latin typeface="Yu Gothic"/>
                <a:ea typeface="Yu Gothic"/>
                <a:cs typeface="Yu Gothic"/>
              </a:rPr>
              <a:t>q = [通常の確率, 危険の確率]　この例では危険の確率だけを表示</a:t>
            </a:r>
          </a:p>
        </p:txBody>
      </p:sp>
      <p:sp>
        <p:nvSpPr>
          <p:cNvPr id="17" name="">
            <a:extLst xmlns:a="http://schemas.openxmlformats.org/drawingml/2006/main">
              <a:ext uri="{FF2B5EF4-FFF2-40B4-BE49-F238E27FC236}">
                <a16:creationId xmlns:a16="http://schemas.microsoft.com/office/drawing/2014/main" id="{A285E1F6-D965-4657-8D74-D085CBF77E6C}"/>
              </a:ext>
            </a:extLst>
          </p:cNvPr>
          <p:cNvSpPr>
            <a:spLocks xmlns:a="http://schemas.openxmlformats.org/drawingml/2006/main" noGrp="1"/>
          </p:cNvSpPr>
          <p:nvPr/>
        </p:nvSpPr>
        <p:spPr>
          <a:xfrm xmlns:a="http://schemas.openxmlformats.org/drawingml/2006/main">
            <a:off x="93345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学習前  q^{pre}</a:t>
            </a:r>
          </a:p>
        </p:txBody>
      </p:sp>
      <p:sp>
        <p:nvSpPr>
          <p:cNvPr id="18" name="">
            <a:extLst xmlns:a="http://schemas.openxmlformats.org/drawingml/2006/main">
              <a:ext uri="{FF2B5EF4-FFF2-40B4-BE49-F238E27FC236}">
                <a16:creationId xmlns:a16="http://schemas.microsoft.com/office/drawing/2014/main" id="{94B6992A-2499-4B01-B906-38F5309DC2DA}"/>
              </a:ext>
            </a:extLst>
          </p:cNvPr>
          <p:cNvSpPr>
            <a:spLocks xmlns:a="http://schemas.openxmlformats.org/drawingml/2006/main" noGrp="1"/>
          </p:cNvSpPr>
          <p:nvPr/>
        </p:nvSpPr>
        <p:spPr>
          <a:xfrm xmlns:a="http://schemas.openxmlformats.org/drawingml/2006/main">
            <a:off x="93345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0.349</a:t>
            </a:r>
          </a:p>
        </p:txBody>
      </p:sp>
      <p:sp>
        <p:nvSpPr>
          <p:cNvPr id="19" name="">
            <a:extLst xmlns:a="http://schemas.openxmlformats.org/drawingml/2006/main">
              <a:ext uri="{FF2B5EF4-FFF2-40B4-BE49-F238E27FC236}">
                <a16:creationId xmlns:a16="http://schemas.microsoft.com/office/drawing/2014/main" id="{05B79D02-EBBD-4BD1-9FC2-497FB979F140}"/>
              </a:ext>
            </a:extLst>
          </p:cNvPr>
          <p:cNvSpPr>
            <a:spLocks xmlns:a="http://schemas.openxmlformats.org/drawingml/2006/main" noGrp="1"/>
          </p:cNvSpPr>
          <p:nvPr/>
        </p:nvSpPr>
        <p:spPr>
          <a:xfrm xmlns:a="http://schemas.openxmlformats.org/drawingml/2006/main">
            <a:off x="93345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局所学習前の危険確率</a:t>
            </a:r>
          </a:p>
        </p:txBody>
      </p:sp>
      <p:sp>
        <p:nvSpPr>
          <p:cNvPr id="20" name="">
            <a:extLst xmlns:a="http://schemas.openxmlformats.org/drawingml/2006/main">
              <a:ext uri="{FF2B5EF4-FFF2-40B4-BE49-F238E27FC236}">
                <a16:creationId xmlns:a16="http://schemas.microsoft.com/office/drawing/2014/main" id="{20C4D99E-BC1D-4C12-8893-85BEA4A254F0}"/>
              </a:ext>
            </a:extLst>
          </p:cNvPr>
          <p:cNvSpPr>
            <a:spLocks xmlns:a="http://schemas.openxmlformats.org/drawingml/2006/main" noGrp="1"/>
          </p:cNvSpPr>
          <p:nvPr/>
        </p:nvSpPr>
        <p:spPr>
          <a:xfrm xmlns:a="http://schemas.openxmlformats.org/drawingml/2006/main">
            <a:off x="4171950" y="3743325"/>
            <a:ext cx="19050" cy="128587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2F93E2E-1235-4C41-93E6-FD161A51E8F5}"/>
              </a:ext>
            </a:extLst>
          </p:cNvPr>
          <p:cNvSpPr>
            <a:spLocks xmlns:a="http://schemas.openxmlformats.org/drawingml/2006/main" noGrp="1"/>
          </p:cNvSpPr>
          <p:nvPr/>
        </p:nvSpPr>
        <p:spPr>
          <a:xfrm xmlns:a="http://schemas.openxmlformats.org/drawingml/2006/main">
            <a:off x="464820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学習後  q^{post}</a:t>
            </a:r>
          </a:p>
        </p:txBody>
      </p:sp>
      <p:sp>
        <p:nvSpPr>
          <p:cNvPr id="22" name="">
            <a:extLst xmlns:a="http://schemas.openxmlformats.org/drawingml/2006/main">
              <a:ext uri="{FF2B5EF4-FFF2-40B4-BE49-F238E27FC236}">
                <a16:creationId xmlns:a16="http://schemas.microsoft.com/office/drawing/2014/main" id="{F1F55283-CB67-4844-B8A2-27D3A317101E}"/>
              </a:ext>
            </a:extLst>
          </p:cNvPr>
          <p:cNvSpPr>
            <a:spLocks xmlns:a="http://schemas.openxmlformats.org/drawingml/2006/main" noGrp="1"/>
          </p:cNvSpPr>
          <p:nvPr/>
        </p:nvSpPr>
        <p:spPr>
          <a:xfrm xmlns:a="http://schemas.openxmlformats.org/drawingml/2006/main">
            <a:off x="464820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0.644</a:t>
            </a:r>
          </a:p>
        </p:txBody>
      </p:sp>
      <p:sp>
        <p:nvSpPr>
          <p:cNvPr id="23" name="">
            <a:extLst xmlns:a="http://schemas.openxmlformats.org/drawingml/2006/main">
              <a:ext uri="{FF2B5EF4-FFF2-40B4-BE49-F238E27FC236}">
                <a16:creationId xmlns:a16="http://schemas.microsoft.com/office/drawing/2014/main" id="{03034785-A516-41AD-ABE5-DE281D45D839}"/>
              </a:ext>
            </a:extLst>
          </p:cNvPr>
          <p:cNvSpPr>
            <a:spLocks xmlns:a="http://schemas.openxmlformats.org/drawingml/2006/main" noGrp="1"/>
          </p:cNvSpPr>
          <p:nvPr/>
        </p:nvSpPr>
        <p:spPr>
          <a:xfrm xmlns:a="http://schemas.openxmlformats.org/drawingml/2006/main">
            <a:off x="464820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同じ動画を学習後に再判定</a:t>
            </a:r>
          </a:p>
        </p:txBody>
      </p:sp>
      <p:sp>
        <p:nvSpPr>
          <p:cNvPr id="24" name="">
            <a:extLst xmlns:a="http://schemas.openxmlformats.org/drawingml/2006/main">
              <a:ext uri="{FF2B5EF4-FFF2-40B4-BE49-F238E27FC236}">
                <a16:creationId xmlns:a16="http://schemas.microsoft.com/office/drawing/2014/main" id="{B0967850-4E49-4B9B-B2C8-87F6191661BC}"/>
              </a:ext>
            </a:extLst>
          </p:cNvPr>
          <p:cNvSpPr>
            <a:spLocks xmlns:a="http://schemas.openxmlformats.org/drawingml/2006/main" noGrp="1"/>
          </p:cNvSpPr>
          <p:nvPr/>
        </p:nvSpPr>
        <p:spPr>
          <a:xfrm xmlns:a="http://schemas.openxmlformats.org/drawingml/2006/main">
            <a:off x="7886700" y="3743325"/>
            <a:ext cx="19050" cy="128587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7D80A2A-26C0-4B27-ACB2-7C119AEAAAE1}"/>
              </a:ext>
            </a:extLst>
          </p:cNvPr>
          <p:cNvSpPr>
            <a:spLocks xmlns:a="http://schemas.openxmlformats.org/drawingml/2006/main" noGrp="1"/>
          </p:cNvSpPr>
          <p:nvPr/>
        </p:nvSpPr>
        <p:spPr>
          <a:xfrm xmlns:a="http://schemas.openxmlformats.org/drawingml/2006/main">
            <a:off x="836295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変化量  Δq</a:t>
            </a:r>
          </a:p>
        </p:txBody>
      </p:sp>
      <p:sp>
        <p:nvSpPr>
          <p:cNvPr id="26" name="">
            <a:extLst xmlns:a="http://schemas.openxmlformats.org/drawingml/2006/main">
              <a:ext uri="{FF2B5EF4-FFF2-40B4-BE49-F238E27FC236}">
                <a16:creationId xmlns:a16="http://schemas.microsoft.com/office/drawing/2014/main" id="{875C3EEB-CB91-454B-8CB1-9E1E432D3149}"/>
              </a:ext>
            </a:extLst>
          </p:cNvPr>
          <p:cNvSpPr>
            <a:spLocks xmlns:a="http://schemas.openxmlformats.org/drawingml/2006/main" noGrp="1"/>
          </p:cNvSpPr>
          <p:nvPr/>
        </p:nvSpPr>
        <p:spPr>
          <a:xfrm xmlns:a="http://schemas.openxmlformats.org/drawingml/2006/main">
            <a:off x="836295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E7833D"/>
                </a:solidFill>
                <a:latin typeface="Yu Gothic"/>
                <a:ea typeface="Yu Gothic"/>
                <a:cs typeface="Yu Gothic"/>
              </a:defRPr>
            </a:pPr>
            <a:r>
              <a:rPr sz="3150" b="1">
                <a:solidFill>
                  <a:srgbClr val="E7833D"/>
                </a:solidFill>
                <a:latin typeface="Yu Gothic"/>
                <a:ea typeface="Yu Gothic"/>
                <a:cs typeface="Yu Gothic"/>
              </a:rPr>
              <a:t>+0.295</a:t>
            </a:r>
          </a:p>
        </p:txBody>
      </p:sp>
      <p:sp>
        <p:nvSpPr>
          <p:cNvPr id="27" name="">
            <a:extLst xmlns:a="http://schemas.openxmlformats.org/drawingml/2006/main">
              <a:ext uri="{FF2B5EF4-FFF2-40B4-BE49-F238E27FC236}">
                <a16:creationId xmlns:a16="http://schemas.microsoft.com/office/drawing/2014/main" id="{9E031BF8-40C7-4E58-A552-A18EF6B154BB}"/>
              </a:ext>
            </a:extLst>
          </p:cNvPr>
          <p:cNvSpPr>
            <a:spLocks xmlns:a="http://schemas.openxmlformats.org/drawingml/2006/main" noGrp="1"/>
          </p:cNvSpPr>
          <p:nvPr/>
        </p:nvSpPr>
        <p:spPr>
          <a:xfrm xmlns:a="http://schemas.openxmlformats.org/drawingml/2006/main">
            <a:off x="836295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危険側へ動いた量</a:t>
            </a:r>
          </a:p>
        </p:txBody>
      </p:sp>
      <p:sp>
        <p:nvSpPr>
          <p:cNvPr id="28" name="">
            <a:extLst xmlns:a="http://schemas.openxmlformats.org/drawingml/2006/main">
              <a:ext uri="{FF2B5EF4-FFF2-40B4-BE49-F238E27FC236}">
                <a16:creationId xmlns:a16="http://schemas.microsoft.com/office/drawing/2014/main" id="{EE44A62B-A1CB-4E57-880C-6D44AAF0A134}"/>
              </a:ext>
            </a:extLst>
          </p:cNvPr>
          <p:cNvSpPr>
            <a:spLocks xmlns:a="http://schemas.openxmlformats.org/drawingml/2006/main" noGrp="1"/>
          </p:cNvSpPr>
          <p:nvPr/>
        </p:nvSpPr>
        <p:spPr>
          <a:xfrm xmlns:a="http://schemas.openxmlformats.org/drawingml/2006/main">
            <a:off x="704850" y="5419725"/>
            <a:ext cx="10782300" cy="6667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19E177B-C84A-49C5-812F-784F9DCFF0CB}"/>
              </a:ext>
            </a:extLst>
          </p:cNvPr>
          <p:cNvSpPr>
            <a:spLocks xmlns:a="http://schemas.openxmlformats.org/drawingml/2006/main" noGrp="1"/>
          </p:cNvSpPr>
          <p:nvPr/>
        </p:nvSpPr>
        <p:spPr>
          <a:xfrm xmlns:a="http://schemas.openxmlformats.org/drawingml/2006/main">
            <a:off x="952500" y="55435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26373D"/>
                </a:solidFill>
                <a:latin typeface="Yu Gothic"/>
                <a:ea typeface="Yu Gothic"/>
                <a:cs typeface="Yu Gothic"/>
              </a:defRPr>
            </a:pPr>
            <a:r>
              <a:rPr sz="1500" b="1">
                <a:solidFill>
                  <a:srgbClr val="26373D"/>
                </a:solidFill>
                <a:latin typeface="Yu Gothic"/>
                <a:ea typeface="Yu Gothic"/>
                <a:cs typeface="Yu Gothic"/>
              </a:rPr>
              <a:t>ここで分かるのは、同じ入力への判定が危険側へ動いたことまで。危険理由や性能向上はまだ分からない。</a:t>
            </a:r>
          </a:p>
        </p:txBody>
      </p:sp>
      <p:sp>
        <p:nvSpPr>
          <p:cNvPr id="30" name="">
            <a:extLst xmlns:a="http://schemas.openxmlformats.org/drawingml/2006/main">
              <a:ext uri="{FF2B5EF4-FFF2-40B4-BE49-F238E27FC236}">
                <a16:creationId xmlns:a16="http://schemas.microsoft.com/office/drawing/2014/main" id="{B905EDD2-3A6A-4E3C-9613-A9EEB43B42E8}"/>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134391501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88FE293-6174-4924-B762-CBE8EBAA81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C22E93-9201-4953-8FA8-6C4E83C8299D}"/>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6316CF0-EDEE-4D13-A58E-53AF8F7EA7E1}"/>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複数動画の反応を、3つの値に要約する</a:t>
            </a:r>
          </a:p>
        </p:txBody>
      </p:sp>
      <p:sp>
        <p:nvSpPr>
          <p:cNvPr id="4" name="">
            <a:extLst xmlns:a="http://schemas.openxmlformats.org/drawingml/2006/main">
              <a:ext uri="{FF2B5EF4-FFF2-40B4-BE49-F238E27FC236}">
                <a16:creationId xmlns:a16="http://schemas.microsoft.com/office/drawing/2014/main" id="{14A873C3-A6CB-46ED-9492-B9E9B10286AC}"/>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1A887754-6E85-47A5-93D1-C20A58AF89C7}"/>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FD4F430-40FA-4FAB-A239-54659837E487}"/>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7AD78D8D-8EC3-49B4-9AC1-8553DBC65567}"/>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3 / 8</a:t>
            </a:r>
          </a:p>
        </p:txBody>
      </p:sp>
      <p:sp>
        <p:nvSpPr>
          <p:cNvPr id="8" name="">
            <a:extLst xmlns:a="http://schemas.openxmlformats.org/drawingml/2006/main">
              <a:ext uri="{FF2B5EF4-FFF2-40B4-BE49-F238E27FC236}">
                <a16:creationId xmlns:a16="http://schemas.microsoft.com/office/drawing/2014/main" id="{7E65D23C-4C96-42A9-8D02-61C284DDEA3D}"/>
              </a:ext>
            </a:extLst>
          </p:cNvPr>
          <p:cNvSpPr>
            <a:spLocks xmlns:a="http://schemas.openxmlformats.org/drawingml/2006/main" noGrp="1"/>
          </p:cNvSpPr>
          <p:nvPr/>
        </p:nvSpPr>
        <p:spPr>
          <a:xfrm xmlns:a="http://schemas.openxmlformats.org/drawingml/2006/main">
            <a:off x="609600" y="1066800"/>
            <a:ext cx="600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同じ現場側AIのrisk動画3本</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62b2abb48b2743ab"/>
          <a:srcRect xmlns:a="http://schemas.openxmlformats.org/drawingml/2006/main" l="58" t="0" r="58" b="0"/>
          <a:stretch xmlns:a="http://schemas.openxmlformats.org/drawingml/2006/main">
            <a:fillRect l="0" t="0" r="0" b="0"/>
          </a:stretch>
        </p:blipFill>
        <p:spPr>
          <a:xfrm xmlns:a="http://schemas.openxmlformats.org/drawingml/2006/main">
            <a:off x="609600" y="1466850"/>
            <a:ext cx="1809750" cy="10191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F8F771C-88FA-4694-92C9-9A1DA73FE71B}"/>
              </a:ext>
            </a:extLst>
          </p:cNvPr>
          <p:cNvSpPr>
            <a:spLocks xmlns:a="http://schemas.openxmlformats.org/drawingml/2006/main" noGrp="1"/>
          </p:cNvSpPr>
          <p:nvPr/>
        </p:nvSpPr>
        <p:spPr>
          <a:xfrm xmlns:a="http://schemas.openxmlformats.org/drawingml/2006/main">
            <a:off x="60960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risk 0.600</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+0.336</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4b4b00cdc3a24094"/>
          <a:srcRect xmlns:a="http://schemas.openxmlformats.org/drawingml/2006/main" l="58" t="0" r="58" b="0"/>
          <a:stretch xmlns:a="http://schemas.openxmlformats.org/drawingml/2006/main">
            <a:fillRect l="0" t="0" r="0" b="0"/>
          </a:stretch>
        </p:blipFill>
        <p:spPr>
          <a:xfrm xmlns:a="http://schemas.openxmlformats.org/drawingml/2006/main">
            <a:off x="2609850" y="1466850"/>
            <a:ext cx="1809750" cy="10191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9872D63-6540-49EF-B720-63D6471EDE65}"/>
              </a:ext>
            </a:extLst>
          </p:cNvPr>
          <p:cNvSpPr>
            <a:spLocks xmlns:a="http://schemas.openxmlformats.org/drawingml/2006/main" noGrp="1"/>
          </p:cNvSpPr>
          <p:nvPr/>
        </p:nvSpPr>
        <p:spPr>
          <a:xfrm xmlns:a="http://schemas.openxmlformats.org/drawingml/2006/main">
            <a:off x="260985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risk 0.644</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+0.295</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b901ddb13bad47b5"/>
          <a:srcRect xmlns:a="http://schemas.openxmlformats.org/drawingml/2006/main" l="58" t="0" r="58" b="0"/>
          <a:stretch xmlns:a="http://schemas.openxmlformats.org/drawingml/2006/main">
            <a:fillRect l="0" t="0" r="0" b="0"/>
          </a:stretch>
        </p:blipFill>
        <p:spPr>
          <a:xfrm xmlns:a="http://schemas.openxmlformats.org/drawingml/2006/main">
            <a:off x="4610100" y="1466850"/>
            <a:ext cx="1809750" cy="10191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4CC99080-E798-4E3A-B8BD-9FA8D278614C}"/>
              </a:ext>
            </a:extLst>
          </p:cNvPr>
          <p:cNvSpPr>
            <a:spLocks xmlns:a="http://schemas.openxmlformats.org/drawingml/2006/main" noGrp="1"/>
          </p:cNvSpPr>
          <p:nvPr/>
        </p:nvSpPr>
        <p:spPr>
          <a:xfrm xmlns:a="http://schemas.openxmlformats.org/drawingml/2006/main">
            <a:off x="461010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risk 0.929</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+0.082</a:t>
            </a:r>
          </a:p>
        </p:txBody>
      </p:sp>
      <p:sp>
        <p:nvSpPr>
          <p:cNvPr id="15" name="">
            <a:extLst xmlns:a="http://schemas.openxmlformats.org/drawingml/2006/main">
              <a:ext uri="{FF2B5EF4-FFF2-40B4-BE49-F238E27FC236}">
                <a16:creationId xmlns:a16="http://schemas.microsoft.com/office/drawing/2014/main" id="{A6B8646E-8A80-4205-B64D-A5ECF81519B0}"/>
              </a:ext>
            </a:extLst>
          </p:cNvPr>
          <p:cNvSpPr>
            <a:spLocks xmlns:a="http://schemas.openxmlformats.org/drawingml/2006/main" noGrp="1"/>
          </p:cNvSpPr>
          <p:nvPr/>
        </p:nvSpPr>
        <p:spPr>
          <a:xfrm xmlns:a="http://schemas.openxmlformats.org/drawingml/2006/main">
            <a:off x="6762750" y="1123950"/>
            <a:ext cx="19050" cy="24765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28FA931-277C-43E1-8BFC-36EA7C596D6A}"/>
              </a:ext>
            </a:extLst>
          </p:cNvPr>
          <p:cNvSpPr>
            <a:spLocks xmlns:a="http://schemas.openxmlformats.org/drawingml/2006/main" noGrp="1"/>
          </p:cNvSpPr>
          <p:nvPr/>
        </p:nvSpPr>
        <p:spPr>
          <a:xfrm xmlns:a="http://schemas.openxmlformats.org/drawingml/2006/main">
            <a:off x="7143750" y="112395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73B4B"/>
                </a:solidFill>
                <a:latin typeface="Yu Gothic"/>
                <a:ea typeface="Yu Gothic"/>
                <a:cs typeface="Yu Gothic"/>
              </a:defRPr>
            </a:pPr>
            <a:r>
              <a:rPr sz="1875" b="1">
                <a:solidFill>
                  <a:srgbClr val="173B4B"/>
                </a:solidFill>
                <a:latin typeface="Yu Gothic"/>
                <a:ea typeface="Yu Gothic"/>
                <a:cs typeface="Yu Gothic"/>
              </a:rPr>
              <a:t>3本を平均して作る Q_{k,r}</a:t>
            </a:r>
          </a:p>
        </p:txBody>
      </p:sp>
      <p:sp>
        <p:nvSpPr>
          <p:cNvPr id="17" name="">
            <a:extLst xmlns:a="http://schemas.openxmlformats.org/drawingml/2006/main">
              <a:ext uri="{FF2B5EF4-FFF2-40B4-BE49-F238E27FC236}">
                <a16:creationId xmlns:a16="http://schemas.microsoft.com/office/drawing/2014/main" id="{99C8CE09-0FE9-43FE-8E5B-CCA2AFAFC783}"/>
              </a:ext>
            </a:extLst>
          </p:cNvPr>
          <p:cNvSpPr>
            <a:spLocks xmlns:a="http://schemas.openxmlformats.org/drawingml/2006/main" noGrp="1"/>
          </p:cNvSpPr>
          <p:nvPr/>
        </p:nvSpPr>
        <p:spPr>
          <a:xfrm xmlns:a="http://schemas.openxmlformats.org/drawingml/2006/main">
            <a:off x="7334250" y="1724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μ^{post}_{k,r}</a:t>
            </a:r>
          </a:p>
        </p:txBody>
      </p:sp>
      <p:sp>
        <p:nvSpPr>
          <p:cNvPr id="18" name="">
            <a:extLst xmlns:a="http://schemas.openxmlformats.org/drawingml/2006/main">
              <a:ext uri="{FF2B5EF4-FFF2-40B4-BE49-F238E27FC236}">
                <a16:creationId xmlns:a16="http://schemas.microsoft.com/office/drawing/2014/main" id="{84384EEC-E4FF-4ACA-80A6-9C68D7A31645}"/>
              </a:ext>
            </a:extLst>
          </p:cNvPr>
          <p:cNvSpPr>
            <a:spLocks xmlns:a="http://schemas.openxmlformats.org/drawingml/2006/main" noGrp="1"/>
          </p:cNvSpPr>
          <p:nvPr/>
        </p:nvSpPr>
        <p:spPr>
          <a:xfrm xmlns:a="http://schemas.openxmlformats.org/drawingml/2006/main">
            <a:off x="73342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0.724</a:t>
            </a:r>
          </a:p>
        </p:txBody>
      </p:sp>
      <p:sp>
        <p:nvSpPr>
          <p:cNvPr id="19" name="">
            <a:extLst xmlns:a="http://schemas.openxmlformats.org/drawingml/2006/main">
              <a:ext uri="{FF2B5EF4-FFF2-40B4-BE49-F238E27FC236}">
                <a16:creationId xmlns:a16="http://schemas.microsoft.com/office/drawing/2014/main" id="{7803F856-D50C-476E-9DCB-4F469A4262D2}"/>
              </a:ext>
            </a:extLst>
          </p:cNvPr>
          <p:cNvSpPr>
            <a:spLocks xmlns:a="http://schemas.openxmlformats.org/drawingml/2006/main" noGrp="1"/>
          </p:cNvSpPr>
          <p:nvPr/>
        </p:nvSpPr>
        <p:spPr>
          <a:xfrm xmlns:a="http://schemas.openxmlformats.org/drawingml/2006/main">
            <a:off x="7334250" y="26479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学習後の危険確率</a:t>
            </a:r>
          </a:p>
        </p:txBody>
      </p:sp>
      <p:sp>
        <p:nvSpPr>
          <p:cNvPr id="20" name="">
            <a:extLst xmlns:a="http://schemas.openxmlformats.org/drawingml/2006/main">
              <a:ext uri="{FF2B5EF4-FFF2-40B4-BE49-F238E27FC236}">
                <a16:creationId xmlns:a16="http://schemas.microsoft.com/office/drawing/2014/main" id="{6628C735-3739-4815-923C-3E31FAB9A99D}"/>
              </a:ext>
            </a:extLst>
          </p:cNvPr>
          <p:cNvSpPr>
            <a:spLocks xmlns:a="http://schemas.openxmlformats.org/drawingml/2006/main" noGrp="1"/>
          </p:cNvSpPr>
          <p:nvPr/>
        </p:nvSpPr>
        <p:spPr>
          <a:xfrm xmlns:a="http://schemas.openxmlformats.org/drawingml/2006/main">
            <a:off x="9429750" y="1724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Δμ_{k,r}</a:t>
            </a:r>
          </a:p>
        </p:txBody>
      </p:sp>
      <p:sp>
        <p:nvSpPr>
          <p:cNvPr id="21" name="">
            <a:extLst xmlns:a="http://schemas.openxmlformats.org/drawingml/2006/main">
              <a:ext uri="{FF2B5EF4-FFF2-40B4-BE49-F238E27FC236}">
                <a16:creationId xmlns:a16="http://schemas.microsoft.com/office/drawing/2014/main" id="{4B67ACF2-0BB6-4BBC-A78D-15E1EB9BECB4}"/>
              </a:ext>
            </a:extLst>
          </p:cNvPr>
          <p:cNvSpPr>
            <a:spLocks xmlns:a="http://schemas.openxmlformats.org/drawingml/2006/main" noGrp="1"/>
          </p:cNvSpPr>
          <p:nvPr/>
        </p:nvSpPr>
        <p:spPr>
          <a:xfrm xmlns:a="http://schemas.openxmlformats.org/drawingml/2006/main">
            <a:off x="94297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E7833D"/>
                </a:solidFill>
                <a:latin typeface="Yu Gothic"/>
                <a:ea typeface="Yu Gothic"/>
                <a:cs typeface="Yu Gothic"/>
              </a:defRPr>
            </a:pPr>
            <a:r>
              <a:rPr sz="2850" b="1">
                <a:solidFill>
                  <a:srgbClr val="E7833D"/>
                </a:solidFill>
                <a:latin typeface="Yu Gothic"/>
                <a:ea typeface="Yu Gothic"/>
                <a:cs typeface="Yu Gothic"/>
              </a:rPr>
              <a:t>+0.238</a:t>
            </a:r>
          </a:p>
        </p:txBody>
      </p:sp>
      <p:sp>
        <p:nvSpPr>
          <p:cNvPr id="22" name="">
            <a:extLst xmlns:a="http://schemas.openxmlformats.org/drawingml/2006/main">
              <a:ext uri="{FF2B5EF4-FFF2-40B4-BE49-F238E27FC236}">
                <a16:creationId xmlns:a16="http://schemas.microsoft.com/office/drawing/2014/main" id="{4D9DB6A9-A754-44A4-8AA5-9E317136FA96}"/>
              </a:ext>
            </a:extLst>
          </p:cNvPr>
          <p:cNvSpPr>
            <a:spLocks xmlns:a="http://schemas.openxmlformats.org/drawingml/2006/main" noGrp="1"/>
          </p:cNvSpPr>
          <p:nvPr/>
        </p:nvSpPr>
        <p:spPr>
          <a:xfrm xmlns:a="http://schemas.openxmlformats.org/drawingml/2006/main">
            <a:off x="9429750" y="26479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平均した変化量</a:t>
            </a:r>
          </a:p>
        </p:txBody>
      </p:sp>
      <p:sp>
        <p:nvSpPr>
          <p:cNvPr id="23" name="">
            <a:extLst xmlns:a="http://schemas.openxmlformats.org/drawingml/2006/main">
              <a:ext uri="{FF2B5EF4-FFF2-40B4-BE49-F238E27FC236}">
                <a16:creationId xmlns:a16="http://schemas.microsoft.com/office/drawing/2014/main" id="{0FC16D29-4D5E-412C-8780-00B858C9D7EF}"/>
              </a:ext>
            </a:extLst>
          </p:cNvPr>
          <p:cNvSpPr>
            <a:spLocks xmlns:a="http://schemas.openxmlformats.org/drawingml/2006/main" noGrp="1"/>
          </p:cNvSpPr>
          <p:nvPr/>
        </p:nvSpPr>
        <p:spPr>
          <a:xfrm xmlns:a="http://schemas.openxmlformats.org/drawingml/2006/main">
            <a:off x="7334250" y="3086100"/>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π_{k,r}=3　まとめた動画の本数</a:t>
            </a:r>
          </a:p>
        </p:txBody>
      </p:sp>
      <p:sp>
        <p:nvSpPr>
          <p:cNvPr id="24" name="">
            <a:extLst xmlns:a="http://schemas.openxmlformats.org/drawingml/2006/main">
              <a:ext uri="{FF2B5EF4-FFF2-40B4-BE49-F238E27FC236}">
                <a16:creationId xmlns:a16="http://schemas.microsoft.com/office/drawing/2014/main" id="{61A4272E-F4F9-4EBD-8170-6FD906AC6CDD}"/>
              </a:ext>
            </a:extLst>
          </p:cNvPr>
          <p:cNvSpPr>
            <a:spLocks xmlns:a="http://schemas.openxmlformats.org/drawingml/2006/main" noGrp="1"/>
          </p:cNvSpPr>
          <p:nvPr/>
        </p:nvSpPr>
        <p:spPr>
          <a:xfrm xmlns:a="http://schemas.openxmlformats.org/drawingml/2006/main">
            <a:off x="609600" y="3810000"/>
            <a:ext cx="108585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A123112-B29F-482E-AA2E-9A8E60E0D7EE}"/>
              </a:ext>
            </a:extLst>
          </p:cNvPr>
          <p:cNvSpPr>
            <a:spLocks xmlns:a="http://schemas.openxmlformats.org/drawingml/2006/main" noGrp="1"/>
          </p:cNvSpPr>
          <p:nvPr/>
        </p:nvSpPr>
        <p:spPr>
          <a:xfrm xmlns:a="http://schemas.openxmlformats.org/drawingml/2006/main">
            <a:off x="857250" y="41433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中央側へ送る</a:t>
            </a:r>
          </a:p>
        </p:txBody>
      </p:sp>
      <p:sp>
        <p:nvSpPr>
          <p:cNvPr id="26" name="">
            <a:extLst xmlns:a="http://schemas.openxmlformats.org/drawingml/2006/main">
              <a:ext uri="{FF2B5EF4-FFF2-40B4-BE49-F238E27FC236}">
                <a16:creationId xmlns:a16="http://schemas.microsoft.com/office/drawing/2014/main" id="{356D211B-91D1-4C1F-B53F-9FC366673F53}"/>
              </a:ext>
            </a:extLst>
          </p:cNvPr>
          <p:cNvSpPr>
            <a:spLocks xmlns:a="http://schemas.openxmlformats.org/drawingml/2006/main" noGrp="1"/>
          </p:cNvSpPr>
          <p:nvPr/>
        </p:nvSpPr>
        <p:spPr>
          <a:xfrm xmlns:a="http://schemas.openxmlformats.org/drawingml/2006/main">
            <a:off x="876300" y="4619625"/>
            <a:ext cx="285750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小型AIの更新情報</a:t>
            </a:r>
          </a:p>
        </p:txBody>
      </p:sp>
      <p:sp>
        <p:nvSpPr>
          <p:cNvPr id="27" name="">
            <a:extLst xmlns:a="http://schemas.openxmlformats.org/drawingml/2006/main">
              <a:ext uri="{FF2B5EF4-FFF2-40B4-BE49-F238E27FC236}">
                <a16:creationId xmlns:a16="http://schemas.microsoft.com/office/drawing/2014/main" id="{B2730BC3-7334-4E4D-B6EA-0EE450265527}"/>
              </a:ext>
            </a:extLst>
          </p:cNvPr>
          <p:cNvSpPr>
            <a:spLocks xmlns:a="http://schemas.openxmlformats.org/drawingml/2006/main" noGrp="1"/>
          </p:cNvSpPr>
          <p:nvPr/>
        </p:nvSpPr>
        <p:spPr>
          <a:xfrm xmlns:a="http://schemas.openxmlformats.org/drawingml/2006/main">
            <a:off x="4000500" y="4619625"/>
            <a:ext cx="4667250" cy="4572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Q_{k,r}=(μ^{post}_{k,r}, Δμ_{k,r}, π_{k,r})</a:t>
            </a:r>
          </a:p>
        </p:txBody>
      </p:sp>
      <p:sp>
        <p:nvSpPr>
          <p:cNvPr id="28" name="">
            <a:extLst xmlns:a="http://schemas.openxmlformats.org/drawingml/2006/main">
              <a:ext uri="{FF2B5EF4-FFF2-40B4-BE49-F238E27FC236}">
                <a16:creationId xmlns:a16="http://schemas.microsoft.com/office/drawing/2014/main" id="{53CC7AD4-6B73-4E70-9AB5-2EEC6A4D1621}"/>
              </a:ext>
            </a:extLst>
          </p:cNvPr>
          <p:cNvSpPr>
            <a:spLocks xmlns:a="http://schemas.openxmlformats.org/drawingml/2006/main" noGrp="1"/>
          </p:cNvSpPr>
          <p:nvPr/>
        </p:nvSpPr>
        <p:spPr>
          <a:xfrm xmlns:a="http://schemas.openxmlformats.org/drawingml/2006/main">
            <a:off x="8858250" y="41433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B94A3A"/>
                </a:solidFill>
                <a:latin typeface="Yu Gothic"/>
                <a:ea typeface="Yu Gothic"/>
                <a:cs typeface="Yu Gothic"/>
              </a:defRPr>
            </a:pPr>
            <a:r>
              <a:rPr sz="1650" b="1">
                <a:solidFill>
                  <a:srgbClr val="B94A3A"/>
                </a:solidFill>
                <a:latin typeface="Yu Gothic"/>
                <a:ea typeface="Yu Gothic"/>
                <a:cs typeface="Yu Gothic"/>
              </a:rPr>
              <a:t>中央側へ送らない</a:t>
            </a:r>
          </a:p>
        </p:txBody>
      </p:sp>
      <p:sp>
        <p:nvSpPr>
          <p:cNvPr id="29" name="">
            <a:extLst xmlns:a="http://schemas.openxmlformats.org/drawingml/2006/main">
              <a:ext uri="{FF2B5EF4-FFF2-40B4-BE49-F238E27FC236}">
                <a16:creationId xmlns:a16="http://schemas.microsoft.com/office/drawing/2014/main" id="{EA37A335-F264-469D-B8D0-95C142875769}"/>
              </a:ext>
            </a:extLst>
          </p:cNvPr>
          <p:cNvSpPr>
            <a:spLocks xmlns:a="http://schemas.openxmlformats.org/drawingml/2006/main" noGrp="1"/>
          </p:cNvSpPr>
          <p:nvPr/>
        </p:nvSpPr>
        <p:spPr>
          <a:xfrm xmlns:a="http://schemas.openxmlformats.org/drawingml/2006/main">
            <a:off x="8858250" y="461962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B94A3A"/>
                </a:solidFill>
                <a:latin typeface="Yu Gothic"/>
                <a:ea typeface="Yu Gothic"/>
                <a:cs typeface="Yu Gothic"/>
              </a:defRPr>
            </a:pPr>
            <a:r>
              <a:rPr sz="1500" b="1">
                <a:solidFill>
                  <a:srgbClr val="B94A3A"/>
                </a:solidFill>
                <a:latin typeface="Yu Gothic"/>
                <a:ea typeface="Yu Gothic"/>
                <a:cs typeface="Yu Gothic"/>
              </a:rPr>
              <a:t>元動画・画像・動画ごとの識別情報</a:t>
            </a:r>
          </a:p>
        </p:txBody>
      </p:sp>
      <p:sp>
        <p:nvSpPr>
          <p:cNvPr id="30" name="">
            <a:extLst xmlns:a="http://schemas.openxmlformats.org/drawingml/2006/main">
              <a:ext uri="{FF2B5EF4-FFF2-40B4-BE49-F238E27FC236}">
                <a16:creationId xmlns:a16="http://schemas.microsoft.com/office/drawing/2014/main" id="{30AEFB0D-A013-4F60-8B49-653E9022816E}"/>
              </a:ext>
            </a:extLst>
          </p:cNvPr>
          <p:cNvSpPr>
            <a:spLocks xmlns:a="http://schemas.openxmlformats.org/drawingml/2006/main" noGrp="1"/>
          </p:cNvSpPr>
          <p:nvPr/>
        </p:nvSpPr>
        <p:spPr>
          <a:xfrm xmlns:a="http://schemas.openxmlformats.org/drawingml/2006/main">
            <a:off x="952500" y="55911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小型AIの更新は連合平均へ、Q_{k,r}は代理データ生成へ。Q_{k,r}自体は平均しない。</a:t>
            </a:r>
          </a:p>
        </p:txBody>
      </p:sp>
    </p:spTree>
    <p:extLst>
      <p:ext uri="{BB962C8B-B14F-4D97-AF65-F5344CB8AC3E}">
        <p14:creationId xmlns:p14="http://schemas.microsoft.com/office/powerpoint/2010/main" val="33971061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1DE933C1-15CF-453A-A088-AE3A026E7B0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9058AE-8D1D-4AA5-AE9D-74B4ECFBC067}"/>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B5DBC49-9022-4F6C-BFE8-6872FBE8A10A}"/>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中央側の動画から、代理データを選ぶ</a:t>
            </a:r>
          </a:p>
        </p:txBody>
      </p:sp>
      <p:sp>
        <p:nvSpPr>
          <p:cNvPr id="4" name="">
            <a:extLst xmlns:a="http://schemas.openxmlformats.org/drawingml/2006/main">
              <a:ext uri="{FF2B5EF4-FFF2-40B4-BE49-F238E27FC236}">
                <a16:creationId xmlns:a16="http://schemas.microsoft.com/office/drawing/2014/main" id="{A620A170-7A92-4486-AD7F-4A2BB88EF3D8}"/>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20551403-2260-4867-94BF-3E0648206A9D}"/>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306F495-1B0F-4872-A5C2-45754F453061}"/>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A7AD8E71-C97C-42E6-BC84-9A32A79BD157}"/>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4 / 8</a:t>
            </a:r>
          </a:p>
        </p:txBody>
      </p:sp>
      <p:sp>
        <p:nvSpPr>
          <p:cNvPr id="8" name="">
            <a:extLst xmlns:a="http://schemas.openxmlformats.org/drawingml/2006/main">
              <a:ext uri="{FF2B5EF4-FFF2-40B4-BE49-F238E27FC236}">
                <a16:creationId xmlns:a16="http://schemas.microsoft.com/office/drawing/2014/main" id="{DD0C6F39-AC54-4926-AFAD-FE1ECC4D7335}"/>
              </a:ext>
            </a:extLst>
          </p:cNvPr>
          <p:cNvSpPr>
            <a:spLocks xmlns:a="http://schemas.openxmlformats.org/drawingml/2006/main" noGrp="1"/>
          </p:cNvSpPr>
          <p:nvPr/>
        </p:nvSpPr>
        <p:spPr>
          <a:xfrm xmlns:a="http://schemas.openxmlformats.org/drawingml/2006/main">
            <a:off x="609600" y="1066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17078"/>
                </a:solidFill>
                <a:latin typeface="Yu Gothic"/>
                <a:ea typeface="Yu Gothic"/>
                <a:cs typeface="Yu Gothic"/>
              </a:defRPr>
            </a:pPr>
            <a:r>
              <a:rPr sz="1425" b="1">
                <a:solidFill>
                  <a:srgbClr val="617078"/>
                </a:solidFill>
                <a:latin typeface="Yu Gothic"/>
                <a:ea typeface="Yu Gothic"/>
                <a:cs typeface="Yu Gothic"/>
              </a:rPr>
              <a:t>入力</a:t>
            </a:r>
          </a:p>
        </p:txBody>
      </p:sp>
      <p:sp>
        <p:nvSpPr>
          <p:cNvPr id="9" name="">
            <a:extLst xmlns:a="http://schemas.openxmlformats.org/drawingml/2006/main">
              <a:ext uri="{FF2B5EF4-FFF2-40B4-BE49-F238E27FC236}">
                <a16:creationId xmlns:a16="http://schemas.microsoft.com/office/drawing/2014/main" id="{5C818B84-A51C-46ED-A6BB-6592A0F7E34D}"/>
              </a:ext>
            </a:extLst>
          </p:cNvPr>
          <p:cNvSpPr>
            <a:spLocks xmlns:a="http://schemas.openxmlformats.org/drawingml/2006/main" noGrp="1"/>
          </p:cNvSpPr>
          <p:nvPr/>
        </p:nvSpPr>
        <p:spPr>
          <a:xfrm xmlns:a="http://schemas.openxmlformats.org/drawingml/2006/main">
            <a:off x="628650" y="1457325"/>
            <a:ext cx="1714500" cy="51435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73B4B"/>
                </a:solidFill>
                <a:latin typeface="Yu Gothic"/>
                <a:ea typeface="Yu Gothic"/>
                <a:cs typeface="Yu Gothic"/>
              </a:defRPr>
            </a:pPr>
            <a:r>
              <a:rPr sz="2025" b="1">
                <a:solidFill>
                  <a:srgbClr val="173B4B"/>
                </a:solidFill>
                <a:latin typeface="Yu Gothic"/>
                <a:ea typeface="Yu Gothic"/>
                <a:cs typeface="Yu Gothic"/>
              </a:rPr>
              <a:t>Q_{k,r}</a:t>
            </a:r>
          </a:p>
        </p:txBody>
      </p:sp>
      <p:sp>
        <p:nvSpPr>
          <p:cNvPr id="10" name="">
            <a:extLst xmlns:a="http://schemas.openxmlformats.org/drawingml/2006/main">
              <a:ext uri="{FF2B5EF4-FFF2-40B4-BE49-F238E27FC236}">
                <a16:creationId xmlns:a16="http://schemas.microsoft.com/office/drawing/2014/main" id="{2F2728A4-EE22-4EED-A4DE-C82C3DBAF8F3}"/>
              </a:ext>
            </a:extLst>
          </p:cNvPr>
          <p:cNvSpPr>
            <a:spLocks xmlns:a="http://schemas.openxmlformats.org/drawingml/2006/main" noGrp="1"/>
          </p:cNvSpPr>
          <p:nvPr/>
        </p:nvSpPr>
        <p:spPr>
          <a:xfrm xmlns:a="http://schemas.openxmlformats.org/drawingml/2006/main">
            <a:off x="628650" y="2095500"/>
            <a:ext cx="171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risk 0.724</a:t>
            </a:r>
          </a:p>
          <a:p xmlns:a="http://schemas.openxmlformats.org/drawingml/2006/main">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変化 +0.238</a:t>
            </a:r>
          </a:p>
        </p:txBody>
      </p:sp>
      <p:sp>
        <p:nvSpPr>
          <p:cNvPr id="11" name="">
            <a:extLst xmlns:a="http://schemas.openxmlformats.org/drawingml/2006/main">
              <a:ext uri="{FF2B5EF4-FFF2-40B4-BE49-F238E27FC236}">
                <a16:creationId xmlns:a16="http://schemas.microsoft.com/office/drawing/2014/main" id="{2782DB89-20A3-4DBA-91B2-A7D7A86EDAD7}"/>
              </a:ext>
            </a:extLst>
          </p:cNvPr>
          <p:cNvSpPr>
            <a:spLocks xmlns:a="http://schemas.openxmlformats.org/drawingml/2006/main" noGrp="1"/>
          </p:cNvSpPr>
          <p:nvPr/>
        </p:nvSpPr>
        <p:spPr>
          <a:xfrm xmlns:a="http://schemas.openxmlformats.org/drawingml/2006/main">
            <a:off x="2562225" y="1724025"/>
            <a:ext cx="495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F72D4D3-1827-4D1E-8074-44CF1E44E841}"/>
              </a:ext>
            </a:extLst>
          </p:cNvPr>
          <p:cNvSpPr>
            <a:spLocks xmlns:a="http://schemas.openxmlformats.org/drawingml/2006/main" noGrp="1"/>
          </p:cNvSpPr>
          <p:nvPr/>
        </p:nvSpPr>
        <p:spPr>
          <a:xfrm xmlns:a="http://schemas.openxmlformats.org/drawingml/2006/main">
            <a:off x="3219450" y="117157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中央側の候補動画 60本</a:t>
            </a:r>
          </a:p>
        </p:txBody>
      </p:sp>
      <p:sp>
        <p:nvSpPr>
          <p:cNvPr id="13" name="">
            <a:extLst xmlns:a="http://schemas.openxmlformats.org/drawingml/2006/main">
              <a:ext uri="{FF2B5EF4-FFF2-40B4-BE49-F238E27FC236}">
                <a16:creationId xmlns:a16="http://schemas.microsoft.com/office/drawing/2014/main" id="{AE255500-982B-494F-B485-68F4AEA0952C}"/>
              </a:ext>
            </a:extLst>
          </p:cNvPr>
          <p:cNvSpPr>
            <a:spLocks xmlns:a="http://schemas.openxmlformats.org/drawingml/2006/main" noGrp="1"/>
          </p:cNvSpPr>
          <p:nvPr/>
        </p:nvSpPr>
        <p:spPr>
          <a:xfrm xmlns:a="http://schemas.openxmlformats.org/drawingml/2006/main">
            <a:off x="3219450" y="1543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通常30本　危険30本</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29d9bdf9ca4b4410"/>
          <a:srcRect xmlns:a="http://schemas.openxmlformats.org/drawingml/2006/main" l="68" t="0" r="68" b="0"/>
          <a:stretch xmlns:a="http://schemas.openxmlformats.org/drawingml/2006/main">
            <a:fillRect l="0" t="0" r="0" b="0"/>
          </a:stretch>
        </p:blipFill>
        <p:spPr>
          <a:xfrm xmlns:a="http://schemas.openxmlformats.org/drawingml/2006/main">
            <a:off x="3295650" y="1981200"/>
            <a:ext cx="2333625" cy="13144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41A001D8-03AD-4593-9882-E78080F1A857}"/>
              </a:ext>
            </a:extLst>
          </p:cNvPr>
          <p:cNvSpPr>
            <a:spLocks xmlns:a="http://schemas.openxmlformats.org/drawingml/2006/main" noGrp="1"/>
          </p:cNvSpPr>
          <p:nvPr/>
        </p:nvSpPr>
        <p:spPr>
          <a:xfrm xmlns:a="http://schemas.openxmlformats.org/drawingml/2006/main">
            <a:off x="3295650" y="33813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検索1位：正解ラベルは通常</a:t>
            </a:r>
          </a:p>
        </p:txBody>
      </p:sp>
      <p:sp>
        <p:nvSpPr>
          <p:cNvPr id="16" name="">
            <a:extLst xmlns:a="http://schemas.openxmlformats.org/drawingml/2006/main">
              <a:ext uri="{FF2B5EF4-FFF2-40B4-BE49-F238E27FC236}">
                <a16:creationId xmlns:a16="http://schemas.microsoft.com/office/drawing/2014/main" id="{FDE0F70F-B8C2-4F4C-BD11-E1895C4BCF0E}"/>
              </a:ext>
            </a:extLst>
          </p:cNvPr>
          <p:cNvSpPr>
            <a:spLocks xmlns:a="http://schemas.openxmlformats.org/drawingml/2006/main" noGrp="1"/>
          </p:cNvSpPr>
          <p:nvPr/>
        </p:nvSpPr>
        <p:spPr>
          <a:xfrm xmlns:a="http://schemas.openxmlformats.org/drawingml/2006/main">
            <a:off x="5848350" y="1724025"/>
            <a:ext cx="495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C368E64-1A16-4D22-97A1-69BDE17E22C3}"/>
              </a:ext>
            </a:extLst>
          </p:cNvPr>
          <p:cNvSpPr>
            <a:spLocks xmlns:a="http://schemas.openxmlformats.org/drawingml/2006/main" noGrp="1"/>
          </p:cNvSpPr>
          <p:nvPr/>
        </p:nvSpPr>
        <p:spPr>
          <a:xfrm xmlns:a="http://schemas.openxmlformats.org/drawingml/2006/main">
            <a:off x="6515100" y="1171575"/>
            <a:ext cx="4810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上位3本を5通りに変換</a:t>
            </a:r>
          </a:p>
        </p:txBody>
      </p:sp>
      <p:sp>
        <p:nvSpPr>
          <p:cNvPr id="18" name="">
            <a:extLst xmlns:a="http://schemas.openxmlformats.org/drawingml/2006/main">
              <a:ext uri="{FF2B5EF4-FFF2-40B4-BE49-F238E27FC236}">
                <a16:creationId xmlns:a16="http://schemas.microsoft.com/office/drawing/2014/main" id="{BD486E3C-6222-4154-A9B7-6051A56A30C8}"/>
              </a:ext>
            </a:extLst>
          </p:cNvPr>
          <p:cNvSpPr>
            <a:spLocks xmlns:a="http://schemas.openxmlformats.org/drawingml/2006/main" noGrp="1"/>
          </p:cNvSpPr>
          <p:nvPr/>
        </p:nvSpPr>
        <p:spPr>
          <a:xfrm xmlns:a="http://schemas.openxmlformats.org/drawingml/2006/main">
            <a:off x="6515100" y="1543050"/>
            <a:ext cx="481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1つのQにつき15候補　4つのQで合計60候補</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76bc008acf3f42cb"/>
          <a:srcRect xmlns:a="http://schemas.openxmlformats.org/drawingml/2006/main" l="10156" t="0" r="10156" b="0"/>
          <a:stretch xmlns:a="http://schemas.openxmlformats.org/drawingml/2006/main">
            <a:fillRect l="0" t="0" r="0" b="0"/>
          </a:stretch>
        </p:blipFill>
        <p:spPr>
          <a:xfrm xmlns:a="http://schemas.openxmlformats.org/drawingml/2006/main">
            <a:off x="6353175" y="1981200"/>
            <a:ext cx="971550" cy="6858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E05676D5-562B-41F5-AA21-1AB5CBF26BB2}"/>
              </a:ext>
            </a:extLst>
          </p:cNvPr>
          <p:cNvSpPr>
            <a:spLocks xmlns:a="http://schemas.openxmlformats.org/drawingml/2006/main" noGrp="1"/>
          </p:cNvSpPr>
          <p:nvPr/>
        </p:nvSpPr>
        <p:spPr>
          <a:xfrm xmlns:a="http://schemas.openxmlformats.org/drawingml/2006/main">
            <a:off x="6324600" y="1952625"/>
            <a:ext cx="1028700" cy="742950"/>
          </a:xfrm>
          <a:prstGeom xmlns:a="http://schemas.openxmlformats.org/drawingml/2006/main" prst="rect">
            <a:avLst/>
          </a:prstGeom>
          <a:noFill xmlns:a="http://schemas.openxmlformats.org/drawingml/2006/main"/>
          <a:ln xmlns:a="http://schemas.openxmlformats.org/drawingml/2006/main" w="28575">
            <a:solidFill>
              <a:srgbClr val="E7833D"/>
            </a:solidFill>
          </a:ln>
        </p:spPr>
      </p:sp>
      <p:sp>
        <p:nvSpPr>
          <p:cNvPr id="21" name="">
            <a:extLst xmlns:a="http://schemas.openxmlformats.org/drawingml/2006/main">
              <a:ext uri="{FF2B5EF4-FFF2-40B4-BE49-F238E27FC236}">
                <a16:creationId xmlns:a16="http://schemas.microsoft.com/office/drawing/2014/main" id="{CF6AB2A2-E74A-449C-9D28-40B8A20262D8}"/>
              </a:ext>
            </a:extLst>
          </p:cNvPr>
          <p:cNvSpPr>
            <a:spLocks xmlns:a="http://schemas.openxmlformats.org/drawingml/2006/main" noGrp="1"/>
          </p:cNvSpPr>
          <p:nvPr/>
        </p:nvSpPr>
        <p:spPr>
          <a:xfrm xmlns:a="http://schemas.openxmlformats.org/drawingml/2006/main">
            <a:off x="631507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E7833D"/>
                </a:solidFill>
                <a:latin typeface="Yu Gothic"/>
                <a:ea typeface="Yu Gothic"/>
                <a:cs typeface="Yu Gothic"/>
              </a:defRPr>
            </a:pPr>
            <a:r>
              <a:rPr sz="1050" b="1">
                <a:solidFill>
                  <a:srgbClr val="E7833D"/>
                </a:solidFill>
                <a:latin typeface="Yu Gothic"/>
                <a:ea typeface="Yu Gothic"/>
                <a:cs typeface="Yu Gothic"/>
              </a:rPr>
              <a:t>変更なし</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a670ab05ad61408a"/>
          <a:srcRect xmlns:a="http://schemas.openxmlformats.org/drawingml/2006/main" l="10156" t="0" r="10156" b="0"/>
          <a:stretch xmlns:a="http://schemas.openxmlformats.org/drawingml/2006/main">
            <a:fillRect l="0" t="0" r="0" b="0"/>
          </a:stretch>
        </p:blipFill>
        <p:spPr>
          <a:xfrm xmlns:a="http://schemas.openxmlformats.org/drawingml/2006/main">
            <a:off x="7410450" y="1981200"/>
            <a:ext cx="971550" cy="6858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B1311F89-D5DA-4724-9788-967BD4A167BC}"/>
              </a:ext>
            </a:extLst>
          </p:cNvPr>
          <p:cNvSpPr>
            <a:spLocks xmlns:a="http://schemas.openxmlformats.org/drawingml/2006/main" noGrp="1"/>
          </p:cNvSpPr>
          <p:nvPr/>
        </p:nvSpPr>
        <p:spPr>
          <a:xfrm xmlns:a="http://schemas.openxmlformats.org/drawingml/2006/main">
            <a:off x="7372350"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暗くする</a:t>
            </a:r>
          </a:p>
        </p:txBody>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8418b4340dfe4718"/>
          <a:srcRect xmlns:a="http://schemas.openxmlformats.org/drawingml/2006/main" l="10156" t="0" r="10156" b="0"/>
          <a:stretch xmlns:a="http://schemas.openxmlformats.org/drawingml/2006/main">
            <a:fillRect l="0" t="0" r="0" b="0"/>
          </a:stretch>
        </p:blipFill>
        <p:spPr>
          <a:xfrm xmlns:a="http://schemas.openxmlformats.org/drawingml/2006/main">
            <a:off x="8467725" y="1981200"/>
            <a:ext cx="971550" cy="6858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63A7B1AD-C3F3-497C-87EF-94A1B70A9DF0}"/>
              </a:ext>
            </a:extLst>
          </p:cNvPr>
          <p:cNvSpPr>
            <a:spLocks xmlns:a="http://schemas.openxmlformats.org/drawingml/2006/main" noGrp="1"/>
          </p:cNvSpPr>
          <p:nvPr/>
        </p:nvSpPr>
        <p:spPr>
          <a:xfrm xmlns:a="http://schemas.openxmlformats.org/drawingml/2006/main">
            <a:off x="842962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明るくする</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994a57e31c804aa2"/>
          <a:srcRect xmlns:a="http://schemas.openxmlformats.org/drawingml/2006/main" l="10156" t="0" r="10156" b="0"/>
          <a:stretch xmlns:a="http://schemas.openxmlformats.org/drawingml/2006/main">
            <a:fillRect l="0" t="0" r="0" b="0"/>
          </a:stretch>
        </p:blipFill>
        <p:spPr>
          <a:xfrm xmlns:a="http://schemas.openxmlformats.org/drawingml/2006/main">
            <a:off x="9525000" y="1981200"/>
            <a:ext cx="971550" cy="6858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ECE71C4A-10A6-49CB-A297-3237A58D5525}"/>
              </a:ext>
            </a:extLst>
          </p:cNvPr>
          <p:cNvSpPr>
            <a:spLocks xmlns:a="http://schemas.openxmlformats.org/drawingml/2006/main" noGrp="1"/>
          </p:cNvSpPr>
          <p:nvPr/>
        </p:nvSpPr>
        <p:spPr>
          <a:xfrm xmlns:a="http://schemas.openxmlformats.org/drawingml/2006/main">
            <a:off x="9486900"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コントラスト</a:t>
            </a:r>
          </a:p>
        </p:txBody>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b3b8c235f9f84349"/>
          <a:srcRect xmlns:a="http://schemas.openxmlformats.org/drawingml/2006/main" l="10156" t="0" r="10156" b="0"/>
          <a:stretch xmlns:a="http://schemas.openxmlformats.org/drawingml/2006/main">
            <a:fillRect l="0" t="0" r="0" b="0"/>
          </a:stretch>
        </p:blipFill>
        <p:spPr>
          <a:xfrm xmlns:a="http://schemas.openxmlformats.org/drawingml/2006/main">
            <a:off x="10582275" y="1981200"/>
            <a:ext cx="971550" cy="6858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B86918C9-EA9C-4F0F-A5BC-BD75BCB8253B}"/>
              </a:ext>
            </a:extLst>
          </p:cNvPr>
          <p:cNvSpPr>
            <a:spLocks xmlns:a="http://schemas.openxmlformats.org/drawingml/2006/main" noGrp="1"/>
          </p:cNvSpPr>
          <p:nvPr/>
        </p:nvSpPr>
        <p:spPr>
          <a:xfrm xmlns:a="http://schemas.openxmlformats.org/drawingml/2006/main">
            <a:off x="1054417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中央を切り出す</a:t>
            </a:r>
          </a:p>
        </p:txBody>
      </p:sp>
      <p:sp>
        <p:nvSpPr>
          <p:cNvPr id="30" name="">
            <a:extLst xmlns:a="http://schemas.openxmlformats.org/drawingml/2006/main">
              <a:ext uri="{FF2B5EF4-FFF2-40B4-BE49-F238E27FC236}">
                <a16:creationId xmlns:a16="http://schemas.microsoft.com/office/drawing/2014/main" id="{4B830E6A-89F7-486C-A99D-6CBCCE947AE3}"/>
              </a:ext>
            </a:extLst>
          </p:cNvPr>
          <p:cNvSpPr>
            <a:spLocks xmlns:a="http://schemas.openxmlformats.org/drawingml/2006/main" noGrp="1"/>
          </p:cNvSpPr>
          <p:nvPr/>
        </p:nvSpPr>
        <p:spPr>
          <a:xfrm xmlns:a="http://schemas.openxmlformats.org/drawingml/2006/main">
            <a:off x="609600" y="3838575"/>
            <a:ext cx="108585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1AC9856-F22C-4D99-BDDE-8FA3D1F0624E}"/>
              </a:ext>
            </a:extLst>
          </p:cNvPr>
          <p:cNvSpPr>
            <a:spLocks xmlns:a="http://schemas.openxmlformats.org/drawingml/2006/main" noGrp="1"/>
          </p:cNvSpPr>
          <p:nvPr/>
        </p:nvSpPr>
        <p:spPr>
          <a:xfrm xmlns:a="http://schemas.openxmlformats.org/drawingml/2006/main">
            <a:off x="666750" y="40957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選択基準</a:t>
            </a:r>
          </a:p>
        </p:txBody>
      </p:sp>
      <p:sp>
        <p:nvSpPr>
          <p:cNvPr id="32" name="">
            <a:extLst xmlns:a="http://schemas.openxmlformats.org/drawingml/2006/main">
              <a:ext uri="{FF2B5EF4-FFF2-40B4-BE49-F238E27FC236}">
                <a16:creationId xmlns:a16="http://schemas.microsoft.com/office/drawing/2014/main" id="{A3F409DD-3CC4-4968-8E3B-6C06E2533719}"/>
              </a:ext>
            </a:extLst>
          </p:cNvPr>
          <p:cNvSpPr>
            <a:spLocks xmlns:a="http://schemas.openxmlformats.org/drawingml/2006/main" noGrp="1"/>
          </p:cNvSpPr>
          <p:nvPr/>
        </p:nvSpPr>
        <p:spPr>
          <a:xfrm xmlns:a="http://schemas.openxmlformats.org/drawingml/2006/main">
            <a:off x="762000" y="4552950"/>
            <a:ext cx="333375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① 学習後の判定が 0.724 に近い</a:t>
            </a:r>
          </a:p>
        </p:txBody>
      </p:sp>
      <p:sp>
        <p:nvSpPr>
          <p:cNvPr id="33" name="">
            <a:extLst xmlns:a="http://schemas.openxmlformats.org/drawingml/2006/main">
              <a:ext uri="{FF2B5EF4-FFF2-40B4-BE49-F238E27FC236}">
                <a16:creationId xmlns:a16="http://schemas.microsoft.com/office/drawing/2014/main" id="{8D6D4DB6-7884-4FFB-8A51-145C01C71D45}"/>
              </a:ext>
            </a:extLst>
          </p:cNvPr>
          <p:cNvSpPr>
            <a:spLocks xmlns:a="http://schemas.openxmlformats.org/drawingml/2006/main" noGrp="1"/>
          </p:cNvSpPr>
          <p:nvPr/>
        </p:nvSpPr>
        <p:spPr>
          <a:xfrm xmlns:a="http://schemas.openxmlformats.org/drawingml/2006/main">
            <a:off x="4400550" y="4552950"/>
            <a:ext cx="4000500" cy="457200"/>
          </a:xfrm>
          <a:prstGeom xmlns:a="http://schemas.openxmlformats.org/drawingml/2006/main" prst="rect">
            <a:avLst/>
          </a:prstGeom>
          <a:solidFill xmlns:a="http://schemas.openxmlformats.org/drawingml/2006/main">
            <a:srgbClr val="FAE9D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② 連合平均前後の変化が +0.238 に近い</a:t>
            </a:r>
          </a:p>
        </p:txBody>
      </p:sp>
      <p:sp>
        <p:nvSpPr>
          <p:cNvPr id="34" name="">
            <a:extLst xmlns:a="http://schemas.openxmlformats.org/drawingml/2006/main">
              <a:ext uri="{FF2B5EF4-FFF2-40B4-BE49-F238E27FC236}">
                <a16:creationId xmlns:a16="http://schemas.microsoft.com/office/drawing/2014/main" id="{142F997D-7B1B-4020-BFD2-33434F726B7B}"/>
              </a:ext>
            </a:extLst>
          </p:cNvPr>
          <p:cNvSpPr>
            <a:spLocks xmlns:a="http://schemas.openxmlformats.org/drawingml/2006/main" noGrp="1"/>
          </p:cNvSpPr>
          <p:nvPr/>
        </p:nvSpPr>
        <p:spPr>
          <a:xfrm xmlns:a="http://schemas.openxmlformats.org/drawingml/2006/main">
            <a:off x="8591550" y="4772025"/>
            <a:ext cx="428625"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CDEAA27-D816-40B1-A6F8-4BB7EBE6A6A0}"/>
              </a:ext>
            </a:extLst>
          </p:cNvPr>
          <p:cNvSpPr>
            <a:spLocks xmlns:a="http://schemas.openxmlformats.org/drawingml/2006/main" noGrp="1"/>
          </p:cNvSpPr>
          <p:nvPr/>
        </p:nvSpPr>
        <p:spPr>
          <a:xfrm xmlns:a="http://schemas.openxmlformats.org/drawingml/2006/main">
            <a:off x="9201150" y="4343400"/>
            <a:ext cx="2266950" cy="8763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P_{k,r}=(x̃_{k,r}, μ^{post}_{k,r})</a:t>
            </a:r>
          </a:p>
        </p:txBody>
      </p:sp>
      <p:sp>
        <p:nvSpPr>
          <p:cNvPr id="36" name="">
            <a:extLst xmlns:a="http://schemas.openxmlformats.org/drawingml/2006/main">
              <a:ext uri="{FF2B5EF4-FFF2-40B4-BE49-F238E27FC236}">
                <a16:creationId xmlns:a16="http://schemas.microsoft.com/office/drawing/2014/main" id="{779649F7-1E5C-412D-B2BA-7A3B1EA732FD}"/>
              </a:ext>
            </a:extLst>
          </p:cNvPr>
          <p:cNvSpPr>
            <a:spLocks xmlns:a="http://schemas.openxmlformats.org/drawingml/2006/main" noGrp="1"/>
          </p:cNvSpPr>
          <p:nvPr/>
        </p:nvSpPr>
        <p:spPr>
          <a:xfrm xmlns:a="http://schemas.openxmlformats.org/drawingml/2006/main">
            <a:off x="1047750" y="5610225"/>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変化量は候補選択に使い、中央側AIへ渡す教師値は学習後の判定 0.724</a:t>
            </a:r>
          </a:p>
        </p:txBody>
      </p:sp>
      <p:sp>
        <p:nvSpPr>
          <p:cNvPr id="37" name="">
            <a:extLst xmlns:a="http://schemas.openxmlformats.org/drawingml/2006/main">
              <a:ext uri="{FF2B5EF4-FFF2-40B4-BE49-F238E27FC236}">
                <a16:creationId xmlns:a16="http://schemas.microsoft.com/office/drawing/2014/main" id="{294B5547-FE6C-42AE-8ED8-6B70592B3C3C}"/>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206788108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69FB07B-908A-4B37-936C-D2686650B89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6640D9-4A93-4E7E-A2F3-7D452D3C28A2}"/>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08F6638-A11F-4BFC-81D2-9D8E0C6440D1}"/>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FedPACT全体フローと今回の実験位置</a:t>
            </a:r>
          </a:p>
        </p:txBody>
      </p:sp>
      <p:sp>
        <p:nvSpPr>
          <p:cNvPr id="4" name="">
            <a:extLst xmlns:a="http://schemas.openxmlformats.org/drawingml/2006/main">
              <a:ext uri="{FF2B5EF4-FFF2-40B4-BE49-F238E27FC236}">
                <a16:creationId xmlns:a16="http://schemas.microsoft.com/office/drawing/2014/main" id="{EA3D33DC-34A5-4040-A8A0-475D096AA0C4}"/>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C4ABC709-1CFE-41C5-B022-573205DB1822}"/>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1CC25A3-48D6-41BB-B0D9-428B8FC27E98}"/>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DEE7B36E-A368-4D80-9E4C-AC43676D8C14}"/>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5 / 8</a:t>
            </a:r>
          </a:p>
        </p:txBody>
      </p:sp>
      <p:sp>
        <p:nvSpPr>
          <p:cNvPr id="8" name="">
            <a:extLst xmlns:a="http://schemas.openxmlformats.org/drawingml/2006/main">
              <a:ext uri="{FF2B5EF4-FFF2-40B4-BE49-F238E27FC236}">
                <a16:creationId xmlns:a16="http://schemas.microsoft.com/office/drawing/2014/main" id="{4FF2A78C-A36E-40DC-ACAA-E298E352565B}"/>
              </a:ext>
            </a:extLst>
          </p:cNvPr>
          <p:cNvSpPr>
            <a:spLocks xmlns:a="http://schemas.openxmlformats.org/drawingml/2006/main" noGrp="1"/>
          </p:cNvSpPr>
          <p:nvPr/>
        </p:nvSpPr>
        <p:spPr>
          <a:xfrm xmlns:a="http://schemas.openxmlformats.org/drawingml/2006/main">
            <a:off x="704850" y="1143000"/>
            <a:ext cx="10782300" cy="4191000"/>
          </a:xfrm>
          <a:prstGeom xmlns:a="http://schemas.openxmlformats.org/drawingml/2006/main" prst="rect">
            <a:avLst/>
          </a:prstGeom>
          <a:solidFill xmlns:a="http://schemas.openxmlformats.org/drawingml/2006/main">
            <a:srgbClr val="ECEFEB"/>
          </a:solidFill>
          <a:ln xmlns:a="http://schemas.openxmlformats.org/drawingml/2006/main" w="19050">
            <a:solidFill>
              <a:srgbClr val="87979C"/>
            </a:solidFill>
          </a:ln>
        </p:spPr>
      </p:sp>
      <p:sp>
        <p:nvSpPr>
          <p:cNvPr id="9" name="">
            <a:extLst xmlns:a="http://schemas.openxmlformats.org/drawingml/2006/main">
              <a:ext uri="{FF2B5EF4-FFF2-40B4-BE49-F238E27FC236}">
                <a16:creationId xmlns:a16="http://schemas.microsoft.com/office/drawing/2014/main" id="{D261F5D4-82D9-431C-92F6-731BD18868E9}"/>
              </a:ext>
            </a:extLst>
          </p:cNvPr>
          <p:cNvSpPr>
            <a:spLocks xmlns:a="http://schemas.openxmlformats.org/drawingml/2006/main" noGrp="1"/>
          </p:cNvSpPr>
          <p:nvPr/>
        </p:nvSpPr>
        <p:spPr>
          <a:xfrm xmlns:a="http://schemas.openxmlformats.org/drawingml/2006/main">
            <a:off x="2238375" y="2705100"/>
            <a:ext cx="771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ここに9月16日Slack共有版の</a:t>
            </a:r>
          </a:p>
          <a:p xmlns:a="http://schemas.openxmlformats.org/drawingml/2006/main">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フローチャートを挿入</a:t>
            </a:r>
          </a:p>
        </p:txBody>
      </p:sp>
      <p:sp>
        <p:nvSpPr>
          <p:cNvPr id="10" name="">
            <a:extLst xmlns:a="http://schemas.openxmlformats.org/drawingml/2006/main">
              <a:ext uri="{FF2B5EF4-FFF2-40B4-BE49-F238E27FC236}">
                <a16:creationId xmlns:a16="http://schemas.microsoft.com/office/drawing/2014/main" id="{7A349263-5E40-4E1E-B81D-78FF4E32E06D}"/>
              </a:ext>
            </a:extLst>
          </p:cNvPr>
          <p:cNvSpPr>
            <a:spLocks xmlns:a="http://schemas.openxmlformats.org/drawingml/2006/main" noGrp="1"/>
          </p:cNvSpPr>
          <p:nvPr/>
        </p:nvSpPr>
        <p:spPr>
          <a:xfrm xmlns:a="http://schemas.openxmlformats.org/drawingml/2006/main">
            <a:off x="895350" y="13144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7B78"/>
                </a:solidFill>
                <a:latin typeface="Yu Gothic"/>
                <a:ea typeface="Yu Gothic"/>
                <a:cs typeface="Yu Gothic"/>
              </a:defRPr>
            </a:pPr>
            <a:r>
              <a:rPr sz="1350" b="1">
                <a:solidFill>
                  <a:srgbClr val="147B78"/>
                </a:solidFill>
                <a:latin typeface="Yu Gothic"/>
                <a:ea typeface="Yu Gothic"/>
                <a:cs typeface="Yu Gothic"/>
              </a:rPr>
              <a:t>差し替え時の確認</a:t>
            </a:r>
          </a:p>
        </p:txBody>
      </p:sp>
      <p:sp>
        <p:nvSpPr>
          <p:cNvPr id="11" name="">
            <a:extLst xmlns:a="http://schemas.openxmlformats.org/drawingml/2006/main">
              <a:ext uri="{FF2B5EF4-FFF2-40B4-BE49-F238E27FC236}">
                <a16:creationId xmlns:a16="http://schemas.microsoft.com/office/drawing/2014/main" id="{FE2317E2-8297-4D14-8FF4-91EBC99594BC}"/>
              </a:ext>
            </a:extLst>
          </p:cNvPr>
          <p:cNvSpPr>
            <a:spLocks xmlns:a="http://schemas.openxmlformats.org/drawingml/2006/main" noGrp="1"/>
          </p:cNvSpPr>
          <p:nvPr/>
        </p:nvSpPr>
        <p:spPr>
          <a:xfrm xmlns:a="http://schemas.openxmlformats.org/drawingml/2006/main">
            <a:off x="2914650" y="13335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a:solidFill>
                  <a:srgbClr val="617078"/>
                </a:solidFill>
                <a:latin typeface="Yu Gothic"/>
                <a:ea typeface="Yu Gothic"/>
                <a:cs typeface="Yu Gothic"/>
              </a:defRPr>
            </a:pPr>
            <a:r>
              <a:rPr sz="1275" b="0">
                <a:solidFill>
                  <a:srgbClr val="617078"/>
                </a:solidFill>
                <a:latin typeface="Yu Gothic"/>
                <a:ea typeface="Yu Gothic"/>
                <a:cs typeface="Yu Gothic"/>
              </a:rPr>
              <a:t>小型AIの更新と Q_{k,r} を別経路で表示　／　Layer 2を今回の中心として表示</a:t>
            </a:r>
          </a:p>
        </p:txBody>
      </p:sp>
      <p:sp>
        <p:nvSpPr>
          <p:cNvPr id="12" name="">
            <a:extLst xmlns:a="http://schemas.openxmlformats.org/drawingml/2006/main">
              <a:ext uri="{FF2B5EF4-FFF2-40B4-BE49-F238E27FC236}">
                <a16:creationId xmlns:a16="http://schemas.microsoft.com/office/drawing/2014/main" id="{4682CA2F-A80F-4AF4-9503-7AF716FB4869}"/>
              </a:ext>
            </a:extLst>
          </p:cNvPr>
          <p:cNvSpPr>
            <a:spLocks xmlns:a="http://schemas.openxmlformats.org/drawingml/2006/main" noGrp="1"/>
          </p:cNvSpPr>
          <p:nvPr/>
        </p:nvSpPr>
        <p:spPr>
          <a:xfrm xmlns:a="http://schemas.openxmlformats.org/drawingml/2006/main">
            <a:off x="781050" y="56388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今回の確認範囲</a:t>
            </a:r>
          </a:p>
        </p:txBody>
      </p:sp>
      <p:sp>
        <p:nvSpPr>
          <p:cNvPr id="13" name="">
            <a:extLst xmlns:a="http://schemas.openxmlformats.org/drawingml/2006/main">
              <a:ext uri="{FF2B5EF4-FFF2-40B4-BE49-F238E27FC236}">
                <a16:creationId xmlns:a16="http://schemas.microsoft.com/office/drawing/2014/main" id="{EA721747-4A30-4362-A36E-A97D5E80FFE4}"/>
              </a:ext>
            </a:extLst>
          </p:cNvPr>
          <p:cNvSpPr>
            <a:spLocks xmlns:a="http://schemas.openxmlformats.org/drawingml/2006/main" noGrp="1"/>
          </p:cNvSpPr>
          <p:nvPr/>
        </p:nvSpPr>
        <p:spPr>
          <a:xfrm xmlns:a="http://schemas.openxmlformats.org/drawingml/2006/main">
            <a:off x="2686050"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1</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2台の小型AIを連合平均</a:t>
            </a:r>
          </a:p>
        </p:txBody>
      </p:sp>
      <p:sp>
        <p:nvSpPr>
          <p:cNvPr id="14" name="">
            <a:extLst xmlns:a="http://schemas.openxmlformats.org/drawingml/2006/main">
              <a:ext uri="{FF2B5EF4-FFF2-40B4-BE49-F238E27FC236}">
                <a16:creationId xmlns:a16="http://schemas.microsoft.com/office/drawing/2014/main" id="{07C7FB38-6972-4489-B5D2-9AC3E7A73ABE}"/>
              </a:ext>
            </a:extLst>
          </p:cNvPr>
          <p:cNvSpPr>
            <a:spLocks xmlns:a="http://schemas.openxmlformats.org/drawingml/2006/main" noGrp="1"/>
          </p:cNvSpPr>
          <p:nvPr/>
        </p:nvSpPr>
        <p:spPr>
          <a:xfrm xmlns:a="http://schemas.openxmlformats.org/drawingml/2006/main">
            <a:off x="4610100"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332CF62-30AE-41D3-BBDC-17556660F9D7}"/>
              </a:ext>
            </a:extLst>
          </p:cNvPr>
          <p:cNvSpPr>
            <a:spLocks xmlns:a="http://schemas.openxmlformats.org/drawingml/2006/main" noGrp="1"/>
          </p:cNvSpPr>
          <p:nvPr/>
        </p:nvSpPr>
        <p:spPr>
          <a:xfrm xmlns:a="http://schemas.openxmlformats.org/drawingml/2006/main">
            <a:off x="4924425"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Layer 2</a:t>
            </a:r>
          </a:p>
          <a:p xmlns:a="http://schemas.openxmlformats.org/drawingml/2006/main">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代理データを生成</a:t>
            </a:r>
          </a:p>
        </p:txBody>
      </p:sp>
      <p:sp>
        <p:nvSpPr>
          <p:cNvPr id="16" name="">
            <a:extLst xmlns:a="http://schemas.openxmlformats.org/drawingml/2006/main">
              <a:ext uri="{FF2B5EF4-FFF2-40B4-BE49-F238E27FC236}">
                <a16:creationId xmlns:a16="http://schemas.microsoft.com/office/drawing/2014/main" id="{5BE203AB-FF66-45D6-A600-5AB561027518}"/>
              </a:ext>
            </a:extLst>
          </p:cNvPr>
          <p:cNvSpPr>
            <a:spLocks xmlns:a="http://schemas.openxmlformats.org/drawingml/2006/main" noGrp="1"/>
          </p:cNvSpPr>
          <p:nvPr/>
        </p:nvSpPr>
        <p:spPr>
          <a:xfrm xmlns:a="http://schemas.openxmlformats.org/drawingml/2006/main">
            <a:off x="6848475"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1B0A1C0-F59C-47F3-98F2-CFFBD64DF0E0}"/>
              </a:ext>
            </a:extLst>
          </p:cNvPr>
          <p:cNvSpPr>
            <a:spLocks xmlns:a="http://schemas.openxmlformats.org/drawingml/2006/main" noGrp="1"/>
          </p:cNvSpPr>
          <p:nvPr/>
        </p:nvSpPr>
        <p:spPr>
          <a:xfrm xmlns:a="http://schemas.openxmlformats.org/drawingml/2006/main">
            <a:off x="7162800"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3</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18" name="">
            <a:extLst xmlns:a="http://schemas.openxmlformats.org/drawingml/2006/main">
              <a:ext uri="{FF2B5EF4-FFF2-40B4-BE49-F238E27FC236}">
                <a16:creationId xmlns:a16="http://schemas.microsoft.com/office/drawing/2014/main" id="{65AE7EC6-6A72-463F-9EF7-576D0F1F2E37}"/>
              </a:ext>
            </a:extLst>
          </p:cNvPr>
          <p:cNvSpPr>
            <a:spLocks xmlns:a="http://schemas.openxmlformats.org/drawingml/2006/main" noGrp="1"/>
          </p:cNvSpPr>
          <p:nvPr/>
        </p:nvSpPr>
        <p:spPr>
          <a:xfrm xmlns:a="http://schemas.openxmlformats.org/drawingml/2006/main">
            <a:off x="9086850"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759DE0A-03EF-40D4-BFB7-89CEAFD941E5}"/>
              </a:ext>
            </a:extLst>
          </p:cNvPr>
          <p:cNvSpPr>
            <a:spLocks xmlns:a="http://schemas.openxmlformats.org/drawingml/2006/main" noGrp="1"/>
          </p:cNvSpPr>
          <p:nvPr/>
        </p:nvSpPr>
        <p:spPr>
          <a:xfrm xmlns:a="http://schemas.openxmlformats.org/drawingml/2006/main">
            <a:off x="9401175"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次のラウンド</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状態を引き継ぐ</a:t>
            </a:r>
          </a:p>
        </p:txBody>
      </p:sp>
      <p:sp>
        <p:nvSpPr>
          <p:cNvPr id="20" name="">
            <a:extLst xmlns:a="http://schemas.openxmlformats.org/drawingml/2006/main">
              <a:ext uri="{FF2B5EF4-FFF2-40B4-BE49-F238E27FC236}">
                <a16:creationId xmlns:a16="http://schemas.microsoft.com/office/drawing/2014/main" id="{A4581A61-D43F-4426-94E2-5C96364D8122}"/>
              </a:ext>
            </a:extLst>
          </p:cNvPr>
          <p:cNvSpPr>
            <a:spLocks xmlns:a="http://schemas.openxmlformats.org/drawingml/2006/main" noGrp="1"/>
          </p:cNvSpPr>
          <p:nvPr/>
        </p:nvSpPr>
        <p:spPr>
          <a:xfrm xmlns:a="http://schemas.openxmlformats.org/drawingml/2006/main">
            <a:off x="952500" y="61531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26373D"/>
                </a:solidFill>
                <a:latin typeface="Yu Gothic"/>
                <a:ea typeface="Yu Gothic"/>
                <a:cs typeface="Yu Gothic"/>
              </a:defRPr>
            </a:pPr>
            <a:r>
              <a:rPr sz="1350" b="1">
                <a:solidFill>
                  <a:srgbClr val="26373D"/>
                </a:solidFill>
                <a:latin typeface="Yu Gothic"/>
                <a:ea typeface="Yu Gothic"/>
                <a:cs typeface="Yu Gothic"/>
              </a:rPr>
              <a:t>合格条件：3層と次のラウンドが正しくつながり、入力・出力・状態をログから追えること</a:t>
            </a:r>
          </a:p>
        </p:txBody>
      </p:sp>
    </p:spTree>
    <p:extLst>
      <p:ext uri="{BB962C8B-B14F-4D97-AF65-F5344CB8AC3E}">
        <p14:creationId xmlns:p14="http://schemas.microsoft.com/office/powerpoint/2010/main" val="130250118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A1CA5D3-7059-4C14-A8EC-02411A782F3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298408-2DE0-4FDA-9609-291B1B63BB13}"/>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F622258-FE78-4599-AE8D-E1A260D66DB4}"/>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学習後の判定は一致したが、変化量は再現できなかった</a:t>
            </a:r>
          </a:p>
        </p:txBody>
      </p:sp>
      <p:sp>
        <p:nvSpPr>
          <p:cNvPr id="4" name="">
            <a:extLst xmlns:a="http://schemas.openxmlformats.org/drawingml/2006/main">
              <a:ext uri="{FF2B5EF4-FFF2-40B4-BE49-F238E27FC236}">
                <a16:creationId xmlns:a16="http://schemas.microsoft.com/office/drawing/2014/main" id="{1ED54374-38E2-4C15-A462-84BA27023B24}"/>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FD890E9C-3476-4F37-973F-71B42C4CE3EF}"/>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D02F32D-A62A-4A4E-AE4C-619A7C681D3B}"/>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BFB62F14-8A8C-4E3C-BF64-9E66EC77E12F}"/>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6 / 8</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bf5933c9b261403b"/>
          <a:srcRect xmlns:a="http://schemas.openxmlformats.org/drawingml/2006/main" l="41" t="0" r="41" b="0"/>
          <a:stretch xmlns:a="http://schemas.openxmlformats.org/drawingml/2006/main">
            <a:fillRect l="0" t="0" r="0" b="0"/>
          </a:stretch>
        </p:blipFill>
        <p:spPr>
          <a:xfrm xmlns:a="http://schemas.openxmlformats.org/drawingml/2006/main">
            <a:off x="552450" y="1162050"/>
            <a:ext cx="2571750" cy="144780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c5571fcdcfd34cda"/>
          <a:srcRect xmlns:a="http://schemas.openxmlformats.org/drawingml/2006/main" l="41" t="0" r="41" b="0"/>
          <a:stretch xmlns:a="http://schemas.openxmlformats.org/drawingml/2006/main">
            <a:fillRect l="0" t="0" r="0" b="0"/>
          </a:stretch>
        </p:blipFill>
        <p:spPr>
          <a:xfrm xmlns:a="http://schemas.openxmlformats.org/drawingml/2006/main">
            <a:off x="3371850" y="1162050"/>
            <a:ext cx="2571750" cy="14478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e695c881597f4c92"/>
          <a:srcRect xmlns:a="http://schemas.openxmlformats.org/drawingml/2006/main" l="41" t="0" r="41" b="0"/>
          <a:stretch xmlns:a="http://schemas.openxmlformats.org/drawingml/2006/main">
            <a:fillRect l="0" t="0" r="0" b="0"/>
          </a:stretch>
        </p:blipFill>
        <p:spPr>
          <a:xfrm xmlns:a="http://schemas.openxmlformats.org/drawingml/2006/main">
            <a:off x="6191250" y="1162050"/>
            <a:ext cx="2571750" cy="1447800"/>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b9af062ecb354523"/>
          <a:srcRect xmlns:a="http://schemas.openxmlformats.org/drawingml/2006/main" l="41" t="0" r="41" b="0"/>
          <a:stretch xmlns:a="http://schemas.openxmlformats.org/drawingml/2006/main">
            <a:fillRect l="0" t="0" r="0" b="0"/>
          </a:stretch>
        </p:blipFill>
        <p:spPr>
          <a:xfrm xmlns:a="http://schemas.openxmlformats.org/drawingml/2006/main">
            <a:off x="9010650" y="1162050"/>
            <a:ext cx="2571750" cy="1447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D8601E9-0710-4C27-A693-7870B29C6F62}"/>
              </a:ext>
            </a:extLst>
          </p:cNvPr>
          <p:cNvSpPr>
            <a:spLocks xmlns:a="http://schemas.openxmlformats.org/drawingml/2006/main" noGrp="1"/>
          </p:cNvSpPr>
          <p:nvPr/>
        </p:nvSpPr>
        <p:spPr>
          <a:xfrm xmlns:a="http://schemas.openxmlformats.org/drawingml/2006/main">
            <a:off x="552450" y="2705100"/>
            <a:ext cx="11029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選ばれた中央側動画：正解ラベルは通常、変換なし</a:t>
            </a:r>
          </a:p>
        </p:txBody>
      </p:sp>
      <p:sp>
        <p:nvSpPr>
          <p:cNvPr id="13" name="">
            <a:extLst xmlns:a="http://schemas.openxmlformats.org/drawingml/2006/main">
              <a:ext uri="{FF2B5EF4-FFF2-40B4-BE49-F238E27FC236}">
                <a16:creationId xmlns:a16="http://schemas.microsoft.com/office/drawing/2014/main" id="{1AF54EF2-2AB3-474A-98A7-C93B87D8D3B2}"/>
              </a:ext>
            </a:extLst>
          </p:cNvPr>
          <p:cNvSpPr>
            <a:spLocks xmlns:a="http://schemas.openxmlformats.org/drawingml/2006/main" noGrp="1"/>
          </p:cNvSpPr>
          <p:nvPr/>
        </p:nvSpPr>
        <p:spPr>
          <a:xfrm xmlns:a="http://schemas.openxmlformats.org/drawingml/2006/main">
            <a:off x="857250" y="33337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学習後の危険確率</a:t>
            </a:r>
          </a:p>
        </p:txBody>
      </p:sp>
      <p:sp>
        <p:nvSpPr>
          <p:cNvPr id="14" name="">
            <a:extLst xmlns:a="http://schemas.openxmlformats.org/drawingml/2006/main">
              <a:ext uri="{FF2B5EF4-FFF2-40B4-BE49-F238E27FC236}">
                <a16:creationId xmlns:a16="http://schemas.microsoft.com/office/drawing/2014/main" id="{E55FDC12-F892-4CAE-BD80-35BDE9A507AE}"/>
              </a:ext>
            </a:extLst>
          </p:cNvPr>
          <p:cNvSpPr>
            <a:spLocks xmlns:a="http://schemas.openxmlformats.org/drawingml/2006/main" noGrp="1"/>
          </p:cNvSpPr>
          <p:nvPr/>
        </p:nvSpPr>
        <p:spPr>
          <a:xfrm xmlns:a="http://schemas.openxmlformats.org/drawingml/2006/main">
            <a:off x="1047750" y="38957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15" name="">
            <a:extLst xmlns:a="http://schemas.openxmlformats.org/drawingml/2006/main">
              <a:ext uri="{FF2B5EF4-FFF2-40B4-BE49-F238E27FC236}">
                <a16:creationId xmlns:a16="http://schemas.microsoft.com/office/drawing/2014/main" id="{5CB7312A-370E-4D3F-85C2-B9CA9FD9A3F6}"/>
              </a:ext>
            </a:extLst>
          </p:cNvPr>
          <p:cNvSpPr>
            <a:spLocks xmlns:a="http://schemas.openxmlformats.org/drawingml/2006/main" noGrp="1"/>
          </p:cNvSpPr>
          <p:nvPr/>
        </p:nvSpPr>
        <p:spPr>
          <a:xfrm xmlns:a="http://schemas.openxmlformats.org/drawingml/2006/main">
            <a:off x="1047750" y="422910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0.724</a:t>
            </a:r>
          </a:p>
        </p:txBody>
      </p:sp>
      <p:sp>
        <p:nvSpPr>
          <p:cNvPr id="16" name="">
            <a:extLst xmlns:a="http://schemas.openxmlformats.org/drawingml/2006/main">
              <a:ext uri="{FF2B5EF4-FFF2-40B4-BE49-F238E27FC236}">
                <a16:creationId xmlns:a16="http://schemas.microsoft.com/office/drawing/2014/main" id="{C9798464-2FC6-4F10-9669-6336EF83D3BB}"/>
              </a:ext>
            </a:extLst>
          </p:cNvPr>
          <p:cNvSpPr>
            <a:spLocks xmlns:a="http://schemas.openxmlformats.org/drawingml/2006/main" noGrp="1"/>
          </p:cNvSpPr>
          <p:nvPr/>
        </p:nvSpPr>
        <p:spPr>
          <a:xfrm xmlns:a="http://schemas.openxmlformats.org/drawingml/2006/main">
            <a:off x="3381375" y="38957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17" name="">
            <a:extLst xmlns:a="http://schemas.openxmlformats.org/drawingml/2006/main">
              <a:ext uri="{FF2B5EF4-FFF2-40B4-BE49-F238E27FC236}">
                <a16:creationId xmlns:a16="http://schemas.microsoft.com/office/drawing/2014/main" id="{42AD1251-8647-426B-B471-595009EA8774}"/>
              </a:ext>
            </a:extLst>
          </p:cNvPr>
          <p:cNvSpPr>
            <a:spLocks xmlns:a="http://schemas.openxmlformats.org/drawingml/2006/main" noGrp="1"/>
          </p:cNvSpPr>
          <p:nvPr/>
        </p:nvSpPr>
        <p:spPr>
          <a:xfrm xmlns:a="http://schemas.openxmlformats.org/drawingml/2006/main">
            <a:off x="3381375" y="422910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47B78"/>
                </a:solidFill>
                <a:latin typeface="Yu Gothic"/>
                <a:ea typeface="Yu Gothic"/>
                <a:cs typeface="Yu Gothic"/>
              </a:defRPr>
            </a:pPr>
            <a:r>
              <a:rPr sz="3000" b="1">
                <a:solidFill>
                  <a:srgbClr val="147B78"/>
                </a:solidFill>
                <a:latin typeface="Yu Gothic"/>
                <a:ea typeface="Yu Gothic"/>
                <a:cs typeface="Yu Gothic"/>
              </a:rPr>
              <a:t>0.724</a:t>
            </a:r>
          </a:p>
        </p:txBody>
      </p:sp>
      <p:sp>
        <p:nvSpPr>
          <p:cNvPr id="18" name="">
            <a:extLst xmlns:a="http://schemas.openxmlformats.org/drawingml/2006/main">
              <a:ext uri="{FF2B5EF4-FFF2-40B4-BE49-F238E27FC236}">
                <a16:creationId xmlns:a16="http://schemas.microsoft.com/office/drawing/2014/main" id="{3337ED63-1C20-4762-A646-DF47B2857E3E}"/>
              </a:ext>
            </a:extLst>
          </p:cNvPr>
          <p:cNvSpPr>
            <a:spLocks xmlns:a="http://schemas.openxmlformats.org/drawingml/2006/main" noGrp="1"/>
          </p:cNvSpPr>
          <p:nvPr/>
        </p:nvSpPr>
        <p:spPr>
          <a:xfrm xmlns:a="http://schemas.openxmlformats.org/drawingml/2006/main">
            <a:off x="2095500" y="4886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ほぼ一致</a:t>
            </a:r>
          </a:p>
        </p:txBody>
      </p:sp>
      <p:sp>
        <p:nvSpPr>
          <p:cNvPr id="19" name="">
            <a:extLst xmlns:a="http://schemas.openxmlformats.org/drawingml/2006/main">
              <a:ext uri="{FF2B5EF4-FFF2-40B4-BE49-F238E27FC236}">
                <a16:creationId xmlns:a16="http://schemas.microsoft.com/office/drawing/2014/main" id="{56FD8F12-46D5-47A8-A955-95C30D873D52}"/>
              </a:ext>
            </a:extLst>
          </p:cNvPr>
          <p:cNvSpPr>
            <a:spLocks xmlns:a="http://schemas.openxmlformats.org/drawingml/2006/main" noGrp="1"/>
          </p:cNvSpPr>
          <p:nvPr/>
        </p:nvSpPr>
        <p:spPr>
          <a:xfrm xmlns:a="http://schemas.openxmlformats.org/drawingml/2006/main">
            <a:off x="5905500" y="3286125"/>
            <a:ext cx="19050" cy="200025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6F87681-8DD2-42D2-81DF-53C0E94F8DBA}"/>
              </a:ext>
            </a:extLst>
          </p:cNvPr>
          <p:cNvSpPr>
            <a:spLocks xmlns:a="http://schemas.openxmlformats.org/drawingml/2006/main" noGrp="1"/>
          </p:cNvSpPr>
          <p:nvPr/>
        </p:nvSpPr>
        <p:spPr>
          <a:xfrm xmlns:a="http://schemas.openxmlformats.org/drawingml/2006/main">
            <a:off x="6286500" y="3333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学習による危険方向の変化</a:t>
            </a:r>
          </a:p>
        </p:txBody>
      </p:sp>
      <p:sp>
        <p:nvSpPr>
          <p:cNvPr id="21" name="">
            <a:extLst xmlns:a="http://schemas.openxmlformats.org/drawingml/2006/main">
              <a:ext uri="{FF2B5EF4-FFF2-40B4-BE49-F238E27FC236}">
                <a16:creationId xmlns:a16="http://schemas.microsoft.com/office/drawing/2014/main" id="{015D68C7-A896-4720-96ED-453134FD9407}"/>
              </a:ext>
            </a:extLst>
          </p:cNvPr>
          <p:cNvSpPr>
            <a:spLocks xmlns:a="http://schemas.openxmlformats.org/drawingml/2006/main" noGrp="1"/>
          </p:cNvSpPr>
          <p:nvPr/>
        </p:nvSpPr>
        <p:spPr>
          <a:xfrm xmlns:a="http://schemas.openxmlformats.org/drawingml/2006/main">
            <a:off x="6572250" y="38957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22" name="">
            <a:extLst xmlns:a="http://schemas.openxmlformats.org/drawingml/2006/main">
              <a:ext uri="{FF2B5EF4-FFF2-40B4-BE49-F238E27FC236}">
                <a16:creationId xmlns:a16="http://schemas.microsoft.com/office/drawing/2014/main" id="{AD0FF4C4-AE5B-40E6-871C-9C373B970C1B}"/>
              </a:ext>
            </a:extLst>
          </p:cNvPr>
          <p:cNvSpPr>
            <a:spLocks xmlns:a="http://schemas.openxmlformats.org/drawingml/2006/main" noGrp="1"/>
          </p:cNvSpPr>
          <p:nvPr/>
        </p:nvSpPr>
        <p:spPr>
          <a:xfrm xmlns:a="http://schemas.openxmlformats.org/drawingml/2006/main">
            <a:off x="6572250" y="42291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+0.238</a:t>
            </a:r>
          </a:p>
        </p:txBody>
      </p:sp>
      <p:sp>
        <p:nvSpPr>
          <p:cNvPr id="23" name="">
            <a:extLst xmlns:a="http://schemas.openxmlformats.org/drawingml/2006/main">
              <a:ext uri="{FF2B5EF4-FFF2-40B4-BE49-F238E27FC236}">
                <a16:creationId xmlns:a16="http://schemas.microsoft.com/office/drawing/2014/main" id="{658FB4D2-C84F-4E08-9E41-4B1D88A483EA}"/>
              </a:ext>
            </a:extLst>
          </p:cNvPr>
          <p:cNvSpPr>
            <a:spLocks xmlns:a="http://schemas.openxmlformats.org/drawingml/2006/main" noGrp="1"/>
          </p:cNvSpPr>
          <p:nvPr/>
        </p:nvSpPr>
        <p:spPr>
          <a:xfrm xmlns:a="http://schemas.openxmlformats.org/drawingml/2006/main">
            <a:off x="9048750" y="38957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24" name="">
            <a:extLst xmlns:a="http://schemas.openxmlformats.org/drawingml/2006/main">
              <a:ext uri="{FF2B5EF4-FFF2-40B4-BE49-F238E27FC236}">
                <a16:creationId xmlns:a16="http://schemas.microsoft.com/office/drawing/2014/main" id="{AB4BC1E7-8846-4F56-ACF9-3ECE153B7A48}"/>
              </a:ext>
            </a:extLst>
          </p:cNvPr>
          <p:cNvSpPr>
            <a:spLocks xmlns:a="http://schemas.openxmlformats.org/drawingml/2006/main" noGrp="1"/>
          </p:cNvSpPr>
          <p:nvPr/>
        </p:nvSpPr>
        <p:spPr>
          <a:xfrm xmlns:a="http://schemas.openxmlformats.org/drawingml/2006/main">
            <a:off x="9048750" y="42291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B94A3A"/>
                </a:solidFill>
                <a:latin typeface="Yu Gothic"/>
                <a:ea typeface="Yu Gothic"/>
                <a:cs typeface="Yu Gothic"/>
              </a:defRPr>
            </a:pPr>
            <a:r>
              <a:rPr sz="3000" b="1">
                <a:solidFill>
                  <a:srgbClr val="B94A3A"/>
                </a:solidFill>
                <a:latin typeface="Yu Gothic"/>
                <a:ea typeface="Yu Gothic"/>
                <a:cs typeface="Yu Gothic"/>
              </a:rPr>
              <a:t>+0.051</a:t>
            </a:r>
          </a:p>
        </p:txBody>
      </p:sp>
      <p:sp>
        <p:nvSpPr>
          <p:cNvPr id="25" name="">
            <a:extLst xmlns:a="http://schemas.openxmlformats.org/drawingml/2006/main">
              <a:ext uri="{FF2B5EF4-FFF2-40B4-BE49-F238E27FC236}">
                <a16:creationId xmlns:a16="http://schemas.microsoft.com/office/drawing/2014/main" id="{9C9F8232-7483-4F1E-A4C4-1E221B89C6A5}"/>
              </a:ext>
            </a:extLst>
          </p:cNvPr>
          <p:cNvSpPr>
            <a:spLocks xmlns:a="http://schemas.openxmlformats.org/drawingml/2006/main" noGrp="1"/>
          </p:cNvSpPr>
          <p:nvPr/>
        </p:nvSpPr>
        <p:spPr>
          <a:xfrm xmlns:a="http://schemas.openxmlformats.org/drawingml/2006/main">
            <a:off x="9029700" y="4810125"/>
            <a:ext cx="1857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0.673 から 0.724</a:t>
            </a:r>
          </a:p>
        </p:txBody>
      </p:sp>
      <p:sp>
        <p:nvSpPr>
          <p:cNvPr id="26" name="">
            <a:extLst xmlns:a="http://schemas.openxmlformats.org/drawingml/2006/main">
              <a:ext uri="{FF2B5EF4-FFF2-40B4-BE49-F238E27FC236}">
                <a16:creationId xmlns:a16="http://schemas.microsoft.com/office/drawing/2014/main" id="{74EFAF25-0777-46DF-934E-2742A5835BF5}"/>
              </a:ext>
            </a:extLst>
          </p:cNvPr>
          <p:cNvSpPr>
            <a:spLocks xmlns:a="http://schemas.openxmlformats.org/drawingml/2006/main" noGrp="1"/>
          </p:cNvSpPr>
          <p:nvPr/>
        </p:nvSpPr>
        <p:spPr>
          <a:xfrm xmlns:a="http://schemas.openxmlformats.org/drawingml/2006/main">
            <a:off x="7858125" y="50673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差が残る</a:t>
            </a:r>
          </a:p>
        </p:txBody>
      </p:sp>
      <p:sp>
        <p:nvSpPr>
          <p:cNvPr id="27" name="">
            <a:extLst xmlns:a="http://schemas.openxmlformats.org/drawingml/2006/main">
              <a:ext uri="{FF2B5EF4-FFF2-40B4-BE49-F238E27FC236}">
                <a16:creationId xmlns:a16="http://schemas.microsoft.com/office/drawing/2014/main" id="{0D2336BC-0ED8-4F4C-80A1-5965097574DC}"/>
              </a:ext>
            </a:extLst>
          </p:cNvPr>
          <p:cNvSpPr>
            <a:spLocks xmlns:a="http://schemas.openxmlformats.org/drawingml/2006/main" noGrp="1"/>
          </p:cNvSpPr>
          <p:nvPr/>
        </p:nvSpPr>
        <p:spPr>
          <a:xfrm xmlns:a="http://schemas.openxmlformats.org/drawingml/2006/main">
            <a:off x="742950" y="5610225"/>
            <a:ext cx="10706100" cy="590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2194213-CA24-482B-8FF3-5C791806D625}"/>
              </a:ext>
            </a:extLst>
          </p:cNvPr>
          <p:cNvSpPr>
            <a:spLocks xmlns:a="http://schemas.openxmlformats.org/drawingml/2006/main" noGrp="1"/>
          </p:cNvSpPr>
          <p:nvPr/>
        </p:nvSpPr>
        <p:spPr>
          <a:xfrm xmlns:a="http://schemas.openxmlformats.org/drawingml/2006/main">
            <a:off x="1000125" y="5753100"/>
            <a:ext cx="1019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26373D"/>
                </a:solidFill>
                <a:latin typeface="Yu Gothic"/>
                <a:ea typeface="Yu Gothic"/>
                <a:cs typeface="Yu Gothic"/>
              </a:defRPr>
            </a:pPr>
            <a:r>
              <a:rPr sz="1725" b="1">
                <a:solidFill>
                  <a:srgbClr val="26373D"/>
                </a:solidFill>
                <a:latin typeface="Yu Gothic"/>
                <a:ea typeface="Yu Gothic"/>
                <a:cs typeface="Yu Gothic"/>
              </a:rPr>
              <a:t>最終的な判定の一致だけでは、現場で生じた学習変化を再現できたとは判断できない</a:t>
            </a:r>
          </a:p>
        </p:txBody>
      </p:sp>
      <p:sp>
        <p:nvSpPr>
          <p:cNvPr id="29" name="">
            <a:extLst xmlns:a="http://schemas.openxmlformats.org/drawingml/2006/main">
              <a:ext uri="{FF2B5EF4-FFF2-40B4-BE49-F238E27FC236}">
                <a16:creationId xmlns:a16="http://schemas.microsoft.com/office/drawing/2014/main" id="{302EADBD-A5A1-45F7-AE9A-77FF9BD61533}"/>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79925713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ACBB2C1-F9FA-406A-84FA-7A8E806B47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ACD5F5-D6BF-44C2-B540-DE0CE3F3D684}"/>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04ED01-BFA1-4E80-A2A9-663C20919BD2}"/>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3ラウンドの状態継承を確認、性能改善は未確認</a:t>
            </a:r>
          </a:p>
        </p:txBody>
      </p:sp>
      <p:sp>
        <p:nvSpPr>
          <p:cNvPr id="4" name="">
            <a:extLst xmlns:a="http://schemas.openxmlformats.org/drawingml/2006/main">
              <a:ext uri="{FF2B5EF4-FFF2-40B4-BE49-F238E27FC236}">
                <a16:creationId xmlns:a16="http://schemas.microsoft.com/office/drawing/2014/main" id="{6BF4D83E-25F4-45B0-B29A-3E46322EFE0F}"/>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6CFB52B7-C47D-414D-8EA5-413295BDB0C7}"/>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5AE5ED4-0D4F-4637-9000-D7809981CC39}"/>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005F8F40-9F38-41FB-9C0A-194BAF995F9F}"/>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7 / 8</a:t>
            </a:r>
          </a:p>
        </p:txBody>
      </p:sp>
      <p:graphicFrame>
        <p:nvGraphicFramePr>
          <p:cNvPr id="24" name=""/>
          <p:cNvGraphicFramePr/>
          <p:nvPr/>
        </p:nvGraphicFramePr>
        <p:xfrm>
          <a:off xmlns:a="http://schemas.openxmlformats.org/drawingml/2006/main" x="619125" y="1257300"/>
          <a:ext xmlns:a="http://schemas.openxmlformats.org/drawingml/2006/main" cx="10953750" cy="2324100"/>
        </p:xfrm>
        <a:graphic xmlns:a="http://schemas.openxmlformats.org/drawingml/2006/main">
          <a:graphicData uri="http://schemas.openxmlformats.org/drawingml/2006/table">
            <a:tbl>
              <a:tblPr/>
              <a:tblGrid>
                <a:gridCol w="1095375"/>
                <a:gridCol w="2381250"/>
                <a:gridCol w="2000250"/>
                <a:gridCol w="2381250"/>
                <a:gridCol w="3095625"/>
              </a:tblGrid>
              <a:tr h="581025">
                <a:tc>
                  <a:txBody>
                    <a:bodyPr/>
                    <a:lstStyle/>
                    <a:p>
                      <a:r>
                        <a:rPr sz="1150" b="1">
                          <a:solidFill>
                            <a:srgbClr val="173B4B"/>
                          </a:solidFill>
                          <a:latin typeface="Yu Gothic"/>
                          <a:ea typeface="Yu Gothic"/>
                          <a:cs typeface="Yu Gothic"/>
                        </a:rPr>
                        <a:t>ラウンド</a:t>
                      </a:r>
                    </a:p>
                  </a:txBody>
                  <a:tcPr marL="91440" marR="91440" marT="45720" marB="45720"/>
                </a:tc>
                <a:tc>
                  <a:txBody>
                    <a:bodyPr/>
                    <a:lstStyle/>
                    <a:p>
                      <a:r>
                        <a:rPr sz="1150" b="1">
                          <a:solidFill>
                            <a:srgbClr val="173B4B"/>
                          </a:solidFill>
                          <a:latin typeface="Yu Gothic"/>
                          <a:ea typeface="Yu Gothic"/>
                          <a:cs typeface="Yu Gothic"/>
                        </a:rPr>
                        <a:t>小型AIの状態</a:t>
                      </a:r>
                    </a:p>
                  </a:txBody>
                  <a:tcPr marL="91440" marR="91440" marT="45720" marB="45720"/>
                </a:tc>
                <a:tc>
                  <a:txBody>
                    <a:bodyPr/>
                    <a:lstStyle/>
                    <a:p>
                      <a:r>
                        <a:rPr sz="1150" b="1">
                          <a:solidFill>
                            <a:srgbClr val="173B4B"/>
                          </a:solidFill>
                          <a:latin typeface="Yu Gothic"/>
                          <a:ea typeface="Yu Gothic"/>
                          <a:cs typeface="Yu Gothic"/>
                        </a:rPr>
                        <a:t>2台の更新量</a:t>
                      </a:r>
                    </a:p>
                  </a:txBody>
                  <a:tcPr marL="91440" marR="91440" marT="45720" marB="45720"/>
                </a:tc>
                <a:tc>
                  <a:txBody>
                    <a:bodyPr/>
                    <a:lstStyle/>
                    <a:p>
                      <a:r>
                        <a:rPr sz="1150" b="1">
                          <a:solidFill>
                            <a:srgbClr val="173B4B"/>
                          </a:solidFill>
                          <a:latin typeface="Yu Gothic"/>
                          <a:ea typeface="Yu Gothic"/>
                          <a:cs typeface="Yu Gothic"/>
                        </a:rPr>
                        <a:t>連合平均の再計算差</a:t>
                      </a:r>
                    </a:p>
                  </a:txBody>
                  <a:tcPr marL="91440" marR="91440" marT="45720" marB="45720"/>
                </a:tc>
                <a:tc>
                  <a:txBody>
                    <a:bodyPr/>
                    <a:lstStyle/>
                    <a:p>
                      <a:r>
                        <a:rPr sz="1150" b="1">
                          <a:solidFill>
                            <a:srgbClr val="173B4B"/>
                          </a:solidFill>
                          <a:latin typeface="Yu Gothic"/>
                          <a:ea typeface="Yu Gothic"/>
                          <a:cs typeface="Yu Gothic"/>
                        </a:rPr>
                        <a:t>同じ4組に対する中央側AIのずれ</a:t>
                      </a:r>
                    </a:p>
                  </a:txBody>
                  <a:tcPr marL="91440" marR="91440" marT="45720" marB="45720"/>
                </a:tc>
              </a:tr>
              <a:tr h="581025">
                <a:tc>
                  <a:txBody>
                    <a:bodyPr/>
                    <a:lstStyle/>
                    <a:p>
                      <a:r>
                        <a:rPr sz="1400" b="0">
                          <a:solidFill>
                            <a:srgbClr val="26373D"/>
                          </a:solidFill>
                          <a:latin typeface="Yu Gothic"/>
                          <a:ea typeface="Yu Gothic"/>
                          <a:cs typeface="Yu Gothic"/>
                        </a:rPr>
                        <a:t>1</a:t>
                      </a:r>
                    </a:p>
                  </a:txBody>
                  <a:tcPr marL="91440" marR="91440" marT="45720" marB="45720"/>
                </a:tc>
                <a:tc>
                  <a:txBody>
                    <a:bodyPr/>
                    <a:lstStyle/>
                    <a:p>
                      <a:r>
                        <a:rPr sz="1400" b="0">
                          <a:solidFill>
                            <a:srgbClr val="26373D"/>
                          </a:solidFill>
                          <a:latin typeface="Yu Gothic"/>
                          <a:ea typeface="Yu Gothic"/>
                          <a:cs typeface="Yu Gothic"/>
                        </a:rPr>
                        <a:t>M_G^0 から M_G^1</a:t>
                      </a:r>
                    </a:p>
                  </a:txBody>
                  <a:tcPr marL="91440" marR="91440" marT="45720" marB="45720"/>
                </a:tc>
                <a:tc>
                  <a:txBody>
                    <a:bodyPr/>
                    <a:lstStyle/>
                    <a:p>
                      <a:r>
                        <a:rPr sz="1400" b="0">
                          <a:solidFill>
                            <a:srgbClr val="26373D"/>
                          </a:solidFill>
                          <a:latin typeface="Yu Gothic"/>
                          <a:ea typeface="Yu Gothic"/>
                          <a:cs typeface="Yu Gothic"/>
                        </a:rPr>
                        <a:t>0.346 / 0.292</a:t>
                      </a:r>
                    </a:p>
                  </a:txBody>
                  <a:tcPr marL="91440" marR="91440" marT="45720" marB="45720"/>
                </a:tc>
                <a:tc>
                  <a:txBody>
                    <a:bodyPr/>
                    <a:lstStyle/>
                    <a:p>
                      <a:r>
                        <a:rPr sz="1400" b="0">
                          <a:solidFill>
                            <a:srgbClr val="26373D"/>
                          </a:solidFill>
                          <a:latin typeface="Yu Gothic"/>
                          <a:ea typeface="Yu Gothic"/>
                          <a:cs typeface="Yu Gothic"/>
                        </a:rPr>
                        <a:t>5.82 × 10^-11</a:t>
                      </a:r>
                    </a:p>
                  </a:txBody>
                  <a:tcPr marL="91440" marR="91440" marT="45720" marB="45720"/>
                </a:tc>
                <a:tc>
                  <a:txBody>
                    <a:bodyPr/>
                    <a:lstStyle/>
                    <a:p>
                      <a:r>
                        <a:rPr sz="1400" b="0">
                          <a:solidFill>
                            <a:srgbClr val="26373D"/>
                          </a:solidFill>
                          <a:latin typeface="Yu Gothic"/>
                          <a:ea typeface="Yu Gothic"/>
                          <a:cs typeface="Yu Gothic"/>
                        </a:rPr>
                        <a:t>0.0540 から 0.0534</a:t>
                      </a:r>
                    </a:p>
                  </a:txBody>
                  <a:tcPr marL="91440" marR="91440" marT="45720" marB="45720"/>
                </a:tc>
              </a:tr>
              <a:tr h="581025">
                <a:tc>
                  <a:txBody>
                    <a:bodyPr/>
                    <a:lstStyle/>
                    <a:p>
                      <a:r>
                        <a:rPr sz="1400" b="0">
                          <a:solidFill>
                            <a:srgbClr val="26373D"/>
                          </a:solidFill>
                          <a:latin typeface="Yu Gothic"/>
                          <a:ea typeface="Yu Gothic"/>
                          <a:cs typeface="Yu Gothic"/>
                        </a:rPr>
                        <a:t>2</a:t>
                      </a:r>
                    </a:p>
                  </a:txBody>
                  <a:tcPr marL="91440" marR="91440" marT="45720" marB="45720"/>
                </a:tc>
                <a:tc>
                  <a:txBody>
                    <a:bodyPr/>
                    <a:lstStyle/>
                    <a:p>
                      <a:r>
                        <a:rPr sz="1400" b="0">
                          <a:solidFill>
                            <a:srgbClr val="26373D"/>
                          </a:solidFill>
                          <a:latin typeface="Yu Gothic"/>
                          <a:ea typeface="Yu Gothic"/>
                          <a:cs typeface="Yu Gothic"/>
                        </a:rPr>
                        <a:t>M_G^1 から M_G^2</a:t>
                      </a:r>
                    </a:p>
                  </a:txBody>
                  <a:tcPr marL="91440" marR="91440" marT="45720" marB="45720"/>
                </a:tc>
                <a:tc>
                  <a:txBody>
                    <a:bodyPr/>
                    <a:lstStyle/>
                    <a:p>
                      <a:r>
                        <a:rPr sz="1400" b="0">
                          <a:solidFill>
                            <a:srgbClr val="26373D"/>
                          </a:solidFill>
                          <a:latin typeface="Yu Gothic"/>
                          <a:ea typeface="Yu Gothic"/>
                          <a:cs typeface="Yu Gothic"/>
                        </a:rPr>
                        <a:t>0.323 / 0.280</a:t>
                      </a:r>
                    </a:p>
                  </a:txBody>
                  <a:tcPr marL="91440" marR="91440" marT="45720" marB="45720"/>
                </a:tc>
                <a:tc>
                  <a:txBody>
                    <a:bodyPr/>
                    <a:lstStyle/>
                    <a:p>
                      <a:r>
                        <a:rPr sz="1400" b="0">
                          <a:solidFill>
                            <a:srgbClr val="26373D"/>
                          </a:solidFill>
                          <a:latin typeface="Yu Gothic"/>
                          <a:ea typeface="Yu Gothic"/>
                          <a:cs typeface="Yu Gothic"/>
                        </a:rPr>
                        <a:t>5.82 × 10^-11</a:t>
                      </a:r>
                    </a:p>
                  </a:txBody>
                  <a:tcPr marL="91440" marR="91440" marT="45720" marB="45720"/>
                </a:tc>
                <a:tc>
                  <a:txBody>
                    <a:bodyPr/>
                    <a:lstStyle/>
                    <a:p>
                      <a:r>
                        <a:rPr sz="1400" b="0">
                          <a:solidFill>
                            <a:srgbClr val="26373D"/>
                          </a:solidFill>
                          <a:latin typeface="Yu Gothic"/>
                          <a:ea typeface="Yu Gothic"/>
                          <a:cs typeface="Yu Gothic"/>
                        </a:rPr>
                        <a:t>18.478 から 18.339</a:t>
                      </a:r>
                    </a:p>
                  </a:txBody>
                  <a:tcPr marL="91440" marR="91440" marT="45720" marB="45720"/>
                </a:tc>
              </a:tr>
              <a:tr h="581025">
                <a:tc>
                  <a:txBody>
                    <a:bodyPr/>
                    <a:lstStyle/>
                    <a:p>
                      <a:r>
                        <a:rPr sz="1400" b="0">
                          <a:solidFill>
                            <a:srgbClr val="26373D"/>
                          </a:solidFill>
                          <a:latin typeface="Yu Gothic"/>
                          <a:ea typeface="Yu Gothic"/>
                          <a:cs typeface="Yu Gothic"/>
                        </a:rPr>
                        <a:t>3</a:t>
                      </a:r>
                    </a:p>
                  </a:txBody>
                  <a:tcPr marL="91440" marR="91440" marT="45720" marB="45720"/>
                </a:tc>
                <a:tc>
                  <a:txBody>
                    <a:bodyPr/>
                    <a:lstStyle/>
                    <a:p>
                      <a:r>
                        <a:rPr sz="1400" b="0">
                          <a:solidFill>
                            <a:srgbClr val="26373D"/>
                          </a:solidFill>
                          <a:latin typeface="Yu Gothic"/>
                          <a:ea typeface="Yu Gothic"/>
                          <a:cs typeface="Yu Gothic"/>
                        </a:rPr>
                        <a:t>M_G^2 から M_G^3</a:t>
                      </a:r>
                    </a:p>
                  </a:txBody>
                  <a:tcPr marL="91440" marR="91440" marT="45720" marB="45720"/>
                </a:tc>
                <a:tc>
                  <a:txBody>
                    <a:bodyPr/>
                    <a:lstStyle/>
                    <a:p>
                      <a:r>
                        <a:rPr sz="1400" b="0">
                          <a:solidFill>
                            <a:srgbClr val="26373D"/>
                          </a:solidFill>
                          <a:latin typeface="Yu Gothic"/>
                          <a:ea typeface="Yu Gothic"/>
                          <a:cs typeface="Yu Gothic"/>
                        </a:rPr>
                        <a:t>0.320 / 0.280</a:t>
                      </a:r>
                    </a:p>
                  </a:txBody>
                  <a:tcPr marL="91440" marR="91440" marT="45720" marB="45720"/>
                </a:tc>
                <a:tc>
                  <a:txBody>
                    <a:bodyPr/>
                    <a:lstStyle/>
                    <a:p>
                      <a:r>
                        <a:rPr sz="1400" b="0">
                          <a:solidFill>
                            <a:srgbClr val="26373D"/>
                          </a:solidFill>
                          <a:latin typeface="Yu Gothic"/>
                          <a:ea typeface="Yu Gothic"/>
                          <a:cs typeface="Yu Gothic"/>
                        </a:rPr>
                        <a:t>1.16 × 10^-10</a:t>
                      </a:r>
                    </a:p>
                  </a:txBody>
                  <a:tcPr marL="91440" marR="91440" marT="45720" marB="45720"/>
                </a:tc>
                <a:tc>
                  <a:txBody>
                    <a:bodyPr>
                      <a:normAutofit/>
                    </a:bodyPr>
                    <a:lstStyle/>
                    <a:p>
                      <a:pPr algn="ctr"/>
                      <a:r>
                        <a:rPr sz="1350" b="1">
                          <a:solidFill>
                            <a:srgbClr val="B94A3A"/>
                          </a:solidFill>
                          <a:latin typeface="Yu Gothic"/>
                          <a:ea typeface="Yu Gothic"/>
                          <a:cs typeface="Yu Gothic"/>
                        </a:rPr>
                        <a:t>16.131 から 16.178</a:t>
                      </a:r>
                    </a:p>
                  </a:txBody>
                  <a:tcPr marL="91440" marR="91440" marT="45720" marB="45720" anchor="ctr">
                    <a:solidFill>
                      <a:srgbClr val="F5DFDA"/>
                    </a:solidFill>
                  </a:tcPr>
                </a:tc>
              </a:tr>
            </a:tbl>
          </a:graphicData>
        </a:graphic>
      </p:graphicFrame>
      <p:sp>
        <p:nvSpPr>
          <p:cNvPr id="9" name="">
            <a:extLst xmlns:a="http://schemas.openxmlformats.org/drawingml/2006/main">
              <a:ext uri="{FF2B5EF4-FFF2-40B4-BE49-F238E27FC236}">
                <a16:creationId xmlns:a16="http://schemas.microsoft.com/office/drawing/2014/main" id="{8387501E-5726-4028-BD90-3BBE19056258}"/>
              </a:ext>
            </a:extLst>
          </p:cNvPr>
          <p:cNvSpPr>
            <a:spLocks xmlns:a="http://schemas.openxmlformats.org/drawingml/2006/main" noGrp="1"/>
          </p:cNvSpPr>
          <p:nvPr/>
        </p:nvSpPr>
        <p:spPr>
          <a:xfrm xmlns:a="http://schemas.openxmlformats.org/drawingml/2006/main">
            <a:off x="857250" y="3714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各ラウンドで代理データが異なるため、ずれの値をラウンド間の性能推移として比較しない</a:t>
            </a:r>
          </a:p>
        </p:txBody>
      </p:sp>
      <p:sp>
        <p:nvSpPr>
          <p:cNvPr id="10" name="">
            <a:extLst xmlns:a="http://schemas.openxmlformats.org/drawingml/2006/main">
              <a:ext uri="{FF2B5EF4-FFF2-40B4-BE49-F238E27FC236}">
                <a16:creationId xmlns:a16="http://schemas.microsoft.com/office/drawing/2014/main" id="{307FAB3C-B71A-4030-9963-81B63B2E9BD0}"/>
              </a:ext>
            </a:extLst>
          </p:cNvPr>
          <p:cNvSpPr>
            <a:spLocks xmlns:a="http://schemas.openxmlformats.org/drawingml/2006/main" noGrp="1"/>
          </p:cNvSpPr>
          <p:nvPr/>
        </p:nvSpPr>
        <p:spPr>
          <a:xfrm xmlns:a="http://schemas.openxmlformats.org/drawingml/2006/main">
            <a:off x="685800" y="4191000"/>
            <a:ext cx="4953000" cy="12573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C2A4A8B-8C22-4EFD-B71B-D88535AF7CD9}"/>
              </a:ext>
            </a:extLst>
          </p:cNvPr>
          <p:cNvSpPr>
            <a:spLocks xmlns:a="http://schemas.openxmlformats.org/drawingml/2006/main" noGrp="1"/>
          </p:cNvSpPr>
          <p:nvPr/>
        </p:nvSpPr>
        <p:spPr>
          <a:xfrm xmlns:a="http://schemas.openxmlformats.org/drawingml/2006/main">
            <a:off x="933450" y="437197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確認できたこと</a:t>
            </a:r>
          </a:p>
        </p:txBody>
      </p:sp>
      <p:sp>
        <p:nvSpPr>
          <p:cNvPr id="12" name="">
            <a:extLst xmlns:a="http://schemas.openxmlformats.org/drawingml/2006/main">
              <a:ext uri="{FF2B5EF4-FFF2-40B4-BE49-F238E27FC236}">
                <a16:creationId xmlns:a16="http://schemas.microsoft.com/office/drawing/2014/main" id="{E2267FF2-6E71-486D-9A83-9AB66B2CD81D}"/>
              </a:ext>
            </a:extLst>
          </p:cNvPr>
          <p:cNvSpPr>
            <a:spLocks xmlns:a="http://schemas.openxmlformats.org/drawingml/2006/main" noGrp="1"/>
          </p:cNvSpPr>
          <p:nvPr/>
        </p:nvSpPr>
        <p:spPr>
          <a:xfrm xmlns:a="http://schemas.openxmlformats.org/drawingml/2006/main">
            <a:off x="933450" y="4752975"/>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2台の更新は毎回ゼロではない</a:t>
            </a:r>
          </a:p>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連合平均を別計算で再現</a:t>
            </a:r>
          </a:p>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小型AIと中央側AIの状態が次回へ一致</a:t>
            </a:r>
          </a:p>
        </p:txBody>
      </p:sp>
      <p:sp>
        <p:nvSpPr>
          <p:cNvPr id="13" name="">
            <a:extLst xmlns:a="http://schemas.openxmlformats.org/drawingml/2006/main">
              <a:ext uri="{FF2B5EF4-FFF2-40B4-BE49-F238E27FC236}">
                <a16:creationId xmlns:a16="http://schemas.microsoft.com/office/drawing/2014/main" id="{9A4937D7-6C24-4E49-B0F4-BE5635968992}"/>
              </a:ext>
            </a:extLst>
          </p:cNvPr>
          <p:cNvSpPr>
            <a:spLocks xmlns:a="http://schemas.openxmlformats.org/drawingml/2006/main" noGrp="1"/>
          </p:cNvSpPr>
          <p:nvPr/>
        </p:nvSpPr>
        <p:spPr>
          <a:xfrm xmlns:a="http://schemas.openxmlformats.org/drawingml/2006/main">
            <a:off x="5943600" y="4191000"/>
            <a:ext cx="5562600" cy="125730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15D8D2C-D3B6-41EB-8528-F16B97834CA2}"/>
              </a:ext>
            </a:extLst>
          </p:cNvPr>
          <p:cNvSpPr>
            <a:spLocks xmlns:a="http://schemas.openxmlformats.org/drawingml/2006/main" noGrp="1"/>
          </p:cNvSpPr>
          <p:nvPr/>
        </p:nvSpPr>
        <p:spPr>
          <a:xfrm xmlns:a="http://schemas.openxmlformats.org/drawingml/2006/main">
            <a:off x="6191250" y="437197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残った診断点</a:t>
            </a:r>
          </a:p>
        </p:txBody>
      </p:sp>
      <p:sp>
        <p:nvSpPr>
          <p:cNvPr id="15" name="">
            <a:extLst xmlns:a="http://schemas.openxmlformats.org/drawingml/2006/main">
              <a:ext uri="{FF2B5EF4-FFF2-40B4-BE49-F238E27FC236}">
                <a16:creationId xmlns:a16="http://schemas.microsoft.com/office/drawing/2014/main" id="{166EBA95-D137-4C15-AC9A-79B09BCA680E}"/>
              </a:ext>
            </a:extLst>
          </p:cNvPr>
          <p:cNvSpPr>
            <a:spLocks xmlns:a="http://schemas.openxmlformats.org/drawingml/2006/main" noGrp="1"/>
          </p:cNvSpPr>
          <p:nvPr/>
        </p:nvSpPr>
        <p:spPr>
          <a:xfrm xmlns:a="http://schemas.openxmlformats.org/drawingml/2006/main">
            <a:off x="6191250" y="47529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1ラウンド目は変化の方向が4件中3件一致</a:t>
            </a:r>
          </a:p>
          <a:p xmlns:a="http://schemas.openxmlformats.org/drawingml/2006/main">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3ラウンド目は中央側AIのずれが増加</a:t>
            </a:r>
          </a:p>
        </p:txBody>
      </p:sp>
      <p:sp>
        <p:nvSpPr>
          <p:cNvPr id="16" name="">
            <a:extLst xmlns:a="http://schemas.openxmlformats.org/drawingml/2006/main">
              <a:ext uri="{FF2B5EF4-FFF2-40B4-BE49-F238E27FC236}">
                <a16:creationId xmlns:a16="http://schemas.microsoft.com/office/drawing/2014/main" id="{C16D1240-10FD-470E-BC92-576ED0F7B3D8}"/>
              </a:ext>
            </a:extLst>
          </p:cNvPr>
          <p:cNvSpPr>
            <a:spLocks xmlns:a="http://schemas.openxmlformats.org/drawingml/2006/main" noGrp="1"/>
          </p:cNvSpPr>
          <p:nvPr/>
        </p:nvSpPr>
        <p:spPr>
          <a:xfrm xmlns:a="http://schemas.openxmlformats.org/drawingml/2006/main">
            <a:off x="914400" y="583882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今回の合格は『実行・接続・状態継承』。代理データの品質や学習効果の合格ではない。</a:t>
            </a:r>
          </a:p>
        </p:txBody>
      </p:sp>
    </p:spTree>
    <p:extLst>
      <p:ext uri="{BB962C8B-B14F-4D97-AF65-F5344CB8AC3E}">
        <p14:creationId xmlns:p14="http://schemas.microsoft.com/office/powerpoint/2010/main" val="108826246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1FE00EE-56DF-4500-9A11-46F5F966749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00AB48-E071-41C1-B649-1991C0A6852E}"/>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A2B2605-1B43-4874-A3C6-61FAD62521B3}"/>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結論と今後</a:t>
            </a:r>
          </a:p>
        </p:txBody>
      </p:sp>
      <p:sp>
        <p:nvSpPr>
          <p:cNvPr id="4" name="">
            <a:extLst xmlns:a="http://schemas.openxmlformats.org/drawingml/2006/main">
              <a:ext uri="{FF2B5EF4-FFF2-40B4-BE49-F238E27FC236}">
                <a16:creationId xmlns:a16="http://schemas.microsoft.com/office/drawing/2014/main" id="{86A8AB89-A969-42A7-A71C-9E1695A133CA}"/>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BD88283C-D526-49DA-A0E0-055A908095AC}"/>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7EB967C-13A4-48AA-8BB8-31C72D19D748}"/>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C1FA0624-49E2-4062-B98B-45876F309BC0}"/>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8 / 8</a:t>
            </a:r>
          </a:p>
        </p:txBody>
      </p:sp>
      <p:sp>
        <p:nvSpPr>
          <p:cNvPr id="8" name="">
            <a:extLst xmlns:a="http://schemas.openxmlformats.org/drawingml/2006/main">
              <a:ext uri="{FF2B5EF4-FFF2-40B4-BE49-F238E27FC236}">
                <a16:creationId xmlns:a16="http://schemas.microsoft.com/office/drawing/2014/main" id="{1107D4B5-B254-4A83-BE06-47BAE20E3772}"/>
              </a:ext>
            </a:extLst>
          </p:cNvPr>
          <p:cNvSpPr>
            <a:spLocks xmlns:a="http://schemas.openxmlformats.org/drawingml/2006/main" noGrp="1"/>
          </p:cNvSpPr>
          <p:nvPr/>
        </p:nvSpPr>
        <p:spPr>
          <a:xfrm xmlns:a="http://schemas.openxmlformats.org/drawingml/2006/main">
            <a:off x="723900" y="1123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今回確認できたこと</a:t>
            </a:r>
          </a:p>
        </p:txBody>
      </p:sp>
      <p:sp>
        <p:nvSpPr>
          <p:cNvPr id="9" name="">
            <a:extLst xmlns:a="http://schemas.openxmlformats.org/drawingml/2006/main">
              <a:ext uri="{FF2B5EF4-FFF2-40B4-BE49-F238E27FC236}">
                <a16:creationId xmlns:a16="http://schemas.microsoft.com/office/drawing/2014/main" id="{2E8648C2-DC3B-4EA5-B8A4-7862C1677E6A}"/>
              </a:ext>
            </a:extLst>
          </p:cNvPr>
          <p:cNvSpPr>
            <a:spLocks xmlns:a="http://schemas.openxmlformats.org/drawingml/2006/main" noGrp="1"/>
          </p:cNvSpPr>
          <p:nvPr/>
        </p:nvSpPr>
        <p:spPr>
          <a:xfrm xmlns:a="http://schemas.openxmlformats.org/drawingml/2006/main">
            <a:off x="781050" y="1638300"/>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・代表動画から Q_{k,r} を作り、代理データへ対応付け</a:t>
            </a:r>
          </a:p>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・3層を接続し、中央側AIの更新まで実行</a:t>
            </a:r>
          </a:p>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・3ラウンドの状態をログから追跡</a:t>
            </a:r>
          </a:p>
        </p:txBody>
      </p:sp>
      <p:sp>
        <p:nvSpPr>
          <p:cNvPr id="10" name="">
            <a:extLst xmlns:a="http://schemas.openxmlformats.org/drawingml/2006/main">
              <a:ext uri="{FF2B5EF4-FFF2-40B4-BE49-F238E27FC236}">
                <a16:creationId xmlns:a16="http://schemas.microsoft.com/office/drawing/2014/main" id="{390B1E0D-E3FB-4311-8F1A-C508CB7A62FF}"/>
              </a:ext>
            </a:extLst>
          </p:cNvPr>
          <p:cNvSpPr>
            <a:spLocks xmlns:a="http://schemas.openxmlformats.org/drawingml/2006/main" noGrp="1"/>
          </p:cNvSpPr>
          <p:nvPr/>
        </p:nvSpPr>
        <p:spPr>
          <a:xfrm xmlns:a="http://schemas.openxmlformats.org/drawingml/2006/main">
            <a:off x="5924550" y="1123950"/>
            <a:ext cx="19050" cy="20955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0E3C972-5898-4974-B499-8E8142E704E4}"/>
              </a:ext>
            </a:extLst>
          </p:cNvPr>
          <p:cNvSpPr>
            <a:spLocks xmlns:a="http://schemas.openxmlformats.org/drawingml/2006/main" noGrp="1"/>
          </p:cNvSpPr>
          <p:nvPr/>
        </p:nvSpPr>
        <p:spPr>
          <a:xfrm xmlns:a="http://schemas.openxmlformats.org/drawingml/2006/main">
            <a:off x="6324600" y="1123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B94A3A"/>
                </a:solidFill>
                <a:latin typeface="Yu Gothic"/>
                <a:ea typeface="Yu Gothic"/>
                <a:cs typeface="Yu Gothic"/>
              </a:defRPr>
            </a:pPr>
            <a:r>
              <a:rPr sz="1800" b="1">
                <a:solidFill>
                  <a:srgbClr val="B94A3A"/>
                </a:solidFill>
                <a:latin typeface="Yu Gothic"/>
                <a:ea typeface="Yu Gothic"/>
                <a:cs typeface="Yu Gothic"/>
              </a:rPr>
              <a:t>まだ言えないこと</a:t>
            </a:r>
          </a:p>
        </p:txBody>
      </p:sp>
      <p:sp>
        <p:nvSpPr>
          <p:cNvPr id="12" name="">
            <a:extLst xmlns:a="http://schemas.openxmlformats.org/drawingml/2006/main">
              <a:ext uri="{FF2B5EF4-FFF2-40B4-BE49-F238E27FC236}">
                <a16:creationId xmlns:a16="http://schemas.microsoft.com/office/drawing/2014/main" id="{DBF734CA-DE92-4DCD-931E-CA250393DDE0}"/>
              </a:ext>
            </a:extLst>
          </p:cNvPr>
          <p:cNvSpPr>
            <a:spLocks xmlns:a="http://schemas.openxmlformats.org/drawingml/2006/main" noGrp="1"/>
          </p:cNvSpPr>
          <p:nvPr/>
        </p:nvSpPr>
        <p:spPr>
          <a:xfrm xmlns:a="http://schemas.openxmlformats.org/drawingml/2006/main">
            <a:off x="6381750" y="1638300"/>
            <a:ext cx="4762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・性能向上と未知動画への転移</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・代理データが現場の学習を十分に再現したこと</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・構造や規模が異なるAI間の転移</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・形式的な安全性の保証</a:t>
            </a:r>
          </a:p>
        </p:txBody>
      </p:sp>
      <p:sp>
        <p:nvSpPr>
          <p:cNvPr id="13" name="">
            <a:extLst xmlns:a="http://schemas.openxmlformats.org/drawingml/2006/main">
              <a:ext uri="{FF2B5EF4-FFF2-40B4-BE49-F238E27FC236}">
                <a16:creationId xmlns:a16="http://schemas.microsoft.com/office/drawing/2014/main" id="{FE4D738F-3A61-48D4-93CB-694CF1363D4D}"/>
              </a:ext>
            </a:extLst>
          </p:cNvPr>
          <p:cNvSpPr>
            <a:spLocks xmlns:a="http://schemas.openxmlformats.org/drawingml/2006/main" noGrp="1"/>
          </p:cNvSpPr>
          <p:nvPr/>
        </p:nvSpPr>
        <p:spPr>
          <a:xfrm xmlns:a="http://schemas.openxmlformats.org/drawingml/2006/main">
            <a:off x="685800" y="3486150"/>
            <a:ext cx="108204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807906E-3C51-4B25-98D5-65D2C8512AFC}"/>
              </a:ext>
            </a:extLst>
          </p:cNvPr>
          <p:cNvSpPr>
            <a:spLocks xmlns:a="http://schemas.openxmlformats.org/drawingml/2006/main" noGrp="1"/>
          </p:cNvSpPr>
          <p:nvPr/>
        </p:nvSpPr>
        <p:spPr>
          <a:xfrm xmlns:a="http://schemas.openxmlformats.org/drawingml/2006/main">
            <a:off x="742950" y="37242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今後の順序</a:t>
            </a:r>
          </a:p>
        </p:txBody>
      </p:sp>
      <p:sp>
        <p:nvSpPr>
          <p:cNvPr id="15" name="">
            <a:extLst xmlns:a="http://schemas.openxmlformats.org/drawingml/2006/main">
              <a:ext uri="{FF2B5EF4-FFF2-40B4-BE49-F238E27FC236}">
                <a16:creationId xmlns:a16="http://schemas.microsoft.com/office/drawing/2014/main" id="{098052DA-143C-4F0B-B397-163A9747698D}"/>
              </a:ext>
            </a:extLst>
          </p:cNvPr>
          <p:cNvSpPr>
            <a:spLocks xmlns:a="http://schemas.openxmlformats.org/drawingml/2006/main" noGrp="1"/>
          </p:cNvSpPr>
          <p:nvPr/>
        </p:nvSpPr>
        <p:spPr>
          <a:xfrm xmlns:a="http://schemas.openxmlformats.org/drawingml/2006/main">
            <a:off x="800100" y="4171950"/>
            <a:ext cx="400050" cy="400050"/>
          </a:xfrm>
          <a:prstGeom xmlns:a="http://schemas.openxmlformats.org/drawingml/2006/main" prst="ellipse">
            <a:avLst/>
          </a:prstGeom>
          <a:solidFill xmlns:a="http://schemas.openxmlformats.org/drawingml/2006/main">
            <a:srgbClr val="B94A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C9531C2-FC9B-4DBD-9939-74D9C463E6E3}"/>
              </a:ext>
            </a:extLst>
          </p:cNvPr>
          <p:cNvSpPr>
            <a:spLocks xmlns:a="http://schemas.openxmlformats.org/drawingml/2006/main" noGrp="1"/>
          </p:cNvSpPr>
          <p:nvPr/>
        </p:nvSpPr>
        <p:spPr>
          <a:xfrm xmlns:a="http://schemas.openxmlformats.org/drawingml/2006/main">
            <a:off x="800100" y="42195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17" name="">
            <a:extLst xmlns:a="http://schemas.openxmlformats.org/drawingml/2006/main">
              <a:ext uri="{FF2B5EF4-FFF2-40B4-BE49-F238E27FC236}">
                <a16:creationId xmlns:a16="http://schemas.microsoft.com/office/drawing/2014/main" id="{0A45E29E-2F09-4959-803C-BE40C78F0B45}"/>
              </a:ext>
            </a:extLst>
          </p:cNvPr>
          <p:cNvSpPr>
            <a:spLocks xmlns:a="http://schemas.openxmlformats.org/drawingml/2006/main" noGrp="1"/>
          </p:cNvSpPr>
          <p:nvPr/>
        </p:nvSpPr>
        <p:spPr>
          <a:xfrm xmlns:a="http://schemas.openxmlformats.org/drawingml/2006/main">
            <a:off x="1428750" y="41529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中央側AIの更新方向を確認</a:t>
            </a:r>
          </a:p>
        </p:txBody>
      </p:sp>
      <p:sp>
        <p:nvSpPr>
          <p:cNvPr id="18" name="">
            <a:extLst xmlns:a="http://schemas.openxmlformats.org/drawingml/2006/main">
              <a:ext uri="{FF2B5EF4-FFF2-40B4-BE49-F238E27FC236}">
                <a16:creationId xmlns:a16="http://schemas.microsoft.com/office/drawing/2014/main" id="{7CD87D71-382C-4A2E-8715-6519FAB6DEE6}"/>
              </a:ext>
            </a:extLst>
          </p:cNvPr>
          <p:cNvSpPr>
            <a:spLocks xmlns:a="http://schemas.openxmlformats.org/drawingml/2006/main" noGrp="1"/>
          </p:cNvSpPr>
          <p:nvPr/>
        </p:nvSpPr>
        <p:spPr>
          <a:xfrm xmlns:a="http://schemas.openxmlformats.org/drawingml/2006/main">
            <a:off x="4686300" y="41529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同じ4組を固定し、ごく小さい1回の更新でずれが減るかを確認</a:t>
            </a:r>
          </a:p>
        </p:txBody>
      </p:sp>
      <p:sp>
        <p:nvSpPr>
          <p:cNvPr id="19" name="">
            <a:extLst xmlns:a="http://schemas.openxmlformats.org/drawingml/2006/main">
              <a:ext uri="{FF2B5EF4-FFF2-40B4-BE49-F238E27FC236}">
                <a16:creationId xmlns:a16="http://schemas.microsoft.com/office/drawing/2014/main" id="{15B581BE-7812-402C-BC06-AA76E474C06A}"/>
              </a:ext>
            </a:extLst>
          </p:cNvPr>
          <p:cNvSpPr>
            <a:spLocks xmlns:a="http://schemas.openxmlformats.org/drawingml/2006/main" noGrp="1"/>
          </p:cNvSpPr>
          <p:nvPr/>
        </p:nvSpPr>
        <p:spPr>
          <a:xfrm xmlns:a="http://schemas.openxmlformats.org/drawingml/2006/main">
            <a:off x="800100" y="4800600"/>
            <a:ext cx="400050" cy="400050"/>
          </a:xfrm>
          <a:prstGeom xmlns:a="http://schemas.openxmlformats.org/drawingml/2006/main" prst="ellipse">
            <a:avLst/>
          </a:prstGeom>
          <a:solidFill xmlns:a="http://schemas.openxmlformats.org/drawingml/2006/main">
            <a:srgbClr val="E7833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728BE51-4442-4772-8312-2E09BA134845}"/>
              </a:ext>
            </a:extLst>
          </p:cNvPr>
          <p:cNvSpPr>
            <a:spLocks xmlns:a="http://schemas.openxmlformats.org/drawingml/2006/main" noGrp="1"/>
          </p:cNvSpPr>
          <p:nvPr/>
        </p:nvSpPr>
        <p:spPr>
          <a:xfrm xmlns:a="http://schemas.openxmlformats.org/drawingml/2006/main">
            <a:off x="800100" y="484822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21" name="">
            <a:extLst xmlns:a="http://schemas.openxmlformats.org/drawingml/2006/main">
              <a:ext uri="{FF2B5EF4-FFF2-40B4-BE49-F238E27FC236}">
                <a16:creationId xmlns:a16="http://schemas.microsoft.com/office/drawing/2014/main" id="{F353C734-766B-46A8-9174-3426933972B6}"/>
              </a:ext>
            </a:extLst>
          </p:cNvPr>
          <p:cNvSpPr>
            <a:spLocks xmlns:a="http://schemas.openxmlformats.org/drawingml/2006/main" noGrp="1"/>
          </p:cNvSpPr>
          <p:nvPr/>
        </p:nvSpPr>
        <p:spPr>
          <a:xfrm xmlns:a="http://schemas.openxmlformats.org/drawingml/2006/main">
            <a:off x="1428750" y="47815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第2層の条件を比較</a:t>
            </a:r>
          </a:p>
        </p:txBody>
      </p:sp>
      <p:sp>
        <p:nvSpPr>
          <p:cNvPr id="22" name="">
            <a:extLst xmlns:a="http://schemas.openxmlformats.org/drawingml/2006/main">
              <a:ext uri="{FF2B5EF4-FFF2-40B4-BE49-F238E27FC236}">
                <a16:creationId xmlns:a16="http://schemas.microsoft.com/office/drawing/2014/main" id="{CB6F7FFB-1DD9-4599-A83C-1F1B5192CC0E}"/>
              </a:ext>
            </a:extLst>
          </p:cNvPr>
          <p:cNvSpPr>
            <a:spLocks xmlns:a="http://schemas.openxmlformats.org/drawingml/2006/main" noGrp="1"/>
          </p:cNvSpPr>
          <p:nvPr/>
        </p:nvSpPr>
        <p:spPr>
          <a:xfrm xmlns:a="http://schemas.openxmlformats.org/drawingml/2006/main">
            <a:off x="4686300" y="47815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中央側動画だけ、学習後の判定、学習前後の変化を同じ条件で比較</a:t>
            </a:r>
          </a:p>
        </p:txBody>
      </p:sp>
      <p:sp>
        <p:nvSpPr>
          <p:cNvPr id="23" name="">
            <a:extLst xmlns:a="http://schemas.openxmlformats.org/drawingml/2006/main">
              <a:ext uri="{FF2B5EF4-FFF2-40B4-BE49-F238E27FC236}">
                <a16:creationId xmlns:a16="http://schemas.microsoft.com/office/drawing/2014/main" id="{E64BB718-4BE9-474B-A8BD-AC6E26BB673E}"/>
              </a:ext>
            </a:extLst>
          </p:cNvPr>
          <p:cNvSpPr>
            <a:spLocks xmlns:a="http://schemas.openxmlformats.org/drawingml/2006/main" noGrp="1"/>
          </p:cNvSpPr>
          <p:nvPr/>
        </p:nvSpPr>
        <p:spPr>
          <a:xfrm xmlns:a="http://schemas.openxmlformats.org/drawingml/2006/main">
            <a:off x="800100" y="5429250"/>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6A58FD3-F809-47D4-82C6-EF615BBBC69B}"/>
              </a:ext>
            </a:extLst>
          </p:cNvPr>
          <p:cNvSpPr>
            <a:spLocks xmlns:a="http://schemas.openxmlformats.org/drawingml/2006/main" noGrp="1"/>
          </p:cNvSpPr>
          <p:nvPr/>
        </p:nvSpPr>
        <p:spPr>
          <a:xfrm xmlns:a="http://schemas.openxmlformats.org/drawingml/2006/main">
            <a:off x="800100" y="54768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25" name="">
            <a:extLst xmlns:a="http://schemas.openxmlformats.org/drawingml/2006/main">
              <a:ext uri="{FF2B5EF4-FFF2-40B4-BE49-F238E27FC236}">
                <a16:creationId xmlns:a16="http://schemas.microsoft.com/office/drawing/2014/main" id="{093076B6-3770-4A58-8767-E013C0420782}"/>
              </a:ext>
            </a:extLst>
          </p:cNvPr>
          <p:cNvSpPr>
            <a:spLocks xmlns:a="http://schemas.openxmlformats.org/drawingml/2006/main" noGrp="1"/>
          </p:cNvSpPr>
          <p:nvPr/>
        </p:nvSpPr>
        <p:spPr>
          <a:xfrm xmlns:a="http://schemas.openxmlformats.org/drawingml/2006/main">
            <a:off x="1428750" y="54102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独立した動画で評価</a:t>
            </a:r>
          </a:p>
        </p:txBody>
      </p:sp>
      <p:sp>
        <p:nvSpPr>
          <p:cNvPr id="26" name="">
            <a:extLst xmlns:a="http://schemas.openxmlformats.org/drawingml/2006/main">
              <a:ext uri="{FF2B5EF4-FFF2-40B4-BE49-F238E27FC236}">
                <a16:creationId xmlns:a16="http://schemas.microsoft.com/office/drawing/2014/main" id="{3328D00F-0F4F-4108-90B7-337AB19AF1EF}"/>
              </a:ext>
            </a:extLst>
          </p:cNvPr>
          <p:cNvSpPr>
            <a:spLocks xmlns:a="http://schemas.openxmlformats.org/drawingml/2006/main" noGrp="1"/>
          </p:cNvSpPr>
          <p:nvPr/>
        </p:nvSpPr>
        <p:spPr>
          <a:xfrm xmlns:a="http://schemas.openxmlformats.org/drawingml/2006/main">
            <a:off x="4686300" y="54102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選択に使っていない動画で確認後、5ラウンドと異なる規模のAIへ進む</a:t>
            </a:r>
          </a:p>
        </p:txBody>
      </p:sp>
      <p:sp>
        <p:nvSpPr>
          <p:cNvPr id="27" name="">
            <a:extLst xmlns:a="http://schemas.openxmlformats.org/drawingml/2006/main">
              <a:ext uri="{FF2B5EF4-FFF2-40B4-BE49-F238E27FC236}">
                <a16:creationId xmlns:a16="http://schemas.microsoft.com/office/drawing/2014/main" id="{F7C23E57-13C7-456D-9FAA-34722340F4D6}"/>
              </a:ext>
            </a:extLst>
          </p:cNvPr>
          <p:cNvSpPr>
            <a:spLocks xmlns:a="http://schemas.openxmlformats.org/drawingml/2006/main" noGrp="1"/>
          </p:cNvSpPr>
          <p:nvPr/>
        </p:nvSpPr>
        <p:spPr>
          <a:xfrm xmlns:a="http://schemas.openxmlformats.org/drawingml/2006/main">
            <a:off x="685800" y="6029325"/>
            <a:ext cx="10820400" cy="361950"/>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9AA43A3-5784-4AFF-8301-B9FE447CA843}"/>
              </a:ext>
            </a:extLst>
          </p:cNvPr>
          <p:cNvSpPr>
            <a:spLocks xmlns:a="http://schemas.openxmlformats.org/drawingml/2006/main" noGrp="1"/>
          </p:cNvSpPr>
          <p:nvPr/>
        </p:nvSpPr>
        <p:spPr>
          <a:xfrm xmlns:a="http://schemas.openxmlformats.org/drawingml/2006/main">
            <a:off x="876300" y="6096000"/>
            <a:ext cx="1043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Yu Gothic"/>
                <a:ea typeface="Yu Gothic"/>
                <a:cs typeface="Yu Gothic"/>
              </a:defRPr>
            </a:pPr>
            <a:r>
              <a:rPr sz="1500" b="1">
                <a:solidFill>
                  <a:srgbClr val="FFFFFF"/>
                </a:solidFill>
                <a:latin typeface="Yu Gothic"/>
                <a:ea typeface="Yu Gothic"/>
                <a:cs typeface="Yu Gothic"/>
              </a:rPr>
              <a:t>到達点：効果を正しく検証できる土台と、次に確認すべき失敗箇所を特定した</a:t>
            </a:r>
          </a:p>
        </p:txBody>
      </p:sp>
      <p:sp>
        <p:nvSpPr>
          <p:cNvPr id="29" name="">
            <a:extLst xmlns:a="http://schemas.openxmlformats.org/drawingml/2006/main">
              <a:ext uri="{FF2B5EF4-FFF2-40B4-BE49-F238E27FC236}">
                <a16:creationId xmlns:a16="http://schemas.microsoft.com/office/drawing/2014/main" id="{F2A31889-4191-4107-B7E2-029C3BD6851A}"/>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10563726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2026-09-17T18:46:57.6630000Z</dcterms:created>
  <dcterms:modified xsi:type="dcterms:W3CDTF">2026-09-17T18:46:57.6630000Z</dcterms:modified>
</coreProperties>
</file>