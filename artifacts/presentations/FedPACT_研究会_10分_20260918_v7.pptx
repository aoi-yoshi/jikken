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37346f913e4562" /><Relationship Type="http://schemas.openxmlformats.org/officeDocument/2006/relationships/extended-properties" Target="/docProps/app.xml" Id="Raa6f9984c0004831" /><Relationship Type="http://schemas.openxmlformats.org/officeDocument/2006/relationships/officeDocument" Target="/ppt/presentation.xml" Id="R7db202b962b042e9" /></Relationships>
</file>

<file path=ppt/presentation.xml><?xml version="1.0" encoding="utf-8"?>
<p:presentation xmlns:p="http://schemas.openxmlformats.org/presentationml/2006/main">
  <p:sldMasterIdLst>
    <p:sldMasterId xmlns:r="http://schemas.openxmlformats.org/officeDocument/2006/relationships" id="2147483648" r:id="Rb0665ba461ad4c2e"/>
  </p:sldMasterIdLst>
  <p:notesMasterIdLst>
    <p:notesMasterId xmlns:r="http://schemas.openxmlformats.org/officeDocument/2006/relationships" r:id="Re88fc276e2334ba4"/>
  </p:notesMasterIdLst>
  <p:sldIdLst>
    <p:sldId xmlns:r="http://schemas.openxmlformats.org/officeDocument/2006/relationships" id="256" r:id="Rc4452f20175f432a"/>
    <p:sldId xmlns:r="http://schemas.openxmlformats.org/officeDocument/2006/relationships" id="257" r:id="Rb3f2af471de04e9d"/>
    <p:sldId xmlns:r="http://schemas.openxmlformats.org/officeDocument/2006/relationships" id="258" r:id="Rad4798c58c554e43"/>
    <p:sldId xmlns:r="http://schemas.openxmlformats.org/officeDocument/2006/relationships" id="259" r:id="R55f32cac31e8498c"/>
    <p:sldId xmlns:r="http://schemas.openxmlformats.org/officeDocument/2006/relationships" id="260" r:id="Ree803d45fb7d4b4e"/>
    <p:sldId xmlns:r="http://schemas.openxmlformats.org/officeDocument/2006/relationships" id="261" r:id="Rceaee5b7c5e94151"/>
    <p:sldId xmlns:r="http://schemas.openxmlformats.org/officeDocument/2006/relationships" id="262" r:id="R024a0887a3ab4dcb"/>
    <p:sldId xmlns:r="http://schemas.openxmlformats.org/officeDocument/2006/relationships" id="263" r:id="R8fdbb7cd4bd64567"/>
    <p:sldId xmlns:r="http://schemas.openxmlformats.org/officeDocument/2006/relationships" id="264" r:id="R75884c8c0a18475d"/>
    <p:sldId xmlns:r="http://schemas.openxmlformats.org/officeDocument/2006/relationships" id="265" r:id="R62372e49864546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76033cf8a94616" /><Relationship Type="http://schemas.openxmlformats.org/officeDocument/2006/relationships/slideMaster" Target="/ppt/slideMasters/slideMaster1.xml" Id="Rb0665ba461ad4c2e" /><Relationship Type="http://schemas.openxmlformats.org/officeDocument/2006/relationships/notesMaster" Target="/ppt/notesMasters/notesMaster1.xml" Id="Re88fc276e2334ba4" /><Relationship Type="http://schemas.openxmlformats.org/officeDocument/2006/relationships/presProps" Target="/ppt/presProps.xml" Id="Rc0cce5001cde4f9c" /><Relationship Type="http://schemas.openxmlformats.org/officeDocument/2006/relationships/tableStyles" Target="/ppt/tableStyles.xml" Id="Rf15c212a0ad34f2f" /><Relationship Type="http://schemas.openxmlformats.org/officeDocument/2006/relationships/slide" Target="/ppt/slides/slide1.xml" Id="Rc4452f20175f432a" /><Relationship Type="http://schemas.openxmlformats.org/officeDocument/2006/relationships/slide" Target="/ppt/slides/slide2.xml" Id="Rb3f2af471de04e9d" /><Relationship Type="http://schemas.openxmlformats.org/officeDocument/2006/relationships/slide" Target="/ppt/slides/slide3.xml" Id="Rad4798c58c554e43" /><Relationship Type="http://schemas.openxmlformats.org/officeDocument/2006/relationships/slide" Target="/ppt/slides/slide4.xml" Id="R55f32cac31e8498c" /><Relationship Type="http://schemas.openxmlformats.org/officeDocument/2006/relationships/slide" Target="/ppt/slides/slide5.xml" Id="Ree803d45fb7d4b4e" /><Relationship Type="http://schemas.openxmlformats.org/officeDocument/2006/relationships/slide" Target="/ppt/slides/slide6.xml" Id="Rceaee5b7c5e94151" /><Relationship Type="http://schemas.openxmlformats.org/officeDocument/2006/relationships/slide" Target="/ppt/slides/slide7.xml" Id="R024a0887a3ab4dcb" /><Relationship Type="http://schemas.openxmlformats.org/officeDocument/2006/relationships/slide" Target="/ppt/slides/slide8.xml" Id="R8fdbb7cd4bd64567" /><Relationship Type="http://schemas.openxmlformats.org/officeDocument/2006/relationships/slide" Target="/ppt/slides/slide9.xml" Id="R75884c8c0a18475d" /><Relationship Type="http://schemas.openxmlformats.org/officeDocument/2006/relationships/slide" Target="/ppt/slides/slide10.xml" Id="R62372e49864546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5eebaeea5348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099740f1284070" /><Relationship Type="http://schemas.openxmlformats.org/officeDocument/2006/relationships/notesMaster" Target="/ppt/notesMasters/notesMaster1.xml" Id="Ra416428fba9f49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80e4ec603741ea" /><Relationship Type="http://schemas.openxmlformats.org/officeDocument/2006/relationships/notesMaster" Target="/ppt/notesMasters/notesMaster1.xml" Id="Rc8b9432763024b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73b0de189e4e87" /><Relationship Type="http://schemas.openxmlformats.org/officeDocument/2006/relationships/notesMaster" Target="/ppt/notesMasters/notesMaster1.xml" Id="Rdaada45a5bc642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87ca7eb57c4d07" /><Relationship Type="http://schemas.openxmlformats.org/officeDocument/2006/relationships/notesMaster" Target="/ppt/notesMasters/notesMaster1.xml" Id="R1589bbac166942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16b5d4bd1844aa" /><Relationship Type="http://schemas.openxmlformats.org/officeDocument/2006/relationships/notesMaster" Target="/ppt/notesMasters/notesMaster1.xml" Id="R35e730078ffc45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6bee7e96304378" /><Relationship Type="http://schemas.openxmlformats.org/officeDocument/2006/relationships/notesMaster" Target="/ppt/notesMasters/notesMaster1.xml" Id="R16d02900ba304e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95c797482a43b9" /><Relationship Type="http://schemas.openxmlformats.org/officeDocument/2006/relationships/notesMaster" Target="/ppt/notesMasters/notesMaster1.xml" Id="R27b56d14c99d48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c5d0264c4a49c3" /><Relationship Type="http://schemas.openxmlformats.org/officeDocument/2006/relationships/notesMaster" Target="/ppt/notesMasters/notesMaster1.xml" Id="R5d3c78a756b64c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fe61413c934bdb" /><Relationship Type="http://schemas.openxmlformats.org/officeDocument/2006/relationships/notesMaster" Target="/ppt/notesMasters/notesMaster1.xml" Id="R77d1f1f76f004e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26ba0e842a401b" /><Relationship Type="http://schemas.openxmlformats.org/officeDocument/2006/relationships/notesMaster" Target="/ppt/notesMasters/notesMaster1.xml" Id="R9040ef9d70e84a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0:00–0:50】</a:t>
            </a:r>
          </a:p>
          <a:p xmlns:a="http://schemas.openxmlformats.org/drawingml/2006/main">
            <a:r>
              <a:t>まず、この研究が想定している利用場面から説明します。前提として、すべてのclientとcloudは同じtaskと共通のoutput meaningを持ちます。同じ危険検知taskを行う自動運転車やrobotでも、昼の市街地と夜間の道路では、各clientがprivate dataから獲得する局所適応挙動が異なります。目指す価値は、各現場の経験をcloud側へ還元し、共通taskのprediction quality改善に生かすことです。しかし、FedAvgが統合できるのは同じ構造のsurrogate間です。構造や規模が異なるcloud側foundationへparameterをそのまま渡すことはできません。また、共通・公開data上で出力を交換する蒸留が多い一方、今回はclientとcloudで整合用dataを共有しません。そこでFedPACTは、private映像そのものではなく、局所適応後の予測と変化方向を要約し、server seed上のproxyとして顕在化して、異種foundationへ反映できるかを検証します。対象は場面の意味内容全体ではなく、共通task上の予測挙動です。server seedだけでclient側の適応を十分coverできる場合は追加効果が小さくなるため、必要性と性能への効果は第II段階で比較します。今回の第I段階は、その価値の実証ではなく、まず情報の流れを接続して追跡できるかの確認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notes/advisor/sources/raw/2026-09-16/slack_zettsu_reply_to_chen_ja_date_unknown_received_2026-09-16.md（11:00、target scenario、既存手法との違い、server seedとproxyの位置付け）</a:t>
            </a:r>
          </a:p>
          <a:p xmlns:a="http://schemas.openxmlformats.org/drawingml/2006/main">
            <a:r>
              <a:t>notes/advisor/sources/raw/2026-09-01/FedPACT手法提案260901.pdf（研究目的とproxy-mediated transfer）</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0:40–1:30】</a:t>
            </a:r>
          </a:p>
          <a:p xmlns:a="http://schemas.openxmlformats.org/drawingml/2006/main">
            <a:r>
              <a:t>具体的には、昼の市街地と夜の高速道路では映像の意味内容が違います。FedPACTはfull scene semanticsを同じだとは仮定しません。現在のnormal／riskという共通出力空間で、各clientのprivate dataによって予測がどう変わったかをserver側で再構成し、異なるfoundation modelへ渡すことが対象です。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notes/advisor/sources/raw/2026-09-16/slack_zettsu_reply_to_chen_ja_date_unknown_received_2026-09-16.md（target scenario、Similar logits、server seedの説明）</a:t>
            </a:r>
          </a:p>
          <a:p xmlns:a="http://schemas.openxmlformats.org/drawingml/2006/main">
            <a:r>
              <a:t>notes/advisor/sources/raw/2026-09-01/FedPACT手法提案260901.pdf（基準表記）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1:30–2:20】</a:t>
            </a:r>
          </a:p>
          <a:p xmlns:a="http://schemas.openxmlformats.org/drawingml/2006/main">
            <a:r>
              <a:t>先週以降の大きな更新は三つです。Chen先生から、現在の構成では問題が起きた箇所を切り分けにくいという指摘がありました。教授は三層構造を維持しつつ、Layer 2を研究の中核に置き、第I段階では性能よりも接続と追跡可能性を確認する方針を明確にしました。その方針に沿って、9月17日に3 roundを実行しました。</a:t>
            </a:r>
          </a:p>
          <a:p xmlns:a="http://schemas.openxmlformats.org/drawingml/2006/main">
            <a:r>
              <a:t/>
            </a:r>
          </a:p>
          <a:p xmlns:a="http://schemas.openxmlformats.org/drawingml/2006/main">
            <a:r>
              <a:t>【根拠】</a:t>
            </a:r>
          </a:p>
          <a:p xmlns:a="http://schemas.openxmlformats.org/drawingml/2006/main">
            <a:r>
              <a:t>notes/advisor/sources/raw/2026-09-15/slack_2026-09-15.md</a:t>
            </a:r>
          </a:p>
          <a:p xmlns:a="http://schemas.openxmlformats.org/drawingml/2006/main">
            <a:r>
              <a:t>notes/advisor/sources/raw/2026-09-15/Comments and suggestions_260915.pdf, pp.1–5</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2:20–3:10】</a:t>
            </a:r>
          </a:p>
          <a:p xmlns:a="http://schemas.openxmlformats.org/drawingml/2006/main">
            <a:r>
              <a:t>ここは自作の9月16日共有版フローチャートへ差し替えてください。説明では、Layer 1は複数clientのsurrogate更新をFedAvgする部分、Layer 2はclientの予測挙動をserver-side seed上でproxyとして顕在化する中核部分、Layer 3はP_{k,r}=(x̃_{k,r}, μ^{post}_{k,r})でfoundation LoRAを更新する部分、とだけ整理します。今回の実験は、この三層をまたいで次roundまでstateが正しく渡るかを確認しています。</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notes/advisor/sources/raw/2026-09-15/進捗会0911_吉村有生_3.pptx（実日付9月15日、最終承認前）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3:10–4:10】</a:t>
            </a:r>
          </a:p>
          <a:p xmlns:a="http://schemas.openxmlformats.org/drawingml/2006/main">
            <a:r>
              <a:t>今回の合格条件は、2 clientの局所更新からFedAvg、Layer 2、foundation更新、次roundまでをログで追えることです。性能比較は行いません。重要なのは、最初のrunでrisk区間を選べていない問題を発見し、その結果を研究上の証拠から外したことです。修正版ではriskのalertからeventまでの4時刻を使い、normalは対応するriskと同じ絶対時刻にそろえました。</a:t>
            </a:r>
          </a:p>
          <a:p xmlns:a="http://schemas.openxmlformats.org/drawingml/2006/main">
            <a:r>
              <a:t/>
            </a:r>
          </a:p>
          <a:p xmlns:a="http://schemas.openxmlformats.org/drawingml/2006/main">
            <a:r>
              <a:t>【根拠】</a:t>
            </a:r>
          </a:p>
          <a:p xmlns:a="http://schemas.openxmlformats.org/drawingml/2006/main">
            <a:r>
              <a:t>notes/advisor/CURRENT.md（2026-09-17 01:12時点の入力問題）</a:t>
            </a:r>
          </a:p>
          <a:p xmlns:a="http://schemas.openxmlformats.org/drawingml/2006/main">
            <a:r>
              <a:t>artifacts/datasets/fedpact_stage1/manifest_paired_alert_quartiles.jsonl</a:t>
            </a:r>
          </a:p>
          <a:p xmlns:a="http://schemas.openxmlformats.org/drawingml/2006/main">
            <a:r>
              <a:t>artifacts/runs/fedpact_stage1/p1d_full_20260917_02/summary.json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4:10–5:20】</a:t>
            </a:r>
          </a:p>
          <a:p xmlns:a="http://schemas.openxmlformats.org/drawingml/2006/main">
            <a:r>
              <a:t>一つの動画を具体的に追います。白い車が横から接近するrisk動画で、局所学習前のrisk確率は0.349、学習後は0.644、変化はプラス0.295でした。同じclassの3本を平均すると、μ^{post}_{k,r}のrisk成分は0.724、Δμ_{k,r}はプラス0.238、frequencyは3です。serverへ送るのはこのprototypeとモデル更新であり、private映像やsample IDではありません。</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artifacts/runs/fedpact_stage1/p1d_layer1_20260917_01/communication/client-0/payload.json（r1-client-0-class1）</a:t>
            </a:r>
          </a:p>
          <a:p xmlns:a="http://schemas.openxmlformats.org/drawingml/2006/main">
            <a:r>
              <a:t>artifacts/runs/fedpact_stage1/p1d_layer1_20260917_01/client_local/client-0/communication_audit.json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5:20–6:30】</a:t>
            </a:r>
          </a:p>
          <a:p xmlns:a="http://schemas.openxmlformats.org/drawingml/2006/main">
            <a:r>
              <a:t>前のprototypeに対して、serverはnormal labelのseedを選びました。更新後global surrogateのrisk出力は0.724でtargetとほぼ一致しました。一方、局所学習による変化量はtargetがプラス0.238、proxy上ではプラス0.051でした。つまり、最終出力だけを近づけても、clientが学習した変化を十分に再現したとは言えません。ここがLayer 2の中心的な評価対象です。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 selection）</a:t>
            </a:r>
          </a:p>
          <a:p xmlns:a="http://schemas.openxmlformats.org/drawingml/2006/main">
            <a:r>
              <a:t>artifacts/runs/fedpact_stage1/p1d_full_20260917_02/server/proxy_pairs.json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6:30–7:25】</a:t>
            </a:r>
          </a:p>
          <a:p xmlns:a="http://schemas.openxmlformats.org/drawingml/2006/main">
            <a:r>
              <a:t>round 1の4 prototypeを並べると、deltaの符号は3件で一致し、client-1のnormalだけ逆向きでした。また、prototype classと選択seed labelは4件すべて不一致でした。ただしround 2と3では各3件が一致しています。さらに、60本のseedのうちlabelと更新後global surrogateのargmaxが一致したのは43本です。原因を検索だけに帰属せず、model誤分類、検索挙動、postでtop 3へ絞ってからdeltaを比較する候補生成を分けて確認します。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a:t>
            </a:r>
          </a:p>
          <a:p xmlns:a="http://schemas.openxmlformats.org/drawingml/2006/main">
            <a:r>
              <a:t>artifacts/reports/fedpact_stage1_20260917/slack_report.md（診断上の観測事実）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7:25–8:45】</a:t>
            </a:r>
          </a:p>
          <a:p xmlns:a="http://schemas.openxmlformats.org/drawingml/2006/main">
            <a:r>
              <a:t>3 roundを通して、global surrogateとfoundationのcheckpointおよびtensor digestがround間で一致し、state継承を確認しました。client更新は毎round非ゼロで、FedAvgの独立再計算差も10のマイナス10程度でした。一方、round 3では学習率10のマイナス6から10のマイナス11まで、同じ4 pair上の加重KLを減らす条件を満たせませんでした。第I段階の実行確認として更新は完了しましたが、安定した知識転移の証拠にはしません。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8:45–10:00】</a:t>
            </a:r>
          </a:p>
          <a:p xmlns:a="http://schemas.openxmlformats.org/drawingml/2006/main">
            <a:r>
              <a:t>次は5 roundへ直ちに進まず、round 3のfoundation更新を最小条件で切り分けます。これが解消した後に5 roundのstate継承を確認します。その後、第II段階でServer Only、Post Only、Post + Deltaを同じ条件で比較します。最終評価には、局所学習、prototype作成、server検索、条件選択に使っていない評価用データを用います。今週の到達点は、3 roundを通し、次に見るべき場所をLayer 2のdelta再現とLayer 3の更新へ絞れたことです。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notes/advisor/sources/raw/2026-09-15/Comments and suggestions_260915.pdf, p.4</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312a9b5fda40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81dbb8c76942e6" /><Relationship Type="http://schemas.openxmlformats.org/officeDocument/2006/relationships/slideLayout" Target="/ppt/slideLayouts/slideLayout1.xml" Id="R4293dcbe1fdf45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93dcbe1fdf45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03d5ebb16649d2" /><Relationship Type="http://schemas.openxmlformats.org/officeDocument/2006/relationships/image" Target="/ppt/media/image.jpeg" Id="Rd17fbbc580704532" /><Relationship Type="http://schemas.openxmlformats.org/officeDocument/2006/relationships/image" Target="/ppt/media/image2.jpeg" Id="R18099b24b1c147c5" /><Relationship Type="http://schemas.openxmlformats.org/officeDocument/2006/relationships/notesSlide" Target="/ppt/notesSlides/notesSlide1.xml" Id="Rb6004514149945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667e7bc54842f0" /><Relationship Type="http://schemas.openxmlformats.org/officeDocument/2006/relationships/image" Target="/ppt/media/image3.jpeg" Id="Re661424d6e3c4afd" /><Relationship Type="http://schemas.openxmlformats.org/officeDocument/2006/relationships/image" Target="/ppt/media/image4.jpeg" Id="R3da8bdb01b7244cd" /><Relationship Type="http://schemas.openxmlformats.org/officeDocument/2006/relationships/notesSlide" Target="/ppt/notesSlides/notesSlide2.xml" Id="R7078f05a5d2443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b41b872efc439a" /><Relationship Type="http://schemas.openxmlformats.org/officeDocument/2006/relationships/notesSlide" Target="/ppt/notesSlides/notesSlide3.xml" Id="R4fc18e41c07d4f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88ee45d68a4b53" /><Relationship Type="http://schemas.openxmlformats.org/officeDocument/2006/relationships/notesSlide" Target="/ppt/notesSlides/notesSlide4.xml" Id="Re04eaf6a34ec48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ca8156ca994869" /><Relationship Type="http://schemas.openxmlformats.org/officeDocument/2006/relationships/image" Target="/ppt/media/image5.jpeg" Id="R6bf22de62cc04997" /><Relationship Type="http://schemas.openxmlformats.org/officeDocument/2006/relationships/image" Target="/ppt/media/image6.jpeg" Id="Rdb9d26bca4364554" /><Relationship Type="http://schemas.openxmlformats.org/officeDocument/2006/relationships/image" Target="/ppt/media/image7.jpeg" Id="R6287e0ad49f64876" /><Relationship Type="http://schemas.openxmlformats.org/officeDocument/2006/relationships/image" Target="/ppt/media/image8.jpeg" Id="R5943840a02b14a98" /><Relationship Type="http://schemas.openxmlformats.org/officeDocument/2006/relationships/notesSlide" Target="/ppt/notesSlides/notesSlide5.xml" Id="Rd98e5a67e8f148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e2eeb9269d4011" /><Relationship Type="http://schemas.openxmlformats.org/officeDocument/2006/relationships/image" Target="/ppt/media/image9.jpeg" Id="R7fe4899e3e1e40b4" /><Relationship Type="http://schemas.openxmlformats.org/officeDocument/2006/relationships/image" Target="/ppt/media/image10.jpeg" Id="R7c7a3427a42444c7" /><Relationship Type="http://schemas.openxmlformats.org/officeDocument/2006/relationships/image" Target="/ppt/media/image11.jpeg" Id="Ree3865a07f034f65" /><Relationship Type="http://schemas.openxmlformats.org/officeDocument/2006/relationships/image" Target="/ppt/media/image12.jpeg" Id="R9fb42a03b9744300" /><Relationship Type="http://schemas.openxmlformats.org/officeDocument/2006/relationships/notesSlide" Target="/ppt/notesSlides/notesSlide6.xml" Id="R7c70edf6d1134d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d328514df54a34" /><Relationship Type="http://schemas.openxmlformats.org/officeDocument/2006/relationships/image" Target="/ppt/media/image13.jpeg" Id="R42a9817865514971" /><Relationship Type="http://schemas.openxmlformats.org/officeDocument/2006/relationships/image" Target="/ppt/media/image14.jpeg" Id="Rdebef0e73870463e" /><Relationship Type="http://schemas.openxmlformats.org/officeDocument/2006/relationships/image" Target="/ppt/media/image15.jpeg" Id="R9a67a1639312455c" /><Relationship Type="http://schemas.openxmlformats.org/officeDocument/2006/relationships/image" Target="/ppt/media/image16.jpeg" Id="R015a9703508946b3" /><Relationship Type="http://schemas.openxmlformats.org/officeDocument/2006/relationships/notesSlide" Target="/ppt/notesSlides/notesSlide7.xml" Id="R71448607576840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8d67278a904649" /><Relationship Type="http://schemas.openxmlformats.org/officeDocument/2006/relationships/notesSlide" Target="/ppt/notesSlides/notesSlide8.xml" Id="R66ecfc4d4a3f42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142ffe9f3244c5" /><Relationship Type="http://schemas.openxmlformats.org/officeDocument/2006/relationships/notesSlide" Target="/ppt/notesSlides/notesSlide9.xml" Id="R5ab53629ccd74a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f706a83e56b48e7" /><Relationship Type="http://schemas.openxmlformats.org/officeDocument/2006/relationships/notesSlide" Target="/ppt/notesSlides/notesSlide10.xml" Id="R439b6133cebc4e6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46F4256-735B-4638-AE7F-E69A0BAE19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FFD95E-D5FD-4535-B783-ECF84F850DB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DCA480-FDA7-46A8-9E4A-A7E2A3C178AA}"/>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異なる現場で得た適応を、cloud側のfoundationへ還元する</a:t>
            </a:r>
          </a:p>
        </p:txBody>
      </p:sp>
      <p:sp>
        <p:nvSpPr>
          <p:cNvPr id="4" name="">
            <a:extLst xmlns:a="http://schemas.openxmlformats.org/drawingml/2006/main">
              <a:ext uri="{FF2B5EF4-FFF2-40B4-BE49-F238E27FC236}">
                <a16:creationId xmlns:a16="http://schemas.microsoft.com/office/drawing/2014/main" id="{C4B45649-D683-4A3D-B4C1-216F96699E71}"/>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BF7A6EFA-CE14-436D-B177-8D320D0A31C9}"/>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D2E2B23-E252-4363-A7F7-4CA4931841B7}"/>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46D0F0A7-E7F5-4240-8D4C-341D6C653646}"/>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10</a:t>
            </a:r>
          </a:p>
        </p:txBody>
      </p:sp>
      <p:sp>
        <p:nvSpPr>
          <p:cNvPr id="8" name="">
            <a:extLst xmlns:a="http://schemas.openxmlformats.org/drawingml/2006/main">
              <a:ext uri="{FF2B5EF4-FFF2-40B4-BE49-F238E27FC236}">
                <a16:creationId xmlns:a16="http://schemas.microsoft.com/office/drawing/2014/main" id="{2A8D1B8F-E493-4699-83A7-647CFF88202A}"/>
              </a:ext>
            </a:extLst>
          </p:cNvPr>
          <p:cNvSpPr>
            <a:spLocks xmlns:a="http://schemas.openxmlformats.org/drawingml/2006/main" noGrp="1"/>
          </p:cNvSpPr>
          <p:nvPr/>
        </p:nvSpPr>
        <p:spPr>
          <a:xfrm xmlns:a="http://schemas.openxmlformats.org/drawingml/2006/main">
            <a:off x="666750" y="981075"/>
            <a:ext cx="1062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同じ危険検知taskでも、場所や時間が変われば、各clientが経験する状況は異なる</a:t>
            </a:r>
          </a:p>
        </p:txBody>
      </p:sp>
      <p:sp>
        <p:nvSpPr>
          <p:cNvPr id="9" name="">
            <a:extLst xmlns:a="http://schemas.openxmlformats.org/drawingml/2006/main">
              <a:ext uri="{FF2B5EF4-FFF2-40B4-BE49-F238E27FC236}">
                <a16:creationId xmlns:a16="http://schemas.microsoft.com/office/drawing/2014/main" id="{845AF3D0-BA18-4B43-B43F-AC7210DEC4F4}"/>
              </a:ext>
            </a:extLst>
          </p:cNvPr>
          <p:cNvSpPr>
            <a:spLocks xmlns:a="http://schemas.openxmlformats.org/drawingml/2006/main" noGrp="1"/>
          </p:cNvSpPr>
          <p:nvPr/>
        </p:nvSpPr>
        <p:spPr>
          <a:xfrm xmlns:a="http://schemas.openxmlformats.org/drawingml/2006/main">
            <a:off x="552450" y="1438275"/>
            <a:ext cx="3486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1　想定する利用場面と価値</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d17fbbc580704532"/>
          <a:srcRect xmlns:a="http://schemas.openxmlformats.org/drawingml/2006/main" l="5804" t="0" r="5804" b="0"/>
          <a:stretch xmlns:a="http://schemas.openxmlformats.org/drawingml/2006/main">
            <a:fillRect l="0" t="0" r="0" b="0"/>
          </a:stretch>
        </p:blipFill>
        <p:spPr>
          <a:xfrm xmlns:a="http://schemas.openxmlformats.org/drawingml/2006/main">
            <a:off x="552450" y="1838325"/>
            <a:ext cx="1676400" cy="10668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18099b24b1c147c5"/>
          <a:srcRect xmlns:a="http://schemas.openxmlformats.org/drawingml/2006/main" l="5804" t="0" r="5804" b="0"/>
          <a:stretch xmlns:a="http://schemas.openxmlformats.org/drawingml/2006/main">
            <a:fillRect l="0" t="0" r="0" b="0"/>
          </a:stretch>
        </p:blipFill>
        <p:spPr>
          <a:xfrm xmlns:a="http://schemas.openxmlformats.org/drawingml/2006/main">
            <a:off x="2343150" y="1838325"/>
            <a:ext cx="1676400" cy="1066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621E95C-D0B2-4EF6-8F71-F2466F0D0280}"/>
              </a:ext>
            </a:extLst>
          </p:cNvPr>
          <p:cNvSpPr>
            <a:spLocks xmlns:a="http://schemas.openxmlformats.org/drawingml/2006/main" noGrp="1"/>
          </p:cNvSpPr>
          <p:nvPr/>
        </p:nvSpPr>
        <p:spPr>
          <a:xfrm xmlns:a="http://schemas.openxmlformats.org/drawingml/2006/main">
            <a:off x="561975" y="2962275"/>
            <a:ext cx="1657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client A</a:t>
            </a:r>
          </a:p>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昼間・市街地</a:t>
            </a:r>
          </a:p>
        </p:txBody>
      </p:sp>
      <p:sp>
        <p:nvSpPr>
          <p:cNvPr id="13" name="">
            <a:extLst xmlns:a="http://schemas.openxmlformats.org/drawingml/2006/main">
              <a:ext uri="{FF2B5EF4-FFF2-40B4-BE49-F238E27FC236}">
                <a16:creationId xmlns:a16="http://schemas.microsoft.com/office/drawing/2014/main" id="{1F72B837-CDF1-49A7-A50F-9DD897206369}"/>
              </a:ext>
            </a:extLst>
          </p:cNvPr>
          <p:cNvSpPr>
            <a:spLocks xmlns:a="http://schemas.openxmlformats.org/drawingml/2006/main" noGrp="1"/>
          </p:cNvSpPr>
          <p:nvPr/>
        </p:nvSpPr>
        <p:spPr>
          <a:xfrm xmlns:a="http://schemas.openxmlformats.org/drawingml/2006/main">
            <a:off x="2352675" y="2962275"/>
            <a:ext cx="1657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client B</a:t>
            </a:r>
          </a:p>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夜間・交差点</a:t>
            </a:r>
          </a:p>
        </p:txBody>
      </p:sp>
      <p:sp>
        <p:nvSpPr>
          <p:cNvPr id="14" name="">
            <a:extLst xmlns:a="http://schemas.openxmlformats.org/drawingml/2006/main">
              <a:ext uri="{FF2B5EF4-FFF2-40B4-BE49-F238E27FC236}">
                <a16:creationId xmlns:a16="http://schemas.microsoft.com/office/drawing/2014/main" id="{3165C6A2-C002-4E75-8F88-0C7EE17BB635}"/>
              </a:ext>
            </a:extLst>
          </p:cNvPr>
          <p:cNvSpPr>
            <a:spLocks xmlns:a="http://schemas.openxmlformats.org/drawingml/2006/main" noGrp="1"/>
          </p:cNvSpPr>
          <p:nvPr/>
        </p:nvSpPr>
        <p:spPr>
          <a:xfrm xmlns:a="http://schemas.openxmlformats.org/drawingml/2006/main">
            <a:off x="628650" y="3571875"/>
            <a:ext cx="3324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各clientは、自分のprivate dataから</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異なる局所適応挙動を獲得する</a:t>
            </a:r>
          </a:p>
        </p:txBody>
      </p:sp>
      <p:sp>
        <p:nvSpPr>
          <p:cNvPr id="15" name="">
            <a:extLst xmlns:a="http://schemas.openxmlformats.org/drawingml/2006/main">
              <a:ext uri="{FF2B5EF4-FFF2-40B4-BE49-F238E27FC236}">
                <a16:creationId xmlns:a16="http://schemas.microsoft.com/office/drawing/2014/main" id="{00CE8B3A-7203-4BDB-B0AA-A1BAB364DBF9}"/>
              </a:ext>
            </a:extLst>
          </p:cNvPr>
          <p:cNvSpPr>
            <a:spLocks xmlns:a="http://schemas.openxmlformats.org/drawingml/2006/main" noGrp="1"/>
          </p:cNvSpPr>
          <p:nvPr/>
        </p:nvSpPr>
        <p:spPr>
          <a:xfrm xmlns:a="http://schemas.openxmlformats.org/drawingml/2006/main">
            <a:off x="552450" y="4343400"/>
            <a:ext cx="3467100" cy="876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E0C0714-87D7-4E06-A208-6C1A84406AEE}"/>
              </a:ext>
            </a:extLst>
          </p:cNvPr>
          <p:cNvSpPr>
            <a:spLocks xmlns:a="http://schemas.openxmlformats.org/drawingml/2006/main" noGrp="1"/>
          </p:cNvSpPr>
          <p:nvPr/>
        </p:nvSpPr>
        <p:spPr>
          <a:xfrm xmlns:a="http://schemas.openxmlformats.org/drawingml/2006/main">
            <a:off x="742950" y="4467225"/>
            <a:ext cx="3086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目指す価値</a:t>
            </a:r>
          </a:p>
        </p:txBody>
      </p:sp>
      <p:sp>
        <p:nvSpPr>
          <p:cNvPr id="17" name="">
            <a:extLst xmlns:a="http://schemas.openxmlformats.org/drawingml/2006/main">
              <a:ext uri="{FF2B5EF4-FFF2-40B4-BE49-F238E27FC236}">
                <a16:creationId xmlns:a16="http://schemas.microsoft.com/office/drawing/2014/main" id="{3A991764-9003-4BC5-8353-B700F942DAB2}"/>
              </a:ext>
            </a:extLst>
          </p:cNvPr>
          <p:cNvSpPr>
            <a:spLocks xmlns:a="http://schemas.openxmlformats.org/drawingml/2006/main" noGrp="1"/>
          </p:cNvSpPr>
          <p:nvPr/>
        </p:nvSpPr>
        <p:spPr>
          <a:xfrm xmlns:a="http://schemas.openxmlformats.org/drawingml/2006/main">
            <a:off x="723900" y="4752975"/>
            <a:ext cx="312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00"/>
          </a:bodyPr>
          <a:lstStyle xmlns:a="http://schemas.openxmlformats.org/drawingml/2006/main"/>
          <a:p xmlns:a="http://schemas.openxmlformats.org/drawingml/2006/main">
            <a:pPr algn="ctr">
              <a:defRPr sz="1500" b="1">
                <a:solidFill>
                  <a:srgbClr val="173B4B"/>
                </a:solidFill>
                <a:latin typeface="Yu Gothic"/>
                <a:ea typeface="Yu Gothic"/>
                <a:cs typeface="Yu Gothic"/>
              </a:defRPr>
            </a:pPr>
            <a:r>
              <a:rPr sz="1500" b="1">
                <a:solidFill>
                  <a:srgbClr val="173B4B"/>
                </a:solidFill>
                <a:latin typeface="Yu Gothic"/>
                <a:ea typeface="Yu Gothic"/>
                <a:cs typeface="Yu Gothic"/>
              </a:rPr>
              <a:t>各現場の経験を、共通taskの</a:t>
            </a:r>
          </a:p>
          <a:p xmlns:a="http://schemas.openxmlformats.org/drawingml/2006/main">
            <a:pPr algn="ctr">
              <a:defRPr sz="1500" b="1">
                <a:solidFill>
                  <a:srgbClr val="173B4B"/>
                </a:solidFill>
                <a:latin typeface="Yu Gothic"/>
                <a:ea typeface="Yu Gothic"/>
                <a:cs typeface="Yu Gothic"/>
              </a:defRPr>
            </a:pPr>
            <a:r>
              <a:rPr sz="1500" b="1">
                <a:solidFill>
                  <a:srgbClr val="173B4B"/>
                </a:solidFill>
                <a:latin typeface="Yu Gothic"/>
                <a:ea typeface="Yu Gothic"/>
                <a:cs typeface="Yu Gothic"/>
              </a:rPr>
              <a:t>prediction quality改善に生かす</a:t>
            </a:r>
          </a:p>
        </p:txBody>
      </p:sp>
      <p:sp>
        <p:nvSpPr>
          <p:cNvPr id="18" name="">
            <a:extLst xmlns:a="http://schemas.openxmlformats.org/drawingml/2006/main">
              <a:ext uri="{FF2B5EF4-FFF2-40B4-BE49-F238E27FC236}">
                <a16:creationId xmlns:a16="http://schemas.microsoft.com/office/drawing/2014/main" id="{D29A89C3-D65E-4025-B9F7-EB2AF3511477}"/>
              </a:ext>
            </a:extLst>
          </p:cNvPr>
          <p:cNvSpPr>
            <a:spLocks xmlns:a="http://schemas.openxmlformats.org/drawingml/2006/main" noGrp="1"/>
          </p:cNvSpPr>
          <p:nvPr/>
        </p:nvSpPr>
        <p:spPr>
          <a:xfrm xmlns:a="http://schemas.openxmlformats.org/drawingml/2006/main">
            <a:off x="4267200" y="1438275"/>
            <a:ext cx="19050" cy="39338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AACCACD-29B1-4939-8D6A-FCB26ADA378B}"/>
              </a:ext>
            </a:extLst>
          </p:cNvPr>
          <p:cNvSpPr>
            <a:spLocks xmlns:a="http://schemas.openxmlformats.org/drawingml/2006/main" noGrp="1"/>
          </p:cNvSpPr>
          <p:nvPr/>
        </p:nvSpPr>
        <p:spPr>
          <a:xfrm xmlns:a="http://schemas.openxmlformats.org/drawingml/2006/main">
            <a:off x="4514850" y="1438275"/>
            <a:ext cx="3181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2　従来手法で残る接続問題</a:t>
            </a:r>
          </a:p>
        </p:txBody>
      </p:sp>
      <p:sp>
        <p:nvSpPr>
          <p:cNvPr id="20" name="">
            <a:extLst xmlns:a="http://schemas.openxmlformats.org/drawingml/2006/main">
              <a:ext uri="{FF2B5EF4-FFF2-40B4-BE49-F238E27FC236}">
                <a16:creationId xmlns:a16="http://schemas.microsoft.com/office/drawing/2014/main" id="{02156FAD-D5AA-4E3C-B678-8D67915A50AB}"/>
              </a:ext>
            </a:extLst>
          </p:cNvPr>
          <p:cNvSpPr>
            <a:spLocks xmlns:a="http://schemas.openxmlformats.org/drawingml/2006/main" noGrp="1"/>
          </p:cNvSpPr>
          <p:nvPr/>
        </p:nvSpPr>
        <p:spPr>
          <a:xfrm xmlns:a="http://schemas.openxmlformats.org/drawingml/2006/main">
            <a:off x="4648200" y="2028825"/>
            <a:ext cx="1285875" cy="43815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client surrogate</a:t>
            </a:r>
          </a:p>
        </p:txBody>
      </p:sp>
      <p:sp>
        <p:nvSpPr>
          <p:cNvPr id="21" name="">
            <a:extLst xmlns:a="http://schemas.openxmlformats.org/drawingml/2006/main">
              <a:ext uri="{FF2B5EF4-FFF2-40B4-BE49-F238E27FC236}">
                <a16:creationId xmlns:a16="http://schemas.microsoft.com/office/drawing/2014/main" id="{77B890DB-1952-457B-B4C0-779393F9B25D}"/>
              </a:ext>
            </a:extLst>
          </p:cNvPr>
          <p:cNvSpPr>
            <a:spLocks xmlns:a="http://schemas.openxmlformats.org/drawingml/2006/main" noGrp="1"/>
          </p:cNvSpPr>
          <p:nvPr/>
        </p:nvSpPr>
        <p:spPr>
          <a:xfrm xmlns:a="http://schemas.openxmlformats.org/drawingml/2006/main">
            <a:off x="6096000" y="21431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47B78"/>
                </a:solidFill>
                <a:latin typeface="Yu Gothic"/>
                <a:ea typeface="Yu Gothic"/>
                <a:cs typeface="Yu Gothic"/>
              </a:defRPr>
            </a:pPr>
            <a:r>
              <a:rPr sz="1200" b="1">
                <a:solidFill>
                  <a:srgbClr val="147B78"/>
                </a:solidFill>
                <a:latin typeface="Yu Gothic"/>
                <a:ea typeface="Yu Gothic"/>
                <a:cs typeface="Yu Gothic"/>
              </a:rPr>
              <a:t>FedAvg</a:t>
            </a:r>
          </a:p>
        </p:txBody>
      </p:sp>
      <p:sp>
        <p:nvSpPr>
          <p:cNvPr id="22" name="">
            <a:extLst xmlns:a="http://schemas.openxmlformats.org/drawingml/2006/main">
              <a:ext uri="{FF2B5EF4-FFF2-40B4-BE49-F238E27FC236}">
                <a16:creationId xmlns:a16="http://schemas.microsoft.com/office/drawing/2014/main" id="{07A718F4-0657-4583-AE23-B47240C1F220}"/>
              </a:ext>
            </a:extLst>
          </p:cNvPr>
          <p:cNvSpPr>
            <a:spLocks xmlns:a="http://schemas.openxmlformats.org/drawingml/2006/main" noGrp="1"/>
          </p:cNvSpPr>
          <p:nvPr/>
        </p:nvSpPr>
        <p:spPr>
          <a:xfrm xmlns:a="http://schemas.openxmlformats.org/drawingml/2006/main">
            <a:off x="5905500" y="2238375"/>
            <a:ext cx="876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81753A7-7ACA-4CEF-83F0-9AA64CE64DAF}"/>
              </a:ext>
            </a:extLst>
          </p:cNvPr>
          <p:cNvSpPr>
            <a:spLocks xmlns:a="http://schemas.openxmlformats.org/drawingml/2006/main" noGrp="1"/>
          </p:cNvSpPr>
          <p:nvPr/>
        </p:nvSpPr>
        <p:spPr>
          <a:xfrm xmlns:a="http://schemas.openxmlformats.org/drawingml/2006/main">
            <a:off x="6886575" y="1971675"/>
            <a:ext cx="838200" cy="55245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global</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surrogate</a:t>
            </a:r>
          </a:p>
        </p:txBody>
      </p:sp>
      <p:sp>
        <p:nvSpPr>
          <p:cNvPr id="24" name="">
            <a:extLst xmlns:a="http://schemas.openxmlformats.org/drawingml/2006/main">
              <a:ext uri="{FF2B5EF4-FFF2-40B4-BE49-F238E27FC236}">
                <a16:creationId xmlns:a16="http://schemas.microsoft.com/office/drawing/2014/main" id="{DB98BFAD-E51D-4C44-9F4D-CC27F4CAEB05}"/>
              </a:ext>
            </a:extLst>
          </p:cNvPr>
          <p:cNvSpPr>
            <a:spLocks xmlns:a="http://schemas.openxmlformats.org/drawingml/2006/main" noGrp="1"/>
          </p:cNvSpPr>
          <p:nvPr/>
        </p:nvSpPr>
        <p:spPr>
          <a:xfrm xmlns:a="http://schemas.openxmlformats.org/drawingml/2006/main">
            <a:off x="5857875" y="27813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850" b="1">
                <a:solidFill>
                  <a:srgbClr val="B94A3A"/>
                </a:solidFill>
                <a:latin typeface="Yu Gothic"/>
                <a:ea typeface="Yu Gothic"/>
                <a:cs typeface="Yu Gothic"/>
              </a:defRPr>
            </a:pPr>
            <a:r>
              <a:rPr sz="2850" b="1">
                <a:solidFill>
                  <a:srgbClr val="B94A3A"/>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D71F27B7-798F-4EDF-82FE-B937908609E2}"/>
              </a:ext>
            </a:extLst>
          </p:cNvPr>
          <p:cNvSpPr>
            <a:spLocks xmlns:a="http://schemas.openxmlformats.org/drawingml/2006/main" noGrp="1"/>
          </p:cNvSpPr>
          <p:nvPr/>
        </p:nvSpPr>
        <p:spPr>
          <a:xfrm xmlns:a="http://schemas.openxmlformats.org/drawingml/2006/main">
            <a:off x="4657725" y="3371850"/>
            <a:ext cx="295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異種のcloud foundationへ</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parameterをそのまま渡せない</a:t>
            </a:r>
          </a:p>
        </p:txBody>
      </p:sp>
      <p:sp>
        <p:nvSpPr>
          <p:cNvPr id="26" name="">
            <a:extLst xmlns:a="http://schemas.openxmlformats.org/drawingml/2006/main">
              <a:ext uri="{FF2B5EF4-FFF2-40B4-BE49-F238E27FC236}">
                <a16:creationId xmlns:a16="http://schemas.microsoft.com/office/drawing/2014/main" id="{78438D07-6204-443A-A69C-2C481F0E558F}"/>
              </a:ext>
            </a:extLst>
          </p:cNvPr>
          <p:cNvSpPr>
            <a:spLocks xmlns:a="http://schemas.openxmlformats.org/drawingml/2006/main" noGrp="1"/>
          </p:cNvSpPr>
          <p:nvPr/>
        </p:nvSpPr>
        <p:spPr>
          <a:xfrm xmlns:a="http://schemas.openxmlformats.org/drawingml/2006/main">
            <a:off x="4619625" y="4248150"/>
            <a:ext cx="302895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99DBA03-AB80-47AB-9FD2-4715647D9D8D}"/>
              </a:ext>
            </a:extLst>
          </p:cNvPr>
          <p:cNvSpPr>
            <a:spLocks xmlns:a="http://schemas.openxmlformats.org/drawingml/2006/main" noGrp="1"/>
          </p:cNvSpPr>
          <p:nvPr/>
        </p:nvSpPr>
        <p:spPr>
          <a:xfrm xmlns:a="http://schemas.openxmlformats.org/drawingml/2006/main">
            <a:off x="4629150" y="4438650"/>
            <a:ext cx="30099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6"/>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共通・公開data上で出力を交換する蒸留が多いが、</a:t>
            </a:r>
          </a:p>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今回はclientとcloudで整合用dataを共有しない</a:t>
            </a:r>
          </a:p>
        </p:txBody>
      </p:sp>
      <p:sp>
        <p:nvSpPr>
          <p:cNvPr id="28" name="">
            <a:extLst xmlns:a="http://schemas.openxmlformats.org/drawingml/2006/main">
              <a:ext uri="{FF2B5EF4-FFF2-40B4-BE49-F238E27FC236}">
                <a16:creationId xmlns:a16="http://schemas.microsoft.com/office/drawing/2014/main" id="{A79AF52A-763D-4E22-AF58-32E62376F420}"/>
              </a:ext>
            </a:extLst>
          </p:cNvPr>
          <p:cNvSpPr>
            <a:spLocks xmlns:a="http://schemas.openxmlformats.org/drawingml/2006/main" noGrp="1"/>
          </p:cNvSpPr>
          <p:nvPr/>
        </p:nvSpPr>
        <p:spPr>
          <a:xfrm xmlns:a="http://schemas.openxmlformats.org/drawingml/2006/main">
            <a:off x="7924800" y="1438275"/>
            <a:ext cx="19050" cy="39338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A3DCBE3-C5C8-4CDF-A97A-76FA97630B43}"/>
              </a:ext>
            </a:extLst>
          </p:cNvPr>
          <p:cNvSpPr>
            <a:spLocks xmlns:a="http://schemas.openxmlformats.org/drawingml/2006/main" noGrp="1"/>
          </p:cNvSpPr>
          <p:nvPr/>
        </p:nvSpPr>
        <p:spPr>
          <a:xfrm xmlns:a="http://schemas.openxmlformats.org/drawingml/2006/main">
            <a:off x="8153400" y="143827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73B4B"/>
                </a:solidFill>
                <a:latin typeface="Yu Gothic"/>
                <a:ea typeface="Yu Gothic"/>
                <a:cs typeface="Yu Gothic"/>
              </a:defRPr>
            </a:pPr>
            <a:r>
              <a:rPr sz="1575" b="1">
                <a:solidFill>
                  <a:srgbClr val="173B4B"/>
                </a:solidFill>
                <a:latin typeface="Yu Gothic"/>
                <a:ea typeface="Yu Gothic"/>
                <a:cs typeface="Yu Gothic"/>
              </a:rPr>
              <a:t>3　FedPACTが担う接続</a:t>
            </a:r>
          </a:p>
        </p:txBody>
      </p:sp>
      <p:sp>
        <p:nvSpPr>
          <p:cNvPr id="30" name="">
            <a:extLst xmlns:a="http://schemas.openxmlformats.org/drawingml/2006/main">
              <a:ext uri="{FF2B5EF4-FFF2-40B4-BE49-F238E27FC236}">
                <a16:creationId xmlns:a16="http://schemas.microsoft.com/office/drawing/2014/main" id="{755F4A86-D0D4-48CC-8C39-9923F60A7978}"/>
              </a:ext>
            </a:extLst>
          </p:cNvPr>
          <p:cNvSpPr>
            <a:spLocks xmlns:a="http://schemas.openxmlformats.org/drawingml/2006/main" noGrp="1"/>
          </p:cNvSpPr>
          <p:nvPr/>
        </p:nvSpPr>
        <p:spPr>
          <a:xfrm xmlns:a="http://schemas.openxmlformats.org/drawingml/2006/main">
            <a:off x="8334375" y="1952625"/>
            <a:ext cx="3000375" cy="6096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局所適応後の予測と</a:t>
            </a:r>
          </a:p>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変化方向の要約</a:t>
            </a:r>
          </a:p>
        </p:txBody>
      </p:sp>
      <p:sp>
        <p:nvSpPr>
          <p:cNvPr id="31" name="">
            <a:extLst xmlns:a="http://schemas.openxmlformats.org/drawingml/2006/main">
              <a:ext uri="{FF2B5EF4-FFF2-40B4-BE49-F238E27FC236}">
                <a16:creationId xmlns:a16="http://schemas.microsoft.com/office/drawing/2014/main" id="{7A9B77C8-57CA-40E8-872E-CCAA7C6E40C4}"/>
              </a:ext>
            </a:extLst>
          </p:cNvPr>
          <p:cNvSpPr>
            <a:spLocks xmlns:a="http://schemas.openxmlformats.org/drawingml/2006/main" noGrp="1"/>
          </p:cNvSpPr>
          <p:nvPr/>
        </p:nvSpPr>
        <p:spPr>
          <a:xfrm xmlns:a="http://schemas.openxmlformats.org/drawingml/2006/main">
            <a:off x="9801225" y="2562225"/>
            <a:ext cx="38100" cy="23812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96377B3-841D-4A70-B196-0DD13438EAD7}"/>
              </a:ext>
            </a:extLst>
          </p:cNvPr>
          <p:cNvSpPr>
            <a:spLocks xmlns:a="http://schemas.openxmlformats.org/drawingml/2006/main" noGrp="1"/>
          </p:cNvSpPr>
          <p:nvPr/>
        </p:nvSpPr>
        <p:spPr>
          <a:xfrm xmlns:a="http://schemas.openxmlformats.org/drawingml/2006/main">
            <a:off x="8334375" y="2800350"/>
            <a:ext cx="3000375" cy="6477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 seed上で</a:t>
            </a:r>
          </a:p>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server-side proxyとして顕在化</a:t>
            </a:r>
          </a:p>
        </p:txBody>
      </p:sp>
      <p:sp>
        <p:nvSpPr>
          <p:cNvPr id="33" name="">
            <a:extLst xmlns:a="http://schemas.openxmlformats.org/drawingml/2006/main">
              <a:ext uri="{FF2B5EF4-FFF2-40B4-BE49-F238E27FC236}">
                <a16:creationId xmlns:a16="http://schemas.microsoft.com/office/drawing/2014/main" id="{618AD619-461F-4581-A1D7-83622B4CEA0A}"/>
              </a:ext>
            </a:extLst>
          </p:cNvPr>
          <p:cNvSpPr>
            <a:spLocks xmlns:a="http://schemas.openxmlformats.org/drawingml/2006/main" noGrp="1"/>
          </p:cNvSpPr>
          <p:nvPr/>
        </p:nvSpPr>
        <p:spPr>
          <a:xfrm xmlns:a="http://schemas.openxmlformats.org/drawingml/2006/main">
            <a:off x="9801225" y="3448050"/>
            <a:ext cx="38100" cy="23812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30C56B5-1D9A-4DCC-8B1D-CD8A5E70F091}"/>
              </a:ext>
            </a:extLst>
          </p:cNvPr>
          <p:cNvSpPr>
            <a:spLocks xmlns:a="http://schemas.openxmlformats.org/drawingml/2006/main" noGrp="1"/>
          </p:cNvSpPr>
          <p:nvPr/>
        </p:nvSpPr>
        <p:spPr>
          <a:xfrm xmlns:a="http://schemas.openxmlformats.org/drawingml/2006/main">
            <a:off x="8334375" y="3686175"/>
            <a:ext cx="3000375" cy="6477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異種foundationへ</a:t>
            </a:r>
          </a:p>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反映できるかを検証</a:t>
            </a:r>
          </a:p>
        </p:txBody>
      </p:sp>
      <p:sp>
        <p:nvSpPr>
          <p:cNvPr id="35" name="">
            <a:extLst xmlns:a="http://schemas.openxmlformats.org/drawingml/2006/main">
              <a:ext uri="{FF2B5EF4-FFF2-40B4-BE49-F238E27FC236}">
                <a16:creationId xmlns:a16="http://schemas.microsoft.com/office/drawing/2014/main" id="{348FE2E7-52E3-464C-A341-94C310EB099D}"/>
              </a:ext>
            </a:extLst>
          </p:cNvPr>
          <p:cNvSpPr>
            <a:spLocks xmlns:a="http://schemas.openxmlformats.org/drawingml/2006/main" noGrp="1"/>
          </p:cNvSpPr>
          <p:nvPr/>
        </p:nvSpPr>
        <p:spPr>
          <a:xfrm xmlns:a="http://schemas.openxmlformats.org/drawingml/2006/main">
            <a:off x="8401050" y="4572000"/>
            <a:ext cx="2867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proxy-mediated transferが</a:t>
            </a:r>
          </a:p>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2つのモデルをつなぐ</a:t>
            </a:r>
          </a:p>
        </p:txBody>
      </p:sp>
      <p:sp>
        <p:nvSpPr>
          <p:cNvPr id="36" name="">
            <a:extLst xmlns:a="http://schemas.openxmlformats.org/drawingml/2006/main">
              <a:ext uri="{FF2B5EF4-FFF2-40B4-BE49-F238E27FC236}">
                <a16:creationId xmlns:a16="http://schemas.microsoft.com/office/drawing/2014/main" id="{6F4F2935-BE74-4AB3-8BB5-DC56D5DFC46F}"/>
              </a:ext>
            </a:extLst>
          </p:cNvPr>
          <p:cNvSpPr>
            <a:spLocks xmlns:a="http://schemas.openxmlformats.org/drawingml/2006/main" noGrp="1"/>
          </p:cNvSpPr>
          <p:nvPr/>
        </p:nvSpPr>
        <p:spPr>
          <a:xfrm xmlns:a="http://schemas.openxmlformats.org/drawingml/2006/main">
            <a:off x="552450" y="5562600"/>
            <a:ext cx="11087100" cy="657225"/>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E5037D6-1F55-445C-ADFA-41C75E787B33}"/>
              </a:ext>
            </a:extLst>
          </p:cNvPr>
          <p:cNvSpPr>
            <a:spLocks xmlns:a="http://schemas.openxmlformats.org/drawingml/2006/main" noGrp="1"/>
          </p:cNvSpPr>
          <p:nvPr/>
        </p:nvSpPr>
        <p:spPr>
          <a:xfrm xmlns:a="http://schemas.openxmlformats.org/drawingml/2006/main">
            <a:off x="781050" y="5743575"/>
            <a:ext cx="10629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FFFFFF"/>
                </a:solidFill>
                <a:latin typeface="Yu Gothic"/>
                <a:ea typeface="Yu Gothic"/>
                <a:cs typeface="Yu Gothic"/>
              </a:defRPr>
            </a:pPr>
            <a:r>
              <a:rPr sz="1575" b="1">
                <a:solidFill>
                  <a:srgbClr val="FFFFFF"/>
                </a:solidFill>
                <a:latin typeface="Yu Gothic"/>
                <a:ea typeface="Yu Gothic"/>
                <a:cs typeface="Yu Gothic"/>
              </a:rPr>
              <a:t>還元する対象は、private sampleの意味内容ではなく、共通task上のtask-relevantな予測挙動</a:t>
            </a:r>
          </a:p>
        </p:txBody>
      </p:sp>
    </p:spTree>
    <p:extLst>
      <p:ext uri="{BB962C8B-B14F-4D97-AF65-F5344CB8AC3E}">
        <p14:creationId xmlns:p14="http://schemas.microsoft.com/office/powerpoint/2010/main" val="9219334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C352A71-D4CF-4186-A90A-FFCD3C0E83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F95987-1B7F-4CDC-8E94-81136CAEE81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5D8FFB-6F22-4985-B09E-D532A603BD9B}"/>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同じriskでも、現場の状況は大きく異なる</a:t>
            </a:r>
          </a:p>
        </p:txBody>
      </p:sp>
      <p:sp>
        <p:nvSpPr>
          <p:cNvPr id="4" name="">
            <a:extLst xmlns:a="http://schemas.openxmlformats.org/drawingml/2006/main">
              <a:ext uri="{FF2B5EF4-FFF2-40B4-BE49-F238E27FC236}">
                <a16:creationId xmlns:a16="http://schemas.microsoft.com/office/drawing/2014/main" id="{0FB8E950-8EF2-4534-8F14-A2FA210FCD74}"/>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02B95F28-DADE-4DE5-9236-23D26581E370}"/>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2BB168E-4839-4939-87CB-2CF5A0F6989A}"/>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E851CD2-BBF9-4F8A-8B60-10C04DB0CF4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661424d6e3c4afd"/>
          <a:srcRect xmlns:a="http://schemas.openxmlformats.org/drawingml/2006/main" l="0" t="44" r="0" b="44"/>
          <a:stretch xmlns:a="http://schemas.openxmlformats.org/drawingml/2006/main">
            <a:fillRect l="0" t="0" r="0" b="0"/>
          </a:stretch>
        </p:blipFill>
        <p:spPr>
          <a:xfrm xmlns:a="http://schemas.openxmlformats.org/drawingml/2006/main">
            <a:off x="571500" y="1219200"/>
            <a:ext cx="4762500" cy="26765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da8bdb01b7244cd"/>
          <a:srcRect xmlns:a="http://schemas.openxmlformats.org/drawingml/2006/main" l="0" t="44" r="0" b="44"/>
          <a:stretch xmlns:a="http://schemas.openxmlformats.org/drawingml/2006/main">
            <a:fillRect l="0" t="0" r="0" b="0"/>
          </a:stretch>
        </p:blipFill>
        <p:spPr>
          <a:xfrm xmlns:a="http://schemas.openxmlformats.org/drawingml/2006/main">
            <a:off x="6858000" y="1219200"/>
            <a:ext cx="4762500" cy="26765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20D1224-1A24-4C72-94A2-3F59797319DA}"/>
              </a:ext>
            </a:extLst>
          </p:cNvPr>
          <p:cNvSpPr>
            <a:spLocks xmlns:a="http://schemas.openxmlformats.org/drawingml/2006/main" noGrp="1"/>
          </p:cNvSpPr>
          <p:nvPr/>
        </p:nvSpPr>
        <p:spPr>
          <a:xfrm xmlns:a="http://schemas.openxmlformats.org/drawingml/2006/main">
            <a:off x="5715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A：昼間・市街地</a:t>
            </a:r>
          </a:p>
        </p:txBody>
      </p:sp>
      <p:sp>
        <p:nvSpPr>
          <p:cNvPr id="11" name="">
            <a:extLst xmlns:a="http://schemas.openxmlformats.org/drawingml/2006/main">
              <a:ext uri="{FF2B5EF4-FFF2-40B4-BE49-F238E27FC236}">
                <a16:creationId xmlns:a16="http://schemas.microsoft.com/office/drawing/2014/main" id="{770DF6AF-F899-45ED-A335-FB6E7E8EB3E7}"/>
              </a:ext>
            </a:extLst>
          </p:cNvPr>
          <p:cNvSpPr>
            <a:spLocks xmlns:a="http://schemas.openxmlformats.org/drawingml/2006/main" noGrp="1"/>
          </p:cNvSpPr>
          <p:nvPr/>
        </p:nvSpPr>
        <p:spPr>
          <a:xfrm xmlns:a="http://schemas.openxmlformats.org/drawingml/2006/main">
            <a:off x="6858000" y="9906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client B：夜間・高速道路</a:t>
            </a:r>
          </a:p>
        </p:txBody>
      </p:sp>
      <p:sp>
        <p:nvSpPr>
          <p:cNvPr id="12" name="">
            <a:extLst xmlns:a="http://schemas.openxmlformats.org/drawingml/2006/main">
              <a:ext uri="{FF2B5EF4-FFF2-40B4-BE49-F238E27FC236}">
                <a16:creationId xmlns:a16="http://schemas.microsoft.com/office/drawing/2014/main" id="{E27C974A-8ADE-41AD-86FF-054F5EAC18CA}"/>
              </a:ext>
            </a:extLst>
          </p:cNvPr>
          <p:cNvSpPr>
            <a:spLocks xmlns:a="http://schemas.openxmlformats.org/drawingml/2006/main" noGrp="1"/>
          </p:cNvSpPr>
          <p:nvPr/>
        </p:nvSpPr>
        <p:spPr>
          <a:xfrm xmlns:a="http://schemas.openxmlformats.org/drawingml/2006/main">
            <a:off x="666750" y="4286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FedPACTが再現する対象</a:t>
            </a:r>
          </a:p>
        </p:txBody>
      </p:sp>
      <p:sp>
        <p:nvSpPr>
          <p:cNvPr id="13" name="">
            <a:extLst xmlns:a="http://schemas.openxmlformats.org/drawingml/2006/main">
              <a:ext uri="{FF2B5EF4-FFF2-40B4-BE49-F238E27FC236}">
                <a16:creationId xmlns:a16="http://schemas.microsoft.com/office/drawing/2014/main" id="{4052426B-4497-452F-BED3-A69B75C2153B}"/>
              </a:ext>
            </a:extLst>
          </p:cNvPr>
          <p:cNvSpPr>
            <a:spLocks xmlns:a="http://schemas.openxmlformats.org/drawingml/2006/main" noGrp="1"/>
          </p:cNvSpPr>
          <p:nvPr/>
        </p:nvSpPr>
        <p:spPr>
          <a:xfrm xmlns:a="http://schemas.openxmlformats.org/drawingml/2006/main">
            <a:off x="666750" y="46863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a:solidFill>
                  <a:srgbClr val="147B78"/>
                </a:solidFill>
                <a:latin typeface="Yu Gothic"/>
                <a:ea typeface="Yu Gothic"/>
                <a:cs typeface="Yu Gothic"/>
              </a:defRPr>
            </a:pPr>
            <a:r>
              <a:rPr sz="2175" b="1">
                <a:solidFill>
                  <a:srgbClr val="147B78"/>
                </a:solidFill>
                <a:latin typeface="Yu Gothic"/>
                <a:ea typeface="Yu Gothic"/>
                <a:cs typeface="Yu Gothic"/>
              </a:rPr>
              <a:t>共通タスク上で、private dataによる局所学習後の予測と、その変化</a:t>
            </a:r>
          </a:p>
        </p:txBody>
      </p:sp>
      <p:sp>
        <p:nvSpPr>
          <p:cNvPr id="14" name="">
            <a:extLst xmlns:a="http://schemas.openxmlformats.org/drawingml/2006/main">
              <a:ext uri="{FF2B5EF4-FFF2-40B4-BE49-F238E27FC236}">
                <a16:creationId xmlns:a16="http://schemas.microsoft.com/office/drawing/2014/main" id="{226F2FAD-43A4-47BB-B454-5989FE5E9635}"/>
              </a:ext>
            </a:extLst>
          </p:cNvPr>
          <p:cNvSpPr>
            <a:spLocks xmlns:a="http://schemas.openxmlformats.org/drawingml/2006/main" noGrp="1"/>
          </p:cNvSpPr>
          <p:nvPr/>
        </p:nvSpPr>
        <p:spPr>
          <a:xfrm xmlns:a="http://schemas.openxmlformats.org/drawingml/2006/main">
            <a:off x="666750" y="5353050"/>
            <a:ext cx="10858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B5F8C42-D749-4059-86CE-2D11B432CD98}"/>
              </a:ext>
            </a:extLst>
          </p:cNvPr>
          <p:cNvSpPr>
            <a:spLocks xmlns:a="http://schemas.openxmlformats.org/drawingml/2006/main" noGrp="1"/>
          </p:cNvSpPr>
          <p:nvPr/>
        </p:nvSpPr>
        <p:spPr>
          <a:xfrm xmlns:a="http://schemas.openxmlformats.org/drawingml/2006/main">
            <a:off x="895350" y="5514975"/>
            <a:ext cx="1040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7678"/>
          </a:bodyPr>
          <a:lstStyle xmlns:a="http://schemas.openxmlformats.org/drawingml/2006/main"/>
          <a:p xmlns:a="http://schemas.openxmlformats.org/drawingml/2006/main">
            <a:pPr algn="ctr">
              <a:defRPr sz="1575" b="0">
                <a:solidFill>
                  <a:srgbClr val="26373D"/>
                </a:solidFill>
                <a:latin typeface="Yu Gothic"/>
                <a:ea typeface="Yu Gothic"/>
                <a:cs typeface="Yu Gothic"/>
              </a:defRPr>
            </a:pPr>
            <a:r>
              <a:rPr sz="1575" b="0">
                <a:solidFill>
                  <a:srgbClr val="26373D"/>
                </a:solidFill>
                <a:latin typeface="Yu Gothic"/>
                <a:ea typeface="Yu Gothic"/>
                <a:cs typeface="Yu Gothic"/>
              </a:rPr>
              <a:t>研究の意味：server seedだけでは事前に網羅しにくい現場差を、映像そのものではなく予測挙動の要約としてfoundationへ還元する</a:t>
            </a:r>
          </a:p>
        </p:txBody>
      </p:sp>
    </p:spTree>
    <p:extLst>
      <p:ext uri="{BB962C8B-B14F-4D97-AF65-F5344CB8AC3E}">
        <p14:creationId xmlns:p14="http://schemas.microsoft.com/office/powerpoint/2010/main" val="18070502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C0A0514-BBE9-477F-AA57-B6FB66A68DF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F1FDBF-965B-499F-BC20-CF2FEA1F6E3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DFABEE-405B-4CEA-82B7-94D23F1F2FAF}"/>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9月15日以降、研究の焦点をLayer 2へ絞った</a:t>
            </a:r>
          </a:p>
        </p:txBody>
      </p:sp>
      <p:sp>
        <p:nvSpPr>
          <p:cNvPr id="4" name="">
            <a:extLst xmlns:a="http://schemas.openxmlformats.org/drawingml/2006/main">
              <a:ext uri="{FF2B5EF4-FFF2-40B4-BE49-F238E27FC236}">
                <a16:creationId xmlns:a16="http://schemas.microsoft.com/office/drawing/2014/main" id="{E00BA35F-3B5A-4D0B-9A6E-243D35F392C3}"/>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A3948BE1-CB3D-4E04-917F-636930757197}"/>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62F3DF-40BE-4BAD-B7F2-6A9C3E40397C}"/>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4DA8718-48BD-48C8-8678-FB85BA75615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10</a:t>
            </a:r>
          </a:p>
        </p:txBody>
      </p:sp>
      <p:sp>
        <p:nvSpPr>
          <p:cNvPr id="8" name="">
            <a:extLst xmlns:a="http://schemas.openxmlformats.org/drawingml/2006/main">
              <a:ext uri="{FF2B5EF4-FFF2-40B4-BE49-F238E27FC236}">
                <a16:creationId xmlns:a16="http://schemas.microsoft.com/office/drawing/2014/main" id="{4BF81506-67CF-497B-8268-AF77364E7AAF}"/>
              </a:ext>
            </a:extLst>
          </p:cNvPr>
          <p:cNvSpPr>
            <a:spLocks xmlns:a="http://schemas.openxmlformats.org/drawingml/2006/main" noGrp="1"/>
          </p:cNvSpPr>
          <p:nvPr/>
        </p:nvSpPr>
        <p:spPr>
          <a:xfrm xmlns:a="http://schemas.openxmlformats.org/drawingml/2006/main">
            <a:off x="6667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15</a:t>
            </a:r>
          </a:p>
        </p:txBody>
      </p:sp>
      <p:sp>
        <p:nvSpPr>
          <p:cNvPr id="9" name="">
            <a:extLst xmlns:a="http://schemas.openxmlformats.org/drawingml/2006/main">
              <a:ext uri="{FF2B5EF4-FFF2-40B4-BE49-F238E27FC236}">
                <a16:creationId xmlns:a16="http://schemas.microsoft.com/office/drawing/2014/main" id="{7BA800BC-0952-41F4-94B1-1A74518B06C1}"/>
              </a:ext>
            </a:extLst>
          </p:cNvPr>
          <p:cNvSpPr>
            <a:spLocks xmlns:a="http://schemas.openxmlformats.org/drawingml/2006/main" noGrp="1"/>
          </p:cNvSpPr>
          <p:nvPr/>
        </p:nvSpPr>
        <p:spPr>
          <a:xfrm xmlns:a="http://schemas.openxmlformats.org/drawingml/2006/main">
            <a:off x="66675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4FB02A3-B790-4BD4-A61B-C6A76B04B940}"/>
              </a:ext>
            </a:extLst>
          </p:cNvPr>
          <p:cNvSpPr>
            <a:spLocks xmlns:a="http://schemas.openxmlformats.org/drawingml/2006/main" noGrp="1"/>
          </p:cNvSpPr>
          <p:nvPr/>
        </p:nvSpPr>
        <p:spPr>
          <a:xfrm xmlns:a="http://schemas.openxmlformats.org/drawingml/2006/main">
            <a:off x="6667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複雑さを減らす</a:t>
            </a:r>
          </a:p>
        </p:txBody>
      </p:sp>
      <p:sp>
        <p:nvSpPr>
          <p:cNvPr id="11" name="">
            <a:extLst xmlns:a="http://schemas.openxmlformats.org/drawingml/2006/main">
              <a:ext uri="{FF2B5EF4-FFF2-40B4-BE49-F238E27FC236}">
                <a16:creationId xmlns:a16="http://schemas.microsoft.com/office/drawing/2014/main" id="{5C03EB08-BDC7-4F28-95D8-5D0FE1E42E9C}"/>
              </a:ext>
            </a:extLst>
          </p:cNvPr>
          <p:cNvSpPr>
            <a:spLocks xmlns:a="http://schemas.openxmlformats.org/drawingml/2006/main" noGrp="1"/>
          </p:cNvSpPr>
          <p:nvPr/>
        </p:nvSpPr>
        <p:spPr>
          <a:xfrm xmlns:a="http://schemas.openxmlformats.org/drawingml/2006/main">
            <a:off x="6667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機能を一度に入れると失敗原因を切り分けられない。中心課題と最小構成を先に確認する。</a:t>
            </a:r>
          </a:p>
        </p:txBody>
      </p:sp>
      <p:sp>
        <p:nvSpPr>
          <p:cNvPr id="12" name="">
            <a:extLst xmlns:a="http://schemas.openxmlformats.org/drawingml/2006/main">
              <a:ext uri="{FF2B5EF4-FFF2-40B4-BE49-F238E27FC236}">
                <a16:creationId xmlns:a16="http://schemas.microsoft.com/office/drawing/2014/main" id="{FD85C49F-F928-430A-A995-A39DC46F0741}"/>
              </a:ext>
            </a:extLst>
          </p:cNvPr>
          <p:cNvSpPr>
            <a:spLocks xmlns:a="http://schemas.openxmlformats.org/drawingml/2006/main" noGrp="1"/>
          </p:cNvSpPr>
          <p:nvPr/>
        </p:nvSpPr>
        <p:spPr>
          <a:xfrm xmlns:a="http://schemas.openxmlformats.org/drawingml/2006/main">
            <a:off x="411480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9 / 16</a:t>
            </a:r>
          </a:p>
        </p:txBody>
      </p:sp>
      <p:sp>
        <p:nvSpPr>
          <p:cNvPr id="13" name="">
            <a:extLst xmlns:a="http://schemas.openxmlformats.org/drawingml/2006/main">
              <a:ext uri="{FF2B5EF4-FFF2-40B4-BE49-F238E27FC236}">
                <a16:creationId xmlns:a16="http://schemas.microsoft.com/office/drawing/2014/main" id="{21F19212-ADE4-4D37-9935-DBBEA09AA58F}"/>
              </a:ext>
            </a:extLst>
          </p:cNvPr>
          <p:cNvSpPr>
            <a:spLocks xmlns:a="http://schemas.openxmlformats.org/drawingml/2006/main" noGrp="1"/>
          </p:cNvSpPr>
          <p:nvPr/>
        </p:nvSpPr>
        <p:spPr>
          <a:xfrm xmlns:a="http://schemas.openxmlformats.org/drawingml/2006/main">
            <a:off x="4114800" y="1724025"/>
            <a:ext cx="2857500" cy="3810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F3D28C1-4BFA-453D-A22D-E3A0D36D5BFB}"/>
              </a:ext>
            </a:extLst>
          </p:cNvPr>
          <p:cNvSpPr>
            <a:spLocks xmlns:a="http://schemas.openxmlformats.org/drawingml/2006/main" noGrp="1"/>
          </p:cNvSpPr>
          <p:nvPr/>
        </p:nvSpPr>
        <p:spPr>
          <a:xfrm xmlns:a="http://schemas.openxmlformats.org/drawingml/2006/main">
            <a:off x="411480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第I段階の目的を固定</a:t>
            </a:r>
          </a:p>
        </p:txBody>
      </p:sp>
      <p:sp>
        <p:nvSpPr>
          <p:cNvPr id="15" name="">
            <a:extLst xmlns:a="http://schemas.openxmlformats.org/drawingml/2006/main">
              <a:ext uri="{FF2B5EF4-FFF2-40B4-BE49-F238E27FC236}">
                <a16:creationId xmlns:a16="http://schemas.microsoft.com/office/drawing/2014/main" id="{5FF96778-2FF0-4852-A626-E063D1E21E09}"/>
              </a:ext>
            </a:extLst>
          </p:cNvPr>
          <p:cNvSpPr>
            <a:spLocks xmlns:a="http://schemas.openxmlformats.org/drawingml/2006/main" noGrp="1"/>
          </p:cNvSpPr>
          <p:nvPr/>
        </p:nvSpPr>
        <p:spPr>
          <a:xfrm xmlns:a="http://schemas.openxmlformats.org/drawingml/2006/main">
            <a:off x="411480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三層構造は維持し、研究の中核を第2層に置く。第I段階では性能より、処理とstateの追跡を確認する。</a:t>
            </a:r>
          </a:p>
        </p:txBody>
      </p:sp>
      <p:sp>
        <p:nvSpPr>
          <p:cNvPr id="16" name="">
            <a:extLst xmlns:a="http://schemas.openxmlformats.org/drawingml/2006/main">
              <a:ext uri="{FF2B5EF4-FFF2-40B4-BE49-F238E27FC236}">
                <a16:creationId xmlns:a16="http://schemas.microsoft.com/office/drawing/2014/main" id="{D8AD1A8B-9486-45E4-A3CE-DB816A8B711C}"/>
              </a:ext>
            </a:extLst>
          </p:cNvPr>
          <p:cNvSpPr>
            <a:spLocks xmlns:a="http://schemas.openxmlformats.org/drawingml/2006/main" noGrp="1"/>
          </p:cNvSpPr>
          <p:nvPr/>
        </p:nvSpPr>
        <p:spPr>
          <a:xfrm xmlns:a="http://schemas.openxmlformats.org/drawingml/2006/main">
            <a:off x="7562850" y="12382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E7833D"/>
                </a:solidFill>
                <a:latin typeface="Yu Gothic"/>
                <a:ea typeface="Yu Gothic"/>
                <a:cs typeface="Yu Gothic"/>
              </a:defRPr>
            </a:pPr>
            <a:r>
              <a:rPr sz="1800" b="1">
                <a:solidFill>
                  <a:srgbClr val="E7833D"/>
                </a:solidFill>
                <a:latin typeface="Yu Gothic"/>
                <a:ea typeface="Yu Gothic"/>
                <a:cs typeface="Yu Gothic"/>
              </a:rPr>
              <a:t>9 / 17</a:t>
            </a:r>
          </a:p>
        </p:txBody>
      </p:sp>
      <p:sp>
        <p:nvSpPr>
          <p:cNvPr id="17" name="">
            <a:extLst xmlns:a="http://schemas.openxmlformats.org/drawingml/2006/main">
              <a:ext uri="{FF2B5EF4-FFF2-40B4-BE49-F238E27FC236}">
                <a16:creationId xmlns:a16="http://schemas.microsoft.com/office/drawing/2014/main" id="{DCC5CDEF-514D-4283-B938-6EF5D0D4F25D}"/>
              </a:ext>
            </a:extLst>
          </p:cNvPr>
          <p:cNvSpPr>
            <a:spLocks xmlns:a="http://schemas.openxmlformats.org/drawingml/2006/main" noGrp="1"/>
          </p:cNvSpPr>
          <p:nvPr/>
        </p:nvSpPr>
        <p:spPr>
          <a:xfrm xmlns:a="http://schemas.openxmlformats.org/drawingml/2006/main">
            <a:off x="7562850" y="1724025"/>
            <a:ext cx="2857500" cy="3810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0B32354-F79B-42E1-88F6-D426CE6EF5B8}"/>
              </a:ext>
            </a:extLst>
          </p:cNvPr>
          <p:cNvSpPr>
            <a:spLocks xmlns:a="http://schemas.openxmlformats.org/drawingml/2006/main" noGrp="1"/>
          </p:cNvSpPr>
          <p:nvPr/>
        </p:nvSpPr>
        <p:spPr>
          <a:xfrm xmlns:a="http://schemas.openxmlformats.org/drawingml/2006/main">
            <a:off x="7562850" y="19812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73B4B"/>
                </a:solidFill>
                <a:latin typeface="Yu Gothic"/>
                <a:ea typeface="Yu Gothic"/>
                <a:cs typeface="Yu Gothic"/>
              </a:defRPr>
            </a:pPr>
            <a:r>
              <a:rPr sz="1950" b="1">
                <a:solidFill>
                  <a:srgbClr val="173B4B"/>
                </a:solidFill>
                <a:latin typeface="Yu Gothic"/>
                <a:ea typeface="Yu Gothic"/>
                <a:cs typeface="Yu Gothic"/>
              </a:rPr>
              <a:t>3 roundの接続を確認</a:t>
            </a:r>
          </a:p>
        </p:txBody>
      </p:sp>
      <p:sp>
        <p:nvSpPr>
          <p:cNvPr id="19" name="">
            <a:extLst xmlns:a="http://schemas.openxmlformats.org/drawingml/2006/main">
              <a:ext uri="{FF2B5EF4-FFF2-40B4-BE49-F238E27FC236}">
                <a16:creationId xmlns:a16="http://schemas.microsoft.com/office/drawing/2014/main" id="{DA3C6A60-929A-4632-9DD9-AFB5E8A21316}"/>
              </a:ext>
            </a:extLst>
          </p:cNvPr>
          <p:cNvSpPr>
            <a:spLocks xmlns:a="http://schemas.openxmlformats.org/drawingml/2006/main" noGrp="1"/>
          </p:cNvSpPr>
          <p:nvPr/>
        </p:nvSpPr>
        <p:spPr>
          <a:xfrm xmlns:a="http://schemas.openxmlformats.org/drawingml/2006/main">
            <a:off x="7562850" y="2571750"/>
            <a:ext cx="3000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425" b="0">
                <a:solidFill>
                  <a:srgbClr val="26373D"/>
                </a:solidFill>
                <a:latin typeface="Yu Gothic"/>
                <a:ea typeface="Yu Gothic"/>
                <a:cs typeface="Yu Gothic"/>
              </a:defRPr>
            </a:pPr>
            <a:r>
              <a:rPr sz="1425" b="0">
                <a:solidFill>
                  <a:srgbClr val="26373D"/>
                </a:solidFill>
                <a:latin typeface="Yu Gothic"/>
                <a:ea typeface="Yu Gothic"/>
                <a:cs typeface="Yu Gothic"/>
              </a:rPr>
              <a:t>入力条件を修正した。2 clientからfoundation更新、次roundのstate継承までをログ付きで実行した。</a:t>
            </a:r>
          </a:p>
        </p:txBody>
      </p:sp>
      <p:sp>
        <p:nvSpPr>
          <p:cNvPr id="20" name="">
            <a:extLst xmlns:a="http://schemas.openxmlformats.org/drawingml/2006/main">
              <a:ext uri="{FF2B5EF4-FFF2-40B4-BE49-F238E27FC236}">
                <a16:creationId xmlns:a16="http://schemas.microsoft.com/office/drawing/2014/main" id="{52CD1648-8F34-4F9A-8FE5-96598B874695}"/>
              </a:ext>
            </a:extLst>
          </p:cNvPr>
          <p:cNvSpPr>
            <a:spLocks xmlns:a="http://schemas.openxmlformats.org/drawingml/2006/main" noGrp="1"/>
          </p:cNvSpPr>
          <p:nvPr/>
        </p:nvSpPr>
        <p:spPr>
          <a:xfrm xmlns:a="http://schemas.openxmlformats.org/drawingml/2006/main">
            <a:off x="666750" y="5010150"/>
            <a:ext cx="9763125"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5AB486B-7B70-45D4-A2F8-7AEF81E8C611}"/>
              </a:ext>
            </a:extLst>
          </p:cNvPr>
          <p:cNvSpPr>
            <a:spLocks xmlns:a="http://schemas.openxmlformats.org/drawingml/2006/main" noGrp="1"/>
          </p:cNvSpPr>
          <p:nvPr/>
        </p:nvSpPr>
        <p:spPr>
          <a:xfrm xmlns:a="http://schemas.openxmlformats.org/drawingml/2006/main">
            <a:off x="10429875" y="4933950"/>
            <a:ext cx="171450" cy="171450"/>
          </a:xfrm>
          <a:prstGeom xmlns:a="http://schemas.openxmlformats.org/drawingml/2006/main" prst="rect">
            <a:avLst/>
          </a:prstGeom>
          <a:solidFill xmlns:a="http://schemas.openxmlformats.org/drawingml/2006/main">
            <a:srgbClr val="E783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B1ACE39-7C6B-44B4-B147-5FE4848F2348}"/>
              </a:ext>
            </a:extLst>
          </p:cNvPr>
          <p:cNvSpPr>
            <a:spLocks xmlns:a="http://schemas.openxmlformats.org/drawingml/2006/main" noGrp="1"/>
          </p:cNvSpPr>
          <p:nvPr/>
        </p:nvSpPr>
        <p:spPr>
          <a:xfrm xmlns:a="http://schemas.openxmlformats.org/drawingml/2006/main">
            <a:off x="666750" y="52578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17078"/>
                </a:solidFill>
                <a:latin typeface="Yu Gothic"/>
                <a:ea typeface="Yu Gothic"/>
                <a:cs typeface="Yu Gothic"/>
              </a:defRPr>
            </a:pPr>
            <a:r>
              <a:rPr sz="1500" b="1">
                <a:solidFill>
                  <a:srgbClr val="617078"/>
                </a:solidFill>
                <a:latin typeface="Yu Gothic"/>
                <a:ea typeface="Yu Gothic"/>
                <a:cs typeface="Yu Gothic"/>
              </a:rPr>
              <a:t>今週の報告範囲</a:t>
            </a:r>
          </a:p>
        </p:txBody>
      </p:sp>
      <p:sp>
        <p:nvSpPr>
          <p:cNvPr id="23" name="">
            <a:extLst xmlns:a="http://schemas.openxmlformats.org/drawingml/2006/main">
              <a:ext uri="{FF2B5EF4-FFF2-40B4-BE49-F238E27FC236}">
                <a16:creationId xmlns:a16="http://schemas.microsoft.com/office/drawing/2014/main" id="{CAA7DD97-9351-412D-ACBE-85B318B2470C}"/>
              </a:ext>
            </a:extLst>
          </p:cNvPr>
          <p:cNvSpPr>
            <a:spLocks xmlns:a="http://schemas.openxmlformats.org/drawingml/2006/main" noGrp="1"/>
          </p:cNvSpPr>
          <p:nvPr/>
        </p:nvSpPr>
        <p:spPr>
          <a:xfrm xmlns:a="http://schemas.openxmlformats.org/drawingml/2006/main">
            <a:off x="3143250" y="52006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385"/>
          </a:bodyPr>
          <a:lstStyle xmlns:a="http://schemas.openxmlformats.org/drawingml/2006/main"/>
          <a:p xmlns:a="http://schemas.openxmlformats.org/drawingml/2006/main">
            <a:pPr algn="l">
              <a:defRPr sz="1800" b="1">
                <a:solidFill>
                  <a:srgbClr val="173B4B"/>
                </a:solidFill>
                <a:latin typeface="Yu Gothic"/>
                <a:ea typeface="Yu Gothic"/>
                <a:cs typeface="Yu Gothic"/>
              </a:defRPr>
            </a:pPr>
            <a:r>
              <a:rPr sz="1800" b="1">
                <a:solidFill>
                  <a:srgbClr val="173B4B"/>
                </a:solidFill>
                <a:latin typeface="Yu Gothic"/>
                <a:ea typeface="Yu Gothic"/>
                <a:cs typeface="Yu Gothic"/>
              </a:rPr>
              <a:t>Layer 2の有効性を主張する前に、どの処理で崩れるかを追える実装を完成させる</a:t>
            </a:r>
          </a:p>
        </p:txBody>
      </p:sp>
    </p:spTree>
    <p:extLst>
      <p:ext uri="{BB962C8B-B14F-4D97-AF65-F5344CB8AC3E}">
        <p14:creationId xmlns:p14="http://schemas.microsoft.com/office/powerpoint/2010/main" val="21118432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E744CC-6B0B-4803-A980-4E2A677171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DEC4C1-6AE8-4F75-81E6-EF21DC79DFB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28E46CB-C29D-492E-BEFF-92C85D5049B8}"/>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FedPACT全体フロー</a:t>
            </a:r>
          </a:p>
        </p:txBody>
      </p:sp>
      <p:sp>
        <p:nvSpPr>
          <p:cNvPr id="4" name="">
            <a:extLst xmlns:a="http://schemas.openxmlformats.org/drawingml/2006/main">
              <a:ext uri="{FF2B5EF4-FFF2-40B4-BE49-F238E27FC236}">
                <a16:creationId xmlns:a16="http://schemas.microsoft.com/office/drawing/2014/main" id="{E3F3921D-0885-43D0-BCEA-310405B3C3C6}"/>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D0E9860A-46F3-49A2-A024-928D768C3D3A}"/>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23AB4F4-A6B0-4862-8AE3-3620AD0DA431}"/>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5EE31987-ACB3-45E9-AD9E-758A9A946D8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10</a:t>
            </a:r>
          </a:p>
        </p:txBody>
      </p:sp>
      <p:sp>
        <p:nvSpPr>
          <p:cNvPr id="8" name="">
            <a:extLst xmlns:a="http://schemas.openxmlformats.org/drawingml/2006/main">
              <a:ext uri="{FF2B5EF4-FFF2-40B4-BE49-F238E27FC236}">
                <a16:creationId xmlns:a16="http://schemas.microsoft.com/office/drawing/2014/main" id="{87583782-D26E-46E9-865B-8298028589CD}"/>
              </a:ext>
            </a:extLst>
          </p:cNvPr>
          <p:cNvSpPr>
            <a:spLocks xmlns:a="http://schemas.openxmlformats.org/drawingml/2006/main" noGrp="1"/>
          </p:cNvSpPr>
          <p:nvPr/>
        </p:nvSpPr>
        <p:spPr>
          <a:xfrm xmlns:a="http://schemas.openxmlformats.org/drawingml/2006/main">
            <a:off x="781050" y="1295400"/>
            <a:ext cx="10629900" cy="43434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31D79751-CC67-46C9-8F8A-DE1DBE2F65B1}"/>
              </a:ext>
            </a:extLst>
          </p:cNvPr>
          <p:cNvSpPr>
            <a:spLocks xmlns:a="http://schemas.openxmlformats.org/drawingml/2006/main" noGrp="1"/>
          </p:cNvSpPr>
          <p:nvPr/>
        </p:nvSpPr>
        <p:spPr>
          <a:xfrm xmlns:a="http://schemas.openxmlformats.org/drawingml/2006/main">
            <a:off x="2095500" y="2857500"/>
            <a:ext cx="800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617078"/>
                </a:solidFill>
                <a:latin typeface="Yu Gothic"/>
                <a:ea typeface="Yu Gothic"/>
                <a:cs typeface="Yu Gothic"/>
              </a:defRPr>
            </a:pPr>
            <a:r>
              <a:rPr sz="2175" b="1">
                <a:solidFill>
                  <a:srgbClr val="617078"/>
                </a:solidFill>
                <a:latin typeface="Yu Gothic"/>
                <a:ea typeface="Yu Gothic"/>
                <a:cs typeface="Yu Gothic"/>
              </a:rPr>
              <a:t>ここに9月16日Slack共有版のフローチャートを挿入</a:t>
            </a:r>
          </a:p>
        </p:txBody>
      </p:sp>
      <p:sp>
        <p:nvSpPr>
          <p:cNvPr id="10" name="">
            <a:extLst xmlns:a="http://schemas.openxmlformats.org/drawingml/2006/main">
              <a:ext uri="{FF2B5EF4-FFF2-40B4-BE49-F238E27FC236}">
                <a16:creationId xmlns:a16="http://schemas.microsoft.com/office/drawing/2014/main" id="{9A081960-85A3-40F0-A091-B3A536E40BDE}"/>
              </a:ext>
            </a:extLst>
          </p:cNvPr>
          <p:cNvSpPr>
            <a:spLocks xmlns:a="http://schemas.openxmlformats.org/drawingml/2006/main" noGrp="1"/>
          </p:cNvSpPr>
          <p:nvPr/>
        </p:nvSpPr>
        <p:spPr>
          <a:xfrm xmlns:a="http://schemas.openxmlformats.org/drawingml/2006/main">
            <a:off x="1381125" y="5867400"/>
            <a:ext cx="942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今回の実験では、この図のLayer 1からLayer 3と次roundへのstate継承までを確認</a:t>
            </a:r>
          </a:p>
        </p:txBody>
      </p:sp>
    </p:spTree>
    <p:extLst>
      <p:ext uri="{BB962C8B-B14F-4D97-AF65-F5344CB8AC3E}">
        <p14:creationId xmlns:p14="http://schemas.microsoft.com/office/powerpoint/2010/main" val="100402629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932E402-5138-4281-BA50-C1631DBE76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E228BE-9D7C-418E-B40B-87D2C05323B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698C5C-45AF-49F8-AB4C-CD2C56427CC4}"/>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今回の実験は三層の接続確認</a:t>
            </a:r>
          </a:p>
        </p:txBody>
      </p:sp>
      <p:sp>
        <p:nvSpPr>
          <p:cNvPr id="4" name="">
            <a:extLst xmlns:a="http://schemas.openxmlformats.org/drawingml/2006/main">
              <a:ext uri="{FF2B5EF4-FFF2-40B4-BE49-F238E27FC236}">
                <a16:creationId xmlns:a16="http://schemas.microsoft.com/office/drawing/2014/main" id="{28E70C1F-58D1-4FFA-82EB-A0ADCFA1A73F}"/>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96B302EC-A5B0-49DD-B10E-C62CA67836F9}"/>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CC12543-7459-437B-9E5E-B91DCCC0250F}"/>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50C823AC-0C6A-444C-8FF7-ECBFF245F7EB}"/>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10</a:t>
            </a:r>
          </a:p>
        </p:txBody>
      </p:sp>
      <p:sp>
        <p:nvSpPr>
          <p:cNvPr id="8" name="">
            <a:extLst xmlns:a="http://schemas.openxmlformats.org/drawingml/2006/main">
              <a:ext uri="{FF2B5EF4-FFF2-40B4-BE49-F238E27FC236}">
                <a16:creationId xmlns:a16="http://schemas.microsoft.com/office/drawing/2014/main" id="{3C5AD74A-BC85-4919-8A4C-DC839B4256E2}"/>
              </a:ext>
            </a:extLst>
          </p:cNvPr>
          <p:cNvSpPr>
            <a:spLocks xmlns:a="http://schemas.openxmlformats.org/drawingml/2006/main" noGrp="1"/>
          </p:cNvSpPr>
          <p:nvPr/>
        </p:nvSpPr>
        <p:spPr>
          <a:xfrm xmlns:a="http://schemas.openxmlformats.org/drawingml/2006/main">
            <a:off x="666750" y="11239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確認した問い</a:t>
            </a:r>
          </a:p>
        </p:txBody>
      </p:sp>
      <p:sp>
        <p:nvSpPr>
          <p:cNvPr id="9" name="">
            <a:extLst xmlns:a="http://schemas.openxmlformats.org/drawingml/2006/main">
              <a:ext uri="{FF2B5EF4-FFF2-40B4-BE49-F238E27FC236}">
                <a16:creationId xmlns:a16="http://schemas.microsoft.com/office/drawing/2014/main" id="{9A831F3F-D3FA-4F56-93D3-FCE5104BBADB}"/>
              </a:ext>
            </a:extLst>
          </p:cNvPr>
          <p:cNvSpPr>
            <a:spLocks xmlns:a="http://schemas.openxmlformats.org/drawingml/2006/main" noGrp="1"/>
          </p:cNvSpPr>
          <p:nvPr/>
        </p:nvSpPr>
        <p:spPr>
          <a:xfrm xmlns:a="http://schemas.openxmlformats.org/drawingml/2006/main">
            <a:off x="666750" y="1466850"/>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73B4B"/>
                </a:solidFill>
                <a:latin typeface="Yu Gothic"/>
                <a:ea typeface="Yu Gothic"/>
                <a:cs typeface="Yu Gothic"/>
              </a:defRPr>
            </a:pPr>
            <a:r>
              <a:rPr sz="2100" b="1">
                <a:solidFill>
                  <a:srgbClr val="173B4B"/>
                </a:solidFill>
                <a:latin typeface="Yu Gothic"/>
                <a:ea typeface="Yu Gothic"/>
                <a:cs typeface="Yu Gothic"/>
              </a:rPr>
              <a:t>各roundで処理とstateが正しくつながり、保存したログから入力と出力を追えるか</a:t>
            </a:r>
          </a:p>
        </p:txBody>
      </p:sp>
      <p:sp>
        <p:nvSpPr>
          <p:cNvPr id="10" name="">
            <a:extLst xmlns:a="http://schemas.openxmlformats.org/drawingml/2006/main">
              <a:ext uri="{FF2B5EF4-FFF2-40B4-BE49-F238E27FC236}">
                <a16:creationId xmlns:a16="http://schemas.microsoft.com/office/drawing/2014/main" id="{EE3AC8D3-F21F-43AB-BEC3-B13373F82348}"/>
              </a:ext>
            </a:extLst>
          </p:cNvPr>
          <p:cNvSpPr>
            <a:spLocks xmlns:a="http://schemas.openxmlformats.org/drawingml/2006/main" noGrp="1"/>
          </p:cNvSpPr>
          <p:nvPr/>
        </p:nvSpPr>
        <p:spPr>
          <a:xfrm xmlns:a="http://schemas.openxmlformats.org/drawingml/2006/main">
            <a:off x="685800" y="25717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2 client　各clientは normal 3本＋risk 3本</a:t>
            </a:r>
          </a:p>
        </p:txBody>
      </p:sp>
      <p:sp>
        <p:nvSpPr>
          <p:cNvPr id="11" name="">
            <a:extLst xmlns:a="http://schemas.openxmlformats.org/drawingml/2006/main">
              <a:ext uri="{FF2B5EF4-FFF2-40B4-BE49-F238E27FC236}">
                <a16:creationId xmlns:a16="http://schemas.microsoft.com/office/drawing/2014/main" id="{63635748-C459-460E-B5FA-13F52844D670}"/>
              </a:ext>
            </a:extLst>
          </p:cNvPr>
          <p:cNvSpPr>
            <a:spLocks xmlns:a="http://schemas.openxmlformats.org/drawingml/2006/main" noGrp="1"/>
          </p:cNvSpPr>
          <p:nvPr/>
        </p:nvSpPr>
        <p:spPr>
          <a:xfrm xmlns:a="http://schemas.openxmlformats.org/drawingml/2006/main">
            <a:off x="685800" y="30099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server-side seed　normal 30本＋risk 30本</a:t>
            </a:r>
          </a:p>
        </p:txBody>
      </p:sp>
      <p:sp>
        <p:nvSpPr>
          <p:cNvPr id="12" name="">
            <a:extLst xmlns:a="http://schemas.openxmlformats.org/drawingml/2006/main">
              <a:ext uri="{FF2B5EF4-FFF2-40B4-BE49-F238E27FC236}">
                <a16:creationId xmlns:a16="http://schemas.microsoft.com/office/drawing/2014/main" id="{9B6835BF-E8B7-4FA5-9950-3284E67D44F7}"/>
              </a:ext>
            </a:extLst>
          </p:cNvPr>
          <p:cNvSpPr>
            <a:spLocks xmlns:a="http://schemas.openxmlformats.org/drawingml/2006/main" noGrp="1"/>
          </p:cNvSpPr>
          <p:nvPr/>
        </p:nvSpPr>
        <p:spPr>
          <a:xfrm xmlns:a="http://schemas.openxmlformats.org/drawingml/2006/main">
            <a:off x="685800" y="344805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各round　4 prototype、60 proxy候補、4 pair</a:t>
            </a:r>
          </a:p>
        </p:txBody>
      </p:sp>
      <p:sp>
        <p:nvSpPr>
          <p:cNvPr id="13" name="">
            <a:extLst xmlns:a="http://schemas.openxmlformats.org/drawingml/2006/main">
              <a:ext uri="{FF2B5EF4-FFF2-40B4-BE49-F238E27FC236}">
                <a16:creationId xmlns:a16="http://schemas.microsoft.com/office/drawing/2014/main" id="{E7D2098C-1878-4674-97AE-B22E944A309A}"/>
              </a:ext>
            </a:extLst>
          </p:cNvPr>
          <p:cNvSpPr>
            <a:spLocks xmlns:a="http://schemas.openxmlformats.org/drawingml/2006/main" noGrp="1"/>
          </p:cNvSpPr>
          <p:nvPr/>
        </p:nvSpPr>
        <p:spPr>
          <a:xfrm xmlns:a="http://schemas.openxmlformats.org/drawingml/2006/main">
            <a:off x="685800" y="3886200"/>
            <a:ext cx="5191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実行　1 roundを確認後、3 round連続</a:t>
            </a:r>
          </a:p>
        </p:txBody>
      </p:sp>
      <p:sp>
        <p:nvSpPr>
          <p:cNvPr id="14" name="">
            <a:extLst xmlns:a="http://schemas.openxmlformats.org/drawingml/2006/main">
              <a:ext uri="{FF2B5EF4-FFF2-40B4-BE49-F238E27FC236}">
                <a16:creationId xmlns:a16="http://schemas.microsoft.com/office/drawing/2014/main" id="{81E4D854-2154-4C04-8386-62FCD5285EDF}"/>
              </a:ext>
            </a:extLst>
          </p:cNvPr>
          <p:cNvSpPr>
            <a:spLocks xmlns:a="http://schemas.openxmlformats.org/drawingml/2006/main" noGrp="1"/>
          </p:cNvSpPr>
          <p:nvPr/>
        </p:nvSpPr>
        <p:spPr>
          <a:xfrm xmlns:a="http://schemas.openxmlformats.org/drawingml/2006/main">
            <a:off x="685800" y="4324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078"/>
                </a:solidFill>
                <a:latin typeface="Yu Gothic"/>
                <a:ea typeface="Yu Gothic"/>
                <a:cs typeface="Yu Gothic"/>
              </a:defRPr>
            </a:pPr>
            <a:r>
              <a:rPr sz="1275" b="0">
                <a:solidFill>
                  <a:srgbClr val="617078"/>
                </a:solidFill>
                <a:latin typeface="Yu Gothic"/>
                <a:ea typeface="Yu Gothic"/>
                <a:cs typeface="Yu Gothic"/>
              </a:rPr>
              <a:t>第I段階：surrogate / foundation は同じ3B基盤の独立LoRA、1 run</a:t>
            </a:r>
          </a:p>
        </p:txBody>
      </p:sp>
      <p:sp>
        <p:nvSpPr>
          <p:cNvPr id="15" name="">
            <a:extLst xmlns:a="http://schemas.openxmlformats.org/drawingml/2006/main">
              <a:ext uri="{FF2B5EF4-FFF2-40B4-BE49-F238E27FC236}">
                <a16:creationId xmlns:a16="http://schemas.microsoft.com/office/drawing/2014/main" id="{866FC5C6-8260-48F5-B323-8A3CCFB489BA}"/>
              </a:ext>
            </a:extLst>
          </p:cNvPr>
          <p:cNvSpPr>
            <a:spLocks xmlns:a="http://schemas.openxmlformats.org/drawingml/2006/main" noGrp="1"/>
          </p:cNvSpPr>
          <p:nvPr/>
        </p:nvSpPr>
        <p:spPr>
          <a:xfrm xmlns:a="http://schemas.openxmlformats.org/drawingml/2006/main">
            <a:off x="6572250" y="106680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7833D"/>
                </a:solidFill>
                <a:latin typeface="Yu Gothic"/>
                <a:ea typeface="Yu Gothic"/>
                <a:cs typeface="Yu Gothic"/>
              </a:defRPr>
            </a:pPr>
            <a:r>
              <a:rPr sz="1125" b="1">
                <a:solidFill>
                  <a:srgbClr val="E7833D"/>
                </a:solidFill>
                <a:latin typeface="Yu Gothic"/>
                <a:ea typeface="Yu Gothic"/>
                <a:cs typeface="Yu Gothic"/>
              </a:rPr>
              <a:t>risk：time_of_alert と time_of_event の範囲</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bf22de62cc04997"/>
          <a:srcRect xmlns:a="http://schemas.openxmlformats.org/drawingml/2006/main" l="94" t="0" r="94" b="0"/>
          <a:stretch xmlns:a="http://schemas.openxmlformats.org/drawingml/2006/main">
            <a:fillRect l="0" t="0" r="0" b="0"/>
          </a:stretch>
        </p:blipFill>
        <p:spPr>
          <a:xfrm xmlns:a="http://schemas.openxmlformats.org/drawingml/2006/main">
            <a:off x="6572250" y="1371600"/>
            <a:ext cx="2247900" cy="1266825"/>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b9d26bca4364554"/>
          <a:srcRect xmlns:a="http://schemas.openxmlformats.org/drawingml/2006/main" l="94" t="0" r="94" b="0"/>
          <a:stretch xmlns:a="http://schemas.openxmlformats.org/drawingml/2006/main">
            <a:fillRect l="0" t="0" r="0" b="0"/>
          </a:stretch>
        </p:blipFill>
        <p:spPr>
          <a:xfrm xmlns:a="http://schemas.openxmlformats.org/drawingml/2006/main">
            <a:off x="8991600" y="1371600"/>
            <a:ext cx="2247900" cy="12668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30ABC119-E741-467A-BB5F-859B6ABB28B2}"/>
              </a:ext>
            </a:extLst>
          </p:cNvPr>
          <p:cNvSpPr>
            <a:spLocks xmlns:a="http://schemas.openxmlformats.org/drawingml/2006/main" noGrp="1"/>
          </p:cNvSpPr>
          <p:nvPr/>
        </p:nvSpPr>
        <p:spPr>
          <a:xfrm xmlns:a="http://schemas.openxmlformats.org/drawingml/2006/main">
            <a:off x="6572250" y="287655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normal：対応するriskと同じ絶対時刻</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287e0ad49f64876"/>
          <a:srcRect xmlns:a="http://schemas.openxmlformats.org/drawingml/2006/main" l="94" t="0" r="94" b="0"/>
          <a:stretch xmlns:a="http://schemas.openxmlformats.org/drawingml/2006/main">
            <a:fillRect l="0" t="0" r="0" b="0"/>
          </a:stretch>
        </p:blipFill>
        <p:spPr>
          <a:xfrm xmlns:a="http://schemas.openxmlformats.org/drawingml/2006/main">
            <a:off x="6572250" y="3181350"/>
            <a:ext cx="2247900" cy="1266825"/>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5943840a02b14a98"/>
          <a:srcRect xmlns:a="http://schemas.openxmlformats.org/drawingml/2006/main" l="94" t="0" r="94" b="0"/>
          <a:stretch xmlns:a="http://schemas.openxmlformats.org/drawingml/2006/main">
            <a:fillRect l="0" t="0" r="0" b="0"/>
          </a:stretch>
        </p:blipFill>
        <p:spPr>
          <a:xfrm xmlns:a="http://schemas.openxmlformats.org/drawingml/2006/main">
            <a:off x="8991600" y="3181350"/>
            <a:ext cx="2247900" cy="126682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3C97479D-5A54-4D94-8497-99F42BFD8F28}"/>
              </a:ext>
            </a:extLst>
          </p:cNvPr>
          <p:cNvSpPr>
            <a:spLocks xmlns:a="http://schemas.openxmlformats.org/drawingml/2006/main" noGrp="1"/>
          </p:cNvSpPr>
          <p:nvPr/>
        </p:nvSpPr>
        <p:spPr>
          <a:xfrm xmlns:a="http://schemas.openxmlformats.org/drawingml/2006/main">
            <a:off x="666750" y="4857750"/>
            <a:ext cx="10572750" cy="971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83CB1B7-8E64-4BDB-AC19-3D53FDC785FF}"/>
              </a:ext>
            </a:extLst>
          </p:cNvPr>
          <p:cNvSpPr>
            <a:spLocks xmlns:a="http://schemas.openxmlformats.org/drawingml/2006/main" noGrp="1"/>
          </p:cNvSpPr>
          <p:nvPr/>
        </p:nvSpPr>
        <p:spPr>
          <a:xfrm xmlns:a="http://schemas.openxmlformats.org/drawingml/2006/main">
            <a:off x="933450" y="5057775"/>
            <a:ext cx="1003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旧runではriskの注釈区間内に選択frameが0枚だったため不合格とした。入力規則を修正し、全画像を確認してから再実行した。</a:t>
            </a:r>
          </a:p>
        </p:txBody>
      </p:sp>
    </p:spTree>
    <p:extLst>
      <p:ext uri="{BB962C8B-B14F-4D97-AF65-F5344CB8AC3E}">
        <p14:creationId xmlns:p14="http://schemas.microsoft.com/office/powerpoint/2010/main" val="15684991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2D6C69E-0C64-43C0-9000-B63EE30BAC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38A5FB-95D0-4761-9CE2-A1CE0D975C9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93128F-7FA9-4405-ACE5-8FE88B906377}"/>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具体例：局所学習でrisk方向へ0.295変化</a:t>
            </a:r>
          </a:p>
        </p:txBody>
      </p:sp>
      <p:sp>
        <p:nvSpPr>
          <p:cNvPr id="4" name="">
            <a:extLst xmlns:a="http://schemas.openxmlformats.org/drawingml/2006/main">
              <a:ext uri="{FF2B5EF4-FFF2-40B4-BE49-F238E27FC236}">
                <a16:creationId xmlns:a16="http://schemas.microsoft.com/office/drawing/2014/main" id="{E1BE6BD0-977A-4EE1-950D-FD4F2BF426AB}"/>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E3960A90-90FA-4188-A595-12357183BBE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DAE3BA-F023-4EDF-AE24-3D1B13520A0D}"/>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1E11ED69-225D-4659-BB49-A79C95AFE04D}"/>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fe4899e3e1e40b4"/>
          <a:srcRect xmlns:a="http://schemas.openxmlformats.org/drawingml/2006/main" l="133" t="0" r="133" b="0"/>
          <a:stretch xmlns:a="http://schemas.openxmlformats.org/drawingml/2006/main">
            <a:fillRect l="0" t="0" r="0" b="0"/>
          </a:stretch>
        </p:blipFill>
        <p:spPr>
          <a:xfrm xmlns:a="http://schemas.openxmlformats.org/drawingml/2006/main">
            <a:off x="666750" y="1219200"/>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c7a3427a42444c7"/>
          <a:srcRect xmlns:a="http://schemas.openxmlformats.org/drawingml/2006/main" l="133" t="0" r="133" b="0"/>
          <a:stretch xmlns:a="http://schemas.openxmlformats.org/drawingml/2006/main">
            <a:fillRect l="0" t="0" r="0" b="0"/>
          </a:stretch>
        </p:blipFill>
        <p:spPr>
          <a:xfrm xmlns:a="http://schemas.openxmlformats.org/drawingml/2006/main">
            <a:off x="3333750" y="1219200"/>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ee3865a07f034f65"/>
          <a:srcRect xmlns:a="http://schemas.openxmlformats.org/drawingml/2006/main" l="133" t="0" r="133" b="0"/>
          <a:stretch xmlns:a="http://schemas.openxmlformats.org/drawingml/2006/main">
            <a:fillRect l="0" t="0" r="0" b="0"/>
          </a:stretch>
        </p:blipFill>
        <p:spPr>
          <a:xfrm xmlns:a="http://schemas.openxmlformats.org/drawingml/2006/main">
            <a:off x="6000750" y="1219200"/>
            <a:ext cx="2381250" cy="1343025"/>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9fb42a03b9744300"/>
          <a:srcRect xmlns:a="http://schemas.openxmlformats.org/drawingml/2006/main" l="133" t="0" r="133" b="0"/>
          <a:stretch xmlns:a="http://schemas.openxmlformats.org/drawingml/2006/main">
            <a:fillRect l="0" t="0" r="0" b="0"/>
          </a:stretch>
        </p:blipFill>
        <p:spPr>
          <a:xfrm xmlns:a="http://schemas.openxmlformats.org/drawingml/2006/main">
            <a:off x="8667750" y="1219200"/>
            <a:ext cx="2381250" cy="13430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84E4D8D-96A7-4C6E-AC0E-DA4C1DCA9CC8}"/>
              </a:ext>
            </a:extLst>
          </p:cNvPr>
          <p:cNvSpPr>
            <a:spLocks xmlns:a="http://schemas.openxmlformats.org/drawingml/2006/main" noGrp="1"/>
          </p:cNvSpPr>
          <p:nvPr/>
        </p:nvSpPr>
        <p:spPr>
          <a:xfrm xmlns:a="http://schemas.openxmlformats.org/drawingml/2006/main">
            <a:off x="666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time_of_alert</a:t>
            </a:r>
          </a:p>
        </p:txBody>
      </p:sp>
      <p:sp>
        <p:nvSpPr>
          <p:cNvPr id="13" name="">
            <a:extLst xmlns:a="http://schemas.openxmlformats.org/drawingml/2006/main">
              <a:ext uri="{FF2B5EF4-FFF2-40B4-BE49-F238E27FC236}">
                <a16:creationId xmlns:a16="http://schemas.microsoft.com/office/drawing/2014/main" id="{04D08CDB-0F9C-402D-BCBC-6D1A18B2A448}"/>
              </a:ext>
            </a:extLst>
          </p:cNvPr>
          <p:cNvSpPr>
            <a:spLocks xmlns:a="http://schemas.openxmlformats.org/drawingml/2006/main" noGrp="1"/>
          </p:cNvSpPr>
          <p:nvPr/>
        </p:nvSpPr>
        <p:spPr>
          <a:xfrm xmlns:a="http://schemas.openxmlformats.org/drawingml/2006/main">
            <a:off x="3333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sp>
        <p:nvSpPr>
          <p:cNvPr id="14" name="">
            <a:extLst xmlns:a="http://schemas.openxmlformats.org/drawingml/2006/main">
              <a:ext uri="{FF2B5EF4-FFF2-40B4-BE49-F238E27FC236}">
                <a16:creationId xmlns:a16="http://schemas.microsoft.com/office/drawing/2014/main" id="{45AAAABC-5795-4240-8613-32FB133CDE62}"/>
              </a:ext>
            </a:extLst>
          </p:cNvPr>
          <p:cNvSpPr>
            <a:spLocks xmlns:a="http://schemas.openxmlformats.org/drawingml/2006/main" noGrp="1"/>
          </p:cNvSpPr>
          <p:nvPr/>
        </p:nvSpPr>
        <p:spPr>
          <a:xfrm xmlns:a="http://schemas.openxmlformats.org/drawingml/2006/main">
            <a:off x="6000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sp>
        <p:nvSpPr>
          <p:cNvPr id="15" name="">
            <a:extLst xmlns:a="http://schemas.openxmlformats.org/drawingml/2006/main">
              <a:ext uri="{FF2B5EF4-FFF2-40B4-BE49-F238E27FC236}">
                <a16:creationId xmlns:a16="http://schemas.microsoft.com/office/drawing/2014/main" id="{21B37BDB-B87A-4787-91F9-4FE605F6F911}"/>
              </a:ext>
            </a:extLst>
          </p:cNvPr>
          <p:cNvSpPr>
            <a:spLocks xmlns:a="http://schemas.openxmlformats.org/drawingml/2006/main" noGrp="1"/>
          </p:cNvSpPr>
          <p:nvPr/>
        </p:nvSpPr>
        <p:spPr>
          <a:xfrm xmlns:a="http://schemas.openxmlformats.org/drawingml/2006/main">
            <a:off x="8667750" y="26765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617078"/>
                </a:solidFill>
                <a:latin typeface="Yu Gothic"/>
                <a:ea typeface="Yu Gothic"/>
                <a:cs typeface="Yu Gothic"/>
              </a:defRPr>
            </a:pPr>
            <a:r>
              <a:rPr sz="1125" b="1">
                <a:solidFill>
                  <a:srgbClr val="617078"/>
                </a:solidFill>
                <a:latin typeface="Yu Gothic"/>
                <a:ea typeface="Yu Gothic"/>
                <a:cs typeface="Yu Gothic"/>
              </a:rPr>
              <a:t>time_of_event</a:t>
            </a:r>
          </a:p>
        </p:txBody>
      </p:sp>
      <p:sp>
        <p:nvSpPr>
          <p:cNvPr id="16" name="">
            <a:extLst xmlns:a="http://schemas.openxmlformats.org/drawingml/2006/main">
              <a:ext uri="{FF2B5EF4-FFF2-40B4-BE49-F238E27FC236}">
                <a16:creationId xmlns:a16="http://schemas.microsoft.com/office/drawing/2014/main" id="{F5C7F6C9-3563-49E0-9FE3-5CB99791F720}"/>
              </a:ext>
            </a:extLst>
          </p:cNvPr>
          <p:cNvSpPr>
            <a:spLocks xmlns:a="http://schemas.openxmlformats.org/drawingml/2006/main" noGrp="1"/>
          </p:cNvSpPr>
          <p:nvPr/>
        </p:nvSpPr>
        <p:spPr>
          <a:xfrm xmlns:a="http://schemas.openxmlformats.org/drawingml/2006/main">
            <a:off x="666750" y="3143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この動画のrisk成分</a:t>
            </a:r>
          </a:p>
        </p:txBody>
      </p:sp>
      <p:sp>
        <p:nvSpPr>
          <p:cNvPr id="17" name="">
            <a:extLst xmlns:a="http://schemas.openxmlformats.org/drawingml/2006/main">
              <a:ext uri="{FF2B5EF4-FFF2-40B4-BE49-F238E27FC236}">
                <a16:creationId xmlns:a16="http://schemas.microsoft.com/office/drawing/2014/main" id="{5775261D-7487-44CB-9C7A-1F7CDA66252C}"/>
              </a:ext>
            </a:extLst>
          </p:cNvPr>
          <p:cNvSpPr>
            <a:spLocks xmlns:a="http://schemas.openxmlformats.org/drawingml/2006/main" noGrp="1"/>
          </p:cNvSpPr>
          <p:nvPr/>
        </p:nvSpPr>
        <p:spPr>
          <a:xfrm xmlns:a="http://schemas.openxmlformats.org/drawingml/2006/main">
            <a:off x="6858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q^{pre}</a:t>
            </a:r>
          </a:p>
        </p:txBody>
      </p:sp>
      <p:sp>
        <p:nvSpPr>
          <p:cNvPr id="18" name="">
            <a:extLst xmlns:a="http://schemas.openxmlformats.org/drawingml/2006/main">
              <a:ext uri="{FF2B5EF4-FFF2-40B4-BE49-F238E27FC236}">
                <a16:creationId xmlns:a16="http://schemas.microsoft.com/office/drawing/2014/main" id="{EB596C6D-D08A-4BDA-AC62-8FE482BD2F70}"/>
              </a:ext>
            </a:extLst>
          </p:cNvPr>
          <p:cNvSpPr>
            <a:spLocks xmlns:a="http://schemas.openxmlformats.org/drawingml/2006/main" noGrp="1"/>
          </p:cNvSpPr>
          <p:nvPr/>
        </p:nvSpPr>
        <p:spPr>
          <a:xfrm xmlns:a="http://schemas.openxmlformats.org/drawingml/2006/main">
            <a:off x="6858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731F8065-E6D9-4DAE-8ECC-A506425B01D2}"/>
              </a:ext>
            </a:extLst>
          </p:cNvPr>
          <p:cNvSpPr>
            <a:spLocks xmlns:a="http://schemas.openxmlformats.org/drawingml/2006/main" noGrp="1"/>
          </p:cNvSpPr>
          <p:nvPr/>
        </p:nvSpPr>
        <p:spPr>
          <a:xfrm xmlns:a="http://schemas.openxmlformats.org/drawingml/2006/main">
            <a:off x="249555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q^{post}</a:t>
            </a:r>
          </a:p>
        </p:txBody>
      </p:sp>
      <p:sp>
        <p:nvSpPr>
          <p:cNvPr id="20" name="">
            <a:extLst xmlns:a="http://schemas.openxmlformats.org/drawingml/2006/main">
              <a:ext uri="{FF2B5EF4-FFF2-40B4-BE49-F238E27FC236}">
                <a16:creationId xmlns:a16="http://schemas.microsoft.com/office/drawing/2014/main" id="{0F4AA455-7BD6-4DB9-821C-FD3E24FAA04F}"/>
              </a:ext>
            </a:extLst>
          </p:cNvPr>
          <p:cNvSpPr>
            <a:spLocks xmlns:a="http://schemas.openxmlformats.org/drawingml/2006/main" noGrp="1"/>
          </p:cNvSpPr>
          <p:nvPr/>
        </p:nvSpPr>
        <p:spPr>
          <a:xfrm xmlns:a="http://schemas.openxmlformats.org/drawingml/2006/main">
            <a:off x="249555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0.644</a:t>
            </a:r>
          </a:p>
        </p:txBody>
      </p:sp>
      <p:sp>
        <p:nvSpPr>
          <p:cNvPr id="21" name="">
            <a:extLst xmlns:a="http://schemas.openxmlformats.org/drawingml/2006/main">
              <a:ext uri="{FF2B5EF4-FFF2-40B4-BE49-F238E27FC236}">
                <a16:creationId xmlns:a16="http://schemas.microsoft.com/office/drawing/2014/main" id="{FE130872-2E19-41EF-AB48-C4DF08E91D84}"/>
              </a:ext>
            </a:extLst>
          </p:cNvPr>
          <p:cNvSpPr>
            <a:spLocks xmlns:a="http://schemas.openxmlformats.org/drawingml/2006/main" noGrp="1"/>
          </p:cNvSpPr>
          <p:nvPr/>
        </p:nvSpPr>
        <p:spPr>
          <a:xfrm xmlns:a="http://schemas.openxmlformats.org/drawingml/2006/main">
            <a:off x="4305300" y="3648075"/>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Δq</a:t>
            </a:r>
          </a:p>
        </p:txBody>
      </p:sp>
      <p:sp>
        <p:nvSpPr>
          <p:cNvPr id="22" name="">
            <a:extLst xmlns:a="http://schemas.openxmlformats.org/drawingml/2006/main">
              <a:ext uri="{FF2B5EF4-FFF2-40B4-BE49-F238E27FC236}">
                <a16:creationId xmlns:a16="http://schemas.microsoft.com/office/drawing/2014/main" id="{191BC812-21AB-4BBE-8C53-7990A915371F}"/>
              </a:ext>
            </a:extLst>
          </p:cNvPr>
          <p:cNvSpPr>
            <a:spLocks xmlns:a="http://schemas.openxmlformats.org/drawingml/2006/main" noGrp="1"/>
          </p:cNvSpPr>
          <p:nvPr/>
        </p:nvSpPr>
        <p:spPr>
          <a:xfrm xmlns:a="http://schemas.openxmlformats.org/drawingml/2006/main">
            <a:off x="4305300" y="39814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+0.295</a:t>
            </a:r>
          </a:p>
        </p:txBody>
      </p:sp>
      <p:sp>
        <p:nvSpPr>
          <p:cNvPr id="23" name="">
            <a:extLst xmlns:a="http://schemas.openxmlformats.org/drawingml/2006/main">
              <a:ext uri="{FF2B5EF4-FFF2-40B4-BE49-F238E27FC236}">
                <a16:creationId xmlns:a16="http://schemas.microsoft.com/office/drawing/2014/main" id="{8AB1D16A-05FC-4B0F-8746-0A2FD9655F2B}"/>
              </a:ext>
            </a:extLst>
          </p:cNvPr>
          <p:cNvSpPr>
            <a:spLocks xmlns:a="http://schemas.openxmlformats.org/drawingml/2006/main" noGrp="1"/>
          </p:cNvSpPr>
          <p:nvPr/>
        </p:nvSpPr>
        <p:spPr>
          <a:xfrm xmlns:a="http://schemas.openxmlformats.org/drawingml/2006/main">
            <a:off x="6477000" y="3200400"/>
            <a:ext cx="4762500" cy="1809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B2A75BF-9644-4945-9383-C648BDD0B75D}"/>
              </a:ext>
            </a:extLst>
          </p:cNvPr>
          <p:cNvSpPr>
            <a:spLocks xmlns:a="http://schemas.openxmlformats.org/drawingml/2006/main" noGrp="1"/>
          </p:cNvSpPr>
          <p:nvPr/>
        </p:nvSpPr>
        <p:spPr>
          <a:xfrm xmlns:a="http://schemas.openxmlformats.org/drawingml/2006/main">
            <a:off x="6743700" y="3429000"/>
            <a:ext cx="4229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3本のrisk動画から作ったprototype</a:t>
            </a:r>
          </a:p>
        </p:txBody>
      </p:sp>
      <p:sp>
        <p:nvSpPr>
          <p:cNvPr id="25" name="">
            <a:extLst xmlns:a="http://schemas.openxmlformats.org/drawingml/2006/main">
              <a:ext uri="{FF2B5EF4-FFF2-40B4-BE49-F238E27FC236}">
                <a16:creationId xmlns:a16="http://schemas.microsoft.com/office/drawing/2014/main" id="{EAB1D8B2-728F-4396-A279-57A23A2C094A}"/>
              </a:ext>
            </a:extLst>
          </p:cNvPr>
          <p:cNvSpPr>
            <a:spLocks xmlns:a="http://schemas.openxmlformats.org/drawingml/2006/main" noGrp="1"/>
          </p:cNvSpPr>
          <p:nvPr/>
        </p:nvSpPr>
        <p:spPr>
          <a:xfrm xmlns:a="http://schemas.openxmlformats.org/drawingml/2006/main">
            <a:off x="7000875" y="39052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μ^{post}_{k,r} のrisk成分　0.724</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Δμ_{k,r} のrisk成分　+0.238</a:t>
            </a:r>
          </a:p>
          <a:p xmlns:a="http://schemas.openxmlformats.org/drawingml/2006/main">
            <a:pPr algn="ctr">
              <a:lnSpc>
                <a:spcPct val="115000"/>
              </a:lnSpc>
              <a:buNone/>
              <a:defRPr sz="1800" b="0">
                <a:solidFill>
                  <a:srgbClr val="26373D"/>
                </a:solidFill>
                <a:latin typeface="Yu Gothic"/>
                <a:ea typeface="Yu Gothic"/>
                <a:cs typeface="Yu Gothic"/>
              </a:defRPr>
            </a:pPr>
            <a:r>
              <a:rPr sz="1800" b="0">
                <a:solidFill>
                  <a:srgbClr val="26373D"/>
                </a:solidFill>
                <a:latin typeface="Yu Gothic"/>
                <a:ea typeface="Yu Gothic"/>
                <a:cs typeface="Yu Gothic"/>
              </a:rPr>
              <a:t>π_{k,r}　3</a:t>
            </a:r>
          </a:p>
        </p:txBody>
      </p:sp>
      <p:sp>
        <p:nvSpPr>
          <p:cNvPr id="26" name="">
            <a:extLst xmlns:a="http://schemas.openxmlformats.org/drawingml/2006/main">
              <a:ext uri="{FF2B5EF4-FFF2-40B4-BE49-F238E27FC236}">
                <a16:creationId xmlns:a16="http://schemas.microsoft.com/office/drawing/2014/main" id="{95640426-5B49-4E6C-B589-D3E2A4544C03}"/>
              </a:ext>
            </a:extLst>
          </p:cNvPr>
          <p:cNvSpPr>
            <a:spLocks xmlns:a="http://schemas.openxmlformats.org/drawingml/2006/main" noGrp="1"/>
          </p:cNvSpPr>
          <p:nvPr/>
        </p:nvSpPr>
        <p:spPr>
          <a:xfrm xmlns:a="http://schemas.openxmlformats.org/drawingml/2006/main">
            <a:off x="666750" y="5334000"/>
            <a:ext cx="1057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C9D2D3"/>
            </a:solidFill>
          </a:ln>
        </p:spPr>
      </p:sp>
      <p:sp>
        <p:nvSpPr>
          <p:cNvPr id="27" name="">
            <a:extLst xmlns:a="http://schemas.openxmlformats.org/drawingml/2006/main">
              <a:ext uri="{FF2B5EF4-FFF2-40B4-BE49-F238E27FC236}">
                <a16:creationId xmlns:a16="http://schemas.microsoft.com/office/drawing/2014/main" id="{BE5A87E6-1038-4C46-A3B2-B9183CDC6A2D}"/>
              </a:ext>
            </a:extLst>
          </p:cNvPr>
          <p:cNvSpPr>
            <a:spLocks xmlns:a="http://schemas.openxmlformats.org/drawingml/2006/main" noGrp="1"/>
          </p:cNvSpPr>
          <p:nvPr/>
        </p:nvSpPr>
        <p:spPr>
          <a:xfrm xmlns:a="http://schemas.openxmlformats.org/drawingml/2006/main">
            <a:off x="904875" y="547687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26"/>
          </a:bodyPr>
          <a:lstStyle xmlns:a="http://schemas.openxmlformats.org/drawingml/2006/main"/>
          <a:p xmlns:a="http://schemas.openxmlformats.org/drawingml/2006/main">
            <a:pPr algn="ctr">
              <a:defRPr sz="1575" b="1">
                <a:solidFill>
                  <a:srgbClr val="147B78"/>
                </a:solidFill>
                <a:latin typeface="Yu Gothic"/>
                <a:ea typeface="Yu Gothic"/>
                <a:cs typeface="Yu Gothic"/>
              </a:defRPr>
            </a:pPr>
            <a:r>
              <a:rPr sz="1575" b="1">
                <a:solidFill>
                  <a:srgbClr val="147B78"/>
                </a:solidFill>
                <a:latin typeface="Yu Gothic"/>
                <a:ea typeface="Yu Gothic"/>
                <a:cs typeface="Yu Gothic"/>
              </a:rPr>
              <a:t>serverへ送るのは Q_{k,r}=(μ^{post}_{k,r}, Δμ_{k,r}, π_{k,r})。private動画、raw frame、sample IDは送らない。</a:t>
            </a:r>
          </a:p>
        </p:txBody>
      </p:sp>
    </p:spTree>
    <p:extLst>
      <p:ext uri="{BB962C8B-B14F-4D97-AF65-F5344CB8AC3E}">
        <p14:creationId xmlns:p14="http://schemas.microsoft.com/office/powerpoint/2010/main" val="110957421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80BC04F-5FF4-4610-96D0-637684CB0C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5E4A3D-550A-410C-BACA-9C723DB4AA4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4A2B3A9-62A7-4AF3-9584-B44D62DD52F7}"/>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最終出力は一致したが、変化量は再現できなかった</a:t>
            </a:r>
          </a:p>
        </p:txBody>
      </p:sp>
      <p:sp>
        <p:nvSpPr>
          <p:cNvPr id="4" name="">
            <a:extLst xmlns:a="http://schemas.openxmlformats.org/drawingml/2006/main">
              <a:ext uri="{FF2B5EF4-FFF2-40B4-BE49-F238E27FC236}">
                <a16:creationId xmlns:a16="http://schemas.microsoft.com/office/drawing/2014/main" id="{807C95A7-D362-4EA3-8EAD-FA5DA0348B3C}"/>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45C38BF6-920C-4309-A0BB-F057ADD7D657}"/>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AF67E1-A230-4104-AC5A-361115A527C4}"/>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FD6654A8-4EE9-432C-BD2F-F8F128E1A8E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10</a:t>
            </a:r>
          </a:p>
        </p:txBody>
      </p:sp>
      <p:sp>
        <p:nvSpPr>
          <p:cNvPr id="8" name="">
            <a:extLst xmlns:a="http://schemas.openxmlformats.org/drawingml/2006/main">
              <a:ext uri="{FF2B5EF4-FFF2-40B4-BE49-F238E27FC236}">
                <a16:creationId xmlns:a16="http://schemas.microsoft.com/office/drawing/2014/main" id="{1E9BF301-914D-451D-B92F-141BD6289BBA}"/>
              </a:ext>
            </a:extLst>
          </p:cNvPr>
          <p:cNvSpPr>
            <a:spLocks xmlns:a="http://schemas.openxmlformats.org/drawingml/2006/main" noGrp="1"/>
          </p:cNvSpPr>
          <p:nvPr/>
        </p:nvSpPr>
        <p:spPr>
          <a:xfrm xmlns:a="http://schemas.openxmlformats.org/drawingml/2006/main">
            <a:off x="666750" y="10477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47B78"/>
                </a:solidFill>
                <a:latin typeface="Yu Gothic"/>
                <a:ea typeface="Yu Gothic"/>
                <a:cs typeface="Yu Gothic"/>
              </a:defRPr>
            </a:pPr>
            <a:r>
              <a:rPr sz="1125" b="1">
                <a:solidFill>
                  <a:srgbClr val="147B78"/>
                </a:solidFill>
                <a:latin typeface="Yu Gothic"/>
                <a:ea typeface="Yu Gothic"/>
                <a:cs typeface="Yu Gothic"/>
              </a:rPr>
              <a:t>serverが選んだ s^*_{k,r}：normal label、変換なし</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42a9817865514971"/>
          <a:srcRect xmlns:a="http://schemas.openxmlformats.org/drawingml/2006/main" l="133" t="0" r="133" b="0"/>
          <a:stretch xmlns:a="http://schemas.openxmlformats.org/drawingml/2006/main">
            <a:fillRect l="0" t="0" r="0" b="0"/>
          </a:stretch>
        </p:blipFill>
        <p:spPr>
          <a:xfrm xmlns:a="http://schemas.openxmlformats.org/drawingml/2006/main">
            <a:off x="666750" y="1381125"/>
            <a:ext cx="2381250" cy="1343025"/>
          </a:xfrm>
          <a:prstGeom xmlns:a="http://schemas.openxmlformats.org/drawingml/2006/main" prst="rect">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ebef0e73870463e"/>
          <a:srcRect xmlns:a="http://schemas.openxmlformats.org/drawingml/2006/main" l="133" t="0" r="133" b="0"/>
          <a:stretch xmlns:a="http://schemas.openxmlformats.org/drawingml/2006/main">
            <a:fillRect l="0" t="0" r="0" b="0"/>
          </a:stretch>
        </p:blipFill>
        <p:spPr>
          <a:xfrm xmlns:a="http://schemas.openxmlformats.org/drawingml/2006/main">
            <a:off x="3333750" y="1381125"/>
            <a:ext cx="2381250" cy="13430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a67a1639312455c"/>
          <a:srcRect xmlns:a="http://schemas.openxmlformats.org/drawingml/2006/main" l="133" t="0" r="133" b="0"/>
          <a:stretch xmlns:a="http://schemas.openxmlformats.org/drawingml/2006/main">
            <a:fillRect l="0" t="0" r="0" b="0"/>
          </a:stretch>
        </p:blipFill>
        <p:spPr>
          <a:xfrm xmlns:a="http://schemas.openxmlformats.org/drawingml/2006/main">
            <a:off x="6000750" y="1381125"/>
            <a:ext cx="2381250" cy="1343025"/>
          </a:xfrm>
          <a:prstGeom xmlns:a="http://schemas.openxmlformats.org/drawingml/2006/main" prst="rect">
            <a:avLst/>
          </a:prstGeom>
        </p:spPr>
      </p:pic>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15a9703508946b3"/>
          <a:srcRect xmlns:a="http://schemas.openxmlformats.org/drawingml/2006/main" l="133" t="0" r="133" b="0"/>
          <a:stretch xmlns:a="http://schemas.openxmlformats.org/drawingml/2006/main">
            <a:fillRect l="0" t="0" r="0" b="0"/>
          </a:stretch>
        </p:blipFill>
        <p:spPr>
          <a:xfrm xmlns:a="http://schemas.openxmlformats.org/drawingml/2006/main">
            <a:off x="8667750" y="1381125"/>
            <a:ext cx="2381250" cy="13430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52A7BAF-3505-4BC0-B8A1-FE1CE45CE994}"/>
              </a:ext>
            </a:extLst>
          </p:cNvPr>
          <p:cNvSpPr>
            <a:spLocks xmlns:a="http://schemas.openxmlformats.org/drawingml/2006/main" noGrp="1"/>
          </p:cNvSpPr>
          <p:nvPr/>
        </p:nvSpPr>
        <p:spPr>
          <a:xfrm xmlns:a="http://schemas.openxmlformats.org/drawingml/2006/main">
            <a:off x="1047750"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post behavior</a:t>
            </a:r>
          </a:p>
        </p:txBody>
      </p:sp>
      <p:sp>
        <p:nvSpPr>
          <p:cNvPr id="14" name="">
            <a:extLst xmlns:a="http://schemas.openxmlformats.org/drawingml/2006/main">
              <a:ext uri="{FF2B5EF4-FFF2-40B4-BE49-F238E27FC236}">
                <a16:creationId xmlns:a16="http://schemas.microsoft.com/office/drawing/2014/main" id="{45FBBF76-1B6B-4B48-984A-047CF9DC70D8}"/>
              </a:ext>
            </a:extLst>
          </p:cNvPr>
          <p:cNvSpPr>
            <a:spLocks xmlns:a="http://schemas.openxmlformats.org/drawingml/2006/main" noGrp="1"/>
          </p:cNvSpPr>
          <p:nvPr/>
        </p:nvSpPr>
        <p:spPr>
          <a:xfrm xmlns:a="http://schemas.openxmlformats.org/drawingml/2006/main">
            <a:off x="1000125" y="359092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0.724</a:t>
            </a:r>
          </a:p>
        </p:txBody>
      </p:sp>
      <p:sp>
        <p:nvSpPr>
          <p:cNvPr id="15" name="">
            <a:extLst xmlns:a="http://schemas.openxmlformats.org/drawingml/2006/main">
              <a:ext uri="{FF2B5EF4-FFF2-40B4-BE49-F238E27FC236}">
                <a16:creationId xmlns:a16="http://schemas.microsoft.com/office/drawing/2014/main" id="{68BF9BC7-36C2-4755-8AE4-9B29CCDBB058}"/>
              </a:ext>
            </a:extLst>
          </p:cNvPr>
          <p:cNvSpPr>
            <a:spLocks xmlns:a="http://schemas.openxmlformats.org/drawingml/2006/main" noGrp="1"/>
          </p:cNvSpPr>
          <p:nvPr/>
        </p:nvSpPr>
        <p:spPr>
          <a:xfrm xmlns:a="http://schemas.openxmlformats.org/drawingml/2006/main">
            <a:off x="1000125" y="40576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147B78"/>
                </a:solidFill>
                <a:latin typeface="Yu Gothic"/>
                <a:ea typeface="Yu Gothic"/>
                <a:cs typeface="Yu Gothic"/>
              </a:defRPr>
            </a:pPr>
            <a:r>
              <a:rPr sz="2025" b="1">
                <a:solidFill>
                  <a:srgbClr val="147B78"/>
                </a:solidFill>
                <a:latin typeface="Yu Gothic"/>
                <a:ea typeface="Yu Gothic"/>
                <a:cs typeface="Yu Gothic"/>
              </a:rPr>
              <a:t>proxy 0.724</a:t>
            </a:r>
          </a:p>
        </p:txBody>
      </p:sp>
      <p:sp>
        <p:nvSpPr>
          <p:cNvPr id="16" name="">
            <a:extLst xmlns:a="http://schemas.openxmlformats.org/drawingml/2006/main">
              <a:ext uri="{FF2B5EF4-FFF2-40B4-BE49-F238E27FC236}">
                <a16:creationId xmlns:a16="http://schemas.microsoft.com/office/drawing/2014/main" id="{C48F247E-83DD-460B-8046-A55538EF146E}"/>
              </a:ext>
            </a:extLst>
          </p:cNvPr>
          <p:cNvSpPr>
            <a:spLocks xmlns:a="http://schemas.openxmlformats.org/drawingml/2006/main" noGrp="1"/>
          </p:cNvSpPr>
          <p:nvPr/>
        </p:nvSpPr>
        <p:spPr>
          <a:xfrm xmlns:a="http://schemas.openxmlformats.org/drawingml/2006/main">
            <a:off x="904875"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post KL = 8.35 × 10^-10</a:t>
            </a:r>
          </a:p>
        </p:txBody>
      </p:sp>
      <p:sp>
        <p:nvSpPr>
          <p:cNvPr id="17" name="">
            <a:extLst xmlns:a="http://schemas.openxmlformats.org/drawingml/2006/main">
              <a:ext uri="{FF2B5EF4-FFF2-40B4-BE49-F238E27FC236}">
                <a16:creationId xmlns:a16="http://schemas.microsoft.com/office/drawing/2014/main" id="{8512F538-1BF7-49A5-9A83-27D8B0E45547}"/>
              </a:ext>
            </a:extLst>
          </p:cNvPr>
          <p:cNvSpPr>
            <a:spLocks xmlns:a="http://schemas.openxmlformats.org/drawingml/2006/main" noGrp="1"/>
          </p:cNvSpPr>
          <p:nvPr/>
        </p:nvSpPr>
        <p:spPr>
          <a:xfrm xmlns:a="http://schemas.openxmlformats.org/drawingml/2006/main">
            <a:off x="4533900" y="3105150"/>
            <a:ext cx="19050" cy="195262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2EF6897-1968-4497-9C8A-0B98FBBCE589}"/>
              </a:ext>
            </a:extLst>
          </p:cNvPr>
          <p:cNvSpPr>
            <a:spLocks xmlns:a="http://schemas.openxmlformats.org/drawingml/2006/main" noGrp="1"/>
          </p:cNvSpPr>
          <p:nvPr/>
        </p:nvSpPr>
        <p:spPr>
          <a:xfrm xmlns:a="http://schemas.openxmlformats.org/drawingml/2006/main">
            <a:off x="5191125" y="3219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617078"/>
                </a:solidFill>
                <a:latin typeface="Yu Gothic"/>
                <a:ea typeface="Yu Gothic"/>
                <a:cs typeface="Yu Gothic"/>
              </a:defRPr>
            </a:pPr>
            <a:r>
              <a:rPr sz="1425" b="1">
                <a:solidFill>
                  <a:srgbClr val="617078"/>
                </a:solidFill>
                <a:latin typeface="Yu Gothic"/>
                <a:ea typeface="Yu Gothic"/>
                <a:cs typeface="Yu Gothic"/>
              </a:rPr>
              <a:t>local delta</a:t>
            </a:r>
          </a:p>
        </p:txBody>
      </p:sp>
      <p:sp>
        <p:nvSpPr>
          <p:cNvPr id="19" name="">
            <a:extLst xmlns:a="http://schemas.openxmlformats.org/drawingml/2006/main">
              <a:ext uri="{FF2B5EF4-FFF2-40B4-BE49-F238E27FC236}">
                <a16:creationId xmlns:a16="http://schemas.microsoft.com/office/drawing/2014/main" id="{C086F7B3-4293-4474-94C7-47A3B91FC070}"/>
              </a:ext>
            </a:extLst>
          </p:cNvPr>
          <p:cNvSpPr>
            <a:spLocks xmlns:a="http://schemas.openxmlformats.org/drawingml/2006/main" noGrp="1"/>
          </p:cNvSpPr>
          <p:nvPr/>
        </p:nvSpPr>
        <p:spPr>
          <a:xfrm xmlns:a="http://schemas.openxmlformats.org/drawingml/2006/main">
            <a:off x="5095875" y="3590925"/>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3B4B"/>
                </a:solidFill>
                <a:latin typeface="Yu Gothic"/>
                <a:ea typeface="Yu Gothic"/>
                <a:cs typeface="Yu Gothic"/>
              </a:defRPr>
            </a:pPr>
            <a:r>
              <a:rPr sz="2400" b="1">
                <a:solidFill>
                  <a:srgbClr val="173B4B"/>
                </a:solidFill>
                <a:latin typeface="Yu Gothic"/>
                <a:ea typeface="Yu Gothic"/>
                <a:cs typeface="Yu Gothic"/>
              </a:rPr>
              <a:t>target +0.238</a:t>
            </a:r>
          </a:p>
        </p:txBody>
      </p:sp>
      <p:sp>
        <p:nvSpPr>
          <p:cNvPr id="20" name="">
            <a:extLst xmlns:a="http://schemas.openxmlformats.org/drawingml/2006/main">
              <a:ext uri="{FF2B5EF4-FFF2-40B4-BE49-F238E27FC236}">
                <a16:creationId xmlns:a16="http://schemas.microsoft.com/office/drawing/2014/main" id="{3F6A3891-731C-464C-BBF2-D7631C158870}"/>
              </a:ext>
            </a:extLst>
          </p:cNvPr>
          <p:cNvSpPr>
            <a:spLocks xmlns:a="http://schemas.openxmlformats.org/drawingml/2006/main" noGrp="1"/>
          </p:cNvSpPr>
          <p:nvPr/>
        </p:nvSpPr>
        <p:spPr>
          <a:xfrm xmlns:a="http://schemas.openxmlformats.org/drawingml/2006/main">
            <a:off x="5095875" y="40576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a:solidFill>
                  <a:srgbClr val="B94A3A"/>
                </a:solidFill>
                <a:latin typeface="Yu Gothic"/>
                <a:ea typeface="Yu Gothic"/>
                <a:cs typeface="Yu Gothic"/>
              </a:defRPr>
            </a:pPr>
            <a:r>
              <a:rPr sz="2025" b="1">
                <a:solidFill>
                  <a:srgbClr val="B94A3A"/>
                </a:solidFill>
                <a:latin typeface="Yu Gothic"/>
                <a:ea typeface="Yu Gothic"/>
                <a:cs typeface="Yu Gothic"/>
              </a:rPr>
              <a:t>proxy +0.051</a:t>
            </a:r>
          </a:p>
        </p:txBody>
      </p:sp>
      <p:sp>
        <p:nvSpPr>
          <p:cNvPr id="21" name="">
            <a:extLst xmlns:a="http://schemas.openxmlformats.org/drawingml/2006/main">
              <a:ext uri="{FF2B5EF4-FFF2-40B4-BE49-F238E27FC236}">
                <a16:creationId xmlns:a16="http://schemas.microsoft.com/office/drawing/2014/main" id="{578DF4A9-7C63-4DAA-A8E5-B2FF643F09ED}"/>
              </a:ext>
            </a:extLst>
          </p:cNvPr>
          <p:cNvSpPr>
            <a:spLocks xmlns:a="http://schemas.openxmlformats.org/drawingml/2006/main" noGrp="1"/>
          </p:cNvSpPr>
          <p:nvPr/>
        </p:nvSpPr>
        <p:spPr>
          <a:xfrm xmlns:a="http://schemas.openxmlformats.org/drawingml/2006/main">
            <a:off x="5048250" y="4552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delta MSE = 0.0349</a:t>
            </a:r>
          </a:p>
        </p:txBody>
      </p:sp>
      <p:sp>
        <p:nvSpPr>
          <p:cNvPr id="22" name="">
            <a:extLst xmlns:a="http://schemas.openxmlformats.org/drawingml/2006/main">
              <a:ext uri="{FF2B5EF4-FFF2-40B4-BE49-F238E27FC236}">
                <a16:creationId xmlns:a16="http://schemas.microsoft.com/office/drawing/2014/main" id="{798602B5-9E35-4342-88B9-964D98A875D2}"/>
              </a:ext>
            </a:extLst>
          </p:cNvPr>
          <p:cNvSpPr>
            <a:spLocks xmlns:a="http://schemas.openxmlformats.org/drawingml/2006/main" noGrp="1"/>
          </p:cNvSpPr>
          <p:nvPr/>
        </p:nvSpPr>
        <p:spPr>
          <a:xfrm xmlns:a="http://schemas.openxmlformats.org/drawingml/2006/main">
            <a:off x="8524875" y="3124200"/>
            <a:ext cx="2714625" cy="1952625"/>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A9959B1-B87D-426E-A2CA-453F9FDC41C7}"/>
              </a:ext>
            </a:extLst>
          </p:cNvPr>
          <p:cNvSpPr>
            <a:spLocks xmlns:a="http://schemas.openxmlformats.org/drawingml/2006/main" noGrp="1"/>
          </p:cNvSpPr>
          <p:nvPr/>
        </p:nvSpPr>
        <p:spPr>
          <a:xfrm xmlns:a="http://schemas.openxmlformats.org/drawingml/2006/main">
            <a:off x="8782050" y="33147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E7833D"/>
                </a:solidFill>
                <a:latin typeface="Yu Gothic"/>
                <a:ea typeface="Yu Gothic"/>
                <a:cs typeface="Yu Gothic"/>
              </a:defRPr>
            </a:pPr>
            <a:r>
              <a:rPr sz="1575" b="1">
                <a:solidFill>
                  <a:srgbClr val="E7833D"/>
                </a:solidFill>
                <a:latin typeface="Yu Gothic"/>
                <a:ea typeface="Yu Gothic"/>
                <a:cs typeface="Yu Gothic"/>
              </a:rPr>
              <a:t>重要な診断</a:t>
            </a:r>
          </a:p>
        </p:txBody>
      </p:sp>
      <p:sp>
        <p:nvSpPr>
          <p:cNvPr id="24" name="">
            <a:extLst xmlns:a="http://schemas.openxmlformats.org/drawingml/2006/main">
              <a:ext uri="{FF2B5EF4-FFF2-40B4-BE49-F238E27FC236}">
                <a16:creationId xmlns:a16="http://schemas.microsoft.com/office/drawing/2014/main" id="{EAA837D4-5EEC-43BF-9F1F-833CE15D6379}"/>
              </a:ext>
            </a:extLst>
          </p:cNvPr>
          <p:cNvSpPr>
            <a:spLocks xmlns:a="http://schemas.openxmlformats.org/drawingml/2006/main" noGrp="1"/>
          </p:cNvSpPr>
          <p:nvPr/>
        </p:nvSpPr>
        <p:spPr>
          <a:xfrm xmlns:a="http://schemas.openxmlformats.org/drawingml/2006/main">
            <a:off x="8763000" y="3781425"/>
            <a:ext cx="2238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最終のrisk確率だけなら一致する。</a:t>
            </a:r>
          </a:p>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局所学習で動いた方向と量は、現在の候補では十分に再現できていない。</a:t>
            </a:r>
          </a:p>
        </p:txBody>
      </p:sp>
      <p:sp>
        <p:nvSpPr>
          <p:cNvPr id="25" name="">
            <a:extLst xmlns:a="http://schemas.openxmlformats.org/drawingml/2006/main">
              <a:ext uri="{FF2B5EF4-FFF2-40B4-BE49-F238E27FC236}">
                <a16:creationId xmlns:a16="http://schemas.microsoft.com/office/drawing/2014/main" id="{A07D08F3-4CDD-41E2-AEE0-DCB1E3DE7BA9}"/>
              </a:ext>
            </a:extLst>
          </p:cNvPr>
          <p:cNvSpPr>
            <a:spLocks xmlns:a="http://schemas.openxmlformats.org/drawingml/2006/main" noGrp="1"/>
          </p:cNvSpPr>
          <p:nvPr/>
        </p:nvSpPr>
        <p:spPr>
          <a:xfrm xmlns:a="http://schemas.openxmlformats.org/drawingml/2006/main">
            <a:off x="952500" y="54292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a:solidFill>
                  <a:srgbClr val="147B78"/>
                </a:solidFill>
                <a:latin typeface="Yu Gothic"/>
                <a:ea typeface="Yu Gothic"/>
                <a:cs typeface="Yu Gothic"/>
              </a:defRPr>
            </a:pPr>
            <a:r>
              <a:rPr sz="1800" b="1">
                <a:solidFill>
                  <a:srgbClr val="147B78"/>
                </a:solidFill>
                <a:latin typeface="Yu Gothic"/>
                <a:ea typeface="Yu Gothic"/>
                <a:cs typeface="Yu Gothic"/>
              </a:rPr>
              <a:t>Layer 2で評価すべき対象が、post一致だけでは足りないことを実例で確認</a:t>
            </a:r>
          </a:p>
        </p:txBody>
      </p:sp>
    </p:spTree>
    <p:extLst>
      <p:ext uri="{BB962C8B-B14F-4D97-AF65-F5344CB8AC3E}">
        <p14:creationId xmlns:p14="http://schemas.microsoft.com/office/powerpoint/2010/main" val="15544300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D77D95-BC76-46F7-962D-6A4F0CCE03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356CDD-362F-423F-B484-FE3D8CBCE8B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110FBCF-D8F9-40F4-BEAF-A9615E3F515C}"/>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round 1では、4件中1件でdeltaの方向が逆転</a:t>
            </a:r>
          </a:p>
        </p:txBody>
      </p:sp>
      <p:sp>
        <p:nvSpPr>
          <p:cNvPr id="4" name="">
            <a:extLst xmlns:a="http://schemas.openxmlformats.org/drawingml/2006/main">
              <a:ext uri="{FF2B5EF4-FFF2-40B4-BE49-F238E27FC236}">
                <a16:creationId xmlns:a16="http://schemas.microsoft.com/office/drawing/2014/main" id="{823BEB31-1FF1-4751-A491-49B2617E74F7}"/>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772264D6-8C54-4A4A-A1CB-A092A922D358}"/>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2F8F45C-7ADD-4F4A-8873-7D15058ACC2E}"/>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825D1B0-93F7-44CA-968E-9680AAE75B08}"/>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10</a:t>
            </a:r>
          </a:p>
        </p:txBody>
      </p:sp>
      <p:graphicFrame>
        <p:nvGraphicFramePr>
          <p:cNvPr id="19" name=""/>
          <p:cNvGraphicFramePr/>
          <p:nvPr/>
        </p:nvGraphicFramePr>
        <p:xfrm>
          <a:off xmlns:a="http://schemas.openxmlformats.org/drawingml/2006/main" x="857250" y="1276350"/>
          <a:ext xmlns:a="http://schemas.openxmlformats.org/drawingml/2006/main" cx="10477500" cy="2857500"/>
        </p:xfrm>
        <a:graphic xmlns:a="http://schemas.openxmlformats.org/drawingml/2006/main">
          <a:graphicData uri="http://schemas.openxmlformats.org/drawingml/2006/table">
            <a:tbl>
              <a:tblPr/>
              <a:tblGrid>
                <a:gridCol w="2762250"/>
                <a:gridCol w="2000250"/>
                <a:gridCol w="2000250"/>
                <a:gridCol w="1714500"/>
                <a:gridCol w="2000250"/>
              </a:tblGrid>
              <a:tr h="571500">
                <a:tc>
                  <a:txBody>
                    <a:bodyPr/>
                    <a:lstStyle/>
                    <a:p>
                      <a:r>
                        <a:rPr sz="1300" b="1">
                          <a:solidFill>
                            <a:srgbClr val="173B4B"/>
                          </a:solidFill>
                          <a:latin typeface="Yu Gothic"/>
                          <a:ea typeface="Yu Gothic"/>
                          <a:cs typeface="Yu Gothic"/>
                        </a:rPr>
                        <a:t>prototype</a:t>
                      </a:r>
                    </a:p>
                  </a:txBody>
                  <a:tcPr marL="91440" marR="91440" marT="45720" marB="45720"/>
                </a:tc>
                <a:tc>
                  <a:txBody>
                    <a:bodyPr/>
                    <a:lstStyle/>
                    <a:p>
                      <a:r>
                        <a:rPr sz="1300" b="1">
                          <a:solidFill>
                            <a:srgbClr val="173B4B"/>
                          </a:solidFill>
                          <a:latin typeface="Yu Gothic"/>
                          <a:ea typeface="Yu Gothic"/>
                          <a:cs typeface="Yu Gothic"/>
                        </a:rPr>
                        <a:t>target Δrisk</a:t>
                      </a:r>
                    </a:p>
                  </a:txBody>
                  <a:tcPr marL="91440" marR="91440" marT="45720" marB="45720"/>
                </a:tc>
                <a:tc>
                  <a:txBody>
                    <a:bodyPr/>
                    <a:lstStyle/>
                    <a:p>
                      <a:r>
                        <a:rPr sz="1300" b="1">
                          <a:solidFill>
                            <a:srgbClr val="173B4B"/>
                          </a:solidFill>
                          <a:latin typeface="Yu Gothic"/>
                          <a:ea typeface="Yu Gothic"/>
                          <a:cs typeface="Yu Gothic"/>
                        </a:rPr>
                        <a:t>proxy Δrisk</a:t>
                      </a:r>
                    </a:p>
                  </a:txBody>
                  <a:tcPr marL="91440" marR="91440" marT="45720" marB="45720"/>
                </a:tc>
                <a:tc>
                  <a:txBody>
                    <a:bodyPr/>
                    <a:lstStyle/>
                    <a:p>
                      <a:r>
                        <a:rPr sz="1300" b="1">
                          <a:solidFill>
                            <a:srgbClr val="173B4B"/>
                          </a:solidFill>
                          <a:latin typeface="Yu Gothic"/>
                          <a:ea typeface="Yu Gothic"/>
                          <a:cs typeface="Yu Gothic"/>
                        </a:rPr>
                        <a:t>方向</a:t>
                      </a:r>
                    </a:p>
                  </a:txBody>
                  <a:tcPr marL="91440" marR="91440" marT="45720" marB="45720"/>
                </a:tc>
                <a:tc>
                  <a:txBody>
                    <a:bodyPr/>
                    <a:lstStyle/>
                    <a:p>
                      <a:r>
                        <a:rPr sz="1300" b="1">
                          <a:solidFill>
                            <a:srgbClr val="173B4B"/>
                          </a:solidFill>
                          <a:latin typeface="Yu Gothic"/>
                          <a:ea typeface="Yu Gothic"/>
                          <a:cs typeface="Yu Gothic"/>
                        </a:rPr>
                        <a:t>seed label</a:t>
                      </a:r>
                    </a:p>
                  </a:txBody>
                  <a:tcPr marL="91440" marR="91440" marT="45720" marB="45720"/>
                </a:tc>
              </a:tr>
              <a:tr h="571500">
                <a:tc>
                  <a:txBody>
                    <a:bodyPr/>
                    <a:lstStyle/>
                    <a:p>
                      <a:r>
                        <a:rPr sz="1500" b="0">
                          <a:solidFill>
                            <a:srgbClr val="26373D"/>
                          </a:solidFill>
                          <a:latin typeface="Yu Gothic"/>
                          <a:ea typeface="Yu Gothic"/>
                          <a:cs typeface="Yu Gothic"/>
                        </a:rPr>
                        <a:t>client-0 / normal</a:t>
                      </a:r>
                    </a:p>
                  </a:txBody>
                  <a:tcPr marL="91440" marR="91440" marT="45720" marB="45720"/>
                </a:tc>
                <a:tc>
                  <a:txBody>
                    <a:bodyPr/>
                    <a:lstStyle/>
                    <a:p>
                      <a:r>
                        <a:rPr sz="1500" b="0">
                          <a:solidFill>
                            <a:srgbClr val="26373D"/>
                          </a:solidFill>
                          <a:latin typeface="Yu Gothic"/>
                          <a:ea typeface="Yu Gothic"/>
                          <a:cs typeface="Yu Gothic"/>
                        </a:rPr>
                        <a:t>+0.094</a:t>
                      </a:r>
                    </a:p>
                  </a:txBody>
                  <a:tcPr marL="91440" marR="91440" marT="45720" marB="45720"/>
                </a:tc>
                <a:tc>
                  <a:txBody>
                    <a:bodyPr/>
                    <a:lstStyle/>
                    <a:p>
                      <a:r>
                        <a:rPr sz="1500" b="0">
                          <a:solidFill>
                            <a:srgbClr val="26373D"/>
                          </a:solidFill>
                          <a:latin typeface="Yu Gothic"/>
                          <a:ea typeface="Yu Gothic"/>
                          <a:cs typeface="Yu Gothic"/>
                        </a:rPr>
                        <a:t>+0.072</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client-0 / risk</a:t>
                      </a:r>
                    </a:p>
                  </a:txBody>
                  <a:tcPr marL="91440" marR="91440" marT="45720" marB="45720"/>
                </a:tc>
                <a:tc>
                  <a:txBody>
                    <a:bodyPr/>
                    <a:lstStyle/>
                    <a:p>
                      <a:r>
                        <a:rPr sz="1500" b="0">
                          <a:solidFill>
                            <a:srgbClr val="26373D"/>
                          </a:solidFill>
                          <a:latin typeface="Yu Gothic"/>
                          <a:ea typeface="Yu Gothic"/>
                          <a:cs typeface="Yu Gothic"/>
                        </a:rPr>
                        <a:t>+0.238</a:t>
                      </a:r>
                    </a:p>
                  </a:txBody>
                  <a:tcPr marL="91440" marR="91440" marT="45720" marB="45720"/>
                </a:tc>
                <a:tc>
                  <a:txBody>
                    <a:bodyPr/>
                    <a:lstStyle/>
                    <a:p>
                      <a:r>
                        <a:rPr sz="1500" b="0">
                          <a:solidFill>
                            <a:srgbClr val="26373D"/>
                          </a:solidFill>
                          <a:latin typeface="Yu Gothic"/>
                          <a:ea typeface="Yu Gothic"/>
                          <a:cs typeface="Yu Gothic"/>
                        </a:rPr>
                        <a:t>+0.051</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r h="571500">
                <a:tc>
                  <a:txBody>
                    <a:bodyPr/>
                    <a:lstStyle/>
                    <a:p>
                      <a:r>
                        <a:rPr sz="1500" b="0">
                          <a:solidFill>
                            <a:srgbClr val="26373D"/>
                          </a:solidFill>
                          <a:latin typeface="Yu Gothic"/>
                          <a:ea typeface="Yu Gothic"/>
                          <a:cs typeface="Yu Gothic"/>
                        </a:rPr>
                        <a:t>client-1 / normal</a:t>
                      </a:r>
                    </a:p>
                  </a:txBody>
                  <a:tcPr marL="91440" marR="91440" marT="45720" marB="45720"/>
                </a:tc>
                <a:tc>
                  <a:txBody>
                    <a:bodyPr/>
                    <a:lstStyle/>
                    <a:p>
                      <a:r>
                        <a:rPr sz="1500" b="0">
                          <a:solidFill>
                            <a:srgbClr val="26373D"/>
                          </a:solidFill>
                          <a:latin typeface="Yu Gothic"/>
                          <a:ea typeface="Yu Gothic"/>
                          <a:cs typeface="Yu Gothic"/>
                        </a:rPr>
                        <a:t>−0.103</a:t>
                      </a:r>
                    </a:p>
                  </a:txBody>
                  <a:tcPr marL="91440" marR="91440" marT="45720" marB="45720"/>
                </a:tc>
                <a:tc>
                  <a:txBody>
                    <a:bodyPr>
                      <a:normAutofit/>
                    </a:bodyPr>
                    <a:lstStyle/>
                    <a:p>
                      <a:pPr algn="ctr"/>
                      <a:r>
                        <a:rPr sz="1500" b="1">
                          <a:solidFill>
                            <a:srgbClr val="B94A3A"/>
                          </a:solidFill>
                          <a:latin typeface="Yu Gothic"/>
                          <a:ea typeface="Yu Gothic"/>
                          <a:cs typeface="Yu Gothic"/>
                        </a:rPr>
                        <a:t>+0.056</a:t>
                      </a:r>
                    </a:p>
                  </a:txBody>
                  <a:tcPr marL="91440" marR="91440" marT="45720" marB="45720" anchor="ctr">
                    <a:solidFill>
                      <a:srgbClr val="F5DFDA"/>
                    </a:solidFill>
                  </a:tcPr>
                </a:tc>
                <a:tc>
                  <a:txBody>
                    <a:bodyPr>
                      <a:normAutofit/>
                    </a:bodyPr>
                    <a:lstStyle/>
                    <a:p>
                      <a:pPr algn="ctr"/>
                      <a:r>
                        <a:rPr sz="1500" b="1">
                          <a:solidFill>
                            <a:srgbClr val="B94A3A"/>
                          </a:solidFill>
                          <a:latin typeface="Yu Gothic"/>
                          <a:ea typeface="Yu Gothic"/>
                          <a:cs typeface="Yu Gothic"/>
                        </a:rPr>
                        <a:t>逆向き</a:t>
                      </a:r>
                    </a:p>
                  </a:txBody>
                  <a:tcPr marL="91440" marR="91440" marT="45720" marB="45720" anchor="ctr">
                    <a:solidFill>
                      <a:srgbClr val="F5DFDA"/>
                    </a:solidFill>
                  </a:tcPr>
                </a:tc>
                <a:tc>
                  <a:txBody>
                    <a:bodyPr/>
                    <a:lstStyle/>
                    <a:p>
                      <a:r>
                        <a:rPr sz="1500" b="0">
                          <a:solidFill>
                            <a:srgbClr val="26373D"/>
                          </a:solidFill>
                          <a:latin typeface="Yu Gothic"/>
                          <a:ea typeface="Yu Gothic"/>
                          <a:cs typeface="Yu Gothic"/>
                        </a:rPr>
                        <a:t>risk</a:t>
                      </a:r>
                    </a:p>
                  </a:txBody>
                  <a:tcPr marL="91440" marR="91440" marT="45720" marB="45720"/>
                </a:tc>
              </a:tr>
              <a:tr h="571500">
                <a:tc>
                  <a:txBody>
                    <a:bodyPr/>
                    <a:lstStyle/>
                    <a:p>
                      <a:r>
                        <a:rPr sz="1500" b="0">
                          <a:solidFill>
                            <a:srgbClr val="26373D"/>
                          </a:solidFill>
                          <a:latin typeface="Yu Gothic"/>
                          <a:ea typeface="Yu Gothic"/>
                          <a:cs typeface="Yu Gothic"/>
                        </a:rPr>
                        <a:t>client-1 / risk</a:t>
                      </a:r>
                    </a:p>
                  </a:txBody>
                  <a:tcPr marL="91440" marR="91440" marT="45720" marB="45720"/>
                </a:tc>
                <a:tc>
                  <a:txBody>
                    <a:bodyPr/>
                    <a:lstStyle/>
                    <a:p>
                      <a:r>
                        <a:rPr sz="1500" b="0">
                          <a:solidFill>
                            <a:srgbClr val="26373D"/>
                          </a:solidFill>
                          <a:latin typeface="Yu Gothic"/>
                          <a:ea typeface="Yu Gothic"/>
                          <a:cs typeface="Yu Gothic"/>
                        </a:rPr>
                        <a:t>+0.005</a:t>
                      </a:r>
                    </a:p>
                  </a:txBody>
                  <a:tcPr marL="91440" marR="91440" marT="45720" marB="45720"/>
                </a:tc>
                <a:tc>
                  <a:txBody>
                    <a:bodyPr/>
                    <a:lstStyle/>
                    <a:p>
                      <a:r>
                        <a:rPr sz="1500" b="0">
                          <a:solidFill>
                            <a:srgbClr val="26373D"/>
                          </a:solidFill>
                          <a:latin typeface="Yu Gothic"/>
                          <a:ea typeface="Yu Gothic"/>
                          <a:cs typeface="Yu Gothic"/>
                        </a:rPr>
                        <a:t>+0.010</a:t>
                      </a:r>
                    </a:p>
                  </a:txBody>
                  <a:tcPr marL="91440" marR="91440" marT="45720" marB="45720"/>
                </a:tc>
                <a:tc>
                  <a:txBody>
                    <a:bodyPr/>
                    <a:lstStyle/>
                    <a:p>
                      <a:r>
                        <a:rPr sz="1500" b="0">
                          <a:solidFill>
                            <a:srgbClr val="26373D"/>
                          </a:solidFill>
                          <a:latin typeface="Yu Gothic"/>
                          <a:ea typeface="Yu Gothic"/>
                          <a:cs typeface="Yu Gothic"/>
                        </a:rPr>
                        <a:t>一致</a:t>
                      </a:r>
                    </a:p>
                  </a:txBody>
                  <a:tcPr marL="91440" marR="91440" marT="45720" marB="45720"/>
                </a:tc>
                <a:tc>
                  <a:txBody>
                    <a:bodyPr/>
                    <a:lstStyle/>
                    <a:p>
                      <a:r>
                        <a:rPr sz="1500" b="0">
                          <a:solidFill>
                            <a:srgbClr val="26373D"/>
                          </a:solidFill>
                          <a:latin typeface="Yu Gothic"/>
                          <a:ea typeface="Yu Gothic"/>
                          <a:cs typeface="Yu Gothic"/>
                        </a:rPr>
                        <a:t>normal</a:t>
                      </a:r>
                    </a:p>
                  </a:txBody>
                  <a:tcPr marL="91440" marR="91440" marT="45720" marB="45720"/>
                </a:tc>
              </a:tr>
            </a:tbl>
          </a:graphicData>
        </a:graphic>
      </p:graphicFrame>
      <p:sp>
        <p:nvSpPr>
          <p:cNvPr id="9" name="">
            <a:extLst xmlns:a="http://schemas.openxmlformats.org/drawingml/2006/main">
              <a:ext uri="{FF2B5EF4-FFF2-40B4-BE49-F238E27FC236}">
                <a16:creationId xmlns:a16="http://schemas.microsoft.com/office/drawing/2014/main" id="{719A3571-2BF0-4830-B6E9-E657CF0A2BB8}"/>
              </a:ext>
            </a:extLst>
          </p:cNvPr>
          <p:cNvSpPr>
            <a:spLocks xmlns:a="http://schemas.openxmlformats.org/drawingml/2006/main" noGrp="1"/>
          </p:cNvSpPr>
          <p:nvPr/>
        </p:nvSpPr>
        <p:spPr>
          <a:xfrm xmlns:a="http://schemas.openxmlformats.org/drawingml/2006/main">
            <a:off x="857250" y="4476750"/>
            <a:ext cx="10477500" cy="6858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62E4C06-8682-47BE-8D1E-BAAC48E074F1}"/>
              </a:ext>
            </a:extLst>
          </p:cNvPr>
          <p:cNvSpPr>
            <a:spLocks xmlns:a="http://schemas.openxmlformats.org/drawingml/2006/main" noGrp="1"/>
          </p:cNvSpPr>
          <p:nvPr/>
        </p:nvSpPr>
        <p:spPr>
          <a:xfrm xmlns:a="http://schemas.openxmlformats.org/drawingml/2006/main">
            <a:off x="1066800" y="4638675"/>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prototype class と seed label はround 1で4件すべて不一致。round 2・3では各3件が一致したため、1 roundの結果を一般化しない。</a:t>
            </a:r>
          </a:p>
        </p:txBody>
      </p:sp>
      <p:sp>
        <p:nvSpPr>
          <p:cNvPr id="11" name="">
            <a:extLst xmlns:a="http://schemas.openxmlformats.org/drawingml/2006/main">
              <a:ext uri="{FF2B5EF4-FFF2-40B4-BE49-F238E27FC236}">
                <a16:creationId xmlns:a16="http://schemas.microsoft.com/office/drawing/2014/main" id="{4209FD11-C721-4D87-9CEB-6D581A06E55B}"/>
              </a:ext>
            </a:extLst>
          </p:cNvPr>
          <p:cNvSpPr>
            <a:spLocks xmlns:a="http://schemas.openxmlformats.org/drawingml/2006/main" noGrp="1"/>
          </p:cNvSpPr>
          <p:nvPr/>
        </p:nvSpPr>
        <p:spPr>
          <a:xfrm xmlns:a="http://schemas.openxmlformats.org/drawingml/2006/main">
            <a:off x="1000125" y="5429250"/>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defRPr sz="1650" b="1">
                <a:solidFill>
                  <a:srgbClr val="E7833D"/>
                </a:solidFill>
                <a:latin typeface="Yu Gothic"/>
                <a:ea typeface="Yu Gothic"/>
                <a:cs typeface="Yu Gothic"/>
              </a:defRPr>
            </a:pPr>
            <a:r>
              <a:rPr sz="1650" b="1">
                <a:solidFill>
                  <a:srgbClr val="E7833D"/>
                </a:solidFill>
                <a:latin typeface="Yu Gothic"/>
                <a:ea typeface="Yu Gothic"/>
                <a:cs typeface="Yu Gothic"/>
              </a:rPr>
              <a:t>原因はまだ一つに決められない。60 seedのlabelとmodel argmaxの一致は43件で、model誤分類と検索挙動が混在している。</a:t>
            </a:r>
          </a:p>
        </p:txBody>
      </p:sp>
    </p:spTree>
    <p:extLst>
      <p:ext uri="{BB962C8B-B14F-4D97-AF65-F5344CB8AC3E}">
        <p14:creationId xmlns:p14="http://schemas.microsoft.com/office/powerpoint/2010/main" val="11507777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755CDF4-8573-4517-B13B-9937EE6A8E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199610-21A8-435E-9A9D-EE396E248C2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73BD0C-A1D3-4192-8886-83D579106F4F}"/>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3 roundの状態継承は確認、Layer 3に診断点が残った</a:t>
            </a:r>
          </a:p>
        </p:txBody>
      </p:sp>
      <p:sp>
        <p:nvSpPr>
          <p:cNvPr id="4" name="">
            <a:extLst xmlns:a="http://schemas.openxmlformats.org/drawingml/2006/main">
              <a:ext uri="{FF2B5EF4-FFF2-40B4-BE49-F238E27FC236}">
                <a16:creationId xmlns:a16="http://schemas.microsoft.com/office/drawing/2014/main" id="{309164F0-4196-4590-92EE-68E3E19A6AA4}"/>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7ED9419E-C609-48FF-BF96-D7FC736AE76A}"/>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B3B2B4-B263-415D-8C4C-FB5DC4767CE9}"/>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504EA8B-FE65-4F38-B40E-1E6D3886D61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10</a:t>
            </a:r>
          </a:p>
        </p:txBody>
      </p:sp>
      <p:graphicFrame>
        <p:nvGraphicFramePr>
          <p:cNvPr id="24" name=""/>
          <p:cNvGraphicFramePr/>
          <p:nvPr/>
        </p:nvGraphicFramePr>
        <p:xfrm>
          <a:off xmlns:a="http://schemas.openxmlformats.org/drawingml/2006/main" x="523875" y="1276350"/>
          <a:ext xmlns:a="http://schemas.openxmlformats.org/drawingml/2006/main" cx="11144250" cy="2428875"/>
        </p:xfrm>
        <a:graphic xmlns:a="http://schemas.openxmlformats.org/drawingml/2006/main">
          <a:graphicData uri="http://schemas.openxmlformats.org/drawingml/2006/table">
            <a:tbl>
              <a:tblPr/>
              <a:tblGrid>
                <a:gridCol w="857250"/>
                <a:gridCol w="1285875"/>
                <a:gridCol w="1285875"/>
                <a:gridCol w="2428875"/>
                <a:gridCol w="2095500"/>
                <a:gridCol w="3190875"/>
              </a:tblGrid>
              <a:tr h="607219">
                <a:tc>
                  <a:txBody>
                    <a:bodyPr/>
                    <a:lstStyle/>
                    <a:p>
                      <a:r>
                        <a:rPr sz="1200" b="1">
                          <a:solidFill>
                            <a:srgbClr val="173B4B"/>
                          </a:solidFill>
                          <a:latin typeface="Yu Gothic"/>
                          <a:ea typeface="Yu Gothic"/>
                          <a:cs typeface="Yu Gothic"/>
                        </a:rPr>
                        <a:t>round</a:t>
                      </a:r>
                    </a:p>
                  </a:txBody>
                  <a:tcPr marL="91440" marR="91440" marT="45720" marB="45720"/>
                </a:tc>
                <a:tc>
                  <a:txBody>
                    <a:bodyPr/>
                    <a:lstStyle/>
                    <a:p>
                      <a:r>
                        <a:rPr sz="1200" b="1">
                          <a:solidFill>
                            <a:srgbClr val="173B4B"/>
                          </a:solidFill>
                          <a:latin typeface="Yu Gothic"/>
                          <a:ea typeface="Yu Gothic"/>
                          <a:cs typeface="Yu Gothic"/>
                        </a:rPr>
                        <a:t>入力 M_G</a:t>
                      </a:r>
                    </a:p>
                  </a:txBody>
                  <a:tcPr marL="91440" marR="91440" marT="45720" marB="45720"/>
                </a:tc>
                <a:tc>
                  <a:txBody>
                    <a:bodyPr/>
                    <a:lstStyle/>
                    <a:p>
                      <a:r>
                        <a:rPr sz="1200" b="1">
                          <a:solidFill>
                            <a:srgbClr val="173B4B"/>
                          </a:solidFill>
                          <a:latin typeface="Yu Gothic"/>
                          <a:ea typeface="Yu Gothic"/>
                          <a:cs typeface="Yu Gothic"/>
                        </a:rPr>
                        <a:t>出力 M_G</a:t>
                      </a:r>
                    </a:p>
                  </a:txBody>
                  <a:tcPr marL="91440" marR="91440" marT="45720" marB="45720"/>
                </a:tc>
                <a:tc>
                  <a:txBody>
                    <a:bodyPr/>
                    <a:lstStyle/>
                    <a:p>
                      <a:r>
                        <a:rPr sz="1200" b="1">
                          <a:solidFill>
                            <a:srgbClr val="173B4B"/>
                          </a:solidFill>
                          <a:latin typeface="Yu Gothic"/>
                          <a:ea typeface="Yu Gothic"/>
                          <a:cs typeface="Yu Gothic"/>
                        </a:rPr>
                        <a:t>client LoRA update norm</a:t>
                      </a:r>
                    </a:p>
                  </a:txBody>
                  <a:tcPr marL="91440" marR="91440" marT="45720" marB="45720"/>
                </a:tc>
                <a:tc>
                  <a:txBody>
                    <a:bodyPr/>
                    <a:lstStyle/>
                    <a:p>
                      <a:r>
                        <a:rPr sz="1200" b="1">
                          <a:solidFill>
                            <a:srgbClr val="173B4B"/>
                          </a:solidFill>
                          <a:latin typeface="Yu Gothic"/>
                          <a:ea typeface="Yu Gothic"/>
                          <a:cs typeface="Yu Gothic"/>
                        </a:rPr>
                        <a:t>FedAvg再計算差</a:t>
                      </a:r>
                    </a:p>
                  </a:txBody>
                  <a:tcPr marL="91440" marR="91440" marT="45720" marB="45720"/>
                </a:tc>
                <a:tc>
                  <a:txBody>
                    <a:bodyPr/>
                    <a:lstStyle/>
                    <a:p>
                      <a:r>
                        <a:rPr sz="1200" b="1">
                          <a:solidFill>
                            <a:srgbClr val="173B4B"/>
                          </a:solidFill>
                          <a:latin typeface="Yu Gothic"/>
                          <a:ea typeface="Yu Gothic"/>
                          <a:cs typeface="Yu Gothic"/>
                        </a:rPr>
                        <a:t>各roundの4 pair上の加重KL</a:t>
                      </a:r>
                    </a:p>
                  </a:txBody>
                  <a:tcPr marL="91440" marR="91440" marT="45720" marB="45720"/>
                </a:tc>
              </a:tr>
              <a:tr h="607219">
                <a:tc>
                  <a:txBody>
                    <a:bodyPr/>
                    <a:lstStyle/>
                    <a:p>
                      <a:r>
                        <a:rPr sz="1350" b="0">
                          <a:solidFill>
                            <a:srgbClr val="26373D"/>
                          </a:solidFill>
                          <a:latin typeface="Yu Gothic"/>
                          <a:ea typeface="Yu Gothic"/>
                          <a:cs typeface="Yu Gothic"/>
                        </a:rPr>
                        <a:t>1</a:t>
                      </a:r>
                    </a:p>
                  </a:txBody>
                  <a:tcPr marL="91440" marR="91440" marT="45720" marB="45720"/>
                </a:tc>
                <a:tc>
                  <a:txBody>
                    <a:bodyPr/>
                    <a:lstStyle/>
                    <a:p>
                      <a:r>
                        <a:rPr sz="1350" b="0">
                          <a:solidFill>
                            <a:srgbClr val="26373D"/>
                          </a:solidFill>
                          <a:latin typeface="Yu Gothic"/>
                          <a:ea typeface="Yu Gothic"/>
                          <a:cs typeface="Yu Gothic"/>
                        </a:rPr>
                        <a:t>M_G^0</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0.346 / 0.292</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0.0540 から 0.0534</a:t>
                      </a:r>
                    </a:p>
                  </a:txBody>
                  <a:tcPr marL="91440" marR="91440" marT="45720" marB="45720"/>
                </a:tc>
              </a:tr>
              <a:tr h="607219">
                <a:tc>
                  <a:txBody>
                    <a:bodyPr/>
                    <a:lstStyle/>
                    <a:p>
                      <a:r>
                        <a:rPr sz="1350" b="0">
                          <a:solidFill>
                            <a:srgbClr val="26373D"/>
                          </a:solidFill>
                          <a:latin typeface="Yu Gothic"/>
                          <a:ea typeface="Yu Gothic"/>
                          <a:cs typeface="Yu Gothic"/>
                        </a:rPr>
                        <a:t>2</a:t>
                      </a:r>
                    </a:p>
                  </a:txBody>
                  <a:tcPr marL="91440" marR="91440" marT="45720" marB="45720"/>
                </a:tc>
                <a:tc>
                  <a:txBody>
                    <a:bodyPr/>
                    <a:lstStyle/>
                    <a:p>
                      <a:r>
                        <a:rPr sz="1350" b="0">
                          <a:solidFill>
                            <a:srgbClr val="26373D"/>
                          </a:solidFill>
                          <a:latin typeface="Yu Gothic"/>
                          <a:ea typeface="Yu Gothic"/>
                          <a:cs typeface="Yu Gothic"/>
                        </a:rPr>
                        <a:t>M_G^1</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0.323 / 0.280</a:t>
                      </a:r>
                    </a:p>
                  </a:txBody>
                  <a:tcPr marL="91440" marR="91440" marT="45720" marB="45720"/>
                </a:tc>
                <a:tc>
                  <a:txBody>
                    <a:bodyPr/>
                    <a:lstStyle/>
                    <a:p>
                      <a:r>
                        <a:rPr sz="1350" b="0">
                          <a:solidFill>
                            <a:srgbClr val="26373D"/>
                          </a:solidFill>
                          <a:latin typeface="Yu Gothic"/>
                          <a:ea typeface="Yu Gothic"/>
                          <a:cs typeface="Yu Gothic"/>
                        </a:rPr>
                        <a:t>5.82 × 10^-11</a:t>
                      </a:r>
                    </a:p>
                  </a:txBody>
                  <a:tcPr marL="91440" marR="91440" marT="45720" marB="45720"/>
                </a:tc>
                <a:tc>
                  <a:txBody>
                    <a:bodyPr/>
                    <a:lstStyle/>
                    <a:p>
                      <a:r>
                        <a:rPr sz="1350" b="0">
                          <a:solidFill>
                            <a:srgbClr val="26373D"/>
                          </a:solidFill>
                          <a:latin typeface="Yu Gothic"/>
                          <a:ea typeface="Yu Gothic"/>
                          <a:cs typeface="Yu Gothic"/>
                        </a:rPr>
                        <a:t>18.478 から 18.339</a:t>
                      </a:r>
                    </a:p>
                  </a:txBody>
                  <a:tcPr marL="91440" marR="91440" marT="45720" marB="45720"/>
                </a:tc>
              </a:tr>
              <a:tr h="607219">
                <a:tc>
                  <a:txBody>
                    <a:bodyPr/>
                    <a:lstStyle/>
                    <a:p>
                      <a:r>
                        <a:rPr sz="1350" b="0">
                          <a:solidFill>
                            <a:srgbClr val="26373D"/>
                          </a:solidFill>
                          <a:latin typeface="Yu Gothic"/>
                          <a:ea typeface="Yu Gothic"/>
                          <a:cs typeface="Yu Gothic"/>
                        </a:rPr>
                        <a:t>3</a:t>
                      </a:r>
                    </a:p>
                  </a:txBody>
                  <a:tcPr marL="91440" marR="91440" marT="45720" marB="45720"/>
                </a:tc>
                <a:tc>
                  <a:txBody>
                    <a:bodyPr/>
                    <a:lstStyle/>
                    <a:p>
                      <a:r>
                        <a:rPr sz="1350" b="0">
                          <a:solidFill>
                            <a:srgbClr val="26373D"/>
                          </a:solidFill>
                          <a:latin typeface="Yu Gothic"/>
                          <a:ea typeface="Yu Gothic"/>
                          <a:cs typeface="Yu Gothic"/>
                        </a:rPr>
                        <a:t>M_G^2</a:t>
                      </a:r>
                    </a:p>
                  </a:txBody>
                  <a:tcPr marL="91440" marR="91440" marT="45720" marB="45720"/>
                </a:tc>
                <a:tc>
                  <a:txBody>
                    <a:bodyPr/>
                    <a:lstStyle/>
                    <a:p>
                      <a:r>
                        <a:rPr sz="1350" b="0">
                          <a:solidFill>
                            <a:srgbClr val="26373D"/>
                          </a:solidFill>
                          <a:latin typeface="Yu Gothic"/>
                          <a:ea typeface="Yu Gothic"/>
                          <a:cs typeface="Yu Gothic"/>
                        </a:rPr>
                        <a:t>M_G^3</a:t>
                      </a:r>
                    </a:p>
                  </a:txBody>
                  <a:tcPr marL="91440" marR="91440" marT="45720" marB="45720"/>
                </a:tc>
                <a:tc>
                  <a:txBody>
                    <a:bodyPr/>
                    <a:lstStyle/>
                    <a:p>
                      <a:r>
                        <a:rPr sz="1350" b="0">
                          <a:solidFill>
                            <a:srgbClr val="26373D"/>
                          </a:solidFill>
                          <a:latin typeface="Yu Gothic"/>
                          <a:ea typeface="Yu Gothic"/>
                          <a:cs typeface="Yu Gothic"/>
                        </a:rPr>
                        <a:t>0.320 / 0.280</a:t>
                      </a:r>
                    </a:p>
                  </a:txBody>
                  <a:tcPr marL="91440" marR="91440" marT="45720" marB="45720"/>
                </a:tc>
                <a:tc>
                  <a:txBody>
                    <a:bodyPr/>
                    <a:lstStyle/>
                    <a:p>
                      <a:r>
                        <a:rPr sz="1350" b="0">
                          <a:solidFill>
                            <a:srgbClr val="26373D"/>
                          </a:solidFill>
                          <a:latin typeface="Yu Gothic"/>
                          <a:ea typeface="Yu Gothic"/>
                          <a:cs typeface="Yu Gothic"/>
                        </a:rPr>
                        <a:t>1.16 × 10^-10</a:t>
                      </a:r>
                    </a:p>
                  </a:txBody>
                  <a:tcPr marL="91440" marR="91440" marT="45720" marB="45720"/>
                </a:tc>
                <a:tc>
                  <a:txBody>
                    <a:bodyPr>
                      <a:normAutofit/>
                    </a:bodyPr>
                    <a:lstStyle/>
                    <a:p>
                      <a:pPr algn="ctr"/>
                      <a:r>
                        <a:rPr sz="1350" b="1">
                          <a:solidFill>
                            <a:srgbClr val="B94A3A"/>
                          </a:solidFill>
                          <a:latin typeface="Yu Gothic"/>
                          <a:ea typeface="Yu Gothic"/>
                          <a:cs typeface="Yu Gothic"/>
                        </a:rPr>
                        <a:t>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93072D4B-CE49-4572-AAB5-ABF2DD640A0C}"/>
              </a:ext>
            </a:extLst>
          </p:cNvPr>
          <p:cNvSpPr>
            <a:spLocks xmlns:a="http://schemas.openxmlformats.org/drawingml/2006/main" noGrp="1"/>
          </p:cNvSpPr>
          <p:nvPr/>
        </p:nvSpPr>
        <p:spPr>
          <a:xfrm xmlns:a="http://schemas.openxmlformats.org/drawingml/2006/main">
            <a:off x="1143000" y="37909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各roundでpairが異なるため、KLをround間の性能trendとして比較しない</a:t>
            </a:r>
          </a:p>
        </p:txBody>
      </p:sp>
      <p:sp>
        <p:nvSpPr>
          <p:cNvPr id="10" name="">
            <a:extLst xmlns:a="http://schemas.openxmlformats.org/drawingml/2006/main">
              <a:ext uri="{FF2B5EF4-FFF2-40B4-BE49-F238E27FC236}">
                <a16:creationId xmlns:a16="http://schemas.microsoft.com/office/drawing/2014/main" id="{EEF1234F-A01E-4F89-82FA-93C5B93D8512}"/>
              </a:ext>
            </a:extLst>
          </p:cNvPr>
          <p:cNvSpPr>
            <a:spLocks xmlns:a="http://schemas.openxmlformats.org/drawingml/2006/main" noGrp="1"/>
          </p:cNvSpPr>
          <p:nvPr/>
        </p:nvSpPr>
        <p:spPr>
          <a:xfrm xmlns:a="http://schemas.openxmlformats.org/drawingml/2006/main">
            <a:off x="666750" y="4095750"/>
            <a:ext cx="5000625" cy="13525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1F563E-6B6E-4539-9022-16F3A2219022}"/>
              </a:ext>
            </a:extLst>
          </p:cNvPr>
          <p:cNvSpPr>
            <a:spLocks xmlns:a="http://schemas.openxmlformats.org/drawingml/2006/main" noGrp="1"/>
          </p:cNvSpPr>
          <p:nvPr/>
        </p:nvSpPr>
        <p:spPr>
          <a:xfrm xmlns:a="http://schemas.openxmlformats.org/drawingml/2006/main">
            <a:off x="914400" y="42862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7CE389EB-9B46-4FE1-894D-9933F74D4875}"/>
              </a:ext>
            </a:extLst>
          </p:cNvPr>
          <p:cNvSpPr>
            <a:spLocks xmlns:a="http://schemas.openxmlformats.org/drawingml/2006/main" noGrp="1"/>
          </p:cNvSpPr>
          <p:nvPr/>
        </p:nvSpPr>
        <p:spPr>
          <a:xfrm xmlns:a="http://schemas.openxmlformats.org/drawingml/2006/main">
            <a:off x="914400" y="4686300"/>
            <a:ext cx="442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M_G^0 から M_G^3まで更新し、round間のcheckpointとtensor digestが一致。各client更新とFedAvgを再計算できた。</a:t>
            </a:r>
          </a:p>
        </p:txBody>
      </p:sp>
      <p:sp>
        <p:nvSpPr>
          <p:cNvPr id="13" name="">
            <a:extLst xmlns:a="http://schemas.openxmlformats.org/drawingml/2006/main">
              <a:ext uri="{FF2B5EF4-FFF2-40B4-BE49-F238E27FC236}">
                <a16:creationId xmlns:a16="http://schemas.microsoft.com/office/drawing/2014/main" id="{D394A2B8-4262-4F08-9D7D-E95C1DD032CF}"/>
              </a:ext>
            </a:extLst>
          </p:cNvPr>
          <p:cNvSpPr>
            <a:spLocks xmlns:a="http://schemas.openxmlformats.org/drawingml/2006/main" noGrp="1"/>
          </p:cNvSpPr>
          <p:nvPr/>
        </p:nvSpPr>
        <p:spPr>
          <a:xfrm xmlns:a="http://schemas.openxmlformats.org/drawingml/2006/main">
            <a:off x="5953125" y="4095750"/>
            <a:ext cx="5572125" cy="1352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99AB5D9-F941-4C67-9541-7F8030CFE690}"/>
              </a:ext>
            </a:extLst>
          </p:cNvPr>
          <p:cNvSpPr>
            <a:spLocks xmlns:a="http://schemas.openxmlformats.org/drawingml/2006/main" noGrp="1"/>
          </p:cNvSpPr>
          <p:nvPr/>
        </p:nvSpPr>
        <p:spPr>
          <a:xfrm xmlns:a="http://schemas.openxmlformats.org/drawingml/2006/main">
            <a:off x="6210300" y="42862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残った問題</a:t>
            </a:r>
          </a:p>
        </p:txBody>
      </p:sp>
      <p:sp>
        <p:nvSpPr>
          <p:cNvPr id="15" name="">
            <a:extLst xmlns:a="http://schemas.openxmlformats.org/drawingml/2006/main">
              <a:ext uri="{FF2B5EF4-FFF2-40B4-BE49-F238E27FC236}">
                <a16:creationId xmlns:a16="http://schemas.microsoft.com/office/drawing/2014/main" id="{0EFB1262-6D86-4ABA-9FCD-E0F0E5F208A9}"/>
              </a:ext>
            </a:extLst>
          </p:cNvPr>
          <p:cNvSpPr>
            <a:spLocks xmlns:a="http://schemas.openxmlformats.org/drawingml/2006/main" noGrp="1"/>
          </p:cNvSpPr>
          <p:nvPr/>
        </p:nvSpPr>
        <p:spPr>
          <a:xfrm xmlns:a="http://schemas.openxmlformats.org/drawingml/2006/main">
            <a:off x="6210300" y="4686300"/>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2011"/>
          </a:bodyPr>
          <a:lstStyle xmlns:a="http://schemas.openxmlformats.org/drawingml/2006/main"/>
          <a:p xmlns:a="http://schemas.openxmlformats.org/drawingml/2006/main">
            <a:pPr algn="l">
              <a:defRPr sz="1575" b="0">
                <a:solidFill>
                  <a:srgbClr val="26373D"/>
                </a:solidFill>
                <a:latin typeface="Yu Gothic"/>
                <a:ea typeface="Yu Gothic"/>
                <a:cs typeface="Yu Gothic"/>
              </a:defRPr>
            </a:pPr>
            <a:r>
              <a:rPr sz="1575" b="0">
                <a:solidFill>
                  <a:srgbClr val="26373D"/>
                </a:solidFill>
                <a:latin typeface="Yu Gothic"/>
                <a:ea typeface="Yu Gothic"/>
                <a:cs typeface="Yu Gothic"/>
              </a:rPr>
              <a:t>加重KLを減らす条件をround 3で満たせず、実行確認として更新した。処理は動いたが、安定したfoundation更新とは言えない。</a:t>
            </a:r>
          </a:p>
        </p:txBody>
      </p:sp>
      <p:sp>
        <p:nvSpPr>
          <p:cNvPr id="16" name="">
            <a:extLst xmlns:a="http://schemas.openxmlformats.org/drawingml/2006/main">
              <a:ext uri="{FF2B5EF4-FFF2-40B4-BE49-F238E27FC236}">
                <a16:creationId xmlns:a16="http://schemas.microsoft.com/office/drawing/2014/main" id="{18AC3883-5A7A-4167-AD2F-4B6D3A42BA2B}"/>
              </a:ext>
            </a:extLst>
          </p:cNvPr>
          <p:cNvSpPr>
            <a:spLocks xmlns:a="http://schemas.openxmlformats.org/drawingml/2006/main" noGrp="1"/>
          </p:cNvSpPr>
          <p:nvPr/>
        </p:nvSpPr>
        <p:spPr>
          <a:xfrm xmlns:a="http://schemas.openxmlformats.org/drawingml/2006/main">
            <a:off x="952500" y="5848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この結果から性能向上、proxy品質、未知データへの転移、形式的privacy保証は主張しない</a:t>
            </a:r>
          </a:p>
        </p:txBody>
      </p:sp>
    </p:spTree>
    <p:extLst>
      <p:ext uri="{BB962C8B-B14F-4D97-AF65-F5344CB8AC3E}">
        <p14:creationId xmlns:p14="http://schemas.microsoft.com/office/powerpoint/2010/main" val="42890445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BC98101-95B7-4227-A98A-F4CF2955E7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CAD819-671B-4498-BEAD-3466F8D3B13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B84C5E-5765-44E5-98AB-408AE4EA263E}"/>
              </a:ext>
            </a:extLst>
          </p:cNvPr>
          <p:cNvSpPr>
            <a:spLocks xmlns:a="http://schemas.openxmlformats.org/drawingml/2006/main" noGrp="1"/>
          </p:cNvSpPr>
          <p:nvPr/>
        </p:nvSpPr>
        <p:spPr>
          <a:xfrm xmlns:a="http://schemas.openxmlformats.org/drawingml/2006/main">
            <a:off x="590550" y="323850"/>
            <a:ext cx="1071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000" b="1">
                <a:solidFill>
                  <a:srgbClr val="173B4B"/>
                </a:solidFill>
                <a:latin typeface="Yu Gothic"/>
                <a:ea typeface="Yu Gothic"/>
                <a:cs typeface="Yu Gothic"/>
              </a:defRPr>
            </a:pPr>
            <a:r>
              <a:rPr sz="3000" b="1">
                <a:solidFill>
                  <a:srgbClr val="173B4B"/>
                </a:solidFill>
                <a:latin typeface="Yu Gothic"/>
                <a:ea typeface="Yu Gothic"/>
                <a:cs typeface="Yu Gothic"/>
              </a:rPr>
              <a:t>今後：5 roundの前に、失敗箇所を切り分ける</a:t>
            </a:r>
          </a:p>
        </p:txBody>
      </p:sp>
      <p:sp>
        <p:nvSpPr>
          <p:cNvPr id="4" name="">
            <a:extLst xmlns:a="http://schemas.openxmlformats.org/drawingml/2006/main">
              <a:ext uri="{FF2B5EF4-FFF2-40B4-BE49-F238E27FC236}">
                <a16:creationId xmlns:a16="http://schemas.microsoft.com/office/drawing/2014/main" id="{7DCC98E6-2DA0-41CE-920B-D3F3DC7AED7D}"/>
              </a:ext>
            </a:extLst>
          </p:cNvPr>
          <p:cNvSpPr>
            <a:spLocks xmlns:a="http://schemas.openxmlformats.org/drawingml/2006/main" noGrp="1"/>
          </p:cNvSpPr>
          <p:nvPr/>
        </p:nvSpPr>
        <p:spPr>
          <a:xfrm xmlns:a="http://schemas.openxmlformats.org/drawingml/2006/main">
            <a:off x="11334750" y="43815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9E2A62AF-FEE4-4DA5-8FDC-1FE3D743DAE4}"/>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E9B88FD-B5A3-4B33-B0A6-ADE2C6E62923}"/>
              </a:ext>
            </a:extLst>
          </p:cNvPr>
          <p:cNvSpPr>
            <a:spLocks xmlns:a="http://schemas.openxmlformats.org/drawingml/2006/main" noGrp="1"/>
          </p:cNvSpPr>
          <p:nvPr/>
        </p:nvSpPr>
        <p:spPr>
          <a:xfrm xmlns:a="http://schemas.openxmlformats.org/drawingml/2006/main">
            <a:off x="495300" y="6543675"/>
            <a:ext cx="742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4149630-35FF-4750-8224-1E453B8BC112}"/>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10 / 10</a:t>
            </a:r>
          </a:p>
        </p:txBody>
      </p:sp>
      <p:sp>
        <p:nvSpPr>
          <p:cNvPr id="8" name="">
            <a:extLst xmlns:a="http://schemas.openxmlformats.org/drawingml/2006/main">
              <a:ext uri="{FF2B5EF4-FFF2-40B4-BE49-F238E27FC236}">
                <a16:creationId xmlns:a16="http://schemas.microsoft.com/office/drawing/2014/main" id="{354A1566-E4D0-4072-8B62-71084DA1C57B}"/>
              </a:ext>
            </a:extLst>
          </p:cNvPr>
          <p:cNvSpPr>
            <a:spLocks xmlns:a="http://schemas.openxmlformats.org/drawingml/2006/main" noGrp="1"/>
          </p:cNvSpPr>
          <p:nvPr/>
        </p:nvSpPr>
        <p:spPr>
          <a:xfrm xmlns:a="http://schemas.openxmlformats.org/drawingml/2006/main">
            <a:off x="723900" y="1200150"/>
            <a:ext cx="571500" cy="571500"/>
          </a:xfrm>
          <a:prstGeom xmlns:a="http://schemas.openxmlformats.org/drawingml/2006/main" prst="rect">
            <a:avLst/>
          </a:prstGeom>
          <a:solidFill xmlns:a="http://schemas.openxmlformats.org/drawingml/2006/main">
            <a:srgbClr val="B94A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1</a:t>
            </a:r>
          </a:p>
        </p:txBody>
      </p:sp>
      <p:sp>
        <p:nvSpPr>
          <p:cNvPr id="9" name="">
            <a:extLst xmlns:a="http://schemas.openxmlformats.org/drawingml/2006/main">
              <a:ext uri="{FF2B5EF4-FFF2-40B4-BE49-F238E27FC236}">
                <a16:creationId xmlns:a16="http://schemas.microsoft.com/office/drawing/2014/main" id="{B8247E66-8DDE-4DF0-B2C9-783A8F553280}"/>
              </a:ext>
            </a:extLst>
          </p:cNvPr>
          <p:cNvSpPr>
            <a:spLocks xmlns:a="http://schemas.openxmlformats.org/drawingml/2006/main" noGrp="1"/>
          </p:cNvSpPr>
          <p:nvPr/>
        </p:nvSpPr>
        <p:spPr>
          <a:xfrm xmlns:a="http://schemas.openxmlformats.org/drawingml/2006/main">
            <a:off x="1581150" y="118110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Layer 3の更新を再確認</a:t>
            </a:r>
          </a:p>
        </p:txBody>
      </p:sp>
      <p:sp>
        <p:nvSpPr>
          <p:cNvPr id="10" name="">
            <a:extLst xmlns:a="http://schemas.openxmlformats.org/drawingml/2006/main">
              <a:ext uri="{FF2B5EF4-FFF2-40B4-BE49-F238E27FC236}">
                <a16:creationId xmlns:a16="http://schemas.microsoft.com/office/drawing/2014/main" id="{0DAAA288-5DEA-443C-81BF-AF8A8E91065F}"/>
              </a:ext>
            </a:extLst>
          </p:cNvPr>
          <p:cNvSpPr>
            <a:spLocks xmlns:a="http://schemas.openxmlformats.org/drawingml/2006/main" noGrp="1"/>
          </p:cNvSpPr>
          <p:nvPr/>
        </p:nvSpPr>
        <p:spPr>
          <a:xfrm xmlns:a="http://schemas.openxmlformats.org/drawingml/2006/main">
            <a:off x="1581150" y="164782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同じ4 pairと同じ損失で、gradient、重み、FP32計算、finite differenceを照合する。十分小さい1回更新で損失が増えないことを合格条件にする。</a:t>
            </a:r>
          </a:p>
        </p:txBody>
      </p:sp>
      <p:sp>
        <p:nvSpPr>
          <p:cNvPr id="11" name="">
            <a:extLst xmlns:a="http://schemas.openxmlformats.org/drawingml/2006/main">
              <a:ext uri="{FF2B5EF4-FFF2-40B4-BE49-F238E27FC236}">
                <a16:creationId xmlns:a16="http://schemas.microsoft.com/office/drawing/2014/main" id="{A4D5E189-D2B8-4E4C-A113-B64BFBE64103}"/>
              </a:ext>
            </a:extLst>
          </p:cNvPr>
          <p:cNvSpPr>
            <a:spLocks xmlns:a="http://schemas.openxmlformats.org/drawingml/2006/main" noGrp="1"/>
          </p:cNvSpPr>
          <p:nvPr/>
        </p:nvSpPr>
        <p:spPr>
          <a:xfrm xmlns:a="http://schemas.openxmlformats.org/drawingml/2006/main">
            <a:off x="1581150" y="2476500"/>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6874457-1066-46F1-9C80-D9D58A685A0F}"/>
              </a:ext>
            </a:extLst>
          </p:cNvPr>
          <p:cNvSpPr>
            <a:spLocks xmlns:a="http://schemas.openxmlformats.org/drawingml/2006/main" noGrp="1"/>
          </p:cNvSpPr>
          <p:nvPr/>
        </p:nvSpPr>
        <p:spPr>
          <a:xfrm xmlns:a="http://schemas.openxmlformats.org/drawingml/2006/main">
            <a:off x="723900" y="2676525"/>
            <a:ext cx="571500" cy="57150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2</a:t>
            </a:r>
          </a:p>
        </p:txBody>
      </p:sp>
      <p:sp>
        <p:nvSpPr>
          <p:cNvPr id="13" name="">
            <a:extLst xmlns:a="http://schemas.openxmlformats.org/drawingml/2006/main">
              <a:ext uri="{FF2B5EF4-FFF2-40B4-BE49-F238E27FC236}">
                <a16:creationId xmlns:a16="http://schemas.microsoft.com/office/drawing/2014/main" id="{44EE8621-DE9B-48E6-B160-D6B5BD5796B1}"/>
              </a:ext>
            </a:extLst>
          </p:cNvPr>
          <p:cNvSpPr>
            <a:spLocks xmlns:a="http://schemas.openxmlformats.org/drawingml/2006/main" noGrp="1"/>
          </p:cNvSpPr>
          <p:nvPr/>
        </p:nvSpPr>
        <p:spPr>
          <a:xfrm xmlns:a="http://schemas.openxmlformats.org/drawingml/2006/main">
            <a:off x="1581150" y="265747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問題が解消したら5 roundへ</a:t>
            </a:r>
          </a:p>
        </p:txBody>
      </p:sp>
      <p:sp>
        <p:nvSpPr>
          <p:cNvPr id="14" name="">
            <a:extLst xmlns:a="http://schemas.openxmlformats.org/drawingml/2006/main">
              <a:ext uri="{FF2B5EF4-FFF2-40B4-BE49-F238E27FC236}">
                <a16:creationId xmlns:a16="http://schemas.microsoft.com/office/drawing/2014/main" id="{E1B99C69-1A0D-4DEA-9973-060942BFF778}"/>
              </a:ext>
            </a:extLst>
          </p:cNvPr>
          <p:cNvSpPr>
            <a:spLocks xmlns:a="http://schemas.openxmlformats.org/drawingml/2006/main" noGrp="1"/>
          </p:cNvSpPr>
          <p:nvPr/>
        </p:nvSpPr>
        <p:spPr>
          <a:xfrm xmlns:a="http://schemas.openxmlformats.org/drawingml/2006/main">
            <a:off x="1581150" y="31242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M_Gとfoundationのstate継承、client送信内容、実行時間を同じ形式で保存する。</a:t>
            </a:r>
          </a:p>
        </p:txBody>
      </p:sp>
      <p:sp>
        <p:nvSpPr>
          <p:cNvPr id="15" name="">
            <a:extLst xmlns:a="http://schemas.openxmlformats.org/drawingml/2006/main">
              <a:ext uri="{FF2B5EF4-FFF2-40B4-BE49-F238E27FC236}">
                <a16:creationId xmlns:a16="http://schemas.microsoft.com/office/drawing/2014/main" id="{59C9D2D4-0C0F-4804-8A38-A36B6E6E147B}"/>
              </a:ext>
            </a:extLst>
          </p:cNvPr>
          <p:cNvSpPr>
            <a:spLocks xmlns:a="http://schemas.openxmlformats.org/drawingml/2006/main" noGrp="1"/>
          </p:cNvSpPr>
          <p:nvPr/>
        </p:nvSpPr>
        <p:spPr>
          <a:xfrm xmlns:a="http://schemas.openxmlformats.org/drawingml/2006/main">
            <a:off x="1581150" y="3952875"/>
            <a:ext cx="95250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06ABB3A-80DC-4995-AFC0-D8E6B9506646}"/>
              </a:ext>
            </a:extLst>
          </p:cNvPr>
          <p:cNvSpPr>
            <a:spLocks xmlns:a="http://schemas.openxmlformats.org/drawingml/2006/main" noGrp="1"/>
          </p:cNvSpPr>
          <p:nvPr/>
        </p:nvSpPr>
        <p:spPr>
          <a:xfrm xmlns:a="http://schemas.openxmlformats.org/drawingml/2006/main">
            <a:off x="723900" y="4152900"/>
            <a:ext cx="571500" cy="571500"/>
          </a:xfrm>
          <a:prstGeom xmlns:a="http://schemas.openxmlformats.org/drawingml/2006/main" prst="rect">
            <a:avLst/>
          </a:prstGeom>
          <a:solidFill xmlns:a="http://schemas.openxmlformats.org/drawingml/2006/main">
            <a:srgbClr val="147B7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FFFFFF"/>
                </a:solidFill>
                <a:latin typeface="Yu Gothic"/>
                <a:ea typeface="Yu Gothic"/>
                <a:cs typeface="Yu Gothic"/>
              </a:defRPr>
            </a:pPr>
            <a:r>
              <a:rPr sz="2550" b="1">
                <a:solidFill>
                  <a:srgbClr val="FFFFFF"/>
                </a:solidFill>
                <a:latin typeface="Yu Gothic"/>
                <a:ea typeface="Yu Gothic"/>
                <a:cs typeface="Yu Gothic"/>
              </a:rPr>
              <a:t>3</a:t>
            </a:r>
          </a:p>
        </p:txBody>
      </p:sp>
      <p:sp>
        <p:nvSpPr>
          <p:cNvPr id="17" name="">
            <a:extLst xmlns:a="http://schemas.openxmlformats.org/drawingml/2006/main">
              <a:ext uri="{FF2B5EF4-FFF2-40B4-BE49-F238E27FC236}">
                <a16:creationId xmlns:a16="http://schemas.microsoft.com/office/drawing/2014/main" id="{29BBDAD1-CEA4-4321-8FD2-0211551E0E18}"/>
              </a:ext>
            </a:extLst>
          </p:cNvPr>
          <p:cNvSpPr>
            <a:spLocks xmlns:a="http://schemas.openxmlformats.org/drawingml/2006/main" noGrp="1"/>
          </p:cNvSpPr>
          <p:nvPr/>
        </p:nvSpPr>
        <p:spPr>
          <a:xfrm xmlns:a="http://schemas.openxmlformats.org/drawingml/2006/main">
            <a:off x="1581150" y="41338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73B4B"/>
                </a:solidFill>
                <a:latin typeface="Yu Gothic"/>
                <a:ea typeface="Yu Gothic"/>
                <a:cs typeface="Yu Gothic"/>
              </a:defRPr>
            </a:pPr>
            <a:r>
              <a:rPr sz="2025" b="1">
                <a:solidFill>
                  <a:srgbClr val="173B4B"/>
                </a:solidFill>
                <a:latin typeface="Yu Gothic"/>
                <a:ea typeface="Yu Gothic"/>
                <a:cs typeface="Yu Gothic"/>
              </a:rPr>
              <a:t>第II段階でLayer 2を比較</a:t>
            </a:r>
          </a:p>
        </p:txBody>
      </p:sp>
      <p:sp>
        <p:nvSpPr>
          <p:cNvPr id="18" name="">
            <a:extLst xmlns:a="http://schemas.openxmlformats.org/drawingml/2006/main">
              <a:ext uri="{FF2B5EF4-FFF2-40B4-BE49-F238E27FC236}">
                <a16:creationId xmlns:a16="http://schemas.microsoft.com/office/drawing/2014/main" id="{F3BBDBCB-1CB6-4BBC-A177-E9F78A8705F8}"/>
              </a:ext>
            </a:extLst>
          </p:cNvPr>
          <p:cNvSpPr>
            <a:spLocks xmlns:a="http://schemas.openxmlformats.org/drawingml/2006/main" noGrp="1"/>
          </p:cNvSpPr>
          <p:nvPr/>
        </p:nvSpPr>
        <p:spPr>
          <a:xfrm xmlns:a="http://schemas.openxmlformats.org/drawingml/2006/main">
            <a:off x="1581150" y="4600575"/>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Server Only、Post Only、Post + Deltaを同じ条件で比較し、seed内容、model予測、delta再現を分けて評価する。</a:t>
            </a:r>
          </a:p>
        </p:txBody>
      </p:sp>
      <p:sp>
        <p:nvSpPr>
          <p:cNvPr id="19" name="">
            <a:extLst xmlns:a="http://schemas.openxmlformats.org/drawingml/2006/main">
              <a:ext uri="{FF2B5EF4-FFF2-40B4-BE49-F238E27FC236}">
                <a16:creationId xmlns:a16="http://schemas.microsoft.com/office/drawing/2014/main" id="{70FF4E72-66AB-48D1-8288-EFA6D2E4F3F4}"/>
              </a:ext>
            </a:extLst>
          </p:cNvPr>
          <p:cNvSpPr>
            <a:spLocks xmlns:a="http://schemas.openxmlformats.org/drawingml/2006/main" noGrp="1"/>
          </p:cNvSpPr>
          <p:nvPr/>
        </p:nvSpPr>
        <p:spPr>
          <a:xfrm xmlns:a="http://schemas.openxmlformats.org/drawingml/2006/main">
            <a:off x="666750" y="5686425"/>
            <a:ext cx="10572750" cy="5524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4F50723-602F-415F-8D7D-8B5260EBA9A7}"/>
              </a:ext>
            </a:extLst>
          </p:cNvPr>
          <p:cNvSpPr>
            <a:spLocks xmlns:a="http://schemas.openxmlformats.org/drawingml/2006/main" noGrp="1"/>
          </p:cNvSpPr>
          <p:nvPr/>
        </p:nvSpPr>
        <p:spPr>
          <a:xfrm xmlns:a="http://schemas.openxmlformats.org/drawingml/2006/main">
            <a:off x="914400" y="5819775"/>
            <a:ext cx="10077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329"/>
          </a:bodyPr>
          <a:lstStyle xmlns:a="http://schemas.openxmlformats.org/drawingml/2006/main"/>
          <a:p xmlns:a="http://schemas.openxmlformats.org/drawingml/2006/main">
            <a:pPr algn="ctr">
              <a:defRPr sz="1650" b="1">
                <a:solidFill>
                  <a:srgbClr val="FFFFFF"/>
                </a:solidFill>
                <a:latin typeface="Yu Gothic"/>
                <a:ea typeface="Yu Gothic"/>
                <a:cs typeface="Yu Gothic"/>
              </a:defRPr>
            </a:pPr>
            <a:r>
              <a:rPr sz="1650" b="1">
                <a:solidFill>
                  <a:srgbClr val="FFFFFF"/>
                </a:solidFill>
                <a:latin typeface="Yu Gothic"/>
                <a:ea typeface="Yu Gothic"/>
                <a:cs typeface="Yu Gothic"/>
              </a:rPr>
              <a:t>次の問い：clientのadaptation signalは、server-side seedだけの場合を超えてfoundation更新へ寄与するか</a:t>
            </a:r>
          </a:p>
        </p:txBody>
      </p:sp>
    </p:spTree>
    <p:extLst>
      <p:ext uri="{BB962C8B-B14F-4D97-AF65-F5344CB8AC3E}">
        <p14:creationId xmlns:p14="http://schemas.microsoft.com/office/powerpoint/2010/main" val="3260683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2026-09-17T17:53:24.8350000Z</dcterms:created>
  <dcterms:modified xsi:type="dcterms:W3CDTF">2026-09-17T17:53:24.8360000Z</dcterms:modified>
</coreProperties>
</file>