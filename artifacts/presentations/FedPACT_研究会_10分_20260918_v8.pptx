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53dace3622a459e" /><Relationship Type="http://schemas.openxmlformats.org/officeDocument/2006/relationships/extended-properties" Target="/docProps/app.xml" Id="R58f10500a6074b64" /><Relationship Type="http://schemas.openxmlformats.org/officeDocument/2006/relationships/officeDocument" Target="/ppt/presentation.xml" Id="R3b3561c8682c4a56" /></Relationships>
</file>

<file path=ppt/presentation.xml><?xml version="1.0" encoding="utf-8"?>
<p:presentation xmlns:p="http://schemas.openxmlformats.org/presentationml/2006/main">
  <p:sldMasterIdLst>
    <p:sldMasterId xmlns:r="http://schemas.openxmlformats.org/officeDocument/2006/relationships" id="2147483648" r:id="Rb2c5de627b3e40ae"/>
  </p:sldMasterIdLst>
  <p:notesMasterIdLst>
    <p:notesMasterId xmlns:r="http://schemas.openxmlformats.org/officeDocument/2006/relationships" r:id="R08a6ade185d54fd4"/>
  </p:notesMasterIdLst>
  <p:sldIdLst>
    <p:sldId xmlns:r="http://schemas.openxmlformats.org/officeDocument/2006/relationships" id="256" r:id="R8f0ff6038bc34e9d"/>
    <p:sldId xmlns:r="http://schemas.openxmlformats.org/officeDocument/2006/relationships" id="257" r:id="Rf280e46710024564"/>
    <p:sldId xmlns:r="http://schemas.openxmlformats.org/officeDocument/2006/relationships" id="258" r:id="R6efb593513cb43ac"/>
    <p:sldId xmlns:r="http://schemas.openxmlformats.org/officeDocument/2006/relationships" id="259" r:id="R60039d031ba84169"/>
    <p:sldId xmlns:r="http://schemas.openxmlformats.org/officeDocument/2006/relationships" id="260" r:id="Rda2eb1e6d12c4f87"/>
    <p:sldId xmlns:r="http://schemas.openxmlformats.org/officeDocument/2006/relationships" id="261" r:id="Rabebe0d117ea4161"/>
    <p:sldId xmlns:r="http://schemas.openxmlformats.org/officeDocument/2006/relationships" id="262" r:id="Re91c95e0ac784c4f"/>
    <p:sldId xmlns:r="http://schemas.openxmlformats.org/officeDocument/2006/relationships" id="263" r:id="Rf2308097ae8c4425"/>
    <p:sldId xmlns:r="http://schemas.openxmlformats.org/officeDocument/2006/relationships" id="264" r:id="R10edad16c08c433b"/>
    <p:sldId xmlns:r="http://schemas.openxmlformats.org/officeDocument/2006/relationships" id="265" r:id="R17e75b9613a746f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ecd0bc459a14846" /><Relationship Type="http://schemas.openxmlformats.org/officeDocument/2006/relationships/slideMaster" Target="/ppt/slideMasters/slideMaster1.xml" Id="Rb2c5de627b3e40ae" /><Relationship Type="http://schemas.openxmlformats.org/officeDocument/2006/relationships/notesMaster" Target="/ppt/notesMasters/notesMaster1.xml" Id="R08a6ade185d54fd4" /><Relationship Type="http://schemas.openxmlformats.org/officeDocument/2006/relationships/presProps" Target="/ppt/presProps.xml" Id="R95920e737e66417d" /><Relationship Type="http://schemas.openxmlformats.org/officeDocument/2006/relationships/tableStyles" Target="/ppt/tableStyles.xml" Id="R30b2921f2bcb41c8" /><Relationship Type="http://schemas.openxmlformats.org/officeDocument/2006/relationships/slide" Target="/ppt/slides/slide1.xml" Id="R8f0ff6038bc34e9d" /><Relationship Type="http://schemas.openxmlformats.org/officeDocument/2006/relationships/slide" Target="/ppt/slides/slide2.xml" Id="Rf280e46710024564" /><Relationship Type="http://schemas.openxmlformats.org/officeDocument/2006/relationships/slide" Target="/ppt/slides/slide3.xml" Id="R6efb593513cb43ac" /><Relationship Type="http://schemas.openxmlformats.org/officeDocument/2006/relationships/slide" Target="/ppt/slides/slide4.xml" Id="R60039d031ba84169" /><Relationship Type="http://schemas.openxmlformats.org/officeDocument/2006/relationships/slide" Target="/ppt/slides/slide5.xml" Id="Rda2eb1e6d12c4f87" /><Relationship Type="http://schemas.openxmlformats.org/officeDocument/2006/relationships/slide" Target="/ppt/slides/slide6.xml" Id="Rabebe0d117ea4161" /><Relationship Type="http://schemas.openxmlformats.org/officeDocument/2006/relationships/slide" Target="/ppt/slides/slide7.xml" Id="Re91c95e0ac784c4f" /><Relationship Type="http://schemas.openxmlformats.org/officeDocument/2006/relationships/slide" Target="/ppt/slides/slide8.xml" Id="Rf2308097ae8c4425" /><Relationship Type="http://schemas.openxmlformats.org/officeDocument/2006/relationships/slide" Target="/ppt/slides/slide9.xml" Id="R10edad16c08c433b" /><Relationship Type="http://schemas.openxmlformats.org/officeDocument/2006/relationships/slide" Target="/ppt/slides/slide10.xml" Id="R17e75b9613a746f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bb80ffa3c70434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27761fdc8f8408b" /><Relationship Type="http://schemas.openxmlformats.org/officeDocument/2006/relationships/notesMaster" Target="/ppt/notesMasters/notesMaster1.xml" Id="Rf26d4d7489f14585" /></Relationships>
</file>

<file path=ppt/notesSlides/_rels/notesSlide2.xml.rels>&#65279;<?xml version="1.0" encoding="utf-8"?><Relationships xmlns="http://schemas.openxmlformats.org/package/2006/relationships"><Relationship Type="http://schemas.openxmlformats.org/officeDocument/2006/relationships/slide" Target="/ppt/slides/slide2.xml" Id="R7f1da256940e44ec" /><Relationship Type="http://schemas.openxmlformats.org/officeDocument/2006/relationships/notesMaster" Target="/ppt/notesMasters/notesMaster1.xml" Id="R989b6a1c5df84dd6" /></Relationships>
</file>

<file path=ppt/notesSlides/_rels/notesSlide3.xml.rels>&#65279;<?xml version="1.0" encoding="utf-8"?><Relationships xmlns="http://schemas.openxmlformats.org/package/2006/relationships"><Relationship Type="http://schemas.openxmlformats.org/officeDocument/2006/relationships/slide" Target="/ppt/slides/slide3.xml" Id="Rd65af8e3195f45dd" /><Relationship Type="http://schemas.openxmlformats.org/officeDocument/2006/relationships/notesMaster" Target="/ppt/notesMasters/notesMaster1.xml" Id="R519f42bb8e094552" /></Relationships>
</file>

<file path=ppt/notesSlides/_rels/notesSlide4.xml.rels>&#65279;<?xml version="1.0" encoding="utf-8"?><Relationships xmlns="http://schemas.openxmlformats.org/package/2006/relationships"><Relationship Type="http://schemas.openxmlformats.org/officeDocument/2006/relationships/slide" Target="/ppt/slides/slide4.xml" Id="R4b60c9c08dce41ca" /><Relationship Type="http://schemas.openxmlformats.org/officeDocument/2006/relationships/notesMaster" Target="/ppt/notesMasters/notesMaster1.xml" Id="R3c5a122a3072484d" /></Relationships>
</file>

<file path=ppt/notesSlides/_rels/notesSlide5.xml.rels>&#65279;<?xml version="1.0" encoding="utf-8"?><Relationships xmlns="http://schemas.openxmlformats.org/package/2006/relationships"><Relationship Type="http://schemas.openxmlformats.org/officeDocument/2006/relationships/slide" Target="/ppt/slides/slide5.xml" Id="R40097792df6143a4" /><Relationship Type="http://schemas.openxmlformats.org/officeDocument/2006/relationships/notesMaster" Target="/ppt/notesMasters/notesMaster1.xml" Id="R137f1128d4d14380" /></Relationships>
</file>

<file path=ppt/notesSlides/_rels/notesSlide6.xml.rels>&#65279;<?xml version="1.0" encoding="utf-8"?><Relationships xmlns="http://schemas.openxmlformats.org/package/2006/relationships"><Relationship Type="http://schemas.openxmlformats.org/officeDocument/2006/relationships/slide" Target="/ppt/slides/slide6.xml" Id="R9697646268094fd6" /><Relationship Type="http://schemas.openxmlformats.org/officeDocument/2006/relationships/notesMaster" Target="/ppt/notesMasters/notesMaster1.xml" Id="R199983dc21af45f4" /></Relationships>
</file>

<file path=ppt/notesSlides/_rels/notesSlide7.xml.rels>&#65279;<?xml version="1.0" encoding="utf-8"?><Relationships xmlns="http://schemas.openxmlformats.org/package/2006/relationships"><Relationship Type="http://schemas.openxmlformats.org/officeDocument/2006/relationships/slide" Target="/ppt/slides/slide7.xml" Id="R8ac0170e4d36430f" /><Relationship Type="http://schemas.openxmlformats.org/officeDocument/2006/relationships/notesMaster" Target="/ppt/notesMasters/notesMaster1.xml" Id="R23e74a255c034927" /></Relationships>
</file>

<file path=ppt/notesSlides/_rels/notesSlide8.xml.rels>&#65279;<?xml version="1.0" encoding="utf-8"?><Relationships xmlns="http://schemas.openxmlformats.org/package/2006/relationships"><Relationship Type="http://schemas.openxmlformats.org/officeDocument/2006/relationships/slide" Target="/ppt/slides/slide8.xml" Id="R5c52a5acd6fd4366" /><Relationship Type="http://schemas.openxmlformats.org/officeDocument/2006/relationships/notesMaster" Target="/ppt/notesMasters/notesMaster1.xml" Id="R4652c4f4f6f44ace" /></Relationships>
</file>

<file path=ppt/notesSlides/_rels/notesSlide9.xml.rels>&#65279;<?xml version="1.0" encoding="utf-8"?><Relationships xmlns="http://schemas.openxmlformats.org/package/2006/relationships"><Relationship Type="http://schemas.openxmlformats.org/officeDocument/2006/relationships/slide" Target="/ppt/slides/slide9.xml" Id="Re3421e3903f746a8" /><Relationship Type="http://schemas.openxmlformats.org/officeDocument/2006/relationships/notesMaster" Target="/ppt/notesMasters/notesMaster1.xml" Id="Rd8d74dc7c06a437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bfc33f510a646ef" /><Relationship Type="http://schemas.openxmlformats.org/officeDocument/2006/relationships/notesMaster" Target="/ppt/notesMasters/notesMaster1.xml" Id="Rf4cc18211dd341d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0:00–0:50】</a:t>
            </a:r>
          </a:p>
          <a:p xmlns:a="http://schemas.openxmlformats.org/drawingml/2006/main">
            <a:r>
              <a:t>まず、この研究が想定している利用場面から説明します。前提として、すべてのclientとcloudは同じtaskと共通のoutput meaningを持ちます。同じ危険検知taskを行う自動運転車やrobotでも、昼の市街地と夜間の道路では、各clientがprivate dataから獲得する局所適応挙動が異なります。目指す価値は、各現場の経験をcloud側へ還元し、共通taskのprediction quality改善に生かすことです。しかし、FedAvgが統合できるのは同じ構造のsurrogate間です。構造や規模が異なるcloud側foundationへparameterをそのまま渡すことはできません。また、共通・公開data上で出力を交換する蒸留が多い一方、今回はclientとcloudで整合用dataを共有しません。そこでFedPACTは、private映像そのものではなく、局所適応後の予測と変化方向を要約し、server seed上のproxyとして顕在化して、異種foundationへ反映できるかを検証します。対象は場面の意味内容全体ではなく、共通task上の予測挙動です。server seedだけでclient側の適応を十分coverできる場合は追加効果が小さくなるため、必要性と性能への効果は第II段階で比較します。今回の第I段階は、その価値の実証ではなく、まず情報の流れを接続して追跡できるかの確認です。</a:t>
            </a:r>
          </a:p>
          <a:p xmlns:a="http://schemas.openxmlformats.org/drawingml/2006/main">
            <a:r>
              <a:t/>
            </a:r>
          </a:p>
          <a:p xmlns:a="http://schemas.openxmlformats.org/drawingml/2006/main">
            <a:r>
              <a:t>【根拠】</a:t>
            </a:r>
          </a:p>
          <a:p xmlns:a="http://schemas.openxmlformats.org/drawingml/2006/main">
            <a:r>
              <a:t>notes/advisor/sources/raw/2026-09-16/slack_zettsu_reply_to_chen_ja_date_unknown_received_2026-09-16.md（11:00、target scenario、既存手法との違い、server seedとproxyの位置付け）</a:t>
            </a:r>
          </a:p>
          <a:p xmlns:a="http://schemas.openxmlformats.org/drawingml/2006/main">
            <a:r>
              <a:t>notes/advisor/sources/raw/2026-09-01/FedPACT手法提案260901.pdf（研究目的とproxy-mediated transfer）</a:t>
            </a:r>
          </a:p>
          <a:p xmlns:a="http://schemas.openxmlformats.org/drawingml/2006/main">
            <a:r>
              <a:t>画像: artifacts/datasets/frames/train/003d6c3909/003.jpg, artifacts/datasets/frames/train/b82e955a9fdf13e2/003.jpg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0:40–1:30】</a:t>
            </a:r>
          </a:p>
          <a:p xmlns:a="http://schemas.openxmlformats.org/drawingml/2006/main">
            <a:r>
              <a:t>具体的には、昼の市街地と夜の高速道路では映像の意味内容が違います。FedPACTはfull scene semanticsを同じだとは仮定しません。現在のnormal／riskという共通出力空間で、各clientのprivate dataによって予測がどう変わったかをserver側で再構成し、異なるfoundation modelへ渡すことが対象です。</a:t>
            </a:r>
          </a:p>
          <a:p xmlns:a="http://schemas.openxmlformats.org/drawingml/2006/main">
            <a:r>
              <a:t/>
            </a:r>
          </a:p>
          <a:p xmlns:a="http://schemas.openxmlformats.org/drawingml/2006/main">
            <a:r>
              <a:t>【根拠】</a:t>
            </a:r>
          </a:p>
          <a:p xmlns:a="http://schemas.openxmlformats.org/drawingml/2006/main">
            <a:r>
              <a:t>notes/advisor/sources/raw/2026-09-16/slack_zettsu_reply_to_chen_ja_date_unknown_received_2026-09-16.md（target scenario、Similar logits、server seedの説明）</a:t>
            </a:r>
          </a:p>
          <a:p xmlns:a="http://schemas.openxmlformats.org/drawingml/2006/main">
            <a:r>
              <a:t>notes/advisor/sources/raw/2026-09-01/FedPACT手法提案260901.pdf（基準表記）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1:30–2:20】</a:t>
            </a:r>
          </a:p>
          <a:p xmlns:a="http://schemas.openxmlformats.org/drawingml/2006/main">
            <a:r>
              <a:t>先週以降の大きな更新は三つです。Chen先生から、現在の構成では問題が起きた箇所を切り分けにくいという指摘がありました。教授は三層構造を維持しつつ、Layer 2を研究の中核に置き、第I段階では性能よりも接続と追跡可能性を確認する方針を明確にしました。その方針に沿って、9月17日に3 roundを実行しました。</a:t>
            </a:r>
          </a:p>
          <a:p xmlns:a="http://schemas.openxmlformats.org/drawingml/2006/main">
            <a:r>
              <a:t/>
            </a:r>
          </a:p>
          <a:p xmlns:a="http://schemas.openxmlformats.org/drawingml/2006/main">
            <a:r>
              <a:t>【根拠】</a:t>
            </a:r>
          </a:p>
          <a:p xmlns:a="http://schemas.openxmlformats.org/drawingml/2006/main">
            <a:r>
              <a:t>notes/advisor/sources/raw/2026-09-15/slack_2026-09-15.md</a:t>
            </a:r>
          </a:p>
          <a:p xmlns:a="http://schemas.openxmlformats.org/drawingml/2006/main">
            <a:r>
              <a:t>notes/advisor/sources/raw/2026-09-15/Comments and suggestions_260915.pdf, pp.1–5</a:t>
            </a:r>
          </a:p>
          <a:p xmlns:a="http://schemas.openxmlformats.org/drawingml/2006/main">
            <a:r>
              <a:t>notes/advisor/sources/raw/2026-09-16/slack_zettsu_experiment_feedback_date_unknown_received_2026-09-16.md</a:t>
            </a:r>
          </a:p>
          <a:p xmlns:a="http://schemas.openxmlformats.org/drawingml/2006/main">
            <a:r>
              <a:t>notes/advisor/sources/raw/2026-09-16/slack_zettsu_reply_to_chen_ja_date_unknown_received_2026-09-16.md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2:20–3:10】</a:t>
            </a:r>
          </a:p>
          <a:p xmlns:a="http://schemas.openxmlformats.org/drawingml/2006/main">
            <a:r>
              <a:t>ここは自作の9月16日共有版フローチャートへ差し替えてください。説明では、Layer 1は複数clientのsurrogate更新をFedAvgする部分、Layer 2はclientの予測挙動をserver-side seed上でproxyとして顕在化する中核部分、Layer 3はP_{k,r}=(x̃_{k,r}, μ^{post}_{k,r})でfoundation LoRAを更新する部分、とだけ整理します。今回の実験は、この三層をまたいで次roundまでstateが正しく渡るかを確認しています。</a:t>
            </a:r>
          </a:p>
          <a:p xmlns:a="http://schemas.openxmlformats.org/drawingml/2006/main">
            <a:r>
              <a:t/>
            </a:r>
          </a:p>
          <a:p xmlns:a="http://schemas.openxmlformats.org/drawingml/2006/main">
            <a:r>
              <a:t>【根拠】</a:t>
            </a:r>
          </a:p>
          <a:p xmlns:a="http://schemas.openxmlformats.org/drawingml/2006/main">
            <a:r>
              <a:t>notes/advisor/sources/raw/2026-09-16/slack_zettsu_flow_feedback_date_unknown_received_2026-09-16.md</a:t>
            </a:r>
          </a:p>
          <a:p xmlns:a="http://schemas.openxmlformats.org/drawingml/2006/main">
            <a:r>
              <a:t>notes/advisor/sources/raw/2026-09-15/進捗会0911_吉村有生_3.pptx（実日付9月15日、最終承認前）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3:10–4:10】</a:t>
            </a:r>
          </a:p>
          <a:p xmlns:a="http://schemas.openxmlformats.org/drawingml/2006/main">
            <a:r>
              <a:t>今回の合格条件は、2 clientの局所更新からFedAvg、Layer 2、foundation更新、次roundまでをログで追えることです。性能比較は行いません。重要なのは、最初のrunでrisk区間を選べていない問題を発見し、その結果を研究上の証拠から外したことです。修正版ではriskのalertからeventまでの4時刻を使い、normalは対応するriskと同じ絶対時刻にそろえました。</a:t>
            </a:r>
          </a:p>
          <a:p xmlns:a="http://schemas.openxmlformats.org/drawingml/2006/main">
            <a:r>
              <a:t/>
            </a:r>
          </a:p>
          <a:p xmlns:a="http://schemas.openxmlformats.org/drawingml/2006/main">
            <a:r>
              <a:t>【根拠】</a:t>
            </a:r>
          </a:p>
          <a:p xmlns:a="http://schemas.openxmlformats.org/drawingml/2006/main">
            <a:r>
              <a:t>notes/advisor/CURRENT.md（2026-09-17 01:12時点の入力問題）</a:t>
            </a:r>
          </a:p>
          <a:p xmlns:a="http://schemas.openxmlformats.org/drawingml/2006/main">
            <a:r>
              <a:t>artifacts/datasets/fedpact_stage1/manifest_paired_alert_quartiles.jsonl</a:t>
            </a:r>
          </a:p>
          <a:p xmlns:a="http://schemas.openxmlformats.org/drawingml/2006/main">
            <a:r>
              <a:t>artifacts/runs/fedpact_stage1/p1d_full_20260917_02/summary.json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4:10–5:20】</a:t>
            </a:r>
          </a:p>
          <a:p xmlns:a="http://schemas.openxmlformats.org/drawingml/2006/main">
            <a:r>
              <a:t>一つの動画を具体的に追います。白い車が横から接近するrisk動画で、局所学習前のrisk確率は0.349、学習後は0.644、変化はプラス0.295でした。同じclassの3本を平均すると、μ^{post}_{k,r}のrisk成分は0.724、Δμ_{k,r}はプラス0.238、frequencyは3です。serverへ送るのはこのprototypeとモデル更新であり、private映像やsample IDではありません。</a:t>
            </a:r>
          </a:p>
          <a:p xmlns:a="http://schemas.openxmlformats.org/drawingml/2006/main">
            <a:r>
              <a:t/>
            </a:r>
          </a:p>
          <a:p xmlns:a="http://schemas.openxmlformats.org/drawingml/2006/main">
            <a:r>
              <a:t>【根拠】</a:t>
            </a:r>
          </a:p>
          <a:p xmlns:a="http://schemas.openxmlformats.org/drawingml/2006/main">
            <a:r>
              <a:t>artifacts/runs/fedpact_stage1/p1d_layer1_20260917_01/client_local/client-0/private_trace.json（sample 15a4f810cc4c2aef）</a:t>
            </a:r>
          </a:p>
          <a:p xmlns:a="http://schemas.openxmlformats.org/drawingml/2006/main">
            <a:r>
              <a:t>artifacts/runs/fedpact_stage1/p1d_layer1_20260917_01/communication/client-0/payload.json（r1-client-0-class1）</a:t>
            </a:r>
          </a:p>
          <a:p xmlns:a="http://schemas.openxmlformats.org/drawingml/2006/main">
            <a:r>
              <a:t>artifacts/runs/fedpact_stage1/p1d_layer1_20260917_01/client_local/client-0/communication_audit.json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5:20–6:30】</a:t>
            </a:r>
          </a:p>
          <a:p xmlns:a="http://schemas.openxmlformats.org/drawingml/2006/main">
            <a:r>
              <a:t>前のprototypeに対して、serverはnormal labelのseedを選びました。更新後global surrogateのrisk出力は0.724でtargetとほぼ一致しました。一方、局所学習による変化量はtargetがプラス0.238、proxy上ではプラス0.051でした。つまり、最終出力だけを近づけても、clientが学習した変化を十分に再現したとは言えません。ここがLayer 2の中心的な評価対象です。</a:t>
            </a:r>
          </a:p>
          <a:p xmlns:a="http://schemas.openxmlformats.org/drawingml/2006/main">
            <a:r>
              <a:t/>
            </a:r>
          </a:p>
          <a:p xmlns:a="http://schemas.openxmlformats.org/drawingml/2006/main">
            <a:r>
              <a:t>【根拠】</a:t>
            </a:r>
          </a:p>
          <a:p xmlns:a="http://schemas.openxmlformats.org/drawingml/2006/main">
            <a:r>
              <a:t>artifacts/runs/fedpact_stage1/p1d_full_20260917_02/server/layer2_trace.json（r1-client-0-class1 selection）</a:t>
            </a:r>
          </a:p>
          <a:p xmlns:a="http://schemas.openxmlformats.org/drawingml/2006/main">
            <a:r>
              <a:t>artifacts/runs/fedpact_stage1/p1d_full_20260917_02/server/proxy_pairs.json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6:30–7:25】</a:t>
            </a:r>
          </a:p>
          <a:p xmlns:a="http://schemas.openxmlformats.org/drawingml/2006/main">
            <a:r>
              <a:t>round 1の4 prototypeを並べると、deltaの符号は3件で一致し、client-1のnormalだけ逆向きでした。また、prototype classと選択seed labelは4件すべて不一致でした。ただしround 2と3では各3件が一致しています。さらに、60本のseedのうちlabelと更新後global surrogateのargmaxが一致したのは43本です。原因を検索だけに帰属せず、model誤分類、検索挙動、postでtop 3へ絞ってからdeltaを比較する候補生成を分けて確認します。</a:t>
            </a:r>
          </a:p>
          <a:p xmlns:a="http://schemas.openxmlformats.org/drawingml/2006/main">
            <a:r>
              <a:t/>
            </a:r>
          </a:p>
          <a:p xmlns:a="http://schemas.openxmlformats.org/drawingml/2006/main">
            <a:r>
              <a:t>【根拠】</a:t>
            </a:r>
          </a:p>
          <a:p xmlns:a="http://schemas.openxmlformats.org/drawingml/2006/main">
            <a:r>
              <a:t>artifacts/runs/fedpact_stage1/p1d_full_20260917_02/server/layer2_trace.json</a:t>
            </a:r>
          </a:p>
          <a:p xmlns:a="http://schemas.openxmlformats.org/drawingml/2006/main">
            <a:r>
              <a:t>artifacts/reports/fedpact_stage1_20260917/slack_report.md（診断上の観測事実）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7:25–8:45】</a:t>
            </a:r>
          </a:p>
          <a:p xmlns:a="http://schemas.openxmlformats.org/drawingml/2006/main">
            <a:r>
              <a:t>3 roundを通して、global surrogateとfoundationのcheckpointおよびtensor digestがround間で一致し、state継承を確認しました。client更新は毎round非ゼロで、FedAvgの独立再計算差も10のマイナス10程度でした。一方、round 3では学習率10のマイナス6から10のマイナス11まで、同じ4 pair上の加重KLを減らす条件を満たせませんでした。第I段階の実行確認として更新は完了しましたが、安定した知識転移の証拠にはしません。</a:t>
            </a:r>
          </a:p>
          <a:p xmlns:a="http://schemas.openxmlformats.org/drawingml/2006/main">
            <a:r>
              <a:t/>
            </a:r>
          </a:p>
          <a:p xmlns:a="http://schemas.openxmlformats.org/drawingml/2006/main">
            <a:r>
              <a:t>【根拠】</a:t>
            </a:r>
          </a:p>
          <a:p xmlns:a="http://schemas.openxmlformats.org/drawingml/2006/main">
            <a:r>
              <a:t>artifacts/reports/fedpact_stage1_20260917/three_round_state_lineage.md</a:t>
            </a:r>
          </a:p>
          <a:p xmlns:a="http://schemas.openxmlformats.org/drawingml/2006/main">
            <a:r>
              <a:t>artifacts/reports/fedpact_stage1_20260917/three_round_state_lineage.json</a:t>
            </a:r>
          </a:p>
          <a:p xmlns:a="http://schemas.openxmlformats.org/drawingml/2006/main">
            <a:r>
              <a:t>artifacts/runs/fedpact_stage1/p1d_round3_full_20260917_02/summary.json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8:45–10:00】</a:t>
            </a:r>
          </a:p>
          <a:p xmlns:a="http://schemas.openxmlformats.org/drawingml/2006/main">
            <a:r>
              <a:t>次は5 roundへ直ちに進まず、round 3のfoundation更新を最小条件で切り分けます。これが解消した後に5 roundのstate継承を確認します。その後、第II段階でServer Only、Post Only、Post + Deltaを同じ条件で比較します。最終評価には、局所学習、prototype作成、server検索、条件選択に使っていない評価用データを用います。今週の到達点は、3 roundを通し、次に見るべき場所をLayer 2のdelta再現とLayer 3の更新へ絞れたことです。</a:t>
            </a:r>
          </a:p>
          <a:p xmlns:a="http://schemas.openxmlformats.org/drawingml/2006/main">
            <a:r>
              <a:t/>
            </a:r>
          </a:p>
          <a:p xmlns:a="http://schemas.openxmlformats.org/drawingml/2006/main">
            <a:r>
              <a:t>【根拠】</a:t>
            </a:r>
          </a:p>
          <a:p xmlns:a="http://schemas.openxmlformats.org/drawingml/2006/main">
            <a:r>
              <a:t>notes/advisor/sources/raw/2026-09-16/slack_zettsu_experiment_feedback_date_unknown_received_2026-09-16.md</a:t>
            </a:r>
          </a:p>
          <a:p xmlns:a="http://schemas.openxmlformats.org/drawingml/2006/main">
            <a:r>
              <a:t>notes/advisor/sources/raw/2026-09-15/Comments and suggestions_260915.pdf, p.4</a:t>
            </a:r>
          </a:p>
          <a:p xmlns:a="http://schemas.openxmlformats.org/drawingml/2006/main">
            <a:r>
              <a:t>artifacts/reports/fedpact_stage1_20260917/three_round_state_lineage.md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7571d604371427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10ebcf2883b4775" /><Relationship Type="http://schemas.openxmlformats.org/officeDocument/2006/relationships/slideLayout" Target="/ppt/slideLayouts/slideLayout1.xml" Id="R2de1e1ea7e7a419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de1e1ea7e7a419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484d565f21c4294" /><Relationship Type="http://schemas.openxmlformats.org/officeDocument/2006/relationships/image" Target="/ppt/media/image.jpeg" Id="R3c580d8dd1bb44ca" /><Relationship Type="http://schemas.openxmlformats.org/officeDocument/2006/relationships/image" Target="/ppt/media/image2.jpeg" Id="Ra537b7f2c49d4db0" /><Relationship Type="http://schemas.openxmlformats.org/officeDocument/2006/relationships/notesSlide" Target="/ppt/notesSlides/notesSlide1.xml" Id="R3cad5b95b25c459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6f642ac812d4dc2" /><Relationship Type="http://schemas.openxmlformats.org/officeDocument/2006/relationships/image" Target="/ppt/media/image3.jpeg" Id="R19051105d3cb47e6" /><Relationship Type="http://schemas.openxmlformats.org/officeDocument/2006/relationships/image" Target="/ppt/media/image4.jpeg" Id="Re6dddf6f93754944" /><Relationship Type="http://schemas.openxmlformats.org/officeDocument/2006/relationships/notesSlide" Target="/ppt/notesSlides/notesSlide2.xml" Id="Re35a64335302464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c090b13ff2c426a" /><Relationship Type="http://schemas.openxmlformats.org/officeDocument/2006/relationships/notesSlide" Target="/ppt/notesSlides/notesSlide3.xml" Id="Rb03198d1c56f455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886584897df4cb0" /><Relationship Type="http://schemas.openxmlformats.org/officeDocument/2006/relationships/notesSlide" Target="/ppt/notesSlides/notesSlide4.xml" Id="R2928d62ff7be499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f4534d79edd4eb3" /><Relationship Type="http://schemas.openxmlformats.org/officeDocument/2006/relationships/image" Target="/ppt/media/image5.jpeg" Id="Rf28228fe7a2247d4" /><Relationship Type="http://schemas.openxmlformats.org/officeDocument/2006/relationships/image" Target="/ppt/media/image6.jpeg" Id="R17091231f7fa4e28" /><Relationship Type="http://schemas.openxmlformats.org/officeDocument/2006/relationships/image" Target="/ppt/media/image7.jpeg" Id="R9bac1af153194f13" /><Relationship Type="http://schemas.openxmlformats.org/officeDocument/2006/relationships/image" Target="/ppt/media/image8.jpeg" Id="Ra07cdd243df84c06" /><Relationship Type="http://schemas.openxmlformats.org/officeDocument/2006/relationships/notesSlide" Target="/ppt/notesSlides/notesSlide5.xml" Id="Re7e48a3bf79c471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1a773bd8dd94f9d" /><Relationship Type="http://schemas.openxmlformats.org/officeDocument/2006/relationships/image" Target="/ppt/media/image9.jpeg" Id="R24bc239ec5ee48fa" /><Relationship Type="http://schemas.openxmlformats.org/officeDocument/2006/relationships/image" Target="/ppt/media/image10.jpeg" Id="Rdfb1fc4137a440f7" /><Relationship Type="http://schemas.openxmlformats.org/officeDocument/2006/relationships/image" Target="/ppt/media/image11.jpeg" Id="R9256468edf4c47ce" /><Relationship Type="http://schemas.openxmlformats.org/officeDocument/2006/relationships/image" Target="/ppt/media/image12.jpeg" Id="R738f3b0b828b478f" /><Relationship Type="http://schemas.openxmlformats.org/officeDocument/2006/relationships/notesSlide" Target="/ppt/notesSlides/notesSlide6.xml" Id="R4bbfeac97224475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dcd2bfe07a24b6e" /><Relationship Type="http://schemas.openxmlformats.org/officeDocument/2006/relationships/image" Target="/ppt/media/image13.jpeg" Id="R6b4aed841155491c" /><Relationship Type="http://schemas.openxmlformats.org/officeDocument/2006/relationships/image" Target="/ppt/media/image14.jpeg" Id="R01c89a4e307342f1" /><Relationship Type="http://schemas.openxmlformats.org/officeDocument/2006/relationships/image" Target="/ppt/media/image15.jpeg" Id="Rb01a4eb4dce24b53" /><Relationship Type="http://schemas.openxmlformats.org/officeDocument/2006/relationships/image" Target="/ppt/media/image16.jpeg" Id="Ra7a9b3ab695e42c9" /><Relationship Type="http://schemas.openxmlformats.org/officeDocument/2006/relationships/notesSlide" Target="/ppt/notesSlides/notesSlide7.xml" Id="R3c927cf4b51c412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f5f5f83690843ad" /><Relationship Type="http://schemas.openxmlformats.org/officeDocument/2006/relationships/notesSlide" Target="/ppt/notesSlides/notesSlide8.xml" Id="R00e98ce054d74cc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c6a218326b242b9" /><Relationship Type="http://schemas.openxmlformats.org/officeDocument/2006/relationships/notesSlide" Target="/ppt/notesSlides/notesSlide9.xml" Id="R5b42801bd5d047a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4636a8b4e8e48d2" /><Relationship Type="http://schemas.openxmlformats.org/officeDocument/2006/relationships/notesSlide" Target="/ppt/notesSlides/notesSlide10.xml" Id="R10c8357d4bb8493e"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E46113C0-FD0B-451F-B238-004F14CEC0F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08F6C91-975A-4584-8208-8C52D894436D}"/>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05288CD-A93A-4260-ACF5-2629B05A6F07}"/>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異なる現場で得た適応を、cloud側のfoundationへ還元する</a:t>
            </a:r>
          </a:p>
        </p:txBody>
      </p:sp>
      <p:sp>
        <p:nvSpPr>
          <p:cNvPr id="4" name="">
            <a:extLst xmlns:a="http://schemas.openxmlformats.org/drawingml/2006/main">
              <a:ext uri="{FF2B5EF4-FFF2-40B4-BE49-F238E27FC236}">
                <a16:creationId xmlns:a16="http://schemas.microsoft.com/office/drawing/2014/main" id="{BBA6527D-76AB-4D32-B79F-6AB2C49DC8CD}"/>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01</a:t>
            </a:r>
          </a:p>
        </p:txBody>
      </p:sp>
      <p:sp>
        <p:nvSpPr>
          <p:cNvPr id="5" name="">
            <a:extLst xmlns:a="http://schemas.openxmlformats.org/drawingml/2006/main">
              <a:ext uri="{FF2B5EF4-FFF2-40B4-BE49-F238E27FC236}">
                <a16:creationId xmlns:a16="http://schemas.microsoft.com/office/drawing/2014/main" id="{A59578B1-C2ED-448A-9AF6-874CDE33B419}"/>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E1E5445-4355-4FBD-8725-3DACE4774EF2}"/>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01DEE109-2771-45B6-81A8-216F56373398}"/>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1 / 10</a:t>
            </a:r>
          </a:p>
        </p:txBody>
      </p:sp>
      <p:sp>
        <p:nvSpPr>
          <p:cNvPr id="8" name="">
            <a:extLst xmlns:a="http://schemas.openxmlformats.org/drawingml/2006/main">
              <a:ext uri="{FF2B5EF4-FFF2-40B4-BE49-F238E27FC236}">
                <a16:creationId xmlns:a16="http://schemas.microsoft.com/office/drawing/2014/main" id="{32804968-B787-4435-9D9D-0DC970A1B29C}"/>
              </a:ext>
            </a:extLst>
          </p:cNvPr>
          <p:cNvSpPr>
            <a:spLocks xmlns:a="http://schemas.openxmlformats.org/drawingml/2006/main" noGrp="1"/>
          </p:cNvSpPr>
          <p:nvPr/>
        </p:nvSpPr>
        <p:spPr>
          <a:xfrm xmlns:a="http://schemas.openxmlformats.org/drawingml/2006/main">
            <a:off x="666750" y="981075"/>
            <a:ext cx="10620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147B78"/>
                </a:solidFill>
                <a:latin typeface="Yu Gothic"/>
                <a:ea typeface="Yu Gothic"/>
                <a:cs typeface="Yu Gothic"/>
              </a:defRPr>
            </a:pPr>
            <a:r>
              <a:rPr sz="1725" b="1">
                <a:solidFill>
                  <a:srgbClr val="147B78"/>
                </a:solidFill>
                <a:latin typeface="Yu Gothic"/>
                <a:ea typeface="Yu Gothic"/>
                <a:cs typeface="Yu Gothic"/>
              </a:rPr>
              <a:t>同じ危険検知task・共通のnormal／riskでも、場所や時間が変われば、各clientが経験する状況は異なる</a:t>
            </a:r>
          </a:p>
        </p:txBody>
      </p:sp>
      <p:sp>
        <p:nvSpPr>
          <p:cNvPr id="9" name="">
            <a:extLst xmlns:a="http://schemas.openxmlformats.org/drawingml/2006/main">
              <a:ext uri="{FF2B5EF4-FFF2-40B4-BE49-F238E27FC236}">
                <a16:creationId xmlns:a16="http://schemas.microsoft.com/office/drawing/2014/main" id="{CB439821-604B-4ABF-AA93-06CFBEF857C8}"/>
              </a:ext>
            </a:extLst>
          </p:cNvPr>
          <p:cNvSpPr>
            <a:spLocks xmlns:a="http://schemas.openxmlformats.org/drawingml/2006/main" noGrp="1"/>
          </p:cNvSpPr>
          <p:nvPr/>
        </p:nvSpPr>
        <p:spPr>
          <a:xfrm xmlns:a="http://schemas.openxmlformats.org/drawingml/2006/main">
            <a:off x="552450" y="1438275"/>
            <a:ext cx="3486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73B4B"/>
                </a:solidFill>
                <a:latin typeface="Yu Gothic"/>
                <a:ea typeface="Yu Gothic"/>
                <a:cs typeface="Yu Gothic"/>
              </a:defRPr>
            </a:pPr>
            <a:r>
              <a:rPr sz="1575" b="1">
                <a:solidFill>
                  <a:srgbClr val="173B4B"/>
                </a:solidFill>
                <a:latin typeface="Yu Gothic"/>
                <a:ea typeface="Yu Gothic"/>
                <a:cs typeface="Yu Gothic"/>
              </a:rPr>
              <a:t>1　想定する利用場面と価値</a:t>
            </a:r>
          </a:p>
        </p:txBody>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3c580d8dd1bb44ca"/>
          <a:srcRect xmlns:a="http://schemas.openxmlformats.org/drawingml/2006/main" l="5804" t="0" r="5804" b="0"/>
          <a:stretch xmlns:a="http://schemas.openxmlformats.org/drawingml/2006/main">
            <a:fillRect l="0" t="0" r="0" b="0"/>
          </a:stretch>
        </p:blipFill>
        <p:spPr>
          <a:xfrm xmlns:a="http://schemas.openxmlformats.org/drawingml/2006/main">
            <a:off x="552450" y="1838325"/>
            <a:ext cx="1676400" cy="1066800"/>
          </a:xfrm>
          <a:prstGeom xmlns:a="http://schemas.openxmlformats.org/drawingml/2006/main" prst="rect">
            <a:avLst/>
          </a:prstGeom>
        </p:spPr>
      </p:pic>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a537b7f2c49d4db0"/>
          <a:srcRect xmlns:a="http://schemas.openxmlformats.org/drawingml/2006/main" l="5804" t="0" r="5804" b="0"/>
          <a:stretch xmlns:a="http://schemas.openxmlformats.org/drawingml/2006/main">
            <a:fillRect l="0" t="0" r="0" b="0"/>
          </a:stretch>
        </p:blipFill>
        <p:spPr>
          <a:xfrm xmlns:a="http://schemas.openxmlformats.org/drawingml/2006/main">
            <a:off x="2343150" y="1838325"/>
            <a:ext cx="1676400" cy="10668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300D59FE-C288-4A07-A6E5-E1ED4CBAD35A}"/>
              </a:ext>
            </a:extLst>
          </p:cNvPr>
          <p:cNvSpPr>
            <a:spLocks xmlns:a="http://schemas.openxmlformats.org/drawingml/2006/main" noGrp="1"/>
          </p:cNvSpPr>
          <p:nvPr/>
        </p:nvSpPr>
        <p:spPr>
          <a:xfrm xmlns:a="http://schemas.openxmlformats.org/drawingml/2006/main">
            <a:off x="561975" y="2962275"/>
            <a:ext cx="1657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147B78"/>
                </a:solidFill>
                <a:latin typeface="Yu Gothic"/>
                <a:ea typeface="Yu Gothic"/>
                <a:cs typeface="Yu Gothic"/>
              </a:defRPr>
            </a:pPr>
            <a:r>
              <a:rPr sz="1200" b="1">
                <a:solidFill>
                  <a:srgbClr val="147B78"/>
                </a:solidFill>
                <a:latin typeface="Yu Gothic"/>
                <a:ea typeface="Yu Gothic"/>
                <a:cs typeface="Yu Gothic"/>
              </a:rPr>
              <a:t>client A</a:t>
            </a:r>
          </a:p>
          <a:p xmlns:a="http://schemas.openxmlformats.org/drawingml/2006/main">
            <a:pPr algn="ctr">
              <a:defRPr sz="1200" b="1">
                <a:solidFill>
                  <a:srgbClr val="147B78"/>
                </a:solidFill>
                <a:latin typeface="Yu Gothic"/>
                <a:ea typeface="Yu Gothic"/>
                <a:cs typeface="Yu Gothic"/>
              </a:defRPr>
            </a:pPr>
            <a:r>
              <a:rPr sz="1200" b="1">
                <a:solidFill>
                  <a:srgbClr val="147B78"/>
                </a:solidFill>
                <a:latin typeface="Yu Gothic"/>
                <a:ea typeface="Yu Gothic"/>
                <a:cs typeface="Yu Gothic"/>
              </a:rPr>
              <a:t>昼間・市街地</a:t>
            </a:r>
          </a:p>
        </p:txBody>
      </p:sp>
      <p:sp>
        <p:nvSpPr>
          <p:cNvPr id="13" name="">
            <a:extLst xmlns:a="http://schemas.openxmlformats.org/drawingml/2006/main">
              <a:ext uri="{FF2B5EF4-FFF2-40B4-BE49-F238E27FC236}">
                <a16:creationId xmlns:a16="http://schemas.microsoft.com/office/drawing/2014/main" id="{DEA8848F-5C94-47F2-87C7-52A1474AE796}"/>
              </a:ext>
            </a:extLst>
          </p:cNvPr>
          <p:cNvSpPr>
            <a:spLocks xmlns:a="http://schemas.openxmlformats.org/drawingml/2006/main" noGrp="1"/>
          </p:cNvSpPr>
          <p:nvPr/>
        </p:nvSpPr>
        <p:spPr>
          <a:xfrm xmlns:a="http://schemas.openxmlformats.org/drawingml/2006/main">
            <a:off x="2352675" y="2962275"/>
            <a:ext cx="1657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147B78"/>
                </a:solidFill>
                <a:latin typeface="Yu Gothic"/>
                <a:ea typeface="Yu Gothic"/>
                <a:cs typeface="Yu Gothic"/>
              </a:defRPr>
            </a:pPr>
            <a:r>
              <a:rPr sz="1200" b="1">
                <a:solidFill>
                  <a:srgbClr val="147B78"/>
                </a:solidFill>
                <a:latin typeface="Yu Gothic"/>
                <a:ea typeface="Yu Gothic"/>
                <a:cs typeface="Yu Gothic"/>
              </a:rPr>
              <a:t>client B</a:t>
            </a:r>
          </a:p>
          <a:p xmlns:a="http://schemas.openxmlformats.org/drawingml/2006/main">
            <a:pPr algn="ctr">
              <a:defRPr sz="1200" b="1">
                <a:solidFill>
                  <a:srgbClr val="147B78"/>
                </a:solidFill>
                <a:latin typeface="Yu Gothic"/>
                <a:ea typeface="Yu Gothic"/>
                <a:cs typeface="Yu Gothic"/>
              </a:defRPr>
            </a:pPr>
            <a:r>
              <a:rPr sz="1200" b="1">
                <a:solidFill>
                  <a:srgbClr val="147B78"/>
                </a:solidFill>
                <a:latin typeface="Yu Gothic"/>
                <a:ea typeface="Yu Gothic"/>
                <a:cs typeface="Yu Gothic"/>
              </a:rPr>
              <a:t>夜間・交差点</a:t>
            </a:r>
          </a:p>
        </p:txBody>
      </p:sp>
      <p:sp>
        <p:nvSpPr>
          <p:cNvPr id="14" name="">
            <a:extLst xmlns:a="http://schemas.openxmlformats.org/drawingml/2006/main">
              <a:ext uri="{FF2B5EF4-FFF2-40B4-BE49-F238E27FC236}">
                <a16:creationId xmlns:a16="http://schemas.microsoft.com/office/drawing/2014/main" id="{5B211F94-532A-43E6-9753-C0BD2E2BC6F7}"/>
              </a:ext>
            </a:extLst>
          </p:cNvPr>
          <p:cNvSpPr>
            <a:spLocks xmlns:a="http://schemas.openxmlformats.org/drawingml/2006/main" noGrp="1"/>
          </p:cNvSpPr>
          <p:nvPr/>
        </p:nvSpPr>
        <p:spPr>
          <a:xfrm xmlns:a="http://schemas.openxmlformats.org/drawingml/2006/main">
            <a:off x="628650" y="3571875"/>
            <a:ext cx="33242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26373D"/>
                </a:solidFill>
                <a:latin typeface="Yu Gothic"/>
                <a:ea typeface="Yu Gothic"/>
                <a:cs typeface="Yu Gothic"/>
              </a:defRPr>
            </a:pPr>
            <a:r>
              <a:rPr sz="1575" b="1">
                <a:solidFill>
                  <a:srgbClr val="26373D"/>
                </a:solidFill>
                <a:latin typeface="Yu Gothic"/>
                <a:ea typeface="Yu Gothic"/>
                <a:cs typeface="Yu Gothic"/>
              </a:rPr>
              <a:t>各clientは、自分のprivate dataから</a:t>
            </a:r>
          </a:p>
          <a:p xmlns:a="http://schemas.openxmlformats.org/drawingml/2006/main">
            <a:pPr algn="ctr">
              <a:defRPr sz="1575" b="1">
                <a:solidFill>
                  <a:srgbClr val="26373D"/>
                </a:solidFill>
                <a:latin typeface="Yu Gothic"/>
                <a:ea typeface="Yu Gothic"/>
                <a:cs typeface="Yu Gothic"/>
              </a:defRPr>
            </a:pPr>
            <a:r>
              <a:rPr sz="1575" b="1">
                <a:solidFill>
                  <a:srgbClr val="26373D"/>
                </a:solidFill>
                <a:latin typeface="Yu Gothic"/>
                <a:ea typeface="Yu Gothic"/>
                <a:cs typeface="Yu Gothic"/>
              </a:rPr>
              <a:t>異なる局所適応挙動を獲得する</a:t>
            </a:r>
          </a:p>
        </p:txBody>
      </p:sp>
      <p:sp>
        <p:nvSpPr>
          <p:cNvPr id="15" name="">
            <a:extLst xmlns:a="http://schemas.openxmlformats.org/drawingml/2006/main">
              <a:ext uri="{FF2B5EF4-FFF2-40B4-BE49-F238E27FC236}">
                <a16:creationId xmlns:a16="http://schemas.microsoft.com/office/drawing/2014/main" id="{2E698CF0-7489-4565-BBC3-F605B5E9922C}"/>
              </a:ext>
            </a:extLst>
          </p:cNvPr>
          <p:cNvSpPr>
            <a:spLocks xmlns:a="http://schemas.openxmlformats.org/drawingml/2006/main" noGrp="1"/>
          </p:cNvSpPr>
          <p:nvPr/>
        </p:nvSpPr>
        <p:spPr>
          <a:xfrm xmlns:a="http://schemas.openxmlformats.org/drawingml/2006/main">
            <a:off x="552450" y="4343400"/>
            <a:ext cx="3467100" cy="876300"/>
          </a:xfrm>
          <a:prstGeom xmlns:a="http://schemas.openxmlformats.org/drawingml/2006/main" prst="rect">
            <a:avLst/>
          </a:prstGeom>
          <a:solidFill xmlns:a="http://schemas.openxmlformats.org/drawingml/2006/main">
            <a:srgbClr val="E6F1F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241F28F-8C0A-4FF5-94D5-982EA6CBEB68}"/>
              </a:ext>
            </a:extLst>
          </p:cNvPr>
          <p:cNvSpPr>
            <a:spLocks xmlns:a="http://schemas.openxmlformats.org/drawingml/2006/main" noGrp="1"/>
          </p:cNvSpPr>
          <p:nvPr/>
        </p:nvSpPr>
        <p:spPr>
          <a:xfrm xmlns:a="http://schemas.openxmlformats.org/drawingml/2006/main">
            <a:off x="742950" y="4467225"/>
            <a:ext cx="3086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147B78"/>
                </a:solidFill>
                <a:latin typeface="Yu Gothic"/>
                <a:ea typeface="Yu Gothic"/>
                <a:cs typeface="Yu Gothic"/>
              </a:defRPr>
            </a:pPr>
            <a:r>
              <a:rPr sz="1350" b="1">
                <a:solidFill>
                  <a:srgbClr val="147B78"/>
                </a:solidFill>
                <a:latin typeface="Yu Gothic"/>
                <a:ea typeface="Yu Gothic"/>
                <a:cs typeface="Yu Gothic"/>
              </a:rPr>
              <a:t>目指す価値</a:t>
            </a:r>
          </a:p>
        </p:txBody>
      </p:sp>
      <p:sp>
        <p:nvSpPr>
          <p:cNvPr id="17" name="">
            <a:extLst xmlns:a="http://schemas.openxmlformats.org/drawingml/2006/main">
              <a:ext uri="{FF2B5EF4-FFF2-40B4-BE49-F238E27FC236}">
                <a16:creationId xmlns:a16="http://schemas.microsoft.com/office/drawing/2014/main" id="{667D63D6-CA31-4BE6-81D1-068A0DF9EA45}"/>
              </a:ext>
            </a:extLst>
          </p:cNvPr>
          <p:cNvSpPr>
            <a:spLocks xmlns:a="http://schemas.openxmlformats.org/drawingml/2006/main" noGrp="1"/>
          </p:cNvSpPr>
          <p:nvPr/>
        </p:nvSpPr>
        <p:spPr>
          <a:xfrm xmlns:a="http://schemas.openxmlformats.org/drawingml/2006/main">
            <a:off x="723900" y="4752975"/>
            <a:ext cx="3124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500"/>
          </a:bodyPr>
          <a:lstStyle xmlns:a="http://schemas.openxmlformats.org/drawingml/2006/main"/>
          <a:p xmlns:a="http://schemas.openxmlformats.org/drawingml/2006/main">
            <a:pPr algn="ctr">
              <a:defRPr sz="1500" b="1">
                <a:solidFill>
                  <a:srgbClr val="173B4B"/>
                </a:solidFill>
                <a:latin typeface="Yu Gothic"/>
                <a:ea typeface="Yu Gothic"/>
                <a:cs typeface="Yu Gothic"/>
              </a:defRPr>
            </a:pPr>
            <a:r>
              <a:rPr sz="1500" b="1">
                <a:solidFill>
                  <a:srgbClr val="173B4B"/>
                </a:solidFill>
                <a:latin typeface="Yu Gothic"/>
                <a:ea typeface="Yu Gothic"/>
                <a:cs typeface="Yu Gothic"/>
              </a:rPr>
              <a:t>各現場の経験を、共通taskの</a:t>
            </a:r>
          </a:p>
          <a:p xmlns:a="http://schemas.openxmlformats.org/drawingml/2006/main">
            <a:pPr algn="ctr">
              <a:defRPr sz="1500" b="1">
                <a:solidFill>
                  <a:srgbClr val="173B4B"/>
                </a:solidFill>
                <a:latin typeface="Yu Gothic"/>
                <a:ea typeface="Yu Gothic"/>
                <a:cs typeface="Yu Gothic"/>
              </a:defRPr>
            </a:pPr>
            <a:r>
              <a:rPr sz="1500" b="1">
                <a:solidFill>
                  <a:srgbClr val="173B4B"/>
                </a:solidFill>
                <a:latin typeface="Yu Gothic"/>
                <a:ea typeface="Yu Gothic"/>
                <a:cs typeface="Yu Gothic"/>
              </a:rPr>
              <a:t>prediction quality改善に生かす</a:t>
            </a:r>
          </a:p>
        </p:txBody>
      </p:sp>
      <p:sp>
        <p:nvSpPr>
          <p:cNvPr id="18" name="">
            <a:extLst xmlns:a="http://schemas.openxmlformats.org/drawingml/2006/main">
              <a:ext uri="{FF2B5EF4-FFF2-40B4-BE49-F238E27FC236}">
                <a16:creationId xmlns:a16="http://schemas.microsoft.com/office/drawing/2014/main" id="{351C818A-4DD6-4D88-8048-DD13F220E045}"/>
              </a:ext>
            </a:extLst>
          </p:cNvPr>
          <p:cNvSpPr>
            <a:spLocks xmlns:a="http://schemas.openxmlformats.org/drawingml/2006/main" noGrp="1"/>
          </p:cNvSpPr>
          <p:nvPr/>
        </p:nvSpPr>
        <p:spPr>
          <a:xfrm xmlns:a="http://schemas.openxmlformats.org/drawingml/2006/main">
            <a:off x="4267200" y="1438275"/>
            <a:ext cx="19050" cy="3933825"/>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CE8BC33-0A26-47B1-9F7E-80ED86A417C2}"/>
              </a:ext>
            </a:extLst>
          </p:cNvPr>
          <p:cNvSpPr>
            <a:spLocks xmlns:a="http://schemas.openxmlformats.org/drawingml/2006/main" noGrp="1"/>
          </p:cNvSpPr>
          <p:nvPr/>
        </p:nvSpPr>
        <p:spPr>
          <a:xfrm xmlns:a="http://schemas.openxmlformats.org/drawingml/2006/main">
            <a:off x="4514850" y="1438275"/>
            <a:ext cx="3181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73B4B"/>
                </a:solidFill>
                <a:latin typeface="Yu Gothic"/>
                <a:ea typeface="Yu Gothic"/>
                <a:cs typeface="Yu Gothic"/>
              </a:defRPr>
            </a:pPr>
            <a:r>
              <a:rPr sz="1575" b="1">
                <a:solidFill>
                  <a:srgbClr val="173B4B"/>
                </a:solidFill>
                <a:latin typeface="Yu Gothic"/>
                <a:ea typeface="Yu Gothic"/>
                <a:cs typeface="Yu Gothic"/>
              </a:rPr>
              <a:t>2　従来手法で残る接続問題</a:t>
            </a:r>
          </a:p>
        </p:txBody>
      </p:sp>
      <p:sp>
        <p:nvSpPr>
          <p:cNvPr id="20" name="">
            <a:extLst xmlns:a="http://schemas.openxmlformats.org/drawingml/2006/main">
              <a:ext uri="{FF2B5EF4-FFF2-40B4-BE49-F238E27FC236}">
                <a16:creationId xmlns:a16="http://schemas.microsoft.com/office/drawing/2014/main" id="{DF29BB73-C111-41C7-B656-D26D9183CE1A}"/>
              </a:ext>
            </a:extLst>
          </p:cNvPr>
          <p:cNvSpPr>
            <a:spLocks xmlns:a="http://schemas.openxmlformats.org/drawingml/2006/main" noGrp="1"/>
          </p:cNvSpPr>
          <p:nvPr/>
        </p:nvSpPr>
        <p:spPr>
          <a:xfrm xmlns:a="http://schemas.openxmlformats.org/drawingml/2006/main">
            <a:off x="4648200" y="2028825"/>
            <a:ext cx="1285875" cy="438150"/>
          </a:xfrm>
          <a:prstGeom xmlns:a="http://schemas.openxmlformats.org/drawingml/2006/main" prst="rect">
            <a:avLst/>
          </a:prstGeom>
          <a:solidFill xmlns:a="http://schemas.openxmlformats.org/drawingml/2006/main">
            <a:srgbClr val="E6F1F3"/>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client surrogate</a:t>
            </a:r>
          </a:p>
        </p:txBody>
      </p:sp>
      <p:sp>
        <p:nvSpPr>
          <p:cNvPr id="21" name="">
            <a:extLst xmlns:a="http://schemas.openxmlformats.org/drawingml/2006/main">
              <a:ext uri="{FF2B5EF4-FFF2-40B4-BE49-F238E27FC236}">
                <a16:creationId xmlns:a16="http://schemas.microsoft.com/office/drawing/2014/main" id="{2736DEA6-F72D-44C6-9553-C7DC60FC95DA}"/>
              </a:ext>
            </a:extLst>
          </p:cNvPr>
          <p:cNvSpPr>
            <a:spLocks xmlns:a="http://schemas.openxmlformats.org/drawingml/2006/main" noGrp="1"/>
          </p:cNvSpPr>
          <p:nvPr/>
        </p:nvSpPr>
        <p:spPr>
          <a:xfrm xmlns:a="http://schemas.openxmlformats.org/drawingml/2006/main">
            <a:off x="6096000" y="1943100"/>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147B78"/>
                </a:solidFill>
                <a:latin typeface="Yu Gothic"/>
                <a:ea typeface="Yu Gothic"/>
                <a:cs typeface="Yu Gothic"/>
              </a:defRPr>
            </a:pPr>
            <a:r>
              <a:rPr sz="1200" b="1">
                <a:solidFill>
                  <a:srgbClr val="147B78"/>
                </a:solidFill>
                <a:latin typeface="Yu Gothic"/>
                <a:ea typeface="Yu Gothic"/>
                <a:cs typeface="Yu Gothic"/>
              </a:rPr>
              <a:t>FedAvg</a:t>
            </a:r>
          </a:p>
        </p:txBody>
      </p:sp>
      <p:sp>
        <p:nvSpPr>
          <p:cNvPr id="22" name="">
            <a:extLst xmlns:a="http://schemas.openxmlformats.org/drawingml/2006/main">
              <a:ext uri="{FF2B5EF4-FFF2-40B4-BE49-F238E27FC236}">
                <a16:creationId xmlns:a16="http://schemas.microsoft.com/office/drawing/2014/main" id="{2EB512D4-26CD-46C5-AB6E-D36531E8312C}"/>
              </a:ext>
            </a:extLst>
          </p:cNvPr>
          <p:cNvSpPr>
            <a:spLocks xmlns:a="http://schemas.openxmlformats.org/drawingml/2006/main" noGrp="1"/>
          </p:cNvSpPr>
          <p:nvPr/>
        </p:nvSpPr>
        <p:spPr>
          <a:xfrm xmlns:a="http://schemas.openxmlformats.org/drawingml/2006/main">
            <a:off x="5905500" y="2238375"/>
            <a:ext cx="876300" cy="28575"/>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CC41DD5A-B0FB-4F34-AF4D-5B9EB15CE926}"/>
              </a:ext>
            </a:extLst>
          </p:cNvPr>
          <p:cNvSpPr>
            <a:spLocks xmlns:a="http://schemas.openxmlformats.org/drawingml/2006/main" noGrp="1"/>
          </p:cNvSpPr>
          <p:nvPr/>
        </p:nvSpPr>
        <p:spPr>
          <a:xfrm xmlns:a="http://schemas.openxmlformats.org/drawingml/2006/main">
            <a:off x="6886575" y="1971675"/>
            <a:ext cx="838200" cy="552450"/>
          </a:xfrm>
          <a:prstGeom xmlns:a="http://schemas.openxmlformats.org/drawingml/2006/main" prst="rect">
            <a:avLst/>
          </a:prstGeom>
          <a:solidFill xmlns:a="http://schemas.openxmlformats.org/drawingml/2006/main">
            <a:srgbClr val="E6F1F3"/>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global</a:t>
            </a:r>
          </a:p>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surrogate</a:t>
            </a:r>
          </a:p>
        </p:txBody>
      </p:sp>
      <p:sp>
        <p:nvSpPr>
          <p:cNvPr id="24" name="">
            <a:extLst xmlns:a="http://schemas.openxmlformats.org/drawingml/2006/main">
              <a:ext uri="{FF2B5EF4-FFF2-40B4-BE49-F238E27FC236}">
                <a16:creationId xmlns:a16="http://schemas.microsoft.com/office/drawing/2014/main" id="{0347FB83-0809-489D-9551-8041EEEB39F1}"/>
              </a:ext>
            </a:extLst>
          </p:cNvPr>
          <p:cNvSpPr>
            <a:spLocks xmlns:a="http://schemas.openxmlformats.org/drawingml/2006/main" noGrp="1"/>
          </p:cNvSpPr>
          <p:nvPr/>
        </p:nvSpPr>
        <p:spPr>
          <a:xfrm xmlns:a="http://schemas.openxmlformats.org/drawingml/2006/main">
            <a:off x="5857875" y="2781300"/>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850" b="1">
                <a:solidFill>
                  <a:srgbClr val="B94A3A"/>
                </a:solidFill>
                <a:latin typeface="Yu Gothic"/>
                <a:ea typeface="Yu Gothic"/>
                <a:cs typeface="Yu Gothic"/>
              </a:defRPr>
            </a:pPr>
            <a:r>
              <a:rPr sz="2850" b="1">
                <a:solidFill>
                  <a:srgbClr val="B94A3A"/>
                </a:solidFill>
                <a:latin typeface="Yu Gothic"/>
                <a:ea typeface="Yu Gothic"/>
                <a:cs typeface="Yu Gothic"/>
              </a:rPr>
              <a:t>×</a:t>
            </a:r>
          </a:p>
        </p:txBody>
      </p:sp>
      <p:sp>
        <p:nvSpPr>
          <p:cNvPr id="25" name="">
            <a:extLst xmlns:a="http://schemas.openxmlformats.org/drawingml/2006/main">
              <a:ext uri="{FF2B5EF4-FFF2-40B4-BE49-F238E27FC236}">
                <a16:creationId xmlns:a16="http://schemas.microsoft.com/office/drawing/2014/main" id="{AE97A22D-1DE8-4BDE-8EAD-9ED17A556395}"/>
              </a:ext>
            </a:extLst>
          </p:cNvPr>
          <p:cNvSpPr>
            <a:spLocks xmlns:a="http://schemas.openxmlformats.org/drawingml/2006/main" noGrp="1"/>
          </p:cNvSpPr>
          <p:nvPr/>
        </p:nvSpPr>
        <p:spPr>
          <a:xfrm xmlns:a="http://schemas.openxmlformats.org/drawingml/2006/main">
            <a:off x="4657725" y="3371850"/>
            <a:ext cx="2952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26373D"/>
                </a:solidFill>
                <a:latin typeface="Yu Gothic"/>
                <a:ea typeface="Yu Gothic"/>
                <a:cs typeface="Yu Gothic"/>
              </a:defRPr>
            </a:pPr>
            <a:r>
              <a:rPr sz="1575" b="1">
                <a:solidFill>
                  <a:srgbClr val="26373D"/>
                </a:solidFill>
                <a:latin typeface="Yu Gothic"/>
                <a:ea typeface="Yu Gothic"/>
                <a:cs typeface="Yu Gothic"/>
              </a:rPr>
              <a:t>異種のcloud foundationへ</a:t>
            </a:r>
          </a:p>
          <a:p xmlns:a="http://schemas.openxmlformats.org/drawingml/2006/main">
            <a:pPr algn="ctr">
              <a:defRPr sz="1575" b="1">
                <a:solidFill>
                  <a:srgbClr val="26373D"/>
                </a:solidFill>
                <a:latin typeface="Yu Gothic"/>
                <a:ea typeface="Yu Gothic"/>
                <a:cs typeface="Yu Gothic"/>
              </a:defRPr>
            </a:pPr>
            <a:r>
              <a:rPr sz="1575" b="1">
                <a:solidFill>
                  <a:srgbClr val="26373D"/>
                </a:solidFill>
                <a:latin typeface="Yu Gothic"/>
                <a:ea typeface="Yu Gothic"/>
                <a:cs typeface="Yu Gothic"/>
              </a:rPr>
              <a:t>parameterをそのまま渡せない</a:t>
            </a:r>
          </a:p>
        </p:txBody>
      </p:sp>
      <p:sp>
        <p:nvSpPr>
          <p:cNvPr id="26" name="">
            <a:extLst xmlns:a="http://schemas.openxmlformats.org/drawingml/2006/main">
              <a:ext uri="{FF2B5EF4-FFF2-40B4-BE49-F238E27FC236}">
                <a16:creationId xmlns:a16="http://schemas.microsoft.com/office/drawing/2014/main" id="{CC4713D4-FB28-4F6B-8367-8EDAB3921783}"/>
              </a:ext>
            </a:extLst>
          </p:cNvPr>
          <p:cNvSpPr>
            <a:spLocks xmlns:a="http://schemas.openxmlformats.org/drawingml/2006/main" noGrp="1"/>
          </p:cNvSpPr>
          <p:nvPr/>
        </p:nvSpPr>
        <p:spPr>
          <a:xfrm xmlns:a="http://schemas.openxmlformats.org/drawingml/2006/main">
            <a:off x="4619625" y="4248150"/>
            <a:ext cx="302895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235B5F46-76AB-4D55-83B6-994B8B44ED27}"/>
              </a:ext>
            </a:extLst>
          </p:cNvPr>
          <p:cNvSpPr>
            <a:spLocks xmlns:a="http://schemas.openxmlformats.org/drawingml/2006/main" noGrp="1"/>
          </p:cNvSpPr>
          <p:nvPr/>
        </p:nvSpPr>
        <p:spPr>
          <a:xfrm xmlns:a="http://schemas.openxmlformats.org/drawingml/2006/main">
            <a:off x="4495800" y="4438650"/>
            <a:ext cx="32766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779"/>
          </a:bodyPr>
          <a:lstStyle xmlns:a="http://schemas.openxmlformats.org/drawingml/2006/main"/>
          <a:p xmlns:a="http://schemas.openxmlformats.org/drawingml/2006/main">
            <a:pPr algn="ctr">
              <a:defRPr sz="1275" b="0">
                <a:solidFill>
                  <a:srgbClr val="617078"/>
                </a:solidFill>
                <a:latin typeface="Yu Gothic"/>
                <a:ea typeface="Yu Gothic"/>
                <a:cs typeface="Yu Gothic"/>
              </a:defRPr>
            </a:pPr>
            <a:r>
              <a:rPr sz="1275" b="0">
                <a:solidFill>
                  <a:srgbClr val="617078"/>
                </a:solidFill>
                <a:latin typeface="Yu Gothic"/>
                <a:ea typeface="Yu Gothic"/>
                <a:cs typeface="Yu Gothic"/>
              </a:rPr>
              <a:t>共通・公開data上で出力を交換する蒸留が多い。</a:t>
            </a:r>
          </a:p>
          <a:p xmlns:a="http://schemas.openxmlformats.org/drawingml/2006/main">
            <a:pPr algn="ctr">
              <a:defRPr sz="1275" b="0">
                <a:solidFill>
                  <a:srgbClr val="617078"/>
                </a:solidFill>
                <a:latin typeface="Yu Gothic"/>
                <a:ea typeface="Yu Gothic"/>
                <a:cs typeface="Yu Gothic"/>
              </a:defRPr>
            </a:pPr>
            <a:r>
              <a:rPr sz="1275" b="0">
                <a:solidFill>
                  <a:srgbClr val="617078"/>
                </a:solidFill>
                <a:latin typeface="Yu Gothic"/>
                <a:ea typeface="Yu Gothic"/>
                <a:cs typeface="Yu Gothic"/>
              </a:rPr>
              <a:t>今回は整合用dataをclientとcloudで共有しない</a:t>
            </a:r>
          </a:p>
        </p:txBody>
      </p:sp>
      <p:sp>
        <p:nvSpPr>
          <p:cNvPr id="28" name="">
            <a:extLst xmlns:a="http://schemas.openxmlformats.org/drawingml/2006/main">
              <a:ext uri="{FF2B5EF4-FFF2-40B4-BE49-F238E27FC236}">
                <a16:creationId xmlns:a16="http://schemas.microsoft.com/office/drawing/2014/main" id="{7D1DE223-4FFD-40B7-BDDA-AF98B4A029DD}"/>
              </a:ext>
            </a:extLst>
          </p:cNvPr>
          <p:cNvSpPr>
            <a:spLocks xmlns:a="http://schemas.openxmlformats.org/drawingml/2006/main" noGrp="1"/>
          </p:cNvSpPr>
          <p:nvPr/>
        </p:nvSpPr>
        <p:spPr>
          <a:xfrm xmlns:a="http://schemas.openxmlformats.org/drawingml/2006/main">
            <a:off x="7924800" y="1438275"/>
            <a:ext cx="19050" cy="3933825"/>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80B5C541-5330-4C5D-9F1A-445837315E33}"/>
              </a:ext>
            </a:extLst>
          </p:cNvPr>
          <p:cNvSpPr>
            <a:spLocks xmlns:a="http://schemas.openxmlformats.org/drawingml/2006/main" noGrp="1"/>
          </p:cNvSpPr>
          <p:nvPr/>
        </p:nvSpPr>
        <p:spPr>
          <a:xfrm xmlns:a="http://schemas.openxmlformats.org/drawingml/2006/main">
            <a:off x="8153400" y="1438275"/>
            <a:ext cx="3371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73B4B"/>
                </a:solidFill>
                <a:latin typeface="Yu Gothic"/>
                <a:ea typeface="Yu Gothic"/>
                <a:cs typeface="Yu Gothic"/>
              </a:defRPr>
            </a:pPr>
            <a:r>
              <a:rPr sz="1575" b="1">
                <a:solidFill>
                  <a:srgbClr val="173B4B"/>
                </a:solidFill>
                <a:latin typeface="Yu Gothic"/>
                <a:ea typeface="Yu Gothic"/>
                <a:cs typeface="Yu Gothic"/>
              </a:rPr>
              <a:t>3　FedPACTが担う接続</a:t>
            </a:r>
          </a:p>
        </p:txBody>
      </p:sp>
      <p:sp>
        <p:nvSpPr>
          <p:cNvPr id="30" name="">
            <a:extLst xmlns:a="http://schemas.openxmlformats.org/drawingml/2006/main">
              <a:ext uri="{FF2B5EF4-FFF2-40B4-BE49-F238E27FC236}">
                <a16:creationId xmlns:a16="http://schemas.microsoft.com/office/drawing/2014/main" id="{775218FF-079A-4951-B699-BAECEFFED5CD}"/>
              </a:ext>
            </a:extLst>
          </p:cNvPr>
          <p:cNvSpPr>
            <a:spLocks xmlns:a="http://schemas.openxmlformats.org/drawingml/2006/main" noGrp="1"/>
          </p:cNvSpPr>
          <p:nvPr/>
        </p:nvSpPr>
        <p:spPr>
          <a:xfrm xmlns:a="http://schemas.openxmlformats.org/drawingml/2006/main">
            <a:off x="8334375" y="1952625"/>
            <a:ext cx="3000375" cy="609600"/>
          </a:xfrm>
          <a:prstGeom xmlns:a="http://schemas.openxmlformats.org/drawingml/2006/main" prst="rect">
            <a:avLst/>
          </a:prstGeom>
          <a:solidFill xmlns:a="http://schemas.openxmlformats.org/drawingml/2006/main">
            <a:srgbClr val="E6F1F3"/>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173B4B"/>
                </a:solidFill>
                <a:latin typeface="Yu Gothic"/>
                <a:ea typeface="Yu Gothic"/>
                <a:cs typeface="Yu Gothic"/>
              </a:defRPr>
            </a:pPr>
            <a:r>
              <a:rPr sz="1575" b="1">
                <a:solidFill>
                  <a:srgbClr val="173B4B"/>
                </a:solidFill>
                <a:latin typeface="Yu Gothic"/>
                <a:ea typeface="Yu Gothic"/>
                <a:cs typeface="Yu Gothic"/>
              </a:rPr>
              <a:t>局所適応後の予測と</a:t>
            </a:r>
          </a:p>
          <a:p xmlns:a="http://schemas.openxmlformats.org/drawingml/2006/main">
            <a:pPr algn="ctr">
              <a:defRPr sz="1575" b="1">
                <a:solidFill>
                  <a:srgbClr val="173B4B"/>
                </a:solidFill>
                <a:latin typeface="Yu Gothic"/>
                <a:ea typeface="Yu Gothic"/>
                <a:cs typeface="Yu Gothic"/>
              </a:defRPr>
            </a:pPr>
            <a:r>
              <a:rPr sz="1575" b="1">
                <a:solidFill>
                  <a:srgbClr val="173B4B"/>
                </a:solidFill>
                <a:latin typeface="Yu Gothic"/>
                <a:ea typeface="Yu Gothic"/>
                <a:cs typeface="Yu Gothic"/>
              </a:rPr>
              <a:t>変化方向の要約</a:t>
            </a:r>
          </a:p>
        </p:txBody>
      </p:sp>
      <p:sp>
        <p:nvSpPr>
          <p:cNvPr id="31" name="">
            <a:extLst xmlns:a="http://schemas.openxmlformats.org/drawingml/2006/main">
              <a:ext uri="{FF2B5EF4-FFF2-40B4-BE49-F238E27FC236}">
                <a16:creationId xmlns:a16="http://schemas.microsoft.com/office/drawing/2014/main" id="{DACE85E2-CF91-412C-94D2-3D7D2D2A6ECC}"/>
              </a:ext>
            </a:extLst>
          </p:cNvPr>
          <p:cNvSpPr>
            <a:spLocks xmlns:a="http://schemas.openxmlformats.org/drawingml/2006/main" noGrp="1"/>
          </p:cNvSpPr>
          <p:nvPr/>
        </p:nvSpPr>
        <p:spPr>
          <a:xfrm xmlns:a="http://schemas.openxmlformats.org/drawingml/2006/main">
            <a:off x="9801225" y="2562225"/>
            <a:ext cx="38100" cy="238125"/>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E621CD48-D968-4ED2-B5DC-B5402E5BFFFC}"/>
              </a:ext>
            </a:extLst>
          </p:cNvPr>
          <p:cNvSpPr>
            <a:spLocks xmlns:a="http://schemas.openxmlformats.org/drawingml/2006/main" noGrp="1"/>
          </p:cNvSpPr>
          <p:nvPr/>
        </p:nvSpPr>
        <p:spPr>
          <a:xfrm xmlns:a="http://schemas.openxmlformats.org/drawingml/2006/main">
            <a:off x="8334375" y="2800350"/>
            <a:ext cx="3000375" cy="647700"/>
          </a:xfrm>
          <a:prstGeom xmlns:a="http://schemas.openxmlformats.org/drawingml/2006/main" prst="rect">
            <a:avLst/>
          </a:prstGeom>
          <a:solidFill xmlns:a="http://schemas.openxmlformats.org/drawingml/2006/main">
            <a:srgbClr val="DDF0ED"/>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147B78"/>
                </a:solidFill>
                <a:latin typeface="Yu Gothic"/>
                <a:ea typeface="Yu Gothic"/>
                <a:cs typeface="Yu Gothic"/>
              </a:defRPr>
            </a:pPr>
            <a:r>
              <a:rPr sz="1575" b="1">
                <a:solidFill>
                  <a:srgbClr val="147B78"/>
                </a:solidFill>
                <a:latin typeface="Yu Gothic"/>
                <a:ea typeface="Yu Gothic"/>
                <a:cs typeface="Yu Gothic"/>
              </a:rPr>
              <a:t>server seed上で</a:t>
            </a:r>
          </a:p>
          <a:p xmlns:a="http://schemas.openxmlformats.org/drawingml/2006/main">
            <a:pPr algn="ctr">
              <a:defRPr sz="1575" b="1">
                <a:solidFill>
                  <a:srgbClr val="147B78"/>
                </a:solidFill>
                <a:latin typeface="Yu Gothic"/>
                <a:ea typeface="Yu Gothic"/>
                <a:cs typeface="Yu Gothic"/>
              </a:defRPr>
            </a:pPr>
            <a:r>
              <a:rPr sz="1575" b="1">
                <a:solidFill>
                  <a:srgbClr val="147B78"/>
                </a:solidFill>
                <a:latin typeface="Yu Gothic"/>
                <a:ea typeface="Yu Gothic"/>
                <a:cs typeface="Yu Gothic"/>
              </a:rPr>
              <a:t>server-side proxyとして顕在化</a:t>
            </a:r>
          </a:p>
        </p:txBody>
      </p:sp>
      <p:sp>
        <p:nvSpPr>
          <p:cNvPr id="33" name="">
            <a:extLst xmlns:a="http://schemas.openxmlformats.org/drawingml/2006/main">
              <a:ext uri="{FF2B5EF4-FFF2-40B4-BE49-F238E27FC236}">
                <a16:creationId xmlns:a16="http://schemas.microsoft.com/office/drawing/2014/main" id="{D089AFD8-5F4A-4BB3-9B92-9481A1B6893A}"/>
              </a:ext>
            </a:extLst>
          </p:cNvPr>
          <p:cNvSpPr>
            <a:spLocks xmlns:a="http://schemas.openxmlformats.org/drawingml/2006/main" noGrp="1"/>
          </p:cNvSpPr>
          <p:nvPr/>
        </p:nvSpPr>
        <p:spPr>
          <a:xfrm xmlns:a="http://schemas.openxmlformats.org/drawingml/2006/main">
            <a:off x="9801225" y="3448050"/>
            <a:ext cx="38100" cy="238125"/>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E7CA6732-0F17-4776-90CC-794D20595990}"/>
              </a:ext>
            </a:extLst>
          </p:cNvPr>
          <p:cNvSpPr>
            <a:spLocks xmlns:a="http://schemas.openxmlformats.org/drawingml/2006/main" noGrp="1"/>
          </p:cNvSpPr>
          <p:nvPr/>
        </p:nvSpPr>
        <p:spPr>
          <a:xfrm xmlns:a="http://schemas.openxmlformats.org/drawingml/2006/main">
            <a:off x="8334375" y="3686175"/>
            <a:ext cx="3000375" cy="647700"/>
          </a:xfrm>
          <a:prstGeom xmlns:a="http://schemas.openxmlformats.org/drawingml/2006/main" prst="rect">
            <a:avLst/>
          </a:prstGeom>
          <a:solidFill xmlns:a="http://schemas.openxmlformats.org/drawingml/2006/main">
            <a:srgbClr val="FAE9D8"/>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173B4B"/>
                </a:solidFill>
                <a:latin typeface="Yu Gothic"/>
                <a:ea typeface="Yu Gothic"/>
                <a:cs typeface="Yu Gothic"/>
              </a:defRPr>
            </a:pPr>
            <a:r>
              <a:rPr sz="1575" b="1">
                <a:solidFill>
                  <a:srgbClr val="173B4B"/>
                </a:solidFill>
                <a:latin typeface="Yu Gothic"/>
                <a:ea typeface="Yu Gothic"/>
                <a:cs typeface="Yu Gothic"/>
              </a:rPr>
              <a:t>異種foundationへ</a:t>
            </a:r>
          </a:p>
          <a:p xmlns:a="http://schemas.openxmlformats.org/drawingml/2006/main">
            <a:pPr algn="ctr">
              <a:defRPr sz="1575" b="1">
                <a:solidFill>
                  <a:srgbClr val="173B4B"/>
                </a:solidFill>
                <a:latin typeface="Yu Gothic"/>
                <a:ea typeface="Yu Gothic"/>
                <a:cs typeface="Yu Gothic"/>
              </a:defRPr>
            </a:pPr>
            <a:r>
              <a:rPr sz="1575" b="1">
                <a:solidFill>
                  <a:srgbClr val="173B4B"/>
                </a:solidFill>
                <a:latin typeface="Yu Gothic"/>
                <a:ea typeface="Yu Gothic"/>
                <a:cs typeface="Yu Gothic"/>
              </a:rPr>
              <a:t>反映できるかを検証</a:t>
            </a:r>
          </a:p>
        </p:txBody>
      </p:sp>
      <p:sp>
        <p:nvSpPr>
          <p:cNvPr id="35" name="">
            <a:extLst xmlns:a="http://schemas.openxmlformats.org/drawingml/2006/main">
              <a:ext uri="{FF2B5EF4-FFF2-40B4-BE49-F238E27FC236}">
                <a16:creationId xmlns:a16="http://schemas.microsoft.com/office/drawing/2014/main" id="{DEA3DF80-88E1-4E44-BD94-B366107B7CDC}"/>
              </a:ext>
            </a:extLst>
          </p:cNvPr>
          <p:cNvSpPr>
            <a:spLocks xmlns:a="http://schemas.openxmlformats.org/drawingml/2006/main" noGrp="1"/>
          </p:cNvSpPr>
          <p:nvPr/>
        </p:nvSpPr>
        <p:spPr>
          <a:xfrm xmlns:a="http://schemas.openxmlformats.org/drawingml/2006/main">
            <a:off x="8401050" y="4572000"/>
            <a:ext cx="28670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E7833D"/>
                </a:solidFill>
                <a:latin typeface="Yu Gothic"/>
                <a:ea typeface="Yu Gothic"/>
                <a:cs typeface="Yu Gothic"/>
              </a:defRPr>
            </a:pPr>
            <a:r>
              <a:rPr sz="1575" b="1">
                <a:solidFill>
                  <a:srgbClr val="E7833D"/>
                </a:solidFill>
                <a:latin typeface="Yu Gothic"/>
                <a:ea typeface="Yu Gothic"/>
                <a:cs typeface="Yu Gothic"/>
              </a:rPr>
              <a:t>proxy-mediated transferが</a:t>
            </a:r>
          </a:p>
          <a:p xmlns:a="http://schemas.openxmlformats.org/drawingml/2006/main">
            <a:pPr algn="ctr">
              <a:defRPr sz="1575" b="1">
                <a:solidFill>
                  <a:srgbClr val="E7833D"/>
                </a:solidFill>
                <a:latin typeface="Yu Gothic"/>
                <a:ea typeface="Yu Gothic"/>
                <a:cs typeface="Yu Gothic"/>
              </a:defRPr>
            </a:pPr>
            <a:r>
              <a:rPr sz="1575" b="1">
                <a:solidFill>
                  <a:srgbClr val="E7833D"/>
                </a:solidFill>
                <a:latin typeface="Yu Gothic"/>
                <a:ea typeface="Yu Gothic"/>
                <a:cs typeface="Yu Gothic"/>
              </a:rPr>
              <a:t>2つのモデルをつなぐ</a:t>
            </a:r>
          </a:p>
        </p:txBody>
      </p:sp>
      <p:sp>
        <p:nvSpPr>
          <p:cNvPr id="36" name="">
            <a:extLst xmlns:a="http://schemas.openxmlformats.org/drawingml/2006/main">
              <a:ext uri="{FF2B5EF4-FFF2-40B4-BE49-F238E27FC236}">
                <a16:creationId xmlns:a16="http://schemas.microsoft.com/office/drawing/2014/main" id="{20C96CBA-72A5-4B9E-926A-26DD4754CDE8}"/>
              </a:ext>
            </a:extLst>
          </p:cNvPr>
          <p:cNvSpPr>
            <a:spLocks xmlns:a="http://schemas.openxmlformats.org/drawingml/2006/main" noGrp="1"/>
          </p:cNvSpPr>
          <p:nvPr/>
        </p:nvSpPr>
        <p:spPr>
          <a:xfrm xmlns:a="http://schemas.openxmlformats.org/drawingml/2006/main">
            <a:off x="552450" y="5562600"/>
            <a:ext cx="11087100" cy="657225"/>
          </a:xfrm>
          <a:prstGeom xmlns:a="http://schemas.openxmlformats.org/drawingml/2006/main" prst="rect">
            <a:avLst/>
          </a:prstGeom>
          <a:solidFill xmlns:a="http://schemas.openxmlformats.org/drawingml/2006/main">
            <a:srgbClr val="173B4B"/>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541528A2-9875-4C5C-9A9A-9A257F55E249}"/>
              </a:ext>
            </a:extLst>
          </p:cNvPr>
          <p:cNvSpPr>
            <a:spLocks xmlns:a="http://schemas.openxmlformats.org/drawingml/2006/main" noGrp="1"/>
          </p:cNvSpPr>
          <p:nvPr/>
        </p:nvSpPr>
        <p:spPr>
          <a:xfrm xmlns:a="http://schemas.openxmlformats.org/drawingml/2006/main">
            <a:off x="781050" y="5743575"/>
            <a:ext cx="10629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FFFFFF"/>
                </a:solidFill>
                <a:latin typeface="Yu Gothic"/>
                <a:ea typeface="Yu Gothic"/>
                <a:cs typeface="Yu Gothic"/>
              </a:defRPr>
            </a:pPr>
            <a:r>
              <a:rPr sz="1575" b="1">
                <a:solidFill>
                  <a:srgbClr val="FFFFFF"/>
                </a:solidFill>
                <a:latin typeface="Yu Gothic"/>
                <a:ea typeface="Yu Gothic"/>
                <a:cs typeface="Yu Gothic"/>
              </a:rPr>
              <a:t>対象：共通task上のtask-relevantな予測挙動　（private sampleの意味内容全体は対象外）</a:t>
            </a:r>
          </a:p>
        </p:txBody>
      </p:sp>
    </p:spTree>
    <p:extLst>
      <p:ext uri="{BB962C8B-B14F-4D97-AF65-F5344CB8AC3E}">
        <p14:creationId xmlns:p14="http://schemas.microsoft.com/office/powerpoint/2010/main" val="33821948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58D5751-316A-4ECB-9342-0BC0DE06DE1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B4FB2EF-8AB3-470A-B42E-507AC3744FD9}"/>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F515D22-033D-4DAC-97F0-AA9E52806EF1}"/>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同じriskでも、現場の状況は大きく異なる</a:t>
            </a:r>
          </a:p>
        </p:txBody>
      </p:sp>
      <p:sp>
        <p:nvSpPr>
          <p:cNvPr id="4" name="">
            <a:extLst xmlns:a="http://schemas.openxmlformats.org/drawingml/2006/main">
              <a:ext uri="{FF2B5EF4-FFF2-40B4-BE49-F238E27FC236}">
                <a16:creationId xmlns:a16="http://schemas.microsoft.com/office/drawing/2014/main" id="{55591153-AEAA-496D-BBBC-A8404F29F914}"/>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02</a:t>
            </a:r>
          </a:p>
        </p:txBody>
      </p:sp>
      <p:sp>
        <p:nvSpPr>
          <p:cNvPr id="5" name="">
            <a:extLst xmlns:a="http://schemas.openxmlformats.org/drawingml/2006/main">
              <a:ext uri="{FF2B5EF4-FFF2-40B4-BE49-F238E27FC236}">
                <a16:creationId xmlns:a16="http://schemas.microsoft.com/office/drawing/2014/main" id="{A4C05F30-FA39-42D3-9479-FA4EB076697E}"/>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CB1448F-440E-431C-A8B2-BAE2758ABE76}"/>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21F39B10-6A0E-458E-8028-C475D5E26858}"/>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2 / 10</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19051105d3cb47e6"/>
          <a:srcRect xmlns:a="http://schemas.openxmlformats.org/drawingml/2006/main" l="0" t="44" r="0" b="44"/>
          <a:stretch xmlns:a="http://schemas.openxmlformats.org/drawingml/2006/main">
            <a:fillRect l="0" t="0" r="0" b="0"/>
          </a:stretch>
        </p:blipFill>
        <p:spPr>
          <a:xfrm xmlns:a="http://schemas.openxmlformats.org/drawingml/2006/main">
            <a:off x="571500" y="1219200"/>
            <a:ext cx="4762500" cy="2676525"/>
          </a:xfrm>
          <a:prstGeom xmlns:a="http://schemas.openxmlformats.org/drawingml/2006/main" prst="rect">
            <a:avLst/>
          </a:prstGeom>
        </p:spPr>
      </p:pic>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e6dddf6f93754944"/>
          <a:srcRect xmlns:a="http://schemas.openxmlformats.org/drawingml/2006/main" l="0" t="44" r="0" b="44"/>
          <a:stretch xmlns:a="http://schemas.openxmlformats.org/drawingml/2006/main">
            <a:fillRect l="0" t="0" r="0" b="0"/>
          </a:stretch>
        </p:blipFill>
        <p:spPr>
          <a:xfrm xmlns:a="http://schemas.openxmlformats.org/drawingml/2006/main">
            <a:off x="6858000" y="1219200"/>
            <a:ext cx="4762500" cy="26765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5815ACF1-9FEA-402D-B138-DFC98624D098}"/>
              </a:ext>
            </a:extLst>
          </p:cNvPr>
          <p:cNvSpPr>
            <a:spLocks xmlns:a="http://schemas.openxmlformats.org/drawingml/2006/main" noGrp="1"/>
          </p:cNvSpPr>
          <p:nvPr/>
        </p:nvSpPr>
        <p:spPr>
          <a:xfrm xmlns:a="http://schemas.openxmlformats.org/drawingml/2006/main">
            <a:off x="571500" y="9906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47B78"/>
                </a:solidFill>
                <a:latin typeface="Yu Gothic"/>
                <a:ea typeface="Yu Gothic"/>
                <a:cs typeface="Yu Gothic"/>
              </a:defRPr>
            </a:pPr>
            <a:r>
              <a:rPr sz="1125" b="1">
                <a:solidFill>
                  <a:srgbClr val="147B78"/>
                </a:solidFill>
                <a:latin typeface="Yu Gothic"/>
                <a:ea typeface="Yu Gothic"/>
                <a:cs typeface="Yu Gothic"/>
              </a:rPr>
              <a:t>client A：昼間・市街地</a:t>
            </a:r>
          </a:p>
        </p:txBody>
      </p:sp>
      <p:sp>
        <p:nvSpPr>
          <p:cNvPr id="11" name="">
            <a:extLst xmlns:a="http://schemas.openxmlformats.org/drawingml/2006/main">
              <a:ext uri="{FF2B5EF4-FFF2-40B4-BE49-F238E27FC236}">
                <a16:creationId xmlns:a16="http://schemas.microsoft.com/office/drawing/2014/main" id="{11EF15C7-052B-48E9-9920-16890B3EF638}"/>
              </a:ext>
            </a:extLst>
          </p:cNvPr>
          <p:cNvSpPr>
            <a:spLocks xmlns:a="http://schemas.openxmlformats.org/drawingml/2006/main" noGrp="1"/>
          </p:cNvSpPr>
          <p:nvPr/>
        </p:nvSpPr>
        <p:spPr>
          <a:xfrm xmlns:a="http://schemas.openxmlformats.org/drawingml/2006/main">
            <a:off x="6858000" y="9906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47B78"/>
                </a:solidFill>
                <a:latin typeface="Yu Gothic"/>
                <a:ea typeface="Yu Gothic"/>
                <a:cs typeface="Yu Gothic"/>
              </a:defRPr>
            </a:pPr>
            <a:r>
              <a:rPr sz="1125" b="1">
                <a:solidFill>
                  <a:srgbClr val="147B78"/>
                </a:solidFill>
                <a:latin typeface="Yu Gothic"/>
                <a:ea typeface="Yu Gothic"/>
                <a:cs typeface="Yu Gothic"/>
              </a:rPr>
              <a:t>client B：夜間・高速道路</a:t>
            </a:r>
          </a:p>
        </p:txBody>
      </p:sp>
      <p:sp>
        <p:nvSpPr>
          <p:cNvPr id="12" name="">
            <a:extLst xmlns:a="http://schemas.openxmlformats.org/drawingml/2006/main">
              <a:ext uri="{FF2B5EF4-FFF2-40B4-BE49-F238E27FC236}">
                <a16:creationId xmlns:a16="http://schemas.microsoft.com/office/drawing/2014/main" id="{3E12D009-CF24-458A-809B-61EB624648B1}"/>
              </a:ext>
            </a:extLst>
          </p:cNvPr>
          <p:cNvSpPr>
            <a:spLocks xmlns:a="http://schemas.openxmlformats.org/drawingml/2006/main" noGrp="1"/>
          </p:cNvSpPr>
          <p:nvPr/>
        </p:nvSpPr>
        <p:spPr>
          <a:xfrm xmlns:a="http://schemas.openxmlformats.org/drawingml/2006/main">
            <a:off x="666750" y="428625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73B4B"/>
                </a:solidFill>
                <a:latin typeface="Yu Gothic"/>
                <a:ea typeface="Yu Gothic"/>
                <a:cs typeface="Yu Gothic"/>
              </a:defRPr>
            </a:pPr>
            <a:r>
              <a:rPr sz="1650" b="1">
                <a:solidFill>
                  <a:srgbClr val="173B4B"/>
                </a:solidFill>
                <a:latin typeface="Yu Gothic"/>
                <a:ea typeface="Yu Gothic"/>
                <a:cs typeface="Yu Gothic"/>
              </a:rPr>
              <a:t>FedPACTが再現する対象</a:t>
            </a:r>
          </a:p>
        </p:txBody>
      </p:sp>
      <p:sp>
        <p:nvSpPr>
          <p:cNvPr id="13" name="">
            <a:extLst xmlns:a="http://schemas.openxmlformats.org/drawingml/2006/main">
              <a:ext uri="{FF2B5EF4-FFF2-40B4-BE49-F238E27FC236}">
                <a16:creationId xmlns:a16="http://schemas.microsoft.com/office/drawing/2014/main" id="{D06E7ECD-CDDD-4F73-B63E-ED4B53194C5C}"/>
              </a:ext>
            </a:extLst>
          </p:cNvPr>
          <p:cNvSpPr>
            <a:spLocks xmlns:a="http://schemas.openxmlformats.org/drawingml/2006/main" noGrp="1"/>
          </p:cNvSpPr>
          <p:nvPr/>
        </p:nvSpPr>
        <p:spPr>
          <a:xfrm xmlns:a="http://schemas.openxmlformats.org/drawingml/2006/main">
            <a:off x="666750" y="468630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175" b="1">
                <a:solidFill>
                  <a:srgbClr val="147B78"/>
                </a:solidFill>
                <a:latin typeface="Yu Gothic"/>
                <a:ea typeface="Yu Gothic"/>
                <a:cs typeface="Yu Gothic"/>
              </a:defRPr>
            </a:pPr>
            <a:r>
              <a:rPr sz="2175" b="1">
                <a:solidFill>
                  <a:srgbClr val="147B78"/>
                </a:solidFill>
                <a:latin typeface="Yu Gothic"/>
                <a:ea typeface="Yu Gothic"/>
                <a:cs typeface="Yu Gothic"/>
              </a:rPr>
              <a:t>共通タスク上で、private dataによる局所学習後の予測と、その変化</a:t>
            </a:r>
          </a:p>
        </p:txBody>
      </p:sp>
      <p:sp>
        <p:nvSpPr>
          <p:cNvPr id="14" name="">
            <a:extLst xmlns:a="http://schemas.openxmlformats.org/drawingml/2006/main">
              <a:ext uri="{FF2B5EF4-FFF2-40B4-BE49-F238E27FC236}">
                <a16:creationId xmlns:a16="http://schemas.microsoft.com/office/drawing/2014/main" id="{94799CFE-FC0B-4150-A2E3-FD42CE9A6E60}"/>
              </a:ext>
            </a:extLst>
          </p:cNvPr>
          <p:cNvSpPr>
            <a:spLocks xmlns:a="http://schemas.openxmlformats.org/drawingml/2006/main" noGrp="1"/>
          </p:cNvSpPr>
          <p:nvPr/>
        </p:nvSpPr>
        <p:spPr>
          <a:xfrm xmlns:a="http://schemas.openxmlformats.org/drawingml/2006/main">
            <a:off x="666750" y="5353050"/>
            <a:ext cx="10858500" cy="685800"/>
          </a:xfrm>
          <a:prstGeom xmlns:a="http://schemas.openxmlformats.org/drawingml/2006/main" prst="rect">
            <a:avLst/>
          </a:prstGeom>
          <a:solidFill xmlns:a="http://schemas.openxmlformats.org/drawingml/2006/main">
            <a:srgbClr val="E6F1F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B175CE9-B434-4E17-81DF-83E4EB05B2FD}"/>
              </a:ext>
            </a:extLst>
          </p:cNvPr>
          <p:cNvSpPr>
            <a:spLocks xmlns:a="http://schemas.openxmlformats.org/drawingml/2006/main" noGrp="1"/>
          </p:cNvSpPr>
          <p:nvPr/>
        </p:nvSpPr>
        <p:spPr>
          <a:xfrm xmlns:a="http://schemas.openxmlformats.org/drawingml/2006/main">
            <a:off x="895350" y="5514975"/>
            <a:ext cx="1040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7678"/>
          </a:bodyPr>
          <a:lstStyle xmlns:a="http://schemas.openxmlformats.org/drawingml/2006/main"/>
          <a:p xmlns:a="http://schemas.openxmlformats.org/drawingml/2006/main">
            <a:pPr algn="ctr">
              <a:defRPr sz="1575" b="0">
                <a:solidFill>
                  <a:srgbClr val="26373D"/>
                </a:solidFill>
                <a:latin typeface="Yu Gothic"/>
                <a:ea typeface="Yu Gothic"/>
                <a:cs typeface="Yu Gothic"/>
              </a:defRPr>
            </a:pPr>
            <a:r>
              <a:rPr sz="1575" b="0">
                <a:solidFill>
                  <a:srgbClr val="26373D"/>
                </a:solidFill>
                <a:latin typeface="Yu Gothic"/>
                <a:ea typeface="Yu Gothic"/>
                <a:cs typeface="Yu Gothic"/>
              </a:rPr>
              <a:t>研究の意味：server seedだけでは事前に網羅しにくい現場差を、映像そのものではなく予測挙動の要約としてfoundationへ還元する</a:t>
            </a:r>
          </a:p>
        </p:txBody>
      </p:sp>
    </p:spTree>
    <p:extLst>
      <p:ext uri="{BB962C8B-B14F-4D97-AF65-F5344CB8AC3E}">
        <p14:creationId xmlns:p14="http://schemas.microsoft.com/office/powerpoint/2010/main" val="167507223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14B6A26F-FA96-449F-99AE-4F5EC3ED816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2BE5A67-EB7C-4D7B-AAB5-E003BA796066}"/>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F966CFB-CFB5-4F9E-8C35-E8CF560B5189}"/>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9月15日以降、研究の焦点をLayer 2へ絞った</a:t>
            </a:r>
          </a:p>
        </p:txBody>
      </p:sp>
      <p:sp>
        <p:nvSpPr>
          <p:cNvPr id="4" name="">
            <a:extLst xmlns:a="http://schemas.openxmlformats.org/drawingml/2006/main">
              <a:ext uri="{FF2B5EF4-FFF2-40B4-BE49-F238E27FC236}">
                <a16:creationId xmlns:a16="http://schemas.microsoft.com/office/drawing/2014/main" id="{D4EF8FDF-9796-4D7F-940C-4272F55EBF5C}"/>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03</a:t>
            </a:r>
          </a:p>
        </p:txBody>
      </p:sp>
      <p:sp>
        <p:nvSpPr>
          <p:cNvPr id="5" name="">
            <a:extLst xmlns:a="http://schemas.openxmlformats.org/drawingml/2006/main">
              <a:ext uri="{FF2B5EF4-FFF2-40B4-BE49-F238E27FC236}">
                <a16:creationId xmlns:a16="http://schemas.microsoft.com/office/drawing/2014/main" id="{F0022929-8B36-46E3-ACCF-670440DEC881}"/>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4AD912E-B5C8-443F-B5BC-C11179609B1A}"/>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10BE0946-EB17-4DBC-B345-1C3D5B763DF4}"/>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3 / 10</a:t>
            </a:r>
          </a:p>
        </p:txBody>
      </p:sp>
      <p:sp>
        <p:nvSpPr>
          <p:cNvPr id="8" name="">
            <a:extLst xmlns:a="http://schemas.openxmlformats.org/drawingml/2006/main">
              <a:ext uri="{FF2B5EF4-FFF2-40B4-BE49-F238E27FC236}">
                <a16:creationId xmlns:a16="http://schemas.microsoft.com/office/drawing/2014/main" id="{F54534A4-E922-467D-90DD-E07D5D85EE41}"/>
              </a:ext>
            </a:extLst>
          </p:cNvPr>
          <p:cNvSpPr>
            <a:spLocks xmlns:a="http://schemas.openxmlformats.org/drawingml/2006/main" noGrp="1"/>
          </p:cNvSpPr>
          <p:nvPr/>
        </p:nvSpPr>
        <p:spPr>
          <a:xfrm xmlns:a="http://schemas.openxmlformats.org/drawingml/2006/main">
            <a:off x="666750" y="1238250"/>
            <a:ext cx="300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47B78"/>
                </a:solidFill>
                <a:latin typeface="Yu Gothic"/>
                <a:ea typeface="Yu Gothic"/>
                <a:cs typeface="Yu Gothic"/>
              </a:defRPr>
            </a:pPr>
            <a:r>
              <a:rPr sz="1800" b="1">
                <a:solidFill>
                  <a:srgbClr val="147B78"/>
                </a:solidFill>
                <a:latin typeface="Yu Gothic"/>
                <a:ea typeface="Yu Gothic"/>
                <a:cs typeface="Yu Gothic"/>
              </a:rPr>
              <a:t>9 / 15</a:t>
            </a:r>
          </a:p>
        </p:txBody>
      </p:sp>
      <p:sp>
        <p:nvSpPr>
          <p:cNvPr id="9" name="">
            <a:extLst xmlns:a="http://schemas.openxmlformats.org/drawingml/2006/main">
              <a:ext uri="{FF2B5EF4-FFF2-40B4-BE49-F238E27FC236}">
                <a16:creationId xmlns:a16="http://schemas.microsoft.com/office/drawing/2014/main" id="{BCD010A1-A8FA-4121-9558-31CBD25C2B8C}"/>
              </a:ext>
            </a:extLst>
          </p:cNvPr>
          <p:cNvSpPr>
            <a:spLocks xmlns:a="http://schemas.openxmlformats.org/drawingml/2006/main" noGrp="1"/>
          </p:cNvSpPr>
          <p:nvPr/>
        </p:nvSpPr>
        <p:spPr>
          <a:xfrm xmlns:a="http://schemas.openxmlformats.org/drawingml/2006/main">
            <a:off x="666750" y="1724025"/>
            <a:ext cx="2857500" cy="38100"/>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8277BD9-0B3D-428E-87FE-D2AB52E04EBC}"/>
              </a:ext>
            </a:extLst>
          </p:cNvPr>
          <p:cNvSpPr>
            <a:spLocks xmlns:a="http://schemas.openxmlformats.org/drawingml/2006/main" noGrp="1"/>
          </p:cNvSpPr>
          <p:nvPr/>
        </p:nvSpPr>
        <p:spPr>
          <a:xfrm xmlns:a="http://schemas.openxmlformats.org/drawingml/2006/main">
            <a:off x="666750" y="1981200"/>
            <a:ext cx="300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173B4B"/>
                </a:solidFill>
                <a:latin typeface="Yu Gothic"/>
                <a:ea typeface="Yu Gothic"/>
                <a:cs typeface="Yu Gothic"/>
              </a:defRPr>
            </a:pPr>
            <a:r>
              <a:rPr sz="1950" b="1">
                <a:solidFill>
                  <a:srgbClr val="173B4B"/>
                </a:solidFill>
                <a:latin typeface="Yu Gothic"/>
                <a:ea typeface="Yu Gothic"/>
                <a:cs typeface="Yu Gothic"/>
              </a:rPr>
              <a:t>複雑さを減らす</a:t>
            </a:r>
          </a:p>
        </p:txBody>
      </p:sp>
      <p:sp>
        <p:nvSpPr>
          <p:cNvPr id="11" name="">
            <a:extLst xmlns:a="http://schemas.openxmlformats.org/drawingml/2006/main">
              <a:ext uri="{FF2B5EF4-FFF2-40B4-BE49-F238E27FC236}">
                <a16:creationId xmlns:a16="http://schemas.microsoft.com/office/drawing/2014/main" id="{A30DBB9A-C199-4D9F-853F-A37A78D62D9A}"/>
              </a:ext>
            </a:extLst>
          </p:cNvPr>
          <p:cNvSpPr>
            <a:spLocks xmlns:a="http://schemas.openxmlformats.org/drawingml/2006/main" noGrp="1"/>
          </p:cNvSpPr>
          <p:nvPr/>
        </p:nvSpPr>
        <p:spPr>
          <a:xfrm xmlns:a="http://schemas.openxmlformats.org/drawingml/2006/main">
            <a:off x="666750" y="2571750"/>
            <a:ext cx="30003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26373D"/>
                </a:solidFill>
                <a:latin typeface="Yu Gothic"/>
                <a:ea typeface="Yu Gothic"/>
                <a:cs typeface="Yu Gothic"/>
              </a:defRPr>
            </a:pPr>
            <a:r>
              <a:rPr sz="1425" b="0">
                <a:solidFill>
                  <a:srgbClr val="26373D"/>
                </a:solidFill>
                <a:latin typeface="Yu Gothic"/>
                <a:ea typeface="Yu Gothic"/>
                <a:cs typeface="Yu Gothic"/>
              </a:rPr>
              <a:t>機能を一度に入れると失敗原因を切り分けられない。中心課題と最小構成を先に確認する。</a:t>
            </a:r>
          </a:p>
        </p:txBody>
      </p:sp>
      <p:sp>
        <p:nvSpPr>
          <p:cNvPr id="12" name="">
            <a:extLst xmlns:a="http://schemas.openxmlformats.org/drawingml/2006/main">
              <a:ext uri="{FF2B5EF4-FFF2-40B4-BE49-F238E27FC236}">
                <a16:creationId xmlns:a16="http://schemas.microsoft.com/office/drawing/2014/main" id="{829FCDEA-51E8-4705-A36A-1AA2246511DE}"/>
              </a:ext>
            </a:extLst>
          </p:cNvPr>
          <p:cNvSpPr>
            <a:spLocks xmlns:a="http://schemas.openxmlformats.org/drawingml/2006/main" noGrp="1"/>
          </p:cNvSpPr>
          <p:nvPr/>
        </p:nvSpPr>
        <p:spPr>
          <a:xfrm xmlns:a="http://schemas.openxmlformats.org/drawingml/2006/main">
            <a:off x="4114800" y="1238250"/>
            <a:ext cx="300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47B78"/>
                </a:solidFill>
                <a:latin typeface="Yu Gothic"/>
                <a:ea typeface="Yu Gothic"/>
                <a:cs typeface="Yu Gothic"/>
              </a:defRPr>
            </a:pPr>
            <a:r>
              <a:rPr sz="1800" b="1">
                <a:solidFill>
                  <a:srgbClr val="147B78"/>
                </a:solidFill>
                <a:latin typeface="Yu Gothic"/>
                <a:ea typeface="Yu Gothic"/>
                <a:cs typeface="Yu Gothic"/>
              </a:rPr>
              <a:t>9 / 16</a:t>
            </a:r>
          </a:p>
        </p:txBody>
      </p:sp>
      <p:sp>
        <p:nvSpPr>
          <p:cNvPr id="13" name="">
            <a:extLst xmlns:a="http://schemas.openxmlformats.org/drawingml/2006/main">
              <a:ext uri="{FF2B5EF4-FFF2-40B4-BE49-F238E27FC236}">
                <a16:creationId xmlns:a16="http://schemas.microsoft.com/office/drawing/2014/main" id="{D569C0F2-C1C1-44B1-A9CE-B1BACB13616D}"/>
              </a:ext>
            </a:extLst>
          </p:cNvPr>
          <p:cNvSpPr>
            <a:spLocks xmlns:a="http://schemas.openxmlformats.org/drawingml/2006/main" noGrp="1"/>
          </p:cNvSpPr>
          <p:nvPr/>
        </p:nvSpPr>
        <p:spPr>
          <a:xfrm xmlns:a="http://schemas.openxmlformats.org/drawingml/2006/main">
            <a:off x="4114800" y="1724025"/>
            <a:ext cx="2857500" cy="38100"/>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EAB9E72-CFD9-42B7-8F3A-EC2E8BA8203A}"/>
              </a:ext>
            </a:extLst>
          </p:cNvPr>
          <p:cNvSpPr>
            <a:spLocks xmlns:a="http://schemas.openxmlformats.org/drawingml/2006/main" noGrp="1"/>
          </p:cNvSpPr>
          <p:nvPr/>
        </p:nvSpPr>
        <p:spPr>
          <a:xfrm xmlns:a="http://schemas.openxmlformats.org/drawingml/2006/main">
            <a:off x="4114800" y="1981200"/>
            <a:ext cx="300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173B4B"/>
                </a:solidFill>
                <a:latin typeface="Yu Gothic"/>
                <a:ea typeface="Yu Gothic"/>
                <a:cs typeface="Yu Gothic"/>
              </a:defRPr>
            </a:pPr>
            <a:r>
              <a:rPr sz="1950" b="1">
                <a:solidFill>
                  <a:srgbClr val="173B4B"/>
                </a:solidFill>
                <a:latin typeface="Yu Gothic"/>
                <a:ea typeface="Yu Gothic"/>
                <a:cs typeface="Yu Gothic"/>
              </a:rPr>
              <a:t>第I段階の目的を固定</a:t>
            </a:r>
          </a:p>
        </p:txBody>
      </p:sp>
      <p:sp>
        <p:nvSpPr>
          <p:cNvPr id="15" name="">
            <a:extLst xmlns:a="http://schemas.openxmlformats.org/drawingml/2006/main">
              <a:ext uri="{FF2B5EF4-FFF2-40B4-BE49-F238E27FC236}">
                <a16:creationId xmlns:a16="http://schemas.microsoft.com/office/drawing/2014/main" id="{AC184EB3-3997-4B8E-B5D0-D6E59467A374}"/>
              </a:ext>
            </a:extLst>
          </p:cNvPr>
          <p:cNvSpPr>
            <a:spLocks xmlns:a="http://schemas.openxmlformats.org/drawingml/2006/main" noGrp="1"/>
          </p:cNvSpPr>
          <p:nvPr/>
        </p:nvSpPr>
        <p:spPr>
          <a:xfrm xmlns:a="http://schemas.openxmlformats.org/drawingml/2006/main">
            <a:off x="4114800" y="2571750"/>
            <a:ext cx="30003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26373D"/>
                </a:solidFill>
                <a:latin typeface="Yu Gothic"/>
                <a:ea typeface="Yu Gothic"/>
                <a:cs typeface="Yu Gothic"/>
              </a:defRPr>
            </a:pPr>
            <a:r>
              <a:rPr sz="1425" b="0">
                <a:solidFill>
                  <a:srgbClr val="26373D"/>
                </a:solidFill>
                <a:latin typeface="Yu Gothic"/>
                <a:ea typeface="Yu Gothic"/>
                <a:cs typeface="Yu Gothic"/>
              </a:rPr>
              <a:t>三層構造は維持し、研究の中核を第2層に置く。第I段階では性能より、処理とstateの追跡を確認する。</a:t>
            </a:r>
          </a:p>
        </p:txBody>
      </p:sp>
      <p:sp>
        <p:nvSpPr>
          <p:cNvPr id="16" name="">
            <a:extLst xmlns:a="http://schemas.openxmlformats.org/drawingml/2006/main">
              <a:ext uri="{FF2B5EF4-FFF2-40B4-BE49-F238E27FC236}">
                <a16:creationId xmlns:a16="http://schemas.microsoft.com/office/drawing/2014/main" id="{A099A0E0-4498-439A-BA40-0777CF21230E}"/>
              </a:ext>
            </a:extLst>
          </p:cNvPr>
          <p:cNvSpPr>
            <a:spLocks xmlns:a="http://schemas.openxmlformats.org/drawingml/2006/main" noGrp="1"/>
          </p:cNvSpPr>
          <p:nvPr/>
        </p:nvSpPr>
        <p:spPr>
          <a:xfrm xmlns:a="http://schemas.openxmlformats.org/drawingml/2006/main">
            <a:off x="7562850" y="1238250"/>
            <a:ext cx="300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E7833D"/>
                </a:solidFill>
                <a:latin typeface="Yu Gothic"/>
                <a:ea typeface="Yu Gothic"/>
                <a:cs typeface="Yu Gothic"/>
              </a:defRPr>
            </a:pPr>
            <a:r>
              <a:rPr sz="1800" b="1">
                <a:solidFill>
                  <a:srgbClr val="E7833D"/>
                </a:solidFill>
                <a:latin typeface="Yu Gothic"/>
                <a:ea typeface="Yu Gothic"/>
                <a:cs typeface="Yu Gothic"/>
              </a:rPr>
              <a:t>9 / 17</a:t>
            </a:r>
          </a:p>
        </p:txBody>
      </p:sp>
      <p:sp>
        <p:nvSpPr>
          <p:cNvPr id="17" name="">
            <a:extLst xmlns:a="http://schemas.openxmlformats.org/drawingml/2006/main">
              <a:ext uri="{FF2B5EF4-FFF2-40B4-BE49-F238E27FC236}">
                <a16:creationId xmlns:a16="http://schemas.microsoft.com/office/drawing/2014/main" id="{EE5FAF2E-E274-4B9E-8FBF-38E380EB267A}"/>
              </a:ext>
            </a:extLst>
          </p:cNvPr>
          <p:cNvSpPr>
            <a:spLocks xmlns:a="http://schemas.openxmlformats.org/drawingml/2006/main" noGrp="1"/>
          </p:cNvSpPr>
          <p:nvPr/>
        </p:nvSpPr>
        <p:spPr>
          <a:xfrm xmlns:a="http://schemas.openxmlformats.org/drawingml/2006/main">
            <a:off x="7562850" y="1724025"/>
            <a:ext cx="2857500" cy="38100"/>
          </a:xfrm>
          <a:prstGeom xmlns:a="http://schemas.openxmlformats.org/drawingml/2006/main" prst="rect">
            <a:avLst/>
          </a:prstGeom>
          <a:solidFill xmlns:a="http://schemas.openxmlformats.org/drawingml/2006/main">
            <a:srgbClr val="E7833D"/>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48A2CE7-A2AD-43F1-B6B0-3702584B7CFA}"/>
              </a:ext>
            </a:extLst>
          </p:cNvPr>
          <p:cNvSpPr>
            <a:spLocks xmlns:a="http://schemas.openxmlformats.org/drawingml/2006/main" noGrp="1"/>
          </p:cNvSpPr>
          <p:nvPr/>
        </p:nvSpPr>
        <p:spPr>
          <a:xfrm xmlns:a="http://schemas.openxmlformats.org/drawingml/2006/main">
            <a:off x="7562850" y="1981200"/>
            <a:ext cx="300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173B4B"/>
                </a:solidFill>
                <a:latin typeface="Yu Gothic"/>
                <a:ea typeface="Yu Gothic"/>
                <a:cs typeface="Yu Gothic"/>
              </a:defRPr>
            </a:pPr>
            <a:r>
              <a:rPr sz="1950" b="1">
                <a:solidFill>
                  <a:srgbClr val="173B4B"/>
                </a:solidFill>
                <a:latin typeface="Yu Gothic"/>
                <a:ea typeface="Yu Gothic"/>
                <a:cs typeface="Yu Gothic"/>
              </a:rPr>
              <a:t>3 roundの接続を確認</a:t>
            </a:r>
          </a:p>
        </p:txBody>
      </p:sp>
      <p:sp>
        <p:nvSpPr>
          <p:cNvPr id="19" name="">
            <a:extLst xmlns:a="http://schemas.openxmlformats.org/drawingml/2006/main">
              <a:ext uri="{FF2B5EF4-FFF2-40B4-BE49-F238E27FC236}">
                <a16:creationId xmlns:a16="http://schemas.microsoft.com/office/drawing/2014/main" id="{504532C2-6DA1-499C-B0BF-E5B66B17A036}"/>
              </a:ext>
            </a:extLst>
          </p:cNvPr>
          <p:cNvSpPr>
            <a:spLocks xmlns:a="http://schemas.openxmlformats.org/drawingml/2006/main" noGrp="1"/>
          </p:cNvSpPr>
          <p:nvPr/>
        </p:nvSpPr>
        <p:spPr>
          <a:xfrm xmlns:a="http://schemas.openxmlformats.org/drawingml/2006/main">
            <a:off x="7562850" y="2571750"/>
            <a:ext cx="30003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26373D"/>
                </a:solidFill>
                <a:latin typeface="Yu Gothic"/>
                <a:ea typeface="Yu Gothic"/>
                <a:cs typeface="Yu Gothic"/>
              </a:defRPr>
            </a:pPr>
            <a:r>
              <a:rPr sz="1425" b="0">
                <a:solidFill>
                  <a:srgbClr val="26373D"/>
                </a:solidFill>
                <a:latin typeface="Yu Gothic"/>
                <a:ea typeface="Yu Gothic"/>
                <a:cs typeface="Yu Gothic"/>
              </a:rPr>
              <a:t>入力条件を修正した。2 clientからfoundation更新、次roundのstate継承までをログ付きで実行した。</a:t>
            </a:r>
          </a:p>
        </p:txBody>
      </p:sp>
      <p:sp>
        <p:nvSpPr>
          <p:cNvPr id="20" name="">
            <a:extLst xmlns:a="http://schemas.openxmlformats.org/drawingml/2006/main">
              <a:ext uri="{FF2B5EF4-FFF2-40B4-BE49-F238E27FC236}">
                <a16:creationId xmlns:a16="http://schemas.microsoft.com/office/drawing/2014/main" id="{409625DA-4242-4C62-802A-6977768CA0A8}"/>
              </a:ext>
            </a:extLst>
          </p:cNvPr>
          <p:cNvSpPr>
            <a:spLocks xmlns:a="http://schemas.openxmlformats.org/drawingml/2006/main" noGrp="1"/>
          </p:cNvSpPr>
          <p:nvPr/>
        </p:nvSpPr>
        <p:spPr>
          <a:xfrm xmlns:a="http://schemas.openxmlformats.org/drawingml/2006/main">
            <a:off x="666750" y="5010150"/>
            <a:ext cx="9763125" cy="14288"/>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CD4CAF74-72C2-4362-AC09-E80610548C96}"/>
              </a:ext>
            </a:extLst>
          </p:cNvPr>
          <p:cNvSpPr>
            <a:spLocks xmlns:a="http://schemas.openxmlformats.org/drawingml/2006/main" noGrp="1"/>
          </p:cNvSpPr>
          <p:nvPr/>
        </p:nvSpPr>
        <p:spPr>
          <a:xfrm xmlns:a="http://schemas.openxmlformats.org/drawingml/2006/main">
            <a:off x="10429875" y="4933950"/>
            <a:ext cx="171450" cy="171450"/>
          </a:xfrm>
          <a:prstGeom xmlns:a="http://schemas.openxmlformats.org/drawingml/2006/main" prst="rect">
            <a:avLst/>
          </a:prstGeom>
          <a:solidFill xmlns:a="http://schemas.openxmlformats.org/drawingml/2006/main">
            <a:srgbClr val="E7833D"/>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E23A341-7F50-4F6D-A90A-03BF587CEDF9}"/>
              </a:ext>
            </a:extLst>
          </p:cNvPr>
          <p:cNvSpPr>
            <a:spLocks xmlns:a="http://schemas.openxmlformats.org/drawingml/2006/main" noGrp="1"/>
          </p:cNvSpPr>
          <p:nvPr/>
        </p:nvSpPr>
        <p:spPr>
          <a:xfrm xmlns:a="http://schemas.openxmlformats.org/drawingml/2006/main">
            <a:off x="666750" y="5257800"/>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617078"/>
                </a:solidFill>
                <a:latin typeface="Yu Gothic"/>
                <a:ea typeface="Yu Gothic"/>
                <a:cs typeface="Yu Gothic"/>
              </a:defRPr>
            </a:pPr>
            <a:r>
              <a:rPr sz="1500" b="1">
                <a:solidFill>
                  <a:srgbClr val="617078"/>
                </a:solidFill>
                <a:latin typeface="Yu Gothic"/>
                <a:ea typeface="Yu Gothic"/>
                <a:cs typeface="Yu Gothic"/>
              </a:rPr>
              <a:t>今週の報告範囲</a:t>
            </a:r>
          </a:p>
        </p:txBody>
      </p:sp>
      <p:sp>
        <p:nvSpPr>
          <p:cNvPr id="23" name="">
            <a:extLst xmlns:a="http://schemas.openxmlformats.org/drawingml/2006/main">
              <a:ext uri="{FF2B5EF4-FFF2-40B4-BE49-F238E27FC236}">
                <a16:creationId xmlns:a16="http://schemas.microsoft.com/office/drawing/2014/main" id="{728E20F9-2D6C-4BB4-AC78-2EF808D73FD5}"/>
              </a:ext>
            </a:extLst>
          </p:cNvPr>
          <p:cNvSpPr>
            <a:spLocks xmlns:a="http://schemas.openxmlformats.org/drawingml/2006/main" noGrp="1"/>
          </p:cNvSpPr>
          <p:nvPr/>
        </p:nvSpPr>
        <p:spPr>
          <a:xfrm xmlns:a="http://schemas.openxmlformats.org/drawingml/2006/main">
            <a:off x="3143250" y="5200650"/>
            <a:ext cx="781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385"/>
          </a:bodyPr>
          <a:lstStyle xmlns:a="http://schemas.openxmlformats.org/drawingml/2006/main"/>
          <a:p xmlns:a="http://schemas.openxmlformats.org/drawingml/2006/main">
            <a:pPr algn="l">
              <a:defRPr sz="1800" b="1">
                <a:solidFill>
                  <a:srgbClr val="173B4B"/>
                </a:solidFill>
                <a:latin typeface="Yu Gothic"/>
                <a:ea typeface="Yu Gothic"/>
                <a:cs typeface="Yu Gothic"/>
              </a:defRPr>
            </a:pPr>
            <a:r>
              <a:rPr sz="1800" b="1">
                <a:solidFill>
                  <a:srgbClr val="173B4B"/>
                </a:solidFill>
                <a:latin typeface="Yu Gothic"/>
                <a:ea typeface="Yu Gothic"/>
                <a:cs typeface="Yu Gothic"/>
              </a:rPr>
              <a:t>Layer 2の有効性を主張する前に、どの処理で崩れるかを追える実装を完成させる</a:t>
            </a:r>
          </a:p>
        </p:txBody>
      </p:sp>
    </p:spTree>
    <p:extLst>
      <p:ext uri="{BB962C8B-B14F-4D97-AF65-F5344CB8AC3E}">
        <p14:creationId xmlns:p14="http://schemas.microsoft.com/office/powerpoint/2010/main" val="97871605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9920FFF-93D5-43D2-AE88-DB67D94E159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09048C0-F8A1-492D-9CF0-3FFA50624C92}"/>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2E329C0-5DAC-4CF8-AB21-DB0DE7D9F7B6}"/>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FedPACT全体フロー</a:t>
            </a:r>
          </a:p>
        </p:txBody>
      </p:sp>
      <p:sp>
        <p:nvSpPr>
          <p:cNvPr id="4" name="">
            <a:extLst xmlns:a="http://schemas.openxmlformats.org/drawingml/2006/main">
              <a:ext uri="{FF2B5EF4-FFF2-40B4-BE49-F238E27FC236}">
                <a16:creationId xmlns:a16="http://schemas.microsoft.com/office/drawing/2014/main" id="{2919419C-184F-45A3-B255-202B38190BA8}"/>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04</a:t>
            </a:r>
          </a:p>
        </p:txBody>
      </p:sp>
      <p:sp>
        <p:nvSpPr>
          <p:cNvPr id="5" name="">
            <a:extLst xmlns:a="http://schemas.openxmlformats.org/drawingml/2006/main">
              <a:ext uri="{FF2B5EF4-FFF2-40B4-BE49-F238E27FC236}">
                <a16:creationId xmlns:a16="http://schemas.microsoft.com/office/drawing/2014/main" id="{E45C9191-1228-469E-9FFA-45D83CB12D02}"/>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D04F47C-E97A-4B64-B961-D0296D4C66F7}"/>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63B501C0-EF57-4C3A-8DDF-33C524B99ABB}"/>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4 / 10</a:t>
            </a:r>
          </a:p>
        </p:txBody>
      </p:sp>
      <p:sp>
        <p:nvSpPr>
          <p:cNvPr id="8" name="">
            <a:extLst xmlns:a="http://schemas.openxmlformats.org/drawingml/2006/main">
              <a:ext uri="{FF2B5EF4-FFF2-40B4-BE49-F238E27FC236}">
                <a16:creationId xmlns:a16="http://schemas.microsoft.com/office/drawing/2014/main" id="{5F5F30DF-2268-4A47-9AE3-6C0B69272E39}"/>
              </a:ext>
            </a:extLst>
          </p:cNvPr>
          <p:cNvSpPr>
            <a:spLocks xmlns:a="http://schemas.openxmlformats.org/drawingml/2006/main" noGrp="1"/>
          </p:cNvSpPr>
          <p:nvPr/>
        </p:nvSpPr>
        <p:spPr>
          <a:xfrm xmlns:a="http://schemas.openxmlformats.org/drawingml/2006/main">
            <a:off x="781050" y="1295400"/>
            <a:ext cx="10629900" cy="4343400"/>
          </a:xfrm>
          <a:prstGeom xmlns:a="http://schemas.openxmlformats.org/drawingml/2006/main" prst="rect">
            <a:avLst/>
          </a:prstGeom>
          <a:solidFill xmlns:a="http://schemas.openxmlformats.org/drawingml/2006/main">
            <a:srgbClr val="ECEFEB"/>
          </a:solidFill>
          <a:ln xmlns:a="http://schemas.openxmlformats.org/drawingml/2006/main" w="19050">
            <a:solidFill>
              <a:srgbClr val="87979C"/>
            </a:solidFill>
          </a:ln>
        </p:spPr>
      </p:sp>
      <p:sp>
        <p:nvSpPr>
          <p:cNvPr id="9" name="">
            <a:extLst xmlns:a="http://schemas.openxmlformats.org/drawingml/2006/main">
              <a:ext uri="{FF2B5EF4-FFF2-40B4-BE49-F238E27FC236}">
                <a16:creationId xmlns:a16="http://schemas.microsoft.com/office/drawing/2014/main" id="{5B379D29-441E-4966-BE67-50EE3823B495}"/>
              </a:ext>
            </a:extLst>
          </p:cNvPr>
          <p:cNvSpPr>
            <a:spLocks xmlns:a="http://schemas.openxmlformats.org/drawingml/2006/main" noGrp="1"/>
          </p:cNvSpPr>
          <p:nvPr/>
        </p:nvSpPr>
        <p:spPr>
          <a:xfrm xmlns:a="http://schemas.openxmlformats.org/drawingml/2006/main">
            <a:off x="2095500" y="2857500"/>
            <a:ext cx="8001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175" b="1">
                <a:solidFill>
                  <a:srgbClr val="617078"/>
                </a:solidFill>
                <a:latin typeface="Yu Gothic"/>
                <a:ea typeface="Yu Gothic"/>
                <a:cs typeface="Yu Gothic"/>
              </a:defRPr>
            </a:pPr>
            <a:r>
              <a:rPr sz="2175" b="1">
                <a:solidFill>
                  <a:srgbClr val="617078"/>
                </a:solidFill>
                <a:latin typeface="Yu Gothic"/>
                <a:ea typeface="Yu Gothic"/>
                <a:cs typeface="Yu Gothic"/>
              </a:rPr>
              <a:t>ここに9月16日Slack共有版のフローチャートを挿入</a:t>
            </a:r>
          </a:p>
        </p:txBody>
      </p:sp>
      <p:sp>
        <p:nvSpPr>
          <p:cNvPr id="10" name="">
            <a:extLst xmlns:a="http://schemas.openxmlformats.org/drawingml/2006/main">
              <a:ext uri="{FF2B5EF4-FFF2-40B4-BE49-F238E27FC236}">
                <a16:creationId xmlns:a16="http://schemas.microsoft.com/office/drawing/2014/main" id="{E774E20C-1D4F-4B82-9230-185E0FA322B6}"/>
              </a:ext>
            </a:extLst>
          </p:cNvPr>
          <p:cNvSpPr>
            <a:spLocks xmlns:a="http://schemas.openxmlformats.org/drawingml/2006/main" noGrp="1"/>
          </p:cNvSpPr>
          <p:nvPr/>
        </p:nvSpPr>
        <p:spPr>
          <a:xfrm xmlns:a="http://schemas.openxmlformats.org/drawingml/2006/main">
            <a:off x="1381125" y="5867400"/>
            <a:ext cx="942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147B78"/>
                </a:solidFill>
                <a:latin typeface="Yu Gothic"/>
                <a:ea typeface="Yu Gothic"/>
                <a:cs typeface="Yu Gothic"/>
              </a:defRPr>
            </a:pPr>
            <a:r>
              <a:rPr sz="1575" b="1">
                <a:solidFill>
                  <a:srgbClr val="147B78"/>
                </a:solidFill>
                <a:latin typeface="Yu Gothic"/>
                <a:ea typeface="Yu Gothic"/>
                <a:cs typeface="Yu Gothic"/>
              </a:rPr>
              <a:t>今回の実験では、この図のLayer 1からLayer 3と次roundへのstate継承までを確認</a:t>
            </a:r>
          </a:p>
        </p:txBody>
      </p:sp>
    </p:spTree>
    <p:extLst>
      <p:ext uri="{BB962C8B-B14F-4D97-AF65-F5344CB8AC3E}">
        <p14:creationId xmlns:p14="http://schemas.microsoft.com/office/powerpoint/2010/main" val="110810757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7B1ACDA3-3888-4AAB-9E01-ED3DC35D276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A22EED0-7935-4761-A92B-192C7439DA43}"/>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DD264EA-5AEA-49EA-AD47-67CCEAC4009A}"/>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今回の実験は三層の接続確認</a:t>
            </a:r>
          </a:p>
        </p:txBody>
      </p:sp>
      <p:sp>
        <p:nvSpPr>
          <p:cNvPr id="4" name="">
            <a:extLst xmlns:a="http://schemas.openxmlformats.org/drawingml/2006/main">
              <a:ext uri="{FF2B5EF4-FFF2-40B4-BE49-F238E27FC236}">
                <a16:creationId xmlns:a16="http://schemas.microsoft.com/office/drawing/2014/main" id="{B3956EE0-1E97-42EF-ADAA-9A596106568A}"/>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05</a:t>
            </a:r>
          </a:p>
        </p:txBody>
      </p:sp>
      <p:sp>
        <p:nvSpPr>
          <p:cNvPr id="5" name="">
            <a:extLst xmlns:a="http://schemas.openxmlformats.org/drawingml/2006/main">
              <a:ext uri="{FF2B5EF4-FFF2-40B4-BE49-F238E27FC236}">
                <a16:creationId xmlns:a16="http://schemas.microsoft.com/office/drawing/2014/main" id="{EACF4139-FEFD-45B6-A67B-2C489C5C1275}"/>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F9A1143-11DA-4685-8FAD-A0081C718669}"/>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90A27779-101D-4937-BA02-A0F7D5EB787A}"/>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5 / 10</a:t>
            </a:r>
          </a:p>
        </p:txBody>
      </p:sp>
      <p:sp>
        <p:nvSpPr>
          <p:cNvPr id="8" name="">
            <a:extLst xmlns:a="http://schemas.openxmlformats.org/drawingml/2006/main">
              <a:ext uri="{FF2B5EF4-FFF2-40B4-BE49-F238E27FC236}">
                <a16:creationId xmlns:a16="http://schemas.microsoft.com/office/drawing/2014/main" id="{834DC8E8-1E8D-48A7-BAB7-F68A1FDCDCC6}"/>
              </a:ext>
            </a:extLst>
          </p:cNvPr>
          <p:cNvSpPr>
            <a:spLocks xmlns:a="http://schemas.openxmlformats.org/drawingml/2006/main" noGrp="1"/>
          </p:cNvSpPr>
          <p:nvPr/>
        </p:nvSpPr>
        <p:spPr>
          <a:xfrm xmlns:a="http://schemas.openxmlformats.org/drawingml/2006/main">
            <a:off x="666750" y="112395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47B78"/>
                </a:solidFill>
                <a:latin typeface="Yu Gothic"/>
                <a:ea typeface="Yu Gothic"/>
                <a:cs typeface="Yu Gothic"/>
              </a:defRPr>
            </a:pPr>
            <a:r>
              <a:rPr sz="1500" b="1">
                <a:solidFill>
                  <a:srgbClr val="147B78"/>
                </a:solidFill>
                <a:latin typeface="Yu Gothic"/>
                <a:ea typeface="Yu Gothic"/>
                <a:cs typeface="Yu Gothic"/>
              </a:rPr>
              <a:t>確認した問い</a:t>
            </a:r>
          </a:p>
        </p:txBody>
      </p:sp>
      <p:sp>
        <p:nvSpPr>
          <p:cNvPr id="9" name="">
            <a:extLst xmlns:a="http://schemas.openxmlformats.org/drawingml/2006/main">
              <a:ext uri="{FF2B5EF4-FFF2-40B4-BE49-F238E27FC236}">
                <a16:creationId xmlns:a16="http://schemas.microsoft.com/office/drawing/2014/main" id="{0CBF6B32-88AC-45B7-8135-05EE4FEC0BA4}"/>
              </a:ext>
            </a:extLst>
          </p:cNvPr>
          <p:cNvSpPr>
            <a:spLocks xmlns:a="http://schemas.openxmlformats.org/drawingml/2006/main" noGrp="1"/>
          </p:cNvSpPr>
          <p:nvPr/>
        </p:nvSpPr>
        <p:spPr>
          <a:xfrm xmlns:a="http://schemas.openxmlformats.org/drawingml/2006/main">
            <a:off x="666750" y="1466850"/>
            <a:ext cx="5429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173B4B"/>
                </a:solidFill>
                <a:latin typeface="Yu Gothic"/>
                <a:ea typeface="Yu Gothic"/>
                <a:cs typeface="Yu Gothic"/>
              </a:defRPr>
            </a:pPr>
            <a:r>
              <a:rPr sz="2100" b="1">
                <a:solidFill>
                  <a:srgbClr val="173B4B"/>
                </a:solidFill>
                <a:latin typeface="Yu Gothic"/>
                <a:ea typeface="Yu Gothic"/>
                <a:cs typeface="Yu Gothic"/>
              </a:rPr>
              <a:t>各roundで処理とstateが正しくつながり、保存したログから入力と出力を追えるか</a:t>
            </a:r>
          </a:p>
        </p:txBody>
      </p:sp>
      <p:sp>
        <p:nvSpPr>
          <p:cNvPr id="10" name="">
            <a:extLst xmlns:a="http://schemas.openxmlformats.org/drawingml/2006/main">
              <a:ext uri="{FF2B5EF4-FFF2-40B4-BE49-F238E27FC236}">
                <a16:creationId xmlns:a16="http://schemas.microsoft.com/office/drawing/2014/main" id="{2329340B-FC2A-4EB1-A1B3-AA7A200A7F40}"/>
              </a:ext>
            </a:extLst>
          </p:cNvPr>
          <p:cNvSpPr>
            <a:spLocks xmlns:a="http://schemas.openxmlformats.org/drawingml/2006/main" noGrp="1"/>
          </p:cNvSpPr>
          <p:nvPr/>
        </p:nvSpPr>
        <p:spPr>
          <a:xfrm xmlns:a="http://schemas.openxmlformats.org/drawingml/2006/main">
            <a:off x="685800" y="2571750"/>
            <a:ext cx="5191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26373D"/>
                </a:solidFill>
                <a:latin typeface="Yu Gothic"/>
                <a:ea typeface="Yu Gothic"/>
                <a:cs typeface="Yu Gothic"/>
              </a:defRPr>
            </a:pPr>
            <a:r>
              <a:rPr sz="1575" b="0">
                <a:solidFill>
                  <a:srgbClr val="26373D"/>
                </a:solidFill>
                <a:latin typeface="Yu Gothic"/>
                <a:ea typeface="Yu Gothic"/>
                <a:cs typeface="Yu Gothic"/>
              </a:rPr>
              <a:t>2 client　各clientは normal 3本＋risk 3本</a:t>
            </a:r>
          </a:p>
        </p:txBody>
      </p:sp>
      <p:sp>
        <p:nvSpPr>
          <p:cNvPr id="11" name="">
            <a:extLst xmlns:a="http://schemas.openxmlformats.org/drawingml/2006/main">
              <a:ext uri="{FF2B5EF4-FFF2-40B4-BE49-F238E27FC236}">
                <a16:creationId xmlns:a16="http://schemas.microsoft.com/office/drawing/2014/main" id="{7528F31A-B7E0-4E0F-A1D9-94EA9C067839}"/>
              </a:ext>
            </a:extLst>
          </p:cNvPr>
          <p:cNvSpPr>
            <a:spLocks xmlns:a="http://schemas.openxmlformats.org/drawingml/2006/main" noGrp="1"/>
          </p:cNvSpPr>
          <p:nvPr/>
        </p:nvSpPr>
        <p:spPr>
          <a:xfrm xmlns:a="http://schemas.openxmlformats.org/drawingml/2006/main">
            <a:off x="685800" y="3009900"/>
            <a:ext cx="5191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26373D"/>
                </a:solidFill>
                <a:latin typeface="Yu Gothic"/>
                <a:ea typeface="Yu Gothic"/>
                <a:cs typeface="Yu Gothic"/>
              </a:defRPr>
            </a:pPr>
            <a:r>
              <a:rPr sz="1575" b="0">
                <a:solidFill>
                  <a:srgbClr val="26373D"/>
                </a:solidFill>
                <a:latin typeface="Yu Gothic"/>
                <a:ea typeface="Yu Gothic"/>
                <a:cs typeface="Yu Gothic"/>
              </a:rPr>
              <a:t>server-side seed　normal 30本＋risk 30本</a:t>
            </a:r>
          </a:p>
        </p:txBody>
      </p:sp>
      <p:sp>
        <p:nvSpPr>
          <p:cNvPr id="12" name="">
            <a:extLst xmlns:a="http://schemas.openxmlformats.org/drawingml/2006/main">
              <a:ext uri="{FF2B5EF4-FFF2-40B4-BE49-F238E27FC236}">
                <a16:creationId xmlns:a16="http://schemas.microsoft.com/office/drawing/2014/main" id="{39AED3FF-7137-442C-9074-A99927745C20}"/>
              </a:ext>
            </a:extLst>
          </p:cNvPr>
          <p:cNvSpPr>
            <a:spLocks xmlns:a="http://schemas.openxmlformats.org/drawingml/2006/main" noGrp="1"/>
          </p:cNvSpPr>
          <p:nvPr/>
        </p:nvSpPr>
        <p:spPr>
          <a:xfrm xmlns:a="http://schemas.openxmlformats.org/drawingml/2006/main">
            <a:off x="685800" y="3448050"/>
            <a:ext cx="5191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26373D"/>
                </a:solidFill>
                <a:latin typeface="Yu Gothic"/>
                <a:ea typeface="Yu Gothic"/>
                <a:cs typeface="Yu Gothic"/>
              </a:defRPr>
            </a:pPr>
            <a:r>
              <a:rPr sz="1575" b="0">
                <a:solidFill>
                  <a:srgbClr val="26373D"/>
                </a:solidFill>
                <a:latin typeface="Yu Gothic"/>
                <a:ea typeface="Yu Gothic"/>
                <a:cs typeface="Yu Gothic"/>
              </a:rPr>
              <a:t>各round　4 prototype、60 proxy候補、4 pair</a:t>
            </a:r>
          </a:p>
        </p:txBody>
      </p:sp>
      <p:sp>
        <p:nvSpPr>
          <p:cNvPr id="13" name="">
            <a:extLst xmlns:a="http://schemas.openxmlformats.org/drawingml/2006/main">
              <a:ext uri="{FF2B5EF4-FFF2-40B4-BE49-F238E27FC236}">
                <a16:creationId xmlns:a16="http://schemas.microsoft.com/office/drawing/2014/main" id="{52361704-2A92-482F-BFE0-97E46FC152C0}"/>
              </a:ext>
            </a:extLst>
          </p:cNvPr>
          <p:cNvSpPr>
            <a:spLocks xmlns:a="http://schemas.openxmlformats.org/drawingml/2006/main" noGrp="1"/>
          </p:cNvSpPr>
          <p:nvPr/>
        </p:nvSpPr>
        <p:spPr>
          <a:xfrm xmlns:a="http://schemas.openxmlformats.org/drawingml/2006/main">
            <a:off x="685800" y="3886200"/>
            <a:ext cx="5191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26373D"/>
                </a:solidFill>
                <a:latin typeface="Yu Gothic"/>
                <a:ea typeface="Yu Gothic"/>
                <a:cs typeface="Yu Gothic"/>
              </a:defRPr>
            </a:pPr>
            <a:r>
              <a:rPr sz="1575" b="0">
                <a:solidFill>
                  <a:srgbClr val="26373D"/>
                </a:solidFill>
                <a:latin typeface="Yu Gothic"/>
                <a:ea typeface="Yu Gothic"/>
                <a:cs typeface="Yu Gothic"/>
              </a:rPr>
              <a:t>実行　1 roundを確認後、3 round連続</a:t>
            </a:r>
          </a:p>
        </p:txBody>
      </p:sp>
      <p:sp>
        <p:nvSpPr>
          <p:cNvPr id="14" name="">
            <a:extLst xmlns:a="http://schemas.openxmlformats.org/drawingml/2006/main">
              <a:ext uri="{FF2B5EF4-FFF2-40B4-BE49-F238E27FC236}">
                <a16:creationId xmlns:a16="http://schemas.microsoft.com/office/drawing/2014/main" id="{054C5ECD-BC57-4939-9ECE-28EB808E8A7B}"/>
              </a:ext>
            </a:extLst>
          </p:cNvPr>
          <p:cNvSpPr>
            <a:spLocks xmlns:a="http://schemas.openxmlformats.org/drawingml/2006/main" noGrp="1"/>
          </p:cNvSpPr>
          <p:nvPr/>
        </p:nvSpPr>
        <p:spPr>
          <a:xfrm xmlns:a="http://schemas.openxmlformats.org/drawingml/2006/main">
            <a:off x="685800" y="4324350"/>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17078"/>
                </a:solidFill>
                <a:latin typeface="Yu Gothic"/>
                <a:ea typeface="Yu Gothic"/>
                <a:cs typeface="Yu Gothic"/>
              </a:defRPr>
            </a:pPr>
            <a:r>
              <a:rPr sz="1275" b="0">
                <a:solidFill>
                  <a:srgbClr val="617078"/>
                </a:solidFill>
                <a:latin typeface="Yu Gothic"/>
                <a:ea typeface="Yu Gothic"/>
                <a:cs typeface="Yu Gothic"/>
              </a:rPr>
              <a:t>第I段階：surrogate / foundation は同じ3B基盤の独立LoRA、1 run</a:t>
            </a:r>
          </a:p>
        </p:txBody>
      </p:sp>
      <p:sp>
        <p:nvSpPr>
          <p:cNvPr id="15" name="">
            <a:extLst xmlns:a="http://schemas.openxmlformats.org/drawingml/2006/main">
              <a:ext uri="{FF2B5EF4-FFF2-40B4-BE49-F238E27FC236}">
                <a16:creationId xmlns:a16="http://schemas.microsoft.com/office/drawing/2014/main" id="{5BE445B2-1F99-4B03-A1CA-7C27DB2E21B7}"/>
              </a:ext>
            </a:extLst>
          </p:cNvPr>
          <p:cNvSpPr>
            <a:spLocks xmlns:a="http://schemas.openxmlformats.org/drawingml/2006/main" noGrp="1"/>
          </p:cNvSpPr>
          <p:nvPr/>
        </p:nvSpPr>
        <p:spPr>
          <a:xfrm xmlns:a="http://schemas.openxmlformats.org/drawingml/2006/main">
            <a:off x="6572250" y="1066800"/>
            <a:ext cx="466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E7833D"/>
                </a:solidFill>
                <a:latin typeface="Yu Gothic"/>
                <a:ea typeface="Yu Gothic"/>
                <a:cs typeface="Yu Gothic"/>
              </a:defRPr>
            </a:pPr>
            <a:r>
              <a:rPr sz="1125" b="1">
                <a:solidFill>
                  <a:srgbClr val="E7833D"/>
                </a:solidFill>
                <a:latin typeface="Yu Gothic"/>
                <a:ea typeface="Yu Gothic"/>
                <a:cs typeface="Yu Gothic"/>
              </a:rPr>
              <a:t>risk：time_of_alert と time_of_event の範囲</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f28228fe7a2247d4"/>
          <a:srcRect xmlns:a="http://schemas.openxmlformats.org/drawingml/2006/main" l="94" t="0" r="94" b="0"/>
          <a:stretch xmlns:a="http://schemas.openxmlformats.org/drawingml/2006/main">
            <a:fillRect l="0" t="0" r="0" b="0"/>
          </a:stretch>
        </p:blipFill>
        <p:spPr>
          <a:xfrm xmlns:a="http://schemas.openxmlformats.org/drawingml/2006/main">
            <a:off x="6572250" y="1371600"/>
            <a:ext cx="2247900" cy="1266825"/>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17091231f7fa4e28"/>
          <a:srcRect xmlns:a="http://schemas.openxmlformats.org/drawingml/2006/main" l="94" t="0" r="94" b="0"/>
          <a:stretch xmlns:a="http://schemas.openxmlformats.org/drawingml/2006/main">
            <a:fillRect l="0" t="0" r="0" b="0"/>
          </a:stretch>
        </p:blipFill>
        <p:spPr>
          <a:xfrm xmlns:a="http://schemas.openxmlformats.org/drawingml/2006/main">
            <a:off x="8991600" y="1371600"/>
            <a:ext cx="2247900" cy="1266825"/>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093AC690-D8C5-4891-BD65-C9AC374878DE}"/>
              </a:ext>
            </a:extLst>
          </p:cNvPr>
          <p:cNvSpPr>
            <a:spLocks xmlns:a="http://schemas.openxmlformats.org/drawingml/2006/main" noGrp="1"/>
          </p:cNvSpPr>
          <p:nvPr/>
        </p:nvSpPr>
        <p:spPr>
          <a:xfrm xmlns:a="http://schemas.openxmlformats.org/drawingml/2006/main">
            <a:off x="6572250" y="2876550"/>
            <a:ext cx="466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47B78"/>
                </a:solidFill>
                <a:latin typeface="Yu Gothic"/>
                <a:ea typeface="Yu Gothic"/>
                <a:cs typeface="Yu Gothic"/>
              </a:defRPr>
            </a:pPr>
            <a:r>
              <a:rPr sz="1125" b="1">
                <a:solidFill>
                  <a:srgbClr val="147B78"/>
                </a:solidFill>
                <a:latin typeface="Yu Gothic"/>
                <a:ea typeface="Yu Gothic"/>
                <a:cs typeface="Yu Gothic"/>
              </a:rPr>
              <a:t>normal：対応するriskと同じ絶対時刻</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9bac1af153194f13"/>
          <a:srcRect xmlns:a="http://schemas.openxmlformats.org/drawingml/2006/main" l="94" t="0" r="94" b="0"/>
          <a:stretch xmlns:a="http://schemas.openxmlformats.org/drawingml/2006/main">
            <a:fillRect l="0" t="0" r="0" b="0"/>
          </a:stretch>
        </p:blipFill>
        <p:spPr>
          <a:xfrm xmlns:a="http://schemas.openxmlformats.org/drawingml/2006/main">
            <a:off x="6572250" y="3181350"/>
            <a:ext cx="2247900" cy="1266825"/>
          </a:xfrm>
          <a:prstGeom xmlns:a="http://schemas.openxmlformats.org/drawingml/2006/main" prst="rect">
            <a:avLst/>
          </a:prstGeom>
        </p:spPr>
      </p:pic>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a07cdd243df84c06"/>
          <a:srcRect xmlns:a="http://schemas.openxmlformats.org/drawingml/2006/main" l="94" t="0" r="94" b="0"/>
          <a:stretch xmlns:a="http://schemas.openxmlformats.org/drawingml/2006/main">
            <a:fillRect l="0" t="0" r="0" b="0"/>
          </a:stretch>
        </p:blipFill>
        <p:spPr>
          <a:xfrm xmlns:a="http://schemas.openxmlformats.org/drawingml/2006/main">
            <a:off x="8991600" y="3181350"/>
            <a:ext cx="2247900" cy="1266825"/>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8DC6BDAD-9965-4D2E-83BA-20FA7349612C}"/>
              </a:ext>
            </a:extLst>
          </p:cNvPr>
          <p:cNvSpPr>
            <a:spLocks xmlns:a="http://schemas.openxmlformats.org/drawingml/2006/main" noGrp="1"/>
          </p:cNvSpPr>
          <p:nvPr/>
        </p:nvSpPr>
        <p:spPr>
          <a:xfrm xmlns:a="http://schemas.openxmlformats.org/drawingml/2006/main">
            <a:off x="666750" y="4857750"/>
            <a:ext cx="10572750" cy="971550"/>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458B8931-C977-4CBF-BADE-B913C847C9AA}"/>
              </a:ext>
            </a:extLst>
          </p:cNvPr>
          <p:cNvSpPr>
            <a:spLocks xmlns:a="http://schemas.openxmlformats.org/drawingml/2006/main" noGrp="1"/>
          </p:cNvSpPr>
          <p:nvPr/>
        </p:nvSpPr>
        <p:spPr>
          <a:xfrm xmlns:a="http://schemas.openxmlformats.org/drawingml/2006/main">
            <a:off x="933450" y="5057775"/>
            <a:ext cx="10039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725" b="1">
                <a:solidFill>
                  <a:srgbClr val="26373D"/>
                </a:solidFill>
                <a:latin typeface="Yu Gothic"/>
                <a:ea typeface="Yu Gothic"/>
                <a:cs typeface="Yu Gothic"/>
              </a:defRPr>
            </a:pPr>
            <a:r>
              <a:rPr sz="1725" b="1">
                <a:solidFill>
                  <a:srgbClr val="26373D"/>
                </a:solidFill>
                <a:latin typeface="Yu Gothic"/>
                <a:ea typeface="Yu Gothic"/>
                <a:cs typeface="Yu Gothic"/>
              </a:rPr>
              <a:t>旧runではriskの注釈区間内に選択frameが0枚だったため不合格とした。入力規則を修正し、全画像を確認してから再実行した。</a:t>
            </a:r>
          </a:p>
        </p:txBody>
      </p:sp>
    </p:spTree>
    <p:extLst>
      <p:ext uri="{BB962C8B-B14F-4D97-AF65-F5344CB8AC3E}">
        <p14:creationId xmlns:p14="http://schemas.microsoft.com/office/powerpoint/2010/main" val="210080333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2A1CEE12-4CBC-42CA-88E2-2EE5B4D14A7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93DA2E0-4A62-4B65-9545-64ED60AD10E9}"/>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E234A05-D59E-47A7-8949-919AB783ED40}"/>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具体例：局所学習でrisk方向へ0.295変化</a:t>
            </a:r>
          </a:p>
        </p:txBody>
      </p:sp>
      <p:sp>
        <p:nvSpPr>
          <p:cNvPr id="4" name="">
            <a:extLst xmlns:a="http://schemas.openxmlformats.org/drawingml/2006/main">
              <a:ext uri="{FF2B5EF4-FFF2-40B4-BE49-F238E27FC236}">
                <a16:creationId xmlns:a16="http://schemas.microsoft.com/office/drawing/2014/main" id="{803E89A7-2B23-4894-B7B5-B6D3A768840D}"/>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06</a:t>
            </a:r>
          </a:p>
        </p:txBody>
      </p:sp>
      <p:sp>
        <p:nvSpPr>
          <p:cNvPr id="5" name="">
            <a:extLst xmlns:a="http://schemas.openxmlformats.org/drawingml/2006/main">
              <a:ext uri="{FF2B5EF4-FFF2-40B4-BE49-F238E27FC236}">
                <a16:creationId xmlns:a16="http://schemas.microsoft.com/office/drawing/2014/main" id="{67C6AFB8-BE02-4D6F-9DB8-BB3609F8C225}"/>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79F71C9-2188-4992-BB71-9D544CA2C3D7}"/>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E81989A2-A590-49F2-A3E4-F11F2FC808AC}"/>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6 / 10</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24bc239ec5ee48fa"/>
          <a:srcRect xmlns:a="http://schemas.openxmlformats.org/drawingml/2006/main" l="133" t="0" r="133" b="0"/>
          <a:stretch xmlns:a="http://schemas.openxmlformats.org/drawingml/2006/main">
            <a:fillRect l="0" t="0" r="0" b="0"/>
          </a:stretch>
        </p:blipFill>
        <p:spPr>
          <a:xfrm xmlns:a="http://schemas.openxmlformats.org/drawingml/2006/main">
            <a:off x="666750" y="1219200"/>
            <a:ext cx="2381250" cy="1343025"/>
          </a:xfrm>
          <a:prstGeom xmlns:a="http://schemas.openxmlformats.org/drawingml/2006/main" prst="rect">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dfb1fc4137a440f7"/>
          <a:srcRect xmlns:a="http://schemas.openxmlformats.org/drawingml/2006/main" l="133" t="0" r="133" b="0"/>
          <a:stretch xmlns:a="http://schemas.openxmlformats.org/drawingml/2006/main">
            <a:fillRect l="0" t="0" r="0" b="0"/>
          </a:stretch>
        </p:blipFill>
        <p:spPr>
          <a:xfrm xmlns:a="http://schemas.openxmlformats.org/drawingml/2006/main">
            <a:off x="3333750" y="1219200"/>
            <a:ext cx="2381250" cy="1343025"/>
          </a:xfrm>
          <a:prstGeom xmlns:a="http://schemas.openxmlformats.org/drawingml/2006/main" prst="rect">
            <a:avLst/>
          </a:prstGeom>
        </p:spPr>
      </p:pic>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9256468edf4c47ce"/>
          <a:srcRect xmlns:a="http://schemas.openxmlformats.org/drawingml/2006/main" l="133" t="0" r="133" b="0"/>
          <a:stretch xmlns:a="http://schemas.openxmlformats.org/drawingml/2006/main">
            <a:fillRect l="0" t="0" r="0" b="0"/>
          </a:stretch>
        </p:blipFill>
        <p:spPr>
          <a:xfrm xmlns:a="http://schemas.openxmlformats.org/drawingml/2006/main">
            <a:off x="6000750" y="1219200"/>
            <a:ext cx="2381250" cy="1343025"/>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738f3b0b828b478f"/>
          <a:srcRect xmlns:a="http://schemas.openxmlformats.org/drawingml/2006/main" l="133" t="0" r="133" b="0"/>
          <a:stretch xmlns:a="http://schemas.openxmlformats.org/drawingml/2006/main">
            <a:fillRect l="0" t="0" r="0" b="0"/>
          </a:stretch>
        </p:blipFill>
        <p:spPr>
          <a:xfrm xmlns:a="http://schemas.openxmlformats.org/drawingml/2006/main">
            <a:off x="8667750" y="1219200"/>
            <a:ext cx="2381250" cy="13430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496B0273-C1B6-4FD1-8D0C-08D45E557257}"/>
              </a:ext>
            </a:extLst>
          </p:cNvPr>
          <p:cNvSpPr>
            <a:spLocks xmlns:a="http://schemas.openxmlformats.org/drawingml/2006/main" noGrp="1"/>
          </p:cNvSpPr>
          <p:nvPr/>
        </p:nvSpPr>
        <p:spPr>
          <a:xfrm xmlns:a="http://schemas.openxmlformats.org/drawingml/2006/main">
            <a:off x="666750" y="26765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17078"/>
                </a:solidFill>
                <a:latin typeface="Yu Gothic"/>
                <a:ea typeface="Yu Gothic"/>
                <a:cs typeface="Yu Gothic"/>
              </a:defRPr>
            </a:pPr>
            <a:r>
              <a:rPr sz="1125" b="1">
                <a:solidFill>
                  <a:srgbClr val="617078"/>
                </a:solidFill>
                <a:latin typeface="Yu Gothic"/>
                <a:ea typeface="Yu Gothic"/>
                <a:cs typeface="Yu Gothic"/>
              </a:rPr>
              <a:t>time_of_alert</a:t>
            </a:r>
          </a:p>
        </p:txBody>
      </p:sp>
      <p:sp>
        <p:nvSpPr>
          <p:cNvPr id="13" name="">
            <a:extLst xmlns:a="http://schemas.openxmlformats.org/drawingml/2006/main">
              <a:ext uri="{FF2B5EF4-FFF2-40B4-BE49-F238E27FC236}">
                <a16:creationId xmlns:a16="http://schemas.microsoft.com/office/drawing/2014/main" id="{0388A639-4EFF-435C-9126-D1FCABBADEEC}"/>
              </a:ext>
            </a:extLst>
          </p:cNvPr>
          <p:cNvSpPr>
            <a:spLocks xmlns:a="http://schemas.openxmlformats.org/drawingml/2006/main" noGrp="1"/>
          </p:cNvSpPr>
          <p:nvPr/>
        </p:nvSpPr>
        <p:spPr>
          <a:xfrm xmlns:a="http://schemas.openxmlformats.org/drawingml/2006/main">
            <a:off x="3333750" y="26765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17078"/>
                </a:solidFill>
                <a:latin typeface="Yu Gothic"/>
                <a:ea typeface="Yu Gothic"/>
                <a:cs typeface="Yu Gothic"/>
              </a:defRPr>
            </a:pPr>
            <a:r>
              <a:rPr sz="1125" b="1">
                <a:solidFill>
                  <a:srgbClr val="617078"/>
                </a:solidFill>
                <a:latin typeface="Yu Gothic"/>
                <a:ea typeface="Yu Gothic"/>
                <a:cs typeface="Yu Gothic"/>
              </a:rPr>
              <a:t>約33%</a:t>
            </a:r>
          </a:p>
        </p:txBody>
      </p:sp>
      <p:sp>
        <p:nvSpPr>
          <p:cNvPr id="14" name="">
            <a:extLst xmlns:a="http://schemas.openxmlformats.org/drawingml/2006/main">
              <a:ext uri="{FF2B5EF4-FFF2-40B4-BE49-F238E27FC236}">
                <a16:creationId xmlns:a16="http://schemas.microsoft.com/office/drawing/2014/main" id="{61F8BED4-49C3-401E-9EFC-2DEBCA3FEBB0}"/>
              </a:ext>
            </a:extLst>
          </p:cNvPr>
          <p:cNvSpPr>
            <a:spLocks xmlns:a="http://schemas.openxmlformats.org/drawingml/2006/main" noGrp="1"/>
          </p:cNvSpPr>
          <p:nvPr/>
        </p:nvSpPr>
        <p:spPr>
          <a:xfrm xmlns:a="http://schemas.openxmlformats.org/drawingml/2006/main">
            <a:off x="6000750" y="26765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17078"/>
                </a:solidFill>
                <a:latin typeface="Yu Gothic"/>
                <a:ea typeface="Yu Gothic"/>
                <a:cs typeface="Yu Gothic"/>
              </a:defRPr>
            </a:pPr>
            <a:r>
              <a:rPr sz="1125" b="1">
                <a:solidFill>
                  <a:srgbClr val="617078"/>
                </a:solidFill>
                <a:latin typeface="Yu Gothic"/>
                <a:ea typeface="Yu Gothic"/>
                <a:cs typeface="Yu Gothic"/>
              </a:rPr>
              <a:t>約67%</a:t>
            </a:r>
          </a:p>
        </p:txBody>
      </p:sp>
      <p:sp>
        <p:nvSpPr>
          <p:cNvPr id="15" name="">
            <a:extLst xmlns:a="http://schemas.openxmlformats.org/drawingml/2006/main">
              <a:ext uri="{FF2B5EF4-FFF2-40B4-BE49-F238E27FC236}">
                <a16:creationId xmlns:a16="http://schemas.microsoft.com/office/drawing/2014/main" id="{CA64C032-3E59-47B0-B2A5-8D258CF2C716}"/>
              </a:ext>
            </a:extLst>
          </p:cNvPr>
          <p:cNvSpPr>
            <a:spLocks xmlns:a="http://schemas.openxmlformats.org/drawingml/2006/main" noGrp="1"/>
          </p:cNvSpPr>
          <p:nvPr/>
        </p:nvSpPr>
        <p:spPr>
          <a:xfrm xmlns:a="http://schemas.openxmlformats.org/drawingml/2006/main">
            <a:off x="8667750" y="26765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17078"/>
                </a:solidFill>
                <a:latin typeface="Yu Gothic"/>
                <a:ea typeface="Yu Gothic"/>
                <a:cs typeface="Yu Gothic"/>
              </a:defRPr>
            </a:pPr>
            <a:r>
              <a:rPr sz="1125" b="1">
                <a:solidFill>
                  <a:srgbClr val="617078"/>
                </a:solidFill>
                <a:latin typeface="Yu Gothic"/>
                <a:ea typeface="Yu Gothic"/>
                <a:cs typeface="Yu Gothic"/>
              </a:rPr>
              <a:t>time_of_event</a:t>
            </a:r>
          </a:p>
        </p:txBody>
      </p:sp>
      <p:sp>
        <p:nvSpPr>
          <p:cNvPr id="16" name="">
            <a:extLst xmlns:a="http://schemas.openxmlformats.org/drawingml/2006/main">
              <a:ext uri="{FF2B5EF4-FFF2-40B4-BE49-F238E27FC236}">
                <a16:creationId xmlns:a16="http://schemas.microsoft.com/office/drawing/2014/main" id="{07939FB0-4D78-4CCC-94F0-BDA29D498B06}"/>
              </a:ext>
            </a:extLst>
          </p:cNvPr>
          <p:cNvSpPr>
            <a:spLocks xmlns:a="http://schemas.openxmlformats.org/drawingml/2006/main" noGrp="1"/>
          </p:cNvSpPr>
          <p:nvPr/>
        </p:nvSpPr>
        <p:spPr>
          <a:xfrm xmlns:a="http://schemas.openxmlformats.org/drawingml/2006/main">
            <a:off x="666750" y="314325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47B78"/>
                </a:solidFill>
                <a:latin typeface="Yu Gothic"/>
                <a:ea typeface="Yu Gothic"/>
                <a:cs typeface="Yu Gothic"/>
              </a:defRPr>
            </a:pPr>
            <a:r>
              <a:rPr sz="1500" b="1">
                <a:solidFill>
                  <a:srgbClr val="147B78"/>
                </a:solidFill>
                <a:latin typeface="Yu Gothic"/>
                <a:ea typeface="Yu Gothic"/>
                <a:cs typeface="Yu Gothic"/>
              </a:rPr>
              <a:t>この動画のrisk成分</a:t>
            </a:r>
          </a:p>
        </p:txBody>
      </p:sp>
      <p:sp>
        <p:nvSpPr>
          <p:cNvPr id="17" name="">
            <a:extLst xmlns:a="http://schemas.openxmlformats.org/drawingml/2006/main">
              <a:ext uri="{FF2B5EF4-FFF2-40B4-BE49-F238E27FC236}">
                <a16:creationId xmlns:a16="http://schemas.microsoft.com/office/drawing/2014/main" id="{D8EAACF1-4B2A-4403-BBDF-45A74FA2828D}"/>
              </a:ext>
            </a:extLst>
          </p:cNvPr>
          <p:cNvSpPr>
            <a:spLocks xmlns:a="http://schemas.openxmlformats.org/drawingml/2006/main" noGrp="1"/>
          </p:cNvSpPr>
          <p:nvPr/>
        </p:nvSpPr>
        <p:spPr>
          <a:xfrm xmlns:a="http://schemas.openxmlformats.org/drawingml/2006/main">
            <a:off x="685800" y="36480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617078"/>
                </a:solidFill>
                <a:latin typeface="Yu Gothic"/>
                <a:ea typeface="Yu Gothic"/>
                <a:cs typeface="Yu Gothic"/>
              </a:defRPr>
            </a:pPr>
            <a:r>
              <a:rPr sz="1500" b="1">
                <a:solidFill>
                  <a:srgbClr val="617078"/>
                </a:solidFill>
                <a:latin typeface="Yu Gothic"/>
                <a:ea typeface="Yu Gothic"/>
                <a:cs typeface="Yu Gothic"/>
              </a:rPr>
              <a:t>q^{pre}</a:t>
            </a:r>
          </a:p>
        </p:txBody>
      </p:sp>
      <p:sp>
        <p:nvSpPr>
          <p:cNvPr id="18" name="">
            <a:extLst xmlns:a="http://schemas.openxmlformats.org/drawingml/2006/main">
              <a:ext uri="{FF2B5EF4-FFF2-40B4-BE49-F238E27FC236}">
                <a16:creationId xmlns:a16="http://schemas.microsoft.com/office/drawing/2014/main" id="{9281B39A-1B01-4D18-A3EA-C9836FDF50D3}"/>
              </a:ext>
            </a:extLst>
          </p:cNvPr>
          <p:cNvSpPr>
            <a:spLocks xmlns:a="http://schemas.openxmlformats.org/drawingml/2006/main" noGrp="1"/>
          </p:cNvSpPr>
          <p:nvPr/>
        </p:nvSpPr>
        <p:spPr>
          <a:xfrm xmlns:a="http://schemas.openxmlformats.org/drawingml/2006/main">
            <a:off x="685800" y="39814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a:solidFill>
                  <a:srgbClr val="173B4B"/>
                </a:solidFill>
                <a:latin typeface="Yu Gothic"/>
                <a:ea typeface="Yu Gothic"/>
                <a:cs typeface="Yu Gothic"/>
              </a:defRPr>
            </a:pPr>
            <a:r>
              <a:rPr sz="2850" b="1">
                <a:solidFill>
                  <a:srgbClr val="173B4B"/>
                </a:solidFill>
                <a:latin typeface="Yu Gothic"/>
                <a:ea typeface="Yu Gothic"/>
                <a:cs typeface="Yu Gothic"/>
              </a:rPr>
              <a:t>0.349</a:t>
            </a:r>
          </a:p>
        </p:txBody>
      </p:sp>
      <p:sp>
        <p:nvSpPr>
          <p:cNvPr id="19" name="">
            <a:extLst xmlns:a="http://schemas.openxmlformats.org/drawingml/2006/main">
              <a:ext uri="{FF2B5EF4-FFF2-40B4-BE49-F238E27FC236}">
                <a16:creationId xmlns:a16="http://schemas.microsoft.com/office/drawing/2014/main" id="{D3C7B932-417C-47B8-B8E3-69BCF1921D77}"/>
              </a:ext>
            </a:extLst>
          </p:cNvPr>
          <p:cNvSpPr>
            <a:spLocks xmlns:a="http://schemas.openxmlformats.org/drawingml/2006/main" noGrp="1"/>
          </p:cNvSpPr>
          <p:nvPr/>
        </p:nvSpPr>
        <p:spPr>
          <a:xfrm xmlns:a="http://schemas.openxmlformats.org/drawingml/2006/main">
            <a:off x="2495550" y="36480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617078"/>
                </a:solidFill>
                <a:latin typeface="Yu Gothic"/>
                <a:ea typeface="Yu Gothic"/>
                <a:cs typeface="Yu Gothic"/>
              </a:defRPr>
            </a:pPr>
            <a:r>
              <a:rPr sz="1500" b="1">
                <a:solidFill>
                  <a:srgbClr val="617078"/>
                </a:solidFill>
                <a:latin typeface="Yu Gothic"/>
                <a:ea typeface="Yu Gothic"/>
                <a:cs typeface="Yu Gothic"/>
              </a:rPr>
              <a:t>q^{post}</a:t>
            </a:r>
          </a:p>
        </p:txBody>
      </p:sp>
      <p:sp>
        <p:nvSpPr>
          <p:cNvPr id="20" name="">
            <a:extLst xmlns:a="http://schemas.openxmlformats.org/drawingml/2006/main">
              <a:ext uri="{FF2B5EF4-FFF2-40B4-BE49-F238E27FC236}">
                <a16:creationId xmlns:a16="http://schemas.microsoft.com/office/drawing/2014/main" id="{9EE8A7A2-0EF4-4CD0-83E6-16D60FD20131}"/>
              </a:ext>
            </a:extLst>
          </p:cNvPr>
          <p:cNvSpPr>
            <a:spLocks xmlns:a="http://schemas.openxmlformats.org/drawingml/2006/main" noGrp="1"/>
          </p:cNvSpPr>
          <p:nvPr/>
        </p:nvSpPr>
        <p:spPr>
          <a:xfrm xmlns:a="http://schemas.openxmlformats.org/drawingml/2006/main">
            <a:off x="2495550" y="39814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a:solidFill>
                  <a:srgbClr val="173B4B"/>
                </a:solidFill>
                <a:latin typeface="Yu Gothic"/>
                <a:ea typeface="Yu Gothic"/>
                <a:cs typeface="Yu Gothic"/>
              </a:defRPr>
            </a:pPr>
            <a:r>
              <a:rPr sz="2850" b="1">
                <a:solidFill>
                  <a:srgbClr val="173B4B"/>
                </a:solidFill>
                <a:latin typeface="Yu Gothic"/>
                <a:ea typeface="Yu Gothic"/>
                <a:cs typeface="Yu Gothic"/>
              </a:rPr>
              <a:t>0.644</a:t>
            </a:r>
          </a:p>
        </p:txBody>
      </p:sp>
      <p:sp>
        <p:nvSpPr>
          <p:cNvPr id="21" name="">
            <a:extLst xmlns:a="http://schemas.openxmlformats.org/drawingml/2006/main">
              <a:ext uri="{FF2B5EF4-FFF2-40B4-BE49-F238E27FC236}">
                <a16:creationId xmlns:a16="http://schemas.microsoft.com/office/drawing/2014/main" id="{A0C4E1A2-3A11-404D-A965-6A32D346D5BA}"/>
              </a:ext>
            </a:extLst>
          </p:cNvPr>
          <p:cNvSpPr>
            <a:spLocks xmlns:a="http://schemas.openxmlformats.org/drawingml/2006/main" noGrp="1"/>
          </p:cNvSpPr>
          <p:nvPr/>
        </p:nvSpPr>
        <p:spPr>
          <a:xfrm xmlns:a="http://schemas.openxmlformats.org/drawingml/2006/main">
            <a:off x="4305300" y="36480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617078"/>
                </a:solidFill>
                <a:latin typeface="Yu Gothic"/>
                <a:ea typeface="Yu Gothic"/>
                <a:cs typeface="Yu Gothic"/>
              </a:defRPr>
            </a:pPr>
            <a:r>
              <a:rPr sz="1500" b="1">
                <a:solidFill>
                  <a:srgbClr val="617078"/>
                </a:solidFill>
                <a:latin typeface="Yu Gothic"/>
                <a:ea typeface="Yu Gothic"/>
                <a:cs typeface="Yu Gothic"/>
              </a:rPr>
              <a:t>Δq</a:t>
            </a:r>
          </a:p>
        </p:txBody>
      </p:sp>
      <p:sp>
        <p:nvSpPr>
          <p:cNvPr id="22" name="">
            <a:extLst xmlns:a="http://schemas.openxmlformats.org/drawingml/2006/main">
              <a:ext uri="{FF2B5EF4-FFF2-40B4-BE49-F238E27FC236}">
                <a16:creationId xmlns:a16="http://schemas.microsoft.com/office/drawing/2014/main" id="{E767D45B-598A-4249-9BD8-CBCCEE050724}"/>
              </a:ext>
            </a:extLst>
          </p:cNvPr>
          <p:cNvSpPr>
            <a:spLocks xmlns:a="http://schemas.openxmlformats.org/drawingml/2006/main" noGrp="1"/>
          </p:cNvSpPr>
          <p:nvPr/>
        </p:nvSpPr>
        <p:spPr>
          <a:xfrm xmlns:a="http://schemas.openxmlformats.org/drawingml/2006/main">
            <a:off x="4305300" y="39814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a:solidFill>
                  <a:srgbClr val="E7833D"/>
                </a:solidFill>
                <a:latin typeface="Yu Gothic"/>
                <a:ea typeface="Yu Gothic"/>
                <a:cs typeface="Yu Gothic"/>
              </a:defRPr>
            </a:pPr>
            <a:r>
              <a:rPr sz="2850" b="1">
                <a:solidFill>
                  <a:srgbClr val="E7833D"/>
                </a:solidFill>
                <a:latin typeface="Yu Gothic"/>
                <a:ea typeface="Yu Gothic"/>
                <a:cs typeface="Yu Gothic"/>
              </a:rPr>
              <a:t>+0.295</a:t>
            </a:r>
          </a:p>
        </p:txBody>
      </p:sp>
      <p:sp>
        <p:nvSpPr>
          <p:cNvPr id="23" name="">
            <a:extLst xmlns:a="http://schemas.openxmlformats.org/drawingml/2006/main">
              <a:ext uri="{FF2B5EF4-FFF2-40B4-BE49-F238E27FC236}">
                <a16:creationId xmlns:a16="http://schemas.microsoft.com/office/drawing/2014/main" id="{B28A30AE-B25C-44D4-A5F8-49255FA446AF}"/>
              </a:ext>
            </a:extLst>
          </p:cNvPr>
          <p:cNvSpPr>
            <a:spLocks xmlns:a="http://schemas.openxmlformats.org/drawingml/2006/main" noGrp="1"/>
          </p:cNvSpPr>
          <p:nvPr/>
        </p:nvSpPr>
        <p:spPr>
          <a:xfrm xmlns:a="http://schemas.openxmlformats.org/drawingml/2006/main">
            <a:off x="6477000" y="3200400"/>
            <a:ext cx="4762500" cy="1809750"/>
          </a:xfrm>
          <a:prstGeom xmlns:a="http://schemas.openxmlformats.org/drawingml/2006/main" prst="rect">
            <a:avLst/>
          </a:prstGeom>
          <a:solidFill xmlns:a="http://schemas.openxmlformats.org/drawingml/2006/main">
            <a:srgbClr val="E6F1F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F5C2C28D-206D-458F-996F-60F18BA35E42}"/>
              </a:ext>
            </a:extLst>
          </p:cNvPr>
          <p:cNvSpPr>
            <a:spLocks xmlns:a="http://schemas.openxmlformats.org/drawingml/2006/main" noGrp="1"/>
          </p:cNvSpPr>
          <p:nvPr/>
        </p:nvSpPr>
        <p:spPr>
          <a:xfrm xmlns:a="http://schemas.openxmlformats.org/drawingml/2006/main">
            <a:off x="6743700" y="3429000"/>
            <a:ext cx="422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173B4B"/>
                </a:solidFill>
                <a:latin typeface="Yu Gothic"/>
                <a:ea typeface="Yu Gothic"/>
                <a:cs typeface="Yu Gothic"/>
              </a:defRPr>
            </a:pPr>
            <a:r>
              <a:rPr sz="1725" b="1">
                <a:solidFill>
                  <a:srgbClr val="173B4B"/>
                </a:solidFill>
                <a:latin typeface="Yu Gothic"/>
                <a:ea typeface="Yu Gothic"/>
                <a:cs typeface="Yu Gothic"/>
              </a:rPr>
              <a:t>3本のrisk動画から作ったprototype</a:t>
            </a:r>
          </a:p>
        </p:txBody>
      </p:sp>
      <p:sp>
        <p:nvSpPr>
          <p:cNvPr id="25" name="">
            <a:extLst xmlns:a="http://schemas.openxmlformats.org/drawingml/2006/main">
              <a:ext uri="{FF2B5EF4-FFF2-40B4-BE49-F238E27FC236}">
                <a16:creationId xmlns:a16="http://schemas.microsoft.com/office/drawing/2014/main" id="{1C2D347C-8679-4A0D-8E6A-F726AFA4309A}"/>
              </a:ext>
            </a:extLst>
          </p:cNvPr>
          <p:cNvSpPr>
            <a:spLocks xmlns:a="http://schemas.openxmlformats.org/drawingml/2006/main" noGrp="1"/>
          </p:cNvSpPr>
          <p:nvPr/>
        </p:nvSpPr>
        <p:spPr>
          <a:xfrm xmlns:a="http://schemas.openxmlformats.org/drawingml/2006/main">
            <a:off x="7000875" y="3905250"/>
            <a:ext cx="3714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5000"/>
              </a:lnSpc>
              <a:buNone/>
              <a:defRPr sz="1800" b="0">
                <a:solidFill>
                  <a:srgbClr val="26373D"/>
                </a:solidFill>
                <a:latin typeface="Yu Gothic"/>
                <a:ea typeface="Yu Gothic"/>
                <a:cs typeface="Yu Gothic"/>
              </a:defRPr>
            </a:pPr>
            <a:r>
              <a:rPr sz="1800" b="0">
                <a:solidFill>
                  <a:srgbClr val="26373D"/>
                </a:solidFill>
                <a:latin typeface="Yu Gothic"/>
                <a:ea typeface="Yu Gothic"/>
                <a:cs typeface="Yu Gothic"/>
              </a:rPr>
              <a:t>μ^{post}_{k,r} のrisk成分　0.724</a:t>
            </a:r>
          </a:p>
          <a:p xmlns:a="http://schemas.openxmlformats.org/drawingml/2006/main">
            <a:pPr algn="ctr">
              <a:lnSpc>
                <a:spcPct val="115000"/>
              </a:lnSpc>
              <a:buNone/>
              <a:defRPr sz="1800" b="0">
                <a:solidFill>
                  <a:srgbClr val="26373D"/>
                </a:solidFill>
                <a:latin typeface="Yu Gothic"/>
                <a:ea typeface="Yu Gothic"/>
                <a:cs typeface="Yu Gothic"/>
              </a:defRPr>
            </a:pPr>
            <a:r>
              <a:rPr sz="1800" b="0">
                <a:solidFill>
                  <a:srgbClr val="26373D"/>
                </a:solidFill>
                <a:latin typeface="Yu Gothic"/>
                <a:ea typeface="Yu Gothic"/>
                <a:cs typeface="Yu Gothic"/>
              </a:rPr>
              <a:t>Δμ_{k,r} のrisk成分　+0.238</a:t>
            </a:r>
          </a:p>
          <a:p xmlns:a="http://schemas.openxmlformats.org/drawingml/2006/main">
            <a:pPr algn="ctr">
              <a:lnSpc>
                <a:spcPct val="115000"/>
              </a:lnSpc>
              <a:buNone/>
              <a:defRPr sz="1800" b="0">
                <a:solidFill>
                  <a:srgbClr val="26373D"/>
                </a:solidFill>
                <a:latin typeface="Yu Gothic"/>
                <a:ea typeface="Yu Gothic"/>
                <a:cs typeface="Yu Gothic"/>
              </a:defRPr>
            </a:pPr>
            <a:r>
              <a:rPr sz="1800" b="0">
                <a:solidFill>
                  <a:srgbClr val="26373D"/>
                </a:solidFill>
                <a:latin typeface="Yu Gothic"/>
                <a:ea typeface="Yu Gothic"/>
                <a:cs typeface="Yu Gothic"/>
              </a:rPr>
              <a:t>π_{k,r}　3</a:t>
            </a:r>
          </a:p>
        </p:txBody>
      </p:sp>
      <p:sp>
        <p:nvSpPr>
          <p:cNvPr id="26" name="">
            <a:extLst xmlns:a="http://schemas.openxmlformats.org/drawingml/2006/main">
              <a:ext uri="{FF2B5EF4-FFF2-40B4-BE49-F238E27FC236}">
                <a16:creationId xmlns:a16="http://schemas.microsoft.com/office/drawing/2014/main" id="{0749CB3B-EDF8-49A2-8902-2922C60F8C3D}"/>
              </a:ext>
            </a:extLst>
          </p:cNvPr>
          <p:cNvSpPr>
            <a:spLocks xmlns:a="http://schemas.openxmlformats.org/drawingml/2006/main" noGrp="1"/>
          </p:cNvSpPr>
          <p:nvPr/>
        </p:nvSpPr>
        <p:spPr>
          <a:xfrm xmlns:a="http://schemas.openxmlformats.org/drawingml/2006/main">
            <a:off x="666750" y="5334000"/>
            <a:ext cx="10572750"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C9D2D3"/>
            </a:solidFill>
          </a:ln>
        </p:spPr>
      </p:sp>
      <p:sp>
        <p:nvSpPr>
          <p:cNvPr id="27" name="">
            <a:extLst xmlns:a="http://schemas.openxmlformats.org/drawingml/2006/main">
              <a:ext uri="{FF2B5EF4-FFF2-40B4-BE49-F238E27FC236}">
                <a16:creationId xmlns:a16="http://schemas.microsoft.com/office/drawing/2014/main" id="{3A9EB535-1408-4925-A1BF-9CDA4013786F}"/>
              </a:ext>
            </a:extLst>
          </p:cNvPr>
          <p:cNvSpPr>
            <a:spLocks xmlns:a="http://schemas.openxmlformats.org/drawingml/2006/main" noGrp="1"/>
          </p:cNvSpPr>
          <p:nvPr/>
        </p:nvSpPr>
        <p:spPr>
          <a:xfrm xmlns:a="http://schemas.openxmlformats.org/drawingml/2006/main">
            <a:off x="904875" y="5476875"/>
            <a:ext cx="1009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026"/>
          </a:bodyPr>
          <a:lstStyle xmlns:a="http://schemas.openxmlformats.org/drawingml/2006/main"/>
          <a:p xmlns:a="http://schemas.openxmlformats.org/drawingml/2006/main">
            <a:pPr algn="ctr">
              <a:defRPr sz="1575" b="1">
                <a:solidFill>
                  <a:srgbClr val="147B78"/>
                </a:solidFill>
                <a:latin typeface="Yu Gothic"/>
                <a:ea typeface="Yu Gothic"/>
                <a:cs typeface="Yu Gothic"/>
              </a:defRPr>
            </a:pPr>
            <a:r>
              <a:rPr sz="1575" b="1">
                <a:solidFill>
                  <a:srgbClr val="147B78"/>
                </a:solidFill>
                <a:latin typeface="Yu Gothic"/>
                <a:ea typeface="Yu Gothic"/>
                <a:cs typeface="Yu Gothic"/>
              </a:rPr>
              <a:t>serverへ送るのは Q_{k,r}=(μ^{post}_{k,r}, Δμ_{k,r}, π_{k,r})。private動画、raw frame、sample IDは送らない。</a:t>
            </a:r>
          </a:p>
        </p:txBody>
      </p:sp>
    </p:spTree>
    <p:extLst>
      <p:ext uri="{BB962C8B-B14F-4D97-AF65-F5344CB8AC3E}">
        <p14:creationId xmlns:p14="http://schemas.microsoft.com/office/powerpoint/2010/main" val="199694887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854E0631-2279-4394-A2A9-13DE430B694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D97DB62-F01B-4339-921D-DCEA6F29FE18}"/>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9221AE2-D5A3-4BE0-8BD1-F22E731B7D7F}"/>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最終出力は一致したが、変化量は再現できなかった</a:t>
            </a:r>
          </a:p>
        </p:txBody>
      </p:sp>
      <p:sp>
        <p:nvSpPr>
          <p:cNvPr id="4" name="">
            <a:extLst xmlns:a="http://schemas.openxmlformats.org/drawingml/2006/main">
              <a:ext uri="{FF2B5EF4-FFF2-40B4-BE49-F238E27FC236}">
                <a16:creationId xmlns:a16="http://schemas.microsoft.com/office/drawing/2014/main" id="{429B2784-55D0-4E14-98A3-AE7613C98214}"/>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07</a:t>
            </a:r>
          </a:p>
        </p:txBody>
      </p:sp>
      <p:sp>
        <p:nvSpPr>
          <p:cNvPr id="5" name="">
            <a:extLst xmlns:a="http://schemas.openxmlformats.org/drawingml/2006/main">
              <a:ext uri="{FF2B5EF4-FFF2-40B4-BE49-F238E27FC236}">
                <a16:creationId xmlns:a16="http://schemas.microsoft.com/office/drawing/2014/main" id="{BC2B4FF8-C5B0-4555-B599-93756A1DC5F9}"/>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D6438FF-7542-4F36-8B61-924B1E427282}"/>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DBEAA707-C9CC-4863-A51B-9D0AA786ABC6}"/>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7 / 10</a:t>
            </a:r>
          </a:p>
        </p:txBody>
      </p:sp>
      <p:sp>
        <p:nvSpPr>
          <p:cNvPr id="8" name="">
            <a:extLst xmlns:a="http://schemas.openxmlformats.org/drawingml/2006/main">
              <a:ext uri="{FF2B5EF4-FFF2-40B4-BE49-F238E27FC236}">
                <a16:creationId xmlns:a16="http://schemas.microsoft.com/office/drawing/2014/main" id="{A30EB853-2A33-4EC3-B4ED-27C51430FC6C}"/>
              </a:ext>
            </a:extLst>
          </p:cNvPr>
          <p:cNvSpPr>
            <a:spLocks xmlns:a="http://schemas.openxmlformats.org/drawingml/2006/main" noGrp="1"/>
          </p:cNvSpPr>
          <p:nvPr/>
        </p:nvSpPr>
        <p:spPr>
          <a:xfrm xmlns:a="http://schemas.openxmlformats.org/drawingml/2006/main">
            <a:off x="666750" y="1047750"/>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47B78"/>
                </a:solidFill>
                <a:latin typeface="Yu Gothic"/>
                <a:ea typeface="Yu Gothic"/>
                <a:cs typeface="Yu Gothic"/>
              </a:defRPr>
            </a:pPr>
            <a:r>
              <a:rPr sz="1125" b="1">
                <a:solidFill>
                  <a:srgbClr val="147B78"/>
                </a:solidFill>
                <a:latin typeface="Yu Gothic"/>
                <a:ea typeface="Yu Gothic"/>
                <a:cs typeface="Yu Gothic"/>
              </a:rPr>
              <a:t>serverが選んだ s^*_{k,r}：normal label、変換なし</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6b4aed841155491c"/>
          <a:srcRect xmlns:a="http://schemas.openxmlformats.org/drawingml/2006/main" l="133" t="0" r="133" b="0"/>
          <a:stretch xmlns:a="http://schemas.openxmlformats.org/drawingml/2006/main">
            <a:fillRect l="0" t="0" r="0" b="0"/>
          </a:stretch>
        </p:blipFill>
        <p:spPr>
          <a:xfrm xmlns:a="http://schemas.openxmlformats.org/drawingml/2006/main">
            <a:off x="666750" y="1381125"/>
            <a:ext cx="2381250" cy="1343025"/>
          </a:xfrm>
          <a:prstGeom xmlns:a="http://schemas.openxmlformats.org/drawingml/2006/main" prst="rect">
            <a:avLst/>
          </a:prstGeom>
        </p:spPr>
      </p:pic>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01c89a4e307342f1"/>
          <a:srcRect xmlns:a="http://schemas.openxmlformats.org/drawingml/2006/main" l="133" t="0" r="133" b="0"/>
          <a:stretch xmlns:a="http://schemas.openxmlformats.org/drawingml/2006/main">
            <a:fillRect l="0" t="0" r="0" b="0"/>
          </a:stretch>
        </p:blipFill>
        <p:spPr>
          <a:xfrm xmlns:a="http://schemas.openxmlformats.org/drawingml/2006/main">
            <a:off x="3333750" y="1381125"/>
            <a:ext cx="2381250" cy="1343025"/>
          </a:xfrm>
          <a:prstGeom xmlns:a="http://schemas.openxmlformats.org/drawingml/2006/main" prst="rect">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b01a4eb4dce24b53"/>
          <a:srcRect xmlns:a="http://schemas.openxmlformats.org/drawingml/2006/main" l="133" t="0" r="133" b="0"/>
          <a:stretch xmlns:a="http://schemas.openxmlformats.org/drawingml/2006/main">
            <a:fillRect l="0" t="0" r="0" b="0"/>
          </a:stretch>
        </p:blipFill>
        <p:spPr>
          <a:xfrm xmlns:a="http://schemas.openxmlformats.org/drawingml/2006/main">
            <a:off x="6000750" y="1381125"/>
            <a:ext cx="2381250" cy="1343025"/>
          </a:xfrm>
          <a:prstGeom xmlns:a="http://schemas.openxmlformats.org/drawingml/2006/main" prst="rect">
            <a:avLst/>
          </a:prstGeom>
        </p:spPr>
      </p:pic>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a7a9b3ab695e42c9"/>
          <a:srcRect xmlns:a="http://schemas.openxmlformats.org/drawingml/2006/main" l="133" t="0" r="133" b="0"/>
          <a:stretch xmlns:a="http://schemas.openxmlformats.org/drawingml/2006/main">
            <a:fillRect l="0" t="0" r="0" b="0"/>
          </a:stretch>
        </p:blipFill>
        <p:spPr>
          <a:xfrm xmlns:a="http://schemas.openxmlformats.org/drawingml/2006/main">
            <a:off x="8667750" y="1381125"/>
            <a:ext cx="2381250" cy="1343025"/>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78DACDF2-A7A4-4B63-B7FD-FE6D63A7D840}"/>
              </a:ext>
            </a:extLst>
          </p:cNvPr>
          <p:cNvSpPr>
            <a:spLocks xmlns:a="http://schemas.openxmlformats.org/drawingml/2006/main" noGrp="1"/>
          </p:cNvSpPr>
          <p:nvPr/>
        </p:nvSpPr>
        <p:spPr>
          <a:xfrm xmlns:a="http://schemas.openxmlformats.org/drawingml/2006/main">
            <a:off x="1047750" y="32194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a:solidFill>
                  <a:srgbClr val="617078"/>
                </a:solidFill>
                <a:latin typeface="Yu Gothic"/>
                <a:ea typeface="Yu Gothic"/>
                <a:cs typeface="Yu Gothic"/>
              </a:defRPr>
            </a:pPr>
            <a:r>
              <a:rPr sz="1425" b="1">
                <a:solidFill>
                  <a:srgbClr val="617078"/>
                </a:solidFill>
                <a:latin typeface="Yu Gothic"/>
                <a:ea typeface="Yu Gothic"/>
                <a:cs typeface="Yu Gothic"/>
              </a:rPr>
              <a:t>post behavior</a:t>
            </a:r>
          </a:p>
        </p:txBody>
      </p:sp>
      <p:sp>
        <p:nvSpPr>
          <p:cNvPr id="14" name="">
            <a:extLst xmlns:a="http://schemas.openxmlformats.org/drawingml/2006/main">
              <a:ext uri="{FF2B5EF4-FFF2-40B4-BE49-F238E27FC236}">
                <a16:creationId xmlns:a16="http://schemas.microsoft.com/office/drawing/2014/main" id="{540EFBD4-5408-42F8-A2EB-DA67B5383F47}"/>
              </a:ext>
            </a:extLst>
          </p:cNvPr>
          <p:cNvSpPr>
            <a:spLocks xmlns:a="http://schemas.openxmlformats.org/drawingml/2006/main" noGrp="1"/>
          </p:cNvSpPr>
          <p:nvPr/>
        </p:nvSpPr>
        <p:spPr>
          <a:xfrm xmlns:a="http://schemas.openxmlformats.org/drawingml/2006/main">
            <a:off x="1000125" y="359092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400" b="1">
                <a:solidFill>
                  <a:srgbClr val="173B4B"/>
                </a:solidFill>
                <a:latin typeface="Yu Gothic"/>
                <a:ea typeface="Yu Gothic"/>
                <a:cs typeface="Yu Gothic"/>
              </a:defRPr>
            </a:pPr>
            <a:r>
              <a:rPr sz="2400" b="1">
                <a:solidFill>
                  <a:srgbClr val="173B4B"/>
                </a:solidFill>
                <a:latin typeface="Yu Gothic"/>
                <a:ea typeface="Yu Gothic"/>
                <a:cs typeface="Yu Gothic"/>
              </a:rPr>
              <a:t>target 0.724</a:t>
            </a:r>
          </a:p>
        </p:txBody>
      </p:sp>
      <p:sp>
        <p:nvSpPr>
          <p:cNvPr id="15" name="">
            <a:extLst xmlns:a="http://schemas.openxmlformats.org/drawingml/2006/main">
              <a:ext uri="{FF2B5EF4-FFF2-40B4-BE49-F238E27FC236}">
                <a16:creationId xmlns:a16="http://schemas.microsoft.com/office/drawing/2014/main" id="{DEA62570-DABC-44BA-9F0F-89F240689982}"/>
              </a:ext>
            </a:extLst>
          </p:cNvPr>
          <p:cNvSpPr>
            <a:spLocks xmlns:a="http://schemas.openxmlformats.org/drawingml/2006/main" noGrp="1"/>
          </p:cNvSpPr>
          <p:nvPr/>
        </p:nvSpPr>
        <p:spPr>
          <a:xfrm xmlns:a="http://schemas.openxmlformats.org/drawingml/2006/main">
            <a:off x="1000125" y="405765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025" b="1">
                <a:solidFill>
                  <a:srgbClr val="147B78"/>
                </a:solidFill>
                <a:latin typeface="Yu Gothic"/>
                <a:ea typeface="Yu Gothic"/>
                <a:cs typeface="Yu Gothic"/>
              </a:defRPr>
            </a:pPr>
            <a:r>
              <a:rPr sz="2025" b="1">
                <a:solidFill>
                  <a:srgbClr val="147B78"/>
                </a:solidFill>
                <a:latin typeface="Yu Gothic"/>
                <a:ea typeface="Yu Gothic"/>
                <a:cs typeface="Yu Gothic"/>
              </a:rPr>
              <a:t>proxy 0.724</a:t>
            </a:r>
          </a:p>
        </p:txBody>
      </p:sp>
      <p:sp>
        <p:nvSpPr>
          <p:cNvPr id="16" name="">
            <a:extLst xmlns:a="http://schemas.openxmlformats.org/drawingml/2006/main">
              <a:ext uri="{FF2B5EF4-FFF2-40B4-BE49-F238E27FC236}">
                <a16:creationId xmlns:a16="http://schemas.microsoft.com/office/drawing/2014/main" id="{E5BAA0B9-EAF3-4646-A688-840FD259E411}"/>
              </a:ext>
            </a:extLst>
          </p:cNvPr>
          <p:cNvSpPr>
            <a:spLocks xmlns:a="http://schemas.openxmlformats.org/drawingml/2006/main" noGrp="1"/>
          </p:cNvSpPr>
          <p:nvPr/>
        </p:nvSpPr>
        <p:spPr>
          <a:xfrm xmlns:a="http://schemas.openxmlformats.org/drawingml/2006/main">
            <a:off x="904875" y="45529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617078"/>
                </a:solidFill>
                <a:latin typeface="Yu Gothic"/>
                <a:ea typeface="Yu Gothic"/>
                <a:cs typeface="Yu Gothic"/>
              </a:defRPr>
            </a:pPr>
            <a:r>
              <a:rPr sz="1350" b="0">
                <a:solidFill>
                  <a:srgbClr val="617078"/>
                </a:solidFill>
                <a:latin typeface="Yu Gothic"/>
                <a:ea typeface="Yu Gothic"/>
                <a:cs typeface="Yu Gothic"/>
              </a:rPr>
              <a:t>post KL = 8.35 × 10^-10</a:t>
            </a:r>
          </a:p>
        </p:txBody>
      </p:sp>
      <p:sp>
        <p:nvSpPr>
          <p:cNvPr id="17" name="">
            <a:extLst xmlns:a="http://schemas.openxmlformats.org/drawingml/2006/main">
              <a:ext uri="{FF2B5EF4-FFF2-40B4-BE49-F238E27FC236}">
                <a16:creationId xmlns:a16="http://schemas.microsoft.com/office/drawing/2014/main" id="{9D686967-0C4C-4439-9865-D547B1F3D52F}"/>
              </a:ext>
            </a:extLst>
          </p:cNvPr>
          <p:cNvSpPr>
            <a:spLocks xmlns:a="http://schemas.openxmlformats.org/drawingml/2006/main" noGrp="1"/>
          </p:cNvSpPr>
          <p:nvPr/>
        </p:nvSpPr>
        <p:spPr>
          <a:xfrm xmlns:a="http://schemas.openxmlformats.org/drawingml/2006/main">
            <a:off x="4533900" y="3105150"/>
            <a:ext cx="19050" cy="1952625"/>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E349551-A77D-4EF0-8EB5-502FA5C45D0C}"/>
              </a:ext>
            </a:extLst>
          </p:cNvPr>
          <p:cNvSpPr>
            <a:spLocks xmlns:a="http://schemas.openxmlformats.org/drawingml/2006/main" noGrp="1"/>
          </p:cNvSpPr>
          <p:nvPr/>
        </p:nvSpPr>
        <p:spPr>
          <a:xfrm xmlns:a="http://schemas.openxmlformats.org/drawingml/2006/main">
            <a:off x="5191125" y="32194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a:solidFill>
                  <a:srgbClr val="617078"/>
                </a:solidFill>
                <a:latin typeface="Yu Gothic"/>
                <a:ea typeface="Yu Gothic"/>
                <a:cs typeface="Yu Gothic"/>
              </a:defRPr>
            </a:pPr>
            <a:r>
              <a:rPr sz="1425" b="1">
                <a:solidFill>
                  <a:srgbClr val="617078"/>
                </a:solidFill>
                <a:latin typeface="Yu Gothic"/>
                <a:ea typeface="Yu Gothic"/>
                <a:cs typeface="Yu Gothic"/>
              </a:rPr>
              <a:t>local delta</a:t>
            </a:r>
          </a:p>
        </p:txBody>
      </p:sp>
      <p:sp>
        <p:nvSpPr>
          <p:cNvPr id="19" name="">
            <a:extLst xmlns:a="http://schemas.openxmlformats.org/drawingml/2006/main">
              <a:ext uri="{FF2B5EF4-FFF2-40B4-BE49-F238E27FC236}">
                <a16:creationId xmlns:a16="http://schemas.microsoft.com/office/drawing/2014/main" id="{8B39F99A-CD52-4821-A2F6-44EEDCF2D970}"/>
              </a:ext>
            </a:extLst>
          </p:cNvPr>
          <p:cNvSpPr>
            <a:spLocks xmlns:a="http://schemas.openxmlformats.org/drawingml/2006/main" noGrp="1"/>
          </p:cNvSpPr>
          <p:nvPr/>
        </p:nvSpPr>
        <p:spPr>
          <a:xfrm xmlns:a="http://schemas.openxmlformats.org/drawingml/2006/main">
            <a:off x="5095875" y="3590925"/>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400" b="1">
                <a:solidFill>
                  <a:srgbClr val="173B4B"/>
                </a:solidFill>
                <a:latin typeface="Yu Gothic"/>
                <a:ea typeface="Yu Gothic"/>
                <a:cs typeface="Yu Gothic"/>
              </a:defRPr>
            </a:pPr>
            <a:r>
              <a:rPr sz="2400" b="1">
                <a:solidFill>
                  <a:srgbClr val="173B4B"/>
                </a:solidFill>
                <a:latin typeface="Yu Gothic"/>
                <a:ea typeface="Yu Gothic"/>
                <a:cs typeface="Yu Gothic"/>
              </a:rPr>
              <a:t>target +0.238</a:t>
            </a:r>
          </a:p>
        </p:txBody>
      </p:sp>
      <p:sp>
        <p:nvSpPr>
          <p:cNvPr id="20" name="">
            <a:extLst xmlns:a="http://schemas.openxmlformats.org/drawingml/2006/main">
              <a:ext uri="{FF2B5EF4-FFF2-40B4-BE49-F238E27FC236}">
                <a16:creationId xmlns:a16="http://schemas.microsoft.com/office/drawing/2014/main" id="{2F9AFA36-3506-42CA-AD47-1403BDA48F19}"/>
              </a:ext>
            </a:extLst>
          </p:cNvPr>
          <p:cNvSpPr>
            <a:spLocks xmlns:a="http://schemas.openxmlformats.org/drawingml/2006/main" noGrp="1"/>
          </p:cNvSpPr>
          <p:nvPr/>
        </p:nvSpPr>
        <p:spPr>
          <a:xfrm xmlns:a="http://schemas.openxmlformats.org/drawingml/2006/main">
            <a:off x="5095875" y="405765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025" b="1">
                <a:solidFill>
                  <a:srgbClr val="B94A3A"/>
                </a:solidFill>
                <a:latin typeface="Yu Gothic"/>
                <a:ea typeface="Yu Gothic"/>
                <a:cs typeface="Yu Gothic"/>
              </a:defRPr>
            </a:pPr>
            <a:r>
              <a:rPr sz="2025" b="1">
                <a:solidFill>
                  <a:srgbClr val="B94A3A"/>
                </a:solidFill>
                <a:latin typeface="Yu Gothic"/>
                <a:ea typeface="Yu Gothic"/>
                <a:cs typeface="Yu Gothic"/>
              </a:rPr>
              <a:t>proxy +0.051</a:t>
            </a:r>
          </a:p>
        </p:txBody>
      </p:sp>
      <p:sp>
        <p:nvSpPr>
          <p:cNvPr id="21" name="">
            <a:extLst xmlns:a="http://schemas.openxmlformats.org/drawingml/2006/main">
              <a:ext uri="{FF2B5EF4-FFF2-40B4-BE49-F238E27FC236}">
                <a16:creationId xmlns:a16="http://schemas.microsoft.com/office/drawing/2014/main" id="{0753055A-FC1D-4CFC-BB63-F4B983B582C2}"/>
              </a:ext>
            </a:extLst>
          </p:cNvPr>
          <p:cNvSpPr>
            <a:spLocks xmlns:a="http://schemas.openxmlformats.org/drawingml/2006/main" noGrp="1"/>
          </p:cNvSpPr>
          <p:nvPr/>
        </p:nvSpPr>
        <p:spPr>
          <a:xfrm xmlns:a="http://schemas.openxmlformats.org/drawingml/2006/main">
            <a:off x="5048250" y="45529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617078"/>
                </a:solidFill>
                <a:latin typeface="Yu Gothic"/>
                <a:ea typeface="Yu Gothic"/>
                <a:cs typeface="Yu Gothic"/>
              </a:defRPr>
            </a:pPr>
            <a:r>
              <a:rPr sz="1350" b="0">
                <a:solidFill>
                  <a:srgbClr val="617078"/>
                </a:solidFill>
                <a:latin typeface="Yu Gothic"/>
                <a:ea typeface="Yu Gothic"/>
                <a:cs typeface="Yu Gothic"/>
              </a:rPr>
              <a:t>delta MSE = 0.0349</a:t>
            </a:r>
          </a:p>
        </p:txBody>
      </p:sp>
      <p:sp>
        <p:nvSpPr>
          <p:cNvPr id="22" name="">
            <a:extLst xmlns:a="http://schemas.openxmlformats.org/drawingml/2006/main">
              <a:ext uri="{FF2B5EF4-FFF2-40B4-BE49-F238E27FC236}">
                <a16:creationId xmlns:a16="http://schemas.microsoft.com/office/drawing/2014/main" id="{33A171BB-5F05-4382-A1B3-C605D9A0864F}"/>
              </a:ext>
            </a:extLst>
          </p:cNvPr>
          <p:cNvSpPr>
            <a:spLocks xmlns:a="http://schemas.openxmlformats.org/drawingml/2006/main" noGrp="1"/>
          </p:cNvSpPr>
          <p:nvPr/>
        </p:nvSpPr>
        <p:spPr>
          <a:xfrm xmlns:a="http://schemas.openxmlformats.org/drawingml/2006/main">
            <a:off x="8524875" y="3124200"/>
            <a:ext cx="2714625" cy="1952625"/>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1299636-6289-4132-8563-1AF761FCFD78}"/>
              </a:ext>
            </a:extLst>
          </p:cNvPr>
          <p:cNvSpPr>
            <a:spLocks xmlns:a="http://schemas.openxmlformats.org/drawingml/2006/main" noGrp="1"/>
          </p:cNvSpPr>
          <p:nvPr/>
        </p:nvSpPr>
        <p:spPr>
          <a:xfrm xmlns:a="http://schemas.openxmlformats.org/drawingml/2006/main">
            <a:off x="8782050" y="331470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E7833D"/>
                </a:solidFill>
                <a:latin typeface="Yu Gothic"/>
                <a:ea typeface="Yu Gothic"/>
                <a:cs typeface="Yu Gothic"/>
              </a:defRPr>
            </a:pPr>
            <a:r>
              <a:rPr sz="1575" b="1">
                <a:solidFill>
                  <a:srgbClr val="E7833D"/>
                </a:solidFill>
                <a:latin typeface="Yu Gothic"/>
                <a:ea typeface="Yu Gothic"/>
                <a:cs typeface="Yu Gothic"/>
              </a:rPr>
              <a:t>重要な診断</a:t>
            </a:r>
          </a:p>
        </p:txBody>
      </p:sp>
      <p:sp>
        <p:nvSpPr>
          <p:cNvPr id="24" name="">
            <a:extLst xmlns:a="http://schemas.openxmlformats.org/drawingml/2006/main">
              <a:ext uri="{FF2B5EF4-FFF2-40B4-BE49-F238E27FC236}">
                <a16:creationId xmlns:a16="http://schemas.microsoft.com/office/drawing/2014/main" id="{7D966024-D970-4089-B9E0-D44CC121A7B9}"/>
              </a:ext>
            </a:extLst>
          </p:cNvPr>
          <p:cNvSpPr>
            <a:spLocks xmlns:a="http://schemas.openxmlformats.org/drawingml/2006/main" noGrp="1"/>
          </p:cNvSpPr>
          <p:nvPr/>
        </p:nvSpPr>
        <p:spPr>
          <a:xfrm xmlns:a="http://schemas.openxmlformats.org/drawingml/2006/main">
            <a:off x="8763000" y="3781425"/>
            <a:ext cx="2238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3333"/>
          </a:bodyPr>
          <a:lstStyle xmlns:a="http://schemas.openxmlformats.org/drawingml/2006/main"/>
          <a:p xmlns:a="http://schemas.openxmlformats.org/drawingml/2006/main">
            <a:pPr algn="ctr">
              <a:defRPr sz="1575" b="1">
                <a:solidFill>
                  <a:srgbClr val="26373D"/>
                </a:solidFill>
                <a:latin typeface="Yu Gothic"/>
                <a:ea typeface="Yu Gothic"/>
                <a:cs typeface="Yu Gothic"/>
              </a:defRPr>
            </a:pPr>
            <a:r>
              <a:rPr sz="1575" b="1">
                <a:solidFill>
                  <a:srgbClr val="26373D"/>
                </a:solidFill>
                <a:latin typeface="Yu Gothic"/>
                <a:ea typeface="Yu Gothic"/>
                <a:cs typeface="Yu Gothic"/>
              </a:rPr>
              <a:t>最終のrisk確率だけなら一致する。</a:t>
            </a:r>
          </a:p>
          <a:p xmlns:a="http://schemas.openxmlformats.org/drawingml/2006/main">
            <a:pPr algn="ctr">
              <a:defRPr sz="1575" b="1">
                <a:solidFill>
                  <a:srgbClr val="26373D"/>
                </a:solidFill>
                <a:latin typeface="Yu Gothic"/>
                <a:ea typeface="Yu Gothic"/>
                <a:cs typeface="Yu Gothic"/>
              </a:defRPr>
            </a:pPr>
            <a:r>
              <a:rPr sz="1575" b="1">
                <a:solidFill>
                  <a:srgbClr val="26373D"/>
                </a:solidFill>
                <a:latin typeface="Yu Gothic"/>
                <a:ea typeface="Yu Gothic"/>
                <a:cs typeface="Yu Gothic"/>
              </a:rPr>
              <a:t>局所学習で動いた方向と量は、現在の候補では十分に再現できていない。</a:t>
            </a:r>
          </a:p>
        </p:txBody>
      </p:sp>
      <p:sp>
        <p:nvSpPr>
          <p:cNvPr id="25" name="">
            <a:extLst xmlns:a="http://schemas.openxmlformats.org/drawingml/2006/main">
              <a:ext uri="{FF2B5EF4-FFF2-40B4-BE49-F238E27FC236}">
                <a16:creationId xmlns:a16="http://schemas.microsoft.com/office/drawing/2014/main" id="{B1FD816F-0CF3-4B7A-8F76-A0ABE27C08A7}"/>
              </a:ext>
            </a:extLst>
          </p:cNvPr>
          <p:cNvSpPr>
            <a:spLocks xmlns:a="http://schemas.openxmlformats.org/drawingml/2006/main" noGrp="1"/>
          </p:cNvSpPr>
          <p:nvPr/>
        </p:nvSpPr>
        <p:spPr>
          <a:xfrm xmlns:a="http://schemas.openxmlformats.org/drawingml/2006/main">
            <a:off x="952500" y="542925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a:solidFill>
                  <a:srgbClr val="147B78"/>
                </a:solidFill>
                <a:latin typeface="Yu Gothic"/>
                <a:ea typeface="Yu Gothic"/>
                <a:cs typeface="Yu Gothic"/>
              </a:defRPr>
            </a:pPr>
            <a:r>
              <a:rPr sz="1800" b="1">
                <a:solidFill>
                  <a:srgbClr val="147B78"/>
                </a:solidFill>
                <a:latin typeface="Yu Gothic"/>
                <a:ea typeface="Yu Gothic"/>
                <a:cs typeface="Yu Gothic"/>
              </a:rPr>
              <a:t>Layer 2で評価すべき対象が、post一致だけでは足りないことを実例で確認</a:t>
            </a:r>
          </a:p>
        </p:txBody>
      </p:sp>
    </p:spTree>
    <p:extLst>
      <p:ext uri="{BB962C8B-B14F-4D97-AF65-F5344CB8AC3E}">
        <p14:creationId xmlns:p14="http://schemas.microsoft.com/office/powerpoint/2010/main" val="565490518"/>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0517914-FFE3-416E-96E2-C27C67CD279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36850DD-47B4-40C2-AEC9-F3FE27208BDB}"/>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D264380-FDBF-4C7B-8E36-4A468CD0FDEF}"/>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round 1では、4件中1件でdeltaの方向が逆転</a:t>
            </a:r>
          </a:p>
        </p:txBody>
      </p:sp>
      <p:sp>
        <p:nvSpPr>
          <p:cNvPr id="4" name="">
            <a:extLst xmlns:a="http://schemas.openxmlformats.org/drawingml/2006/main">
              <a:ext uri="{FF2B5EF4-FFF2-40B4-BE49-F238E27FC236}">
                <a16:creationId xmlns:a16="http://schemas.microsoft.com/office/drawing/2014/main" id="{AEC06B70-71B8-48C6-81C5-4E90AC3E3FBB}"/>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08</a:t>
            </a:r>
          </a:p>
        </p:txBody>
      </p:sp>
      <p:sp>
        <p:nvSpPr>
          <p:cNvPr id="5" name="">
            <a:extLst xmlns:a="http://schemas.openxmlformats.org/drawingml/2006/main">
              <a:ext uri="{FF2B5EF4-FFF2-40B4-BE49-F238E27FC236}">
                <a16:creationId xmlns:a16="http://schemas.microsoft.com/office/drawing/2014/main" id="{3D1F62F1-6BBF-41AF-8E92-73B61B25EF8D}"/>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E53D6B8-AC09-4977-8861-389FF68430CE}"/>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546A3DCF-C662-4162-9298-D4B0C1225B02}"/>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8 / 10</a:t>
            </a:r>
          </a:p>
        </p:txBody>
      </p:sp>
      <p:graphicFrame>
        <p:nvGraphicFramePr>
          <p:cNvPr id="19" name=""/>
          <p:cNvGraphicFramePr/>
          <p:nvPr/>
        </p:nvGraphicFramePr>
        <p:xfrm>
          <a:off xmlns:a="http://schemas.openxmlformats.org/drawingml/2006/main" x="857250" y="1276350"/>
          <a:ext xmlns:a="http://schemas.openxmlformats.org/drawingml/2006/main" cx="10477500" cy="2857500"/>
        </p:xfrm>
        <a:graphic xmlns:a="http://schemas.openxmlformats.org/drawingml/2006/main">
          <a:graphicData uri="http://schemas.openxmlformats.org/drawingml/2006/table">
            <a:tbl>
              <a:tblPr/>
              <a:tblGrid>
                <a:gridCol w="2762250"/>
                <a:gridCol w="2000250"/>
                <a:gridCol w="2000250"/>
                <a:gridCol w="1714500"/>
                <a:gridCol w="2000250"/>
              </a:tblGrid>
              <a:tr h="571500">
                <a:tc>
                  <a:txBody>
                    <a:bodyPr/>
                    <a:lstStyle/>
                    <a:p>
                      <a:r>
                        <a:rPr sz="1300" b="1">
                          <a:solidFill>
                            <a:srgbClr val="173B4B"/>
                          </a:solidFill>
                          <a:latin typeface="Yu Gothic"/>
                          <a:ea typeface="Yu Gothic"/>
                          <a:cs typeface="Yu Gothic"/>
                        </a:rPr>
                        <a:t>prototype</a:t>
                      </a:r>
                    </a:p>
                  </a:txBody>
                  <a:tcPr marL="91440" marR="91440" marT="45720" marB="45720"/>
                </a:tc>
                <a:tc>
                  <a:txBody>
                    <a:bodyPr/>
                    <a:lstStyle/>
                    <a:p>
                      <a:r>
                        <a:rPr sz="1300" b="1">
                          <a:solidFill>
                            <a:srgbClr val="173B4B"/>
                          </a:solidFill>
                          <a:latin typeface="Yu Gothic"/>
                          <a:ea typeface="Yu Gothic"/>
                          <a:cs typeface="Yu Gothic"/>
                        </a:rPr>
                        <a:t>target Δrisk</a:t>
                      </a:r>
                    </a:p>
                  </a:txBody>
                  <a:tcPr marL="91440" marR="91440" marT="45720" marB="45720"/>
                </a:tc>
                <a:tc>
                  <a:txBody>
                    <a:bodyPr/>
                    <a:lstStyle/>
                    <a:p>
                      <a:r>
                        <a:rPr sz="1300" b="1">
                          <a:solidFill>
                            <a:srgbClr val="173B4B"/>
                          </a:solidFill>
                          <a:latin typeface="Yu Gothic"/>
                          <a:ea typeface="Yu Gothic"/>
                          <a:cs typeface="Yu Gothic"/>
                        </a:rPr>
                        <a:t>proxy Δrisk</a:t>
                      </a:r>
                    </a:p>
                  </a:txBody>
                  <a:tcPr marL="91440" marR="91440" marT="45720" marB="45720"/>
                </a:tc>
                <a:tc>
                  <a:txBody>
                    <a:bodyPr/>
                    <a:lstStyle/>
                    <a:p>
                      <a:r>
                        <a:rPr sz="1300" b="1">
                          <a:solidFill>
                            <a:srgbClr val="173B4B"/>
                          </a:solidFill>
                          <a:latin typeface="Yu Gothic"/>
                          <a:ea typeface="Yu Gothic"/>
                          <a:cs typeface="Yu Gothic"/>
                        </a:rPr>
                        <a:t>方向</a:t>
                      </a:r>
                    </a:p>
                  </a:txBody>
                  <a:tcPr marL="91440" marR="91440" marT="45720" marB="45720"/>
                </a:tc>
                <a:tc>
                  <a:txBody>
                    <a:bodyPr/>
                    <a:lstStyle/>
                    <a:p>
                      <a:r>
                        <a:rPr sz="1300" b="1">
                          <a:solidFill>
                            <a:srgbClr val="173B4B"/>
                          </a:solidFill>
                          <a:latin typeface="Yu Gothic"/>
                          <a:ea typeface="Yu Gothic"/>
                          <a:cs typeface="Yu Gothic"/>
                        </a:rPr>
                        <a:t>seed label</a:t>
                      </a:r>
                    </a:p>
                  </a:txBody>
                  <a:tcPr marL="91440" marR="91440" marT="45720" marB="45720"/>
                </a:tc>
              </a:tr>
              <a:tr h="571500">
                <a:tc>
                  <a:txBody>
                    <a:bodyPr/>
                    <a:lstStyle/>
                    <a:p>
                      <a:r>
                        <a:rPr sz="1500" b="0">
                          <a:solidFill>
                            <a:srgbClr val="26373D"/>
                          </a:solidFill>
                          <a:latin typeface="Yu Gothic"/>
                          <a:ea typeface="Yu Gothic"/>
                          <a:cs typeface="Yu Gothic"/>
                        </a:rPr>
                        <a:t>client-0 / normal</a:t>
                      </a:r>
                    </a:p>
                  </a:txBody>
                  <a:tcPr marL="91440" marR="91440" marT="45720" marB="45720"/>
                </a:tc>
                <a:tc>
                  <a:txBody>
                    <a:bodyPr/>
                    <a:lstStyle/>
                    <a:p>
                      <a:r>
                        <a:rPr sz="1500" b="0">
                          <a:solidFill>
                            <a:srgbClr val="26373D"/>
                          </a:solidFill>
                          <a:latin typeface="Yu Gothic"/>
                          <a:ea typeface="Yu Gothic"/>
                          <a:cs typeface="Yu Gothic"/>
                        </a:rPr>
                        <a:t>+0.094</a:t>
                      </a:r>
                    </a:p>
                  </a:txBody>
                  <a:tcPr marL="91440" marR="91440" marT="45720" marB="45720"/>
                </a:tc>
                <a:tc>
                  <a:txBody>
                    <a:bodyPr/>
                    <a:lstStyle/>
                    <a:p>
                      <a:r>
                        <a:rPr sz="1500" b="0">
                          <a:solidFill>
                            <a:srgbClr val="26373D"/>
                          </a:solidFill>
                          <a:latin typeface="Yu Gothic"/>
                          <a:ea typeface="Yu Gothic"/>
                          <a:cs typeface="Yu Gothic"/>
                        </a:rPr>
                        <a:t>+0.072</a:t>
                      </a:r>
                    </a:p>
                  </a:txBody>
                  <a:tcPr marL="91440" marR="91440" marT="45720" marB="45720"/>
                </a:tc>
                <a:tc>
                  <a:txBody>
                    <a:bodyPr/>
                    <a:lstStyle/>
                    <a:p>
                      <a:r>
                        <a:rPr sz="1500" b="0">
                          <a:solidFill>
                            <a:srgbClr val="26373D"/>
                          </a:solidFill>
                          <a:latin typeface="Yu Gothic"/>
                          <a:ea typeface="Yu Gothic"/>
                          <a:cs typeface="Yu Gothic"/>
                        </a:rPr>
                        <a:t>一致</a:t>
                      </a:r>
                    </a:p>
                  </a:txBody>
                  <a:tcPr marL="91440" marR="91440" marT="45720" marB="45720"/>
                </a:tc>
                <a:tc>
                  <a:txBody>
                    <a:bodyPr/>
                    <a:lstStyle/>
                    <a:p>
                      <a:r>
                        <a:rPr sz="1500" b="0">
                          <a:solidFill>
                            <a:srgbClr val="26373D"/>
                          </a:solidFill>
                          <a:latin typeface="Yu Gothic"/>
                          <a:ea typeface="Yu Gothic"/>
                          <a:cs typeface="Yu Gothic"/>
                        </a:rPr>
                        <a:t>risk</a:t>
                      </a:r>
                    </a:p>
                  </a:txBody>
                  <a:tcPr marL="91440" marR="91440" marT="45720" marB="45720"/>
                </a:tc>
              </a:tr>
              <a:tr h="571500">
                <a:tc>
                  <a:txBody>
                    <a:bodyPr/>
                    <a:lstStyle/>
                    <a:p>
                      <a:r>
                        <a:rPr sz="1500" b="0">
                          <a:solidFill>
                            <a:srgbClr val="26373D"/>
                          </a:solidFill>
                          <a:latin typeface="Yu Gothic"/>
                          <a:ea typeface="Yu Gothic"/>
                          <a:cs typeface="Yu Gothic"/>
                        </a:rPr>
                        <a:t>client-0 / risk</a:t>
                      </a:r>
                    </a:p>
                  </a:txBody>
                  <a:tcPr marL="91440" marR="91440" marT="45720" marB="45720"/>
                </a:tc>
                <a:tc>
                  <a:txBody>
                    <a:bodyPr/>
                    <a:lstStyle/>
                    <a:p>
                      <a:r>
                        <a:rPr sz="1500" b="0">
                          <a:solidFill>
                            <a:srgbClr val="26373D"/>
                          </a:solidFill>
                          <a:latin typeface="Yu Gothic"/>
                          <a:ea typeface="Yu Gothic"/>
                          <a:cs typeface="Yu Gothic"/>
                        </a:rPr>
                        <a:t>+0.238</a:t>
                      </a:r>
                    </a:p>
                  </a:txBody>
                  <a:tcPr marL="91440" marR="91440" marT="45720" marB="45720"/>
                </a:tc>
                <a:tc>
                  <a:txBody>
                    <a:bodyPr/>
                    <a:lstStyle/>
                    <a:p>
                      <a:r>
                        <a:rPr sz="1500" b="0">
                          <a:solidFill>
                            <a:srgbClr val="26373D"/>
                          </a:solidFill>
                          <a:latin typeface="Yu Gothic"/>
                          <a:ea typeface="Yu Gothic"/>
                          <a:cs typeface="Yu Gothic"/>
                        </a:rPr>
                        <a:t>+0.051</a:t>
                      </a:r>
                    </a:p>
                  </a:txBody>
                  <a:tcPr marL="91440" marR="91440" marT="45720" marB="45720"/>
                </a:tc>
                <a:tc>
                  <a:txBody>
                    <a:bodyPr/>
                    <a:lstStyle/>
                    <a:p>
                      <a:r>
                        <a:rPr sz="1500" b="0">
                          <a:solidFill>
                            <a:srgbClr val="26373D"/>
                          </a:solidFill>
                          <a:latin typeface="Yu Gothic"/>
                          <a:ea typeface="Yu Gothic"/>
                          <a:cs typeface="Yu Gothic"/>
                        </a:rPr>
                        <a:t>一致</a:t>
                      </a:r>
                    </a:p>
                  </a:txBody>
                  <a:tcPr marL="91440" marR="91440" marT="45720" marB="45720"/>
                </a:tc>
                <a:tc>
                  <a:txBody>
                    <a:bodyPr/>
                    <a:lstStyle/>
                    <a:p>
                      <a:r>
                        <a:rPr sz="1500" b="0">
                          <a:solidFill>
                            <a:srgbClr val="26373D"/>
                          </a:solidFill>
                          <a:latin typeface="Yu Gothic"/>
                          <a:ea typeface="Yu Gothic"/>
                          <a:cs typeface="Yu Gothic"/>
                        </a:rPr>
                        <a:t>normal</a:t>
                      </a:r>
                    </a:p>
                  </a:txBody>
                  <a:tcPr marL="91440" marR="91440" marT="45720" marB="45720"/>
                </a:tc>
              </a:tr>
              <a:tr h="571500">
                <a:tc>
                  <a:txBody>
                    <a:bodyPr/>
                    <a:lstStyle/>
                    <a:p>
                      <a:r>
                        <a:rPr sz="1500" b="0">
                          <a:solidFill>
                            <a:srgbClr val="26373D"/>
                          </a:solidFill>
                          <a:latin typeface="Yu Gothic"/>
                          <a:ea typeface="Yu Gothic"/>
                          <a:cs typeface="Yu Gothic"/>
                        </a:rPr>
                        <a:t>client-1 / normal</a:t>
                      </a:r>
                    </a:p>
                  </a:txBody>
                  <a:tcPr marL="91440" marR="91440" marT="45720" marB="45720"/>
                </a:tc>
                <a:tc>
                  <a:txBody>
                    <a:bodyPr/>
                    <a:lstStyle/>
                    <a:p>
                      <a:r>
                        <a:rPr sz="1500" b="0">
                          <a:solidFill>
                            <a:srgbClr val="26373D"/>
                          </a:solidFill>
                          <a:latin typeface="Yu Gothic"/>
                          <a:ea typeface="Yu Gothic"/>
                          <a:cs typeface="Yu Gothic"/>
                        </a:rPr>
                        <a:t>−0.103</a:t>
                      </a:r>
                    </a:p>
                  </a:txBody>
                  <a:tcPr marL="91440" marR="91440" marT="45720" marB="45720"/>
                </a:tc>
                <a:tc>
                  <a:txBody>
                    <a:bodyPr>
                      <a:normAutofit/>
                    </a:bodyPr>
                    <a:lstStyle/>
                    <a:p>
                      <a:pPr algn="ctr"/>
                      <a:r>
                        <a:rPr sz="1500" b="1">
                          <a:solidFill>
                            <a:srgbClr val="B94A3A"/>
                          </a:solidFill>
                          <a:latin typeface="Yu Gothic"/>
                          <a:ea typeface="Yu Gothic"/>
                          <a:cs typeface="Yu Gothic"/>
                        </a:rPr>
                        <a:t>+0.056</a:t>
                      </a:r>
                    </a:p>
                  </a:txBody>
                  <a:tcPr marL="91440" marR="91440" marT="45720" marB="45720" anchor="ctr">
                    <a:solidFill>
                      <a:srgbClr val="F5DFDA"/>
                    </a:solidFill>
                  </a:tcPr>
                </a:tc>
                <a:tc>
                  <a:txBody>
                    <a:bodyPr>
                      <a:normAutofit/>
                    </a:bodyPr>
                    <a:lstStyle/>
                    <a:p>
                      <a:pPr algn="ctr"/>
                      <a:r>
                        <a:rPr sz="1500" b="1">
                          <a:solidFill>
                            <a:srgbClr val="B94A3A"/>
                          </a:solidFill>
                          <a:latin typeface="Yu Gothic"/>
                          <a:ea typeface="Yu Gothic"/>
                          <a:cs typeface="Yu Gothic"/>
                        </a:rPr>
                        <a:t>逆向き</a:t>
                      </a:r>
                    </a:p>
                  </a:txBody>
                  <a:tcPr marL="91440" marR="91440" marT="45720" marB="45720" anchor="ctr">
                    <a:solidFill>
                      <a:srgbClr val="F5DFDA"/>
                    </a:solidFill>
                  </a:tcPr>
                </a:tc>
                <a:tc>
                  <a:txBody>
                    <a:bodyPr/>
                    <a:lstStyle/>
                    <a:p>
                      <a:r>
                        <a:rPr sz="1500" b="0">
                          <a:solidFill>
                            <a:srgbClr val="26373D"/>
                          </a:solidFill>
                          <a:latin typeface="Yu Gothic"/>
                          <a:ea typeface="Yu Gothic"/>
                          <a:cs typeface="Yu Gothic"/>
                        </a:rPr>
                        <a:t>risk</a:t>
                      </a:r>
                    </a:p>
                  </a:txBody>
                  <a:tcPr marL="91440" marR="91440" marT="45720" marB="45720"/>
                </a:tc>
              </a:tr>
              <a:tr h="571500">
                <a:tc>
                  <a:txBody>
                    <a:bodyPr/>
                    <a:lstStyle/>
                    <a:p>
                      <a:r>
                        <a:rPr sz="1500" b="0">
                          <a:solidFill>
                            <a:srgbClr val="26373D"/>
                          </a:solidFill>
                          <a:latin typeface="Yu Gothic"/>
                          <a:ea typeface="Yu Gothic"/>
                          <a:cs typeface="Yu Gothic"/>
                        </a:rPr>
                        <a:t>client-1 / risk</a:t>
                      </a:r>
                    </a:p>
                  </a:txBody>
                  <a:tcPr marL="91440" marR="91440" marT="45720" marB="45720"/>
                </a:tc>
                <a:tc>
                  <a:txBody>
                    <a:bodyPr/>
                    <a:lstStyle/>
                    <a:p>
                      <a:r>
                        <a:rPr sz="1500" b="0">
                          <a:solidFill>
                            <a:srgbClr val="26373D"/>
                          </a:solidFill>
                          <a:latin typeface="Yu Gothic"/>
                          <a:ea typeface="Yu Gothic"/>
                          <a:cs typeface="Yu Gothic"/>
                        </a:rPr>
                        <a:t>+0.005</a:t>
                      </a:r>
                    </a:p>
                  </a:txBody>
                  <a:tcPr marL="91440" marR="91440" marT="45720" marB="45720"/>
                </a:tc>
                <a:tc>
                  <a:txBody>
                    <a:bodyPr/>
                    <a:lstStyle/>
                    <a:p>
                      <a:r>
                        <a:rPr sz="1500" b="0">
                          <a:solidFill>
                            <a:srgbClr val="26373D"/>
                          </a:solidFill>
                          <a:latin typeface="Yu Gothic"/>
                          <a:ea typeface="Yu Gothic"/>
                          <a:cs typeface="Yu Gothic"/>
                        </a:rPr>
                        <a:t>+0.010</a:t>
                      </a:r>
                    </a:p>
                  </a:txBody>
                  <a:tcPr marL="91440" marR="91440" marT="45720" marB="45720"/>
                </a:tc>
                <a:tc>
                  <a:txBody>
                    <a:bodyPr/>
                    <a:lstStyle/>
                    <a:p>
                      <a:r>
                        <a:rPr sz="1500" b="0">
                          <a:solidFill>
                            <a:srgbClr val="26373D"/>
                          </a:solidFill>
                          <a:latin typeface="Yu Gothic"/>
                          <a:ea typeface="Yu Gothic"/>
                          <a:cs typeface="Yu Gothic"/>
                        </a:rPr>
                        <a:t>一致</a:t>
                      </a:r>
                    </a:p>
                  </a:txBody>
                  <a:tcPr marL="91440" marR="91440" marT="45720" marB="45720"/>
                </a:tc>
                <a:tc>
                  <a:txBody>
                    <a:bodyPr/>
                    <a:lstStyle/>
                    <a:p>
                      <a:r>
                        <a:rPr sz="1500" b="0">
                          <a:solidFill>
                            <a:srgbClr val="26373D"/>
                          </a:solidFill>
                          <a:latin typeface="Yu Gothic"/>
                          <a:ea typeface="Yu Gothic"/>
                          <a:cs typeface="Yu Gothic"/>
                        </a:rPr>
                        <a:t>normal</a:t>
                      </a:r>
                    </a:p>
                  </a:txBody>
                  <a:tcPr marL="91440" marR="91440" marT="45720" marB="45720"/>
                </a:tc>
              </a:tr>
            </a:tbl>
          </a:graphicData>
        </a:graphic>
      </p:graphicFrame>
      <p:sp>
        <p:nvSpPr>
          <p:cNvPr id="9" name="">
            <a:extLst xmlns:a="http://schemas.openxmlformats.org/drawingml/2006/main">
              <a:ext uri="{FF2B5EF4-FFF2-40B4-BE49-F238E27FC236}">
                <a16:creationId xmlns:a16="http://schemas.microsoft.com/office/drawing/2014/main" id="{B671B7CC-983F-499C-AAF8-CB839B95FF53}"/>
              </a:ext>
            </a:extLst>
          </p:cNvPr>
          <p:cNvSpPr>
            <a:spLocks xmlns:a="http://schemas.openxmlformats.org/drawingml/2006/main" noGrp="1"/>
          </p:cNvSpPr>
          <p:nvPr/>
        </p:nvSpPr>
        <p:spPr>
          <a:xfrm xmlns:a="http://schemas.openxmlformats.org/drawingml/2006/main">
            <a:off x="857250" y="4476750"/>
            <a:ext cx="10477500" cy="685800"/>
          </a:xfrm>
          <a:prstGeom xmlns:a="http://schemas.openxmlformats.org/drawingml/2006/main" prst="rect">
            <a:avLst/>
          </a:prstGeom>
          <a:solidFill xmlns:a="http://schemas.openxmlformats.org/drawingml/2006/main">
            <a:srgbClr val="E6F1F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8FCF5CF-2795-42E1-B488-2891448F8868}"/>
              </a:ext>
            </a:extLst>
          </p:cNvPr>
          <p:cNvSpPr>
            <a:spLocks xmlns:a="http://schemas.openxmlformats.org/drawingml/2006/main" noGrp="1"/>
          </p:cNvSpPr>
          <p:nvPr/>
        </p:nvSpPr>
        <p:spPr>
          <a:xfrm xmlns:a="http://schemas.openxmlformats.org/drawingml/2006/main">
            <a:off x="1066800" y="4638675"/>
            <a:ext cx="1004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3333"/>
          </a:bodyPr>
          <a:lstStyle xmlns:a="http://schemas.openxmlformats.org/drawingml/2006/main"/>
          <a:p xmlns:a="http://schemas.openxmlformats.org/drawingml/2006/main">
            <a:pPr algn="ctr">
              <a:defRPr sz="1575" b="1">
                <a:solidFill>
                  <a:srgbClr val="26373D"/>
                </a:solidFill>
                <a:latin typeface="Yu Gothic"/>
                <a:ea typeface="Yu Gothic"/>
                <a:cs typeface="Yu Gothic"/>
              </a:defRPr>
            </a:pPr>
            <a:r>
              <a:rPr sz="1575" b="1">
                <a:solidFill>
                  <a:srgbClr val="26373D"/>
                </a:solidFill>
                <a:latin typeface="Yu Gothic"/>
                <a:ea typeface="Yu Gothic"/>
                <a:cs typeface="Yu Gothic"/>
              </a:rPr>
              <a:t>prototype class と seed label はround 1で4件すべて不一致。round 2・3では各3件が一致したため、1 roundの結果を一般化しない。</a:t>
            </a:r>
          </a:p>
        </p:txBody>
      </p:sp>
      <p:sp>
        <p:nvSpPr>
          <p:cNvPr id="11" name="">
            <a:extLst xmlns:a="http://schemas.openxmlformats.org/drawingml/2006/main">
              <a:ext uri="{FF2B5EF4-FFF2-40B4-BE49-F238E27FC236}">
                <a16:creationId xmlns:a16="http://schemas.microsoft.com/office/drawing/2014/main" id="{ADFBD964-763E-4C9E-8502-1F3DFFDE5DB7}"/>
              </a:ext>
            </a:extLst>
          </p:cNvPr>
          <p:cNvSpPr>
            <a:spLocks xmlns:a="http://schemas.openxmlformats.org/drawingml/2006/main" noGrp="1"/>
          </p:cNvSpPr>
          <p:nvPr/>
        </p:nvSpPr>
        <p:spPr>
          <a:xfrm xmlns:a="http://schemas.openxmlformats.org/drawingml/2006/main">
            <a:off x="1000125" y="5429250"/>
            <a:ext cx="1019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697"/>
          </a:bodyPr>
          <a:lstStyle xmlns:a="http://schemas.openxmlformats.org/drawingml/2006/main"/>
          <a:p xmlns:a="http://schemas.openxmlformats.org/drawingml/2006/main">
            <a:pPr algn="ctr">
              <a:defRPr sz="1650" b="1">
                <a:solidFill>
                  <a:srgbClr val="E7833D"/>
                </a:solidFill>
                <a:latin typeface="Yu Gothic"/>
                <a:ea typeface="Yu Gothic"/>
                <a:cs typeface="Yu Gothic"/>
              </a:defRPr>
            </a:pPr>
            <a:r>
              <a:rPr sz="1650" b="1">
                <a:solidFill>
                  <a:srgbClr val="E7833D"/>
                </a:solidFill>
                <a:latin typeface="Yu Gothic"/>
                <a:ea typeface="Yu Gothic"/>
                <a:cs typeface="Yu Gothic"/>
              </a:rPr>
              <a:t>原因はまだ一つに決められない。60 seedのlabelとmodel argmaxの一致は43件で、model誤分類と検索挙動が混在している。</a:t>
            </a:r>
          </a:p>
        </p:txBody>
      </p:sp>
    </p:spTree>
    <p:extLst>
      <p:ext uri="{BB962C8B-B14F-4D97-AF65-F5344CB8AC3E}">
        <p14:creationId xmlns:p14="http://schemas.microsoft.com/office/powerpoint/2010/main" val="2442206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9F16D0B-CB9B-45A7-8079-5D7A58099A0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36B02A4-53E6-499B-BF36-9AAD8ADDD673}"/>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3E7E2A6-40A8-4237-B05F-C6EF0ACD86DB}"/>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3 roundの状態継承は確認、Layer 3に診断点が残った</a:t>
            </a:r>
          </a:p>
        </p:txBody>
      </p:sp>
      <p:sp>
        <p:nvSpPr>
          <p:cNvPr id="4" name="">
            <a:extLst xmlns:a="http://schemas.openxmlformats.org/drawingml/2006/main">
              <a:ext uri="{FF2B5EF4-FFF2-40B4-BE49-F238E27FC236}">
                <a16:creationId xmlns:a16="http://schemas.microsoft.com/office/drawing/2014/main" id="{D8EA8F12-6145-49CF-9FE7-1F897CC75E7B}"/>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09</a:t>
            </a:r>
          </a:p>
        </p:txBody>
      </p:sp>
      <p:sp>
        <p:nvSpPr>
          <p:cNvPr id="5" name="">
            <a:extLst xmlns:a="http://schemas.openxmlformats.org/drawingml/2006/main">
              <a:ext uri="{FF2B5EF4-FFF2-40B4-BE49-F238E27FC236}">
                <a16:creationId xmlns:a16="http://schemas.microsoft.com/office/drawing/2014/main" id="{96001C71-7D23-4F44-B019-208F7B2B18C0}"/>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ACCE592-3AAB-4DFC-B754-ACFCFAB40CF3}"/>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C61D2303-D9F5-4631-BF43-58607381F2B6}"/>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9 / 10</a:t>
            </a:r>
          </a:p>
        </p:txBody>
      </p:sp>
      <p:graphicFrame>
        <p:nvGraphicFramePr>
          <p:cNvPr id="24" name=""/>
          <p:cNvGraphicFramePr/>
          <p:nvPr/>
        </p:nvGraphicFramePr>
        <p:xfrm>
          <a:off xmlns:a="http://schemas.openxmlformats.org/drawingml/2006/main" x="523875" y="1276350"/>
          <a:ext xmlns:a="http://schemas.openxmlformats.org/drawingml/2006/main" cx="11144250" cy="2428875"/>
        </p:xfrm>
        <a:graphic xmlns:a="http://schemas.openxmlformats.org/drawingml/2006/main">
          <a:graphicData uri="http://schemas.openxmlformats.org/drawingml/2006/table">
            <a:tbl>
              <a:tblPr/>
              <a:tblGrid>
                <a:gridCol w="857250"/>
                <a:gridCol w="1285875"/>
                <a:gridCol w="1285875"/>
                <a:gridCol w="2428875"/>
                <a:gridCol w="2095500"/>
                <a:gridCol w="3190875"/>
              </a:tblGrid>
              <a:tr h="607219">
                <a:tc>
                  <a:txBody>
                    <a:bodyPr/>
                    <a:lstStyle/>
                    <a:p>
                      <a:r>
                        <a:rPr sz="1200" b="1">
                          <a:solidFill>
                            <a:srgbClr val="173B4B"/>
                          </a:solidFill>
                          <a:latin typeface="Yu Gothic"/>
                          <a:ea typeface="Yu Gothic"/>
                          <a:cs typeface="Yu Gothic"/>
                        </a:rPr>
                        <a:t>round</a:t>
                      </a:r>
                    </a:p>
                  </a:txBody>
                  <a:tcPr marL="91440" marR="91440" marT="45720" marB="45720"/>
                </a:tc>
                <a:tc>
                  <a:txBody>
                    <a:bodyPr/>
                    <a:lstStyle/>
                    <a:p>
                      <a:r>
                        <a:rPr sz="1200" b="1">
                          <a:solidFill>
                            <a:srgbClr val="173B4B"/>
                          </a:solidFill>
                          <a:latin typeface="Yu Gothic"/>
                          <a:ea typeface="Yu Gothic"/>
                          <a:cs typeface="Yu Gothic"/>
                        </a:rPr>
                        <a:t>入力 M_G</a:t>
                      </a:r>
                    </a:p>
                  </a:txBody>
                  <a:tcPr marL="91440" marR="91440" marT="45720" marB="45720"/>
                </a:tc>
                <a:tc>
                  <a:txBody>
                    <a:bodyPr/>
                    <a:lstStyle/>
                    <a:p>
                      <a:r>
                        <a:rPr sz="1200" b="1">
                          <a:solidFill>
                            <a:srgbClr val="173B4B"/>
                          </a:solidFill>
                          <a:latin typeface="Yu Gothic"/>
                          <a:ea typeface="Yu Gothic"/>
                          <a:cs typeface="Yu Gothic"/>
                        </a:rPr>
                        <a:t>出力 M_G</a:t>
                      </a:r>
                    </a:p>
                  </a:txBody>
                  <a:tcPr marL="91440" marR="91440" marT="45720" marB="45720"/>
                </a:tc>
                <a:tc>
                  <a:txBody>
                    <a:bodyPr/>
                    <a:lstStyle/>
                    <a:p>
                      <a:r>
                        <a:rPr sz="1200" b="1">
                          <a:solidFill>
                            <a:srgbClr val="173B4B"/>
                          </a:solidFill>
                          <a:latin typeface="Yu Gothic"/>
                          <a:ea typeface="Yu Gothic"/>
                          <a:cs typeface="Yu Gothic"/>
                        </a:rPr>
                        <a:t>client LoRA update norm</a:t>
                      </a:r>
                    </a:p>
                  </a:txBody>
                  <a:tcPr marL="91440" marR="91440" marT="45720" marB="45720"/>
                </a:tc>
                <a:tc>
                  <a:txBody>
                    <a:bodyPr/>
                    <a:lstStyle/>
                    <a:p>
                      <a:r>
                        <a:rPr sz="1200" b="1">
                          <a:solidFill>
                            <a:srgbClr val="173B4B"/>
                          </a:solidFill>
                          <a:latin typeface="Yu Gothic"/>
                          <a:ea typeface="Yu Gothic"/>
                          <a:cs typeface="Yu Gothic"/>
                        </a:rPr>
                        <a:t>FedAvg再計算差</a:t>
                      </a:r>
                    </a:p>
                  </a:txBody>
                  <a:tcPr marL="91440" marR="91440" marT="45720" marB="45720"/>
                </a:tc>
                <a:tc>
                  <a:txBody>
                    <a:bodyPr/>
                    <a:lstStyle/>
                    <a:p>
                      <a:r>
                        <a:rPr sz="1200" b="1">
                          <a:solidFill>
                            <a:srgbClr val="173B4B"/>
                          </a:solidFill>
                          <a:latin typeface="Yu Gothic"/>
                          <a:ea typeface="Yu Gothic"/>
                          <a:cs typeface="Yu Gothic"/>
                        </a:rPr>
                        <a:t>各roundの4 pair上の加重KL</a:t>
                      </a:r>
                    </a:p>
                  </a:txBody>
                  <a:tcPr marL="91440" marR="91440" marT="45720" marB="45720"/>
                </a:tc>
              </a:tr>
              <a:tr h="607219">
                <a:tc>
                  <a:txBody>
                    <a:bodyPr/>
                    <a:lstStyle/>
                    <a:p>
                      <a:r>
                        <a:rPr sz="1350" b="0">
                          <a:solidFill>
                            <a:srgbClr val="26373D"/>
                          </a:solidFill>
                          <a:latin typeface="Yu Gothic"/>
                          <a:ea typeface="Yu Gothic"/>
                          <a:cs typeface="Yu Gothic"/>
                        </a:rPr>
                        <a:t>1</a:t>
                      </a:r>
                    </a:p>
                  </a:txBody>
                  <a:tcPr marL="91440" marR="91440" marT="45720" marB="45720"/>
                </a:tc>
                <a:tc>
                  <a:txBody>
                    <a:bodyPr/>
                    <a:lstStyle/>
                    <a:p>
                      <a:r>
                        <a:rPr sz="1350" b="0">
                          <a:solidFill>
                            <a:srgbClr val="26373D"/>
                          </a:solidFill>
                          <a:latin typeface="Yu Gothic"/>
                          <a:ea typeface="Yu Gothic"/>
                          <a:cs typeface="Yu Gothic"/>
                        </a:rPr>
                        <a:t>M_G^0</a:t>
                      </a:r>
                    </a:p>
                  </a:txBody>
                  <a:tcPr marL="91440" marR="91440" marT="45720" marB="45720"/>
                </a:tc>
                <a:tc>
                  <a:txBody>
                    <a:bodyPr/>
                    <a:lstStyle/>
                    <a:p>
                      <a:r>
                        <a:rPr sz="1350" b="0">
                          <a:solidFill>
                            <a:srgbClr val="26373D"/>
                          </a:solidFill>
                          <a:latin typeface="Yu Gothic"/>
                          <a:ea typeface="Yu Gothic"/>
                          <a:cs typeface="Yu Gothic"/>
                        </a:rPr>
                        <a:t>M_G^1</a:t>
                      </a:r>
                    </a:p>
                  </a:txBody>
                  <a:tcPr marL="91440" marR="91440" marT="45720" marB="45720"/>
                </a:tc>
                <a:tc>
                  <a:txBody>
                    <a:bodyPr/>
                    <a:lstStyle/>
                    <a:p>
                      <a:r>
                        <a:rPr sz="1350" b="0">
                          <a:solidFill>
                            <a:srgbClr val="26373D"/>
                          </a:solidFill>
                          <a:latin typeface="Yu Gothic"/>
                          <a:ea typeface="Yu Gothic"/>
                          <a:cs typeface="Yu Gothic"/>
                        </a:rPr>
                        <a:t>0.346 / 0.292</a:t>
                      </a:r>
                    </a:p>
                  </a:txBody>
                  <a:tcPr marL="91440" marR="91440" marT="45720" marB="45720"/>
                </a:tc>
                <a:tc>
                  <a:txBody>
                    <a:bodyPr/>
                    <a:lstStyle/>
                    <a:p>
                      <a:r>
                        <a:rPr sz="1350" b="0">
                          <a:solidFill>
                            <a:srgbClr val="26373D"/>
                          </a:solidFill>
                          <a:latin typeface="Yu Gothic"/>
                          <a:ea typeface="Yu Gothic"/>
                          <a:cs typeface="Yu Gothic"/>
                        </a:rPr>
                        <a:t>5.82 × 10^-11</a:t>
                      </a:r>
                    </a:p>
                  </a:txBody>
                  <a:tcPr marL="91440" marR="91440" marT="45720" marB="45720"/>
                </a:tc>
                <a:tc>
                  <a:txBody>
                    <a:bodyPr/>
                    <a:lstStyle/>
                    <a:p>
                      <a:r>
                        <a:rPr sz="1350" b="0">
                          <a:solidFill>
                            <a:srgbClr val="26373D"/>
                          </a:solidFill>
                          <a:latin typeface="Yu Gothic"/>
                          <a:ea typeface="Yu Gothic"/>
                          <a:cs typeface="Yu Gothic"/>
                        </a:rPr>
                        <a:t>0.0540 から 0.0534</a:t>
                      </a:r>
                    </a:p>
                  </a:txBody>
                  <a:tcPr marL="91440" marR="91440" marT="45720" marB="45720"/>
                </a:tc>
              </a:tr>
              <a:tr h="607219">
                <a:tc>
                  <a:txBody>
                    <a:bodyPr/>
                    <a:lstStyle/>
                    <a:p>
                      <a:r>
                        <a:rPr sz="1350" b="0">
                          <a:solidFill>
                            <a:srgbClr val="26373D"/>
                          </a:solidFill>
                          <a:latin typeface="Yu Gothic"/>
                          <a:ea typeface="Yu Gothic"/>
                          <a:cs typeface="Yu Gothic"/>
                        </a:rPr>
                        <a:t>2</a:t>
                      </a:r>
                    </a:p>
                  </a:txBody>
                  <a:tcPr marL="91440" marR="91440" marT="45720" marB="45720"/>
                </a:tc>
                <a:tc>
                  <a:txBody>
                    <a:bodyPr/>
                    <a:lstStyle/>
                    <a:p>
                      <a:r>
                        <a:rPr sz="1350" b="0">
                          <a:solidFill>
                            <a:srgbClr val="26373D"/>
                          </a:solidFill>
                          <a:latin typeface="Yu Gothic"/>
                          <a:ea typeface="Yu Gothic"/>
                          <a:cs typeface="Yu Gothic"/>
                        </a:rPr>
                        <a:t>M_G^1</a:t>
                      </a:r>
                    </a:p>
                  </a:txBody>
                  <a:tcPr marL="91440" marR="91440" marT="45720" marB="45720"/>
                </a:tc>
                <a:tc>
                  <a:txBody>
                    <a:bodyPr/>
                    <a:lstStyle/>
                    <a:p>
                      <a:r>
                        <a:rPr sz="1350" b="0">
                          <a:solidFill>
                            <a:srgbClr val="26373D"/>
                          </a:solidFill>
                          <a:latin typeface="Yu Gothic"/>
                          <a:ea typeface="Yu Gothic"/>
                          <a:cs typeface="Yu Gothic"/>
                        </a:rPr>
                        <a:t>M_G^2</a:t>
                      </a:r>
                    </a:p>
                  </a:txBody>
                  <a:tcPr marL="91440" marR="91440" marT="45720" marB="45720"/>
                </a:tc>
                <a:tc>
                  <a:txBody>
                    <a:bodyPr/>
                    <a:lstStyle/>
                    <a:p>
                      <a:r>
                        <a:rPr sz="1350" b="0">
                          <a:solidFill>
                            <a:srgbClr val="26373D"/>
                          </a:solidFill>
                          <a:latin typeface="Yu Gothic"/>
                          <a:ea typeface="Yu Gothic"/>
                          <a:cs typeface="Yu Gothic"/>
                        </a:rPr>
                        <a:t>0.323 / 0.280</a:t>
                      </a:r>
                    </a:p>
                  </a:txBody>
                  <a:tcPr marL="91440" marR="91440" marT="45720" marB="45720"/>
                </a:tc>
                <a:tc>
                  <a:txBody>
                    <a:bodyPr/>
                    <a:lstStyle/>
                    <a:p>
                      <a:r>
                        <a:rPr sz="1350" b="0">
                          <a:solidFill>
                            <a:srgbClr val="26373D"/>
                          </a:solidFill>
                          <a:latin typeface="Yu Gothic"/>
                          <a:ea typeface="Yu Gothic"/>
                          <a:cs typeface="Yu Gothic"/>
                        </a:rPr>
                        <a:t>5.82 × 10^-11</a:t>
                      </a:r>
                    </a:p>
                  </a:txBody>
                  <a:tcPr marL="91440" marR="91440" marT="45720" marB="45720"/>
                </a:tc>
                <a:tc>
                  <a:txBody>
                    <a:bodyPr/>
                    <a:lstStyle/>
                    <a:p>
                      <a:r>
                        <a:rPr sz="1350" b="0">
                          <a:solidFill>
                            <a:srgbClr val="26373D"/>
                          </a:solidFill>
                          <a:latin typeface="Yu Gothic"/>
                          <a:ea typeface="Yu Gothic"/>
                          <a:cs typeface="Yu Gothic"/>
                        </a:rPr>
                        <a:t>18.478 から 18.339</a:t>
                      </a:r>
                    </a:p>
                  </a:txBody>
                  <a:tcPr marL="91440" marR="91440" marT="45720" marB="45720"/>
                </a:tc>
              </a:tr>
              <a:tr h="607219">
                <a:tc>
                  <a:txBody>
                    <a:bodyPr/>
                    <a:lstStyle/>
                    <a:p>
                      <a:r>
                        <a:rPr sz="1350" b="0">
                          <a:solidFill>
                            <a:srgbClr val="26373D"/>
                          </a:solidFill>
                          <a:latin typeface="Yu Gothic"/>
                          <a:ea typeface="Yu Gothic"/>
                          <a:cs typeface="Yu Gothic"/>
                        </a:rPr>
                        <a:t>3</a:t>
                      </a:r>
                    </a:p>
                  </a:txBody>
                  <a:tcPr marL="91440" marR="91440" marT="45720" marB="45720"/>
                </a:tc>
                <a:tc>
                  <a:txBody>
                    <a:bodyPr/>
                    <a:lstStyle/>
                    <a:p>
                      <a:r>
                        <a:rPr sz="1350" b="0">
                          <a:solidFill>
                            <a:srgbClr val="26373D"/>
                          </a:solidFill>
                          <a:latin typeface="Yu Gothic"/>
                          <a:ea typeface="Yu Gothic"/>
                          <a:cs typeface="Yu Gothic"/>
                        </a:rPr>
                        <a:t>M_G^2</a:t>
                      </a:r>
                    </a:p>
                  </a:txBody>
                  <a:tcPr marL="91440" marR="91440" marT="45720" marB="45720"/>
                </a:tc>
                <a:tc>
                  <a:txBody>
                    <a:bodyPr/>
                    <a:lstStyle/>
                    <a:p>
                      <a:r>
                        <a:rPr sz="1350" b="0">
                          <a:solidFill>
                            <a:srgbClr val="26373D"/>
                          </a:solidFill>
                          <a:latin typeface="Yu Gothic"/>
                          <a:ea typeface="Yu Gothic"/>
                          <a:cs typeface="Yu Gothic"/>
                        </a:rPr>
                        <a:t>M_G^3</a:t>
                      </a:r>
                    </a:p>
                  </a:txBody>
                  <a:tcPr marL="91440" marR="91440" marT="45720" marB="45720"/>
                </a:tc>
                <a:tc>
                  <a:txBody>
                    <a:bodyPr/>
                    <a:lstStyle/>
                    <a:p>
                      <a:r>
                        <a:rPr sz="1350" b="0">
                          <a:solidFill>
                            <a:srgbClr val="26373D"/>
                          </a:solidFill>
                          <a:latin typeface="Yu Gothic"/>
                          <a:ea typeface="Yu Gothic"/>
                          <a:cs typeface="Yu Gothic"/>
                        </a:rPr>
                        <a:t>0.320 / 0.280</a:t>
                      </a:r>
                    </a:p>
                  </a:txBody>
                  <a:tcPr marL="91440" marR="91440" marT="45720" marB="45720"/>
                </a:tc>
                <a:tc>
                  <a:txBody>
                    <a:bodyPr/>
                    <a:lstStyle/>
                    <a:p>
                      <a:r>
                        <a:rPr sz="1350" b="0">
                          <a:solidFill>
                            <a:srgbClr val="26373D"/>
                          </a:solidFill>
                          <a:latin typeface="Yu Gothic"/>
                          <a:ea typeface="Yu Gothic"/>
                          <a:cs typeface="Yu Gothic"/>
                        </a:rPr>
                        <a:t>1.16 × 10^-10</a:t>
                      </a:r>
                    </a:p>
                  </a:txBody>
                  <a:tcPr marL="91440" marR="91440" marT="45720" marB="45720"/>
                </a:tc>
                <a:tc>
                  <a:txBody>
                    <a:bodyPr>
                      <a:normAutofit/>
                    </a:bodyPr>
                    <a:lstStyle/>
                    <a:p>
                      <a:pPr algn="ctr"/>
                      <a:r>
                        <a:rPr sz="1350" b="1">
                          <a:solidFill>
                            <a:srgbClr val="B94A3A"/>
                          </a:solidFill>
                          <a:latin typeface="Yu Gothic"/>
                          <a:ea typeface="Yu Gothic"/>
                          <a:cs typeface="Yu Gothic"/>
                        </a:rPr>
                        <a:t>16.131 から 16.178</a:t>
                      </a:r>
                    </a:p>
                  </a:txBody>
                  <a:tcPr marL="91440" marR="91440" marT="45720" marB="45720" anchor="ctr">
                    <a:solidFill>
                      <a:srgbClr val="F5DFDA"/>
                    </a:solidFill>
                  </a:tcPr>
                </a:tc>
              </a:tr>
            </a:tbl>
          </a:graphicData>
        </a:graphic>
      </p:graphicFrame>
      <p:sp>
        <p:nvSpPr>
          <p:cNvPr id="9" name="">
            <a:extLst xmlns:a="http://schemas.openxmlformats.org/drawingml/2006/main">
              <a:ext uri="{FF2B5EF4-FFF2-40B4-BE49-F238E27FC236}">
                <a16:creationId xmlns:a16="http://schemas.microsoft.com/office/drawing/2014/main" id="{82D385F8-DF7B-43FB-8AA5-1FF2892CF106}"/>
              </a:ext>
            </a:extLst>
          </p:cNvPr>
          <p:cNvSpPr>
            <a:spLocks xmlns:a="http://schemas.openxmlformats.org/drawingml/2006/main" noGrp="1"/>
          </p:cNvSpPr>
          <p:nvPr/>
        </p:nvSpPr>
        <p:spPr>
          <a:xfrm xmlns:a="http://schemas.openxmlformats.org/drawingml/2006/main">
            <a:off x="1143000" y="3790950"/>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617078"/>
                </a:solidFill>
                <a:latin typeface="Yu Gothic"/>
                <a:ea typeface="Yu Gothic"/>
                <a:cs typeface="Yu Gothic"/>
              </a:defRPr>
            </a:pPr>
            <a:r>
              <a:rPr sz="1200" b="0">
                <a:solidFill>
                  <a:srgbClr val="617078"/>
                </a:solidFill>
                <a:latin typeface="Yu Gothic"/>
                <a:ea typeface="Yu Gothic"/>
                <a:cs typeface="Yu Gothic"/>
              </a:rPr>
              <a:t>各roundでpairが異なるため、KLをround間の性能trendとして比較しない</a:t>
            </a:r>
          </a:p>
        </p:txBody>
      </p:sp>
      <p:sp>
        <p:nvSpPr>
          <p:cNvPr id="10" name="">
            <a:extLst xmlns:a="http://schemas.openxmlformats.org/drawingml/2006/main">
              <a:ext uri="{FF2B5EF4-FFF2-40B4-BE49-F238E27FC236}">
                <a16:creationId xmlns:a16="http://schemas.microsoft.com/office/drawing/2014/main" id="{1EAA8C14-2027-4A59-954B-37373B224BE9}"/>
              </a:ext>
            </a:extLst>
          </p:cNvPr>
          <p:cNvSpPr>
            <a:spLocks xmlns:a="http://schemas.openxmlformats.org/drawingml/2006/main" noGrp="1"/>
          </p:cNvSpPr>
          <p:nvPr/>
        </p:nvSpPr>
        <p:spPr>
          <a:xfrm xmlns:a="http://schemas.openxmlformats.org/drawingml/2006/main">
            <a:off x="666750" y="4095750"/>
            <a:ext cx="5000625" cy="1352550"/>
          </a:xfrm>
          <a:prstGeom xmlns:a="http://schemas.openxmlformats.org/drawingml/2006/main" prst="rect">
            <a:avLst/>
          </a:prstGeom>
          <a:solidFill xmlns:a="http://schemas.openxmlformats.org/drawingml/2006/main">
            <a:srgbClr val="E6F1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C8527D2-539B-42F8-9449-500F203DF579}"/>
              </a:ext>
            </a:extLst>
          </p:cNvPr>
          <p:cNvSpPr>
            <a:spLocks xmlns:a="http://schemas.openxmlformats.org/drawingml/2006/main" noGrp="1"/>
          </p:cNvSpPr>
          <p:nvPr/>
        </p:nvSpPr>
        <p:spPr>
          <a:xfrm xmlns:a="http://schemas.openxmlformats.org/drawingml/2006/main">
            <a:off x="914400" y="42862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47B78"/>
                </a:solidFill>
                <a:latin typeface="Yu Gothic"/>
                <a:ea typeface="Yu Gothic"/>
                <a:cs typeface="Yu Gothic"/>
              </a:defRPr>
            </a:pPr>
            <a:r>
              <a:rPr sz="1650" b="1">
                <a:solidFill>
                  <a:srgbClr val="147B78"/>
                </a:solidFill>
                <a:latin typeface="Yu Gothic"/>
                <a:ea typeface="Yu Gothic"/>
                <a:cs typeface="Yu Gothic"/>
              </a:rPr>
              <a:t>確認できたこと</a:t>
            </a:r>
          </a:p>
        </p:txBody>
      </p:sp>
      <p:sp>
        <p:nvSpPr>
          <p:cNvPr id="12" name="">
            <a:extLst xmlns:a="http://schemas.openxmlformats.org/drawingml/2006/main">
              <a:ext uri="{FF2B5EF4-FFF2-40B4-BE49-F238E27FC236}">
                <a16:creationId xmlns:a16="http://schemas.microsoft.com/office/drawing/2014/main" id="{0C8FD58C-92F9-4CC7-A3E8-6374E11684B7}"/>
              </a:ext>
            </a:extLst>
          </p:cNvPr>
          <p:cNvSpPr>
            <a:spLocks xmlns:a="http://schemas.openxmlformats.org/drawingml/2006/main" noGrp="1"/>
          </p:cNvSpPr>
          <p:nvPr/>
        </p:nvSpPr>
        <p:spPr>
          <a:xfrm xmlns:a="http://schemas.openxmlformats.org/drawingml/2006/main">
            <a:off x="914400" y="4686300"/>
            <a:ext cx="4429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2011"/>
          </a:bodyPr>
          <a:lstStyle xmlns:a="http://schemas.openxmlformats.org/drawingml/2006/main"/>
          <a:p xmlns:a="http://schemas.openxmlformats.org/drawingml/2006/main">
            <a:pPr algn="l">
              <a:defRPr sz="1575" b="0">
                <a:solidFill>
                  <a:srgbClr val="26373D"/>
                </a:solidFill>
                <a:latin typeface="Yu Gothic"/>
                <a:ea typeface="Yu Gothic"/>
                <a:cs typeface="Yu Gothic"/>
              </a:defRPr>
            </a:pPr>
            <a:r>
              <a:rPr sz="1575" b="0">
                <a:solidFill>
                  <a:srgbClr val="26373D"/>
                </a:solidFill>
                <a:latin typeface="Yu Gothic"/>
                <a:ea typeface="Yu Gothic"/>
                <a:cs typeface="Yu Gothic"/>
              </a:rPr>
              <a:t>M_G^0 から M_G^3まで更新し、round間のcheckpointとtensor digestが一致。各client更新とFedAvgを再計算できた。</a:t>
            </a:r>
          </a:p>
        </p:txBody>
      </p:sp>
      <p:sp>
        <p:nvSpPr>
          <p:cNvPr id="13" name="">
            <a:extLst xmlns:a="http://schemas.openxmlformats.org/drawingml/2006/main">
              <a:ext uri="{FF2B5EF4-FFF2-40B4-BE49-F238E27FC236}">
                <a16:creationId xmlns:a16="http://schemas.microsoft.com/office/drawing/2014/main" id="{CB887A50-B0AA-4230-987C-099581CD2393}"/>
              </a:ext>
            </a:extLst>
          </p:cNvPr>
          <p:cNvSpPr>
            <a:spLocks xmlns:a="http://schemas.openxmlformats.org/drawingml/2006/main" noGrp="1"/>
          </p:cNvSpPr>
          <p:nvPr/>
        </p:nvSpPr>
        <p:spPr>
          <a:xfrm xmlns:a="http://schemas.openxmlformats.org/drawingml/2006/main">
            <a:off x="5953125" y="4095750"/>
            <a:ext cx="5572125" cy="1352550"/>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7EA6DE6-9ECA-42E8-B502-7D25470ADE46}"/>
              </a:ext>
            </a:extLst>
          </p:cNvPr>
          <p:cNvSpPr>
            <a:spLocks xmlns:a="http://schemas.openxmlformats.org/drawingml/2006/main" noGrp="1"/>
          </p:cNvSpPr>
          <p:nvPr/>
        </p:nvSpPr>
        <p:spPr>
          <a:xfrm xmlns:a="http://schemas.openxmlformats.org/drawingml/2006/main">
            <a:off x="6210300" y="4286250"/>
            <a:ext cx="504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E7833D"/>
                </a:solidFill>
                <a:latin typeface="Yu Gothic"/>
                <a:ea typeface="Yu Gothic"/>
                <a:cs typeface="Yu Gothic"/>
              </a:defRPr>
            </a:pPr>
            <a:r>
              <a:rPr sz="1650" b="1">
                <a:solidFill>
                  <a:srgbClr val="E7833D"/>
                </a:solidFill>
                <a:latin typeface="Yu Gothic"/>
                <a:ea typeface="Yu Gothic"/>
                <a:cs typeface="Yu Gothic"/>
              </a:rPr>
              <a:t>残った問題</a:t>
            </a:r>
          </a:p>
        </p:txBody>
      </p:sp>
      <p:sp>
        <p:nvSpPr>
          <p:cNvPr id="15" name="">
            <a:extLst xmlns:a="http://schemas.openxmlformats.org/drawingml/2006/main">
              <a:ext uri="{FF2B5EF4-FFF2-40B4-BE49-F238E27FC236}">
                <a16:creationId xmlns:a16="http://schemas.microsoft.com/office/drawing/2014/main" id="{8B13DC36-7D81-472B-BF53-52D44F1A8DC3}"/>
              </a:ext>
            </a:extLst>
          </p:cNvPr>
          <p:cNvSpPr>
            <a:spLocks xmlns:a="http://schemas.openxmlformats.org/drawingml/2006/main" noGrp="1"/>
          </p:cNvSpPr>
          <p:nvPr/>
        </p:nvSpPr>
        <p:spPr>
          <a:xfrm xmlns:a="http://schemas.openxmlformats.org/drawingml/2006/main">
            <a:off x="6210300" y="4686300"/>
            <a:ext cx="5000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2011"/>
          </a:bodyPr>
          <a:lstStyle xmlns:a="http://schemas.openxmlformats.org/drawingml/2006/main"/>
          <a:p xmlns:a="http://schemas.openxmlformats.org/drawingml/2006/main">
            <a:pPr algn="l">
              <a:defRPr sz="1575" b="0">
                <a:solidFill>
                  <a:srgbClr val="26373D"/>
                </a:solidFill>
                <a:latin typeface="Yu Gothic"/>
                <a:ea typeface="Yu Gothic"/>
                <a:cs typeface="Yu Gothic"/>
              </a:defRPr>
            </a:pPr>
            <a:r>
              <a:rPr sz="1575" b="0">
                <a:solidFill>
                  <a:srgbClr val="26373D"/>
                </a:solidFill>
                <a:latin typeface="Yu Gothic"/>
                <a:ea typeface="Yu Gothic"/>
                <a:cs typeface="Yu Gothic"/>
              </a:rPr>
              <a:t>加重KLを減らす条件をround 3で満たせず、実行確認として更新した。処理は動いたが、安定したfoundation更新とは言えない。</a:t>
            </a:r>
          </a:p>
        </p:txBody>
      </p:sp>
      <p:sp>
        <p:nvSpPr>
          <p:cNvPr id="16" name="">
            <a:extLst xmlns:a="http://schemas.openxmlformats.org/drawingml/2006/main">
              <a:ext uri="{FF2B5EF4-FFF2-40B4-BE49-F238E27FC236}">
                <a16:creationId xmlns:a16="http://schemas.microsoft.com/office/drawing/2014/main" id="{BC53FCFC-C855-4403-BC8E-E15CFE60D27E}"/>
              </a:ext>
            </a:extLst>
          </p:cNvPr>
          <p:cNvSpPr>
            <a:spLocks xmlns:a="http://schemas.openxmlformats.org/drawingml/2006/main" noGrp="1"/>
          </p:cNvSpPr>
          <p:nvPr/>
        </p:nvSpPr>
        <p:spPr>
          <a:xfrm xmlns:a="http://schemas.openxmlformats.org/drawingml/2006/main">
            <a:off x="952500" y="58483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B94A3A"/>
                </a:solidFill>
                <a:latin typeface="Yu Gothic"/>
                <a:ea typeface="Yu Gothic"/>
                <a:cs typeface="Yu Gothic"/>
              </a:defRPr>
            </a:pPr>
            <a:r>
              <a:rPr sz="1650" b="1">
                <a:solidFill>
                  <a:srgbClr val="B94A3A"/>
                </a:solidFill>
                <a:latin typeface="Yu Gothic"/>
                <a:ea typeface="Yu Gothic"/>
                <a:cs typeface="Yu Gothic"/>
              </a:rPr>
              <a:t>この結果から性能向上、proxy品質、未知データへの転移、形式的privacy保証は主張しない</a:t>
            </a:r>
          </a:p>
        </p:txBody>
      </p:sp>
    </p:spTree>
    <p:extLst>
      <p:ext uri="{BB962C8B-B14F-4D97-AF65-F5344CB8AC3E}">
        <p14:creationId xmlns:p14="http://schemas.microsoft.com/office/powerpoint/2010/main" val="170821440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F6D3F3F-CF74-4E3D-A34F-ADCCEA97677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16725E1-3845-4E58-876E-D7E24AEEDDF1}"/>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729A56F-BCB8-43B9-BD41-59F2DA24377A}"/>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今後：5 roundの前に、失敗箇所を切り分ける</a:t>
            </a:r>
          </a:p>
        </p:txBody>
      </p:sp>
      <p:sp>
        <p:nvSpPr>
          <p:cNvPr id="4" name="">
            <a:extLst xmlns:a="http://schemas.openxmlformats.org/drawingml/2006/main">
              <a:ext uri="{FF2B5EF4-FFF2-40B4-BE49-F238E27FC236}">
                <a16:creationId xmlns:a16="http://schemas.microsoft.com/office/drawing/2014/main" id="{7FD98A76-88C2-4CDC-9123-52A0B68564A9}"/>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10</a:t>
            </a:r>
          </a:p>
        </p:txBody>
      </p:sp>
      <p:sp>
        <p:nvSpPr>
          <p:cNvPr id="5" name="">
            <a:extLst xmlns:a="http://schemas.openxmlformats.org/drawingml/2006/main">
              <a:ext uri="{FF2B5EF4-FFF2-40B4-BE49-F238E27FC236}">
                <a16:creationId xmlns:a16="http://schemas.microsoft.com/office/drawing/2014/main" id="{2F850DC1-1739-4166-B3B5-B618EAD59FB2}"/>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11ED54F-F2B6-4FB6-BBC4-7BA606DD1585}"/>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1DAF416C-85BB-4412-8029-795F563B654D}"/>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10 / 10</a:t>
            </a:r>
          </a:p>
        </p:txBody>
      </p:sp>
      <p:sp>
        <p:nvSpPr>
          <p:cNvPr id="8" name="">
            <a:extLst xmlns:a="http://schemas.openxmlformats.org/drawingml/2006/main">
              <a:ext uri="{FF2B5EF4-FFF2-40B4-BE49-F238E27FC236}">
                <a16:creationId xmlns:a16="http://schemas.microsoft.com/office/drawing/2014/main" id="{B8ADD463-FC3C-4439-8727-E3EEDD5B1B98}"/>
              </a:ext>
            </a:extLst>
          </p:cNvPr>
          <p:cNvSpPr>
            <a:spLocks xmlns:a="http://schemas.openxmlformats.org/drawingml/2006/main" noGrp="1"/>
          </p:cNvSpPr>
          <p:nvPr/>
        </p:nvSpPr>
        <p:spPr>
          <a:xfrm xmlns:a="http://schemas.openxmlformats.org/drawingml/2006/main">
            <a:off x="723900" y="1200150"/>
            <a:ext cx="571500" cy="571500"/>
          </a:xfrm>
          <a:prstGeom xmlns:a="http://schemas.openxmlformats.org/drawingml/2006/main" prst="rect">
            <a:avLst/>
          </a:prstGeom>
          <a:solidFill xmlns:a="http://schemas.openxmlformats.org/drawingml/2006/main">
            <a:srgbClr val="B94A3A"/>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550" b="1">
                <a:solidFill>
                  <a:srgbClr val="FFFFFF"/>
                </a:solidFill>
                <a:latin typeface="Yu Gothic"/>
                <a:ea typeface="Yu Gothic"/>
                <a:cs typeface="Yu Gothic"/>
              </a:defRPr>
            </a:pPr>
            <a:r>
              <a:rPr sz="2550" b="1">
                <a:solidFill>
                  <a:srgbClr val="FFFFFF"/>
                </a:solidFill>
                <a:latin typeface="Yu Gothic"/>
                <a:ea typeface="Yu Gothic"/>
                <a:cs typeface="Yu Gothic"/>
              </a:rPr>
              <a:t>1</a:t>
            </a:r>
          </a:p>
        </p:txBody>
      </p:sp>
      <p:sp>
        <p:nvSpPr>
          <p:cNvPr id="9" name="">
            <a:extLst xmlns:a="http://schemas.openxmlformats.org/drawingml/2006/main">
              <a:ext uri="{FF2B5EF4-FFF2-40B4-BE49-F238E27FC236}">
                <a16:creationId xmlns:a16="http://schemas.microsoft.com/office/drawing/2014/main" id="{A18E3501-F57E-4940-A0E2-462A871CEE4C}"/>
              </a:ext>
            </a:extLst>
          </p:cNvPr>
          <p:cNvSpPr>
            <a:spLocks xmlns:a="http://schemas.openxmlformats.org/drawingml/2006/main" noGrp="1"/>
          </p:cNvSpPr>
          <p:nvPr/>
        </p:nvSpPr>
        <p:spPr>
          <a:xfrm xmlns:a="http://schemas.openxmlformats.org/drawingml/2006/main">
            <a:off x="1581150" y="1181100"/>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73B4B"/>
                </a:solidFill>
                <a:latin typeface="Yu Gothic"/>
                <a:ea typeface="Yu Gothic"/>
                <a:cs typeface="Yu Gothic"/>
              </a:defRPr>
            </a:pPr>
            <a:r>
              <a:rPr sz="2025" b="1">
                <a:solidFill>
                  <a:srgbClr val="173B4B"/>
                </a:solidFill>
                <a:latin typeface="Yu Gothic"/>
                <a:ea typeface="Yu Gothic"/>
                <a:cs typeface="Yu Gothic"/>
              </a:rPr>
              <a:t>Layer 3の更新を再確認</a:t>
            </a:r>
          </a:p>
        </p:txBody>
      </p:sp>
      <p:sp>
        <p:nvSpPr>
          <p:cNvPr id="10" name="">
            <a:extLst xmlns:a="http://schemas.openxmlformats.org/drawingml/2006/main">
              <a:ext uri="{FF2B5EF4-FFF2-40B4-BE49-F238E27FC236}">
                <a16:creationId xmlns:a16="http://schemas.microsoft.com/office/drawing/2014/main" id="{68C910B6-EAD9-45AF-A924-968800F8DD7C}"/>
              </a:ext>
            </a:extLst>
          </p:cNvPr>
          <p:cNvSpPr>
            <a:spLocks xmlns:a="http://schemas.openxmlformats.org/drawingml/2006/main" noGrp="1"/>
          </p:cNvSpPr>
          <p:nvPr/>
        </p:nvSpPr>
        <p:spPr>
          <a:xfrm xmlns:a="http://schemas.openxmlformats.org/drawingml/2006/main">
            <a:off x="1581150" y="1647825"/>
            <a:ext cx="9334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0">
                <a:solidFill>
                  <a:srgbClr val="26373D"/>
                </a:solidFill>
                <a:latin typeface="Yu Gothic"/>
                <a:ea typeface="Yu Gothic"/>
                <a:cs typeface="Yu Gothic"/>
              </a:defRPr>
            </a:pPr>
            <a:r>
              <a:rPr sz="1575" b="0">
                <a:solidFill>
                  <a:srgbClr val="26373D"/>
                </a:solidFill>
                <a:latin typeface="Yu Gothic"/>
                <a:ea typeface="Yu Gothic"/>
                <a:cs typeface="Yu Gothic"/>
              </a:rPr>
              <a:t>同じ4 pairと同じ損失で、gradient、重み、FP32計算、finite differenceを照合する。十分小さい1回更新で損失が増えないことを合格条件にする。</a:t>
            </a:r>
          </a:p>
        </p:txBody>
      </p:sp>
      <p:sp>
        <p:nvSpPr>
          <p:cNvPr id="11" name="">
            <a:extLst xmlns:a="http://schemas.openxmlformats.org/drawingml/2006/main">
              <a:ext uri="{FF2B5EF4-FFF2-40B4-BE49-F238E27FC236}">
                <a16:creationId xmlns:a16="http://schemas.microsoft.com/office/drawing/2014/main" id="{64F63EF0-E060-4F9F-9EC1-8762AD626999}"/>
              </a:ext>
            </a:extLst>
          </p:cNvPr>
          <p:cNvSpPr>
            <a:spLocks xmlns:a="http://schemas.openxmlformats.org/drawingml/2006/main" noGrp="1"/>
          </p:cNvSpPr>
          <p:nvPr/>
        </p:nvSpPr>
        <p:spPr>
          <a:xfrm xmlns:a="http://schemas.openxmlformats.org/drawingml/2006/main">
            <a:off x="1581150" y="2476500"/>
            <a:ext cx="95250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2404FBA-0364-4D04-BE01-D584EE5AF86B}"/>
              </a:ext>
            </a:extLst>
          </p:cNvPr>
          <p:cNvSpPr>
            <a:spLocks xmlns:a="http://schemas.openxmlformats.org/drawingml/2006/main" noGrp="1"/>
          </p:cNvSpPr>
          <p:nvPr/>
        </p:nvSpPr>
        <p:spPr>
          <a:xfrm xmlns:a="http://schemas.openxmlformats.org/drawingml/2006/main">
            <a:off x="723900" y="2676525"/>
            <a:ext cx="571500" cy="571500"/>
          </a:xfrm>
          <a:prstGeom xmlns:a="http://schemas.openxmlformats.org/drawingml/2006/main" prst="rect">
            <a:avLst/>
          </a:prstGeom>
          <a:solidFill xmlns:a="http://schemas.openxmlformats.org/drawingml/2006/main">
            <a:srgbClr val="E7833D"/>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550" b="1">
                <a:solidFill>
                  <a:srgbClr val="FFFFFF"/>
                </a:solidFill>
                <a:latin typeface="Yu Gothic"/>
                <a:ea typeface="Yu Gothic"/>
                <a:cs typeface="Yu Gothic"/>
              </a:defRPr>
            </a:pPr>
            <a:r>
              <a:rPr sz="2550" b="1">
                <a:solidFill>
                  <a:srgbClr val="FFFFFF"/>
                </a:solidFill>
                <a:latin typeface="Yu Gothic"/>
                <a:ea typeface="Yu Gothic"/>
                <a:cs typeface="Yu Gothic"/>
              </a:rPr>
              <a:t>2</a:t>
            </a:r>
          </a:p>
        </p:txBody>
      </p:sp>
      <p:sp>
        <p:nvSpPr>
          <p:cNvPr id="13" name="">
            <a:extLst xmlns:a="http://schemas.openxmlformats.org/drawingml/2006/main">
              <a:ext uri="{FF2B5EF4-FFF2-40B4-BE49-F238E27FC236}">
                <a16:creationId xmlns:a16="http://schemas.microsoft.com/office/drawing/2014/main" id="{941B4835-6D73-4580-B0D8-0B8255C03A43}"/>
              </a:ext>
            </a:extLst>
          </p:cNvPr>
          <p:cNvSpPr>
            <a:spLocks xmlns:a="http://schemas.openxmlformats.org/drawingml/2006/main" noGrp="1"/>
          </p:cNvSpPr>
          <p:nvPr/>
        </p:nvSpPr>
        <p:spPr>
          <a:xfrm xmlns:a="http://schemas.openxmlformats.org/drawingml/2006/main">
            <a:off x="1581150" y="265747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73B4B"/>
                </a:solidFill>
                <a:latin typeface="Yu Gothic"/>
                <a:ea typeface="Yu Gothic"/>
                <a:cs typeface="Yu Gothic"/>
              </a:defRPr>
            </a:pPr>
            <a:r>
              <a:rPr sz="2025" b="1">
                <a:solidFill>
                  <a:srgbClr val="173B4B"/>
                </a:solidFill>
                <a:latin typeface="Yu Gothic"/>
                <a:ea typeface="Yu Gothic"/>
                <a:cs typeface="Yu Gothic"/>
              </a:rPr>
              <a:t>問題が解消したら5 roundへ</a:t>
            </a:r>
          </a:p>
        </p:txBody>
      </p:sp>
      <p:sp>
        <p:nvSpPr>
          <p:cNvPr id="14" name="">
            <a:extLst xmlns:a="http://schemas.openxmlformats.org/drawingml/2006/main">
              <a:ext uri="{FF2B5EF4-FFF2-40B4-BE49-F238E27FC236}">
                <a16:creationId xmlns:a16="http://schemas.microsoft.com/office/drawing/2014/main" id="{E5E96992-0B75-4EDD-BA91-562D61CB2F7C}"/>
              </a:ext>
            </a:extLst>
          </p:cNvPr>
          <p:cNvSpPr>
            <a:spLocks xmlns:a="http://schemas.openxmlformats.org/drawingml/2006/main" noGrp="1"/>
          </p:cNvSpPr>
          <p:nvPr/>
        </p:nvSpPr>
        <p:spPr>
          <a:xfrm xmlns:a="http://schemas.openxmlformats.org/drawingml/2006/main">
            <a:off x="1581150" y="3124200"/>
            <a:ext cx="9334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0">
                <a:solidFill>
                  <a:srgbClr val="26373D"/>
                </a:solidFill>
                <a:latin typeface="Yu Gothic"/>
                <a:ea typeface="Yu Gothic"/>
                <a:cs typeface="Yu Gothic"/>
              </a:defRPr>
            </a:pPr>
            <a:r>
              <a:rPr sz="1575" b="0">
                <a:solidFill>
                  <a:srgbClr val="26373D"/>
                </a:solidFill>
                <a:latin typeface="Yu Gothic"/>
                <a:ea typeface="Yu Gothic"/>
                <a:cs typeface="Yu Gothic"/>
              </a:rPr>
              <a:t>M_Gとfoundationのstate継承、client送信内容、実行時間を同じ形式で保存する。</a:t>
            </a:r>
          </a:p>
        </p:txBody>
      </p:sp>
      <p:sp>
        <p:nvSpPr>
          <p:cNvPr id="15" name="">
            <a:extLst xmlns:a="http://schemas.openxmlformats.org/drawingml/2006/main">
              <a:ext uri="{FF2B5EF4-FFF2-40B4-BE49-F238E27FC236}">
                <a16:creationId xmlns:a16="http://schemas.microsoft.com/office/drawing/2014/main" id="{75D3BA30-6372-4F94-828A-251663116C1F}"/>
              </a:ext>
            </a:extLst>
          </p:cNvPr>
          <p:cNvSpPr>
            <a:spLocks xmlns:a="http://schemas.openxmlformats.org/drawingml/2006/main" noGrp="1"/>
          </p:cNvSpPr>
          <p:nvPr/>
        </p:nvSpPr>
        <p:spPr>
          <a:xfrm xmlns:a="http://schemas.openxmlformats.org/drawingml/2006/main">
            <a:off x="1581150" y="3952875"/>
            <a:ext cx="95250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4CADF34-9F61-4DAE-B150-75BFF0320279}"/>
              </a:ext>
            </a:extLst>
          </p:cNvPr>
          <p:cNvSpPr>
            <a:spLocks xmlns:a="http://schemas.openxmlformats.org/drawingml/2006/main" noGrp="1"/>
          </p:cNvSpPr>
          <p:nvPr/>
        </p:nvSpPr>
        <p:spPr>
          <a:xfrm xmlns:a="http://schemas.openxmlformats.org/drawingml/2006/main">
            <a:off x="723900" y="4152900"/>
            <a:ext cx="571500" cy="571500"/>
          </a:xfrm>
          <a:prstGeom xmlns:a="http://schemas.openxmlformats.org/drawingml/2006/main" prst="rect">
            <a:avLst/>
          </a:prstGeom>
          <a:solidFill xmlns:a="http://schemas.openxmlformats.org/drawingml/2006/main">
            <a:srgbClr val="147B78"/>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550" b="1">
                <a:solidFill>
                  <a:srgbClr val="FFFFFF"/>
                </a:solidFill>
                <a:latin typeface="Yu Gothic"/>
                <a:ea typeface="Yu Gothic"/>
                <a:cs typeface="Yu Gothic"/>
              </a:defRPr>
            </a:pPr>
            <a:r>
              <a:rPr sz="2550" b="1">
                <a:solidFill>
                  <a:srgbClr val="FFFFFF"/>
                </a:solidFill>
                <a:latin typeface="Yu Gothic"/>
                <a:ea typeface="Yu Gothic"/>
                <a:cs typeface="Yu Gothic"/>
              </a:rPr>
              <a:t>3</a:t>
            </a:r>
          </a:p>
        </p:txBody>
      </p:sp>
      <p:sp>
        <p:nvSpPr>
          <p:cNvPr id="17" name="">
            <a:extLst xmlns:a="http://schemas.openxmlformats.org/drawingml/2006/main">
              <a:ext uri="{FF2B5EF4-FFF2-40B4-BE49-F238E27FC236}">
                <a16:creationId xmlns:a16="http://schemas.microsoft.com/office/drawing/2014/main" id="{ADF2FE86-F2A1-4977-A67A-29510A625DE4}"/>
              </a:ext>
            </a:extLst>
          </p:cNvPr>
          <p:cNvSpPr>
            <a:spLocks xmlns:a="http://schemas.openxmlformats.org/drawingml/2006/main" noGrp="1"/>
          </p:cNvSpPr>
          <p:nvPr/>
        </p:nvSpPr>
        <p:spPr>
          <a:xfrm xmlns:a="http://schemas.openxmlformats.org/drawingml/2006/main">
            <a:off x="1581150" y="4133850"/>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73B4B"/>
                </a:solidFill>
                <a:latin typeface="Yu Gothic"/>
                <a:ea typeface="Yu Gothic"/>
                <a:cs typeface="Yu Gothic"/>
              </a:defRPr>
            </a:pPr>
            <a:r>
              <a:rPr sz="2025" b="1">
                <a:solidFill>
                  <a:srgbClr val="173B4B"/>
                </a:solidFill>
                <a:latin typeface="Yu Gothic"/>
                <a:ea typeface="Yu Gothic"/>
                <a:cs typeface="Yu Gothic"/>
              </a:rPr>
              <a:t>第II段階でLayer 2を比較</a:t>
            </a:r>
          </a:p>
        </p:txBody>
      </p:sp>
      <p:sp>
        <p:nvSpPr>
          <p:cNvPr id="18" name="">
            <a:extLst xmlns:a="http://schemas.openxmlformats.org/drawingml/2006/main">
              <a:ext uri="{FF2B5EF4-FFF2-40B4-BE49-F238E27FC236}">
                <a16:creationId xmlns:a16="http://schemas.microsoft.com/office/drawing/2014/main" id="{0E125A4F-742B-4433-A9DF-6C0C41DFCA10}"/>
              </a:ext>
            </a:extLst>
          </p:cNvPr>
          <p:cNvSpPr>
            <a:spLocks xmlns:a="http://schemas.openxmlformats.org/drawingml/2006/main" noGrp="1"/>
          </p:cNvSpPr>
          <p:nvPr/>
        </p:nvSpPr>
        <p:spPr>
          <a:xfrm xmlns:a="http://schemas.openxmlformats.org/drawingml/2006/main">
            <a:off x="1581150" y="4600575"/>
            <a:ext cx="9334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0">
                <a:solidFill>
                  <a:srgbClr val="26373D"/>
                </a:solidFill>
                <a:latin typeface="Yu Gothic"/>
                <a:ea typeface="Yu Gothic"/>
                <a:cs typeface="Yu Gothic"/>
              </a:defRPr>
            </a:pPr>
            <a:r>
              <a:rPr sz="1575" b="0">
                <a:solidFill>
                  <a:srgbClr val="26373D"/>
                </a:solidFill>
                <a:latin typeface="Yu Gothic"/>
                <a:ea typeface="Yu Gothic"/>
                <a:cs typeface="Yu Gothic"/>
              </a:rPr>
              <a:t>Server Only、Post Only、Post + Deltaを同じ条件で比較し、seed内容、model予測、delta再現を分けて評価する。</a:t>
            </a:r>
          </a:p>
        </p:txBody>
      </p:sp>
      <p:sp>
        <p:nvSpPr>
          <p:cNvPr id="19" name="">
            <a:extLst xmlns:a="http://schemas.openxmlformats.org/drawingml/2006/main">
              <a:ext uri="{FF2B5EF4-FFF2-40B4-BE49-F238E27FC236}">
                <a16:creationId xmlns:a16="http://schemas.microsoft.com/office/drawing/2014/main" id="{5EBAF609-717B-451C-8C4D-67E5E0F8BB2C}"/>
              </a:ext>
            </a:extLst>
          </p:cNvPr>
          <p:cNvSpPr>
            <a:spLocks xmlns:a="http://schemas.openxmlformats.org/drawingml/2006/main" noGrp="1"/>
          </p:cNvSpPr>
          <p:nvPr/>
        </p:nvSpPr>
        <p:spPr>
          <a:xfrm xmlns:a="http://schemas.openxmlformats.org/drawingml/2006/main">
            <a:off x="666750" y="5686425"/>
            <a:ext cx="10572750" cy="552450"/>
          </a:xfrm>
          <a:prstGeom xmlns:a="http://schemas.openxmlformats.org/drawingml/2006/main" prst="rect">
            <a:avLst/>
          </a:prstGeom>
          <a:solidFill xmlns:a="http://schemas.openxmlformats.org/drawingml/2006/main">
            <a:srgbClr val="173B4B"/>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8A247F6-3C65-4538-979B-E8BC423E54A7}"/>
              </a:ext>
            </a:extLst>
          </p:cNvPr>
          <p:cNvSpPr>
            <a:spLocks xmlns:a="http://schemas.openxmlformats.org/drawingml/2006/main" noGrp="1"/>
          </p:cNvSpPr>
          <p:nvPr/>
        </p:nvSpPr>
        <p:spPr>
          <a:xfrm xmlns:a="http://schemas.openxmlformats.org/drawingml/2006/main">
            <a:off x="914400" y="5819775"/>
            <a:ext cx="10077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7329"/>
          </a:bodyPr>
          <a:lstStyle xmlns:a="http://schemas.openxmlformats.org/drawingml/2006/main"/>
          <a:p xmlns:a="http://schemas.openxmlformats.org/drawingml/2006/main">
            <a:pPr algn="ctr">
              <a:defRPr sz="1650" b="1">
                <a:solidFill>
                  <a:srgbClr val="FFFFFF"/>
                </a:solidFill>
                <a:latin typeface="Yu Gothic"/>
                <a:ea typeface="Yu Gothic"/>
                <a:cs typeface="Yu Gothic"/>
              </a:defRPr>
            </a:pPr>
            <a:r>
              <a:rPr sz="1650" b="1">
                <a:solidFill>
                  <a:srgbClr val="FFFFFF"/>
                </a:solidFill>
                <a:latin typeface="Yu Gothic"/>
                <a:ea typeface="Yu Gothic"/>
                <a:cs typeface="Yu Gothic"/>
              </a:rPr>
              <a:t>次の問い：clientのadaptation signalは、server-side seedだけの場合を超えてfoundation更新へ寄与するか</a:t>
            </a:r>
          </a:p>
        </p:txBody>
      </p:sp>
    </p:spTree>
    <p:extLst>
      <p:ext uri="{BB962C8B-B14F-4D97-AF65-F5344CB8AC3E}">
        <p14:creationId xmlns:p14="http://schemas.microsoft.com/office/powerpoint/2010/main" val="1361901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2026-09-17T17:55:35.7880000Z</dcterms:created>
  <dcterms:modified xsi:type="dcterms:W3CDTF">2026-09-17T17:55:35.7880000Z</dcterms:modified>
</coreProperties>
</file>