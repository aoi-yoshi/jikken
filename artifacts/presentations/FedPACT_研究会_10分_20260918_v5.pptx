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247222eb4a143a2" /><Relationship Type="http://schemas.openxmlformats.org/officeDocument/2006/relationships/extended-properties" Target="/docProps/app.xml" Id="Ra9979eed566d4079" /><Relationship Type="http://schemas.openxmlformats.org/officeDocument/2006/relationships/officeDocument" Target="/ppt/presentation.xml" Id="R61db0dcc262d4dde" /></Relationships>
</file>

<file path=ppt/presentation.xml><?xml version="1.0" encoding="utf-8"?>
<p:presentation xmlns:p="http://schemas.openxmlformats.org/presentationml/2006/main">
  <p:sldMasterIdLst>
    <p:sldMasterId xmlns:r="http://schemas.openxmlformats.org/officeDocument/2006/relationships" id="2147483648" r:id="R2c5fac3462264e74"/>
  </p:sldMasterIdLst>
  <p:notesMasterIdLst>
    <p:notesMasterId xmlns:r="http://schemas.openxmlformats.org/officeDocument/2006/relationships" r:id="R150c903e55f24602"/>
  </p:notesMasterIdLst>
  <p:sldIdLst>
    <p:sldId xmlns:r="http://schemas.openxmlformats.org/officeDocument/2006/relationships" id="256" r:id="Rfac60bba537c407e"/>
    <p:sldId xmlns:r="http://schemas.openxmlformats.org/officeDocument/2006/relationships" id="257" r:id="R149c740d82d54c2c"/>
    <p:sldId xmlns:r="http://schemas.openxmlformats.org/officeDocument/2006/relationships" id="258" r:id="R278cbcb48c1e4351"/>
    <p:sldId xmlns:r="http://schemas.openxmlformats.org/officeDocument/2006/relationships" id="259" r:id="R7e89b216e978405f"/>
    <p:sldId xmlns:r="http://schemas.openxmlformats.org/officeDocument/2006/relationships" id="260" r:id="R986fbc9f22044f31"/>
    <p:sldId xmlns:r="http://schemas.openxmlformats.org/officeDocument/2006/relationships" id="261" r:id="Rba4f99df2e414f14"/>
    <p:sldId xmlns:r="http://schemas.openxmlformats.org/officeDocument/2006/relationships" id="262" r:id="R18bc98cb9ca04911"/>
    <p:sldId xmlns:r="http://schemas.openxmlformats.org/officeDocument/2006/relationships" id="263" r:id="R9b4cc3de41bb4c39"/>
    <p:sldId xmlns:r="http://schemas.openxmlformats.org/officeDocument/2006/relationships" id="264" r:id="R543c412a0d4b4bd2"/>
    <p:sldId xmlns:r="http://schemas.openxmlformats.org/officeDocument/2006/relationships" id="265" r:id="R8d89b3fa07ad4d8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ec039567623481b" /><Relationship Type="http://schemas.openxmlformats.org/officeDocument/2006/relationships/slideMaster" Target="/ppt/slideMasters/slideMaster1.xml" Id="R2c5fac3462264e74" /><Relationship Type="http://schemas.openxmlformats.org/officeDocument/2006/relationships/notesMaster" Target="/ppt/notesMasters/notesMaster1.xml" Id="R150c903e55f24602" /><Relationship Type="http://schemas.openxmlformats.org/officeDocument/2006/relationships/presProps" Target="/ppt/presProps.xml" Id="R53a8bd13a605498b" /><Relationship Type="http://schemas.openxmlformats.org/officeDocument/2006/relationships/tableStyles" Target="/ppt/tableStyles.xml" Id="Rb5c22191ae8947ad" /><Relationship Type="http://schemas.openxmlformats.org/officeDocument/2006/relationships/slide" Target="/ppt/slides/slide1.xml" Id="Rfac60bba537c407e" /><Relationship Type="http://schemas.openxmlformats.org/officeDocument/2006/relationships/slide" Target="/ppt/slides/slide2.xml" Id="R149c740d82d54c2c" /><Relationship Type="http://schemas.openxmlformats.org/officeDocument/2006/relationships/slide" Target="/ppt/slides/slide3.xml" Id="R278cbcb48c1e4351" /><Relationship Type="http://schemas.openxmlformats.org/officeDocument/2006/relationships/slide" Target="/ppt/slides/slide4.xml" Id="R7e89b216e978405f" /><Relationship Type="http://schemas.openxmlformats.org/officeDocument/2006/relationships/slide" Target="/ppt/slides/slide5.xml" Id="R986fbc9f22044f31" /><Relationship Type="http://schemas.openxmlformats.org/officeDocument/2006/relationships/slide" Target="/ppt/slides/slide6.xml" Id="Rba4f99df2e414f14" /><Relationship Type="http://schemas.openxmlformats.org/officeDocument/2006/relationships/slide" Target="/ppt/slides/slide7.xml" Id="R18bc98cb9ca04911" /><Relationship Type="http://schemas.openxmlformats.org/officeDocument/2006/relationships/slide" Target="/ppt/slides/slide8.xml" Id="R9b4cc3de41bb4c39" /><Relationship Type="http://schemas.openxmlformats.org/officeDocument/2006/relationships/slide" Target="/ppt/slides/slide9.xml" Id="R543c412a0d4b4bd2" /><Relationship Type="http://schemas.openxmlformats.org/officeDocument/2006/relationships/slide" Target="/ppt/slides/slide10.xml" Id="R8d89b3fa07ad4d8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0c9ad9d376a43d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11116ce6fac4654" /><Relationship Type="http://schemas.openxmlformats.org/officeDocument/2006/relationships/notesMaster" Target="/ppt/notesMasters/notesMaster1.xml" Id="R0b0339decc274085" /></Relationships>
</file>

<file path=ppt/notesSlides/_rels/notesSlide2.xml.rels>&#65279;<?xml version="1.0" encoding="utf-8"?><Relationships xmlns="http://schemas.openxmlformats.org/package/2006/relationships"><Relationship Type="http://schemas.openxmlformats.org/officeDocument/2006/relationships/slide" Target="/ppt/slides/slide2.xml" Id="Rbd2c52d3fa354596" /><Relationship Type="http://schemas.openxmlformats.org/officeDocument/2006/relationships/notesMaster" Target="/ppt/notesMasters/notesMaster1.xml" Id="R060db29a230a492f" /></Relationships>
</file>

<file path=ppt/notesSlides/_rels/notesSlide3.xml.rels>&#65279;<?xml version="1.0" encoding="utf-8"?><Relationships xmlns="http://schemas.openxmlformats.org/package/2006/relationships"><Relationship Type="http://schemas.openxmlformats.org/officeDocument/2006/relationships/slide" Target="/ppt/slides/slide3.xml" Id="Rfe2e53cf33294373" /><Relationship Type="http://schemas.openxmlformats.org/officeDocument/2006/relationships/notesMaster" Target="/ppt/notesMasters/notesMaster1.xml" Id="R51c9434f03a5498a" /></Relationships>
</file>

<file path=ppt/notesSlides/_rels/notesSlide4.xml.rels>&#65279;<?xml version="1.0" encoding="utf-8"?><Relationships xmlns="http://schemas.openxmlformats.org/package/2006/relationships"><Relationship Type="http://schemas.openxmlformats.org/officeDocument/2006/relationships/slide" Target="/ppt/slides/slide4.xml" Id="R3e54fe4fe7444d75" /><Relationship Type="http://schemas.openxmlformats.org/officeDocument/2006/relationships/notesMaster" Target="/ppt/notesMasters/notesMaster1.xml" Id="Rbc513778c37147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9c6fb4d761154207" /><Relationship Type="http://schemas.openxmlformats.org/officeDocument/2006/relationships/notesMaster" Target="/ppt/notesMasters/notesMaster1.xml" Id="R5091e7c1de2f4848" /></Relationships>
</file>

<file path=ppt/notesSlides/_rels/notesSlide6.xml.rels>&#65279;<?xml version="1.0" encoding="utf-8"?><Relationships xmlns="http://schemas.openxmlformats.org/package/2006/relationships"><Relationship Type="http://schemas.openxmlformats.org/officeDocument/2006/relationships/slide" Target="/ppt/slides/slide6.xml" Id="R1fb67f045df849cd" /><Relationship Type="http://schemas.openxmlformats.org/officeDocument/2006/relationships/notesMaster" Target="/ppt/notesMasters/notesMaster1.xml" Id="R6eedeed21a3345be" /></Relationships>
</file>

<file path=ppt/notesSlides/_rels/notesSlide7.xml.rels>&#65279;<?xml version="1.0" encoding="utf-8"?><Relationships xmlns="http://schemas.openxmlformats.org/package/2006/relationships"><Relationship Type="http://schemas.openxmlformats.org/officeDocument/2006/relationships/slide" Target="/ppt/slides/slide7.xml" Id="R038338a05f3b4ea3" /><Relationship Type="http://schemas.openxmlformats.org/officeDocument/2006/relationships/notesMaster" Target="/ppt/notesMasters/notesMaster1.xml" Id="R325f78f48fe64d8b" /></Relationships>
</file>

<file path=ppt/notesSlides/_rels/notesSlide8.xml.rels>&#65279;<?xml version="1.0" encoding="utf-8"?><Relationships xmlns="http://schemas.openxmlformats.org/package/2006/relationships"><Relationship Type="http://schemas.openxmlformats.org/officeDocument/2006/relationships/slide" Target="/ppt/slides/slide8.xml" Id="Re27466efabf94e89" /><Relationship Type="http://schemas.openxmlformats.org/officeDocument/2006/relationships/notesMaster" Target="/ppt/notesMasters/notesMaster1.xml" Id="Rf3f4779a496946bb" /></Relationships>
</file>

<file path=ppt/notesSlides/_rels/notesSlide9.xml.rels>&#65279;<?xml version="1.0" encoding="utf-8"?><Relationships xmlns="http://schemas.openxmlformats.org/package/2006/relationships"><Relationship Type="http://schemas.openxmlformats.org/officeDocument/2006/relationships/slide" Target="/ppt/slides/slide9.xml" Id="R94dd22e693bc45df" /><Relationship Type="http://schemas.openxmlformats.org/officeDocument/2006/relationships/notesMaster" Target="/ppt/notesMasters/notesMaster1.xml" Id="R555e82c58dd24e4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6bb46c374d64f89" /><Relationship Type="http://schemas.openxmlformats.org/officeDocument/2006/relationships/notesMaster" Target="/ppt/notesMasters/notesMaster1.xml" Id="Rf6e3f8d161fd4fe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0:00–0:40】</a:t>
            </a:r>
          </a:p>
          <a:p xmlns:a="http://schemas.openxmlformats.org/drawingml/2006/main">
            <a:r>
              <a:t>今日は、FedPACTが高性能かどうかではなく、複数のclientで生じた局所学習の変化を、private映像をserverへ送らずにcloud側へつなぐ処理が、3 roundにわたって追跡できる状態になったことを報告します。実際の映像と数値を一つずつ追い、どこまで確認でき、どこが次の問題かを示します。</a:t>
            </a:r>
          </a:p>
          <a:p xmlns:a="http://schemas.openxmlformats.org/drawingml/2006/main">
            <a:r>
              <a:t/>
            </a:r>
          </a:p>
          <a:p xmlns:a="http://schemas.openxmlformats.org/drawingml/2006/main">
            <a:r>
              <a:t>【根拠】</a:t>
            </a:r>
          </a:p>
          <a:p xmlns:a="http://schemas.openxmlformats.org/drawingml/2006/main">
            <a:r>
              <a:t>artifacts/reports/fedpact_stage1_20260917/three_round_state_lineage.md</a:t>
            </a:r>
          </a:p>
          <a:p xmlns:a="http://schemas.openxmlformats.org/drawingml/2006/main">
            <a:r>
              <a:t>notes/advisor/sources/raw/2026-09-16/slack_zettsu_experiment_feedback_date_unknown_received_2026-09-16.md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0:40–1:30】</a:t>
            </a:r>
          </a:p>
          <a:p xmlns:a="http://schemas.openxmlformats.org/drawingml/2006/main">
            <a:r>
              <a:t>具体的には、昼の市街地と夜の高速道路では映像の意味内容が違います。FedPACTはfull scene semanticsを同じだとは仮定しません。現在のnormal／riskという共通出力空間で、各clientのprivate dataによって予測がどう変わったかをserver側で再構成し、異なるfoundation modelへ渡すことが対象です。</a:t>
            </a:r>
          </a:p>
          <a:p xmlns:a="http://schemas.openxmlformats.org/drawingml/2006/main">
            <a:r>
              <a:t/>
            </a:r>
          </a:p>
          <a:p xmlns:a="http://schemas.openxmlformats.org/drawingml/2006/main">
            <a:r>
              <a:t>【根拠】</a:t>
            </a:r>
          </a:p>
          <a:p xmlns:a="http://schemas.openxmlformats.org/drawingml/2006/main">
            <a:r>
              <a:t>notes/advisor/sources/raw/2026-09-16/slack_zettsu_reply_to_chen_ja_date_unknown_received_2026-09-16.md（target scenario、Similar logits、server seedの説明）</a:t>
            </a:r>
          </a:p>
          <a:p xmlns:a="http://schemas.openxmlformats.org/drawingml/2006/main">
            <a:r>
              <a:t>notes/advisor/sources/raw/2026-09-01/FedPACT手法提案260901.pdf（基準表記）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1:30–2:20】</a:t>
            </a:r>
          </a:p>
          <a:p xmlns:a="http://schemas.openxmlformats.org/drawingml/2006/main">
            <a:r>
              <a:t>先週以降の大きな更新は三つです。Chen先生から、現在の構成では問題が起きた箇所を切り分けにくいという指摘がありました。教授は三層構造を維持しつつ、Layer 2を研究の中核に置き、第I段階では性能よりも接続と追跡可能性を確認する方針を明確にしました。その方針に沿って、9月17日に3 roundを実行しました。</a:t>
            </a:r>
          </a:p>
          <a:p xmlns:a="http://schemas.openxmlformats.org/drawingml/2006/main">
            <a:r>
              <a:t/>
            </a:r>
          </a:p>
          <a:p xmlns:a="http://schemas.openxmlformats.org/drawingml/2006/main">
            <a:r>
              <a:t>【根拠】</a:t>
            </a:r>
          </a:p>
          <a:p xmlns:a="http://schemas.openxmlformats.org/drawingml/2006/main">
            <a:r>
              <a:t>notes/advisor/sources/raw/2026-09-15/slack_2026-09-15.md</a:t>
            </a:r>
          </a:p>
          <a:p xmlns:a="http://schemas.openxmlformats.org/drawingml/2006/main">
            <a:r>
              <a:t>notes/advisor/sources/raw/2026-09-15/Comments and suggestions_260915.pdf, pp.1–5</a:t>
            </a:r>
          </a:p>
          <a:p xmlns:a="http://schemas.openxmlformats.org/drawingml/2006/main">
            <a:r>
              <a:t>notes/advisor/sources/raw/2026-09-16/slack_zettsu_experiment_feedback_date_unknown_received_2026-09-16.md</a:t>
            </a:r>
          </a:p>
          <a:p xmlns:a="http://schemas.openxmlformats.org/drawingml/2006/main">
            <a:r>
              <a:t>notes/advisor/sources/raw/2026-09-16/slack_zettsu_reply_to_chen_ja_date_unknown_received_2026-09-16.md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2:20–3:10】</a:t>
            </a:r>
          </a:p>
          <a:p xmlns:a="http://schemas.openxmlformats.org/drawingml/2006/main">
            <a:r>
              <a:t>ここは自作の9月16日共有版フローチャートへ差し替えてください。説明では、Layer 1は複数clientのsurrogate更新をFedAvgする部分、Layer 2はclientの予測挙動をserver-side seed上でproxyとして顕在化する中核部分、Layer 3はP_{k,r}=(x̃_{k,r}, μ^{post}_{k,r})でfoundation LoRAを更新する部分、とだけ整理します。今回の実験は、この三層をまたいで次roundまでstateが正しく渡るかを確認しています。</a:t>
            </a:r>
          </a:p>
          <a:p xmlns:a="http://schemas.openxmlformats.org/drawingml/2006/main">
            <a:r>
              <a:t/>
            </a:r>
          </a:p>
          <a:p xmlns:a="http://schemas.openxmlformats.org/drawingml/2006/main">
            <a:r>
              <a:t>【根拠】</a:t>
            </a:r>
          </a:p>
          <a:p xmlns:a="http://schemas.openxmlformats.org/drawingml/2006/main">
            <a:r>
              <a:t>notes/advisor/sources/raw/2026-09-16/slack_zettsu_flow_feedback_date_unknown_received_2026-09-16.md</a:t>
            </a:r>
          </a:p>
          <a:p xmlns:a="http://schemas.openxmlformats.org/drawingml/2006/main">
            <a:r>
              <a:t>notes/advisor/sources/raw/2026-09-15/進捗会0911_吉村有生_3.pptx（実日付9月15日、最終承認前）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3:10–4:10】</a:t>
            </a:r>
          </a:p>
          <a:p xmlns:a="http://schemas.openxmlformats.org/drawingml/2006/main">
            <a:r>
              <a:t>今回の合格条件は、2 clientの局所更新からFedAvg、Layer 2、foundation更新、次roundまでをログで追えることです。性能比較は行いません。重要なのは、最初のrunでrisk区間を選べていない問題を発見し、その結果を研究上の証拠から外したことです。修正版ではriskのalertからeventまでの4時刻を使い、normalは対応するriskと同じ絶対時刻にそろえました。</a:t>
            </a:r>
          </a:p>
          <a:p xmlns:a="http://schemas.openxmlformats.org/drawingml/2006/main">
            <a:r>
              <a:t/>
            </a:r>
          </a:p>
          <a:p xmlns:a="http://schemas.openxmlformats.org/drawingml/2006/main">
            <a:r>
              <a:t>【根拠】</a:t>
            </a:r>
          </a:p>
          <a:p xmlns:a="http://schemas.openxmlformats.org/drawingml/2006/main">
            <a:r>
              <a:t>notes/advisor/CURRENT.md（2026-09-17 01:12時点の入力問題）</a:t>
            </a:r>
          </a:p>
          <a:p xmlns:a="http://schemas.openxmlformats.org/drawingml/2006/main">
            <a:r>
              <a:t>artifacts/datasets/fedpact_stage1/manifest_paired_alert_quartiles.jsonl</a:t>
            </a:r>
          </a:p>
          <a:p xmlns:a="http://schemas.openxmlformats.org/drawingml/2006/main">
            <a:r>
              <a:t>artifacts/runs/fedpact_stage1/p1d_full_20260917_02/summary.json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4:10–5:20】</a:t>
            </a:r>
          </a:p>
          <a:p xmlns:a="http://schemas.openxmlformats.org/drawingml/2006/main">
            <a:r>
              <a:t>一つの動画を具体的に追います。白い車が横から接近するrisk動画で、局所学習前のrisk確率は0.349、学習後は0.644、変化はプラス0.295でした。同じclassの3本を平均すると、μ^{post}_{k,r}のrisk成分は0.724、Δμ_{k,r}はプラス0.238、frequencyは3です。serverへ送るのはこのprototypeとモデル更新であり、private映像やsample IDではありません。</a:t>
            </a:r>
          </a:p>
          <a:p xmlns:a="http://schemas.openxmlformats.org/drawingml/2006/main">
            <a:r>
              <a:t/>
            </a:r>
          </a:p>
          <a:p xmlns:a="http://schemas.openxmlformats.org/drawingml/2006/main">
            <a:r>
              <a:t>【根拠】</a:t>
            </a:r>
          </a:p>
          <a:p xmlns:a="http://schemas.openxmlformats.org/drawingml/2006/main">
            <a:r>
              <a:t>artifacts/runs/fedpact_stage1/p1d_layer1_20260917_01/client_local/client-0/private_trace.json（sample 15a4f810cc4c2aef）</a:t>
            </a:r>
          </a:p>
          <a:p xmlns:a="http://schemas.openxmlformats.org/drawingml/2006/main">
            <a:r>
              <a:t>artifacts/runs/fedpact_stage1/p1d_layer1_20260917_01/communication/client-0/payload.json（r1-client-0-class1）</a:t>
            </a:r>
          </a:p>
          <a:p xmlns:a="http://schemas.openxmlformats.org/drawingml/2006/main">
            <a:r>
              <a:t>artifacts/runs/fedpact_stage1/p1d_layer1_20260917_01/client_local/client-0/communication_audit.json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5:20–6:30】</a:t>
            </a:r>
          </a:p>
          <a:p xmlns:a="http://schemas.openxmlformats.org/drawingml/2006/main">
            <a:r>
              <a:t>前のprototypeに対して、serverはnormal labelのseedを選びました。更新後global surrogateのrisk出力は0.724でtargetとほぼ一致しました。一方、局所学習による変化量はtargetがプラス0.238、proxy上ではプラス0.051でした。つまり、最終出力だけを近づけても、clientが学習した変化を十分に再現したとは言えません。ここがLayer 2の中心的な評価対象です。</a:t>
            </a:r>
          </a:p>
          <a:p xmlns:a="http://schemas.openxmlformats.org/drawingml/2006/main">
            <a:r>
              <a:t/>
            </a:r>
          </a:p>
          <a:p xmlns:a="http://schemas.openxmlformats.org/drawingml/2006/main">
            <a:r>
              <a:t>【根拠】</a:t>
            </a:r>
          </a:p>
          <a:p xmlns:a="http://schemas.openxmlformats.org/drawingml/2006/main">
            <a:r>
              <a:t>artifacts/runs/fedpact_stage1/p1d_full_20260917_02/server/layer2_trace.json（r1-client-0-class1 selection）</a:t>
            </a:r>
          </a:p>
          <a:p xmlns:a="http://schemas.openxmlformats.org/drawingml/2006/main">
            <a:r>
              <a:t>artifacts/runs/fedpact_stage1/p1d_full_20260917_02/server/proxy_pairs.json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6:30–7:25】</a:t>
            </a:r>
          </a:p>
          <a:p xmlns:a="http://schemas.openxmlformats.org/drawingml/2006/main">
            <a:r>
              <a:t>round 1の4 prototypeを並べると、deltaの符号は3件で一致し、client-1のnormalだけ逆向きでした。また、prototype classと選択seed labelは4件すべて不一致でした。ただしround 2と3では各3件が一致しています。さらに、60本のseedのうちlabelと更新後global surrogateのargmaxが一致したのは43本です。原因を検索だけに帰属せず、model誤分類、検索挙動、postでtop 3へ絞ってからdeltaを比較する候補生成を分けて確認します。</a:t>
            </a:r>
          </a:p>
          <a:p xmlns:a="http://schemas.openxmlformats.org/drawingml/2006/main">
            <a:r>
              <a:t/>
            </a:r>
          </a:p>
          <a:p xmlns:a="http://schemas.openxmlformats.org/drawingml/2006/main">
            <a:r>
              <a:t>【根拠】</a:t>
            </a:r>
          </a:p>
          <a:p xmlns:a="http://schemas.openxmlformats.org/drawingml/2006/main">
            <a:r>
              <a:t>artifacts/runs/fedpact_stage1/p1d_full_20260917_02/server/layer2_trace.json</a:t>
            </a:r>
          </a:p>
          <a:p xmlns:a="http://schemas.openxmlformats.org/drawingml/2006/main">
            <a:r>
              <a:t>artifacts/reports/fedpact_stage1_20260917/slack_report.md（診断上の観測事実）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7:25–8:45】</a:t>
            </a:r>
          </a:p>
          <a:p xmlns:a="http://schemas.openxmlformats.org/drawingml/2006/main">
            <a:r>
              <a:t>3 roundを通して、global surrogateとfoundationのcheckpointおよびtensor digestがround間で一致し、state継承を確認しました。client更新は毎round非ゼロで、FedAvgの独立再計算差も10のマイナス10程度でした。一方、round 3では学習率10のマイナス6から10のマイナス11まで、同じ4 pair上の加重KLを減らす条件を満たせませんでした。第I段階の実行確認として更新は完了しましたが、安定した知識転移の証拠にはしません。</a:t>
            </a:r>
          </a:p>
          <a:p xmlns:a="http://schemas.openxmlformats.org/drawingml/2006/main">
            <a:r>
              <a:t/>
            </a:r>
          </a:p>
          <a:p xmlns:a="http://schemas.openxmlformats.org/drawingml/2006/main">
            <a:r>
              <a:t>【根拠】</a:t>
            </a:r>
          </a:p>
          <a:p xmlns:a="http://schemas.openxmlformats.org/drawingml/2006/main">
            <a:r>
              <a:t>artifacts/reports/fedpact_stage1_20260917/three_round_state_lineage.md</a:t>
            </a:r>
          </a:p>
          <a:p xmlns:a="http://schemas.openxmlformats.org/drawingml/2006/main">
            <a:r>
              <a:t>artifacts/reports/fedpact_stage1_20260917/three_round_state_lineage.json</a:t>
            </a:r>
          </a:p>
          <a:p xmlns:a="http://schemas.openxmlformats.org/drawingml/2006/main">
            <a:r>
              <a:t>artifacts/runs/fedpact_stage1/p1d_round3_full_20260917_02/summary.json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8:45–10:00】</a:t>
            </a:r>
          </a:p>
          <a:p xmlns:a="http://schemas.openxmlformats.org/drawingml/2006/main">
            <a:r>
              <a:t>次は5 roundへ直ちに進まず、round 3のfoundation更新を最小条件で切り分けます。これが解消した後に5 roundのstate継承を確認します。その後、第II段階でServer Only、Post Only、Post + Deltaを同じ条件で比較します。最終評価には、局所学習、prototype作成、server検索、条件選択に使っていない評価用データを用います。今週の到達点は、3 roundを通し、次に見るべき場所をLayer 2のdelta再現とLayer 3の更新へ絞れたことです。</a:t>
            </a:r>
          </a:p>
          <a:p xmlns:a="http://schemas.openxmlformats.org/drawingml/2006/main">
            <a:r>
              <a:t/>
            </a:r>
          </a:p>
          <a:p xmlns:a="http://schemas.openxmlformats.org/drawingml/2006/main">
            <a:r>
              <a:t>【根拠】</a:t>
            </a:r>
          </a:p>
          <a:p xmlns:a="http://schemas.openxmlformats.org/drawingml/2006/main">
            <a:r>
              <a:t>notes/advisor/sources/raw/2026-09-16/slack_zettsu_experiment_feedback_date_unknown_received_2026-09-16.md</a:t>
            </a:r>
          </a:p>
          <a:p xmlns:a="http://schemas.openxmlformats.org/drawingml/2006/main">
            <a:r>
              <a:t>notes/advisor/sources/raw/2026-09-15/Comments and suggestions_260915.pdf, p.4</a:t>
            </a:r>
          </a:p>
          <a:p xmlns:a="http://schemas.openxmlformats.org/drawingml/2006/main">
            <a:r>
              <a:t>artifacts/reports/fedpact_stage1_20260917/three_round_state_lineage.md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6550276ed54f0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65fd5ed423e424f" /><Relationship Type="http://schemas.openxmlformats.org/officeDocument/2006/relationships/slideLayout" Target="/ppt/slideLayouts/slideLayout1.xml" Id="Rb3ba2d22a9d8401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3ba2d22a9d8401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ad8962b63c445b1" /><Relationship Type="http://schemas.openxmlformats.org/officeDocument/2006/relationships/image" Target="/ppt/media/image.jpeg" Id="Red8d26e0e4aa405c" /><Relationship Type="http://schemas.openxmlformats.org/officeDocument/2006/relationships/notesSlide" Target="/ppt/notesSlides/notesSlide1.xml" Id="Rba172b61a31942d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a9e823f60fc488e" /><Relationship Type="http://schemas.openxmlformats.org/officeDocument/2006/relationships/image" Target="/ppt/media/image2.jpeg" Id="Ra190f2b0a4ca4da6" /><Relationship Type="http://schemas.openxmlformats.org/officeDocument/2006/relationships/image" Target="/ppt/media/image3.jpeg" Id="R28bb08ec72d44eb7" /><Relationship Type="http://schemas.openxmlformats.org/officeDocument/2006/relationships/notesSlide" Target="/ppt/notesSlides/notesSlide2.xml" Id="R61fa441387824ba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ac4ccb48a164cf8" /><Relationship Type="http://schemas.openxmlformats.org/officeDocument/2006/relationships/notesSlide" Target="/ppt/notesSlides/notesSlide3.xml" Id="R46a9b4caf2a044d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be69d6a28284373" /><Relationship Type="http://schemas.openxmlformats.org/officeDocument/2006/relationships/notesSlide" Target="/ppt/notesSlides/notesSlide4.xml" Id="R9aafccebcbb6421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dd5636fab4d4f32" /><Relationship Type="http://schemas.openxmlformats.org/officeDocument/2006/relationships/image" Target="/ppt/media/image4.jpeg" Id="Raa33d84408fb47be" /><Relationship Type="http://schemas.openxmlformats.org/officeDocument/2006/relationships/image" Target="/ppt/media/image5.jpeg" Id="Reb9b22e3559f4936" /><Relationship Type="http://schemas.openxmlformats.org/officeDocument/2006/relationships/image" Target="/ppt/media/image6.jpeg" Id="R9a7708ad54434d5a" /><Relationship Type="http://schemas.openxmlformats.org/officeDocument/2006/relationships/image" Target="/ppt/media/image7.jpeg" Id="Rc1fc1350b16e44fc" /><Relationship Type="http://schemas.openxmlformats.org/officeDocument/2006/relationships/notesSlide" Target="/ppt/notesSlides/notesSlide5.xml" Id="R58a3ea57b19f472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f86169029f247bb" /><Relationship Type="http://schemas.openxmlformats.org/officeDocument/2006/relationships/image" Target="/ppt/media/image8.jpeg" Id="Rcb963e801e824501" /><Relationship Type="http://schemas.openxmlformats.org/officeDocument/2006/relationships/image" Target="/ppt/media/image9.jpeg" Id="Rad3ad3cf47404d03" /><Relationship Type="http://schemas.openxmlformats.org/officeDocument/2006/relationships/image" Target="/ppt/media/image10.jpeg" Id="R3f6d767ffaeb4cbe" /><Relationship Type="http://schemas.openxmlformats.org/officeDocument/2006/relationships/image" Target="/ppt/media/image11.jpeg" Id="Rf9acfddd38304161" /><Relationship Type="http://schemas.openxmlformats.org/officeDocument/2006/relationships/notesSlide" Target="/ppt/notesSlides/notesSlide6.xml" Id="Ra6f34d5b11b24c5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dc93c4a96b14d75" /><Relationship Type="http://schemas.openxmlformats.org/officeDocument/2006/relationships/image" Target="/ppt/media/image12.jpeg" Id="R3c422e6387044bb5" /><Relationship Type="http://schemas.openxmlformats.org/officeDocument/2006/relationships/image" Target="/ppt/media/image13.jpeg" Id="Rf63be5cc0dd340cc" /><Relationship Type="http://schemas.openxmlformats.org/officeDocument/2006/relationships/image" Target="/ppt/media/image14.jpeg" Id="R9cbb50bfe4e2449b" /><Relationship Type="http://schemas.openxmlformats.org/officeDocument/2006/relationships/image" Target="/ppt/media/image15.jpeg" Id="R64f49b75caf04088" /><Relationship Type="http://schemas.openxmlformats.org/officeDocument/2006/relationships/notesSlide" Target="/ppt/notesSlides/notesSlide7.xml" Id="Rd06988ace979481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4e8c20ea0254243" /><Relationship Type="http://schemas.openxmlformats.org/officeDocument/2006/relationships/notesSlide" Target="/ppt/notesSlides/notesSlide8.xml" Id="R524ec9610007464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ae8f52ee54e4e0d" /><Relationship Type="http://schemas.openxmlformats.org/officeDocument/2006/relationships/notesSlide" Target="/ppt/notesSlides/notesSlide9.xml" Id="R39a679246ad541f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5c23485fed94991" /><Relationship Type="http://schemas.openxmlformats.org/officeDocument/2006/relationships/notesSlide" Target="/ppt/notesSlides/notesSlide10.xml" Id="R4d8c18e90da14cbf"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FA9460A-99CB-4925-B2D9-233581F73E2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3B4B"/>
          </a:solidFill>
          <a:ln xmlns:a="http://schemas.openxmlformats.org/drawingml/2006/main" w="0">
            <a:no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d8d26e0e4aa405c"/>
          <a:srcRect xmlns:a="http://schemas.openxmlformats.org/drawingml/2006/main" l="28516" t="0" r="28516" b="0"/>
          <a:stretch xmlns:a="http://schemas.openxmlformats.org/drawingml/2006/main">
            <a:fillRect l="0" t="0" r="0" b="0"/>
          </a:stretch>
        </p:blipFill>
        <p:spPr>
          <a:xfrm xmlns:a="http://schemas.openxmlformats.org/drawingml/2006/main">
            <a:off x="6953250" y="0"/>
            <a:ext cx="523875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4900821-501F-4FE8-88A5-3B2966E351B0}"/>
              </a:ext>
            </a:extLst>
          </p:cNvPr>
          <p:cNvSpPr>
            <a:spLocks xmlns:a="http://schemas.openxmlformats.org/drawingml/2006/main" noGrp="1"/>
          </p:cNvSpPr>
          <p:nvPr/>
        </p:nvSpPr>
        <p:spPr>
          <a:xfrm xmlns:a="http://schemas.openxmlformats.org/drawingml/2006/main">
            <a:off x="0" y="0"/>
            <a:ext cx="7000875" cy="9525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A5E5B50-79D8-4B9E-9510-EC2F2000A0D9}"/>
              </a:ext>
            </a:extLst>
          </p:cNvPr>
          <p:cNvSpPr>
            <a:spLocks xmlns:a="http://schemas.openxmlformats.org/drawingml/2006/main" noGrp="1"/>
          </p:cNvSpPr>
          <p:nvPr/>
        </p:nvSpPr>
        <p:spPr>
          <a:xfrm xmlns:a="http://schemas.openxmlformats.org/drawingml/2006/main">
            <a:off x="666750" y="990600"/>
            <a:ext cx="5715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750" b="1">
                <a:solidFill>
                  <a:srgbClr val="FFFFFF"/>
                </a:solidFill>
                <a:latin typeface="Yu Gothic"/>
                <a:ea typeface="Yu Gothic"/>
                <a:cs typeface="Yu Gothic"/>
              </a:defRPr>
            </a:pPr>
            <a:r>
              <a:rPr sz="3750" b="1">
                <a:solidFill>
                  <a:srgbClr val="FFFFFF"/>
                </a:solidFill>
                <a:latin typeface="Yu Gothic"/>
                <a:ea typeface="Yu Gothic"/>
                <a:cs typeface="Yu Gothic"/>
              </a:rPr>
              <a:t>複数の現場で学んだ変化を</a:t>
            </a:r>
          </a:p>
          <a:p xmlns:a="http://schemas.openxmlformats.org/drawingml/2006/main">
            <a:pPr algn="l">
              <a:lnSpc>
                <a:spcPct val="105000"/>
              </a:lnSpc>
              <a:buNone/>
              <a:defRPr sz="3750" b="1">
                <a:solidFill>
                  <a:srgbClr val="FFFFFF"/>
                </a:solidFill>
                <a:latin typeface="Yu Gothic"/>
                <a:ea typeface="Yu Gothic"/>
                <a:cs typeface="Yu Gothic"/>
              </a:defRPr>
            </a:pPr>
            <a:r>
              <a:rPr sz="3750" b="1">
                <a:solidFill>
                  <a:srgbClr val="FFFFFF"/>
                </a:solidFill>
                <a:latin typeface="Yu Gothic"/>
                <a:ea typeface="Yu Gothic"/>
                <a:cs typeface="Yu Gothic"/>
              </a:rPr>
              <a:t>映像を送らずcloudへ戻せるか</a:t>
            </a:r>
          </a:p>
        </p:txBody>
      </p:sp>
      <p:sp>
        <p:nvSpPr>
          <p:cNvPr id="5" name="">
            <a:extLst xmlns:a="http://schemas.openxmlformats.org/drawingml/2006/main">
              <a:ext uri="{FF2B5EF4-FFF2-40B4-BE49-F238E27FC236}">
                <a16:creationId xmlns:a16="http://schemas.microsoft.com/office/drawing/2014/main" id="{D4B5BDFF-3349-475E-8F54-CDFC52B4A54B}"/>
              </a:ext>
            </a:extLst>
          </p:cNvPr>
          <p:cNvSpPr>
            <a:spLocks xmlns:a="http://schemas.openxmlformats.org/drawingml/2006/main" noGrp="1"/>
          </p:cNvSpPr>
          <p:nvPr/>
        </p:nvSpPr>
        <p:spPr>
          <a:xfrm xmlns:a="http://schemas.openxmlformats.org/drawingml/2006/main">
            <a:off x="685800" y="314325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69C3BE"/>
                </a:solidFill>
                <a:latin typeface="Yu Gothic"/>
                <a:ea typeface="Yu Gothic"/>
                <a:cs typeface="Yu Gothic"/>
              </a:defRPr>
            </a:pPr>
            <a:r>
              <a:rPr sz="1875" b="1">
                <a:solidFill>
                  <a:srgbClr val="69C3BE"/>
                </a:solidFill>
                <a:latin typeface="Yu Gothic"/>
                <a:ea typeface="Yu Gothic"/>
                <a:cs typeface="Yu Gothic"/>
              </a:rPr>
              <a:t>FedPACT 第I段階</a:t>
            </a:r>
          </a:p>
        </p:txBody>
      </p:sp>
      <p:sp>
        <p:nvSpPr>
          <p:cNvPr id="6" name="">
            <a:extLst xmlns:a="http://schemas.openxmlformats.org/drawingml/2006/main">
              <a:ext uri="{FF2B5EF4-FFF2-40B4-BE49-F238E27FC236}">
                <a16:creationId xmlns:a16="http://schemas.microsoft.com/office/drawing/2014/main" id="{AA0EDD0B-1194-43C5-91B3-48AAF2FE3388}"/>
              </a:ext>
            </a:extLst>
          </p:cNvPr>
          <p:cNvSpPr>
            <a:spLocks xmlns:a="http://schemas.openxmlformats.org/drawingml/2006/main" noGrp="1"/>
          </p:cNvSpPr>
          <p:nvPr/>
        </p:nvSpPr>
        <p:spPr>
          <a:xfrm xmlns:a="http://schemas.openxmlformats.org/drawingml/2006/main">
            <a:off x="685800" y="3562350"/>
            <a:ext cx="5476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E5EEF0"/>
                </a:solidFill>
                <a:latin typeface="Yu Gothic"/>
                <a:ea typeface="Yu Gothic"/>
                <a:cs typeface="Yu Gothic"/>
              </a:defRPr>
            </a:pPr>
            <a:r>
              <a:rPr sz="1800" b="0">
                <a:solidFill>
                  <a:srgbClr val="E5EEF0"/>
                </a:solidFill>
                <a:latin typeface="Yu Gothic"/>
                <a:ea typeface="Yu Gothic"/>
                <a:cs typeface="Yu Gothic"/>
              </a:rPr>
              <a:t>2 client・60 server-side seed・3 roundの接続確認と診断</a:t>
            </a:r>
          </a:p>
        </p:txBody>
      </p:sp>
      <p:sp>
        <p:nvSpPr>
          <p:cNvPr id="7" name="">
            <a:extLst xmlns:a="http://schemas.openxmlformats.org/drawingml/2006/main">
              <a:ext uri="{FF2B5EF4-FFF2-40B4-BE49-F238E27FC236}">
                <a16:creationId xmlns:a16="http://schemas.microsoft.com/office/drawing/2014/main" id="{F1387312-8ED8-4AEE-82E2-D3AFBD234539}"/>
              </a:ext>
            </a:extLst>
          </p:cNvPr>
          <p:cNvSpPr>
            <a:spLocks xmlns:a="http://schemas.openxmlformats.org/drawingml/2006/main" noGrp="1"/>
          </p:cNvSpPr>
          <p:nvPr/>
        </p:nvSpPr>
        <p:spPr>
          <a:xfrm xmlns:a="http://schemas.openxmlformats.org/drawingml/2006/main">
            <a:off x="685800" y="4857750"/>
            <a:ext cx="781050" cy="47625"/>
          </a:xfrm>
          <a:prstGeom xmlns:a="http://schemas.openxmlformats.org/drawingml/2006/main" prst="rect">
            <a:avLst/>
          </a:prstGeom>
          <a:solidFill xmlns:a="http://schemas.openxmlformats.org/drawingml/2006/main">
            <a:srgbClr val="E7833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F5D7D8D-DBDC-4B32-BCEE-95080A6ECF17}"/>
              </a:ext>
            </a:extLst>
          </p:cNvPr>
          <p:cNvSpPr>
            <a:spLocks xmlns:a="http://schemas.openxmlformats.org/drawingml/2006/main" noGrp="1"/>
          </p:cNvSpPr>
          <p:nvPr/>
        </p:nvSpPr>
        <p:spPr>
          <a:xfrm xmlns:a="http://schemas.openxmlformats.org/drawingml/2006/main">
            <a:off x="685800" y="51054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D3E1E4"/>
                </a:solidFill>
                <a:latin typeface="Yu Gothic"/>
                <a:ea typeface="Yu Gothic"/>
                <a:cs typeface="Yu Gothic"/>
              </a:defRPr>
            </a:pPr>
            <a:r>
              <a:rPr sz="1425" b="0">
                <a:solidFill>
                  <a:srgbClr val="D3E1E4"/>
                </a:solidFill>
                <a:latin typeface="Yu Gothic"/>
                <a:ea typeface="Yu Gothic"/>
                <a:cs typeface="Yu Gothic"/>
              </a:rPr>
              <a:t>吉村 有生　研究会　2026.09.18</a:t>
            </a:r>
          </a:p>
        </p:txBody>
      </p:sp>
    </p:spTree>
    <p:extLst>
      <p:ext uri="{BB962C8B-B14F-4D97-AF65-F5344CB8AC3E}">
        <p14:creationId xmlns:p14="http://schemas.microsoft.com/office/powerpoint/2010/main" val="72129102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BE7D40B-CF82-416E-B923-86F42035080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1655402-BD6F-4323-9C2E-3F4D73850D00}"/>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B6AAB8F-58E1-43DC-AACE-42D92510B4CF}"/>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同じriskでも、現場の状況は大きく異なる</a:t>
            </a:r>
          </a:p>
        </p:txBody>
      </p:sp>
      <p:sp>
        <p:nvSpPr>
          <p:cNvPr id="4" name="">
            <a:extLst xmlns:a="http://schemas.openxmlformats.org/drawingml/2006/main">
              <a:ext uri="{FF2B5EF4-FFF2-40B4-BE49-F238E27FC236}">
                <a16:creationId xmlns:a16="http://schemas.microsoft.com/office/drawing/2014/main" id="{1A3AD72A-FFDA-47A3-97D3-2D5C7D417647}"/>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02</a:t>
            </a:r>
          </a:p>
        </p:txBody>
      </p:sp>
      <p:sp>
        <p:nvSpPr>
          <p:cNvPr id="5" name="">
            <a:extLst xmlns:a="http://schemas.openxmlformats.org/drawingml/2006/main">
              <a:ext uri="{FF2B5EF4-FFF2-40B4-BE49-F238E27FC236}">
                <a16:creationId xmlns:a16="http://schemas.microsoft.com/office/drawing/2014/main" id="{86DAD6F3-8C95-47DC-BDF5-EE57C3EAB118}"/>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A2A889E-D225-40B7-AC59-40694859AE20}"/>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96A9634A-20C8-4E74-AD80-A5F0261C168D}"/>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2 / 10</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a190f2b0a4ca4da6"/>
          <a:srcRect xmlns:a="http://schemas.openxmlformats.org/drawingml/2006/main" l="0" t="44" r="0" b="44"/>
          <a:stretch xmlns:a="http://schemas.openxmlformats.org/drawingml/2006/main">
            <a:fillRect l="0" t="0" r="0" b="0"/>
          </a:stretch>
        </p:blipFill>
        <p:spPr>
          <a:xfrm xmlns:a="http://schemas.openxmlformats.org/drawingml/2006/main">
            <a:off x="571500" y="1219200"/>
            <a:ext cx="4762500" cy="2676525"/>
          </a:xfrm>
          <a:prstGeom xmlns:a="http://schemas.openxmlformats.org/drawingml/2006/main" prst="rect">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28bb08ec72d44eb7"/>
          <a:srcRect xmlns:a="http://schemas.openxmlformats.org/drawingml/2006/main" l="0" t="44" r="0" b="44"/>
          <a:stretch xmlns:a="http://schemas.openxmlformats.org/drawingml/2006/main">
            <a:fillRect l="0" t="0" r="0" b="0"/>
          </a:stretch>
        </p:blipFill>
        <p:spPr>
          <a:xfrm xmlns:a="http://schemas.openxmlformats.org/drawingml/2006/main">
            <a:off x="6858000" y="1219200"/>
            <a:ext cx="4762500" cy="26765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3030A039-8A6A-412A-8056-5DE27EE00E42}"/>
              </a:ext>
            </a:extLst>
          </p:cNvPr>
          <p:cNvSpPr>
            <a:spLocks xmlns:a="http://schemas.openxmlformats.org/drawingml/2006/main" noGrp="1"/>
          </p:cNvSpPr>
          <p:nvPr/>
        </p:nvSpPr>
        <p:spPr>
          <a:xfrm xmlns:a="http://schemas.openxmlformats.org/drawingml/2006/main">
            <a:off x="571500" y="9906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47B78"/>
                </a:solidFill>
                <a:latin typeface="Yu Gothic"/>
                <a:ea typeface="Yu Gothic"/>
                <a:cs typeface="Yu Gothic"/>
              </a:defRPr>
            </a:pPr>
            <a:r>
              <a:rPr sz="1125" b="1">
                <a:solidFill>
                  <a:srgbClr val="147B78"/>
                </a:solidFill>
                <a:latin typeface="Yu Gothic"/>
                <a:ea typeface="Yu Gothic"/>
                <a:cs typeface="Yu Gothic"/>
              </a:rPr>
              <a:t>client A：昼間・市街地</a:t>
            </a:r>
          </a:p>
        </p:txBody>
      </p:sp>
      <p:sp>
        <p:nvSpPr>
          <p:cNvPr id="11" name="">
            <a:extLst xmlns:a="http://schemas.openxmlformats.org/drawingml/2006/main">
              <a:ext uri="{FF2B5EF4-FFF2-40B4-BE49-F238E27FC236}">
                <a16:creationId xmlns:a16="http://schemas.microsoft.com/office/drawing/2014/main" id="{47DAC0F1-512C-45C9-9167-906DC79BF4EF}"/>
              </a:ext>
            </a:extLst>
          </p:cNvPr>
          <p:cNvSpPr>
            <a:spLocks xmlns:a="http://schemas.openxmlformats.org/drawingml/2006/main" noGrp="1"/>
          </p:cNvSpPr>
          <p:nvPr/>
        </p:nvSpPr>
        <p:spPr>
          <a:xfrm xmlns:a="http://schemas.openxmlformats.org/drawingml/2006/main">
            <a:off x="6858000" y="9906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47B78"/>
                </a:solidFill>
                <a:latin typeface="Yu Gothic"/>
                <a:ea typeface="Yu Gothic"/>
                <a:cs typeface="Yu Gothic"/>
              </a:defRPr>
            </a:pPr>
            <a:r>
              <a:rPr sz="1125" b="1">
                <a:solidFill>
                  <a:srgbClr val="147B78"/>
                </a:solidFill>
                <a:latin typeface="Yu Gothic"/>
                <a:ea typeface="Yu Gothic"/>
                <a:cs typeface="Yu Gothic"/>
              </a:rPr>
              <a:t>client B：夜間・高速道路</a:t>
            </a:r>
          </a:p>
        </p:txBody>
      </p:sp>
      <p:sp>
        <p:nvSpPr>
          <p:cNvPr id="12" name="">
            <a:extLst xmlns:a="http://schemas.openxmlformats.org/drawingml/2006/main">
              <a:ext uri="{FF2B5EF4-FFF2-40B4-BE49-F238E27FC236}">
                <a16:creationId xmlns:a16="http://schemas.microsoft.com/office/drawing/2014/main" id="{9DF8E7DD-4FAB-46FB-BAE4-8DCDB3376B7E}"/>
              </a:ext>
            </a:extLst>
          </p:cNvPr>
          <p:cNvSpPr>
            <a:spLocks xmlns:a="http://schemas.openxmlformats.org/drawingml/2006/main" noGrp="1"/>
          </p:cNvSpPr>
          <p:nvPr/>
        </p:nvSpPr>
        <p:spPr>
          <a:xfrm xmlns:a="http://schemas.openxmlformats.org/drawingml/2006/main">
            <a:off x="666750" y="42862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FedPACTが再現する対象</a:t>
            </a:r>
          </a:p>
        </p:txBody>
      </p:sp>
      <p:sp>
        <p:nvSpPr>
          <p:cNvPr id="13" name="">
            <a:extLst xmlns:a="http://schemas.openxmlformats.org/drawingml/2006/main">
              <a:ext uri="{FF2B5EF4-FFF2-40B4-BE49-F238E27FC236}">
                <a16:creationId xmlns:a16="http://schemas.microsoft.com/office/drawing/2014/main" id="{7DE0AA51-5601-481E-84BD-B02278690EED}"/>
              </a:ext>
            </a:extLst>
          </p:cNvPr>
          <p:cNvSpPr>
            <a:spLocks xmlns:a="http://schemas.openxmlformats.org/drawingml/2006/main" noGrp="1"/>
          </p:cNvSpPr>
          <p:nvPr/>
        </p:nvSpPr>
        <p:spPr>
          <a:xfrm xmlns:a="http://schemas.openxmlformats.org/drawingml/2006/main">
            <a:off x="666750" y="468630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175" b="1">
                <a:solidFill>
                  <a:srgbClr val="147B78"/>
                </a:solidFill>
                <a:latin typeface="Yu Gothic"/>
                <a:ea typeface="Yu Gothic"/>
                <a:cs typeface="Yu Gothic"/>
              </a:defRPr>
            </a:pPr>
            <a:r>
              <a:rPr sz="2175" b="1">
                <a:solidFill>
                  <a:srgbClr val="147B78"/>
                </a:solidFill>
                <a:latin typeface="Yu Gothic"/>
                <a:ea typeface="Yu Gothic"/>
                <a:cs typeface="Yu Gothic"/>
              </a:rPr>
              <a:t>共通タスク上で、private dataによる局所学習後の予測と、その変化</a:t>
            </a:r>
          </a:p>
        </p:txBody>
      </p:sp>
      <p:sp>
        <p:nvSpPr>
          <p:cNvPr id="14" name="">
            <a:extLst xmlns:a="http://schemas.openxmlformats.org/drawingml/2006/main">
              <a:ext uri="{FF2B5EF4-FFF2-40B4-BE49-F238E27FC236}">
                <a16:creationId xmlns:a16="http://schemas.microsoft.com/office/drawing/2014/main" id="{10EF2D99-9743-471C-880D-684DD4AFCA3B}"/>
              </a:ext>
            </a:extLst>
          </p:cNvPr>
          <p:cNvSpPr>
            <a:spLocks xmlns:a="http://schemas.openxmlformats.org/drawingml/2006/main" noGrp="1"/>
          </p:cNvSpPr>
          <p:nvPr/>
        </p:nvSpPr>
        <p:spPr>
          <a:xfrm xmlns:a="http://schemas.openxmlformats.org/drawingml/2006/main">
            <a:off x="666750" y="5353050"/>
            <a:ext cx="10858500" cy="68580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41BC935-86F0-454B-9012-CB37F532CD39}"/>
              </a:ext>
            </a:extLst>
          </p:cNvPr>
          <p:cNvSpPr>
            <a:spLocks xmlns:a="http://schemas.openxmlformats.org/drawingml/2006/main" noGrp="1"/>
          </p:cNvSpPr>
          <p:nvPr/>
        </p:nvSpPr>
        <p:spPr>
          <a:xfrm xmlns:a="http://schemas.openxmlformats.org/drawingml/2006/main">
            <a:off x="895350" y="5514975"/>
            <a:ext cx="1040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7678"/>
          </a:bodyPr>
          <a:lstStyle xmlns:a="http://schemas.openxmlformats.org/drawingml/2006/main"/>
          <a:p xmlns:a="http://schemas.openxmlformats.org/drawingml/2006/main">
            <a:pPr algn="ctr">
              <a:defRPr sz="1575" b="0">
                <a:solidFill>
                  <a:srgbClr val="26373D"/>
                </a:solidFill>
                <a:latin typeface="Yu Gothic"/>
                <a:ea typeface="Yu Gothic"/>
                <a:cs typeface="Yu Gothic"/>
              </a:defRPr>
            </a:pPr>
            <a:r>
              <a:rPr sz="1575" b="0">
                <a:solidFill>
                  <a:srgbClr val="26373D"/>
                </a:solidFill>
                <a:latin typeface="Yu Gothic"/>
                <a:ea typeface="Yu Gothic"/>
                <a:cs typeface="Yu Gothic"/>
              </a:rPr>
              <a:t>研究の意味：server seedだけでは事前に網羅しにくい現場差を、映像そのものではなく予測挙動の要約としてfoundationへ還元する</a:t>
            </a:r>
          </a:p>
        </p:txBody>
      </p:sp>
    </p:spTree>
    <p:extLst>
      <p:ext uri="{BB962C8B-B14F-4D97-AF65-F5344CB8AC3E}">
        <p14:creationId xmlns:p14="http://schemas.microsoft.com/office/powerpoint/2010/main" val="197333517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7B9DC21-A4B5-4150-A69C-A4EC37867D9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3FC7194-BA10-4BC2-AB6E-2657A9B683DA}"/>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255146A-00CA-4DE6-8A8B-C0DD0E65E91D}"/>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9月15日以降、研究の焦点をLayer 2へ絞った</a:t>
            </a:r>
          </a:p>
        </p:txBody>
      </p:sp>
      <p:sp>
        <p:nvSpPr>
          <p:cNvPr id="4" name="">
            <a:extLst xmlns:a="http://schemas.openxmlformats.org/drawingml/2006/main">
              <a:ext uri="{FF2B5EF4-FFF2-40B4-BE49-F238E27FC236}">
                <a16:creationId xmlns:a16="http://schemas.microsoft.com/office/drawing/2014/main" id="{FFC8FA12-CBB5-4C13-9A4D-346AECF19435}"/>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03</a:t>
            </a:r>
          </a:p>
        </p:txBody>
      </p:sp>
      <p:sp>
        <p:nvSpPr>
          <p:cNvPr id="5" name="">
            <a:extLst xmlns:a="http://schemas.openxmlformats.org/drawingml/2006/main">
              <a:ext uri="{FF2B5EF4-FFF2-40B4-BE49-F238E27FC236}">
                <a16:creationId xmlns:a16="http://schemas.microsoft.com/office/drawing/2014/main" id="{097E944D-3E96-4D05-B46B-74C10D1F5765}"/>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21F3E30-D62B-4BA8-922C-07DAF300826C}"/>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514D6A52-0134-4227-A1F6-F0BA0CADC8F8}"/>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3 / 10</a:t>
            </a:r>
          </a:p>
        </p:txBody>
      </p:sp>
      <p:sp>
        <p:nvSpPr>
          <p:cNvPr id="8" name="">
            <a:extLst xmlns:a="http://schemas.openxmlformats.org/drawingml/2006/main">
              <a:ext uri="{FF2B5EF4-FFF2-40B4-BE49-F238E27FC236}">
                <a16:creationId xmlns:a16="http://schemas.microsoft.com/office/drawing/2014/main" id="{05F75E68-2CD4-428C-89F4-2EA5E1BFFAB5}"/>
              </a:ext>
            </a:extLst>
          </p:cNvPr>
          <p:cNvSpPr>
            <a:spLocks xmlns:a="http://schemas.openxmlformats.org/drawingml/2006/main" noGrp="1"/>
          </p:cNvSpPr>
          <p:nvPr/>
        </p:nvSpPr>
        <p:spPr>
          <a:xfrm xmlns:a="http://schemas.openxmlformats.org/drawingml/2006/main">
            <a:off x="666750" y="1238250"/>
            <a:ext cx="300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47B78"/>
                </a:solidFill>
                <a:latin typeface="Yu Gothic"/>
                <a:ea typeface="Yu Gothic"/>
                <a:cs typeface="Yu Gothic"/>
              </a:defRPr>
            </a:pPr>
            <a:r>
              <a:rPr sz="1800" b="1">
                <a:solidFill>
                  <a:srgbClr val="147B78"/>
                </a:solidFill>
                <a:latin typeface="Yu Gothic"/>
                <a:ea typeface="Yu Gothic"/>
                <a:cs typeface="Yu Gothic"/>
              </a:rPr>
              <a:t>9 / 15</a:t>
            </a:r>
          </a:p>
        </p:txBody>
      </p:sp>
      <p:sp>
        <p:nvSpPr>
          <p:cNvPr id="9" name="">
            <a:extLst xmlns:a="http://schemas.openxmlformats.org/drawingml/2006/main">
              <a:ext uri="{FF2B5EF4-FFF2-40B4-BE49-F238E27FC236}">
                <a16:creationId xmlns:a16="http://schemas.microsoft.com/office/drawing/2014/main" id="{EE6FB6BF-A934-42D8-9C88-C9578429318D}"/>
              </a:ext>
            </a:extLst>
          </p:cNvPr>
          <p:cNvSpPr>
            <a:spLocks xmlns:a="http://schemas.openxmlformats.org/drawingml/2006/main" noGrp="1"/>
          </p:cNvSpPr>
          <p:nvPr/>
        </p:nvSpPr>
        <p:spPr>
          <a:xfrm xmlns:a="http://schemas.openxmlformats.org/drawingml/2006/main">
            <a:off x="666750" y="1724025"/>
            <a:ext cx="2857500" cy="3810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D7963DE-A720-4C4D-B0FB-4E1C797B50E3}"/>
              </a:ext>
            </a:extLst>
          </p:cNvPr>
          <p:cNvSpPr>
            <a:spLocks xmlns:a="http://schemas.openxmlformats.org/drawingml/2006/main" noGrp="1"/>
          </p:cNvSpPr>
          <p:nvPr/>
        </p:nvSpPr>
        <p:spPr>
          <a:xfrm xmlns:a="http://schemas.openxmlformats.org/drawingml/2006/main">
            <a:off x="666750" y="1981200"/>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173B4B"/>
                </a:solidFill>
                <a:latin typeface="Yu Gothic"/>
                <a:ea typeface="Yu Gothic"/>
                <a:cs typeface="Yu Gothic"/>
              </a:defRPr>
            </a:pPr>
            <a:r>
              <a:rPr sz="1950" b="1">
                <a:solidFill>
                  <a:srgbClr val="173B4B"/>
                </a:solidFill>
                <a:latin typeface="Yu Gothic"/>
                <a:ea typeface="Yu Gothic"/>
                <a:cs typeface="Yu Gothic"/>
              </a:rPr>
              <a:t>複雑さを減らす</a:t>
            </a:r>
          </a:p>
        </p:txBody>
      </p:sp>
      <p:sp>
        <p:nvSpPr>
          <p:cNvPr id="11" name="">
            <a:extLst xmlns:a="http://schemas.openxmlformats.org/drawingml/2006/main">
              <a:ext uri="{FF2B5EF4-FFF2-40B4-BE49-F238E27FC236}">
                <a16:creationId xmlns:a16="http://schemas.microsoft.com/office/drawing/2014/main" id="{C1AABA66-4C5F-410A-8A8A-12AB740A8F48}"/>
              </a:ext>
            </a:extLst>
          </p:cNvPr>
          <p:cNvSpPr>
            <a:spLocks xmlns:a="http://schemas.openxmlformats.org/drawingml/2006/main" noGrp="1"/>
          </p:cNvSpPr>
          <p:nvPr/>
        </p:nvSpPr>
        <p:spPr>
          <a:xfrm xmlns:a="http://schemas.openxmlformats.org/drawingml/2006/main">
            <a:off x="666750" y="2571750"/>
            <a:ext cx="3000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26373D"/>
                </a:solidFill>
                <a:latin typeface="Yu Gothic"/>
                <a:ea typeface="Yu Gothic"/>
                <a:cs typeface="Yu Gothic"/>
              </a:defRPr>
            </a:pPr>
            <a:r>
              <a:rPr sz="1425" b="0">
                <a:solidFill>
                  <a:srgbClr val="26373D"/>
                </a:solidFill>
                <a:latin typeface="Yu Gothic"/>
                <a:ea typeface="Yu Gothic"/>
                <a:cs typeface="Yu Gothic"/>
              </a:rPr>
              <a:t>機能を一度に入れると、失敗原因を切り分けられない。core questionとminimum systemを先に確認する。</a:t>
            </a:r>
          </a:p>
        </p:txBody>
      </p:sp>
      <p:sp>
        <p:nvSpPr>
          <p:cNvPr id="12" name="">
            <a:extLst xmlns:a="http://schemas.openxmlformats.org/drawingml/2006/main">
              <a:ext uri="{FF2B5EF4-FFF2-40B4-BE49-F238E27FC236}">
                <a16:creationId xmlns:a16="http://schemas.microsoft.com/office/drawing/2014/main" id="{6D1D8194-14AB-41E0-AACB-7B75BC7621F5}"/>
              </a:ext>
            </a:extLst>
          </p:cNvPr>
          <p:cNvSpPr>
            <a:spLocks xmlns:a="http://schemas.openxmlformats.org/drawingml/2006/main" noGrp="1"/>
          </p:cNvSpPr>
          <p:nvPr/>
        </p:nvSpPr>
        <p:spPr>
          <a:xfrm xmlns:a="http://schemas.openxmlformats.org/drawingml/2006/main">
            <a:off x="4114800" y="1238250"/>
            <a:ext cx="300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47B78"/>
                </a:solidFill>
                <a:latin typeface="Yu Gothic"/>
                <a:ea typeface="Yu Gothic"/>
                <a:cs typeface="Yu Gothic"/>
              </a:defRPr>
            </a:pPr>
            <a:r>
              <a:rPr sz="1800" b="1">
                <a:solidFill>
                  <a:srgbClr val="147B78"/>
                </a:solidFill>
                <a:latin typeface="Yu Gothic"/>
                <a:ea typeface="Yu Gothic"/>
                <a:cs typeface="Yu Gothic"/>
              </a:rPr>
              <a:t>9 / 16</a:t>
            </a:r>
          </a:p>
        </p:txBody>
      </p:sp>
      <p:sp>
        <p:nvSpPr>
          <p:cNvPr id="13" name="">
            <a:extLst xmlns:a="http://schemas.openxmlformats.org/drawingml/2006/main">
              <a:ext uri="{FF2B5EF4-FFF2-40B4-BE49-F238E27FC236}">
                <a16:creationId xmlns:a16="http://schemas.microsoft.com/office/drawing/2014/main" id="{B4130B49-297E-4AAF-AE21-E4E0DD756F7D}"/>
              </a:ext>
            </a:extLst>
          </p:cNvPr>
          <p:cNvSpPr>
            <a:spLocks xmlns:a="http://schemas.openxmlformats.org/drawingml/2006/main" noGrp="1"/>
          </p:cNvSpPr>
          <p:nvPr/>
        </p:nvSpPr>
        <p:spPr>
          <a:xfrm xmlns:a="http://schemas.openxmlformats.org/drawingml/2006/main">
            <a:off x="4114800" y="1724025"/>
            <a:ext cx="2857500" cy="3810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5E4EE32-1211-41B3-8A9C-0F578870431B}"/>
              </a:ext>
            </a:extLst>
          </p:cNvPr>
          <p:cNvSpPr>
            <a:spLocks xmlns:a="http://schemas.openxmlformats.org/drawingml/2006/main" noGrp="1"/>
          </p:cNvSpPr>
          <p:nvPr/>
        </p:nvSpPr>
        <p:spPr>
          <a:xfrm xmlns:a="http://schemas.openxmlformats.org/drawingml/2006/main">
            <a:off x="4114800" y="1981200"/>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173B4B"/>
                </a:solidFill>
                <a:latin typeface="Yu Gothic"/>
                <a:ea typeface="Yu Gothic"/>
                <a:cs typeface="Yu Gothic"/>
              </a:defRPr>
            </a:pPr>
            <a:r>
              <a:rPr sz="1950" b="1">
                <a:solidFill>
                  <a:srgbClr val="173B4B"/>
                </a:solidFill>
                <a:latin typeface="Yu Gothic"/>
                <a:ea typeface="Yu Gothic"/>
                <a:cs typeface="Yu Gothic"/>
              </a:rPr>
              <a:t>第I段階の目的を固定</a:t>
            </a:r>
          </a:p>
        </p:txBody>
      </p:sp>
      <p:sp>
        <p:nvSpPr>
          <p:cNvPr id="15" name="">
            <a:extLst xmlns:a="http://schemas.openxmlformats.org/drawingml/2006/main">
              <a:ext uri="{FF2B5EF4-FFF2-40B4-BE49-F238E27FC236}">
                <a16:creationId xmlns:a16="http://schemas.microsoft.com/office/drawing/2014/main" id="{C7C9A338-BC5E-4BE9-BF15-5EE402B95997}"/>
              </a:ext>
            </a:extLst>
          </p:cNvPr>
          <p:cNvSpPr>
            <a:spLocks xmlns:a="http://schemas.openxmlformats.org/drawingml/2006/main" noGrp="1"/>
          </p:cNvSpPr>
          <p:nvPr/>
        </p:nvSpPr>
        <p:spPr>
          <a:xfrm xmlns:a="http://schemas.openxmlformats.org/drawingml/2006/main">
            <a:off x="4114800" y="2571750"/>
            <a:ext cx="3000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26373D"/>
                </a:solidFill>
                <a:latin typeface="Yu Gothic"/>
                <a:ea typeface="Yu Gothic"/>
                <a:cs typeface="Yu Gothic"/>
              </a:defRPr>
            </a:pPr>
            <a:r>
              <a:rPr sz="1425" b="0">
                <a:solidFill>
                  <a:srgbClr val="26373D"/>
                </a:solidFill>
                <a:latin typeface="Yu Gothic"/>
                <a:ea typeface="Yu Gothic"/>
                <a:cs typeface="Yu Gothic"/>
              </a:rPr>
              <a:t>三層構造は維持し、研究の中核をLayer 2に置く。第I段階は性能比較ではなく、処理とstateを追跡できることを確認する。</a:t>
            </a:r>
          </a:p>
        </p:txBody>
      </p:sp>
      <p:sp>
        <p:nvSpPr>
          <p:cNvPr id="16" name="">
            <a:extLst xmlns:a="http://schemas.openxmlformats.org/drawingml/2006/main">
              <a:ext uri="{FF2B5EF4-FFF2-40B4-BE49-F238E27FC236}">
                <a16:creationId xmlns:a16="http://schemas.microsoft.com/office/drawing/2014/main" id="{94D2473B-1D7E-44F3-8F97-F21A2AEBB2DD}"/>
              </a:ext>
            </a:extLst>
          </p:cNvPr>
          <p:cNvSpPr>
            <a:spLocks xmlns:a="http://schemas.openxmlformats.org/drawingml/2006/main" noGrp="1"/>
          </p:cNvSpPr>
          <p:nvPr/>
        </p:nvSpPr>
        <p:spPr>
          <a:xfrm xmlns:a="http://schemas.openxmlformats.org/drawingml/2006/main">
            <a:off x="7562850" y="1238250"/>
            <a:ext cx="300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E7833D"/>
                </a:solidFill>
                <a:latin typeface="Yu Gothic"/>
                <a:ea typeface="Yu Gothic"/>
                <a:cs typeface="Yu Gothic"/>
              </a:defRPr>
            </a:pPr>
            <a:r>
              <a:rPr sz="1800" b="1">
                <a:solidFill>
                  <a:srgbClr val="E7833D"/>
                </a:solidFill>
                <a:latin typeface="Yu Gothic"/>
                <a:ea typeface="Yu Gothic"/>
                <a:cs typeface="Yu Gothic"/>
              </a:rPr>
              <a:t>9 / 17</a:t>
            </a:r>
          </a:p>
        </p:txBody>
      </p:sp>
      <p:sp>
        <p:nvSpPr>
          <p:cNvPr id="17" name="">
            <a:extLst xmlns:a="http://schemas.openxmlformats.org/drawingml/2006/main">
              <a:ext uri="{FF2B5EF4-FFF2-40B4-BE49-F238E27FC236}">
                <a16:creationId xmlns:a16="http://schemas.microsoft.com/office/drawing/2014/main" id="{080AD65C-BBBB-423C-BB3E-6C9C6F7D8B9F}"/>
              </a:ext>
            </a:extLst>
          </p:cNvPr>
          <p:cNvSpPr>
            <a:spLocks xmlns:a="http://schemas.openxmlformats.org/drawingml/2006/main" noGrp="1"/>
          </p:cNvSpPr>
          <p:nvPr/>
        </p:nvSpPr>
        <p:spPr>
          <a:xfrm xmlns:a="http://schemas.openxmlformats.org/drawingml/2006/main">
            <a:off x="7562850" y="1724025"/>
            <a:ext cx="2857500" cy="38100"/>
          </a:xfrm>
          <a:prstGeom xmlns:a="http://schemas.openxmlformats.org/drawingml/2006/main" prst="rect">
            <a:avLst/>
          </a:prstGeom>
          <a:solidFill xmlns:a="http://schemas.openxmlformats.org/drawingml/2006/main">
            <a:srgbClr val="E7833D"/>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A06E5A9-E81A-488D-B3D4-6C51A48DE59C}"/>
              </a:ext>
            </a:extLst>
          </p:cNvPr>
          <p:cNvSpPr>
            <a:spLocks xmlns:a="http://schemas.openxmlformats.org/drawingml/2006/main" noGrp="1"/>
          </p:cNvSpPr>
          <p:nvPr/>
        </p:nvSpPr>
        <p:spPr>
          <a:xfrm xmlns:a="http://schemas.openxmlformats.org/drawingml/2006/main">
            <a:off x="7562850" y="1981200"/>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173B4B"/>
                </a:solidFill>
                <a:latin typeface="Yu Gothic"/>
                <a:ea typeface="Yu Gothic"/>
                <a:cs typeface="Yu Gothic"/>
              </a:defRPr>
            </a:pPr>
            <a:r>
              <a:rPr sz="1950" b="1">
                <a:solidFill>
                  <a:srgbClr val="173B4B"/>
                </a:solidFill>
                <a:latin typeface="Yu Gothic"/>
                <a:ea typeface="Yu Gothic"/>
                <a:cs typeface="Yu Gothic"/>
              </a:rPr>
              <a:t>3 roundの接続を確認</a:t>
            </a:r>
          </a:p>
        </p:txBody>
      </p:sp>
      <p:sp>
        <p:nvSpPr>
          <p:cNvPr id="19" name="">
            <a:extLst xmlns:a="http://schemas.openxmlformats.org/drawingml/2006/main">
              <a:ext uri="{FF2B5EF4-FFF2-40B4-BE49-F238E27FC236}">
                <a16:creationId xmlns:a16="http://schemas.microsoft.com/office/drawing/2014/main" id="{09FD881C-71DD-4EA5-9040-F838794EC9D7}"/>
              </a:ext>
            </a:extLst>
          </p:cNvPr>
          <p:cNvSpPr>
            <a:spLocks xmlns:a="http://schemas.openxmlformats.org/drawingml/2006/main" noGrp="1"/>
          </p:cNvSpPr>
          <p:nvPr/>
        </p:nvSpPr>
        <p:spPr>
          <a:xfrm xmlns:a="http://schemas.openxmlformats.org/drawingml/2006/main">
            <a:off x="7562850" y="2571750"/>
            <a:ext cx="3000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26373D"/>
                </a:solidFill>
                <a:latin typeface="Yu Gothic"/>
                <a:ea typeface="Yu Gothic"/>
                <a:cs typeface="Yu Gothic"/>
              </a:defRPr>
            </a:pPr>
            <a:r>
              <a:rPr sz="1425" b="0">
                <a:solidFill>
                  <a:srgbClr val="26373D"/>
                </a:solidFill>
                <a:latin typeface="Yu Gothic"/>
                <a:ea typeface="Yu Gothic"/>
                <a:cs typeface="Yu Gothic"/>
              </a:rPr>
              <a:t>入力条件を修正し、2 clientからfoundation更新、次roundへの状態継承までをログ付きで実行した。</a:t>
            </a:r>
          </a:p>
        </p:txBody>
      </p:sp>
      <p:sp>
        <p:nvSpPr>
          <p:cNvPr id="20" name="">
            <a:extLst xmlns:a="http://schemas.openxmlformats.org/drawingml/2006/main">
              <a:ext uri="{FF2B5EF4-FFF2-40B4-BE49-F238E27FC236}">
                <a16:creationId xmlns:a16="http://schemas.microsoft.com/office/drawing/2014/main" id="{A86066B5-E3DF-426C-AC12-5D4DA943E94E}"/>
              </a:ext>
            </a:extLst>
          </p:cNvPr>
          <p:cNvSpPr>
            <a:spLocks xmlns:a="http://schemas.openxmlformats.org/drawingml/2006/main" noGrp="1"/>
          </p:cNvSpPr>
          <p:nvPr/>
        </p:nvSpPr>
        <p:spPr>
          <a:xfrm xmlns:a="http://schemas.openxmlformats.org/drawingml/2006/main">
            <a:off x="666750" y="5010150"/>
            <a:ext cx="9763125" cy="14288"/>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7472807-7223-49BB-8A43-E5AEB2258A2B}"/>
              </a:ext>
            </a:extLst>
          </p:cNvPr>
          <p:cNvSpPr>
            <a:spLocks xmlns:a="http://schemas.openxmlformats.org/drawingml/2006/main" noGrp="1"/>
          </p:cNvSpPr>
          <p:nvPr/>
        </p:nvSpPr>
        <p:spPr>
          <a:xfrm xmlns:a="http://schemas.openxmlformats.org/drawingml/2006/main">
            <a:off x="10429875" y="4933950"/>
            <a:ext cx="171450" cy="171450"/>
          </a:xfrm>
          <a:prstGeom xmlns:a="http://schemas.openxmlformats.org/drawingml/2006/main" prst="rect">
            <a:avLst/>
          </a:prstGeom>
          <a:solidFill xmlns:a="http://schemas.openxmlformats.org/drawingml/2006/main">
            <a:srgbClr val="E7833D"/>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ECF7660-C45C-447B-871F-101363677136}"/>
              </a:ext>
            </a:extLst>
          </p:cNvPr>
          <p:cNvSpPr>
            <a:spLocks xmlns:a="http://schemas.openxmlformats.org/drawingml/2006/main" noGrp="1"/>
          </p:cNvSpPr>
          <p:nvPr/>
        </p:nvSpPr>
        <p:spPr>
          <a:xfrm xmlns:a="http://schemas.openxmlformats.org/drawingml/2006/main">
            <a:off x="666750" y="5257800"/>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617078"/>
                </a:solidFill>
                <a:latin typeface="Yu Gothic"/>
                <a:ea typeface="Yu Gothic"/>
                <a:cs typeface="Yu Gothic"/>
              </a:defRPr>
            </a:pPr>
            <a:r>
              <a:rPr sz="1500" b="1">
                <a:solidFill>
                  <a:srgbClr val="617078"/>
                </a:solidFill>
                <a:latin typeface="Yu Gothic"/>
                <a:ea typeface="Yu Gothic"/>
                <a:cs typeface="Yu Gothic"/>
              </a:rPr>
              <a:t>今週の報告範囲</a:t>
            </a:r>
          </a:p>
        </p:txBody>
      </p:sp>
      <p:sp>
        <p:nvSpPr>
          <p:cNvPr id="23" name="">
            <a:extLst xmlns:a="http://schemas.openxmlformats.org/drawingml/2006/main">
              <a:ext uri="{FF2B5EF4-FFF2-40B4-BE49-F238E27FC236}">
                <a16:creationId xmlns:a16="http://schemas.microsoft.com/office/drawing/2014/main" id="{CE3339E1-11A9-4C8A-843A-F4946F619D27}"/>
              </a:ext>
            </a:extLst>
          </p:cNvPr>
          <p:cNvSpPr>
            <a:spLocks xmlns:a="http://schemas.openxmlformats.org/drawingml/2006/main" noGrp="1"/>
          </p:cNvSpPr>
          <p:nvPr/>
        </p:nvSpPr>
        <p:spPr>
          <a:xfrm xmlns:a="http://schemas.openxmlformats.org/drawingml/2006/main">
            <a:off x="3143250" y="5200650"/>
            <a:ext cx="781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385"/>
          </a:bodyPr>
          <a:lstStyle xmlns:a="http://schemas.openxmlformats.org/drawingml/2006/main"/>
          <a:p xmlns:a="http://schemas.openxmlformats.org/drawingml/2006/main">
            <a:pPr algn="l">
              <a:defRPr sz="1800" b="1">
                <a:solidFill>
                  <a:srgbClr val="173B4B"/>
                </a:solidFill>
                <a:latin typeface="Yu Gothic"/>
                <a:ea typeface="Yu Gothic"/>
                <a:cs typeface="Yu Gothic"/>
              </a:defRPr>
            </a:pPr>
            <a:r>
              <a:rPr sz="1800" b="1">
                <a:solidFill>
                  <a:srgbClr val="173B4B"/>
                </a:solidFill>
                <a:latin typeface="Yu Gothic"/>
                <a:ea typeface="Yu Gothic"/>
                <a:cs typeface="Yu Gothic"/>
              </a:rPr>
              <a:t>Layer 2の有効性を主張する前に、どの処理で崩れるかを追える実装を完成させる</a:t>
            </a:r>
          </a:p>
        </p:txBody>
      </p:sp>
    </p:spTree>
    <p:extLst>
      <p:ext uri="{BB962C8B-B14F-4D97-AF65-F5344CB8AC3E}">
        <p14:creationId xmlns:p14="http://schemas.microsoft.com/office/powerpoint/2010/main" val="136098665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BF78DFF-427B-4FA1-AE1E-B9AA2C9427A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B3E5080-E617-4BA1-A28B-ABD13C74AA9E}"/>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C20E312-1CD8-4AC7-B093-84529127AB7F}"/>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FedPACT全体フロー</a:t>
            </a:r>
          </a:p>
        </p:txBody>
      </p:sp>
      <p:sp>
        <p:nvSpPr>
          <p:cNvPr id="4" name="">
            <a:extLst xmlns:a="http://schemas.openxmlformats.org/drawingml/2006/main">
              <a:ext uri="{FF2B5EF4-FFF2-40B4-BE49-F238E27FC236}">
                <a16:creationId xmlns:a16="http://schemas.microsoft.com/office/drawing/2014/main" id="{10DCDDF2-061C-4091-A8AC-E9357CF737DF}"/>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04</a:t>
            </a:r>
          </a:p>
        </p:txBody>
      </p:sp>
      <p:sp>
        <p:nvSpPr>
          <p:cNvPr id="5" name="">
            <a:extLst xmlns:a="http://schemas.openxmlformats.org/drawingml/2006/main">
              <a:ext uri="{FF2B5EF4-FFF2-40B4-BE49-F238E27FC236}">
                <a16:creationId xmlns:a16="http://schemas.microsoft.com/office/drawing/2014/main" id="{B5F2DEB0-3E5A-4C03-9FE4-B2E5483264E9}"/>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357E212-8D58-443D-809D-430F61D29950}"/>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4C32AB48-E7DF-4D91-8E8A-FCD04A76B091}"/>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4 / 10</a:t>
            </a:r>
          </a:p>
        </p:txBody>
      </p:sp>
      <p:sp>
        <p:nvSpPr>
          <p:cNvPr id="8" name="">
            <a:extLst xmlns:a="http://schemas.openxmlformats.org/drawingml/2006/main">
              <a:ext uri="{FF2B5EF4-FFF2-40B4-BE49-F238E27FC236}">
                <a16:creationId xmlns:a16="http://schemas.microsoft.com/office/drawing/2014/main" id="{55F2810B-B298-460C-ABAC-B822BC9EDDE0}"/>
              </a:ext>
            </a:extLst>
          </p:cNvPr>
          <p:cNvSpPr>
            <a:spLocks xmlns:a="http://schemas.openxmlformats.org/drawingml/2006/main" noGrp="1"/>
          </p:cNvSpPr>
          <p:nvPr/>
        </p:nvSpPr>
        <p:spPr>
          <a:xfrm xmlns:a="http://schemas.openxmlformats.org/drawingml/2006/main">
            <a:off x="781050" y="1295400"/>
            <a:ext cx="10629900" cy="4343400"/>
          </a:xfrm>
          <a:prstGeom xmlns:a="http://schemas.openxmlformats.org/drawingml/2006/main" prst="rect">
            <a:avLst/>
          </a:prstGeom>
          <a:solidFill xmlns:a="http://schemas.openxmlformats.org/drawingml/2006/main">
            <a:srgbClr val="ECEFEB"/>
          </a:solidFill>
          <a:ln xmlns:a="http://schemas.openxmlformats.org/drawingml/2006/main" w="19050">
            <a:solidFill>
              <a:srgbClr val="87979C"/>
            </a:solidFill>
          </a:ln>
        </p:spPr>
      </p:sp>
      <p:sp>
        <p:nvSpPr>
          <p:cNvPr id="9" name="">
            <a:extLst xmlns:a="http://schemas.openxmlformats.org/drawingml/2006/main">
              <a:ext uri="{FF2B5EF4-FFF2-40B4-BE49-F238E27FC236}">
                <a16:creationId xmlns:a16="http://schemas.microsoft.com/office/drawing/2014/main" id="{6743E2CA-3A0A-44EB-A46E-C0AAEE99EBE4}"/>
              </a:ext>
            </a:extLst>
          </p:cNvPr>
          <p:cNvSpPr>
            <a:spLocks xmlns:a="http://schemas.openxmlformats.org/drawingml/2006/main" noGrp="1"/>
          </p:cNvSpPr>
          <p:nvPr/>
        </p:nvSpPr>
        <p:spPr>
          <a:xfrm xmlns:a="http://schemas.openxmlformats.org/drawingml/2006/main">
            <a:off x="2095500" y="2857500"/>
            <a:ext cx="800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75" b="1">
                <a:solidFill>
                  <a:srgbClr val="617078"/>
                </a:solidFill>
                <a:latin typeface="Yu Gothic"/>
                <a:ea typeface="Yu Gothic"/>
                <a:cs typeface="Yu Gothic"/>
              </a:defRPr>
            </a:pPr>
            <a:r>
              <a:rPr sz="2175" b="1">
                <a:solidFill>
                  <a:srgbClr val="617078"/>
                </a:solidFill>
                <a:latin typeface="Yu Gothic"/>
                <a:ea typeface="Yu Gothic"/>
                <a:cs typeface="Yu Gothic"/>
              </a:rPr>
              <a:t>ここに9月16日Slack共有版のフローチャートを挿入</a:t>
            </a:r>
          </a:p>
        </p:txBody>
      </p:sp>
      <p:sp>
        <p:nvSpPr>
          <p:cNvPr id="10" name="">
            <a:extLst xmlns:a="http://schemas.openxmlformats.org/drawingml/2006/main">
              <a:ext uri="{FF2B5EF4-FFF2-40B4-BE49-F238E27FC236}">
                <a16:creationId xmlns:a16="http://schemas.microsoft.com/office/drawing/2014/main" id="{115D75C2-C8E0-4B73-BDB6-D47ADE55541A}"/>
              </a:ext>
            </a:extLst>
          </p:cNvPr>
          <p:cNvSpPr>
            <a:spLocks xmlns:a="http://schemas.openxmlformats.org/drawingml/2006/main" noGrp="1"/>
          </p:cNvSpPr>
          <p:nvPr/>
        </p:nvSpPr>
        <p:spPr>
          <a:xfrm xmlns:a="http://schemas.openxmlformats.org/drawingml/2006/main">
            <a:off x="1381125" y="5867400"/>
            <a:ext cx="942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147B78"/>
                </a:solidFill>
                <a:latin typeface="Yu Gothic"/>
                <a:ea typeface="Yu Gothic"/>
                <a:cs typeface="Yu Gothic"/>
              </a:defRPr>
            </a:pPr>
            <a:r>
              <a:rPr sz="1575" b="1">
                <a:solidFill>
                  <a:srgbClr val="147B78"/>
                </a:solidFill>
                <a:latin typeface="Yu Gothic"/>
                <a:ea typeface="Yu Gothic"/>
                <a:cs typeface="Yu Gothic"/>
              </a:rPr>
              <a:t>今回の実験では、この図のLayer 1からLayer 3と次roundへのstate継承までを確認</a:t>
            </a:r>
          </a:p>
        </p:txBody>
      </p:sp>
    </p:spTree>
    <p:extLst>
      <p:ext uri="{BB962C8B-B14F-4D97-AF65-F5344CB8AC3E}">
        <p14:creationId xmlns:p14="http://schemas.microsoft.com/office/powerpoint/2010/main" val="122291119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F2BDCAC-74CE-49C8-98D3-38BB5F08259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FD93BFA-D3E3-41D0-BE7E-6BF62E5DE25D}"/>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19B278E-536D-4ADC-A443-4D9A76AB9702}"/>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今回の実験は三層の接続確認</a:t>
            </a:r>
          </a:p>
        </p:txBody>
      </p:sp>
      <p:sp>
        <p:nvSpPr>
          <p:cNvPr id="4" name="">
            <a:extLst xmlns:a="http://schemas.openxmlformats.org/drawingml/2006/main">
              <a:ext uri="{FF2B5EF4-FFF2-40B4-BE49-F238E27FC236}">
                <a16:creationId xmlns:a16="http://schemas.microsoft.com/office/drawing/2014/main" id="{67222E87-0B6C-407B-9023-2CC457C6684A}"/>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05</a:t>
            </a:r>
          </a:p>
        </p:txBody>
      </p:sp>
      <p:sp>
        <p:nvSpPr>
          <p:cNvPr id="5" name="">
            <a:extLst xmlns:a="http://schemas.openxmlformats.org/drawingml/2006/main">
              <a:ext uri="{FF2B5EF4-FFF2-40B4-BE49-F238E27FC236}">
                <a16:creationId xmlns:a16="http://schemas.microsoft.com/office/drawing/2014/main" id="{F141FC80-A131-4DA2-A199-58894AE53C9B}"/>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5832EC3-6294-4162-8456-F6581EAEE883}"/>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3FE6E4D6-5349-4C6B-85A9-0EE83C3B243A}"/>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5 / 10</a:t>
            </a:r>
          </a:p>
        </p:txBody>
      </p:sp>
      <p:sp>
        <p:nvSpPr>
          <p:cNvPr id="8" name="">
            <a:extLst xmlns:a="http://schemas.openxmlformats.org/drawingml/2006/main">
              <a:ext uri="{FF2B5EF4-FFF2-40B4-BE49-F238E27FC236}">
                <a16:creationId xmlns:a16="http://schemas.microsoft.com/office/drawing/2014/main" id="{E30F0BA1-EC67-4303-B8A0-FDDB647498D3}"/>
              </a:ext>
            </a:extLst>
          </p:cNvPr>
          <p:cNvSpPr>
            <a:spLocks xmlns:a="http://schemas.openxmlformats.org/drawingml/2006/main" noGrp="1"/>
          </p:cNvSpPr>
          <p:nvPr/>
        </p:nvSpPr>
        <p:spPr>
          <a:xfrm xmlns:a="http://schemas.openxmlformats.org/drawingml/2006/main">
            <a:off x="666750" y="11239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47B78"/>
                </a:solidFill>
                <a:latin typeface="Yu Gothic"/>
                <a:ea typeface="Yu Gothic"/>
                <a:cs typeface="Yu Gothic"/>
              </a:defRPr>
            </a:pPr>
            <a:r>
              <a:rPr sz="1500" b="1">
                <a:solidFill>
                  <a:srgbClr val="147B78"/>
                </a:solidFill>
                <a:latin typeface="Yu Gothic"/>
                <a:ea typeface="Yu Gothic"/>
                <a:cs typeface="Yu Gothic"/>
              </a:rPr>
              <a:t>確認した問い</a:t>
            </a:r>
          </a:p>
        </p:txBody>
      </p:sp>
      <p:sp>
        <p:nvSpPr>
          <p:cNvPr id="9" name="">
            <a:extLst xmlns:a="http://schemas.openxmlformats.org/drawingml/2006/main">
              <a:ext uri="{FF2B5EF4-FFF2-40B4-BE49-F238E27FC236}">
                <a16:creationId xmlns:a16="http://schemas.microsoft.com/office/drawing/2014/main" id="{DFF7997E-97AC-4021-9239-9451B78EAAC4}"/>
              </a:ext>
            </a:extLst>
          </p:cNvPr>
          <p:cNvSpPr>
            <a:spLocks xmlns:a="http://schemas.openxmlformats.org/drawingml/2006/main" noGrp="1"/>
          </p:cNvSpPr>
          <p:nvPr/>
        </p:nvSpPr>
        <p:spPr>
          <a:xfrm xmlns:a="http://schemas.openxmlformats.org/drawingml/2006/main">
            <a:off x="666750" y="1466850"/>
            <a:ext cx="5429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173B4B"/>
                </a:solidFill>
                <a:latin typeface="Yu Gothic"/>
                <a:ea typeface="Yu Gothic"/>
                <a:cs typeface="Yu Gothic"/>
              </a:defRPr>
            </a:pPr>
            <a:r>
              <a:rPr sz="2100" b="1">
                <a:solidFill>
                  <a:srgbClr val="173B4B"/>
                </a:solidFill>
                <a:latin typeface="Yu Gothic"/>
                <a:ea typeface="Yu Gothic"/>
                <a:cs typeface="Yu Gothic"/>
              </a:rPr>
              <a:t>各roundで処理とstateが正しくつながり、保存したログから入力と出力を追えるか</a:t>
            </a:r>
          </a:p>
        </p:txBody>
      </p:sp>
      <p:sp>
        <p:nvSpPr>
          <p:cNvPr id="10" name="">
            <a:extLst xmlns:a="http://schemas.openxmlformats.org/drawingml/2006/main">
              <a:ext uri="{FF2B5EF4-FFF2-40B4-BE49-F238E27FC236}">
                <a16:creationId xmlns:a16="http://schemas.microsoft.com/office/drawing/2014/main" id="{8E00A4D1-CA28-4112-A589-20B462AF6940}"/>
              </a:ext>
            </a:extLst>
          </p:cNvPr>
          <p:cNvSpPr>
            <a:spLocks xmlns:a="http://schemas.openxmlformats.org/drawingml/2006/main" noGrp="1"/>
          </p:cNvSpPr>
          <p:nvPr/>
        </p:nvSpPr>
        <p:spPr>
          <a:xfrm xmlns:a="http://schemas.openxmlformats.org/drawingml/2006/main">
            <a:off x="685800" y="2571750"/>
            <a:ext cx="5191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2 client　各clientは normal 3本＋risk 3本</a:t>
            </a:r>
          </a:p>
        </p:txBody>
      </p:sp>
      <p:sp>
        <p:nvSpPr>
          <p:cNvPr id="11" name="">
            <a:extLst xmlns:a="http://schemas.openxmlformats.org/drawingml/2006/main">
              <a:ext uri="{FF2B5EF4-FFF2-40B4-BE49-F238E27FC236}">
                <a16:creationId xmlns:a16="http://schemas.microsoft.com/office/drawing/2014/main" id="{32D53428-F46C-4110-B271-18D154D52E8B}"/>
              </a:ext>
            </a:extLst>
          </p:cNvPr>
          <p:cNvSpPr>
            <a:spLocks xmlns:a="http://schemas.openxmlformats.org/drawingml/2006/main" noGrp="1"/>
          </p:cNvSpPr>
          <p:nvPr/>
        </p:nvSpPr>
        <p:spPr>
          <a:xfrm xmlns:a="http://schemas.openxmlformats.org/drawingml/2006/main">
            <a:off x="685800" y="3009900"/>
            <a:ext cx="5191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server-side seed　normal 30本＋risk 30本</a:t>
            </a:r>
          </a:p>
        </p:txBody>
      </p:sp>
      <p:sp>
        <p:nvSpPr>
          <p:cNvPr id="12" name="">
            <a:extLst xmlns:a="http://schemas.openxmlformats.org/drawingml/2006/main">
              <a:ext uri="{FF2B5EF4-FFF2-40B4-BE49-F238E27FC236}">
                <a16:creationId xmlns:a16="http://schemas.microsoft.com/office/drawing/2014/main" id="{F99F56F8-9E8B-4E24-973F-5E5A14D42956}"/>
              </a:ext>
            </a:extLst>
          </p:cNvPr>
          <p:cNvSpPr>
            <a:spLocks xmlns:a="http://schemas.openxmlformats.org/drawingml/2006/main" noGrp="1"/>
          </p:cNvSpPr>
          <p:nvPr/>
        </p:nvSpPr>
        <p:spPr>
          <a:xfrm xmlns:a="http://schemas.openxmlformats.org/drawingml/2006/main">
            <a:off x="685800" y="3448050"/>
            <a:ext cx="5191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各round　4 prototype、60 proxy候補、4 pair</a:t>
            </a:r>
          </a:p>
        </p:txBody>
      </p:sp>
      <p:sp>
        <p:nvSpPr>
          <p:cNvPr id="13" name="">
            <a:extLst xmlns:a="http://schemas.openxmlformats.org/drawingml/2006/main">
              <a:ext uri="{FF2B5EF4-FFF2-40B4-BE49-F238E27FC236}">
                <a16:creationId xmlns:a16="http://schemas.microsoft.com/office/drawing/2014/main" id="{CDC14F96-5E9B-483E-B610-0EBFB4C2DA8B}"/>
              </a:ext>
            </a:extLst>
          </p:cNvPr>
          <p:cNvSpPr>
            <a:spLocks xmlns:a="http://schemas.openxmlformats.org/drawingml/2006/main" noGrp="1"/>
          </p:cNvSpPr>
          <p:nvPr/>
        </p:nvSpPr>
        <p:spPr>
          <a:xfrm xmlns:a="http://schemas.openxmlformats.org/drawingml/2006/main">
            <a:off x="685800" y="3886200"/>
            <a:ext cx="5191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実行　1 roundを確認後、3 round連続</a:t>
            </a:r>
          </a:p>
        </p:txBody>
      </p:sp>
      <p:sp>
        <p:nvSpPr>
          <p:cNvPr id="14" name="">
            <a:extLst xmlns:a="http://schemas.openxmlformats.org/drawingml/2006/main">
              <a:ext uri="{FF2B5EF4-FFF2-40B4-BE49-F238E27FC236}">
                <a16:creationId xmlns:a16="http://schemas.microsoft.com/office/drawing/2014/main" id="{3780095F-91D9-4305-BD0F-0BC2D9E0F39C}"/>
              </a:ext>
            </a:extLst>
          </p:cNvPr>
          <p:cNvSpPr>
            <a:spLocks xmlns:a="http://schemas.openxmlformats.org/drawingml/2006/main" noGrp="1"/>
          </p:cNvSpPr>
          <p:nvPr/>
        </p:nvSpPr>
        <p:spPr>
          <a:xfrm xmlns:a="http://schemas.openxmlformats.org/drawingml/2006/main">
            <a:off x="685800" y="4324350"/>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17078"/>
                </a:solidFill>
                <a:latin typeface="Yu Gothic"/>
                <a:ea typeface="Yu Gothic"/>
                <a:cs typeface="Yu Gothic"/>
              </a:defRPr>
            </a:pPr>
            <a:r>
              <a:rPr sz="1275" b="0">
                <a:solidFill>
                  <a:srgbClr val="617078"/>
                </a:solidFill>
                <a:latin typeface="Yu Gothic"/>
                <a:ea typeface="Yu Gothic"/>
                <a:cs typeface="Yu Gothic"/>
              </a:rPr>
              <a:t>第I段階：surrogate / foundation は同じ3B基盤の独立LoRA、1 run</a:t>
            </a:r>
          </a:p>
        </p:txBody>
      </p:sp>
      <p:sp>
        <p:nvSpPr>
          <p:cNvPr id="15" name="">
            <a:extLst xmlns:a="http://schemas.openxmlformats.org/drawingml/2006/main">
              <a:ext uri="{FF2B5EF4-FFF2-40B4-BE49-F238E27FC236}">
                <a16:creationId xmlns:a16="http://schemas.microsoft.com/office/drawing/2014/main" id="{06BD08F1-3C7F-440B-8AB1-6527AC106737}"/>
              </a:ext>
            </a:extLst>
          </p:cNvPr>
          <p:cNvSpPr>
            <a:spLocks xmlns:a="http://schemas.openxmlformats.org/drawingml/2006/main" noGrp="1"/>
          </p:cNvSpPr>
          <p:nvPr/>
        </p:nvSpPr>
        <p:spPr>
          <a:xfrm xmlns:a="http://schemas.openxmlformats.org/drawingml/2006/main">
            <a:off x="6572250" y="1066800"/>
            <a:ext cx="466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E7833D"/>
                </a:solidFill>
                <a:latin typeface="Yu Gothic"/>
                <a:ea typeface="Yu Gothic"/>
                <a:cs typeface="Yu Gothic"/>
              </a:defRPr>
            </a:pPr>
            <a:r>
              <a:rPr sz="1125" b="1">
                <a:solidFill>
                  <a:srgbClr val="E7833D"/>
                </a:solidFill>
                <a:latin typeface="Yu Gothic"/>
                <a:ea typeface="Yu Gothic"/>
                <a:cs typeface="Yu Gothic"/>
              </a:rPr>
              <a:t>risk：time_of_alert と time_of_event の範囲</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aa33d84408fb47be"/>
          <a:srcRect xmlns:a="http://schemas.openxmlformats.org/drawingml/2006/main" l="94" t="0" r="94" b="0"/>
          <a:stretch xmlns:a="http://schemas.openxmlformats.org/drawingml/2006/main">
            <a:fillRect l="0" t="0" r="0" b="0"/>
          </a:stretch>
        </p:blipFill>
        <p:spPr>
          <a:xfrm xmlns:a="http://schemas.openxmlformats.org/drawingml/2006/main">
            <a:off x="6572250" y="1371600"/>
            <a:ext cx="2247900" cy="1266825"/>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eb9b22e3559f4936"/>
          <a:srcRect xmlns:a="http://schemas.openxmlformats.org/drawingml/2006/main" l="94" t="0" r="94" b="0"/>
          <a:stretch xmlns:a="http://schemas.openxmlformats.org/drawingml/2006/main">
            <a:fillRect l="0" t="0" r="0" b="0"/>
          </a:stretch>
        </p:blipFill>
        <p:spPr>
          <a:xfrm xmlns:a="http://schemas.openxmlformats.org/drawingml/2006/main">
            <a:off x="8991600" y="1371600"/>
            <a:ext cx="2247900" cy="1266825"/>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501E6626-FA23-4D94-91BF-C3D3FED1939C}"/>
              </a:ext>
            </a:extLst>
          </p:cNvPr>
          <p:cNvSpPr>
            <a:spLocks xmlns:a="http://schemas.openxmlformats.org/drawingml/2006/main" noGrp="1"/>
          </p:cNvSpPr>
          <p:nvPr/>
        </p:nvSpPr>
        <p:spPr>
          <a:xfrm xmlns:a="http://schemas.openxmlformats.org/drawingml/2006/main">
            <a:off x="6572250" y="2876550"/>
            <a:ext cx="466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47B78"/>
                </a:solidFill>
                <a:latin typeface="Yu Gothic"/>
                <a:ea typeface="Yu Gothic"/>
                <a:cs typeface="Yu Gothic"/>
              </a:defRPr>
            </a:pPr>
            <a:r>
              <a:rPr sz="1125" b="1">
                <a:solidFill>
                  <a:srgbClr val="147B78"/>
                </a:solidFill>
                <a:latin typeface="Yu Gothic"/>
                <a:ea typeface="Yu Gothic"/>
                <a:cs typeface="Yu Gothic"/>
              </a:rPr>
              <a:t>normal：対応するriskと同じ絶対時刻</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9a7708ad54434d5a"/>
          <a:srcRect xmlns:a="http://schemas.openxmlformats.org/drawingml/2006/main" l="94" t="0" r="94" b="0"/>
          <a:stretch xmlns:a="http://schemas.openxmlformats.org/drawingml/2006/main">
            <a:fillRect l="0" t="0" r="0" b="0"/>
          </a:stretch>
        </p:blipFill>
        <p:spPr>
          <a:xfrm xmlns:a="http://schemas.openxmlformats.org/drawingml/2006/main">
            <a:off x="6572250" y="3181350"/>
            <a:ext cx="2247900" cy="1266825"/>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c1fc1350b16e44fc"/>
          <a:srcRect xmlns:a="http://schemas.openxmlformats.org/drawingml/2006/main" l="94" t="0" r="94" b="0"/>
          <a:stretch xmlns:a="http://schemas.openxmlformats.org/drawingml/2006/main">
            <a:fillRect l="0" t="0" r="0" b="0"/>
          </a:stretch>
        </p:blipFill>
        <p:spPr>
          <a:xfrm xmlns:a="http://schemas.openxmlformats.org/drawingml/2006/main">
            <a:off x="8991600" y="3181350"/>
            <a:ext cx="2247900" cy="1266825"/>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20C2C47E-F3BE-4C21-A8CC-F31BD94814CA}"/>
              </a:ext>
            </a:extLst>
          </p:cNvPr>
          <p:cNvSpPr>
            <a:spLocks xmlns:a="http://schemas.openxmlformats.org/drawingml/2006/main" noGrp="1"/>
          </p:cNvSpPr>
          <p:nvPr/>
        </p:nvSpPr>
        <p:spPr>
          <a:xfrm xmlns:a="http://schemas.openxmlformats.org/drawingml/2006/main">
            <a:off x="666750" y="4857750"/>
            <a:ext cx="10572750" cy="97155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0B586DB-AE20-4085-A960-B718646B04AB}"/>
              </a:ext>
            </a:extLst>
          </p:cNvPr>
          <p:cNvSpPr>
            <a:spLocks xmlns:a="http://schemas.openxmlformats.org/drawingml/2006/main" noGrp="1"/>
          </p:cNvSpPr>
          <p:nvPr/>
        </p:nvSpPr>
        <p:spPr>
          <a:xfrm xmlns:a="http://schemas.openxmlformats.org/drawingml/2006/main">
            <a:off x="933450" y="5057775"/>
            <a:ext cx="10039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725" b="1">
                <a:solidFill>
                  <a:srgbClr val="26373D"/>
                </a:solidFill>
                <a:latin typeface="Yu Gothic"/>
                <a:ea typeface="Yu Gothic"/>
                <a:cs typeface="Yu Gothic"/>
              </a:defRPr>
            </a:pPr>
            <a:r>
              <a:rPr sz="1725" b="1">
                <a:solidFill>
                  <a:srgbClr val="26373D"/>
                </a:solidFill>
                <a:latin typeface="Yu Gothic"/>
                <a:ea typeface="Yu Gothic"/>
                <a:cs typeface="Yu Gothic"/>
              </a:rPr>
              <a:t>旧runではriskの注釈区間内に選択frameが0枚だったため不合格とした。入力規則を修正し、全画像を確認してから再実行した。</a:t>
            </a:r>
          </a:p>
        </p:txBody>
      </p:sp>
    </p:spTree>
    <p:extLst>
      <p:ext uri="{BB962C8B-B14F-4D97-AF65-F5344CB8AC3E}">
        <p14:creationId xmlns:p14="http://schemas.microsoft.com/office/powerpoint/2010/main" val="71547965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35E79E17-AB07-4D29-8846-F95C3EDE4A4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5D33A05-328A-412B-A563-B04F749D1992}"/>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765A673-0522-4EFD-A6CF-AF0FDBD4F9D4}"/>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具体例：局所学習でrisk方向へ0.295変化</a:t>
            </a:r>
          </a:p>
        </p:txBody>
      </p:sp>
      <p:sp>
        <p:nvSpPr>
          <p:cNvPr id="4" name="">
            <a:extLst xmlns:a="http://schemas.openxmlformats.org/drawingml/2006/main">
              <a:ext uri="{FF2B5EF4-FFF2-40B4-BE49-F238E27FC236}">
                <a16:creationId xmlns:a16="http://schemas.microsoft.com/office/drawing/2014/main" id="{0CF3A51E-04E1-4B31-9612-FDC85C598B68}"/>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06</a:t>
            </a:r>
          </a:p>
        </p:txBody>
      </p:sp>
      <p:sp>
        <p:nvSpPr>
          <p:cNvPr id="5" name="">
            <a:extLst xmlns:a="http://schemas.openxmlformats.org/drawingml/2006/main">
              <a:ext uri="{FF2B5EF4-FFF2-40B4-BE49-F238E27FC236}">
                <a16:creationId xmlns:a16="http://schemas.microsoft.com/office/drawing/2014/main" id="{ACE5CEFF-3DF5-40AC-908E-2C0DE72F74F9}"/>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76BB5C1-BA5C-4D5C-BEA9-47EB9D2BB904}"/>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05ED5F64-B691-4699-B4EC-3803DBAB4BF0}"/>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6 / 10</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cb963e801e824501"/>
          <a:srcRect xmlns:a="http://schemas.openxmlformats.org/drawingml/2006/main" l="133" t="0" r="133" b="0"/>
          <a:stretch xmlns:a="http://schemas.openxmlformats.org/drawingml/2006/main">
            <a:fillRect l="0" t="0" r="0" b="0"/>
          </a:stretch>
        </p:blipFill>
        <p:spPr>
          <a:xfrm xmlns:a="http://schemas.openxmlformats.org/drawingml/2006/main">
            <a:off x="666750" y="1219200"/>
            <a:ext cx="2381250" cy="1343025"/>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ad3ad3cf47404d03"/>
          <a:srcRect xmlns:a="http://schemas.openxmlformats.org/drawingml/2006/main" l="133" t="0" r="133" b="0"/>
          <a:stretch xmlns:a="http://schemas.openxmlformats.org/drawingml/2006/main">
            <a:fillRect l="0" t="0" r="0" b="0"/>
          </a:stretch>
        </p:blipFill>
        <p:spPr>
          <a:xfrm xmlns:a="http://schemas.openxmlformats.org/drawingml/2006/main">
            <a:off x="3333750" y="1219200"/>
            <a:ext cx="2381250" cy="1343025"/>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3f6d767ffaeb4cbe"/>
          <a:srcRect xmlns:a="http://schemas.openxmlformats.org/drawingml/2006/main" l="133" t="0" r="133" b="0"/>
          <a:stretch xmlns:a="http://schemas.openxmlformats.org/drawingml/2006/main">
            <a:fillRect l="0" t="0" r="0" b="0"/>
          </a:stretch>
        </p:blipFill>
        <p:spPr>
          <a:xfrm xmlns:a="http://schemas.openxmlformats.org/drawingml/2006/main">
            <a:off x="6000750" y="1219200"/>
            <a:ext cx="2381250" cy="1343025"/>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f9acfddd38304161"/>
          <a:srcRect xmlns:a="http://schemas.openxmlformats.org/drawingml/2006/main" l="133" t="0" r="133" b="0"/>
          <a:stretch xmlns:a="http://schemas.openxmlformats.org/drawingml/2006/main">
            <a:fillRect l="0" t="0" r="0" b="0"/>
          </a:stretch>
        </p:blipFill>
        <p:spPr>
          <a:xfrm xmlns:a="http://schemas.openxmlformats.org/drawingml/2006/main">
            <a:off x="8667750" y="1219200"/>
            <a:ext cx="2381250" cy="13430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AF5767D2-DC53-448A-B5F4-5A6ABF006BDB}"/>
              </a:ext>
            </a:extLst>
          </p:cNvPr>
          <p:cNvSpPr>
            <a:spLocks xmlns:a="http://schemas.openxmlformats.org/drawingml/2006/main" noGrp="1"/>
          </p:cNvSpPr>
          <p:nvPr/>
        </p:nvSpPr>
        <p:spPr>
          <a:xfrm xmlns:a="http://schemas.openxmlformats.org/drawingml/2006/main">
            <a:off x="666750" y="26765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17078"/>
                </a:solidFill>
                <a:latin typeface="Yu Gothic"/>
                <a:ea typeface="Yu Gothic"/>
                <a:cs typeface="Yu Gothic"/>
              </a:defRPr>
            </a:pPr>
            <a:r>
              <a:rPr sz="1125" b="1">
                <a:solidFill>
                  <a:srgbClr val="617078"/>
                </a:solidFill>
                <a:latin typeface="Yu Gothic"/>
                <a:ea typeface="Yu Gothic"/>
                <a:cs typeface="Yu Gothic"/>
              </a:rPr>
              <a:t>time_of_alert</a:t>
            </a:r>
          </a:p>
        </p:txBody>
      </p:sp>
      <p:sp>
        <p:nvSpPr>
          <p:cNvPr id="13" name="">
            <a:extLst xmlns:a="http://schemas.openxmlformats.org/drawingml/2006/main">
              <a:ext uri="{FF2B5EF4-FFF2-40B4-BE49-F238E27FC236}">
                <a16:creationId xmlns:a16="http://schemas.microsoft.com/office/drawing/2014/main" id="{281F4B93-A3EB-4327-8C23-E0219F07C1E3}"/>
              </a:ext>
            </a:extLst>
          </p:cNvPr>
          <p:cNvSpPr>
            <a:spLocks xmlns:a="http://schemas.openxmlformats.org/drawingml/2006/main" noGrp="1"/>
          </p:cNvSpPr>
          <p:nvPr/>
        </p:nvSpPr>
        <p:spPr>
          <a:xfrm xmlns:a="http://schemas.openxmlformats.org/drawingml/2006/main">
            <a:off x="3333750" y="26765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17078"/>
                </a:solidFill>
                <a:latin typeface="Yu Gothic"/>
                <a:ea typeface="Yu Gothic"/>
                <a:cs typeface="Yu Gothic"/>
              </a:defRPr>
            </a:pPr>
            <a:r>
              <a:rPr sz="1125" b="1">
                <a:solidFill>
                  <a:srgbClr val="617078"/>
                </a:solidFill>
                <a:latin typeface="Yu Gothic"/>
                <a:ea typeface="Yu Gothic"/>
                <a:cs typeface="Yu Gothic"/>
              </a:rPr>
              <a:t>約33%</a:t>
            </a:r>
          </a:p>
        </p:txBody>
      </p:sp>
      <p:sp>
        <p:nvSpPr>
          <p:cNvPr id="14" name="">
            <a:extLst xmlns:a="http://schemas.openxmlformats.org/drawingml/2006/main">
              <a:ext uri="{FF2B5EF4-FFF2-40B4-BE49-F238E27FC236}">
                <a16:creationId xmlns:a16="http://schemas.microsoft.com/office/drawing/2014/main" id="{FD8E57BE-D062-4F28-87E8-F383AC9825DA}"/>
              </a:ext>
            </a:extLst>
          </p:cNvPr>
          <p:cNvSpPr>
            <a:spLocks xmlns:a="http://schemas.openxmlformats.org/drawingml/2006/main" noGrp="1"/>
          </p:cNvSpPr>
          <p:nvPr/>
        </p:nvSpPr>
        <p:spPr>
          <a:xfrm xmlns:a="http://schemas.openxmlformats.org/drawingml/2006/main">
            <a:off x="6000750" y="26765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17078"/>
                </a:solidFill>
                <a:latin typeface="Yu Gothic"/>
                <a:ea typeface="Yu Gothic"/>
                <a:cs typeface="Yu Gothic"/>
              </a:defRPr>
            </a:pPr>
            <a:r>
              <a:rPr sz="1125" b="1">
                <a:solidFill>
                  <a:srgbClr val="617078"/>
                </a:solidFill>
                <a:latin typeface="Yu Gothic"/>
                <a:ea typeface="Yu Gothic"/>
                <a:cs typeface="Yu Gothic"/>
              </a:rPr>
              <a:t>約67%</a:t>
            </a:r>
          </a:p>
        </p:txBody>
      </p:sp>
      <p:sp>
        <p:nvSpPr>
          <p:cNvPr id="15" name="">
            <a:extLst xmlns:a="http://schemas.openxmlformats.org/drawingml/2006/main">
              <a:ext uri="{FF2B5EF4-FFF2-40B4-BE49-F238E27FC236}">
                <a16:creationId xmlns:a16="http://schemas.microsoft.com/office/drawing/2014/main" id="{EFCDD408-5EC4-42C0-B97D-55EBE3D7EA9B}"/>
              </a:ext>
            </a:extLst>
          </p:cNvPr>
          <p:cNvSpPr>
            <a:spLocks xmlns:a="http://schemas.openxmlformats.org/drawingml/2006/main" noGrp="1"/>
          </p:cNvSpPr>
          <p:nvPr/>
        </p:nvSpPr>
        <p:spPr>
          <a:xfrm xmlns:a="http://schemas.openxmlformats.org/drawingml/2006/main">
            <a:off x="8667750" y="26765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17078"/>
                </a:solidFill>
                <a:latin typeface="Yu Gothic"/>
                <a:ea typeface="Yu Gothic"/>
                <a:cs typeface="Yu Gothic"/>
              </a:defRPr>
            </a:pPr>
            <a:r>
              <a:rPr sz="1125" b="1">
                <a:solidFill>
                  <a:srgbClr val="617078"/>
                </a:solidFill>
                <a:latin typeface="Yu Gothic"/>
                <a:ea typeface="Yu Gothic"/>
                <a:cs typeface="Yu Gothic"/>
              </a:rPr>
              <a:t>time_of_event</a:t>
            </a:r>
          </a:p>
        </p:txBody>
      </p:sp>
      <p:sp>
        <p:nvSpPr>
          <p:cNvPr id="16" name="">
            <a:extLst xmlns:a="http://schemas.openxmlformats.org/drawingml/2006/main">
              <a:ext uri="{FF2B5EF4-FFF2-40B4-BE49-F238E27FC236}">
                <a16:creationId xmlns:a16="http://schemas.microsoft.com/office/drawing/2014/main" id="{A8FC1BB5-E5F7-4FE9-B5D8-2FCF293DED92}"/>
              </a:ext>
            </a:extLst>
          </p:cNvPr>
          <p:cNvSpPr>
            <a:spLocks xmlns:a="http://schemas.openxmlformats.org/drawingml/2006/main" noGrp="1"/>
          </p:cNvSpPr>
          <p:nvPr/>
        </p:nvSpPr>
        <p:spPr>
          <a:xfrm xmlns:a="http://schemas.openxmlformats.org/drawingml/2006/main">
            <a:off x="666750" y="31432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47B78"/>
                </a:solidFill>
                <a:latin typeface="Yu Gothic"/>
                <a:ea typeface="Yu Gothic"/>
                <a:cs typeface="Yu Gothic"/>
              </a:defRPr>
            </a:pPr>
            <a:r>
              <a:rPr sz="1500" b="1">
                <a:solidFill>
                  <a:srgbClr val="147B78"/>
                </a:solidFill>
                <a:latin typeface="Yu Gothic"/>
                <a:ea typeface="Yu Gothic"/>
                <a:cs typeface="Yu Gothic"/>
              </a:rPr>
              <a:t>この動画のrisk成分</a:t>
            </a:r>
          </a:p>
        </p:txBody>
      </p:sp>
      <p:sp>
        <p:nvSpPr>
          <p:cNvPr id="17" name="">
            <a:extLst xmlns:a="http://schemas.openxmlformats.org/drawingml/2006/main">
              <a:ext uri="{FF2B5EF4-FFF2-40B4-BE49-F238E27FC236}">
                <a16:creationId xmlns:a16="http://schemas.microsoft.com/office/drawing/2014/main" id="{B8D8FBDC-018E-48DF-8E5E-766227F87B1F}"/>
              </a:ext>
            </a:extLst>
          </p:cNvPr>
          <p:cNvSpPr>
            <a:spLocks xmlns:a="http://schemas.openxmlformats.org/drawingml/2006/main" noGrp="1"/>
          </p:cNvSpPr>
          <p:nvPr/>
        </p:nvSpPr>
        <p:spPr>
          <a:xfrm xmlns:a="http://schemas.openxmlformats.org/drawingml/2006/main">
            <a:off x="685800" y="36480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q^{pre}</a:t>
            </a:r>
          </a:p>
        </p:txBody>
      </p:sp>
      <p:sp>
        <p:nvSpPr>
          <p:cNvPr id="18" name="">
            <a:extLst xmlns:a="http://schemas.openxmlformats.org/drawingml/2006/main">
              <a:ext uri="{FF2B5EF4-FFF2-40B4-BE49-F238E27FC236}">
                <a16:creationId xmlns:a16="http://schemas.microsoft.com/office/drawing/2014/main" id="{3C2A79D6-344A-4E81-838E-53C0FDA53834}"/>
              </a:ext>
            </a:extLst>
          </p:cNvPr>
          <p:cNvSpPr>
            <a:spLocks xmlns:a="http://schemas.openxmlformats.org/drawingml/2006/main" noGrp="1"/>
          </p:cNvSpPr>
          <p:nvPr/>
        </p:nvSpPr>
        <p:spPr>
          <a:xfrm xmlns:a="http://schemas.openxmlformats.org/drawingml/2006/main">
            <a:off x="685800" y="39814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173B4B"/>
                </a:solidFill>
                <a:latin typeface="Yu Gothic"/>
                <a:ea typeface="Yu Gothic"/>
                <a:cs typeface="Yu Gothic"/>
              </a:defRPr>
            </a:pPr>
            <a:r>
              <a:rPr sz="2850" b="1">
                <a:solidFill>
                  <a:srgbClr val="173B4B"/>
                </a:solidFill>
                <a:latin typeface="Yu Gothic"/>
                <a:ea typeface="Yu Gothic"/>
                <a:cs typeface="Yu Gothic"/>
              </a:rPr>
              <a:t>0.349</a:t>
            </a:r>
          </a:p>
        </p:txBody>
      </p:sp>
      <p:sp>
        <p:nvSpPr>
          <p:cNvPr id="19" name="">
            <a:extLst xmlns:a="http://schemas.openxmlformats.org/drawingml/2006/main">
              <a:ext uri="{FF2B5EF4-FFF2-40B4-BE49-F238E27FC236}">
                <a16:creationId xmlns:a16="http://schemas.microsoft.com/office/drawing/2014/main" id="{643354DA-E8FA-4C95-B104-4F26A1D8F0AF}"/>
              </a:ext>
            </a:extLst>
          </p:cNvPr>
          <p:cNvSpPr>
            <a:spLocks xmlns:a="http://schemas.openxmlformats.org/drawingml/2006/main" noGrp="1"/>
          </p:cNvSpPr>
          <p:nvPr/>
        </p:nvSpPr>
        <p:spPr>
          <a:xfrm xmlns:a="http://schemas.openxmlformats.org/drawingml/2006/main">
            <a:off x="2495550" y="36480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q^{post}</a:t>
            </a:r>
          </a:p>
        </p:txBody>
      </p:sp>
      <p:sp>
        <p:nvSpPr>
          <p:cNvPr id="20" name="">
            <a:extLst xmlns:a="http://schemas.openxmlformats.org/drawingml/2006/main">
              <a:ext uri="{FF2B5EF4-FFF2-40B4-BE49-F238E27FC236}">
                <a16:creationId xmlns:a16="http://schemas.microsoft.com/office/drawing/2014/main" id="{8E3C92F6-6515-4A02-81B6-01F0A0A208C0}"/>
              </a:ext>
            </a:extLst>
          </p:cNvPr>
          <p:cNvSpPr>
            <a:spLocks xmlns:a="http://schemas.openxmlformats.org/drawingml/2006/main" noGrp="1"/>
          </p:cNvSpPr>
          <p:nvPr/>
        </p:nvSpPr>
        <p:spPr>
          <a:xfrm xmlns:a="http://schemas.openxmlformats.org/drawingml/2006/main">
            <a:off x="2495550" y="39814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173B4B"/>
                </a:solidFill>
                <a:latin typeface="Yu Gothic"/>
                <a:ea typeface="Yu Gothic"/>
                <a:cs typeface="Yu Gothic"/>
              </a:defRPr>
            </a:pPr>
            <a:r>
              <a:rPr sz="2850" b="1">
                <a:solidFill>
                  <a:srgbClr val="173B4B"/>
                </a:solidFill>
                <a:latin typeface="Yu Gothic"/>
                <a:ea typeface="Yu Gothic"/>
                <a:cs typeface="Yu Gothic"/>
              </a:rPr>
              <a:t>0.644</a:t>
            </a:r>
          </a:p>
        </p:txBody>
      </p:sp>
      <p:sp>
        <p:nvSpPr>
          <p:cNvPr id="21" name="">
            <a:extLst xmlns:a="http://schemas.openxmlformats.org/drawingml/2006/main">
              <a:ext uri="{FF2B5EF4-FFF2-40B4-BE49-F238E27FC236}">
                <a16:creationId xmlns:a16="http://schemas.microsoft.com/office/drawing/2014/main" id="{B364828B-C8DA-4062-ADD7-902F9128AF38}"/>
              </a:ext>
            </a:extLst>
          </p:cNvPr>
          <p:cNvSpPr>
            <a:spLocks xmlns:a="http://schemas.openxmlformats.org/drawingml/2006/main" noGrp="1"/>
          </p:cNvSpPr>
          <p:nvPr/>
        </p:nvSpPr>
        <p:spPr>
          <a:xfrm xmlns:a="http://schemas.openxmlformats.org/drawingml/2006/main">
            <a:off x="4305300" y="36480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Δq</a:t>
            </a:r>
          </a:p>
        </p:txBody>
      </p:sp>
      <p:sp>
        <p:nvSpPr>
          <p:cNvPr id="22" name="">
            <a:extLst xmlns:a="http://schemas.openxmlformats.org/drawingml/2006/main">
              <a:ext uri="{FF2B5EF4-FFF2-40B4-BE49-F238E27FC236}">
                <a16:creationId xmlns:a16="http://schemas.microsoft.com/office/drawing/2014/main" id="{A6518FC0-BAB4-4658-84E7-2C4E51919A17}"/>
              </a:ext>
            </a:extLst>
          </p:cNvPr>
          <p:cNvSpPr>
            <a:spLocks xmlns:a="http://schemas.openxmlformats.org/drawingml/2006/main" noGrp="1"/>
          </p:cNvSpPr>
          <p:nvPr/>
        </p:nvSpPr>
        <p:spPr>
          <a:xfrm xmlns:a="http://schemas.openxmlformats.org/drawingml/2006/main">
            <a:off x="4305300" y="39814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E7833D"/>
                </a:solidFill>
                <a:latin typeface="Yu Gothic"/>
                <a:ea typeface="Yu Gothic"/>
                <a:cs typeface="Yu Gothic"/>
              </a:defRPr>
            </a:pPr>
            <a:r>
              <a:rPr sz="2850" b="1">
                <a:solidFill>
                  <a:srgbClr val="E7833D"/>
                </a:solidFill>
                <a:latin typeface="Yu Gothic"/>
                <a:ea typeface="Yu Gothic"/>
                <a:cs typeface="Yu Gothic"/>
              </a:rPr>
              <a:t>+0.295</a:t>
            </a:r>
          </a:p>
        </p:txBody>
      </p:sp>
      <p:sp>
        <p:nvSpPr>
          <p:cNvPr id="23" name="">
            <a:extLst xmlns:a="http://schemas.openxmlformats.org/drawingml/2006/main">
              <a:ext uri="{FF2B5EF4-FFF2-40B4-BE49-F238E27FC236}">
                <a16:creationId xmlns:a16="http://schemas.microsoft.com/office/drawing/2014/main" id="{E19021ED-297F-4A90-B9AF-B734B05C47F3}"/>
              </a:ext>
            </a:extLst>
          </p:cNvPr>
          <p:cNvSpPr>
            <a:spLocks xmlns:a="http://schemas.openxmlformats.org/drawingml/2006/main" noGrp="1"/>
          </p:cNvSpPr>
          <p:nvPr/>
        </p:nvSpPr>
        <p:spPr>
          <a:xfrm xmlns:a="http://schemas.openxmlformats.org/drawingml/2006/main">
            <a:off x="6477000" y="3200400"/>
            <a:ext cx="4762500" cy="180975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C4093E85-04C3-4C50-9F59-32258E1C4EAA}"/>
              </a:ext>
            </a:extLst>
          </p:cNvPr>
          <p:cNvSpPr>
            <a:spLocks xmlns:a="http://schemas.openxmlformats.org/drawingml/2006/main" noGrp="1"/>
          </p:cNvSpPr>
          <p:nvPr/>
        </p:nvSpPr>
        <p:spPr>
          <a:xfrm xmlns:a="http://schemas.openxmlformats.org/drawingml/2006/main">
            <a:off x="6743700" y="3429000"/>
            <a:ext cx="422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73B4B"/>
                </a:solidFill>
                <a:latin typeface="Yu Gothic"/>
                <a:ea typeface="Yu Gothic"/>
                <a:cs typeface="Yu Gothic"/>
              </a:defRPr>
            </a:pPr>
            <a:r>
              <a:rPr sz="1725" b="1">
                <a:solidFill>
                  <a:srgbClr val="173B4B"/>
                </a:solidFill>
                <a:latin typeface="Yu Gothic"/>
                <a:ea typeface="Yu Gothic"/>
                <a:cs typeface="Yu Gothic"/>
              </a:rPr>
              <a:t>3本のrisk動画から作ったprototype</a:t>
            </a:r>
          </a:p>
        </p:txBody>
      </p:sp>
      <p:sp>
        <p:nvSpPr>
          <p:cNvPr id="25" name="">
            <a:extLst xmlns:a="http://schemas.openxmlformats.org/drawingml/2006/main">
              <a:ext uri="{FF2B5EF4-FFF2-40B4-BE49-F238E27FC236}">
                <a16:creationId xmlns:a16="http://schemas.microsoft.com/office/drawing/2014/main" id="{653E97AF-6641-48A0-B117-B2E518A9A012}"/>
              </a:ext>
            </a:extLst>
          </p:cNvPr>
          <p:cNvSpPr>
            <a:spLocks xmlns:a="http://schemas.openxmlformats.org/drawingml/2006/main" noGrp="1"/>
          </p:cNvSpPr>
          <p:nvPr/>
        </p:nvSpPr>
        <p:spPr>
          <a:xfrm xmlns:a="http://schemas.openxmlformats.org/drawingml/2006/main">
            <a:off x="7000875" y="3905250"/>
            <a:ext cx="371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5000"/>
              </a:lnSpc>
              <a:buNone/>
              <a:defRPr sz="1800" b="0">
                <a:solidFill>
                  <a:srgbClr val="26373D"/>
                </a:solidFill>
                <a:latin typeface="Yu Gothic"/>
                <a:ea typeface="Yu Gothic"/>
                <a:cs typeface="Yu Gothic"/>
              </a:defRPr>
            </a:pPr>
            <a:r>
              <a:rPr sz="1800" b="0">
                <a:solidFill>
                  <a:srgbClr val="26373D"/>
                </a:solidFill>
                <a:latin typeface="Yu Gothic"/>
                <a:ea typeface="Yu Gothic"/>
                <a:cs typeface="Yu Gothic"/>
              </a:rPr>
              <a:t>μ^{post}_{k,r} のrisk成分　0.724</a:t>
            </a:r>
          </a:p>
          <a:p xmlns:a="http://schemas.openxmlformats.org/drawingml/2006/main">
            <a:pPr algn="ctr">
              <a:lnSpc>
                <a:spcPct val="115000"/>
              </a:lnSpc>
              <a:buNone/>
              <a:defRPr sz="1800" b="0">
                <a:solidFill>
                  <a:srgbClr val="26373D"/>
                </a:solidFill>
                <a:latin typeface="Yu Gothic"/>
                <a:ea typeface="Yu Gothic"/>
                <a:cs typeface="Yu Gothic"/>
              </a:defRPr>
            </a:pPr>
            <a:r>
              <a:rPr sz="1800" b="0">
                <a:solidFill>
                  <a:srgbClr val="26373D"/>
                </a:solidFill>
                <a:latin typeface="Yu Gothic"/>
                <a:ea typeface="Yu Gothic"/>
                <a:cs typeface="Yu Gothic"/>
              </a:rPr>
              <a:t>Δμ_{k,r} のrisk成分　+0.238</a:t>
            </a:r>
          </a:p>
          <a:p xmlns:a="http://schemas.openxmlformats.org/drawingml/2006/main">
            <a:pPr algn="ctr">
              <a:lnSpc>
                <a:spcPct val="115000"/>
              </a:lnSpc>
              <a:buNone/>
              <a:defRPr sz="1800" b="0">
                <a:solidFill>
                  <a:srgbClr val="26373D"/>
                </a:solidFill>
                <a:latin typeface="Yu Gothic"/>
                <a:ea typeface="Yu Gothic"/>
                <a:cs typeface="Yu Gothic"/>
              </a:defRPr>
            </a:pPr>
            <a:r>
              <a:rPr sz="1800" b="0">
                <a:solidFill>
                  <a:srgbClr val="26373D"/>
                </a:solidFill>
                <a:latin typeface="Yu Gothic"/>
                <a:ea typeface="Yu Gothic"/>
                <a:cs typeface="Yu Gothic"/>
              </a:rPr>
              <a:t>π_{k,r}　3</a:t>
            </a:r>
          </a:p>
        </p:txBody>
      </p:sp>
      <p:sp>
        <p:nvSpPr>
          <p:cNvPr id="26" name="">
            <a:extLst xmlns:a="http://schemas.openxmlformats.org/drawingml/2006/main">
              <a:ext uri="{FF2B5EF4-FFF2-40B4-BE49-F238E27FC236}">
                <a16:creationId xmlns:a16="http://schemas.microsoft.com/office/drawing/2014/main" id="{05C7E433-42AE-40B3-8947-0FC55364BEB9}"/>
              </a:ext>
            </a:extLst>
          </p:cNvPr>
          <p:cNvSpPr>
            <a:spLocks xmlns:a="http://schemas.openxmlformats.org/drawingml/2006/main" noGrp="1"/>
          </p:cNvSpPr>
          <p:nvPr/>
        </p:nvSpPr>
        <p:spPr>
          <a:xfrm xmlns:a="http://schemas.openxmlformats.org/drawingml/2006/main">
            <a:off x="666750" y="5334000"/>
            <a:ext cx="1057275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C9D2D3"/>
            </a:solidFill>
          </a:ln>
        </p:spPr>
      </p:sp>
      <p:sp>
        <p:nvSpPr>
          <p:cNvPr id="27" name="">
            <a:extLst xmlns:a="http://schemas.openxmlformats.org/drawingml/2006/main">
              <a:ext uri="{FF2B5EF4-FFF2-40B4-BE49-F238E27FC236}">
                <a16:creationId xmlns:a16="http://schemas.microsoft.com/office/drawing/2014/main" id="{D2678470-E04D-4A50-9A92-A9BED4B077C6}"/>
              </a:ext>
            </a:extLst>
          </p:cNvPr>
          <p:cNvSpPr>
            <a:spLocks xmlns:a="http://schemas.openxmlformats.org/drawingml/2006/main" noGrp="1"/>
          </p:cNvSpPr>
          <p:nvPr/>
        </p:nvSpPr>
        <p:spPr>
          <a:xfrm xmlns:a="http://schemas.openxmlformats.org/drawingml/2006/main">
            <a:off x="904875" y="5476875"/>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026"/>
          </a:bodyPr>
          <a:lstStyle xmlns:a="http://schemas.openxmlformats.org/drawingml/2006/main"/>
          <a:p xmlns:a="http://schemas.openxmlformats.org/drawingml/2006/main">
            <a:pPr algn="ctr">
              <a:defRPr sz="1575" b="1">
                <a:solidFill>
                  <a:srgbClr val="147B78"/>
                </a:solidFill>
                <a:latin typeface="Yu Gothic"/>
                <a:ea typeface="Yu Gothic"/>
                <a:cs typeface="Yu Gothic"/>
              </a:defRPr>
            </a:pPr>
            <a:r>
              <a:rPr sz="1575" b="1">
                <a:solidFill>
                  <a:srgbClr val="147B78"/>
                </a:solidFill>
                <a:latin typeface="Yu Gothic"/>
                <a:ea typeface="Yu Gothic"/>
                <a:cs typeface="Yu Gothic"/>
              </a:rPr>
              <a:t>serverへ送るのは Q_{k,r}=(μ^{post}_{k,r}, Δμ_{k,r}, π_{k,r})。private動画、raw frame、sample IDは送らない。</a:t>
            </a:r>
          </a:p>
        </p:txBody>
      </p:sp>
    </p:spTree>
    <p:extLst>
      <p:ext uri="{BB962C8B-B14F-4D97-AF65-F5344CB8AC3E}">
        <p14:creationId xmlns:p14="http://schemas.microsoft.com/office/powerpoint/2010/main" val="73019841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4A9ED695-C674-4C66-9ADB-4F4DF913983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4AC2E36-B886-4724-BB2F-5D01973348EA}"/>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7D879B5-28B4-4DDF-9547-5AB2444A8FD0}"/>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最終出力は一致したが、変化量は再現できなかった</a:t>
            </a:r>
          </a:p>
        </p:txBody>
      </p:sp>
      <p:sp>
        <p:nvSpPr>
          <p:cNvPr id="4" name="">
            <a:extLst xmlns:a="http://schemas.openxmlformats.org/drawingml/2006/main">
              <a:ext uri="{FF2B5EF4-FFF2-40B4-BE49-F238E27FC236}">
                <a16:creationId xmlns:a16="http://schemas.microsoft.com/office/drawing/2014/main" id="{BBCD9ADE-1952-48FE-B19F-E019B6FCE1D4}"/>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07</a:t>
            </a:r>
          </a:p>
        </p:txBody>
      </p:sp>
      <p:sp>
        <p:nvSpPr>
          <p:cNvPr id="5" name="">
            <a:extLst xmlns:a="http://schemas.openxmlformats.org/drawingml/2006/main">
              <a:ext uri="{FF2B5EF4-FFF2-40B4-BE49-F238E27FC236}">
                <a16:creationId xmlns:a16="http://schemas.microsoft.com/office/drawing/2014/main" id="{4A0F7CF3-805C-49E0-9459-42620CC87AF3}"/>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FA7EF09-752F-4AD5-9334-F48257D36AD8}"/>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B09522B8-6419-4892-BDBC-D484D6AC1321}"/>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7 / 10</a:t>
            </a:r>
          </a:p>
        </p:txBody>
      </p:sp>
      <p:sp>
        <p:nvSpPr>
          <p:cNvPr id="8" name="">
            <a:extLst xmlns:a="http://schemas.openxmlformats.org/drawingml/2006/main">
              <a:ext uri="{FF2B5EF4-FFF2-40B4-BE49-F238E27FC236}">
                <a16:creationId xmlns:a16="http://schemas.microsoft.com/office/drawing/2014/main" id="{60A178C3-574C-4A4F-BD4B-E94CFA04E7BF}"/>
              </a:ext>
            </a:extLst>
          </p:cNvPr>
          <p:cNvSpPr>
            <a:spLocks xmlns:a="http://schemas.openxmlformats.org/drawingml/2006/main" noGrp="1"/>
          </p:cNvSpPr>
          <p:nvPr/>
        </p:nvSpPr>
        <p:spPr>
          <a:xfrm xmlns:a="http://schemas.openxmlformats.org/drawingml/2006/main">
            <a:off x="666750" y="1047750"/>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47B78"/>
                </a:solidFill>
                <a:latin typeface="Yu Gothic"/>
                <a:ea typeface="Yu Gothic"/>
                <a:cs typeface="Yu Gothic"/>
              </a:defRPr>
            </a:pPr>
            <a:r>
              <a:rPr sz="1125" b="1">
                <a:solidFill>
                  <a:srgbClr val="147B78"/>
                </a:solidFill>
                <a:latin typeface="Yu Gothic"/>
                <a:ea typeface="Yu Gothic"/>
                <a:cs typeface="Yu Gothic"/>
              </a:rPr>
              <a:t>serverが選んだ s^*_{k,r}：normal label、変換なし</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3c422e6387044bb5"/>
          <a:srcRect xmlns:a="http://schemas.openxmlformats.org/drawingml/2006/main" l="133" t="0" r="133" b="0"/>
          <a:stretch xmlns:a="http://schemas.openxmlformats.org/drawingml/2006/main">
            <a:fillRect l="0" t="0" r="0" b="0"/>
          </a:stretch>
        </p:blipFill>
        <p:spPr>
          <a:xfrm xmlns:a="http://schemas.openxmlformats.org/drawingml/2006/main">
            <a:off x="666750" y="1381125"/>
            <a:ext cx="2381250" cy="1343025"/>
          </a:xfrm>
          <a:prstGeom xmlns:a="http://schemas.openxmlformats.org/drawingml/2006/main" prst="rect">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f63be5cc0dd340cc"/>
          <a:srcRect xmlns:a="http://schemas.openxmlformats.org/drawingml/2006/main" l="133" t="0" r="133" b="0"/>
          <a:stretch xmlns:a="http://schemas.openxmlformats.org/drawingml/2006/main">
            <a:fillRect l="0" t="0" r="0" b="0"/>
          </a:stretch>
        </p:blipFill>
        <p:spPr>
          <a:xfrm xmlns:a="http://schemas.openxmlformats.org/drawingml/2006/main">
            <a:off x="3333750" y="1381125"/>
            <a:ext cx="2381250" cy="1343025"/>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9cbb50bfe4e2449b"/>
          <a:srcRect xmlns:a="http://schemas.openxmlformats.org/drawingml/2006/main" l="133" t="0" r="133" b="0"/>
          <a:stretch xmlns:a="http://schemas.openxmlformats.org/drawingml/2006/main">
            <a:fillRect l="0" t="0" r="0" b="0"/>
          </a:stretch>
        </p:blipFill>
        <p:spPr>
          <a:xfrm xmlns:a="http://schemas.openxmlformats.org/drawingml/2006/main">
            <a:off x="6000750" y="1381125"/>
            <a:ext cx="2381250" cy="1343025"/>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64f49b75caf04088"/>
          <a:srcRect xmlns:a="http://schemas.openxmlformats.org/drawingml/2006/main" l="133" t="0" r="133" b="0"/>
          <a:stretch xmlns:a="http://schemas.openxmlformats.org/drawingml/2006/main">
            <a:fillRect l="0" t="0" r="0" b="0"/>
          </a:stretch>
        </p:blipFill>
        <p:spPr>
          <a:xfrm xmlns:a="http://schemas.openxmlformats.org/drawingml/2006/main">
            <a:off x="8667750" y="1381125"/>
            <a:ext cx="2381250" cy="1343025"/>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19145F54-D7BC-43AA-8F89-A5D734812027}"/>
              </a:ext>
            </a:extLst>
          </p:cNvPr>
          <p:cNvSpPr>
            <a:spLocks xmlns:a="http://schemas.openxmlformats.org/drawingml/2006/main" noGrp="1"/>
          </p:cNvSpPr>
          <p:nvPr/>
        </p:nvSpPr>
        <p:spPr>
          <a:xfrm xmlns:a="http://schemas.openxmlformats.org/drawingml/2006/main">
            <a:off x="1047750" y="32194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617078"/>
                </a:solidFill>
                <a:latin typeface="Yu Gothic"/>
                <a:ea typeface="Yu Gothic"/>
                <a:cs typeface="Yu Gothic"/>
              </a:defRPr>
            </a:pPr>
            <a:r>
              <a:rPr sz="1425" b="1">
                <a:solidFill>
                  <a:srgbClr val="617078"/>
                </a:solidFill>
                <a:latin typeface="Yu Gothic"/>
                <a:ea typeface="Yu Gothic"/>
                <a:cs typeface="Yu Gothic"/>
              </a:rPr>
              <a:t>post behavior</a:t>
            </a:r>
          </a:p>
        </p:txBody>
      </p:sp>
      <p:sp>
        <p:nvSpPr>
          <p:cNvPr id="14" name="">
            <a:extLst xmlns:a="http://schemas.openxmlformats.org/drawingml/2006/main">
              <a:ext uri="{FF2B5EF4-FFF2-40B4-BE49-F238E27FC236}">
                <a16:creationId xmlns:a16="http://schemas.microsoft.com/office/drawing/2014/main" id="{C0EC99C3-FCC1-4E85-AFDF-2382C6F409C6}"/>
              </a:ext>
            </a:extLst>
          </p:cNvPr>
          <p:cNvSpPr>
            <a:spLocks xmlns:a="http://schemas.openxmlformats.org/drawingml/2006/main" noGrp="1"/>
          </p:cNvSpPr>
          <p:nvPr/>
        </p:nvSpPr>
        <p:spPr>
          <a:xfrm xmlns:a="http://schemas.openxmlformats.org/drawingml/2006/main">
            <a:off x="1000125" y="359092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400" b="1">
                <a:solidFill>
                  <a:srgbClr val="173B4B"/>
                </a:solidFill>
                <a:latin typeface="Yu Gothic"/>
                <a:ea typeface="Yu Gothic"/>
                <a:cs typeface="Yu Gothic"/>
              </a:defRPr>
            </a:pPr>
            <a:r>
              <a:rPr sz="2400" b="1">
                <a:solidFill>
                  <a:srgbClr val="173B4B"/>
                </a:solidFill>
                <a:latin typeface="Yu Gothic"/>
                <a:ea typeface="Yu Gothic"/>
                <a:cs typeface="Yu Gothic"/>
              </a:rPr>
              <a:t>target 0.724</a:t>
            </a:r>
          </a:p>
        </p:txBody>
      </p:sp>
      <p:sp>
        <p:nvSpPr>
          <p:cNvPr id="15" name="">
            <a:extLst xmlns:a="http://schemas.openxmlformats.org/drawingml/2006/main">
              <a:ext uri="{FF2B5EF4-FFF2-40B4-BE49-F238E27FC236}">
                <a16:creationId xmlns:a16="http://schemas.microsoft.com/office/drawing/2014/main" id="{3F446D8C-D5FF-4B6B-B243-7E010FF71166}"/>
              </a:ext>
            </a:extLst>
          </p:cNvPr>
          <p:cNvSpPr>
            <a:spLocks xmlns:a="http://schemas.openxmlformats.org/drawingml/2006/main" noGrp="1"/>
          </p:cNvSpPr>
          <p:nvPr/>
        </p:nvSpPr>
        <p:spPr>
          <a:xfrm xmlns:a="http://schemas.openxmlformats.org/drawingml/2006/main">
            <a:off x="1000125" y="40576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1">
                <a:solidFill>
                  <a:srgbClr val="147B78"/>
                </a:solidFill>
                <a:latin typeface="Yu Gothic"/>
                <a:ea typeface="Yu Gothic"/>
                <a:cs typeface="Yu Gothic"/>
              </a:defRPr>
            </a:pPr>
            <a:r>
              <a:rPr sz="2025" b="1">
                <a:solidFill>
                  <a:srgbClr val="147B78"/>
                </a:solidFill>
                <a:latin typeface="Yu Gothic"/>
                <a:ea typeface="Yu Gothic"/>
                <a:cs typeface="Yu Gothic"/>
              </a:rPr>
              <a:t>proxy 0.724</a:t>
            </a:r>
          </a:p>
        </p:txBody>
      </p:sp>
      <p:sp>
        <p:nvSpPr>
          <p:cNvPr id="16" name="">
            <a:extLst xmlns:a="http://schemas.openxmlformats.org/drawingml/2006/main">
              <a:ext uri="{FF2B5EF4-FFF2-40B4-BE49-F238E27FC236}">
                <a16:creationId xmlns:a16="http://schemas.microsoft.com/office/drawing/2014/main" id="{18F96B9F-2BC3-464A-9AC0-26FE431ADA6C}"/>
              </a:ext>
            </a:extLst>
          </p:cNvPr>
          <p:cNvSpPr>
            <a:spLocks xmlns:a="http://schemas.openxmlformats.org/drawingml/2006/main" noGrp="1"/>
          </p:cNvSpPr>
          <p:nvPr/>
        </p:nvSpPr>
        <p:spPr>
          <a:xfrm xmlns:a="http://schemas.openxmlformats.org/drawingml/2006/main">
            <a:off x="904875" y="45529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617078"/>
                </a:solidFill>
                <a:latin typeface="Yu Gothic"/>
                <a:ea typeface="Yu Gothic"/>
                <a:cs typeface="Yu Gothic"/>
              </a:defRPr>
            </a:pPr>
            <a:r>
              <a:rPr sz="1350" b="0">
                <a:solidFill>
                  <a:srgbClr val="617078"/>
                </a:solidFill>
                <a:latin typeface="Yu Gothic"/>
                <a:ea typeface="Yu Gothic"/>
                <a:cs typeface="Yu Gothic"/>
              </a:rPr>
              <a:t>post KL = 8.35 × 10^-10</a:t>
            </a:r>
          </a:p>
        </p:txBody>
      </p:sp>
      <p:sp>
        <p:nvSpPr>
          <p:cNvPr id="17" name="">
            <a:extLst xmlns:a="http://schemas.openxmlformats.org/drawingml/2006/main">
              <a:ext uri="{FF2B5EF4-FFF2-40B4-BE49-F238E27FC236}">
                <a16:creationId xmlns:a16="http://schemas.microsoft.com/office/drawing/2014/main" id="{54EA6B65-F453-4777-A613-8ACEC4AAB0CC}"/>
              </a:ext>
            </a:extLst>
          </p:cNvPr>
          <p:cNvSpPr>
            <a:spLocks xmlns:a="http://schemas.openxmlformats.org/drawingml/2006/main" noGrp="1"/>
          </p:cNvSpPr>
          <p:nvPr/>
        </p:nvSpPr>
        <p:spPr>
          <a:xfrm xmlns:a="http://schemas.openxmlformats.org/drawingml/2006/main">
            <a:off x="4533900" y="3105150"/>
            <a:ext cx="19050" cy="1952625"/>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150DE08-B695-4179-8FC2-AB5BAACD66E1}"/>
              </a:ext>
            </a:extLst>
          </p:cNvPr>
          <p:cNvSpPr>
            <a:spLocks xmlns:a="http://schemas.openxmlformats.org/drawingml/2006/main" noGrp="1"/>
          </p:cNvSpPr>
          <p:nvPr/>
        </p:nvSpPr>
        <p:spPr>
          <a:xfrm xmlns:a="http://schemas.openxmlformats.org/drawingml/2006/main">
            <a:off x="5191125" y="32194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617078"/>
                </a:solidFill>
                <a:latin typeface="Yu Gothic"/>
                <a:ea typeface="Yu Gothic"/>
                <a:cs typeface="Yu Gothic"/>
              </a:defRPr>
            </a:pPr>
            <a:r>
              <a:rPr sz="1425" b="1">
                <a:solidFill>
                  <a:srgbClr val="617078"/>
                </a:solidFill>
                <a:latin typeface="Yu Gothic"/>
                <a:ea typeface="Yu Gothic"/>
                <a:cs typeface="Yu Gothic"/>
              </a:rPr>
              <a:t>local delta</a:t>
            </a:r>
          </a:p>
        </p:txBody>
      </p:sp>
      <p:sp>
        <p:nvSpPr>
          <p:cNvPr id="19" name="">
            <a:extLst xmlns:a="http://schemas.openxmlformats.org/drawingml/2006/main">
              <a:ext uri="{FF2B5EF4-FFF2-40B4-BE49-F238E27FC236}">
                <a16:creationId xmlns:a16="http://schemas.microsoft.com/office/drawing/2014/main" id="{973D0A54-4D6F-49F8-B571-FD8F11BFB0BC}"/>
              </a:ext>
            </a:extLst>
          </p:cNvPr>
          <p:cNvSpPr>
            <a:spLocks xmlns:a="http://schemas.openxmlformats.org/drawingml/2006/main" noGrp="1"/>
          </p:cNvSpPr>
          <p:nvPr/>
        </p:nvSpPr>
        <p:spPr>
          <a:xfrm xmlns:a="http://schemas.openxmlformats.org/drawingml/2006/main">
            <a:off x="5095875" y="3590925"/>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400" b="1">
                <a:solidFill>
                  <a:srgbClr val="173B4B"/>
                </a:solidFill>
                <a:latin typeface="Yu Gothic"/>
                <a:ea typeface="Yu Gothic"/>
                <a:cs typeface="Yu Gothic"/>
              </a:defRPr>
            </a:pPr>
            <a:r>
              <a:rPr sz="2400" b="1">
                <a:solidFill>
                  <a:srgbClr val="173B4B"/>
                </a:solidFill>
                <a:latin typeface="Yu Gothic"/>
                <a:ea typeface="Yu Gothic"/>
                <a:cs typeface="Yu Gothic"/>
              </a:rPr>
              <a:t>target +0.238</a:t>
            </a:r>
          </a:p>
        </p:txBody>
      </p:sp>
      <p:sp>
        <p:nvSpPr>
          <p:cNvPr id="20" name="">
            <a:extLst xmlns:a="http://schemas.openxmlformats.org/drawingml/2006/main">
              <a:ext uri="{FF2B5EF4-FFF2-40B4-BE49-F238E27FC236}">
                <a16:creationId xmlns:a16="http://schemas.microsoft.com/office/drawing/2014/main" id="{82F38139-9981-41AF-B9CA-2498EEE7FCD8}"/>
              </a:ext>
            </a:extLst>
          </p:cNvPr>
          <p:cNvSpPr>
            <a:spLocks xmlns:a="http://schemas.openxmlformats.org/drawingml/2006/main" noGrp="1"/>
          </p:cNvSpPr>
          <p:nvPr/>
        </p:nvSpPr>
        <p:spPr>
          <a:xfrm xmlns:a="http://schemas.openxmlformats.org/drawingml/2006/main">
            <a:off x="5095875" y="405765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1">
                <a:solidFill>
                  <a:srgbClr val="B94A3A"/>
                </a:solidFill>
                <a:latin typeface="Yu Gothic"/>
                <a:ea typeface="Yu Gothic"/>
                <a:cs typeface="Yu Gothic"/>
              </a:defRPr>
            </a:pPr>
            <a:r>
              <a:rPr sz="2025" b="1">
                <a:solidFill>
                  <a:srgbClr val="B94A3A"/>
                </a:solidFill>
                <a:latin typeface="Yu Gothic"/>
                <a:ea typeface="Yu Gothic"/>
                <a:cs typeface="Yu Gothic"/>
              </a:rPr>
              <a:t>proxy +0.051</a:t>
            </a:r>
          </a:p>
        </p:txBody>
      </p:sp>
      <p:sp>
        <p:nvSpPr>
          <p:cNvPr id="21" name="">
            <a:extLst xmlns:a="http://schemas.openxmlformats.org/drawingml/2006/main">
              <a:ext uri="{FF2B5EF4-FFF2-40B4-BE49-F238E27FC236}">
                <a16:creationId xmlns:a16="http://schemas.microsoft.com/office/drawing/2014/main" id="{19EA7E03-35CF-4FE3-BCE5-AB927AFADA8D}"/>
              </a:ext>
            </a:extLst>
          </p:cNvPr>
          <p:cNvSpPr>
            <a:spLocks xmlns:a="http://schemas.openxmlformats.org/drawingml/2006/main" noGrp="1"/>
          </p:cNvSpPr>
          <p:nvPr/>
        </p:nvSpPr>
        <p:spPr>
          <a:xfrm xmlns:a="http://schemas.openxmlformats.org/drawingml/2006/main">
            <a:off x="5048250" y="45529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617078"/>
                </a:solidFill>
                <a:latin typeface="Yu Gothic"/>
                <a:ea typeface="Yu Gothic"/>
                <a:cs typeface="Yu Gothic"/>
              </a:defRPr>
            </a:pPr>
            <a:r>
              <a:rPr sz="1350" b="0">
                <a:solidFill>
                  <a:srgbClr val="617078"/>
                </a:solidFill>
                <a:latin typeface="Yu Gothic"/>
                <a:ea typeface="Yu Gothic"/>
                <a:cs typeface="Yu Gothic"/>
              </a:rPr>
              <a:t>delta MSE = 0.0349</a:t>
            </a:r>
          </a:p>
        </p:txBody>
      </p:sp>
      <p:sp>
        <p:nvSpPr>
          <p:cNvPr id="22" name="">
            <a:extLst xmlns:a="http://schemas.openxmlformats.org/drawingml/2006/main">
              <a:ext uri="{FF2B5EF4-FFF2-40B4-BE49-F238E27FC236}">
                <a16:creationId xmlns:a16="http://schemas.microsoft.com/office/drawing/2014/main" id="{BE3D71EF-D953-4C06-A9AB-06E934A72C77}"/>
              </a:ext>
            </a:extLst>
          </p:cNvPr>
          <p:cNvSpPr>
            <a:spLocks xmlns:a="http://schemas.openxmlformats.org/drawingml/2006/main" noGrp="1"/>
          </p:cNvSpPr>
          <p:nvPr/>
        </p:nvSpPr>
        <p:spPr>
          <a:xfrm xmlns:a="http://schemas.openxmlformats.org/drawingml/2006/main">
            <a:off x="8524875" y="3124200"/>
            <a:ext cx="2714625" cy="1952625"/>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61EA06C-4C1C-4FD5-8F0D-C88DDF99707C}"/>
              </a:ext>
            </a:extLst>
          </p:cNvPr>
          <p:cNvSpPr>
            <a:spLocks xmlns:a="http://schemas.openxmlformats.org/drawingml/2006/main" noGrp="1"/>
          </p:cNvSpPr>
          <p:nvPr/>
        </p:nvSpPr>
        <p:spPr>
          <a:xfrm xmlns:a="http://schemas.openxmlformats.org/drawingml/2006/main">
            <a:off x="8782050" y="331470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E7833D"/>
                </a:solidFill>
                <a:latin typeface="Yu Gothic"/>
                <a:ea typeface="Yu Gothic"/>
                <a:cs typeface="Yu Gothic"/>
              </a:defRPr>
            </a:pPr>
            <a:r>
              <a:rPr sz="1575" b="1">
                <a:solidFill>
                  <a:srgbClr val="E7833D"/>
                </a:solidFill>
                <a:latin typeface="Yu Gothic"/>
                <a:ea typeface="Yu Gothic"/>
                <a:cs typeface="Yu Gothic"/>
              </a:rPr>
              <a:t>重要な診断</a:t>
            </a:r>
          </a:p>
        </p:txBody>
      </p:sp>
      <p:sp>
        <p:nvSpPr>
          <p:cNvPr id="24" name="">
            <a:extLst xmlns:a="http://schemas.openxmlformats.org/drawingml/2006/main">
              <a:ext uri="{FF2B5EF4-FFF2-40B4-BE49-F238E27FC236}">
                <a16:creationId xmlns:a16="http://schemas.microsoft.com/office/drawing/2014/main" id="{CC0BD964-AB5B-4EFC-88BC-308D93AE8E77}"/>
              </a:ext>
            </a:extLst>
          </p:cNvPr>
          <p:cNvSpPr>
            <a:spLocks xmlns:a="http://schemas.openxmlformats.org/drawingml/2006/main" noGrp="1"/>
          </p:cNvSpPr>
          <p:nvPr/>
        </p:nvSpPr>
        <p:spPr>
          <a:xfrm xmlns:a="http://schemas.openxmlformats.org/drawingml/2006/main">
            <a:off x="8763000" y="3781425"/>
            <a:ext cx="2238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3333"/>
          </a:bodyPr>
          <a:lstStyle xmlns:a="http://schemas.openxmlformats.org/drawingml/2006/main"/>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最終のrisk確率だけなら一致する。</a:t>
            </a:r>
          </a:p>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局所学習で動いた方向と量は、現在の候補では十分に再現できていない。</a:t>
            </a:r>
          </a:p>
        </p:txBody>
      </p:sp>
      <p:sp>
        <p:nvSpPr>
          <p:cNvPr id="25" name="">
            <a:extLst xmlns:a="http://schemas.openxmlformats.org/drawingml/2006/main">
              <a:ext uri="{FF2B5EF4-FFF2-40B4-BE49-F238E27FC236}">
                <a16:creationId xmlns:a16="http://schemas.microsoft.com/office/drawing/2014/main" id="{2BFA9B77-C4CD-4E95-85B4-3E0424C95811}"/>
              </a:ext>
            </a:extLst>
          </p:cNvPr>
          <p:cNvSpPr>
            <a:spLocks xmlns:a="http://schemas.openxmlformats.org/drawingml/2006/main" noGrp="1"/>
          </p:cNvSpPr>
          <p:nvPr/>
        </p:nvSpPr>
        <p:spPr>
          <a:xfrm xmlns:a="http://schemas.openxmlformats.org/drawingml/2006/main">
            <a:off x="952500" y="542925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a:solidFill>
                  <a:srgbClr val="147B78"/>
                </a:solidFill>
                <a:latin typeface="Yu Gothic"/>
                <a:ea typeface="Yu Gothic"/>
                <a:cs typeface="Yu Gothic"/>
              </a:defRPr>
            </a:pPr>
            <a:r>
              <a:rPr sz="1800" b="1">
                <a:solidFill>
                  <a:srgbClr val="147B78"/>
                </a:solidFill>
                <a:latin typeface="Yu Gothic"/>
                <a:ea typeface="Yu Gothic"/>
                <a:cs typeface="Yu Gothic"/>
              </a:rPr>
              <a:t>Layer 2で評価すべき対象が、post一致だけでは足りないことを実例で確認</a:t>
            </a:r>
          </a:p>
        </p:txBody>
      </p:sp>
    </p:spTree>
    <p:extLst>
      <p:ext uri="{BB962C8B-B14F-4D97-AF65-F5344CB8AC3E}">
        <p14:creationId xmlns:p14="http://schemas.microsoft.com/office/powerpoint/2010/main" val="205678207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D3C27B8-15D9-449C-983E-979313A38E4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FBA58D9-E866-4D8A-8915-131FF9E9DAA1}"/>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F1E36EC-6108-4BD9-BEF7-CDFCE5FC638A}"/>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round 1では、4件中1件でdeltaの方向が逆転</a:t>
            </a:r>
          </a:p>
        </p:txBody>
      </p:sp>
      <p:sp>
        <p:nvSpPr>
          <p:cNvPr id="4" name="">
            <a:extLst xmlns:a="http://schemas.openxmlformats.org/drawingml/2006/main">
              <a:ext uri="{FF2B5EF4-FFF2-40B4-BE49-F238E27FC236}">
                <a16:creationId xmlns:a16="http://schemas.microsoft.com/office/drawing/2014/main" id="{9DBC437A-8F7F-4B70-9C37-B6E2C41F0748}"/>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08</a:t>
            </a:r>
          </a:p>
        </p:txBody>
      </p:sp>
      <p:sp>
        <p:nvSpPr>
          <p:cNvPr id="5" name="">
            <a:extLst xmlns:a="http://schemas.openxmlformats.org/drawingml/2006/main">
              <a:ext uri="{FF2B5EF4-FFF2-40B4-BE49-F238E27FC236}">
                <a16:creationId xmlns:a16="http://schemas.microsoft.com/office/drawing/2014/main" id="{51FFE20F-B920-45CC-B0E5-36B057F2E54E}"/>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5ACEFB1-7BCE-4D99-8A2F-0863DF9F8450}"/>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2B10AC1D-2AD4-4226-8748-3F632F2BA61B}"/>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8 / 10</a:t>
            </a:r>
          </a:p>
        </p:txBody>
      </p:sp>
      <p:graphicFrame>
        <p:nvGraphicFramePr>
          <p:cNvPr id="19" name=""/>
          <p:cNvGraphicFramePr/>
          <p:nvPr/>
        </p:nvGraphicFramePr>
        <p:xfrm>
          <a:off xmlns:a="http://schemas.openxmlformats.org/drawingml/2006/main" x="857250" y="1276350"/>
          <a:ext xmlns:a="http://schemas.openxmlformats.org/drawingml/2006/main" cx="10477500" cy="2857500"/>
        </p:xfrm>
        <a:graphic xmlns:a="http://schemas.openxmlformats.org/drawingml/2006/main">
          <a:graphicData uri="http://schemas.openxmlformats.org/drawingml/2006/table">
            <a:tbl>
              <a:tblPr/>
              <a:tblGrid>
                <a:gridCol w="2762250"/>
                <a:gridCol w="2000250"/>
                <a:gridCol w="2000250"/>
                <a:gridCol w="1714500"/>
                <a:gridCol w="2000250"/>
              </a:tblGrid>
              <a:tr h="571500">
                <a:tc>
                  <a:txBody>
                    <a:bodyPr/>
                    <a:lstStyle/>
                    <a:p>
                      <a:r>
                        <a:rPr sz="1300" b="1">
                          <a:solidFill>
                            <a:srgbClr val="FFFFFF"/>
                          </a:solidFill>
                          <a:latin typeface="Yu Gothic"/>
                          <a:ea typeface="Yu Gothic"/>
                          <a:cs typeface="Yu Gothic"/>
                        </a:rPr>
                        <a:t>prototype</a:t>
                      </a:r>
                    </a:p>
                  </a:txBody>
                  <a:tcPr marL="91440" marR="91440" marT="45720" marB="45720"/>
                </a:tc>
                <a:tc>
                  <a:txBody>
                    <a:bodyPr/>
                    <a:lstStyle/>
                    <a:p>
                      <a:r>
                        <a:rPr sz="1300" b="1">
                          <a:solidFill>
                            <a:srgbClr val="FFFFFF"/>
                          </a:solidFill>
                          <a:latin typeface="Yu Gothic"/>
                          <a:ea typeface="Yu Gothic"/>
                          <a:cs typeface="Yu Gothic"/>
                        </a:rPr>
                        <a:t>target Δrisk</a:t>
                      </a:r>
                    </a:p>
                  </a:txBody>
                  <a:tcPr marL="91440" marR="91440" marT="45720" marB="45720"/>
                </a:tc>
                <a:tc>
                  <a:txBody>
                    <a:bodyPr/>
                    <a:lstStyle/>
                    <a:p>
                      <a:r>
                        <a:rPr sz="1300" b="1">
                          <a:solidFill>
                            <a:srgbClr val="FFFFFF"/>
                          </a:solidFill>
                          <a:latin typeface="Yu Gothic"/>
                          <a:ea typeface="Yu Gothic"/>
                          <a:cs typeface="Yu Gothic"/>
                        </a:rPr>
                        <a:t>proxy Δrisk</a:t>
                      </a:r>
                    </a:p>
                  </a:txBody>
                  <a:tcPr marL="91440" marR="91440" marT="45720" marB="45720"/>
                </a:tc>
                <a:tc>
                  <a:txBody>
                    <a:bodyPr/>
                    <a:lstStyle/>
                    <a:p>
                      <a:r>
                        <a:rPr sz="1300" b="1">
                          <a:solidFill>
                            <a:srgbClr val="FFFFFF"/>
                          </a:solidFill>
                          <a:latin typeface="Yu Gothic"/>
                          <a:ea typeface="Yu Gothic"/>
                          <a:cs typeface="Yu Gothic"/>
                        </a:rPr>
                        <a:t>方向</a:t>
                      </a:r>
                    </a:p>
                  </a:txBody>
                  <a:tcPr marL="91440" marR="91440" marT="45720" marB="45720"/>
                </a:tc>
                <a:tc>
                  <a:txBody>
                    <a:bodyPr/>
                    <a:lstStyle/>
                    <a:p>
                      <a:r>
                        <a:rPr sz="1300" b="1">
                          <a:solidFill>
                            <a:srgbClr val="FFFFFF"/>
                          </a:solidFill>
                          <a:latin typeface="Yu Gothic"/>
                          <a:ea typeface="Yu Gothic"/>
                          <a:cs typeface="Yu Gothic"/>
                        </a:rPr>
                        <a:t>seed label</a:t>
                      </a:r>
                    </a:p>
                  </a:txBody>
                  <a:tcPr marL="91440" marR="91440" marT="45720" marB="45720"/>
                </a:tc>
              </a:tr>
              <a:tr h="571500">
                <a:tc>
                  <a:txBody>
                    <a:bodyPr/>
                    <a:lstStyle/>
                    <a:p>
                      <a:r>
                        <a:rPr sz="1500" b="0">
                          <a:solidFill>
                            <a:srgbClr val="26373D"/>
                          </a:solidFill>
                          <a:latin typeface="Yu Gothic"/>
                          <a:ea typeface="Yu Gothic"/>
                          <a:cs typeface="Yu Gothic"/>
                        </a:rPr>
                        <a:t>client-0 / normal</a:t>
                      </a:r>
                    </a:p>
                  </a:txBody>
                  <a:tcPr marL="91440" marR="91440" marT="45720" marB="45720"/>
                </a:tc>
                <a:tc>
                  <a:txBody>
                    <a:bodyPr/>
                    <a:lstStyle/>
                    <a:p>
                      <a:r>
                        <a:rPr sz="1500" b="0">
                          <a:solidFill>
                            <a:srgbClr val="26373D"/>
                          </a:solidFill>
                          <a:latin typeface="Yu Gothic"/>
                          <a:ea typeface="Yu Gothic"/>
                          <a:cs typeface="Yu Gothic"/>
                        </a:rPr>
                        <a:t>+0.094</a:t>
                      </a:r>
                    </a:p>
                  </a:txBody>
                  <a:tcPr marL="91440" marR="91440" marT="45720" marB="45720"/>
                </a:tc>
                <a:tc>
                  <a:txBody>
                    <a:bodyPr/>
                    <a:lstStyle/>
                    <a:p>
                      <a:r>
                        <a:rPr sz="1500" b="0">
                          <a:solidFill>
                            <a:srgbClr val="26373D"/>
                          </a:solidFill>
                          <a:latin typeface="Yu Gothic"/>
                          <a:ea typeface="Yu Gothic"/>
                          <a:cs typeface="Yu Gothic"/>
                        </a:rPr>
                        <a:t>+0.072</a:t>
                      </a:r>
                    </a:p>
                  </a:txBody>
                  <a:tcPr marL="91440" marR="91440" marT="45720" marB="45720"/>
                </a:tc>
                <a:tc>
                  <a:txBody>
                    <a:bodyPr/>
                    <a:lstStyle/>
                    <a:p>
                      <a:r>
                        <a:rPr sz="1500" b="0">
                          <a:solidFill>
                            <a:srgbClr val="26373D"/>
                          </a:solidFill>
                          <a:latin typeface="Yu Gothic"/>
                          <a:ea typeface="Yu Gothic"/>
                          <a:cs typeface="Yu Gothic"/>
                        </a:rPr>
                        <a:t>一致</a:t>
                      </a:r>
                    </a:p>
                  </a:txBody>
                  <a:tcPr marL="91440" marR="91440" marT="45720" marB="45720"/>
                </a:tc>
                <a:tc>
                  <a:txBody>
                    <a:bodyPr/>
                    <a:lstStyle/>
                    <a:p>
                      <a:r>
                        <a:rPr sz="1500" b="0">
                          <a:solidFill>
                            <a:srgbClr val="26373D"/>
                          </a:solidFill>
                          <a:latin typeface="Yu Gothic"/>
                          <a:ea typeface="Yu Gothic"/>
                          <a:cs typeface="Yu Gothic"/>
                        </a:rPr>
                        <a:t>risk</a:t>
                      </a:r>
                    </a:p>
                  </a:txBody>
                  <a:tcPr marL="91440" marR="91440" marT="45720" marB="45720"/>
                </a:tc>
              </a:tr>
              <a:tr h="571500">
                <a:tc>
                  <a:txBody>
                    <a:bodyPr/>
                    <a:lstStyle/>
                    <a:p>
                      <a:r>
                        <a:rPr sz="1500" b="0">
                          <a:solidFill>
                            <a:srgbClr val="26373D"/>
                          </a:solidFill>
                          <a:latin typeface="Yu Gothic"/>
                          <a:ea typeface="Yu Gothic"/>
                          <a:cs typeface="Yu Gothic"/>
                        </a:rPr>
                        <a:t>client-0 / risk</a:t>
                      </a:r>
                    </a:p>
                  </a:txBody>
                  <a:tcPr marL="91440" marR="91440" marT="45720" marB="45720"/>
                </a:tc>
                <a:tc>
                  <a:txBody>
                    <a:bodyPr/>
                    <a:lstStyle/>
                    <a:p>
                      <a:r>
                        <a:rPr sz="1500" b="0">
                          <a:solidFill>
                            <a:srgbClr val="26373D"/>
                          </a:solidFill>
                          <a:latin typeface="Yu Gothic"/>
                          <a:ea typeface="Yu Gothic"/>
                          <a:cs typeface="Yu Gothic"/>
                        </a:rPr>
                        <a:t>+0.238</a:t>
                      </a:r>
                    </a:p>
                  </a:txBody>
                  <a:tcPr marL="91440" marR="91440" marT="45720" marB="45720"/>
                </a:tc>
                <a:tc>
                  <a:txBody>
                    <a:bodyPr/>
                    <a:lstStyle/>
                    <a:p>
                      <a:r>
                        <a:rPr sz="1500" b="0">
                          <a:solidFill>
                            <a:srgbClr val="26373D"/>
                          </a:solidFill>
                          <a:latin typeface="Yu Gothic"/>
                          <a:ea typeface="Yu Gothic"/>
                          <a:cs typeface="Yu Gothic"/>
                        </a:rPr>
                        <a:t>+0.051</a:t>
                      </a:r>
                    </a:p>
                  </a:txBody>
                  <a:tcPr marL="91440" marR="91440" marT="45720" marB="45720"/>
                </a:tc>
                <a:tc>
                  <a:txBody>
                    <a:bodyPr/>
                    <a:lstStyle/>
                    <a:p>
                      <a:r>
                        <a:rPr sz="1500" b="0">
                          <a:solidFill>
                            <a:srgbClr val="26373D"/>
                          </a:solidFill>
                          <a:latin typeface="Yu Gothic"/>
                          <a:ea typeface="Yu Gothic"/>
                          <a:cs typeface="Yu Gothic"/>
                        </a:rPr>
                        <a:t>一致</a:t>
                      </a:r>
                    </a:p>
                  </a:txBody>
                  <a:tcPr marL="91440" marR="91440" marT="45720" marB="45720"/>
                </a:tc>
                <a:tc>
                  <a:txBody>
                    <a:bodyPr/>
                    <a:lstStyle/>
                    <a:p>
                      <a:r>
                        <a:rPr sz="1500" b="0">
                          <a:solidFill>
                            <a:srgbClr val="26373D"/>
                          </a:solidFill>
                          <a:latin typeface="Yu Gothic"/>
                          <a:ea typeface="Yu Gothic"/>
                          <a:cs typeface="Yu Gothic"/>
                        </a:rPr>
                        <a:t>normal</a:t>
                      </a:r>
                    </a:p>
                  </a:txBody>
                  <a:tcPr marL="91440" marR="91440" marT="45720" marB="45720"/>
                </a:tc>
              </a:tr>
              <a:tr h="571500">
                <a:tc>
                  <a:txBody>
                    <a:bodyPr/>
                    <a:lstStyle/>
                    <a:p>
                      <a:r>
                        <a:rPr sz="1500" b="0">
                          <a:solidFill>
                            <a:srgbClr val="26373D"/>
                          </a:solidFill>
                          <a:latin typeface="Yu Gothic"/>
                          <a:ea typeface="Yu Gothic"/>
                          <a:cs typeface="Yu Gothic"/>
                        </a:rPr>
                        <a:t>client-1 / normal</a:t>
                      </a:r>
                    </a:p>
                  </a:txBody>
                  <a:tcPr marL="91440" marR="91440" marT="45720" marB="45720"/>
                </a:tc>
                <a:tc>
                  <a:txBody>
                    <a:bodyPr/>
                    <a:lstStyle/>
                    <a:p>
                      <a:r>
                        <a:rPr sz="1500" b="0">
                          <a:solidFill>
                            <a:srgbClr val="26373D"/>
                          </a:solidFill>
                          <a:latin typeface="Yu Gothic"/>
                          <a:ea typeface="Yu Gothic"/>
                          <a:cs typeface="Yu Gothic"/>
                        </a:rPr>
                        <a:t>−0.103</a:t>
                      </a:r>
                    </a:p>
                  </a:txBody>
                  <a:tcPr marL="91440" marR="91440" marT="45720" marB="45720"/>
                </a:tc>
                <a:tc>
                  <a:txBody>
                    <a:bodyPr>
                      <a:normAutofit/>
                    </a:bodyPr>
                    <a:lstStyle/>
                    <a:p>
                      <a:pPr algn="ctr"/>
                      <a:r>
                        <a:rPr sz="1500" b="1">
                          <a:solidFill>
                            <a:srgbClr val="B94A3A"/>
                          </a:solidFill>
                          <a:latin typeface="Yu Gothic"/>
                          <a:ea typeface="Yu Gothic"/>
                          <a:cs typeface="Yu Gothic"/>
                        </a:rPr>
                        <a:t>+0.056</a:t>
                      </a:r>
                    </a:p>
                  </a:txBody>
                  <a:tcPr marL="91440" marR="91440" marT="45720" marB="45720" anchor="ctr">
                    <a:solidFill>
                      <a:srgbClr val="F5DFDA"/>
                    </a:solidFill>
                  </a:tcPr>
                </a:tc>
                <a:tc>
                  <a:txBody>
                    <a:bodyPr>
                      <a:normAutofit/>
                    </a:bodyPr>
                    <a:lstStyle/>
                    <a:p>
                      <a:pPr algn="ctr"/>
                      <a:r>
                        <a:rPr sz="1500" b="1">
                          <a:solidFill>
                            <a:srgbClr val="B94A3A"/>
                          </a:solidFill>
                          <a:latin typeface="Yu Gothic"/>
                          <a:ea typeface="Yu Gothic"/>
                          <a:cs typeface="Yu Gothic"/>
                        </a:rPr>
                        <a:t>逆向き</a:t>
                      </a:r>
                    </a:p>
                  </a:txBody>
                  <a:tcPr marL="91440" marR="91440" marT="45720" marB="45720" anchor="ctr">
                    <a:solidFill>
                      <a:srgbClr val="F5DFDA"/>
                    </a:solidFill>
                  </a:tcPr>
                </a:tc>
                <a:tc>
                  <a:txBody>
                    <a:bodyPr/>
                    <a:lstStyle/>
                    <a:p>
                      <a:r>
                        <a:rPr sz="1500" b="0">
                          <a:solidFill>
                            <a:srgbClr val="26373D"/>
                          </a:solidFill>
                          <a:latin typeface="Yu Gothic"/>
                          <a:ea typeface="Yu Gothic"/>
                          <a:cs typeface="Yu Gothic"/>
                        </a:rPr>
                        <a:t>risk</a:t>
                      </a:r>
                    </a:p>
                  </a:txBody>
                  <a:tcPr marL="91440" marR="91440" marT="45720" marB="45720"/>
                </a:tc>
              </a:tr>
              <a:tr h="571500">
                <a:tc>
                  <a:txBody>
                    <a:bodyPr/>
                    <a:lstStyle/>
                    <a:p>
                      <a:r>
                        <a:rPr sz="1500" b="0">
                          <a:solidFill>
                            <a:srgbClr val="26373D"/>
                          </a:solidFill>
                          <a:latin typeface="Yu Gothic"/>
                          <a:ea typeface="Yu Gothic"/>
                          <a:cs typeface="Yu Gothic"/>
                        </a:rPr>
                        <a:t>client-1 / risk</a:t>
                      </a:r>
                    </a:p>
                  </a:txBody>
                  <a:tcPr marL="91440" marR="91440" marT="45720" marB="45720"/>
                </a:tc>
                <a:tc>
                  <a:txBody>
                    <a:bodyPr/>
                    <a:lstStyle/>
                    <a:p>
                      <a:r>
                        <a:rPr sz="1500" b="0">
                          <a:solidFill>
                            <a:srgbClr val="26373D"/>
                          </a:solidFill>
                          <a:latin typeface="Yu Gothic"/>
                          <a:ea typeface="Yu Gothic"/>
                          <a:cs typeface="Yu Gothic"/>
                        </a:rPr>
                        <a:t>+0.005</a:t>
                      </a:r>
                    </a:p>
                  </a:txBody>
                  <a:tcPr marL="91440" marR="91440" marT="45720" marB="45720"/>
                </a:tc>
                <a:tc>
                  <a:txBody>
                    <a:bodyPr/>
                    <a:lstStyle/>
                    <a:p>
                      <a:r>
                        <a:rPr sz="1500" b="0">
                          <a:solidFill>
                            <a:srgbClr val="26373D"/>
                          </a:solidFill>
                          <a:latin typeface="Yu Gothic"/>
                          <a:ea typeface="Yu Gothic"/>
                          <a:cs typeface="Yu Gothic"/>
                        </a:rPr>
                        <a:t>+0.010</a:t>
                      </a:r>
                    </a:p>
                  </a:txBody>
                  <a:tcPr marL="91440" marR="91440" marT="45720" marB="45720"/>
                </a:tc>
                <a:tc>
                  <a:txBody>
                    <a:bodyPr/>
                    <a:lstStyle/>
                    <a:p>
                      <a:r>
                        <a:rPr sz="1500" b="0">
                          <a:solidFill>
                            <a:srgbClr val="26373D"/>
                          </a:solidFill>
                          <a:latin typeface="Yu Gothic"/>
                          <a:ea typeface="Yu Gothic"/>
                          <a:cs typeface="Yu Gothic"/>
                        </a:rPr>
                        <a:t>一致</a:t>
                      </a:r>
                    </a:p>
                  </a:txBody>
                  <a:tcPr marL="91440" marR="91440" marT="45720" marB="45720"/>
                </a:tc>
                <a:tc>
                  <a:txBody>
                    <a:bodyPr/>
                    <a:lstStyle/>
                    <a:p>
                      <a:r>
                        <a:rPr sz="1500" b="0">
                          <a:solidFill>
                            <a:srgbClr val="26373D"/>
                          </a:solidFill>
                          <a:latin typeface="Yu Gothic"/>
                          <a:ea typeface="Yu Gothic"/>
                          <a:cs typeface="Yu Gothic"/>
                        </a:rPr>
                        <a:t>normal</a:t>
                      </a:r>
                    </a:p>
                  </a:txBody>
                  <a:tcPr marL="91440" marR="91440" marT="45720" marB="45720"/>
                </a:tc>
              </a:tr>
            </a:tbl>
          </a:graphicData>
        </a:graphic>
      </p:graphicFrame>
      <p:sp>
        <p:nvSpPr>
          <p:cNvPr id="9" name="">
            <a:extLst xmlns:a="http://schemas.openxmlformats.org/drawingml/2006/main">
              <a:ext uri="{FF2B5EF4-FFF2-40B4-BE49-F238E27FC236}">
                <a16:creationId xmlns:a16="http://schemas.microsoft.com/office/drawing/2014/main" id="{A10092D5-B91A-4998-A952-0A1D1BC6828F}"/>
              </a:ext>
            </a:extLst>
          </p:cNvPr>
          <p:cNvSpPr>
            <a:spLocks xmlns:a="http://schemas.openxmlformats.org/drawingml/2006/main" noGrp="1"/>
          </p:cNvSpPr>
          <p:nvPr/>
        </p:nvSpPr>
        <p:spPr>
          <a:xfrm xmlns:a="http://schemas.openxmlformats.org/drawingml/2006/main">
            <a:off x="857250" y="4476750"/>
            <a:ext cx="10477500" cy="68580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C931A6D-7981-41E1-BD88-48A47BAB099B}"/>
              </a:ext>
            </a:extLst>
          </p:cNvPr>
          <p:cNvSpPr>
            <a:spLocks xmlns:a="http://schemas.openxmlformats.org/drawingml/2006/main" noGrp="1"/>
          </p:cNvSpPr>
          <p:nvPr/>
        </p:nvSpPr>
        <p:spPr>
          <a:xfrm xmlns:a="http://schemas.openxmlformats.org/drawingml/2006/main">
            <a:off x="1066800" y="4638675"/>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3333"/>
          </a:bodyPr>
          <a:lstStyle xmlns:a="http://schemas.openxmlformats.org/drawingml/2006/main"/>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prototype class と seed label はround 1で4件すべて不一致。round 2・3では各3件が一致したため、1 roundの結果を一般化しない。</a:t>
            </a:r>
          </a:p>
        </p:txBody>
      </p:sp>
      <p:sp>
        <p:nvSpPr>
          <p:cNvPr id="11" name="">
            <a:extLst xmlns:a="http://schemas.openxmlformats.org/drawingml/2006/main">
              <a:ext uri="{FF2B5EF4-FFF2-40B4-BE49-F238E27FC236}">
                <a16:creationId xmlns:a16="http://schemas.microsoft.com/office/drawing/2014/main" id="{AB170097-EC16-40E6-8A81-875625E3D75A}"/>
              </a:ext>
            </a:extLst>
          </p:cNvPr>
          <p:cNvSpPr>
            <a:spLocks xmlns:a="http://schemas.openxmlformats.org/drawingml/2006/main" noGrp="1"/>
          </p:cNvSpPr>
          <p:nvPr/>
        </p:nvSpPr>
        <p:spPr>
          <a:xfrm xmlns:a="http://schemas.openxmlformats.org/drawingml/2006/main">
            <a:off x="1000125" y="5429250"/>
            <a:ext cx="1019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697"/>
          </a:bodyPr>
          <a:lstStyle xmlns:a="http://schemas.openxmlformats.org/drawingml/2006/main"/>
          <a:p xmlns:a="http://schemas.openxmlformats.org/drawingml/2006/main">
            <a:pPr algn="ctr">
              <a:defRPr sz="1650" b="1">
                <a:solidFill>
                  <a:srgbClr val="E7833D"/>
                </a:solidFill>
                <a:latin typeface="Yu Gothic"/>
                <a:ea typeface="Yu Gothic"/>
                <a:cs typeface="Yu Gothic"/>
              </a:defRPr>
            </a:pPr>
            <a:r>
              <a:rPr sz="1650" b="1">
                <a:solidFill>
                  <a:srgbClr val="E7833D"/>
                </a:solidFill>
                <a:latin typeface="Yu Gothic"/>
                <a:ea typeface="Yu Gothic"/>
                <a:cs typeface="Yu Gothic"/>
              </a:rPr>
              <a:t>原因はまだ一つに決められない。60 seedのlabelとmodel argmaxの一致は43件で、model誤分類と検索挙動が混在している。</a:t>
            </a:r>
          </a:p>
        </p:txBody>
      </p:sp>
    </p:spTree>
    <p:extLst>
      <p:ext uri="{BB962C8B-B14F-4D97-AF65-F5344CB8AC3E}">
        <p14:creationId xmlns:p14="http://schemas.microsoft.com/office/powerpoint/2010/main" val="211245909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BD6D226-4DDD-42A5-B94B-5BD6C5AF71B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80308F7-B28F-4644-BCEC-943A83872CF1}"/>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B155543-A7A2-40A3-ABA6-71A72D974132}"/>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3 roundの状態継承は確認、Layer 3に診断点が残った</a:t>
            </a:r>
          </a:p>
        </p:txBody>
      </p:sp>
      <p:sp>
        <p:nvSpPr>
          <p:cNvPr id="4" name="">
            <a:extLst xmlns:a="http://schemas.openxmlformats.org/drawingml/2006/main">
              <a:ext uri="{FF2B5EF4-FFF2-40B4-BE49-F238E27FC236}">
                <a16:creationId xmlns:a16="http://schemas.microsoft.com/office/drawing/2014/main" id="{A8A5F67B-E016-4C26-A284-DF3CDCFA26FB}"/>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09</a:t>
            </a:r>
          </a:p>
        </p:txBody>
      </p:sp>
      <p:sp>
        <p:nvSpPr>
          <p:cNvPr id="5" name="">
            <a:extLst xmlns:a="http://schemas.openxmlformats.org/drawingml/2006/main">
              <a:ext uri="{FF2B5EF4-FFF2-40B4-BE49-F238E27FC236}">
                <a16:creationId xmlns:a16="http://schemas.microsoft.com/office/drawing/2014/main" id="{A99055DE-3CD7-407D-BF8F-F0CB23487085}"/>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7857758-5CE5-41AC-9894-225703623695}"/>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C4FFE312-57F9-42C6-AD73-4E6F7FCA3276}"/>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9 / 10</a:t>
            </a:r>
          </a:p>
        </p:txBody>
      </p:sp>
      <p:graphicFrame>
        <p:nvGraphicFramePr>
          <p:cNvPr id="24" name=""/>
          <p:cNvGraphicFramePr/>
          <p:nvPr/>
        </p:nvGraphicFramePr>
        <p:xfrm>
          <a:off xmlns:a="http://schemas.openxmlformats.org/drawingml/2006/main" x="523875" y="1276350"/>
          <a:ext xmlns:a="http://schemas.openxmlformats.org/drawingml/2006/main" cx="11144250" cy="2428875"/>
        </p:xfrm>
        <a:graphic xmlns:a="http://schemas.openxmlformats.org/drawingml/2006/main">
          <a:graphicData uri="http://schemas.openxmlformats.org/drawingml/2006/table">
            <a:tbl>
              <a:tblPr/>
              <a:tblGrid>
                <a:gridCol w="857250"/>
                <a:gridCol w="1285875"/>
                <a:gridCol w="1285875"/>
                <a:gridCol w="2428875"/>
                <a:gridCol w="2095500"/>
                <a:gridCol w="3190875"/>
              </a:tblGrid>
              <a:tr h="607219">
                <a:tc>
                  <a:txBody>
                    <a:bodyPr/>
                    <a:lstStyle/>
                    <a:p>
                      <a:r>
                        <a:rPr sz="1200" b="1">
                          <a:solidFill>
                            <a:srgbClr val="FFFFFF"/>
                          </a:solidFill>
                          <a:latin typeface="Yu Gothic"/>
                          <a:ea typeface="Yu Gothic"/>
                          <a:cs typeface="Yu Gothic"/>
                        </a:rPr>
                        <a:t>round</a:t>
                      </a:r>
                    </a:p>
                  </a:txBody>
                  <a:tcPr marL="91440" marR="91440" marT="45720" marB="45720"/>
                </a:tc>
                <a:tc>
                  <a:txBody>
                    <a:bodyPr/>
                    <a:lstStyle/>
                    <a:p>
                      <a:r>
                        <a:rPr sz="1200" b="1">
                          <a:solidFill>
                            <a:srgbClr val="FFFFFF"/>
                          </a:solidFill>
                          <a:latin typeface="Yu Gothic"/>
                          <a:ea typeface="Yu Gothic"/>
                          <a:cs typeface="Yu Gothic"/>
                        </a:rPr>
                        <a:t>入力 M_G</a:t>
                      </a:r>
                    </a:p>
                  </a:txBody>
                  <a:tcPr marL="91440" marR="91440" marT="45720" marB="45720"/>
                </a:tc>
                <a:tc>
                  <a:txBody>
                    <a:bodyPr/>
                    <a:lstStyle/>
                    <a:p>
                      <a:r>
                        <a:rPr sz="1200" b="1">
                          <a:solidFill>
                            <a:srgbClr val="FFFFFF"/>
                          </a:solidFill>
                          <a:latin typeface="Yu Gothic"/>
                          <a:ea typeface="Yu Gothic"/>
                          <a:cs typeface="Yu Gothic"/>
                        </a:rPr>
                        <a:t>出力 M_G</a:t>
                      </a:r>
                    </a:p>
                  </a:txBody>
                  <a:tcPr marL="91440" marR="91440" marT="45720" marB="45720"/>
                </a:tc>
                <a:tc>
                  <a:txBody>
                    <a:bodyPr/>
                    <a:lstStyle/>
                    <a:p>
                      <a:r>
                        <a:rPr sz="1200" b="1">
                          <a:solidFill>
                            <a:srgbClr val="FFFFFF"/>
                          </a:solidFill>
                          <a:latin typeface="Yu Gothic"/>
                          <a:ea typeface="Yu Gothic"/>
                          <a:cs typeface="Yu Gothic"/>
                        </a:rPr>
                        <a:t>client LoRA update norm</a:t>
                      </a:r>
                    </a:p>
                  </a:txBody>
                  <a:tcPr marL="91440" marR="91440" marT="45720" marB="45720"/>
                </a:tc>
                <a:tc>
                  <a:txBody>
                    <a:bodyPr/>
                    <a:lstStyle/>
                    <a:p>
                      <a:r>
                        <a:rPr sz="1200" b="1">
                          <a:solidFill>
                            <a:srgbClr val="FFFFFF"/>
                          </a:solidFill>
                          <a:latin typeface="Yu Gothic"/>
                          <a:ea typeface="Yu Gothic"/>
                          <a:cs typeface="Yu Gothic"/>
                        </a:rPr>
                        <a:t>FedAvg再計算差</a:t>
                      </a:r>
                    </a:p>
                  </a:txBody>
                  <a:tcPr marL="91440" marR="91440" marT="45720" marB="45720"/>
                </a:tc>
                <a:tc>
                  <a:txBody>
                    <a:bodyPr/>
                    <a:lstStyle/>
                    <a:p>
                      <a:r>
                        <a:rPr sz="1200" b="1">
                          <a:solidFill>
                            <a:srgbClr val="FFFFFF"/>
                          </a:solidFill>
                          <a:latin typeface="Yu Gothic"/>
                          <a:ea typeface="Yu Gothic"/>
                          <a:cs typeface="Yu Gothic"/>
                        </a:rPr>
                        <a:t>各roundの4 pair上の加重KL</a:t>
                      </a:r>
                    </a:p>
                  </a:txBody>
                  <a:tcPr marL="91440" marR="91440" marT="45720" marB="45720"/>
                </a:tc>
              </a:tr>
              <a:tr h="607219">
                <a:tc>
                  <a:txBody>
                    <a:bodyPr/>
                    <a:lstStyle/>
                    <a:p>
                      <a:r>
                        <a:rPr sz="1350" b="0">
                          <a:solidFill>
                            <a:srgbClr val="26373D"/>
                          </a:solidFill>
                          <a:latin typeface="Yu Gothic"/>
                          <a:ea typeface="Yu Gothic"/>
                          <a:cs typeface="Yu Gothic"/>
                        </a:rPr>
                        <a:t>1</a:t>
                      </a:r>
                    </a:p>
                  </a:txBody>
                  <a:tcPr marL="91440" marR="91440" marT="45720" marB="45720"/>
                </a:tc>
                <a:tc>
                  <a:txBody>
                    <a:bodyPr/>
                    <a:lstStyle/>
                    <a:p>
                      <a:r>
                        <a:rPr sz="1350" b="0">
                          <a:solidFill>
                            <a:srgbClr val="26373D"/>
                          </a:solidFill>
                          <a:latin typeface="Yu Gothic"/>
                          <a:ea typeface="Yu Gothic"/>
                          <a:cs typeface="Yu Gothic"/>
                        </a:rPr>
                        <a:t>M_G^0</a:t>
                      </a:r>
                    </a:p>
                  </a:txBody>
                  <a:tcPr marL="91440" marR="91440" marT="45720" marB="45720"/>
                </a:tc>
                <a:tc>
                  <a:txBody>
                    <a:bodyPr/>
                    <a:lstStyle/>
                    <a:p>
                      <a:r>
                        <a:rPr sz="1350" b="0">
                          <a:solidFill>
                            <a:srgbClr val="26373D"/>
                          </a:solidFill>
                          <a:latin typeface="Yu Gothic"/>
                          <a:ea typeface="Yu Gothic"/>
                          <a:cs typeface="Yu Gothic"/>
                        </a:rPr>
                        <a:t>M_G^1</a:t>
                      </a:r>
                    </a:p>
                  </a:txBody>
                  <a:tcPr marL="91440" marR="91440" marT="45720" marB="45720"/>
                </a:tc>
                <a:tc>
                  <a:txBody>
                    <a:bodyPr/>
                    <a:lstStyle/>
                    <a:p>
                      <a:r>
                        <a:rPr sz="1350" b="0">
                          <a:solidFill>
                            <a:srgbClr val="26373D"/>
                          </a:solidFill>
                          <a:latin typeface="Yu Gothic"/>
                          <a:ea typeface="Yu Gothic"/>
                          <a:cs typeface="Yu Gothic"/>
                        </a:rPr>
                        <a:t>0.346 / 0.292</a:t>
                      </a:r>
                    </a:p>
                  </a:txBody>
                  <a:tcPr marL="91440" marR="91440" marT="45720" marB="45720"/>
                </a:tc>
                <a:tc>
                  <a:txBody>
                    <a:bodyPr/>
                    <a:lstStyle/>
                    <a:p>
                      <a:r>
                        <a:rPr sz="1350" b="0">
                          <a:solidFill>
                            <a:srgbClr val="26373D"/>
                          </a:solidFill>
                          <a:latin typeface="Yu Gothic"/>
                          <a:ea typeface="Yu Gothic"/>
                          <a:cs typeface="Yu Gothic"/>
                        </a:rPr>
                        <a:t>5.82 × 10^-11</a:t>
                      </a:r>
                    </a:p>
                  </a:txBody>
                  <a:tcPr marL="91440" marR="91440" marT="45720" marB="45720"/>
                </a:tc>
                <a:tc>
                  <a:txBody>
                    <a:bodyPr/>
                    <a:lstStyle/>
                    <a:p>
                      <a:r>
                        <a:rPr sz="1350" b="0">
                          <a:solidFill>
                            <a:srgbClr val="26373D"/>
                          </a:solidFill>
                          <a:latin typeface="Yu Gothic"/>
                          <a:ea typeface="Yu Gothic"/>
                          <a:cs typeface="Yu Gothic"/>
                        </a:rPr>
                        <a:t>0.0540 から 0.0534</a:t>
                      </a:r>
                    </a:p>
                  </a:txBody>
                  <a:tcPr marL="91440" marR="91440" marT="45720" marB="45720"/>
                </a:tc>
              </a:tr>
              <a:tr h="607219">
                <a:tc>
                  <a:txBody>
                    <a:bodyPr/>
                    <a:lstStyle/>
                    <a:p>
                      <a:r>
                        <a:rPr sz="1350" b="0">
                          <a:solidFill>
                            <a:srgbClr val="26373D"/>
                          </a:solidFill>
                          <a:latin typeface="Yu Gothic"/>
                          <a:ea typeface="Yu Gothic"/>
                          <a:cs typeface="Yu Gothic"/>
                        </a:rPr>
                        <a:t>2</a:t>
                      </a:r>
                    </a:p>
                  </a:txBody>
                  <a:tcPr marL="91440" marR="91440" marT="45720" marB="45720"/>
                </a:tc>
                <a:tc>
                  <a:txBody>
                    <a:bodyPr/>
                    <a:lstStyle/>
                    <a:p>
                      <a:r>
                        <a:rPr sz="1350" b="0">
                          <a:solidFill>
                            <a:srgbClr val="26373D"/>
                          </a:solidFill>
                          <a:latin typeface="Yu Gothic"/>
                          <a:ea typeface="Yu Gothic"/>
                          <a:cs typeface="Yu Gothic"/>
                        </a:rPr>
                        <a:t>M_G^1</a:t>
                      </a:r>
                    </a:p>
                  </a:txBody>
                  <a:tcPr marL="91440" marR="91440" marT="45720" marB="45720"/>
                </a:tc>
                <a:tc>
                  <a:txBody>
                    <a:bodyPr/>
                    <a:lstStyle/>
                    <a:p>
                      <a:r>
                        <a:rPr sz="1350" b="0">
                          <a:solidFill>
                            <a:srgbClr val="26373D"/>
                          </a:solidFill>
                          <a:latin typeface="Yu Gothic"/>
                          <a:ea typeface="Yu Gothic"/>
                          <a:cs typeface="Yu Gothic"/>
                        </a:rPr>
                        <a:t>M_G^2</a:t>
                      </a:r>
                    </a:p>
                  </a:txBody>
                  <a:tcPr marL="91440" marR="91440" marT="45720" marB="45720"/>
                </a:tc>
                <a:tc>
                  <a:txBody>
                    <a:bodyPr/>
                    <a:lstStyle/>
                    <a:p>
                      <a:r>
                        <a:rPr sz="1350" b="0">
                          <a:solidFill>
                            <a:srgbClr val="26373D"/>
                          </a:solidFill>
                          <a:latin typeface="Yu Gothic"/>
                          <a:ea typeface="Yu Gothic"/>
                          <a:cs typeface="Yu Gothic"/>
                        </a:rPr>
                        <a:t>0.323 / 0.280</a:t>
                      </a:r>
                    </a:p>
                  </a:txBody>
                  <a:tcPr marL="91440" marR="91440" marT="45720" marB="45720"/>
                </a:tc>
                <a:tc>
                  <a:txBody>
                    <a:bodyPr/>
                    <a:lstStyle/>
                    <a:p>
                      <a:r>
                        <a:rPr sz="1350" b="0">
                          <a:solidFill>
                            <a:srgbClr val="26373D"/>
                          </a:solidFill>
                          <a:latin typeface="Yu Gothic"/>
                          <a:ea typeface="Yu Gothic"/>
                          <a:cs typeface="Yu Gothic"/>
                        </a:rPr>
                        <a:t>5.82 × 10^-11</a:t>
                      </a:r>
                    </a:p>
                  </a:txBody>
                  <a:tcPr marL="91440" marR="91440" marT="45720" marB="45720"/>
                </a:tc>
                <a:tc>
                  <a:txBody>
                    <a:bodyPr/>
                    <a:lstStyle/>
                    <a:p>
                      <a:r>
                        <a:rPr sz="1350" b="0">
                          <a:solidFill>
                            <a:srgbClr val="26373D"/>
                          </a:solidFill>
                          <a:latin typeface="Yu Gothic"/>
                          <a:ea typeface="Yu Gothic"/>
                          <a:cs typeface="Yu Gothic"/>
                        </a:rPr>
                        <a:t>18.478 から 18.339</a:t>
                      </a:r>
                    </a:p>
                  </a:txBody>
                  <a:tcPr marL="91440" marR="91440" marT="45720" marB="45720"/>
                </a:tc>
              </a:tr>
              <a:tr h="607219">
                <a:tc>
                  <a:txBody>
                    <a:bodyPr/>
                    <a:lstStyle/>
                    <a:p>
                      <a:r>
                        <a:rPr sz="1350" b="0">
                          <a:solidFill>
                            <a:srgbClr val="26373D"/>
                          </a:solidFill>
                          <a:latin typeface="Yu Gothic"/>
                          <a:ea typeface="Yu Gothic"/>
                          <a:cs typeface="Yu Gothic"/>
                        </a:rPr>
                        <a:t>3</a:t>
                      </a:r>
                    </a:p>
                  </a:txBody>
                  <a:tcPr marL="91440" marR="91440" marT="45720" marB="45720"/>
                </a:tc>
                <a:tc>
                  <a:txBody>
                    <a:bodyPr/>
                    <a:lstStyle/>
                    <a:p>
                      <a:r>
                        <a:rPr sz="1350" b="0">
                          <a:solidFill>
                            <a:srgbClr val="26373D"/>
                          </a:solidFill>
                          <a:latin typeface="Yu Gothic"/>
                          <a:ea typeface="Yu Gothic"/>
                          <a:cs typeface="Yu Gothic"/>
                        </a:rPr>
                        <a:t>M_G^2</a:t>
                      </a:r>
                    </a:p>
                  </a:txBody>
                  <a:tcPr marL="91440" marR="91440" marT="45720" marB="45720"/>
                </a:tc>
                <a:tc>
                  <a:txBody>
                    <a:bodyPr/>
                    <a:lstStyle/>
                    <a:p>
                      <a:r>
                        <a:rPr sz="1350" b="0">
                          <a:solidFill>
                            <a:srgbClr val="26373D"/>
                          </a:solidFill>
                          <a:latin typeface="Yu Gothic"/>
                          <a:ea typeface="Yu Gothic"/>
                          <a:cs typeface="Yu Gothic"/>
                        </a:rPr>
                        <a:t>M_G^3</a:t>
                      </a:r>
                    </a:p>
                  </a:txBody>
                  <a:tcPr marL="91440" marR="91440" marT="45720" marB="45720"/>
                </a:tc>
                <a:tc>
                  <a:txBody>
                    <a:bodyPr/>
                    <a:lstStyle/>
                    <a:p>
                      <a:r>
                        <a:rPr sz="1350" b="0">
                          <a:solidFill>
                            <a:srgbClr val="26373D"/>
                          </a:solidFill>
                          <a:latin typeface="Yu Gothic"/>
                          <a:ea typeface="Yu Gothic"/>
                          <a:cs typeface="Yu Gothic"/>
                        </a:rPr>
                        <a:t>0.320 / 0.280</a:t>
                      </a:r>
                    </a:p>
                  </a:txBody>
                  <a:tcPr marL="91440" marR="91440" marT="45720" marB="45720"/>
                </a:tc>
                <a:tc>
                  <a:txBody>
                    <a:bodyPr/>
                    <a:lstStyle/>
                    <a:p>
                      <a:r>
                        <a:rPr sz="1350" b="0">
                          <a:solidFill>
                            <a:srgbClr val="26373D"/>
                          </a:solidFill>
                          <a:latin typeface="Yu Gothic"/>
                          <a:ea typeface="Yu Gothic"/>
                          <a:cs typeface="Yu Gothic"/>
                        </a:rPr>
                        <a:t>1.16 × 10^-10</a:t>
                      </a:r>
                    </a:p>
                  </a:txBody>
                  <a:tcPr marL="91440" marR="91440" marT="45720" marB="45720"/>
                </a:tc>
                <a:tc>
                  <a:txBody>
                    <a:bodyPr>
                      <a:normAutofit/>
                    </a:bodyPr>
                    <a:lstStyle/>
                    <a:p>
                      <a:pPr algn="ctr"/>
                      <a:r>
                        <a:rPr sz="1350" b="1">
                          <a:solidFill>
                            <a:srgbClr val="B94A3A"/>
                          </a:solidFill>
                          <a:latin typeface="Yu Gothic"/>
                          <a:ea typeface="Yu Gothic"/>
                          <a:cs typeface="Yu Gothic"/>
                        </a:rPr>
                        <a:t>16.131 から 16.178</a:t>
                      </a:r>
                    </a:p>
                  </a:txBody>
                  <a:tcPr marL="91440" marR="91440" marT="45720" marB="45720" anchor="ctr">
                    <a:solidFill>
                      <a:srgbClr val="F5DFDA"/>
                    </a:solidFill>
                  </a:tcPr>
                </a:tc>
              </a:tr>
            </a:tbl>
          </a:graphicData>
        </a:graphic>
      </p:graphicFrame>
      <p:sp>
        <p:nvSpPr>
          <p:cNvPr id="9" name="">
            <a:extLst xmlns:a="http://schemas.openxmlformats.org/drawingml/2006/main">
              <a:ext uri="{FF2B5EF4-FFF2-40B4-BE49-F238E27FC236}">
                <a16:creationId xmlns:a16="http://schemas.microsoft.com/office/drawing/2014/main" id="{F2DDDA72-1D4B-464D-83DE-D9CBE0F433BD}"/>
              </a:ext>
            </a:extLst>
          </p:cNvPr>
          <p:cNvSpPr>
            <a:spLocks xmlns:a="http://schemas.openxmlformats.org/drawingml/2006/main" noGrp="1"/>
          </p:cNvSpPr>
          <p:nvPr/>
        </p:nvSpPr>
        <p:spPr>
          <a:xfrm xmlns:a="http://schemas.openxmlformats.org/drawingml/2006/main">
            <a:off x="1143000" y="379095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17078"/>
                </a:solidFill>
                <a:latin typeface="Yu Gothic"/>
                <a:ea typeface="Yu Gothic"/>
                <a:cs typeface="Yu Gothic"/>
              </a:defRPr>
            </a:pPr>
            <a:r>
              <a:rPr sz="1200" b="0">
                <a:solidFill>
                  <a:srgbClr val="617078"/>
                </a:solidFill>
                <a:latin typeface="Yu Gothic"/>
                <a:ea typeface="Yu Gothic"/>
                <a:cs typeface="Yu Gothic"/>
              </a:rPr>
              <a:t>各roundでpairが異なるため、KLをround間の性能trendとして比較しない</a:t>
            </a:r>
          </a:p>
        </p:txBody>
      </p:sp>
      <p:sp>
        <p:nvSpPr>
          <p:cNvPr id="10" name="">
            <a:extLst xmlns:a="http://schemas.openxmlformats.org/drawingml/2006/main">
              <a:ext uri="{FF2B5EF4-FFF2-40B4-BE49-F238E27FC236}">
                <a16:creationId xmlns:a16="http://schemas.microsoft.com/office/drawing/2014/main" id="{8A7FBA56-C219-4F46-B723-E4533D2C467B}"/>
              </a:ext>
            </a:extLst>
          </p:cNvPr>
          <p:cNvSpPr>
            <a:spLocks xmlns:a="http://schemas.openxmlformats.org/drawingml/2006/main" noGrp="1"/>
          </p:cNvSpPr>
          <p:nvPr/>
        </p:nvSpPr>
        <p:spPr>
          <a:xfrm xmlns:a="http://schemas.openxmlformats.org/drawingml/2006/main">
            <a:off x="666750" y="4095750"/>
            <a:ext cx="5000625" cy="135255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473D78B-98DE-4F68-84E0-6261B9D41564}"/>
              </a:ext>
            </a:extLst>
          </p:cNvPr>
          <p:cNvSpPr>
            <a:spLocks xmlns:a="http://schemas.openxmlformats.org/drawingml/2006/main" noGrp="1"/>
          </p:cNvSpPr>
          <p:nvPr/>
        </p:nvSpPr>
        <p:spPr>
          <a:xfrm xmlns:a="http://schemas.openxmlformats.org/drawingml/2006/main">
            <a:off x="914400" y="42862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47B78"/>
                </a:solidFill>
                <a:latin typeface="Yu Gothic"/>
                <a:ea typeface="Yu Gothic"/>
                <a:cs typeface="Yu Gothic"/>
              </a:defRPr>
            </a:pPr>
            <a:r>
              <a:rPr sz="1650" b="1">
                <a:solidFill>
                  <a:srgbClr val="147B78"/>
                </a:solidFill>
                <a:latin typeface="Yu Gothic"/>
                <a:ea typeface="Yu Gothic"/>
                <a:cs typeface="Yu Gothic"/>
              </a:rPr>
              <a:t>確認できたこと</a:t>
            </a:r>
          </a:p>
        </p:txBody>
      </p:sp>
      <p:sp>
        <p:nvSpPr>
          <p:cNvPr id="12" name="">
            <a:extLst xmlns:a="http://schemas.openxmlformats.org/drawingml/2006/main">
              <a:ext uri="{FF2B5EF4-FFF2-40B4-BE49-F238E27FC236}">
                <a16:creationId xmlns:a16="http://schemas.microsoft.com/office/drawing/2014/main" id="{81B579E9-98C9-4975-B84E-EB1DB381D03E}"/>
              </a:ext>
            </a:extLst>
          </p:cNvPr>
          <p:cNvSpPr>
            <a:spLocks xmlns:a="http://schemas.openxmlformats.org/drawingml/2006/main" noGrp="1"/>
          </p:cNvSpPr>
          <p:nvPr/>
        </p:nvSpPr>
        <p:spPr>
          <a:xfrm xmlns:a="http://schemas.openxmlformats.org/drawingml/2006/main">
            <a:off x="914400" y="4686300"/>
            <a:ext cx="4429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2011"/>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M_G^0 から M_G^3まで更新し、round間のcheckpointとtensor digestが一致。各client更新とFedAvgを再計算できた。</a:t>
            </a:r>
          </a:p>
        </p:txBody>
      </p:sp>
      <p:sp>
        <p:nvSpPr>
          <p:cNvPr id="13" name="">
            <a:extLst xmlns:a="http://schemas.openxmlformats.org/drawingml/2006/main">
              <a:ext uri="{FF2B5EF4-FFF2-40B4-BE49-F238E27FC236}">
                <a16:creationId xmlns:a16="http://schemas.microsoft.com/office/drawing/2014/main" id="{B8339671-B242-406C-B19E-31F3CD09D498}"/>
              </a:ext>
            </a:extLst>
          </p:cNvPr>
          <p:cNvSpPr>
            <a:spLocks xmlns:a="http://schemas.openxmlformats.org/drawingml/2006/main" noGrp="1"/>
          </p:cNvSpPr>
          <p:nvPr/>
        </p:nvSpPr>
        <p:spPr>
          <a:xfrm xmlns:a="http://schemas.openxmlformats.org/drawingml/2006/main">
            <a:off x="5953125" y="4095750"/>
            <a:ext cx="5572125" cy="135255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1A2C3D3-55C2-414B-9215-D607A1E27A16}"/>
              </a:ext>
            </a:extLst>
          </p:cNvPr>
          <p:cNvSpPr>
            <a:spLocks xmlns:a="http://schemas.openxmlformats.org/drawingml/2006/main" noGrp="1"/>
          </p:cNvSpPr>
          <p:nvPr/>
        </p:nvSpPr>
        <p:spPr>
          <a:xfrm xmlns:a="http://schemas.openxmlformats.org/drawingml/2006/main">
            <a:off x="6210300" y="4286250"/>
            <a:ext cx="504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E7833D"/>
                </a:solidFill>
                <a:latin typeface="Yu Gothic"/>
                <a:ea typeface="Yu Gothic"/>
                <a:cs typeface="Yu Gothic"/>
              </a:defRPr>
            </a:pPr>
            <a:r>
              <a:rPr sz="1650" b="1">
                <a:solidFill>
                  <a:srgbClr val="E7833D"/>
                </a:solidFill>
                <a:latin typeface="Yu Gothic"/>
                <a:ea typeface="Yu Gothic"/>
                <a:cs typeface="Yu Gothic"/>
              </a:rPr>
              <a:t>残った問題</a:t>
            </a:r>
          </a:p>
        </p:txBody>
      </p:sp>
      <p:sp>
        <p:nvSpPr>
          <p:cNvPr id="15" name="">
            <a:extLst xmlns:a="http://schemas.openxmlformats.org/drawingml/2006/main">
              <a:ext uri="{FF2B5EF4-FFF2-40B4-BE49-F238E27FC236}">
                <a16:creationId xmlns:a16="http://schemas.microsoft.com/office/drawing/2014/main" id="{CB362905-41F7-425E-8D16-72CE79A00CD0}"/>
              </a:ext>
            </a:extLst>
          </p:cNvPr>
          <p:cNvSpPr>
            <a:spLocks xmlns:a="http://schemas.openxmlformats.org/drawingml/2006/main" noGrp="1"/>
          </p:cNvSpPr>
          <p:nvPr/>
        </p:nvSpPr>
        <p:spPr>
          <a:xfrm xmlns:a="http://schemas.openxmlformats.org/drawingml/2006/main">
            <a:off x="6210300" y="4686300"/>
            <a:ext cx="5000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2011"/>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round 3は加重KLを減らす条件を満たせず、実行確認として更新した。処理は動いたが、安定したfoundation更新とは言えない。</a:t>
            </a:r>
          </a:p>
        </p:txBody>
      </p:sp>
      <p:sp>
        <p:nvSpPr>
          <p:cNvPr id="16" name="">
            <a:extLst xmlns:a="http://schemas.openxmlformats.org/drawingml/2006/main">
              <a:ext uri="{FF2B5EF4-FFF2-40B4-BE49-F238E27FC236}">
                <a16:creationId xmlns:a16="http://schemas.microsoft.com/office/drawing/2014/main" id="{CB0131B2-0FF9-40CC-A5F4-AEFA2DAF37A6}"/>
              </a:ext>
            </a:extLst>
          </p:cNvPr>
          <p:cNvSpPr>
            <a:spLocks xmlns:a="http://schemas.openxmlformats.org/drawingml/2006/main" noGrp="1"/>
          </p:cNvSpPr>
          <p:nvPr/>
        </p:nvSpPr>
        <p:spPr>
          <a:xfrm xmlns:a="http://schemas.openxmlformats.org/drawingml/2006/main">
            <a:off x="952500" y="5848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B94A3A"/>
                </a:solidFill>
                <a:latin typeface="Yu Gothic"/>
                <a:ea typeface="Yu Gothic"/>
                <a:cs typeface="Yu Gothic"/>
              </a:defRPr>
            </a:pPr>
            <a:r>
              <a:rPr sz="1650" b="1">
                <a:solidFill>
                  <a:srgbClr val="B94A3A"/>
                </a:solidFill>
                <a:latin typeface="Yu Gothic"/>
                <a:ea typeface="Yu Gothic"/>
                <a:cs typeface="Yu Gothic"/>
              </a:rPr>
              <a:t>この結果から性能向上、proxy品質、未知データへの転移、形式的privacy保証は主張しない</a:t>
            </a:r>
          </a:p>
        </p:txBody>
      </p:sp>
    </p:spTree>
    <p:extLst>
      <p:ext uri="{BB962C8B-B14F-4D97-AF65-F5344CB8AC3E}">
        <p14:creationId xmlns:p14="http://schemas.microsoft.com/office/powerpoint/2010/main" val="70435670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C2A9856-8892-499F-B9B1-8F04E77754B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7355F0D-2F8D-47EB-AEFF-A634E7D1785C}"/>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7F92A09-3672-4D8E-94F6-D2794243D15D}"/>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今後：5 roundの前に、失敗箇所を切り分ける</a:t>
            </a:r>
          </a:p>
        </p:txBody>
      </p:sp>
      <p:sp>
        <p:nvSpPr>
          <p:cNvPr id="4" name="">
            <a:extLst xmlns:a="http://schemas.openxmlformats.org/drawingml/2006/main">
              <a:ext uri="{FF2B5EF4-FFF2-40B4-BE49-F238E27FC236}">
                <a16:creationId xmlns:a16="http://schemas.microsoft.com/office/drawing/2014/main" id="{D1ABCCA0-9DA1-4465-A03B-FD969A4BD678}"/>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10</a:t>
            </a:r>
          </a:p>
        </p:txBody>
      </p:sp>
      <p:sp>
        <p:nvSpPr>
          <p:cNvPr id="5" name="">
            <a:extLst xmlns:a="http://schemas.openxmlformats.org/drawingml/2006/main">
              <a:ext uri="{FF2B5EF4-FFF2-40B4-BE49-F238E27FC236}">
                <a16:creationId xmlns:a16="http://schemas.microsoft.com/office/drawing/2014/main" id="{4372F1D9-C05B-4C1B-97DA-ECA1F0658F2F}"/>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B98F548-96F3-4076-A89A-2097CBFEF924}"/>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105CFB21-4C7A-4A32-B54E-FE4CCD28B62F}"/>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10 / 10</a:t>
            </a:r>
          </a:p>
        </p:txBody>
      </p:sp>
      <p:sp>
        <p:nvSpPr>
          <p:cNvPr id="8" name="">
            <a:extLst xmlns:a="http://schemas.openxmlformats.org/drawingml/2006/main">
              <a:ext uri="{FF2B5EF4-FFF2-40B4-BE49-F238E27FC236}">
                <a16:creationId xmlns:a16="http://schemas.microsoft.com/office/drawing/2014/main" id="{604E85ED-B6F0-4B80-9DBD-D96B84E97F88}"/>
              </a:ext>
            </a:extLst>
          </p:cNvPr>
          <p:cNvSpPr>
            <a:spLocks xmlns:a="http://schemas.openxmlformats.org/drawingml/2006/main" noGrp="1"/>
          </p:cNvSpPr>
          <p:nvPr/>
        </p:nvSpPr>
        <p:spPr>
          <a:xfrm xmlns:a="http://schemas.openxmlformats.org/drawingml/2006/main">
            <a:off x="723900" y="1200150"/>
            <a:ext cx="571500" cy="571500"/>
          </a:xfrm>
          <a:prstGeom xmlns:a="http://schemas.openxmlformats.org/drawingml/2006/main" prst="rect">
            <a:avLst/>
          </a:prstGeom>
          <a:solidFill xmlns:a="http://schemas.openxmlformats.org/drawingml/2006/main">
            <a:srgbClr val="B94A3A"/>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550" b="1">
                <a:solidFill>
                  <a:srgbClr val="FFFFFF"/>
                </a:solidFill>
                <a:latin typeface="Yu Gothic"/>
                <a:ea typeface="Yu Gothic"/>
                <a:cs typeface="Yu Gothic"/>
              </a:defRPr>
            </a:pPr>
            <a:r>
              <a:rPr sz="2550" b="1">
                <a:solidFill>
                  <a:srgbClr val="FFFFFF"/>
                </a:solidFill>
                <a:latin typeface="Yu Gothic"/>
                <a:ea typeface="Yu Gothic"/>
                <a:cs typeface="Yu Gothic"/>
              </a:rPr>
              <a:t>1</a:t>
            </a:r>
          </a:p>
        </p:txBody>
      </p:sp>
      <p:sp>
        <p:nvSpPr>
          <p:cNvPr id="9" name="">
            <a:extLst xmlns:a="http://schemas.openxmlformats.org/drawingml/2006/main">
              <a:ext uri="{FF2B5EF4-FFF2-40B4-BE49-F238E27FC236}">
                <a16:creationId xmlns:a16="http://schemas.microsoft.com/office/drawing/2014/main" id="{D3A51AF5-228C-433E-9384-403F1AB565AD}"/>
              </a:ext>
            </a:extLst>
          </p:cNvPr>
          <p:cNvSpPr>
            <a:spLocks xmlns:a="http://schemas.openxmlformats.org/drawingml/2006/main" noGrp="1"/>
          </p:cNvSpPr>
          <p:nvPr/>
        </p:nvSpPr>
        <p:spPr>
          <a:xfrm xmlns:a="http://schemas.openxmlformats.org/drawingml/2006/main">
            <a:off x="1581150" y="1181100"/>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73B4B"/>
                </a:solidFill>
                <a:latin typeface="Yu Gothic"/>
                <a:ea typeface="Yu Gothic"/>
                <a:cs typeface="Yu Gothic"/>
              </a:defRPr>
            </a:pPr>
            <a:r>
              <a:rPr sz="2025" b="1">
                <a:solidFill>
                  <a:srgbClr val="173B4B"/>
                </a:solidFill>
                <a:latin typeface="Yu Gothic"/>
                <a:ea typeface="Yu Gothic"/>
                <a:cs typeface="Yu Gothic"/>
              </a:rPr>
              <a:t>Layer 3の更新を再確認</a:t>
            </a:r>
          </a:p>
        </p:txBody>
      </p:sp>
      <p:sp>
        <p:nvSpPr>
          <p:cNvPr id="10" name="">
            <a:extLst xmlns:a="http://schemas.openxmlformats.org/drawingml/2006/main">
              <a:ext uri="{FF2B5EF4-FFF2-40B4-BE49-F238E27FC236}">
                <a16:creationId xmlns:a16="http://schemas.microsoft.com/office/drawing/2014/main" id="{6C43C9F8-B220-4ABE-9918-2D03E85BD9FC}"/>
              </a:ext>
            </a:extLst>
          </p:cNvPr>
          <p:cNvSpPr>
            <a:spLocks xmlns:a="http://schemas.openxmlformats.org/drawingml/2006/main" noGrp="1"/>
          </p:cNvSpPr>
          <p:nvPr/>
        </p:nvSpPr>
        <p:spPr>
          <a:xfrm xmlns:a="http://schemas.openxmlformats.org/drawingml/2006/main">
            <a:off x="1581150" y="1647825"/>
            <a:ext cx="9334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同じ4 pairと同じ損失で、gradient、重み、FP32計算、finite differenceを照合する。十分小さい1回更新で損失が増えないことを合格条件にする。</a:t>
            </a:r>
          </a:p>
        </p:txBody>
      </p:sp>
      <p:sp>
        <p:nvSpPr>
          <p:cNvPr id="11" name="">
            <a:extLst xmlns:a="http://schemas.openxmlformats.org/drawingml/2006/main">
              <a:ext uri="{FF2B5EF4-FFF2-40B4-BE49-F238E27FC236}">
                <a16:creationId xmlns:a16="http://schemas.microsoft.com/office/drawing/2014/main" id="{7E544B12-13CB-4BD8-8DA8-610AB89E7668}"/>
              </a:ext>
            </a:extLst>
          </p:cNvPr>
          <p:cNvSpPr>
            <a:spLocks xmlns:a="http://schemas.openxmlformats.org/drawingml/2006/main" noGrp="1"/>
          </p:cNvSpPr>
          <p:nvPr/>
        </p:nvSpPr>
        <p:spPr>
          <a:xfrm xmlns:a="http://schemas.openxmlformats.org/drawingml/2006/main">
            <a:off x="1581150" y="2476500"/>
            <a:ext cx="95250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2E14DA0-0B5E-43C9-995D-C63F3489E6E1}"/>
              </a:ext>
            </a:extLst>
          </p:cNvPr>
          <p:cNvSpPr>
            <a:spLocks xmlns:a="http://schemas.openxmlformats.org/drawingml/2006/main" noGrp="1"/>
          </p:cNvSpPr>
          <p:nvPr/>
        </p:nvSpPr>
        <p:spPr>
          <a:xfrm xmlns:a="http://schemas.openxmlformats.org/drawingml/2006/main">
            <a:off x="723900" y="2676525"/>
            <a:ext cx="571500" cy="571500"/>
          </a:xfrm>
          <a:prstGeom xmlns:a="http://schemas.openxmlformats.org/drawingml/2006/main" prst="rect">
            <a:avLst/>
          </a:prstGeom>
          <a:solidFill xmlns:a="http://schemas.openxmlformats.org/drawingml/2006/main">
            <a:srgbClr val="E7833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550" b="1">
                <a:solidFill>
                  <a:srgbClr val="FFFFFF"/>
                </a:solidFill>
                <a:latin typeface="Yu Gothic"/>
                <a:ea typeface="Yu Gothic"/>
                <a:cs typeface="Yu Gothic"/>
              </a:defRPr>
            </a:pPr>
            <a:r>
              <a:rPr sz="2550" b="1">
                <a:solidFill>
                  <a:srgbClr val="FFFFFF"/>
                </a:solidFill>
                <a:latin typeface="Yu Gothic"/>
                <a:ea typeface="Yu Gothic"/>
                <a:cs typeface="Yu Gothic"/>
              </a:rPr>
              <a:t>2</a:t>
            </a:r>
          </a:p>
        </p:txBody>
      </p:sp>
      <p:sp>
        <p:nvSpPr>
          <p:cNvPr id="13" name="">
            <a:extLst xmlns:a="http://schemas.openxmlformats.org/drawingml/2006/main">
              <a:ext uri="{FF2B5EF4-FFF2-40B4-BE49-F238E27FC236}">
                <a16:creationId xmlns:a16="http://schemas.microsoft.com/office/drawing/2014/main" id="{48CA27C3-ECAF-4A60-B7E4-D981B4E1B6E6}"/>
              </a:ext>
            </a:extLst>
          </p:cNvPr>
          <p:cNvSpPr>
            <a:spLocks xmlns:a="http://schemas.openxmlformats.org/drawingml/2006/main" noGrp="1"/>
          </p:cNvSpPr>
          <p:nvPr/>
        </p:nvSpPr>
        <p:spPr>
          <a:xfrm xmlns:a="http://schemas.openxmlformats.org/drawingml/2006/main">
            <a:off x="1581150" y="265747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73B4B"/>
                </a:solidFill>
                <a:latin typeface="Yu Gothic"/>
                <a:ea typeface="Yu Gothic"/>
                <a:cs typeface="Yu Gothic"/>
              </a:defRPr>
            </a:pPr>
            <a:r>
              <a:rPr sz="2025" b="1">
                <a:solidFill>
                  <a:srgbClr val="173B4B"/>
                </a:solidFill>
                <a:latin typeface="Yu Gothic"/>
                <a:ea typeface="Yu Gothic"/>
                <a:cs typeface="Yu Gothic"/>
              </a:rPr>
              <a:t>問題が解消したら5 roundへ</a:t>
            </a:r>
          </a:p>
        </p:txBody>
      </p:sp>
      <p:sp>
        <p:nvSpPr>
          <p:cNvPr id="14" name="">
            <a:extLst xmlns:a="http://schemas.openxmlformats.org/drawingml/2006/main">
              <a:ext uri="{FF2B5EF4-FFF2-40B4-BE49-F238E27FC236}">
                <a16:creationId xmlns:a16="http://schemas.microsoft.com/office/drawing/2014/main" id="{8B5EAD92-981A-44A5-9B8D-852482F08085}"/>
              </a:ext>
            </a:extLst>
          </p:cNvPr>
          <p:cNvSpPr>
            <a:spLocks xmlns:a="http://schemas.openxmlformats.org/drawingml/2006/main" noGrp="1"/>
          </p:cNvSpPr>
          <p:nvPr/>
        </p:nvSpPr>
        <p:spPr>
          <a:xfrm xmlns:a="http://schemas.openxmlformats.org/drawingml/2006/main">
            <a:off x="1581150" y="3124200"/>
            <a:ext cx="9334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M_Gとfoundationのstate継承、client送信内容、実行時間を同じ形式で保存する。</a:t>
            </a:r>
          </a:p>
        </p:txBody>
      </p:sp>
      <p:sp>
        <p:nvSpPr>
          <p:cNvPr id="15" name="">
            <a:extLst xmlns:a="http://schemas.openxmlformats.org/drawingml/2006/main">
              <a:ext uri="{FF2B5EF4-FFF2-40B4-BE49-F238E27FC236}">
                <a16:creationId xmlns:a16="http://schemas.microsoft.com/office/drawing/2014/main" id="{3F92D344-EE0A-4F92-A6F1-BFB5B0337B09}"/>
              </a:ext>
            </a:extLst>
          </p:cNvPr>
          <p:cNvSpPr>
            <a:spLocks xmlns:a="http://schemas.openxmlformats.org/drawingml/2006/main" noGrp="1"/>
          </p:cNvSpPr>
          <p:nvPr/>
        </p:nvSpPr>
        <p:spPr>
          <a:xfrm xmlns:a="http://schemas.openxmlformats.org/drawingml/2006/main">
            <a:off x="1581150" y="3952875"/>
            <a:ext cx="95250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FD950D0-9588-4F18-AC7F-54D2B2FBAF78}"/>
              </a:ext>
            </a:extLst>
          </p:cNvPr>
          <p:cNvSpPr>
            <a:spLocks xmlns:a="http://schemas.openxmlformats.org/drawingml/2006/main" noGrp="1"/>
          </p:cNvSpPr>
          <p:nvPr/>
        </p:nvSpPr>
        <p:spPr>
          <a:xfrm xmlns:a="http://schemas.openxmlformats.org/drawingml/2006/main">
            <a:off x="723900" y="4152900"/>
            <a:ext cx="571500" cy="571500"/>
          </a:xfrm>
          <a:prstGeom xmlns:a="http://schemas.openxmlformats.org/drawingml/2006/main" prst="rect">
            <a:avLst/>
          </a:prstGeom>
          <a:solidFill xmlns:a="http://schemas.openxmlformats.org/drawingml/2006/main">
            <a:srgbClr val="147B78"/>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550" b="1">
                <a:solidFill>
                  <a:srgbClr val="FFFFFF"/>
                </a:solidFill>
                <a:latin typeface="Yu Gothic"/>
                <a:ea typeface="Yu Gothic"/>
                <a:cs typeface="Yu Gothic"/>
              </a:defRPr>
            </a:pPr>
            <a:r>
              <a:rPr sz="2550" b="1">
                <a:solidFill>
                  <a:srgbClr val="FFFFFF"/>
                </a:solidFill>
                <a:latin typeface="Yu Gothic"/>
                <a:ea typeface="Yu Gothic"/>
                <a:cs typeface="Yu Gothic"/>
              </a:rPr>
              <a:t>3</a:t>
            </a:r>
          </a:p>
        </p:txBody>
      </p:sp>
      <p:sp>
        <p:nvSpPr>
          <p:cNvPr id="17" name="">
            <a:extLst xmlns:a="http://schemas.openxmlformats.org/drawingml/2006/main">
              <a:ext uri="{FF2B5EF4-FFF2-40B4-BE49-F238E27FC236}">
                <a16:creationId xmlns:a16="http://schemas.microsoft.com/office/drawing/2014/main" id="{EB61C79C-5AE0-4BD5-B6A7-CE8BF014A8E8}"/>
              </a:ext>
            </a:extLst>
          </p:cNvPr>
          <p:cNvSpPr>
            <a:spLocks xmlns:a="http://schemas.openxmlformats.org/drawingml/2006/main" noGrp="1"/>
          </p:cNvSpPr>
          <p:nvPr/>
        </p:nvSpPr>
        <p:spPr>
          <a:xfrm xmlns:a="http://schemas.openxmlformats.org/drawingml/2006/main">
            <a:off x="1581150" y="4133850"/>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73B4B"/>
                </a:solidFill>
                <a:latin typeface="Yu Gothic"/>
                <a:ea typeface="Yu Gothic"/>
                <a:cs typeface="Yu Gothic"/>
              </a:defRPr>
            </a:pPr>
            <a:r>
              <a:rPr sz="2025" b="1">
                <a:solidFill>
                  <a:srgbClr val="173B4B"/>
                </a:solidFill>
                <a:latin typeface="Yu Gothic"/>
                <a:ea typeface="Yu Gothic"/>
                <a:cs typeface="Yu Gothic"/>
              </a:rPr>
              <a:t>第II段階でLayer 2を比較</a:t>
            </a:r>
          </a:p>
        </p:txBody>
      </p:sp>
      <p:sp>
        <p:nvSpPr>
          <p:cNvPr id="18" name="">
            <a:extLst xmlns:a="http://schemas.openxmlformats.org/drawingml/2006/main">
              <a:ext uri="{FF2B5EF4-FFF2-40B4-BE49-F238E27FC236}">
                <a16:creationId xmlns:a16="http://schemas.microsoft.com/office/drawing/2014/main" id="{FD44F1AC-859C-4E91-8F5F-AB086134B418}"/>
              </a:ext>
            </a:extLst>
          </p:cNvPr>
          <p:cNvSpPr>
            <a:spLocks xmlns:a="http://schemas.openxmlformats.org/drawingml/2006/main" noGrp="1"/>
          </p:cNvSpPr>
          <p:nvPr/>
        </p:nvSpPr>
        <p:spPr>
          <a:xfrm xmlns:a="http://schemas.openxmlformats.org/drawingml/2006/main">
            <a:off x="1581150" y="4600575"/>
            <a:ext cx="9334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Server Only、Post Only、Post + Deltaを同じ条件で比較し、seed内容、model予測、delta再現を分けて評価する。</a:t>
            </a:r>
          </a:p>
        </p:txBody>
      </p:sp>
      <p:sp>
        <p:nvSpPr>
          <p:cNvPr id="19" name="">
            <a:extLst xmlns:a="http://schemas.openxmlformats.org/drawingml/2006/main">
              <a:ext uri="{FF2B5EF4-FFF2-40B4-BE49-F238E27FC236}">
                <a16:creationId xmlns:a16="http://schemas.microsoft.com/office/drawing/2014/main" id="{4EE7A44C-29CB-472D-9CB5-546B1392D71A}"/>
              </a:ext>
            </a:extLst>
          </p:cNvPr>
          <p:cNvSpPr>
            <a:spLocks xmlns:a="http://schemas.openxmlformats.org/drawingml/2006/main" noGrp="1"/>
          </p:cNvSpPr>
          <p:nvPr/>
        </p:nvSpPr>
        <p:spPr>
          <a:xfrm xmlns:a="http://schemas.openxmlformats.org/drawingml/2006/main">
            <a:off x="666750" y="5686425"/>
            <a:ext cx="10572750" cy="552450"/>
          </a:xfrm>
          <a:prstGeom xmlns:a="http://schemas.openxmlformats.org/drawingml/2006/main" prst="rect">
            <a:avLst/>
          </a:prstGeom>
          <a:solidFill xmlns:a="http://schemas.openxmlformats.org/drawingml/2006/main">
            <a:srgbClr val="173B4B"/>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16FBE29-F20F-410E-B311-FB2468533820}"/>
              </a:ext>
            </a:extLst>
          </p:cNvPr>
          <p:cNvSpPr>
            <a:spLocks xmlns:a="http://schemas.openxmlformats.org/drawingml/2006/main" noGrp="1"/>
          </p:cNvSpPr>
          <p:nvPr/>
        </p:nvSpPr>
        <p:spPr>
          <a:xfrm xmlns:a="http://schemas.openxmlformats.org/drawingml/2006/main">
            <a:off x="914400" y="5819775"/>
            <a:ext cx="10077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7329"/>
          </a:bodyPr>
          <a:lstStyle xmlns:a="http://schemas.openxmlformats.org/drawingml/2006/main"/>
          <a:p xmlns:a="http://schemas.openxmlformats.org/drawingml/2006/main">
            <a:pPr algn="ctr">
              <a:defRPr sz="1650" b="1">
                <a:solidFill>
                  <a:srgbClr val="FFFFFF"/>
                </a:solidFill>
                <a:latin typeface="Yu Gothic"/>
                <a:ea typeface="Yu Gothic"/>
                <a:cs typeface="Yu Gothic"/>
              </a:defRPr>
            </a:pPr>
            <a:r>
              <a:rPr sz="1650" b="1">
                <a:solidFill>
                  <a:srgbClr val="FFFFFF"/>
                </a:solidFill>
                <a:latin typeface="Yu Gothic"/>
                <a:ea typeface="Yu Gothic"/>
                <a:cs typeface="Yu Gothic"/>
              </a:rPr>
              <a:t>次の問い：clientのadaptation signalは、server-side seedだけの場合を超えてfoundation更新へ寄与するか</a:t>
            </a:r>
          </a:p>
        </p:txBody>
      </p:sp>
    </p:spTree>
    <p:extLst>
      <p:ext uri="{BB962C8B-B14F-4D97-AF65-F5344CB8AC3E}">
        <p14:creationId xmlns:p14="http://schemas.microsoft.com/office/powerpoint/2010/main" val="13309757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2026-09-17T12:50:01.7870000Z</dcterms:created>
  <dcterms:modified xsi:type="dcterms:W3CDTF">2026-09-17T12:50:01.7870000Z</dcterms:modified>
</coreProperties>
</file>