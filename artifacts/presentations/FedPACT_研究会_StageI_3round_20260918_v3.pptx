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37d502239b647da" /><Relationship Type="http://schemas.openxmlformats.org/officeDocument/2006/relationships/extended-properties" Target="/docProps/app.xml" Id="Rb690e66c2a474115" /><Relationship Type="http://schemas.openxmlformats.org/officeDocument/2006/relationships/officeDocument" Target="/ppt/presentation.xml" Id="Ra622b22ad5b24cf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22450c1cc924de8"/>
  </p:sldMasterIdLst>
  <p:notesMasterIdLst>
    <p:notesMasterId xmlns:r="http://schemas.openxmlformats.org/officeDocument/2006/relationships" r:id="R99c2dcf08bed4ad3"/>
  </p:notesMasterIdLst>
  <p:sldIdLst>
    <p:sldId xmlns:r="http://schemas.openxmlformats.org/officeDocument/2006/relationships" id="256" r:id="R041304b5ef5f4240"/>
    <p:sldId xmlns:r="http://schemas.openxmlformats.org/officeDocument/2006/relationships" id="257" r:id="Rdf76f21d671e45aa"/>
    <p:sldId xmlns:r="http://schemas.openxmlformats.org/officeDocument/2006/relationships" id="258" r:id="R4327262e7eec4e76"/>
    <p:sldId xmlns:r="http://schemas.openxmlformats.org/officeDocument/2006/relationships" id="259" r:id="R518c60c7cfad423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9d41e0245c24cb0" /><Relationship Type="http://schemas.openxmlformats.org/officeDocument/2006/relationships/slideMaster" Target="/ppt/slideMasters/slideMaster1.xml" Id="R922450c1cc924de8" /><Relationship Type="http://schemas.openxmlformats.org/officeDocument/2006/relationships/notesMaster" Target="/ppt/notesMasters/notesMaster1.xml" Id="R99c2dcf08bed4ad3" /><Relationship Type="http://schemas.openxmlformats.org/officeDocument/2006/relationships/presProps" Target="/ppt/presProps.xml" Id="R214db7d04f78482a" /><Relationship Type="http://schemas.openxmlformats.org/officeDocument/2006/relationships/tableStyles" Target="/ppt/tableStyles.xml" Id="R7a3294ec46514408" /><Relationship Type="http://schemas.openxmlformats.org/officeDocument/2006/relationships/slide" Target="/ppt/slides/slide1.xml" Id="R041304b5ef5f4240" /><Relationship Type="http://schemas.openxmlformats.org/officeDocument/2006/relationships/slide" Target="/ppt/slides/slide2.xml" Id="Rdf76f21d671e45aa" /><Relationship Type="http://schemas.openxmlformats.org/officeDocument/2006/relationships/slide" Target="/ppt/slides/slide3.xml" Id="R4327262e7eec4e76" /><Relationship Type="http://schemas.openxmlformats.org/officeDocument/2006/relationships/slide" Target="/ppt/slides/slide4.xml" Id="R518c60c7cfad423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12cebde4734443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473cac89f1b4c38" /><Relationship Type="http://schemas.openxmlformats.org/officeDocument/2006/relationships/notesMaster" Target="/ppt/notesMasters/notesMaster1.xml" Id="Rd4cd73af408d4a2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87a7621580940fe" /><Relationship Type="http://schemas.openxmlformats.org/officeDocument/2006/relationships/notesMaster" Target="/ppt/notesMasters/notesMaster1.xml" Id="R4c529ec70b914e3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74ad53e6d584d26" /><Relationship Type="http://schemas.openxmlformats.org/officeDocument/2006/relationships/notesMaster" Target="/ppt/notesMasters/notesMaster1.xml" Id="Rc0d738dad2e64dc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8a45b5996884626" /><Relationship Type="http://schemas.openxmlformats.org/officeDocument/2006/relationships/notesMaster" Target="/ppt/notesMasters/notesMaster1.xml" Id="Ra5e07885b2ea4f7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artifacts/runs/fedpact_stage1/p1d_layer1_20260917_01/client_local/client-0/private_trace.json</a:t>
            </a:r>
          </a:p>
          <a:p xmlns:a="http://schemas.openxmlformats.org/drawingml/2006/main">
            <a:r>
              <a:t>Source images: artifacts/datasets/fedpact_stage1/manifest_paired_alert_quartiles.jsonl</a:t>
            </a:r>
          </a:p>
          <a:p xmlns:a="http://schemas.openxmlformats.org/drawingml/2006/main">
            <a:r>
              <a:t>This slide is a Stage I diagnostic example, not a performance result.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artifacts/runs/fedpact_stage1/p1d_full_20260917_02/server/layer2_trace.json</a:t>
            </a:r>
          </a:p>
          <a:p xmlns:a="http://schemas.openxmlformats.org/drawingml/2006/main">
            <a:r>
              <a:t>Source: artifacts/runs/fedpact_stage1/p1d_full_20260917_02/foundation/layer3_trace.json</a:t>
            </a:r>
          </a:p>
          <a:p xmlns:a="http://schemas.openxmlformats.org/drawingml/2006/main">
            <a:r>
              <a:t>The selected seed ID is server-side trace information. No client private sample ID was transmitted to the server.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artifacts/runs/fedpact_stage1/p1d_full_20260917_02/server/layer2_trace.json</a:t>
            </a:r>
          </a:p>
          <a:p xmlns:a="http://schemas.openxmlformats.org/drawingml/2006/main">
            <a:r>
              <a:t>Source: artifacts/runs/fedpact_stage1/p1d_full_20260917_02/foundation/layer3_trace.json</a:t>
            </a:r>
          </a:p>
          <a:p xmlns:a="http://schemas.openxmlformats.org/drawingml/2006/main">
            <a:r>
              <a:t>The four opposite-label selections are an observed diagnostic fact in one round, not evidence that class constraints improve the method.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artifacts/reports/fedpact_stage1_20260917/three_round_state_lineage.json</a:t>
            </a:r>
          </a:p>
          <a:p xmlns:a="http://schemas.openxmlformats.org/drawingml/2006/main">
            <a:r>
              <a:t>The round-3 strict failure is retained at artifacts/runs/fedpact_stage1/p1d_round3_full_20260917_01.</a:t>
            </a:r>
          </a:p>
          <a:p xmlns:a="http://schemas.openxmlformats.org/drawingml/2006/main">
            <a:r>
              <a:t>The execution-mode pass verifies wiring and a finite non-zero update; it is not an optimization-success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dd6755eb2a43f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4d6ff29ad9e4517" /><Relationship Type="http://schemas.openxmlformats.org/officeDocument/2006/relationships/slideLayout" Target="/ppt/slideLayouts/slideLayout1.xml" Id="Re6cc815cae38458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6cc815cae38458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286395a72a41ec" /><Relationship Type="http://schemas.openxmlformats.org/officeDocument/2006/relationships/image" Target="/ppt/media/image.jpeg" Id="Rfa0ae17748494bc1" /><Relationship Type="http://schemas.openxmlformats.org/officeDocument/2006/relationships/image" Target="/ppt/media/image2.jpeg" Id="R3cbe336ac3d34c0e" /><Relationship Type="http://schemas.openxmlformats.org/officeDocument/2006/relationships/image" Target="/ppt/media/image3.jpeg" Id="R2743fc9ee860439f" /><Relationship Type="http://schemas.openxmlformats.org/officeDocument/2006/relationships/image" Target="/ppt/media/image4.jpeg" Id="R4a18d11cc9b84ae2" /><Relationship Type="http://schemas.openxmlformats.org/officeDocument/2006/relationships/notesSlide" Target="/ppt/notesSlides/notesSlide1.xml" Id="Ree1264ea93fe4f9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606748e1e24470" /><Relationship Type="http://schemas.openxmlformats.org/officeDocument/2006/relationships/image" Target="/ppt/media/image5.jpeg" Id="R26dd8118acd04708" /><Relationship Type="http://schemas.openxmlformats.org/officeDocument/2006/relationships/image" Target="/ppt/media/image6.jpeg" Id="R3ee62e21f72f4b0a" /><Relationship Type="http://schemas.openxmlformats.org/officeDocument/2006/relationships/image" Target="/ppt/media/image7.jpeg" Id="R1752775289ca4f84" /><Relationship Type="http://schemas.openxmlformats.org/officeDocument/2006/relationships/image" Target="/ppt/media/image8.jpeg" Id="Ra7ad4af0680b4b35" /><Relationship Type="http://schemas.openxmlformats.org/officeDocument/2006/relationships/image" Target="/ppt/media/image.png" Id="Rae0c32ba6a2b4dac" /><Relationship Type="http://schemas.openxmlformats.org/officeDocument/2006/relationships/image" Target="/ppt/media/image2.png" Id="R0fb007d2be4b48c0" /><Relationship Type="http://schemas.openxmlformats.org/officeDocument/2006/relationships/image" Target="/ppt/media/image3.png" Id="R8980347eaa6c4255" /><Relationship Type="http://schemas.openxmlformats.org/officeDocument/2006/relationships/image" Target="/ppt/media/image4.png" Id="Rc73a8e92fac2476d" /><Relationship Type="http://schemas.openxmlformats.org/officeDocument/2006/relationships/notesSlide" Target="/ppt/notesSlides/notesSlide2.xml" Id="R19b03e21ed85460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f1417a57eb4d65" /><Relationship Type="http://schemas.openxmlformats.org/officeDocument/2006/relationships/notesSlide" Target="/ppt/notesSlides/notesSlide3.xml" Id="R2726526126d1457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e501c3533747cd" /><Relationship Type="http://schemas.openxmlformats.org/officeDocument/2006/relationships/notesSlide" Target="/ppt/notesSlides/notesSlide4.xml" Id="R37710ccb54aa4fe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7B9532-2241-4461-9105-BC0E3E590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D7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056AD9-063B-43D6-ADB7-EBA72D768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11144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032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232D"/>
                </a:solidFill>
                <a:latin typeface="Noto Sans JP"/>
                <a:ea typeface="Noto Sans JP"/>
                <a:cs typeface="Noto Sans JP"/>
              </a:defRPr>
            </a:pPr>
            <a:r>
              <a:rPr sz="3150" b="1">
                <a:solidFill>
                  <a:srgbClr val="15232D"/>
                </a:solidFill>
                <a:latin typeface="Noto Sans JP"/>
                <a:ea typeface="Noto Sans JP"/>
                <a:cs typeface="Noto Sans JP"/>
              </a:rPr>
              <a:t>client-0 / class 0 prototypeの内訳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920D96-369D-46EC-A46B-69B9C2696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38200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6747C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66747C"/>
                </a:solidFill>
                <a:latin typeface="Noto Sans JP"/>
                <a:ea typeface="Noto Sans JP"/>
                <a:cs typeface="Noto Sans JP"/>
              </a:rPr>
              <a:t>同じnormal class 3件でも q^{post} は揃わず、平均値が μ^{post}_{k,r} になる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EE06C9-03CF-412A-8750-7D43C6634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38250"/>
            <a:ext cx="723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1296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F5D7C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1">
                <a:solidFill>
                  <a:srgbClr val="2F5D7C"/>
                </a:solidFill>
                <a:latin typeface="Noto Sans JP"/>
                <a:ea typeface="Noto Sans JP"/>
                <a:cs typeface="Noto Sans JP"/>
              </a:rPr>
              <a:t>代表sample A（client内診断）  label=normal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0ae17748494bc1"/>
          <a:srcRect xmlns:a="http://schemas.openxmlformats.org/drawingml/2006/main" l="15500" t="0" r="1550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" y="1524000"/>
            <a:ext cx="1752600" cy="1428750"/>
          </a:xfrm>
          <a:prstGeom xmlns:a="http://schemas.openxmlformats.org/drawingml/2006/main" prst="rect">
            <a:avLst/>
          </a:prstGeom>
        </p:spPr>
      </p:pic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be336ac3d34c0e"/>
          <a:srcRect xmlns:a="http://schemas.openxmlformats.org/drawingml/2006/main" l="15500" t="0" r="1550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362200" y="1524000"/>
            <a:ext cx="1752600" cy="1428750"/>
          </a:xfrm>
          <a:prstGeom xmlns:a="http://schemas.openxmlformats.org/drawingml/2006/main" prst="rect">
            <a:avLst/>
          </a:prstGeom>
        </p:spPr>
      </p:pic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43fc9ee860439f"/>
          <a:srcRect xmlns:a="http://schemas.openxmlformats.org/drawingml/2006/main" l="15500" t="0" r="1550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91000" y="1524000"/>
            <a:ext cx="1752600" cy="1428750"/>
          </a:xfrm>
          <a:prstGeom xmlns:a="http://schemas.openxmlformats.org/drawingml/2006/main" prst="rect">
            <a:avLst/>
          </a:prstGeom>
        </p:spPr>
      </p:pic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18d11cc9b84ae2"/>
          <a:srcRect xmlns:a="http://schemas.openxmlformats.org/drawingml/2006/main" l="15500" t="0" r="1550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19800" y="1524000"/>
            <a:ext cx="1752600" cy="14287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F2EE8F-5318-43A9-80C8-9919B5B99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543050"/>
            <a:ext cx="3429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5232D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0">
                <a:solidFill>
                  <a:srgbClr val="15232D"/>
                </a:solidFill>
                <a:latin typeface="Noto Sans JP"/>
                <a:ea typeface="Noto Sans JP"/>
                <a:cs typeface="Noto Sans JP"/>
              </a:rPr>
              <a:t>q^{pre} = [0.854, 0.146]</a:t>
            </a:r>
          </a:p>
          <a:p xmlns:a="http://schemas.openxmlformats.org/drawingml/2006/main">
            <a:pPr>
              <a:defRPr sz="1650" b="0">
                <a:solidFill>
                  <a:srgbClr val="15232D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0">
                <a:solidFill>
                  <a:srgbClr val="15232D"/>
                </a:solidFill>
                <a:latin typeface="Noto Sans JP"/>
                <a:ea typeface="Noto Sans JP"/>
                <a:cs typeface="Noto Sans JP"/>
              </a:rPr>
              <a:t>q^{post} = [0.749, 0.251]</a:t>
            </a:r>
          </a:p>
          <a:p xmlns:a="http://schemas.openxmlformats.org/drawingml/2006/main">
            <a:pPr>
              <a:defRPr sz="1650" b="0">
                <a:solidFill>
                  <a:srgbClr val="15232D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0">
                <a:solidFill>
                  <a:srgbClr val="15232D"/>
                </a:solidFill>
                <a:latin typeface="Noto Sans JP"/>
                <a:ea typeface="Noto Sans JP"/>
                <a:cs typeface="Noto Sans JP"/>
              </a:rPr>
              <a:t>Δq = [-0.106, 0.106]</a:t>
            </a:r>
          </a:p>
        </p:txBody>
      </p:sp>
      <p:graphicFrame>
        <p:nvGraphicFramePr>
          <p:cNvPr id="24" name=""/>
          <p:cNvGraphicFramePr/>
          <p:nvPr/>
        </p:nvGraphicFramePr>
        <p:xfrm>
          <a:off xmlns:a="http://schemas.openxmlformats.org/drawingml/2006/main" x="533400" y="3571875"/>
          <a:ext xmlns:a="http://schemas.openxmlformats.org/drawingml/2006/main" cx="7239000" cy="2286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2286000"/>
                <a:gridCol w="2286000"/>
              </a:tblGrid>
              <a:tr h="45720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client-0 / class 0</a:t>
                      </a:r>
                    </a:p>
                  </a:txBody>
                  <a:tcPr marL="76200" marR="76200" marT="47625" marB="47625" anchor="ctr">
                    <a:solidFill>
                      <a:srgbClr val="2F5D7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q^{post}(normal)</a:t>
                      </a:r>
                    </a:p>
                  </a:txBody>
                  <a:tcPr marL="76200" marR="76200" marT="47625" marB="47625" anchor="ctr">
                    <a:solidFill>
                      <a:srgbClr val="2F5D7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q^{post}(risk)</a:t>
                      </a:r>
                    </a:p>
                  </a:txBody>
                  <a:tcPr marL="76200" marR="76200" marT="47625" marB="47625" anchor="ctr">
                    <a:solidFill>
                      <a:srgbClr val="2F5D7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5232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sample A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5232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0.749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5232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0.251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5232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sample B</a:t>
                      </a:r>
                    </a:p>
                  </a:txBody>
                  <a:tcPr marL="76200" marR="76200" marT="47625" marB="47625" anchor="ctr">
                    <a:solidFill>
                      <a:srgbClr val="EEF2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5232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0.166</a:t>
                      </a:r>
                    </a:p>
                  </a:txBody>
                  <a:tcPr marL="76200" marR="76200" marT="47625" marB="47625" anchor="ctr">
                    <a:solidFill>
                      <a:srgbClr val="EEF2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5232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0.834</a:t>
                      </a:r>
                    </a:p>
                  </a:txBody>
                  <a:tcPr marL="76200" marR="76200" marT="47625" marB="47625" anchor="ctr">
                    <a:solidFill>
                      <a:srgbClr val="EEF2F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5232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sample C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5232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0.333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5232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0.667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5232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μ^{post}_{k,r}</a:t>
                      </a:r>
                    </a:p>
                  </a:txBody>
                  <a:tcPr marL="76200" marR="76200" marT="47625" marB="47625" anchor="ctr">
                    <a:solidFill>
                      <a:srgbClr val="F3E1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5232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0.416</a:t>
                      </a:r>
                    </a:p>
                  </a:txBody>
                  <a:tcPr marL="76200" marR="76200" marT="47625" marB="47625" anchor="ctr">
                    <a:solidFill>
                      <a:srgbClr val="F3E1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5232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0.584</a:t>
                      </a:r>
                    </a:p>
                  </a:txBody>
                  <a:tcPr marL="76200" marR="76200" marT="47625" marB="47625" anchor="ctr">
                    <a:solidFill>
                      <a:srgbClr val="F3E1D3"/>
                    </a:solidFill>
                  </a:tcPr>
                </a:tc>
              </a:tr>
            </a:tbl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CBFF31-459C-42CE-9C66-D135E66CA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524250"/>
            <a:ext cx="47625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6E2C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AC5B32-CDC3-43EC-87C8-2D5923A2D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52425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96E2C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1">
                <a:solidFill>
                  <a:srgbClr val="C96E2C"/>
                </a:solidFill>
                <a:latin typeface="Noto Sans JP"/>
                <a:ea typeface="Noto Sans JP"/>
                <a:cs typeface="Noto Sans JP"/>
              </a:rPr>
              <a:t>prototype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9670A6-6C0A-41F0-9AC2-F13654E5F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905250"/>
            <a:ext cx="285750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48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5232D"/>
                </a:solidFill>
                <a:latin typeface="Noto Sans JP"/>
                <a:ea typeface="Noto Sans JP"/>
                <a:cs typeface="Noto Sans JP"/>
              </a:defRPr>
            </a:pPr>
            <a:r>
              <a:rPr sz="1725" b="0">
                <a:solidFill>
                  <a:srgbClr val="15232D"/>
                </a:solidFill>
                <a:latin typeface="Noto Sans JP"/>
                <a:ea typeface="Noto Sans JP"/>
                <a:cs typeface="Noto Sans JP"/>
              </a:rPr>
              <a:t>μ^{post}_{k,r}</a:t>
            </a:r>
          </a:p>
          <a:p xmlns:a="http://schemas.openxmlformats.org/drawingml/2006/main">
            <a:pPr>
              <a:defRPr sz="1725" b="0">
                <a:solidFill>
                  <a:srgbClr val="15232D"/>
                </a:solidFill>
                <a:latin typeface="Noto Sans JP"/>
                <a:ea typeface="Noto Sans JP"/>
                <a:cs typeface="Noto Sans JP"/>
              </a:defRPr>
            </a:pPr>
            <a:r>
              <a:rPr sz="1725" b="0">
                <a:solidFill>
                  <a:srgbClr val="15232D"/>
                </a:solidFill>
                <a:latin typeface="Noto Sans JP"/>
                <a:ea typeface="Noto Sans JP"/>
                <a:cs typeface="Noto Sans JP"/>
              </a:rPr>
              <a:t>[0.416, 0.584]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15232D"/>
                </a:solidFill>
                <a:latin typeface="Noto Sans JP"/>
                <a:ea typeface="Noto Sans JP"/>
                <a:cs typeface="Noto Sans JP"/>
              </a:defRPr>
            </a:pPr>
            <a:r>
              <a:rPr sz="1725" b="0">
                <a:solidFill>
                  <a:srgbClr val="15232D"/>
                </a:solidFill>
                <a:latin typeface="Noto Sans JP"/>
                <a:ea typeface="Noto Sans JP"/>
                <a:cs typeface="Noto Sans JP"/>
              </a:rPr>
              <a:t>Δμ_{k,r}</a:t>
            </a:r>
          </a:p>
          <a:p xmlns:a="http://schemas.openxmlformats.org/drawingml/2006/main">
            <a:pPr>
              <a:defRPr sz="1725" b="0">
                <a:solidFill>
                  <a:srgbClr val="15232D"/>
                </a:solidFill>
                <a:latin typeface="Noto Sans JP"/>
                <a:ea typeface="Noto Sans JP"/>
                <a:cs typeface="Noto Sans JP"/>
              </a:defRPr>
            </a:pPr>
            <a:r>
              <a:rPr sz="1725" b="0">
                <a:solidFill>
                  <a:srgbClr val="15232D"/>
                </a:solidFill>
                <a:latin typeface="Noto Sans JP"/>
                <a:ea typeface="Noto Sans JP"/>
                <a:cs typeface="Noto Sans JP"/>
              </a:rPr>
              <a:t>[-0.094, 0.094]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15232D"/>
                </a:solidFill>
                <a:latin typeface="Noto Sans JP"/>
                <a:ea typeface="Noto Sans JP"/>
                <a:cs typeface="Noto Sans JP"/>
              </a:defRPr>
            </a:pPr>
            <a:r>
              <a:rPr sz="1725" b="0">
                <a:solidFill>
                  <a:srgbClr val="15232D"/>
                </a:solidFill>
                <a:latin typeface="Noto Sans JP"/>
                <a:ea typeface="Noto Sans JP"/>
                <a:cs typeface="Noto Sans JP"/>
              </a:rPr>
              <a:t>π_{k,r} = 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E37509-EB17-411A-A347-3D0849AA5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0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6747C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0">
                <a:solidFill>
                  <a:srgbClr val="66747C"/>
                </a:solidFill>
                <a:latin typeface="Noto Sans JP"/>
                <a:ea typeface="Noto Sans JP"/>
                <a:cs typeface="Noto Sans JP"/>
              </a:rPr>
              <a:t>client内の診断例（raw frame・private sample IDはserverへ未送信）。性能評価や一般的傾向は示さない。</a:t>
            </a:r>
          </a:p>
        </p:txBody>
      </p:sp>
    </p:spTree>
    <p:extLst>
      <p:ext uri="{BB962C8B-B14F-4D97-AF65-F5344CB8AC3E}">
        <p14:creationId xmlns:p14="http://schemas.microsoft.com/office/powerpoint/2010/main" val="14341717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522E4F-99B1-4256-BD76-AA6A7D15D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D7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CD726E-C310-4A4B-A02C-5AD98DFA8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11144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032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232D"/>
                </a:solidFill>
                <a:latin typeface="Noto Sans JP"/>
                <a:ea typeface="Noto Sans JP"/>
                <a:cs typeface="Noto Sans JP"/>
              </a:defRPr>
            </a:pPr>
            <a:r>
              <a:rPr sz="3150" b="1">
                <a:solidFill>
                  <a:srgbClr val="15232D"/>
                </a:solidFill>
                <a:latin typeface="Noto Sans JP"/>
                <a:ea typeface="Noto Sans JP"/>
                <a:cs typeface="Noto Sans JP"/>
              </a:rPr>
              <a:t>prototypeからserver-side proxyまでの具体例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BA7AEC-F04D-4755-BCB1-C0FA1550B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38200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6747C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66747C"/>
                </a:solidFill>
                <a:latin typeface="Noto Sans JP"/>
                <a:ea typeface="Noto Sans JP"/>
                <a:cs typeface="Noto Sans JP"/>
              </a:rPr>
              <a:t>class制約なし検索でrisk seedを選び、contrast 1.15を適用した例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08954E-02C1-43CB-B324-F8A5C9182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57300"/>
            <a:ext cx="7524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1296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F5D7C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1">
                <a:solidFill>
                  <a:srgbClr val="2F5D7C"/>
                </a:solidFill>
                <a:latin typeface="Noto Sans JP"/>
                <a:ea typeface="Noto Sans JP"/>
                <a:cs typeface="Noto Sans JP"/>
              </a:rPr>
              <a:t>元seed 6d24134fb5a44162  label=risk  retrieval rank=1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dd8118acd04708"/>
          <a:srcRect xmlns:a="http://schemas.openxmlformats.org/drawingml/2006/main" l="7922" t="0" r="792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" y="1543050"/>
            <a:ext cx="1824038" cy="1219200"/>
          </a:xfrm>
          <a:prstGeom xmlns:a="http://schemas.openxmlformats.org/drawingml/2006/main" prst="rect">
            <a:avLst/>
          </a:prstGeom>
        </p:spPr>
      </p:pic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e62e21f72f4b0a"/>
          <a:srcRect xmlns:a="http://schemas.openxmlformats.org/drawingml/2006/main" l="7922" t="0" r="792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433638" y="1543050"/>
            <a:ext cx="1824038" cy="1219200"/>
          </a:xfrm>
          <a:prstGeom xmlns:a="http://schemas.openxmlformats.org/drawingml/2006/main" prst="rect">
            <a:avLst/>
          </a:prstGeom>
        </p:spPr>
      </p:pic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52775289ca4f84"/>
          <a:srcRect xmlns:a="http://schemas.openxmlformats.org/drawingml/2006/main" l="7922" t="0" r="792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33875" y="1543050"/>
            <a:ext cx="1824038" cy="1219200"/>
          </a:xfrm>
          <a:prstGeom xmlns:a="http://schemas.openxmlformats.org/drawingml/2006/main" prst="rect">
            <a:avLst/>
          </a:prstGeom>
        </p:spPr>
      </p:pic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ad4af0680b4b35"/>
          <a:srcRect xmlns:a="http://schemas.openxmlformats.org/drawingml/2006/main" l="7922" t="0" r="792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34113" y="1543050"/>
            <a:ext cx="1824038" cy="12192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60AD28-9A65-4578-9DE5-E7A4B365E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0"/>
            <a:ext cx="7524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1296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F5D7C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1">
                <a:solidFill>
                  <a:srgbClr val="2F5D7C"/>
                </a:solidFill>
                <a:latin typeface="Noto Sans JP"/>
                <a:ea typeface="Noto Sans JP"/>
                <a:cs typeface="Noto Sans JP"/>
              </a:rPr>
              <a:t>x̃_{k,r}  contrast 1.15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0c32ba6a2b4dac"/>
          <a:srcRect xmlns:a="http://schemas.openxmlformats.org/drawingml/2006/main" l="7922" t="0" r="792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" y="3714750"/>
            <a:ext cx="1824038" cy="1219200"/>
          </a:xfrm>
          <a:prstGeom xmlns:a="http://schemas.openxmlformats.org/drawingml/2006/main" prst="rect">
            <a:avLst/>
          </a:prstGeom>
        </p:spPr>
      </p:pic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b007d2be4b48c0"/>
          <a:srcRect xmlns:a="http://schemas.openxmlformats.org/drawingml/2006/main" l="7922" t="0" r="792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433638" y="3714750"/>
            <a:ext cx="1824038" cy="1219200"/>
          </a:xfrm>
          <a:prstGeom xmlns:a="http://schemas.openxmlformats.org/drawingml/2006/main" prst="rect">
            <a:avLst/>
          </a:prstGeom>
        </p:spPr>
      </p:pic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80347eaa6c4255"/>
          <a:srcRect xmlns:a="http://schemas.openxmlformats.org/drawingml/2006/main" l="7922" t="0" r="792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33875" y="3714750"/>
            <a:ext cx="1824038" cy="1219200"/>
          </a:xfrm>
          <a:prstGeom xmlns:a="http://schemas.openxmlformats.org/drawingml/2006/main" prst="rect">
            <a:avLst/>
          </a:prstGeom>
        </p:spPr>
      </p:pic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3a8e92fac2476d"/>
          <a:srcRect xmlns:a="http://schemas.openxmlformats.org/drawingml/2006/main" l="7922" t="0" r="792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34113" y="3714750"/>
            <a:ext cx="1824038" cy="121920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2DE1E5-78C1-4D64-82DD-A1A9BEA4E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381125"/>
            <a:ext cx="323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5232D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15232D"/>
                </a:solidFill>
                <a:latin typeface="Noto Sans JP"/>
                <a:ea typeface="Noto Sans JP"/>
                <a:cs typeface="Noto Sans JP"/>
              </a:rPr>
              <a:t>μ^{post}_{k,r} = [0.416, 0.584]</a:t>
            </a:r>
          </a:p>
          <a:p xmlns:a="http://schemas.openxmlformats.org/drawingml/2006/main">
            <a:pPr>
              <a:defRPr sz="1500" b="0">
                <a:solidFill>
                  <a:srgbClr val="15232D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15232D"/>
                </a:solidFill>
                <a:latin typeface="Noto Sans JP"/>
                <a:ea typeface="Noto Sans JP"/>
                <a:cs typeface="Noto Sans JP"/>
              </a:rPr>
              <a:t>Δμ_{k,r} = [-0.094, 0.094]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E7D556-8B4F-4420-9F58-FF6D9D719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333625"/>
            <a:ext cx="3238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2F5D7C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0">
                <a:solidFill>
                  <a:srgbClr val="2F5D7C"/>
                </a:solidFill>
                <a:latin typeface="Noto Sans JP"/>
                <a:ea typeface="Noto Sans JP"/>
                <a:cs typeface="Noto Sans JP"/>
              </a:rPr>
              <a:t>top 3 seed labels</a:t>
            </a:r>
          </a:p>
          <a:p xmlns:a="http://schemas.openxmlformats.org/drawingml/2006/main">
            <a:pPr>
              <a:defRPr sz="1425" b="0">
                <a:solidFill>
                  <a:srgbClr val="2F5D7C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0">
                <a:solidFill>
                  <a:srgbClr val="2F5D7C"/>
                </a:solidFill>
                <a:latin typeface="Noto Sans JP"/>
                <a:ea typeface="Noto Sans JP"/>
                <a:cs typeface="Noto Sans JP"/>
              </a:rPr>
              <a:t>1: risk  KL=1.20e-6</a:t>
            </a:r>
          </a:p>
          <a:p xmlns:a="http://schemas.openxmlformats.org/drawingml/2006/main">
            <a:pPr>
              <a:defRPr sz="1425" b="0">
                <a:solidFill>
                  <a:srgbClr val="2F5D7C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0">
                <a:solidFill>
                  <a:srgbClr val="2F5D7C"/>
                </a:solidFill>
                <a:latin typeface="Noto Sans JP"/>
                <a:ea typeface="Noto Sans JP"/>
                <a:cs typeface="Noto Sans JP"/>
              </a:rPr>
              <a:t>2: normal  KL=8.09e-4</a:t>
            </a:r>
          </a:p>
          <a:p xmlns:a="http://schemas.openxmlformats.org/drawingml/2006/main">
            <a:pPr>
              <a:defRPr sz="1425" b="0">
                <a:solidFill>
                  <a:srgbClr val="2F5D7C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0">
                <a:solidFill>
                  <a:srgbClr val="2F5D7C"/>
                </a:solidFill>
                <a:latin typeface="Noto Sans JP"/>
                <a:ea typeface="Noto Sans JP"/>
                <a:cs typeface="Noto Sans JP"/>
              </a:rPr>
              <a:t>3: normal  KL=2.19e-3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E7F58C-B80D-4F26-90A7-B41DC0D81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733800"/>
            <a:ext cx="3238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5232D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0">
                <a:solidFill>
                  <a:srgbClr val="15232D"/>
                </a:solidFill>
                <a:latin typeface="Noto Sans JP"/>
                <a:ea typeface="Noto Sans JP"/>
                <a:cs typeface="Noto Sans JP"/>
              </a:rPr>
              <a:t>proxy上のglobal surrogate</a:t>
            </a:r>
          </a:p>
          <a:p xmlns:a="http://schemas.openxmlformats.org/drawingml/2006/main">
            <a:pPr>
              <a:defRPr sz="1425" b="0">
                <a:solidFill>
                  <a:srgbClr val="15232D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0">
                <a:solidFill>
                  <a:srgbClr val="15232D"/>
                </a:solidFill>
                <a:latin typeface="Noto Sans JP"/>
                <a:ea typeface="Noto Sans JP"/>
                <a:cs typeface="Noto Sans JP"/>
              </a:rPr>
              <a:t>M_G^0: [0.477, 0.523]</a:t>
            </a:r>
          </a:p>
          <a:p xmlns:a="http://schemas.openxmlformats.org/drawingml/2006/main">
            <a:pPr>
              <a:defRPr sz="1425" b="0">
                <a:solidFill>
                  <a:srgbClr val="15232D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0">
                <a:solidFill>
                  <a:srgbClr val="15232D"/>
                </a:solidFill>
                <a:latin typeface="Noto Sans JP"/>
                <a:ea typeface="Noto Sans JP"/>
                <a:cs typeface="Noto Sans JP"/>
              </a:rPr>
              <a:t>M_G^1: [0.406, 0.594]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15232D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0">
                <a:solidFill>
                  <a:srgbClr val="15232D"/>
                </a:solidFill>
                <a:latin typeface="Noto Sans JP"/>
                <a:ea typeface="Noto Sans JP"/>
                <a:cs typeface="Noto Sans JP"/>
              </a:rPr>
              <a:t>post KL = 2.04e-4</a:t>
            </a:r>
          </a:p>
          <a:p xmlns:a="http://schemas.openxmlformats.org/drawingml/2006/main">
            <a:pPr>
              <a:defRPr sz="1425" b="0">
                <a:solidFill>
                  <a:srgbClr val="15232D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0">
                <a:solidFill>
                  <a:srgbClr val="15232D"/>
                </a:solidFill>
                <a:latin typeface="Noto Sans JP"/>
                <a:ea typeface="Noto Sans JP"/>
                <a:cs typeface="Noto Sans JP"/>
              </a:rPr>
              <a:t>delta error = 4.94e-4</a:t>
            </a:r>
          </a:p>
          <a:p xmlns:a="http://schemas.openxmlformats.org/drawingml/2006/main">
            <a:pPr>
              <a:defRPr sz="1425" b="0">
                <a:solidFill>
                  <a:srgbClr val="15232D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0">
                <a:solidFill>
                  <a:srgbClr val="15232D"/>
                </a:solidFill>
                <a:latin typeface="Noto Sans JP"/>
                <a:ea typeface="Noto Sans JP"/>
                <a:cs typeface="Noto Sans JP"/>
              </a:rPr>
              <a:t>L_match = 6.99e-4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3BA8A0-9956-46B4-BF6E-D869F318E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1975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9B3A35"/>
                </a:solidFill>
                <a:latin typeface="Noto Sans JP"/>
                <a:ea typeface="Noto Sans JP"/>
                <a:cs typeface="Noto Sans JP"/>
              </a:defRPr>
            </a:pPr>
            <a:r>
              <a:rPr sz="1575" b="1">
                <a:solidFill>
                  <a:srgbClr val="9B3A35"/>
                </a:solidFill>
                <a:latin typeface="Noto Sans JP"/>
                <a:ea typeface="Noto Sans JP"/>
                <a:cs typeface="Noto Sans JP"/>
              </a:rPr>
              <a:t>foundation pair KL: 0.007656 → 0.007709（この1件は増加）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C847B6-1705-4DED-84C5-4E90D5449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150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6747C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0">
                <a:solidFill>
                  <a:srgbClr val="66747C"/>
                </a:solidFill>
                <a:latin typeface="Noto Sans JP"/>
                <a:ea typeface="Noto Sans JP"/>
                <a:cs typeface="Noto Sans JP"/>
              </a:rPr>
              <a:t>同じ4 pairの加重総和で更新。foundationは同じ3B基盤から独立LoRAとして初期化し、個別KL非増加は保証しない。</a:t>
            </a:r>
          </a:p>
        </p:txBody>
      </p:sp>
    </p:spTree>
    <p:extLst>
      <p:ext uri="{BB962C8B-B14F-4D97-AF65-F5344CB8AC3E}">
        <p14:creationId xmlns:p14="http://schemas.microsoft.com/office/powerpoint/2010/main" val="52459379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E4A37C-BD06-4AFA-B6F2-FDC083000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D7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744DDF-9329-4F4E-9B66-CEBA63FD4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11144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032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232D"/>
                </a:solidFill>
                <a:latin typeface="Noto Sans JP"/>
                <a:ea typeface="Noto Sans JP"/>
                <a:cs typeface="Noto Sans JP"/>
              </a:defRPr>
            </a:pPr>
            <a:r>
              <a:rPr sz="3150" b="1">
                <a:solidFill>
                  <a:srgbClr val="15232D"/>
                </a:solidFill>
                <a:latin typeface="Noto Sans JP"/>
                <a:ea typeface="Noto Sans JP"/>
                <a:cs typeface="Noto Sans JP"/>
              </a:rPr>
              <a:t>4 prototypeの診断結果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F1C71C-6022-4F71-9491-91C06C165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38200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6747C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66747C"/>
                </a:solidFill>
                <a:latin typeface="Noto Sans JP"/>
                <a:ea typeface="Noto Sans JP"/>
                <a:cs typeface="Noto Sans JP"/>
              </a:rPr>
              <a:t>formal 1-round wiring check：2 client × 2 class、60 seed、top 3 × 5変換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428625" y="1381125"/>
          <a:ext xmlns:a="http://schemas.openxmlformats.org/drawingml/2006/main" cx="10382250" cy="3000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238250"/>
                <a:gridCol w="1000125"/>
                <a:gridCol w="1000125"/>
                <a:gridCol w="666750"/>
                <a:gridCol w="904875"/>
                <a:gridCol w="1095375"/>
                <a:gridCol w="952500"/>
                <a:gridCol w="1047750"/>
                <a:gridCol w="952500"/>
                <a:gridCol w="1524000"/>
              </a:tblGrid>
              <a:tr h="60007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client / class</a:t>
                      </a:r>
                    </a:p>
                  </a:txBody>
                  <a:tcPr marL="76200" marR="76200" marT="47625" marB="47625" anchor="ctr">
                    <a:solidFill>
                      <a:srgbClr val="2F5D7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target</a:t>
                      </a:r>
                    </a:p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Δμ risk</a:t>
                      </a:r>
                    </a:p>
                  </a:txBody>
                  <a:tcPr marL="76200" marR="76200" marT="47625" marB="47625" anchor="ctr">
                    <a:solidFill>
                      <a:srgbClr val="2F5D7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proxy</a:t>
                      </a:r>
                    </a:p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Δ risk</a:t>
                      </a:r>
                    </a:p>
                  </a:txBody>
                  <a:tcPr marL="76200" marR="76200" marT="47625" marB="47625" anchor="ctr">
                    <a:solidFill>
                      <a:srgbClr val="2F5D7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方向</a:t>
                      </a:r>
                    </a:p>
                  </a:txBody>
                  <a:tcPr marL="76200" marR="76200" marT="47625" marB="47625" anchor="ctr">
                    <a:solidFill>
                      <a:srgbClr val="2F5D7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seed label</a:t>
                      </a:r>
                    </a:p>
                  </a:txBody>
                  <a:tcPr marL="76200" marR="76200" marT="47625" marB="47625" anchor="ctr">
                    <a:solidFill>
                      <a:srgbClr val="2F5D7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変換</a:t>
                      </a:r>
                    </a:p>
                  </a:txBody>
                  <a:tcPr marL="76200" marR="76200" marT="47625" marB="47625" anchor="ctr">
                    <a:solidFill>
                      <a:srgbClr val="2F5D7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post KL</a:t>
                      </a:r>
                    </a:p>
                  </a:txBody>
                  <a:tcPr marL="76200" marR="76200" marT="47625" marB="47625" anchor="ctr">
                    <a:solidFill>
                      <a:srgbClr val="2F5D7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delta error</a:t>
                      </a:r>
                    </a:p>
                  </a:txBody>
                  <a:tcPr marL="76200" marR="76200" marT="47625" marB="47625" anchor="ctr">
                    <a:solidFill>
                      <a:srgbClr val="2F5D7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L_match</a:t>
                      </a:r>
                    </a:p>
                  </a:txBody>
                  <a:tcPr marL="76200" marR="76200" marT="47625" marB="47625" anchor="ctr">
                    <a:solidFill>
                      <a:srgbClr val="2F5D7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foundation KL</a:t>
                      </a:r>
                    </a:p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(same pair)</a:t>
                      </a:r>
                    </a:p>
                  </a:txBody>
                  <a:tcPr marL="76200" marR="76200" marT="47625" marB="47625" anchor="ctr">
                    <a:solidFill>
                      <a:srgbClr val="2F5D7C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5232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client-0</a:t>
                      </a:r>
                    </a:p>
                    <a:p>
                      <a:r>
                        <a:rPr sz="1125">
                          <a:solidFill>
                            <a:srgbClr val="15232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class 0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5232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0.094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5232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0.072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5232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一致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5232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risk</a:t>
                      </a:r>
                    </a:p>
                  </a:txBody>
                  <a:tcPr marL="76200" marR="76200" marT="47625" marB="47625" anchor="ctr">
                    <a:solidFill>
                      <a:srgbClr val="F3E1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5232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contrast</a:t>
                      </a:r>
                    </a:p>
                    <a:p>
                      <a:r>
                        <a:rPr sz="1125">
                          <a:solidFill>
                            <a:srgbClr val="15232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1.15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5232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2.04e-4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5232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4.94e-4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5232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6.99e-4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5232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0.007656</a:t>
                      </a:r>
                    </a:p>
                    <a:p>
                      <a:r>
                        <a:rPr sz="1125">
                          <a:solidFill>
                            <a:srgbClr val="15232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→ 0.007709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5232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client-0</a:t>
                      </a:r>
                    </a:p>
                    <a:p>
                      <a:r>
                        <a:rPr sz="1125">
                          <a:solidFill>
                            <a:srgbClr val="15232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class 1</a:t>
                      </a:r>
                    </a:p>
                  </a:txBody>
                  <a:tcPr marL="76200" marR="76200" marT="47625" marB="47625" anchor="ctr">
                    <a:solidFill>
                      <a:srgbClr val="EEF2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5232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0.238</a:t>
                      </a:r>
                    </a:p>
                  </a:txBody>
                  <a:tcPr marL="76200" marR="76200" marT="47625" marB="47625" anchor="ctr">
                    <a:solidFill>
                      <a:srgbClr val="EEF2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5232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0.051</a:t>
                      </a:r>
                    </a:p>
                  </a:txBody>
                  <a:tcPr marL="76200" marR="76200" marT="47625" marB="47625" anchor="ctr">
                    <a:solidFill>
                      <a:srgbClr val="EEF2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5232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一致</a:t>
                      </a:r>
                    </a:p>
                  </a:txBody>
                  <a:tcPr marL="76200" marR="76200" marT="47625" marB="47625" anchor="ctr">
                    <a:solidFill>
                      <a:srgbClr val="EEF2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5232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normal</a:t>
                      </a:r>
                    </a:p>
                  </a:txBody>
                  <a:tcPr marL="76200" marR="76200" marT="47625" marB="47625" anchor="ctr">
                    <a:solidFill>
                      <a:srgbClr val="F3E1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5232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identity</a:t>
                      </a:r>
                    </a:p>
                  </a:txBody>
                  <a:tcPr marL="76200" marR="76200" marT="47625" marB="47625" anchor="ctr">
                    <a:solidFill>
                      <a:srgbClr val="EEF2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5232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8.35e-10</a:t>
                      </a:r>
                    </a:p>
                  </a:txBody>
                  <a:tcPr marL="76200" marR="76200" marT="47625" marB="47625" anchor="ctr">
                    <a:solidFill>
                      <a:srgbClr val="EEF2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5232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3.49e-2</a:t>
                      </a:r>
                    </a:p>
                  </a:txBody>
                  <a:tcPr marL="76200" marR="76200" marT="47625" marB="47625" anchor="ctr">
                    <a:solidFill>
                      <a:srgbClr val="EEF2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5232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3.49e-2</a:t>
                      </a:r>
                    </a:p>
                  </a:txBody>
                  <a:tcPr marL="76200" marR="76200" marT="47625" marB="47625" anchor="ctr">
                    <a:solidFill>
                      <a:srgbClr val="EEF2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5232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0.006065</a:t>
                      </a:r>
                    </a:p>
                    <a:p>
                      <a:r>
                        <a:rPr sz="1125">
                          <a:solidFill>
                            <a:srgbClr val="15232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→ 0.005999</a:t>
                      </a:r>
                    </a:p>
                  </a:txBody>
                  <a:tcPr marL="76200" marR="76200" marT="47625" marB="47625" anchor="ctr">
                    <a:solidFill>
                      <a:srgbClr val="EEF2F3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5232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client-1</a:t>
                      </a:r>
                    </a:p>
                    <a:p>
                      <a:r>
                        <a:rPr sz="1125">
                          <a:solidFill>
                            <a:srgbClr val="15232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class 0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5232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-0.103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5232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0.056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9B3A35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逆向き</a:t>
                      </a:r>
                    </a:p>
                  </a:txBody>
                  <a:tcPr marL="76200" marR="76200" marT="47625" marB="47625" anchor="ctr">
                    <a:solidFill>
                      <a:srgbClr val="F4D7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5232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risk</a:t>
                      </a:r>
                    </a:p>
                  </a:txBody>
                  <a:tcPr marL="76200" marR="76200" marT="47625" marB="47625" anchor="ctr">
                    <a:solidFill>
                      <a:srgbClr val="F3E1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5232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identity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5232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3.51e-4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5232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2.51e-2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5232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2.55e-2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5232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0.004202</a:t>
                      </a:r>
                    </a:p>
                    <a:p>
                      <a:r>
                        <a:rPr sz="1125">
                          <a:solidFill>
                            <a:srgbClr val="15232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→ 0.004094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5232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client-1</a:t>
                      </a:r>
                    </a:p>
                    <a:p>
                      <a:r>
                        <a:rPr sz="1125">
                          <a:solidFill>
                            <a:srgbClr val="15232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class 1</a:t>
                      </a:r>
                    </a:p>
                  </a:txBody>
                  <a:tcPr marL="76200" marR="76200" marT="47625" marB="47625" anchor="ctr">
                    <a:solidFill>
                      <a:srgbClr val="EEF2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5232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0.005</a:t>
                      </a:r>
                    </a:p>
                  </a:txBody>
                  <a:tcPr marL="76200" marR="76200" marT="47625" marB="47625" anchor="ctr">
                    <a:solidFill>
                      <a:srgbClr val="EEF2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5232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0.010</a:t>
                      </a:r>
                    </a:p>
                  </a:txBody>
                  <a:tcPr marL="76200" marR="76200" marT="47625" marB="47625" anchor="ctr">
                    <a:solidFill>
                      <a:srgbClr val="EEF2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5232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一致</a:t>
                      </a:r>
                    </a:p>
                  </a:txBody>
                  <a:tcPr marL="76200" marR="76200" marT="47625" marB="47625" anchor="ctr">
                    <a:solidFill>
                      <a:srgbClr val="EEF2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5232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normal</a:t>
                      </a:r>
                    </a:p>
                  </a:txBody>
                  <a:tcPr marL="76200" marR="76200" marT="47625" marB="47625" anchor="ctr">
                    <a:solidFill>
                      <a:srgbClr val="F3E1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5232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identity</a:t>
                      </a:r>
                    </a:p>
                  </a:txBody>
                  <a:tcPr marL="76200" marR="76200" marT="47625" marB="47625" anchor="ctr">
                    <a:solidFill>
                      <a:srgbClr val="EEF2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5232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9.45e-5</a:t>
                      </a:r>
                    </a:p>
                  </a:txBody>
                  <a:tcPr marL="76200" marR="76200" marT="47625" marB="47625" anchor="ctr">
                    <a:solidFill>
                      <a:srgbClr val="EEF2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5232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1.78e-5</a:t>
                      </a:r>
                    </a:p>
                  </a:txBody>
                  <a:tcPr marL="76200" marR="76200" marT="47625" marB="47625" anchor="ctr">
                    <a:solidFill>
                      <a:srgbClr val="EEF2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5232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1.12e-4</a:t>
                      </a:r>
                    </a:p>
                  </a:txBody>
                  <a:tcPr marL="76200" marR="76200" marT="47625" marB="47625" anchor="ctr">
                    <a:solidFill>
                      <a:srgbClr val="EEF2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5232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0.000091</a:t>
                      </a:r>
                    </a:p>
                    <a:p>
                      <a:r>
                        <a:rPr sz="1125">
                          <a:solidFill>
                            <a:srgbClr val="15232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→ 0.000009</a:t>
                      </a:r>
                    </a:p>
                  </a:txBody>
                  <a:tcPr marL="76200" marR="76200" marT="47625" marB="47625" anchor="ctr">
                    <a:solidFill>
                      <a:srgbClr val="EEF2F3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BFF5B4-C801-449D-9E25-621950EBD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05350"/>
            <a:ext cx="476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6E2C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C8930E-004C-4214-BCB4-446689563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4820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96E2C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1">
                <a:solidFill>
                  <a:srgbClr val="C96E2C"/>
                </a:solidFill>
                <a:latin typeface="Noto Sans JP"/>
                <a:ea typeface="Noto Sans JP"/>
                <a:cs typeface="Noto Sans JP"/>
              </a:rPr>
              <a:t>観測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C09558-6A65-4E27-BFF6-725E11B00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64820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5232D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15232D"/>
                </a:solidFill>
                <a:latin typeface="Noto Sans JP"/>
                <a:ea typeface="Noto Sans JP"/>
                <a:cs typeface="Noto Sans JP"/>
              </a:rPr>
              <a:t>4/4でprototype classとseed labelが不一致。ただし検索・model誤分類・class不整合は未分離。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856FFA-1ED6-49DE-8A6A-D9F7C3F52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95900"/>
            <a:ext cx="476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D7C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4BB6E6-CF57-420A-8767-74D95A12B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3875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F5D7C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1">
                <a:solidFill>
                  <a:srgbClr val="2F5D7C"/>
                </a:solidFill>
                <a:latin typeface="Noto Sans JP"/>
                <a:ea typeface="Noto Sans JP"/>
                <a:cs typeface="Noto Sans JP"/>
              </a:rPr>
              <a:t>観測 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D4608C-BC78-41A3-A3AE-57FCD1C50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2387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5232D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15232D"/>
                </a:solidFill>
                <a:latin typeface="Noto Sans JP"/>
                <a:ea typeface="Noto Sans JP"/>
                <a:cs typeface="Noto Sans JP"/>
              </a:rPr>
              <a:t>delta方向は3/4で一致。client-1 / class 0は目標 −0.103 に対しproxy +0.056で逆向き。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A277A3-61E2-4DA3-BEE1-5BC514C52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53125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5232D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1">
                <a:solidFill>
                  <a:srgbClr val="15232D"/>
                </a:solidFill>
                <a:latin typeface="Noto Sans JP"/>
                <a:ea typeface="Noto Sans JP"/>
                <a:cs typeface="Noto Sans JP"/>
              </a:rPr>
              <a:t>同じ4 pair上の加重KL：0.05404 → 0.05343（4件中1件は増加）。未知データへの転移は未評価。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EC80F8-8BCB-4448-ADA3-29780FCB7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29375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747C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66747C"/>
                </a:solidFill>
                <a:latin typeface="Noto Sans JP"/>
                <a:ea typeface="Noto Sans JP"/>
                <a:cs typeface="Noto Sans JP"/>
              </a:rPr>
              <a:t>1 roundの配線確認結果であり、検索品質・proxy再現成功・性能向上は結論しない。</a:t>
            </a:r>
          </a:p>
        </p:txBody>
      </p:sp>
    </p:spTree>
    <p:extLst>
      <p:ext uri="{BB962C8B-B14F-4D97-AF65-F5344CB8AC3E}">
        <p14:creationId xmlns:p14="http://schemas.microsoft.com/office/powerpoint/2010/main" val="79467147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0CD848-03E0-48CD-8CAF-45C968DE0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D7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FD3592-9DE4-4EF9-B5CE-7D74B7908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11144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032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232D"/>
                </a:solidFill>
                <a:latin typeface="Noto Sans JP"/>
                <a:ea typeface="Noto Sans JP"/>
                <a:cs typeface="Noto Sans JP"/>
              </a:defRPr>
            </a:pPr>
            <a:r>
              <a:rPr sz="3150" b="1">
                <a:solidFill>
                  <a:srgbClr val="15232D"/>
                </a:solidFill>
                <a:latin typeface="Noto Sans JP"/>
                <a:ea typeface="Noto Sans JP"/>
                <a:cs typeface="Noto Sans JP"/>
              </a:rPr>
              <a:t>3 roundで確認できたこと／まだ言えないこと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EBE57A-5BA1-4729-9434-262586189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38200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6747C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66747C"/>
                </a:solidFill>
                <a:latin typeface="Noto Sans JP"/>
                <a:ea typeface="Noto Sans JP"/>
                <a:cs typeface="Noto Sans JP"/>
              </a:rPr>
              <a:t>状態継承はdigestで一致。一方、round 3では同じ4 pair上のKL非増加が成立しなかった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F2F1DD-286F-4A86-B3A3-8F7CCB5AE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71600"/>
            <a:ext cx="10668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EF"/>
          </a:solidFill>
          <a:ln xmlns:a="http://schemas.openxmlformats.org/drawingml/2006/main" w="9525">
            <a:solidFill>
              <a:srgbClr val="2F5D7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106163-C157-41AA-B7C2-1F7292908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76375"/>
            <a:ext cx="590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7654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F5D7C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1">
                <a:solidFill>
                  <a:srgbClr val="2F5D7C"/>
                </a:solidFill>
                <a:latin typeface="Noto Sans JP"/>
                <a:ea typeface="Noto Sans JP"/>
                <a:cs typeface="Noto Sans JP"/>
              </a:rPr>
              <a:t>M_G^0  →  M_G^1  →  M_G^2  →  M_G^3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D3C14E-9E4A-4233-91CE-A39CC6F03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5049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382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F5D7C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1">
                <a:solidFill>
                  <a:srgbClr val="2F5D7C"/>
                </a:solidFill>
                <a:latin typeface="Noto Sans JP"/>
                <a:ea typeface="Noto Sans JP"/>
                <a:cs typeface="Noto Sans JP"/>
              </a:rPr>
              <a:t>round間：tensor digest・checkpoint SHA-256 とも一致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5E34CE-79C1-45CC-AA85-AC18E3937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0"/>
            <a:ext cx="10668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1D3"/>
          </a:solidFill>
          <a:ln xmlns:a="http://schemas.openxmlformats.org/drawingml/2006/main" w="9525">
            <a:solidFill>
              <a:srgbClr val="C96E2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278B20-F957-4716-A5E5-11FC3F811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00275"/>
            <a:ext cx="590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7654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C96E2C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1">
                <a:solidFill>
                  <a:srgbClr val="C96E2C"/>
                </a:solidFill>
                <a:latin typeface="Noto Sans JP"/>
                <a:ea typeface="Noto Sans JP"/>
                <a:cs typeface="Noto Sans JP"/>
              </a:rPr>
              <a:t>F^0  →  F^1  →  F^2  →  F^3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3C6D57-13CB-4E14-9962-BDED83899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2288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96E2C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1">
                <a:solidFill>
                  <a:srgbClr val="C96E2C"/>
                </a:solidFill>
                <a:latin typeface="Noto Sans JP"/>
                <a:ea typeface="Noto Sans JP"/>
                <a:cs typeface="Noto Sans JP"/>
              </a:rPr>
              <a:t>round間：foundation LoRA digest一致</a:t>
            </a:r>
          </a:p>
        </p:txBody>
      </p:sp>
      <p:graphicFrame>
        <p:nvGraphicFramePr>
          <p:cNvPr id="23" name=""/>
          <p:cNvGraphicFramePr/>
          <p:nvPr/>
        </p:nvGraphicFramePr>
        <p:xfrm>
          <a:off xmlns:a="http://schemas.openxmlformats.org/drawingml/2006/main" x="552450" y="2952750"/>
          <a:ext xmlns:a="http://schemas.openxmlformats.org/drawingml/2006/main" cx="10668000" cy="2190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66750"/>
                <a:gridCol w="1333500"/>
                <a:gridCol w="1619250"/>
                <a:gridCol w="1190625"/>
                <a:gridCol w="1000125"/>
                <a:gridCol w="1381125"/>
                <a:gridCol w="2238375"/>
                <a:gridCol w="1238250"/>
              </a:tblGrid>
              <a:tr h="547688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round</a:t>
                      </a:r>
                    </a:p>
                  </a:txBody>
                  <a:tcPr marL="76200" marR="76200" marT="47625" marB="47625" anchor="ctr">
                    <a:solidFill>
                      <a:srgbClr val="2F5D7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M_G</a:t>
                      </a:r>
                    </a:p>
                  </a:txBody>
                  <a:tcPr marL="76200" marR="76200" marT="47625" marB="47625" anchor="ctr">
                    <a:solidFill>
                      <a:srgbClr val="2F5D7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client LoRA</a:t>
                      </a:r>
                    </a:p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update norm</a:t>
                      </a:r>
                    </a:p>
                  </a:txBody>
                  <a:tcPr marL="76200" marR="76200" marT="47625" marB="47625" anchor="ctr">
                    <a:solidFill>
                      <a:srgbClr val="2F5D7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FedAvg差</a:t>
                      </a:r>
                    </a:p>
                  </a:txBody>
                  <a:tcPr marL="76200" marR="76200" marT="47625" marB="47625" anchor="ctr">
                    <a:solidFill>
                      <a:srgbClr val="2F5D7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F</a:t>
                      </a:r>
                    </a:p>
                  </a:txBody>
                  <a:tcPr marL="76200" marR="76200" marT="47625" marB="47625" anchor="ctr">
                    <a:solidFill>
                      <a:srgbClr val="2F5D7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F update norm</a:t>
                      </a:r>
                    </a:p>
                  </a:txBody>
                  <a:tcPr marL="76200" marR="76200" marT="47625" marB="47625" anchor="ctr">
                    <a:solidFill>
                      <a:srgbClr val="2F5D7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同じ4 pair上の</a:t>
                      </a:r>
                    </a:p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加重KL</a:t>
                      </a:r>
                    </a:p>
                  </a:txBody>
                  <a:tcPr marL="76200" marR="76200" marT="47625" marB="47625" anchor="ctr">
                    <a:solidFill>
                      <a:srgbClr val="2F5D7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受理規則</a:t>
                      </a:r>
                    </a:p>
                  </a:txBody>
                  <a:tcPr marL="76200" marR="76200" marT="47625" marB="47625" anchor="ctr">
                    <a:solidFill>
                      <a:srgbClr val="2F5D7C"/>
                    </a:solidFill>
                  </a:tcPr>
                </a:tc>
              </a:tr>
              <a:tr h="547688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5232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1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5232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M_G^0→M_G^1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5232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0.3461 / 0.2916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5232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5.82e-11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5232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F^0→F^1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5232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1.36e-3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5232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0.05404</a:t>
                      </a:r>
                    </a:p>
                    <a:p>
                      <a:r>
                        <a:rPr sz="1125">
                          <a:solidFill>
                            <a:srgbClr val="15232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→ 0.05343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5232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nonincrease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  <a:tr h="547688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5232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2</a:t>
                      </a:r>
                    </a:p>
                  </a:txBody>
                  <a:tcPr marL="76200" marR="76200" marT="47625" marB="47625" anchor="ctr">
                    <a:solidFill>
                      <a:srgbClr val="EEF2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5232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M_G^1→M_G^2</a:t>
                      </a:r>
                    </a:p>
                  </a:txBody>
                  <a:tcPr marL="76200" marR="76200" marT="47625" marB="47625" anchor="ctr">
                    <a:solidFill>
                      <a:srgbClr val="EEF2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5232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0.3228 / 0.2803</a:t>
                      </a:r>
                    </a:p>
                  </a:txBody>
                  <a:tcPr marL="76200" marR="76200" marT="47625" marB="47625" anchor="ctr">
                    <a:solidFill>
                      <a:srgbClr val="EEF2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5232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5.82e-11</a:t>
                      </a:r>
                    </a:p>
                  </a:txBody>
                  <a:tcPr marL="76200" marR="76200" marT="47625" marB="47625" anchor="ctr">
                    <a:solidFill>
                      <a:srgbClr val="EEF2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5232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F^1→F^2</a:t>
                      </a:r>
                    </a:p>
                  </a:txBody>
                  <a:tcPr marL="76200" marR="76200" marT="47625" marB="47625" anchor="ctr">
                    <a:solidFill>
                      <a:srgbClr val="EEF2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5232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1.36e-3</a:t>
                      </a:r>
                    </a:p>
                  </a:txBody>
                  <a:tcPr marL="76200" marR="76200" marT="47625" marB="47625" anchor="ctr">
                    <a:solidFill>
                      <a:srgbClr val="EEF2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5232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18.47832</a:t>
                      </a:r>
                    </a:p>
                    <a:p>
                      <a:r>
                        <a:rPr sz="1125">
                          <a:solidFill>
                            <a:srgbClr val="15232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→ 18.33901</a:t>
                      </a:r>
                    </a:p>
                  </a:txBody>
                  <a:tcPr marL="76200" marR="76200" marT="47625" marB="47625" anchor="ctr">
                    <a:solidFill>
                      <a:srgbClr val="EEF2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5232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nonincrease</a:t>
                      </a:r>
                    </a:p>
                  </a:txBody>
                  <a:tcPr marL="76200" marR="76200" marT="47625" marB="47625" anchor="ctr">
                    <a:solidFill>
                      <a:srgbClr val="EEF2F3"/>
                    </a:solidFill>
                  </a:tcPr>
                </a:tc>
              </a:tr>
              <a:tr h="547688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5232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3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5232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M_G^2→M_G^3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5232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0.3202 / 0.2804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5232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1.16e-10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5232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F^2→F^3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5232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1.36e-3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9B3A35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16.13066</a:t>
                      </a:r>
                    </a:p>
                    <a:p>
                      <a:r>
                        <a:rPr sz="1125" b="1">
                          <a:solidFill>
                            <a:srgbClr val="9B3A35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→ 16.17756</a:t>
                      </a:r>
                    </a:p>
                  </a:txBody>
                  <a:tcPr marL="76200" marR="76200" marT="47625" marB="47625" anchor="ctr">
                    <a:solidFill>
                      <a:srgbClr val="F4D7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9B3A35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execution</a:t>
                      </a:r>
                    </a:p>
                  </a:txBody>
                  <a:tcPr marL="76200" marR="76200" marT="47625" marB="47625" anchor="ctr">
                    <a:solidFill>
                      <a:srgbClr val="F4D7D5"/>
                    </a:solidFill>
                  </a:tcPr>
                </a:tc>
              </a:tr>
            </a:tbl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FE3935-22CE-407A-8CFD-0990CB8D1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29250"/>
            <a:ext cx="10668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7D5"/>
          </a:solidFill>
          <a:ln xmlns:a="http://schemas.openxmlformats.org/drawingml/2006/main" w="9525">
            <a:solidFill>
              <a:srgbClr val="9B3A35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C49439-3B1B-47AE-A28D-E4EC06875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24500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876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9B3A35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1">
                <a:solidFill>
                  <a:srgbClr val="9B3A35"/>
                </a:solidFill>
                <a:latin typeface="Noto Sans JP"/>
                <a:ea typeface="Noto Sans JP"/>
                <a:cs typeface="Noto Sans JP"/>
              </a:rPr>
              <a:t>round 3：nonincreaseモードは lr 10^-6〜10^-11 を全て不受理。execution確認では非ゼロ更新を保存したが、KLは増加。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3EE2F0-04DF-429A-8B19-4EF45AB58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436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6747C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0">
                <a:solidFill>
                  <a:srgbClr val="66747C"/>
                </a:solidFill>
                <a:latin typeface="Noto Sans JP"/>
                <a:ea typeface="Noto Sans JP"/>
                <a:cs typeface="Noto Sans JP"/>
              </a:rPr>
              <a:t>結論：3 roundの接続・状態継承は確認できた。学習安定性、proxy品質、性能向上はまだ主張しない。</a:t>
            </a:r>
          </a:p>
        </p:txBody>
      </p:sp>
    </p:spTree>
    <p:extLst>
      <p:ext uri="{BB962C8B-B14F-4D97-AF65-F5344CB8AC3E}">
        <p14:creationId xmlns:p14="http://schemas.microsoft.com/office/powerpoint/2010/main" val="10572467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2026-09-17T09:08:17.4140000Z</dcterms:created>
  <dcterms:modified xsi:type="dcterms:W3CDTF">2026-09-17T09:08:17.4140000Z</dcterms:modified>
</coreProperties>
</file>