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aede65b0fc4979" /><Relationship Type="http://schemas.openxmlformats.org/officeDocument/2006/relationships/extended-properties" Target="/docProps/app.xml" Id="R58b0a0c1d85f48c5" /><Relationship Type="http://schemas.openxmlformats.org/officeDocument/2006/relationships/officeDocument" Target="/ppt/presentation.xml" Id="R72012aeae504476f" /></Relationships>
</file>

<file path=ppt/presentation.xml><?xml version="1.0" encoding="utf-8"?>
<p:presentation xmlns:p="http://schemas.openxmlformats.org/presentationml/2006/main">
  <p:sldMasterIdLst>
    <p:sldMasterId xmlns:r="http://schemas.openxmlformats.org/officeDocument/2006/relationships" id="2147483648" r:id="R648612f91f77415c"/>
  </p:sldMasterIdLst>
  <p:notesMasterIdLst>
    <p:notesMasterId xmlns:r="http://schemas.openxmlformats.org/officeDocument/2006/relationships" r:id="Rb0eb1d2f47a549fe"/>
  </p:notesMasterIdLst>
  <p:sldIdLst>
    <p:sldId xmlns:r="http://schemas.openxmlformats.org/officeDocument/2006/relationships" id="256" r:id="R9196b0bf7ab94727"/>
    <p:sldId xmlns:r="http://schemas.openxmlformats.org/officeDocument/2006/relationships" id="257" r:id="Rd80b08e471f44c9c"/>
    <p:sldId xmlns:r="http://schemas.openxmlformats.org/officeDocument/2006/relationships" id="258" r:id="R7c4de5abab324dae"/>
    <p:sldId xmlns:r="http://schemas.openxmlformats.org/officeDocument/2006/relationships" id="259" r:id="R490ae8ec821542bb"/>
    <p:sldId xmlns:r="http://schemas.openxmlformats.org/officeDocument/2006/relationships" id="260" r:id="R9c3c05327c5748c6"/>
    <p:sldId xmlns:r="http://schemas.openxmlformats.org/officeDocument/2006/relationships" id="261" r:id="R622dcf28044b4e74"/>
    <p:sldId xmlns:r="http://schemas.openxmlformats.org/officeDocument/2006/relationships" id="262" r:id="R1d77c438f923491f"/>
    <p:sldId xmlns:r="http://schemas.openxmlformats.org/officeDocument/2006/relationships" id="263" r:id="R8224b204a691421d"/>
    <p:sldId xmlns:r="http://schemas.openxmlformats.org/officeDocument/2006/relationships" id="264" r:id="R08982758ed524fa2"/>
    <p:sldId xmlns:r="http://schemas.openxmlformats.org/officeDocument/2006/relationships" id="265" r:id="R2a5331a9755044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4a6993235b4296" /><Relationship Type="http://schemas.openxmlformats.org/officeDocument/2006/relationships/slideMaster" Target="/ppt/slideMasters/slideMaster1.xml" Id="R648612f91f77415c" /><Relationship Type="http://schemas.openxmlformats.org/officeDocument/2006/relationships/notesMaster" Target="/ppt/notesMasters/notesMaster1.xml" Id="Rb0eb1d2f47a549fe" /><Relationship Type="http://schemas.openxmlformats.org/officeDocument/2006/relationships/presProps" Target="/ppt/presProps.xml" Id="R7598576cb79747e4" /><Relationship Type="http://schemas.openxmlformats.org/officeDocument/2006/relationships/tableStyles" Target="/ppt/tableStyles.xml" Id="R21b90fbb1c6c4523" /><Relationship Type="http://schemas.openxmlformats.org/officeDocument/2006/relationships/slide" Target="/ppt/slides/slide1.xml" Id="R9196b0bf7ab94727" /><Relationship Type="http://schemas.openxmlformats.org/officeDocument/2006/relationships/slide" Target="/ppt/slides/slide2.xml" Id="Rd80b08e471f44c9c" /><Relationship Type="http://schemas.openxmlformats.org/officeDocument/2006/relationships/slide" Target="/ppt/slides/slide3.xml" Id="R7c4de5abab324dae" /><Relationship Type="http://schemas.openxmlformats.org/officeDocument/2006/relationships/slide" Target="/ppt/slides/slide4.xml" Id="R490ae8ec821542bb" /><Relationship Type="http://schemas.openxmlformats.org/officeDocument/2006/relationships/slide" Target="/ppt/slides/slide5.xml" Id="R9c3c05327c5748c6" /><Relationship Type="http://schemas.openxmlformats.org/officeDocument/2006/relationships/slide" Target="/ppt/slides/slide6.xml" Id="R622dcf28044b4e74" /><Relationship Type="http://schemas.openxmlformats.org/officeDocument/2006/relationships/slide" Target="/ppt/slides/slide7.xml" Id="R1d77c438f923491f" /><Relationship Type="http://schemas.openxmlformats.org/officeDocument/2006/relationships/slide" Target="/ppt/slides/slide8.xml" Id="R8224b204a691421d" /><Relationship Type="http://schemas.openxmlformats.org/officeDocument/2006/relationships/slide" Target="/ppt/slides/slide9.xml" Id="R08982758ed524fa2" /><Relationship Type="http://schemas.openxmlformats.org/officeDocument/2006/relationships/slide" Target="/ppt/slides/slide10.xml" Id="R2a5331a9755044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2c5a970e504a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cd83cdfd474803" /><Relationship Type="http://schemas.openxmlformats.org/officeDocument/2006/relationships/notesMaster" Target="/ppt/notesMasters/notesMaster1.xml" Id="Rd4f7356d7c7642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17e211fac7488d" /><Relationship Type="http://schemas.openxmlformats.org/officeDocument/2006/relationships/notesMaster" Target="/ppt/notesMasters/notesMaster1.xml" Id="R827615c53dde46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ed77df5a244e93" /><Relationship Type="http://schemas.openxmlformats.org/officeDocument/2006/relationships/notesMaster" Target="/ppt/notesMasters/notesMaster1.xml" Id="Rcd6b1e90fdf446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2303d952764444" /><Relationship Type="http://schemas.openxmlformats.org/officeDocument/2006/relationships/notesMaster" Target="/ppt/notesMasters/notesMaster1.xml" Id="R7c13e410241e4c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6abda29f7442da" /><Relationship Type="http://schemas.openxmlformats.org/officeDocument/2006/relationships/notesMaster" Target="/ppt/notesMasters/notesMaster1.xml" Id="R2c633fbf383141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6ac964983d467d" /><Relationship Type="http://schemas.openxmlformats.org/officeDocument/2006/relationships/notesMaster" Target="/ppt/notesMasters/notesMaster1.xml" Id="Re45570d677de455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ab8c4ea55f492b" /><Relationship Type="http://schemas.openxmlformats.org/officeDocument/2006/relationships/notesMaster" Target="/ppt/notesMasters/notesMaster1.xml" Id="Rf68dac43fbb346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70238ef31f48b8" /><Relationship Type="http://schemas.openxmlformats.org/officeDocument/2006/relationships/notesMaster" Target="/ppt/notesMasters/notesMaster1.xml" Id="R0f40d1e721a04b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bfff085c1c749af" /><Relationship Type="http://schemas.openxmlformats.org/officeDocument/2006/relationships/notesMaster" Target="/ppt/notesMasters/notesMaster1.xml" Id="R390c4c9198d34b5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270b5c1b5f541fc" /><Relationship Type="http://schemas.openxmlformats.org/officeDocument/2006/relationships/notesMaster" Target="/ppt/notesMasters/notesMaster1.xml" Id="R7949656c29624f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0:00–0:50】</a:t>
            </a:r>
          </a:p>
          <a:p xmlns:a="http://schemas.openxmlformats.org/drawingml/2006/main">
            <a:r>
              <a:t>まず、この研究が想定している利用場面から説明します。前提として、すべてのclientとcloudは同じtaskと共通のoutput meaningを持ちます。同じ危険検知taskを行う自動運転車やrobotでも、昼の市街地と夜間の道路では、各clientがprivate dataから獲得する局所適応挙動が異なります。目指す価値は、各現場の経験をcloud側へ還元し、共通taskのprediction quality改善に生かすことです。しかし、FedAvgが統合できるのは同じ構造のsurrogate間です。構造や規模が異なるcloud側foundationへparameterをそのまま渡すことはできません。また、共通・公開data上で出力を交換する蒸留が多い一方、今回はclientとcloudで整合用dataを共有しません。そこでFedPACTは、private映像そのものではなく、局所適応後の予測と変化方向を要約し、server seed上のproxyとして顕在化して、異種foundationへ反映できるかを検証します。対象は場面の意味内容全体ではなく、共通task上の予測挙動です。server seedだけでclient側の適応を十分coverできる場合は追加効果が小さくなるため、必要性と性能への効果は第II段階で比較します。今回の第I段階は、その価値の実証ではなく、まず情報の流れを接続して追跡できるかの確認です。</a:t>
            </a:r>
          </a:p>
          <a:p xmlns:a="http://schemas.openxmlformats.org/drawingml/2006/main">
            <a:r>
              <a:t/>
            </a:r>
          </a:p>
          <a:p xmlns:a="http://schemas.openxmlformats.org/drawingml/2006/main">
            <a:r>
              <a:t>【根拠】</a:t>
            </a:r>
          </a:p>
          <a:p xmlns:a="http://schemas.openxmlformats.org/drawingml/2006/main">
            <a:r>
              <a:t>notes/advisor/sources/raw/2026-09-16/slack_zettsu_reply_to_chen_ja_date_unknown_received_2026-09-16.md（11:00、target scenario、既存手法との違い、server seedとproxyの位置付け）</a:t>
            </a:r>
          </a:p>
          <a:p xmlns:a="http://schemas.openxmlformats.org/drawingml/2006/main">
            <a:r>
              <a:t>notes/advisor/sources/raw/2026-09-01/FedPACT手法提案260901.pdf（研究目的とproxy-mediated transfer）</a:t>
            </a:r>
          </a:p>
          <a:p xmlns:a="http://schemas.openxmlformats.org/drawingml/2006/main">
            <a:r>
              <a:t>画像: artifacts/datasets/frames/train/003d6c3909/003.jpg, artifacts/datasets/frames/train/b82e955a9fdf13e2/003.jpg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0:40–1:30】</a:t>
            </a:r>
          </a:p>
          <a:p xmlns:a="http://schemas.openxmlformats.org/drawingml/2006/main">
            <a:r>
              <a:t>具体的には、昼の市街地と夜の高速道路では映像の意味内容が違います。FedPACTはfull scene semanticsを同じだとは仮定しません。現在のnormal／riskという共通出力空間で、各clientのprivate dataによって予測がどう変わったかをserver側で再構成し、異なるfoundation modelへ渡すことが対象です。</a:t>
            </a:r>
          </a:p>
          <a:p xmlns:a="http://schemas.openxmlformats.org/drawingml/2006/main">
            <a:r>
              <a:t/>
            </a:r>
          </a:p>
          <a:p xmlns:a="http://schemas.openxmlformats.org/drawingml/2006/main">
            <a:r>
              <a:t>【根拠】</a:t>
            </a:r>
          </a:p>
          <a:p xmlns:a="http://schemas.openxmlformats.org/drawingml/2006/main">
            <a:r>
              <a:t>notes/advisor/sources/raw/2026-09-16/slack_zettsu_reply_to_chen_ja_date_unknown_received_2026-09-16.md（target scenario、Similar logits、server seedの説明）</a:t>
            </a:r>
          </a:p>
          <a:p xmlns:a="http://schemas.openxmlformats.org/drawingml/2006/main">
            <a:r>
              <a:t>notes/advisor/sources/raw/2026-09-01/FedPACT手法提案260901.pdf（基準表記）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1:30–2:20】</a:t>
            </a:r>
          </a:p>
          <a:p xmlns:a="http://schemas.openxmlformats.org/drawingml/2006/main">
            <a:r>
              <a:t>先週以降の大きな更新は三つです。Chen先生から、現在の構成では問題が起きた箇所を切り分けにくいという指摘がありました。教授は三層構造を維持しつつ、Layer 2を研究の中核に置き、第I段階では性能よりも接続と追跡可能性を確認する方針を明確にしました。その方針に沿って、9月17日に3 roundを実行しました。</a:t>
            </a:r>
          </a:p>
          <a:p xmlns:a="http://schemas.openxmlformats.org/drawingml/2006/main">
            <a:r>
              <a:t/>
            </a:r>
          </a:p>
          <a:p xmlns:a="http://schemas.openxmlformats.org/drawingml/2006/main">
            <a:r>
              <a:t>【根拠】</a:t>
            </a:r>
          </a:p>
          <a:p xmlns:a="http://schemas.openxmlformats.org/drawingml/2006/main">
            <a:r>
              <a:t>notes/advisor/sources/raw/2026-09-15/slack_2026-09-15.md</a:t>
            </a:r>
          </a:p>
          <a:p xmlns:a="http://schemas.openxmlformats.org/drawingml/2006/main">
            <a:r>
              <a:t>notes/advisor/sources/raw/2026-09-15/Comments and suggestions_260915.pdf, pp.1–5</a:t>
            </a:r>
          </a:p>
          <a:p xmlns:a="http://schemas.openxmlformats.org/drawingml/2006/main">
            <a:r>
              <a:t>notes/advisor/sources/raw/2026-09-16/slack_zettsu_experiment_feedback_date_unknown_received_2026-09-16.md</a:t>
            </a:r>
          </a:p>
          <a:p xmlns:a="http://schemas.openxmlformats.org/drawingml/2006/main">
            <a:r>
              <a:t>notes/advisor/sources/raw/2026-09-16/slack_zettsu_reply_to_chen_ja_date_unknown_received_2026-09-16.md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2:20–3:10】</a:t>
            </a:r>
          </a:p>
          <a:p xmlns:a="http://schemas.openxmlformats.org/drawingml/2006/main">
            <a:r>
              <a:t>ここは自作の9月16日共有版フローチャートへ差し替えてください。説明では、Layer 1は複数clientのsurrogate更新をFedAvgする部分、Layer 2はclientの予測挙動をserver-side seed上でproxyとして顕在化する中核部分、Layer 3はP_{k,r}=(x̃_{k,r}, μ^{post}_{k,r})でfoundation LoRAを更新する部分、とだけ整理します。今回の実験は、この三層をまたいで次roundまでstateが正しく渡るかを確認しています。</a:t>
            </a:r>
          </a:p>
          <a:p xmlns:a="http://schemas.openxmlformats.org/drawingml/2006/main">
            <a:r>
              <a:t/>
            </a:r>
          </a:p>
          <a:p xmlns:a="http://schemas.openxmlformats.org/drawingml/2006/main">
            <a:r>
              <a:t>【根拠】</a:t>
            </a:r>
          </a:p>
          <a:p xmlns:a="http://schemas.openxmlformats.org/drawingml/2006/main">
            <a:r>
              <a:t>notes/advisor/sources/raw/2026-09-16/slack_zettsu_flow_feedback_date_unknown_received_2026-09-16.md</a:t>
            </a:r>
          </a:p>
          <a:p xmlns:a="http://schemas.openxmlformats.org/drawingml/2006/main">
            <a:r>
              <a:t>notes/advisor/sources/raw/2026-09-15/進捗会0911_吉村有生_3.pptx（実日付9月15日、最終承認前）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3:10–4:10】</a:t>
            </a:r>
          </a:p>
          <a:p xmlns:a="http://schemas.openxmlformats.org/drawingml/2006/main">
            <a:r>
              <a:t>今回の合格条件は、2 clientの局所更新からFedAvg、Layer 2、foundation更新、次roundまでをログで追えることです。性能比較は行いません。重要なのは、最初のrunでrisk区間を選べていない問題を発見し、その結果を研究上の証拠から外したことです。修正版ではriskのalertからeventまでの4時刻を使い、normalは対応するriskと同じ絶対時刻にそろえました。</a:t>
            </a:r>
          </a:p>
          <a:p xmlns:a="http://schemas.openxmlformats.org/drawingml/2006/main">
            <a:r>
              <a:t/>
            </a:r>
          </a:p>
          <a:p xmlns:a="http://schemas.openxmlformats.org/drawingml/2006/main">
            <a:r>
              <a:t>【根拠】</a:t>
            </a:r>
          </a:p>
          <a:p xmlns:a="http://schemas.openxmlformats.org/drawingml/2006/main">
            <a:r>
              <a:t>notes/advisor/CURRENT.md（2026-09-17 01:12時点の入力問題）</a:t>
            </a:r>
          </a:p>
          <a:p xmlns:a="http://schemas.openxmlformats.org/drawingml/2006/main">
            <a:r>
              <a:t>artifacts/datasets/fedpact_stage1/manifest_paired_alert_quartiles.jsonl</a:t>
            </a:r>
          </a:p>
          <a:p xmlns:a="http://schemas.openxmlformats.org/drawingml/2006/main">
            <a:r>
              <a:t>artifacts/runs/fedpact_stage1/p1d_full_20260917_02/summary.json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4:10–5:20】</a:t>
            </a:r>
          </a:p>
          <a:p xmlns:a="http://schemas.openxmlformats.org/drawingml/2006/main">
            <a:r>
              <a:t>一つの動画を具体的に追います。白い車が横から接近するrisk動画で、局所学習前のrisk確率は0.349、学習後は0.644、変化はプラス0.295でした。同じclassの3本を平均すると、μ^{post}_{k,r}のrisk成分は0.724、Δμ_{k,r}はプラス0.238、frequencyは3です。serverへ送るのはこのprototypeとモデル更新であり、private映像やsample IDではありません。</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artifacts/runs/fedpact_stage1/p1d_layer1_20260917_01/client_local/client-0/private_trace.json（sample 15a4f810cc4c2aef）</a:t>
            </a:r>
          </a:p>
          <a:p xmlns:a="http://schemas.openxmlformats.org/drawingml/2006/main">
            <a:r>
              <a:t>artifacts/runs/fedpact_stage1/p1d_layer1_20260917_01/communication/client-0/payload.json（r1-client-0-class1）</a:t>
            </a:r>
          </a:p>
          <a:p xmlns:a="http://schemas.openxmlformats.org/drawingml/2006/main">
            <a:r>
              <a:t>artifacts/runs/fedpact_stage1/p1d_layer1_20260917_01/client_local/client-0/communication_audit.json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5:20–6:30】</a:t>
            </a:r>
          </a:p>
          <a:p xmlns:a="http://schemas.openxmlformats.org/drawingml/2006/main">
            <a:r>
              <a:t>前のprototypeに対して、serverはnormal labelのseedを選びました。更新後global surrogateのrisk出力は0.724でtargetとほぼ一致しました。一方、局所学習による変化量はtargetがプラス0.238、proxy上ではプラス0.051でした。つまり、最終出力だけを近づけても、clientが学習した変化を十分に再現したとは言えません。ここがLayer 2の中心的な評価対象です。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artifacts/runs/fedpact_stage1/p1d_full_20260917_02/server/layer2_trace.json（r1-client-0-class1 selection）</a:t>
            </a:r>
          </a:p>
          <a:p xmlns:a="http://schemas.openxmlformats.org/drawingml/2006/main">
            <a:r>
              <a:t>artifacts/runs/fedpact_stage1/p1d_full_20260917_02/server/proxy_pairs.json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6:30–7:25】</a:t>
            </a:r>
          </a:p>
          <a:p xmlns:a="http://schemas.openxmlformats.org/drawingml/2006/main">
            <a:r>
              <a:t>round 1の4 prototypeを並べると、deltaの符号は3件で一致し、client-1のnormalだけ逆向きでした。また、prototype classと選択seed labelは4件すべて不一致でした。ただしround 2と3では各3件が一致しています。さらに、60本のseedのうちlabelと更新後global surrogateのargmaxが一致したのは43本です。原因を検索だけに帰属せず、model誤分類、検索挙動、postでtop 3へ絞ってからdeltaを比較する候補生成を分けて確認します。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a:t>
            </a:r>
          </a:p>
          <a:p xmlns:a="http://schemas.openxmlformats.org/drawingml/2006/main">
            <a:r>
              <a:t>artifacts/reports/fedpact_stage1_20260917/slack_report.md（診断上の観測事実）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7:25–8:45】</a:t>
            </a:r>
          </a:p>
          <a:p xmlns:a="http://schemas.openxmlformats.org/drawingml/2006/main">
            <a:r>
              <a:t>3 roundを通して、global surrogateとfoundationのcheckpointおよびtensor digestがround間で一致し、state継承を確認しました。client更新は毎round非ゼロで、FedAvgの独立再計算差も10のマイナス10程度でした。一方、round 3では学習率10のマイナス6から10のマイナス11まで、同じ4 pair上の加重KLを減らす条件を満たせませんでした。第I段階の実行確認として更新は完了しましたが、安定した知識転移の証拠にはしません。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artifacts/reports/fedpact_stage1_20260917/three_round_state_lineage.md</a:t>
            </a:r>
          </a:p>
          <a:p xmlns:a="http://schemas.openxmlformats.org/drawingml/2006/main">
            <a:r>
              <a:t>artifacts/reports/fedpact_stage1_20260917/three_round_state_lineage.json</a:t>
            </a:r>
          </a:p>
          <a:p xmlns:a="http://schemas.openxmlformats.org/drawingml/2006/main">
            <a:r>
              <a:t>artifacts/runs/fedpact_stage1/p1d_round3_full_20260917_02/summary.json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8:45–10:00】</a:t>
            </a:r>
          </a:p>
          <a:p xmlns:a="http://schemas.openxmlformats.org/drawingml/2006/main">
            <a:r>
              <a:t>次は5 roundへ直ちに進まず、round 3のfoundation更新を最小条件で切り分けます。これが解消した後に5 roundのstate継承を確認します。その後、第II段階でServer Only、Post Only、Post + Deltaを同じ条件で比較します。最終評価には、局所学習、prototype作成、server検索、条件選択に使っていない評価用データを用います。今週の到達点は、3 roundを通し、次に見るべき場所をLayer 2のdelta再現とLayer 3の更新へ絞れたことです。</a:t>
            </a:r>
          </a:p>
          <a:p xmlns:a="http://schemas.openxmlformats.org/drawingml/2006/main">
            <a:r>
              <a:t/>
            </a:r>
          </a:p>
          <a:p xmlns:a="http://schemas.openxmlformats.org/drawingml/2006/main">
            <a:r>
              <a:t>【根拠】</a:t>
            </a:r>
          </a:p>
          <a:p xmlns:a="http://schemas.openxmlformats.org/drawingml/2006/main">
            <a:r>
              <a:t>notes/advisor/sources/raw/2026-09-16/slack_zettsu_experiment_feedback_date_unknown_received_2026-09-16.md</a:t>
            </a:r>
          </a:p>
          <a:p xmlns:a="http://schemas.openxmlformats.org/drawingml/2006/main">
            <a:r>
              <a:t>notes/advisor/sources/raw/2026-09-15/Comments and suggestions_260915.pdf, p.4</a:t>
            </a:r>
          </a:p>
          <a:p xmlns:a="http://schemas.openxmlformats.org/drawingml/2006/main">
            <a:r>
              <a:t>artifacts/reports/fedpact_stage1_20260917/three_round_state_lineage.md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eb300cf9e744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4472a0867a4444" /><Relationship Type="http://schemas.openxmlformats.org/officeDocument/2006/relationships/slideLayout" Target="/ppt/slideLayouts/slideLayout1.xml" Id="Re6c7ca5378b846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c7ca5378b846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6cf16647474f25" /><Relationship Type="http://schemas.openxmlformats.org/officeDocument/2006/relationships/image" Target="/ppt/media/image.jpeg" Id="R51ab80387f29447b" /><Relationship Type="http://schemas.openxmlformats.org/officeDocument/2006/relationships/image" Target="/ppt/media/image2.jpeg" Id="Rb308a290aea740c1" /><Relationship Type="http://schemas.openxmlformats.org/officeDocument/2006/relationships/notesSlide" Target="/ppt/notesSlides/notesSlide1.xml" Id="R45098920b5df43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8934cf568e24b51" /><Relationship Type="http://schemas.openxmlformats.org/officeDocument/2006/relationships/image" Target="/ppt/media/image3.jpeg" Id="R0a05254dbe514439" /><Relationship Type="http://schemas.openxmlformats.org/officeDocument/2006/relationships/image" Target="/ppt/media/image4.jpeg" Id="R7406b29500194801" /><Relationship Type="http://schemas.openxmlformats.org/officeDocument/2006/relationships/notesSlide" Target="/ppt/notesSlides/notesSlide2.xml" Id="R94951281d5174d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69ca1d2b82e4b33" /><Relationship Type="http://schemas.openxmlformats.org/officeDocument/2006/relationships/notesSlide" Target="/ppt/notesSlides/notesSlide3.xml" Id="Rc5ff8fa232be45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726100df2949eb" /><Relationship Type="http://schemas.openxmlformats.org/officeDocument/2006/relationships/notesSlide" Target="/ppt/notesSlides/notesSlide4.xml" Id="R1c0853a7805b44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3186afe7a2948d7" /><Relationship Type="http://schemas.openxmlformats.org/officeDocument/2006/relationships/image" Target="/ppt/media/image5.jpeg" Id="R576a85213e1e468d" /><Relationship Type="http://schemas.openxmlformats.org/officeDocument/2006/relationships/image" Target="/ppt/media/image6.jpeg" Id="R339e6fcf68944e45" /><Relationship Type="http://schemas.openxmlformats.org/officeDocument/2006/relationships/image" Target="/ppt/media/image7.jpeg" Id="Rc7aa200f4bd846ec" /><Relationship Type="http://schemas.openxmlformats.org/officeDocument/2006/relationships/image" Target="/ppt/media/image8.jpeg" Id="R016188237e9c4aef" /><Relationship Type="http://schemas.openxmlformats.org/officeDocument/2006/relationships/notesSlide" Target="/ppt/notesSlides/notesSlide5.xml" Id="R0427ee3d63f14e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348eaebe1cf4c6e" /><Relationship Type="http://schemas.openxmlformats.org/officeDocument/2006/relationships/image" Target="/ppt/media/image9.jpeg" Id="Rcfc97f9c0ceb4701" /><Relationship Type="http://schemas.openxmlformats.org/officeDocument/2006/relationships/image" Target="/ppt/media/image10.jpeg" Id="R754ef3f2c1be4222" /><Relationship Type="http://schemas.openxmlformats.org/officeDocument/2006/relationships/image" Target="/ppt/media/image11.jpeg" Id="Rb275f98a707f4b63" /><Relationship Type="http://schemas.openxmlformats.org/officeDocument/2006/relationships/image" Target="/ppt/media/image12.jpeg" Id="R4596468c4fb4460d" /><Relationship Type="http://schemas.openxmlformats.org/officeDocument/2006/relationships/notesSlide" Target="/ppt/notesSlides/notesSlide6.xml" Id="Re6eb006f36a04b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e352384424e4467" /><Relationship Type="http://schemas.openxmlformats.org/officeDocument/2006/relationships/image" Target="/ppt/media/image13.jpeg" Id="R4d7892684e27476d" /><Relationship Type="http://schemas.openxmlformats.org/officeDocument/2006/relationships/image" Target="/ppt/media/image14.jpeg" Id="R67c258c877b74c89" /><Relationship Type="http://schemas.openxmlformats.org/officeDocument/2006/relationships/image" Target="/ppt/media/image15.jpeg" Id="Rc698af2403624308" /><Relationship Type="http://schemas.openxmlformats.org/officeDocument/2006/relationships/image" Target="/ppt/media/image16.jpeg" Id="Re24b00164a32411a" /><Relationship Type="http://schemas.openxmlformats.org/officeDocument/2006/relationships/notesSlide" Target="/ppt/notesSlides/notesSlide7.xml" Id="Rd4fc2940f93447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69f66188caa46f2" /><Relationship Type="http://schemas.openxmlformats.org/officeDocument/2006/relationships/notesSlide" Target="/ppt/notesSlides/notesSlide8.xml" Id="R52da0e3c106949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272e86958ff4cd2" /><Relationship Type="http://schemas.openxmlformats.org/officeDocument/2006/relationships/notesSlide" Target="/ppt/notesSlides/notesSlide9.xml" Id="R8c9629ef0a97493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387ab6310a649fb" /><Relationship Type="http://schemas.openxmlformats.org/officeDocument/2006/relationships/notesSlide" Target="/ppt/notesSlides/notesSlide10.xml" Id="R1bb8aa9ab4fb45e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B03D8A51-122F-42F0-989E-97C05A3AD0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E12B5E-3EFF-4058-A9FE-998506E12713}"/>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A177D75-2DC6-4056-834A-EF7ADFF5C8DD}"/>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異なる現場で得た適応を、cloud側のfoundationへ還元する</a:t>
            </a:r>
          </a:p>
        </p:txBody>
      </p:sp>
      <p:sp>
        <p:nvSpPr>
          <p:cNvPr id="4" name="">
            <a:extLst xmlns:a="http://schemas.openxmlformats.org/drawingml/2006/main">
              <a:ext uri="{FF2B5EF4-FFF2-40B4-BE49-F238E27FC236}">
                <a16:creationId xmlns:a16="http://schemas.microsoft.com/office/drawing/2014/main" id="{B77B6DB8-BA8C-4284-9A9E-5B0F5B6B9763}"/>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01</a:t>
            </a:r>
          </a:p>
        </p:txBody>
      </p:sp>
      <p:sp>
        <p:nvSpPr>
          <p:cNvPr id="5" name="">
            <a:extLst xmlns:a="http://schemas.openxmlformats.org/drawingml/2006/main">
              <a:ext uri="{FF2B5EF4-FFF2-40B4-BE49-F238E27FC236}">
                <a16:creationId xmlns:a16="http://schemas.microsoft.com/office/drawing/2014/main" id="{1AFCC855-5A98-4DA5-9A07-157263E65D75}"/>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7958EBC-DD5E-4DC1-A720-8F58A094BA5B}"/>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BC90D33E-4233-4732-BFAB-2D38AE429D99}"/>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1 / 10</a:t>
            </a:r>
          </a:p>
        </p:txBody>
      </p:sp>
      <p:sp>
        <p:nvSpPr>
          <p:cNvPr id="8" name="">
            <a:extLst xmlns:a="http://schemas.openxmlformats.org/drawingml/2006/main">
              <a:ext uri="{FF2B5EF4-FFF2-40B4-BE49-F238E27FC236}">
                <a16:creationId xmlns:a16="http://schemas.microsoft.com/office/drawing/2014/main" id="{F0BDE3F0-8B8D-485D-92B3-5511DA00E3E1}"/>
              </a:ext>
            </a:extLst>
          </p:cNvPr>
          <p:cNvSpPr>
            <a:spLocks xmlns:a="http://schemas.openxmlformats.org/drawingml/2006/main" noGrp="1"/>
          </p:cNvSpPr>
          <p:nvPr/>
        </p:nvSpPr>
        <p:spPr>
          <a:xfrm xmlns:a="http://schemas.openxmlformats.org/drawingml/2006/main">
            <a:off x="666750" y="981075"/>
            <a:ext cx="1062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同じ危険検知task・共通のnormal／riskでも、場所や時間が変われば、各clientが経験する状況は異なる</a:t>
            </a:r>
          </a:p>
        </p:txBody>
      </p:sp>
      <p:sp>
        <p:nvSpPr>
          <p:cNvPr id="9" name="">
            <a:extLst xmlns:a="http://schemas.openxmlformats.org/drawingml/2006/main">
              <a:ext uri="{FF2B5EF4-FFF2-40B4-BE49-F238E27FC236}">
                <a16:creationId xmlns:a16="http://schemas.microsoft.com/office/drawing/2014/main" id="{5C3ED5FD-C6D6-49D9-921C-12C18268D509}"/>
              </a:ext>
            </a:extLst>
          </p:cNvPr>
          <p:cNvSpPr>
            <a:spLocks xmlns:a="http://schemas.openxmlformats.org/drawingml/2006/main" noGrp="1"/>
          </p:cNvSpPr>
          <p:nvPr/>
        </p:nvSpPr>
        <p:spPr>
          <a:xfrm xmlns:a="http://schemas.openxmlformats.org/drawingml/2006/main">
            <a:off x="552450" y="1438275"/>
            <a:ext cx="3486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73B4B"/>
                </a:solidFill>
                <a:latin typeface="Yu Gothic"/>
                <a:ea typeface="Yu Gothic"/>
                <a:cs typeface="Yu Gothic"/>
              </a:defRPr>
            </a:pPr>
            <a:r>
              <a:rPr sz="1575" b="1">
                <a:solidFill>
                  <a:srgbClr val="173B4B"/>
                </a:solidFill>
                <a:latin typeface="Yu Gothic"/>
                <a:ea typeface="Yu Gothic"/>
                <a:cs typeface="Yu Gothic"/>
              </a:rPr>
              <a:t>1　想定する利用場面と価値</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51ab80387f29447b"/>
          <a:srcRect xmlns:a="http://schemas.openxmlformats.org/drawingml/2006/main" l="5804" t="0" r="5804" b="0"/>
          <a:stretch xmlns:a="http://schemas.openxmlformats.org/drawingml/2006/main">
            <a:fillRect l="0" t="0" r="0" b="0"/>
          </a:stretch>
        </p:blipFill>
        <p:spPr>
          <a:xfrm xmlns:a="http://schemas.openxmlformats.org/drawingml/2006/main">
            <a:off x="552450" y="1838325"/>
            <a:ext cx="1676400" cy="1066800"/>
          </a:xfrm>
          <a:prstGeom xmlns:a="http://schemas.openxmlformats.org/drawingml/2006/main" prst="rect">
            <a:avLst/>
          </a:prstGeom>
        </p:spPr>
      </p:pic>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b308a290aea740c1"/>
          <a:srcRect xmlns:a="http://schemas.openxmlformats.org/drawingml/2006/main" l="5804" t="0" r="5804" b="0"/>
          <a:stretch xmlns:a="http://schemas.openxmlformats.org/drawingml/2006/main">
            <a:fillRect l="0" t="0" r="0" b="0"/>
          </a:stretch>
        </p:blipFill>
        <p:spPr>
          <a:xfrm xmlns:a="http://schemas.openxmlformats.org/drawingml/2006/main">
            <a:off x="2343150" y="1838325"/>
            <a:ext cx="1676400" cy="1066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560A2E54-6C7F-4C99-95CC-0E9CD28EA59D}"/>
              </a:ext>
            </a:extLst>
          </p:cNvPr>
          <p:cNvSpPr>
            <a:spLocks xmlns:a="http://schemas.openxmlformats.org/drawingml/2006/main" noGrp="1"/>
          </p:cNvSpPr>
          <p:nvPr/>
        </p:nvSpPr>
        <p:spPr>
          <a:xfrm xmlns:a="http://schemas.openxmlformats.org/drawingml/2006/main">
            <a:off x="561975" y="2962275"/>
            <a:ext cx="1657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client A</a:t>
            </a:r>
          </a:p>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昼間・市街地</a:t>
            </a:r>
          </a:p>
        </p:txBody>
      </p:sp>
      <p:sp>
        <p:nvSpPr>
          <p:cNvPr id="13" name="">
            <a:extLst xmlns:a="http://schemas.openxmlformats.org/drawingml/2006/main">
              <a:ext uri="{FF2B5EF4-FFF2-40B4-BE49-F238E27FC236}">
                <a16:creationId xmlns:a16="http://schemas.microsoft.com/office/drawing/2014/main" id="{C166FC76-9F5F-4D35-8A0A-14E55E76222D}"/>
              </a:ext>
            </a:extLst>
          </p:cNvPr>
          <p:cNvSpPr>
            <a:spLocks xmlns:a="http://schemas.openxmlformats.org/drawingml/2006/main" noGrp="1"/>
          </p:cNvSpPr>
          <p:nvPr/>
        </p:nvSpPr>
        <p:spPr>
          <a:xfrm xmlns:a="http://schemas.openxmlformats.org/drawingml/2006/main">
            <a:off x="2352675" y="2962275"/>
            <a:ext cx="1657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client B</a:t>
            </a:r>
          </a:p>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夜間・交差点</a:t>
            </a:r>
          </a:p>
        </p:txBody>
      </p:sp>
      <p:sp>
        <p:nvSpPr>
          <p:cNvPr id="14" name="">
            <a:extLst xmlns:a="http://schemas.openxmlformats.org/drawingml/2006/main">
              <a:ext uri="{FF2B5EF4-FFF2-40B4-BE49-F238E27FC236}">
                <a16:creationId xmlns:a16="http://schemas.microsoft.com/office/drawing/2014/main" id="{DE43D4BA-BB1D-411D-B4DD-0FC447201152}"/>
              </a:ext>
            </a:extLst>
          </p:cNvPr>
          <p:cNvSpPr>
            <a:spLocks xmlns:a="http://schemas.openxmlformats.org/drawingml/2006/main" noGrp="1"/>
          </p:cNvSpPr>
          <p:nvPr/>
        </p:nvSpPr>
        <p:spPr>
          <a:xfrm xmlns:a="http://schemas.openxmlformats.org/drawingml/2006/main">
            <a:off x="628650" y="3571875"/>
            <a:ext cx="3324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各clientは、自分のprivate dataから</a:t>
            </a:r>
          </a:p>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異なる局所適応挙動を獲得する</a:t>
            </a:r>
          </a:p>
        </p:txBody>
      </p:sp>
      <p:sp>
        <p:nvSpPr>
          <p:cNvPr id="15" name="">
            <a:extLst xmlns:a="http://schemas.openxmlformats.org/drawingml/2006/main">
              <a:ext uri="{FF2B5EF4-FFF2-40B4-BE49-F238E27FC236}">
                <a16:creationId xmlns:a16="http://schemas.microsoft.com/office/drawing/2014/main" id="{F2E991B2-F89B-4758-B422-8D74756A5C89}"/>
              </a:ext>
            </a:extLst>
          </p:cNvPr>
          <p:cNvSpPr>
            <a:spLocks xmlns:a="http://schemas.openxmlformats.org/drawingml/2006/main" noGrp="1"/>
          </p:cNvSpPr>
          <p:nvPr/>
        </p:nvSpPr>
        <p:spPr>
          <a:xfrm xmlns:a="http://schemas.openxmlformats.org/drawingml/2006/main">
            <a:off x="552450" y="4343400"/>
            <a:ext cx="3467100" cy="8763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6D602B0-B019-407E-8258-BB22C3F6C0DA}"/>
              </a:ext>
            </a:extLst>
          </p:cNvPr>
          <p:cNvSpPr>
            <a:spLocks xmlns:a="http://schemas.openxmlformats.org/drawingml/2006/main" noGrp="1"/>
          </p:cNvSpPr>
          <p:nvPr/>
        </p:nvSpPr>
        <p:spPr>
          <a:xfrm xmlns:a="http://schemas.openxmlformats.org/drawingml/2006/main">
            <a:off x="742950" y="4467225"/>
            <a:ext cx="3086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147B78"/>
                </a:solidFill>
                <a:latin typeface="Yu Gothic"/>
                <a:ea typeface="Yu Gothic"/>
                <a:cs typeface="Yu Gothic"/>
              </a:defRPr>
            </a:pPr>
            <a:r>
              <a:rPr sz="1350" b="1">
                <a:solidFill>
                  <a:srgbClr val="147B78"/>
                </a:solidFill>
                <a:latin typeface="Yu Gothic"/>
                <a:ea typeface="Yu Gothic"/>
                <a:cs typeface="Yu Gothic"/>
              </a:rPr>
              <a:t>目指す価値</a:t>
            </a:r>
          </a:p>
        </p:txBody>
      </p:sp>
      <p:sp>
        <p:nvSpPr>
          <p:cNvPr id="17" name="">
            <a:extLst xmlns:a="http://schemas.openxmlformats.org/drawingml/2006/main">
              <a:ext uri="{FF2B5EF4-FFF2-40B4-BE49-F238E27FC236}">
                <a16:creationId xmlns:a16="http://schemas.microsoft.com/office/drawing/2014/main" id="{55696224-3950-4E6E-BE49-05B9A55127B9}"/>
              </a:ext>
            </a:extLst>
          </p:cNvPr>
          <p:cNvSpPr>
            <a:spLocks xmlns:a="http://schemas.openxmlformats.org/drawingml/2006/main" noGrp="1"/>
          </p:cNvSpPr>
          <p:nvPr/>
        </p:nvSpPr>
        <p:spPr>
          <a:xfrm xmlns:a="http://schemas.openxmlformats.org/drawingml/2006/main">
            <a:off x="723900" y="4752975"/>
            <a:ext cx="3124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00"/>
          </a:bodyPr>
          <a:lstStyle xmlns:a="http://schemas.openxmlformats.org/drawingml/2006/main"/>
          <a:p xmlns:a="http://schemas.openxmlformats.org/drawingml/2006/main">
            <a:pPr algn="ctr">
              <a:defRPr sz="1500" b="1">
                <a:solidFill>
                  <a:srgbClr val="173B4B"/>
                </a:solidFill>
                <a:latin typeface="Yu Gothic"/>
                <a:ea typeface="Yu Gothic"/>
                <a:cs typeface="Yu Gothic"/>
              </a:defRPr>
            </a:pPr>
            <a:r>
              <a:rPr sz="1500" b="1">
                <a:solidFill>
                  <a:srgbClr val="173B4B"/>
                </a:solidFill>
                <a:latin typeface="Yu Gothic"/>
                <a:ea typeface="Yu Gothic"/>
                <a:cs typeface="Yu Gothic"/>
              </a:rPr>
              <a:t>各現場の経験を、共通taskの</a:t>
            </a:r>
          </a:p>
          <a:p xmlns:a="http://schemas.openxmlformats.org/drawingml/2006/main">
            <a:pPr algn="ctr">
              <a:defRPr sz="1500" b="1">
                <a:solidFill>
                  <a:srgbClr val="173B4B"/>
                </a:solidFill>
                <a:latin typeface="Yu Gothic"/>
                <a:ea typeface="Yu Gothic"/>
                <a:cs typeface="Yu Gothic"/>
              </a:defRPr>
            </a:pPr>
            <a:r>
              <a:rPr sz="1500" b="1">
                <a:solidFill>
                  <a:srgbClr val="173B4B"/>
                </a:solidFill>
                <a:latin typeface="Yu Gothic"/>
                <a:ea typeface="Yu Gothic"/>
                <a:cs typeface="Yu Gothic"/>
              </a:rPr>
              <a:t>prediction quality改善に生かす</a:t>
            </a:r>
          </a:p>
        </p:txBody>
      </p:sp>
      <p:sp>
        <p:nvSpPr>
          <p:cNvPr id="18" name="">
            <a:extLst xmlns:a="http://schemas.openxmlformats.org/drawingml/2006/main">
              <a:ext uri="{FF2B5EF4-FFF2-40B4-BE49-F238E27FC236}">
                <a16:creationId xmlns:a16="http://schemas.microsoft.com/office/drawing/2014/main" id="{2E31CF31-3206-4C40-A7C7-E5D3BB535783}"/>
              </a:ext>
            </a:extLst>
          </p:cNvPr>
          <p:cNvSpPr>
            <a:spLocks xmlns:a="http://schemas.openxmlformats.org/drawingml/2006/main" noGrp="1"/>
          </p:cNvSpPr>
          <p:nvPr/>
        </p:nvSpPr>
        <p:spPr>
          <a:xfrm xmlns:a="http://schemas.openxmlformats.org/drawingml/2006/main">
            <a:off x="4267200" y="1438275"/>
            <a:ext cx="19050" cy="393382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10343CC-6955-4DBA-AB24-91A8FB7DE33C}"/>
              </a:ext>
            </a:extLst>
          </p:cNvPr>
          <p:cNvSpPr>
            <a:spLocks xmlns:a="http://schemas.openxmlformats.org/drawingml/2006/main" noGrp="1"/>
          </p:cNvSpPr>
          <p:nvPr/>
        </p:nvSpPr>
        <p:spPr>
          <a:xfrm xmlns:a="http://schemas.openxmlformats.org/drawingml/2006/main">
            <a:off x="4514850" y="1438275"/>
            <a:ext cx="3181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73B4B"/>
                </a:solidFill>
                <a:latin typeface="Yu Gothic"/>
                <a:ea typeface="Yu Gothic"/>
                <a:cs typeface="Yu Gothic"/>
              </a:defRPr>
            </a:pPr>
            <a:r>
              <a:rPr sz="1575" b="1">
                <a:solidFill>
                  <a:srgbClr val="173B4B"/>
                </a:solidFill>
                <a:latin typeface="Yu Gothic"/>
                <a:ea typeface="Yu Gothic"/>
                <a:cs typeface="Yu Gothic"/>
              </a:rPr>
              <a:t>2　従来手法で残る接続問題</a:t>
            </a:r>
          </a:p>
        </p:txBody>
      </p:sp>
      <p:sp>
        <p:nvSpPr>
          <p:cNvPr id="20" name="">
            <a:extLst xmlns:a="http://schemas.openxmlformats.org/drawingml/2006/main">
              <a:ext uri="{FF2B5EF4-FFF2-40B4-BE49-F238E27FC236}">
                <a16:creationId xmlns:a16="http://schemas.microsoft.com/office/drawing/2014/main" id="{B8EFFAC7-0884-401D-A742-7CD40DF74369}"/>
              </a:ext>
            </a:extLst>
          </p:cNvPr>
          <p:cNvSpPr>
            <a:spLocks xmlns:a="http://schemas.openxmlformats.org/drawingml/2006/main" noGrp="1"/>
          </p:cNvSpPr>
          <p:nvPr/>
        </p:nvSpPr>
        <p:spPr>
          <a:xfrm xmlns:a="http://schemas.openxmlformats.org/drawingml/2006/main">
            <a:off x="4648200" y="2028825"/>
            <a:ext cx="1285875" cy="43815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client surrogate</a:t>
            </a:r>
          </a:p>
        </p:txBody>
      </p:sp>
      <p:sp>
        <p:nvSpPr>
          <p:cNvPr id="21" name="">
            <a:extLst xmlns:a="http://schemas.openxmlformats.org/drawingml/2006/main">
              <a:ext uri="{FF2B5EF4-FFF2-40B4-BE49-F238E27FC236}">
                <a16:creationId xmlns:a16="http://schemas.microsoft.com/office/drawing/2014/main" id="{01DACA36-2C13-46E4-AF69-595BACA119A9}"/>
              </a:ext>
            </a:extLst>
          </p:cNvPr>
          <p:cNvSpPr>
            <a:spLocks xmlns:a="http://schemas.openxmlformats.org/drawingml/2006/main" noGrp="1"/>
          </p:cNvSpPr>
          <p:nvPr/>
        </p:nvSpPr>
        <p:spPr>
          <a:xfrm xmlns:a="http://schemas.openxmlformats.org/drawingml/2006/main">
            <a:off x="6096000" y="1943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FedAvg</a:t>
            </a:r>
          </a:p>
        </p:txBody>
      </p:sp>
      <p:sp>
        <p:nvSpPr>
          <p:cNvPr id="22" name="">
            <a:extLst xmlns:a="http://schemas.openxmlformats.org/drawingml/2006/main">
              <a:ext uri="{FF2B5EF4-FFF2-40B4-BE49-F238E27FC236}">
                <a16:creationId xmlns:a16="http://schemas.microsoft.com/office/drawing/2014/main" id="{C6EEC3F7-027A-4FEB-9AC0-2538D1737B34}"/>
              </a:ext>
            </a:extLst>
          </p:cNvPr>
          <p:cNvSpPr>
            <a:spLocks xmlns:a="http://schemas.openxmlformats.org/drawingml/2006/main" noGrp="1"/>
          </p:cNvSpPr>
          <p:nvPr/>
        </p:nvSpPr>
        <p:spPr>
          <a:xfrm xmlns:a="http://schemas.openxmlformats.org/drawingml/2006/main">
            <a:off x="5905500" y="2238375"/>
            <a:ext cx="876300"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C20B70E-4534-4A38-8152-43DD56908079}"/>
              </a:ext>
            </a:extLst>
          </p:cNvPr>
          <p:cNvSpPr>
            <a:spLocks xmlns:a="http://schemas.openxmlformats.org/drawingml/2006/main" noGrp="1"/>
          </p:cNvSpPr>
          <p:nvPr/>
        </p:nvSpPr>
        <p:spPr>
          <a:xfrm xmlns:a="http://schemas.openxmlformats.org/drawingml/2006/main">
            <a:off x="6886575" y="1971675"/>
            <a:ext cx="838200" cy="55245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global</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surrogate</a:t>
            </a:r>
          </a:p>
        </p:txBody>
      </p:sp>
      <p:sp>
        <p:nvSpPr>
          <p:cNvPr id="24" name="">
            <a:extLst xmlns:a="http://schemas.openxmlformats.org/drawingml/2006/main">
              <a:ext uri="{FF2B5EF4-FFF2-40B4-BE49-F238E27FC236}">
                <a16:creationId xmlns:a16="http://schemas.microsoft.com/office/drawing/2014/main" id="{3CB9B1E1-11D9-4963-897B-C1957EFB87F6}"/>
              </a:ext>
            </a:extLst>
          </p:cNvPr>
          <p:cNvSpPr>
            <a:spLocks xmlns:a="http://schemas.openxmlformats.org/drawingml/2006/main" noGrp="1"/>
          </p:cNvSpPr>
          <p:nvPr/>
        </p:nvSpPr>
        <p:spPr>
          <a:xfrm xmlns:a="http://schemas.openxmlformats.org/drawingml/2006/main">
            <a:off x="5857875" y="278130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850" b="1">
                <a:solidFill>
                  <a:srgbClr val="B94A3A"/>
                </a:solidFill>
                <a:latin typeface="Yu Gothic"/>
                <a:ea typeface="Yu Gothic"/>
                <a:cs typeface="Yu Gothic"/>
              </a:defRPr>
            </a:pPr>
            <a:r>
              <a:rPr sz="2850" b="1">
                <a:solidFill>
                  <a:srgbClr val="B94A3A"/>
                </a:solidFill>
                <a:latin typeface="Yu Gothic"/>
                <a:ea typeface="Yu Gothic"/>
                <a:cs typeface="Yu Gothic"/>
              </a:rPr>
              <a:t>×</a:t>
            </a:r>
          </a:p>
        </p:txBody>
      </p:sp>
      <p:sp>
        <p:nvSpPr>
          <p:cNvPr id="25" name="">
            <a:extLst xmlns:a="http://schemas.openxmlformats.org/drawingml/2006/main">
              <a:ext uri="{FF2B5EF4-FFF2-40B4-BE49-F238E27FC236}">
                <a16:creationId xmlns:a16="http://schemas.microsoft.com/office/drawing/2014/main" id="{2E45CB75-67EE-43AC-A291-3B7B3EBD5FD3}"/>
              </a:ext>
            </a:extLst>
          </p:cNvPr>
          <p:cNvSpPr>
            <a:spLocks xmlns:a="http://schemas.openxmlformats.org/drawingml/2006/main" noGrp="1"/>
          </p:cNvSpPr>
          <p:nvPr/>
        </p:nvSpPr>
        <p:spPr>
          <a:xfrm xmlns:a="http://schemas.openxmlformats.org/drawingml/2006/main">
            <a:off x="4657725" y="3371850"/>
            <a:ext cx="295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異種のcloud foundationへ</a:t>
            </a:r>
          </a:p>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parameterをそのまま渡せない</a:t>
            </a:r>
          </a:p>
        </p:txBody>
      </p:sp>
      <p:sp>
        <p:nvSpPr>
          <p:cNvPr id="26" name="">
            <a:extLst xmlns:a="http://schemas.openxmlformats.org/drawingml/2006/main">
              <a:ext uri="{FF2B5EF4-FFF2-40B4-BE49-F238E27FC236}">
                <a16:creationId xmlns:a16="http://schemas.microsoft.com/office/drawing/2014/main" id="{321A7A83-046A-4413-801E-52ACB74B0984}"/>
              </a:ext>
            </a:extLst>
          </p:cNvPr>
          <p:cNvSpPr>
            <a:spLocks xmlns:a="http://schemas.openxmlformats.org/drawingml/2006/main" noGrp="1"/>
          </p:cNvSpPr>
          <p:nvPr/>
        </p:nvSpPr>
        <p:spPr>
          <a:xfrm xmlns:a="http://schemas.openxmlformats.org/drawingml/2006/main">
            <a:off x="4619625" y="4248150"/>
            <a:ext cx="302895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915FA46-59DD-4D5A-8998-8943CC9A3A76}"/>
              </a:ext>
            </a:extLst>
          </p:cNvPr>
          <p:cNvSpPr>
            <a:spLocks xmlns:a="http://schemas.openxmlformats.org/drawingml/2006/main" noGrp="1"/>
          </p:cNvSpPr>
          <p:nvPr/>
        </p:nvSpPr>
        <p:spPr>
          <a:xfrm xmlns:a="http://schemas.openxmlformats.org/drawingml/2006/main">
            <a:off x="4495800" y="4438650"/>
            <a:ext cx="32766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617078"/>
                </a:solidFill>
                <a:latin typeface="Yu Gothic"/>
                <a:ea typeface="Yu Gothic"/>
                <a:cs typeface="Yu Gothic"/>
              </a:defRPr>
            </a:pPr>
            <a:r>
              <a:rPr sz="1275" b="0">
                <a:solidFill>
                  <a:srgbClr val="617078"/>
                </a:solidFill>
                <a:latin typeface="Yu Gothic"/>
                <a:ea typeface="Yu Gothic"/>
                <a:cs typeface="Yu Gothic"/>
              </a:rPr>
              <a:t>既存蒸留では共通・公開dataを使う例が多い</a:t>
            </a:r>
          </a:p>
          <a:p xmlns:a="http://schemas.openxmlformats.org/drawingml/2006/main">
            <a:pPr algn="ctr">
              <a:defRPr sz="1275" b="0">
                <a:solidFill>
                  <a:srgbClr val="617078"/>
                </a:solidFill>
                <a:latin typeface="Yu Gothic"/>
                <a:ea typeface="Yu Gothic"/>
                <a:cs typeface="Yu Gothic"/>
              </a:defRPr>
            </a:pPr>
            <a:r>
              <a:rPr sz="1275" b="0">
                <a:solidFill>
                  <a:srgbClr val="617078"/>
                </a:solidFill>
                <a:latin typeface="Yu Gothic"/>
                <a:ea typeface="Yu Gothic"/>
                <a:cs typeface="Yu Gothic"/>
              </a:rPr>
              <a:t>今回は整合用dataをclient／cloudで共有しない</a:t>
            </a:r>
          </a:p>
        </p:txBody>
      </p:sp>
      <p:sp>
        <p:nvSpPr>
          <p:cNvPr id="28" name="">
            <a:extLst xmlns:a="http://schemas.openxmlformats.org/drawingml/2006/main">
              <a:ext uri="{FF2B5EF4-FFF2-40B4-BE49-F238E27FC236}">
                <a16:creationId xmlns:a16="http://schemas.microsoft.com/office/drawing/2014/main" id="{779986D1-2183-4F21-BB7C-76B43971A758}"/>
              </a:ext>
            </a:extLst>
          </p:cNvPr>
          <p:cNvSpPr>
            <a:spLocks xmlns:a="http://schemas.openxmlformats.org/drawingml/2006/main" noGrp="1"/>
          </p:cNvSpPr>
          <p:nvPr/>
        </p:nvSpPr>
        <p:spPr>
          <a:xfrm xmlns:a="http://schemas.openxmlformats.org/drawingml/2006/main">
            <a:off x="7924800" y="1438275"/>
            <a:ext cx="19050" cy="393382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47FCD50-20AF-43E9-AC3E-02C331D2C98B}"/>
              </a:ext>
            </a:extLst>
          </p:cNvPr>
          <p:cNvSpPr>
            <a:spLocks xmlns:a="http://schemas.openxmlformats.org/drawingml/2006/main" noGrp="1"/>
          </p:cNvSpPr>
          <p:nvPr/>
        </p:nvSpPr>
        <p:spPr>
          <a:xfrm xmlns:a="http://schemas.openxmlformats.org/drawingml/2006/main">
            <a:off x="8153400" y="1438275"/>
            <a:ext cx="337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73B4B"/>
                </a:solidFill>
                <a:latin typeface="Yu Gothic"/>
                <a:ea typeface="Yu Gothic"/>
                <a:cs typeface="Yu Gothic"/>
              </a:defRPr>
            </a:pPr>
            <a:r>
              <a:rPr sz="1575" b="1">
                <a:solidFill>
                  <a:srgbClr val="173B4B"/>
                </a:solidFill>
                <a:latin typeface="Yu Gothic"/>
                <a:ea typeface="Yu Gothic"/>
                <a:cs typeface="Yu Gothic"/>
              </a:rPr>
              <a:t>3　FedPACTが担う接続</a:t>
            </a:r>
          </a:p>
        </p:txBody>
      </p:sp>
      <p:sp>
        <p:nvSpPr>
          <p:cNvPr id="30" name="">
            <a:extLst xmlns:a="http://schemas.openxmlformats.org/drawingml/2006/main">
              <a:ext uri="{FF2B5EF4-FFF2-40B4-BE49-F238E27FC236}">
                <a16:creationId xmlns:a16="http://schemas.microsoft.com/office/drawing/2014/main" id="{342815B8-8555-4B42-B075-302F4D884926}"/>
              </a:ext>
            </a:extLst>
          </p:cNvPr>
          <p:cNvSpPr>
            <a:spLocks xmlns:a="http://schemas.openxmlformats.org/drawingml/2006/main" noGrp="1"/>
          </p:cNvSpPr>
          <p:nvPr/>
        </p:nvSpPr>
        <p:spPr>
          <a:xfrm xmlns:a="http://schemas.openxmlformats.org/drawingml/2006/main">
            <a:off x="8334375" y="1952625"/>
            <a:ext cx="3000375" cy="6096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局所適応後の予測と</a:t>
            </a:r>
          </a:p>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変化方向の要約</a:t>
            </a:r>
          </a:p>
        </p:txBody>
      </p:sp>
      <p:sp>
        <p:nvSpPr>
          <p:cNvPr id="31" name="">
            <a:extLst xmlns:a="http://schemas.openxmlformats.org/drawingml/2006/main">
              <a:ext uri="{FF2B5EF4-FFF2-40B4-BE49-F238E27FC236}">
                <a16:creationId xmlns:a16="http://schemas.microsoft.com/office/drawing/2014/main" id="{C0B193B0-BC23-47A3-8447-98C65369F159}"/>
              </a:ext>
            </a:extLst>
          </p:cNvPr>
          <p:cNvSpPr>
            <a:spLocks xmlns:a="http://schemas.openxmlformats.org/drawingml/2006/main" noGrp="1"/>
          </p:cNvSpPr>
          <p:nvPr/>
        </p:nvSpPr>
        <p:spPr>
          <a:xfrm xmlns:a="http://schemas.openxmlformats.org/drawingml/2006/main">
            <a:off x="9801225" y="2562225"/>
            <a:ext cx="38100" cy="23812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F8B50BB-E3C2-4E5A-903B-9B8AABE5ECF5}"/>
              </a:ext>
            </a:extLst>
          </p:cNvPr>
          <p:cNvSpPr>
            <a:spLocks xmlns:a="http://schemas.openxmlformats.org/drawingml/2006/main" noGrp="1"/>
          </p:cNvSpPr>
          <p:nvPr/>
        </p:nvSpPr>
        <p:spPr>
          <a:xfrm xmlns:a="http://schemas.openxmlformats.org/drawingml/2006/main">
            <a:off x="8334375" y="2800350"/>
            <a:ext cx="3000375" cy="64770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server seed上で</a:t>
            </a:r>
          </a:p>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server-side proxyとして顕在化</a:t>
            </a:r>
          </a:p>
        </p:txBody>
      </p:sp>
      <p:sp>
        <p:nvSpPr>
          <p:cNvPr id="33" name="">
            <a:extLst xmlns:a="http://schemas.openxmlformats.org/drawingml/2006/main">
              <a:ext uri="{FF2B5EF4-FFF2-40B4-BE49-F238E27FC236}">
                <a16:creationId xmlns:a16="http://schemas.microsoft.com/office/drawing/2014/main" id="{663AB194-3137-409C-82E0-F6D007AD0A69}"/>
              </a:ext>
            </a:extLst>
          </p:cNvPr>
          <p:cNvSpPr>
            <a:spLocks xmlns:a="http://schemas.openxmlformats.org/drawingml/2006/main" noGrp="1"/>
          </p:cNvSpPr>
          <p:nvPr/>
        </p:nvSpPr>
        <p:spPr>
          <a:xfrm xmlns:a="http://schemas.openxmlformats.org/drawingml/2006/main">
            <a:off x="9801225" y="3448050"/>
            <a:ext cx="38100" cy="23812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3F8A2A02-4496-43DC-A3DA-BFC8E51E6E6F}"/>
              </a:ext>
            </a:extLst>
          </p:cNvPr>
          <p:cNvSpPr>
            <a:spLocks xmlns:a="http://schemas.openxmlformats.org/drawingml/2006/main" noGrp="1"/>
          </p:cNvSpPr>
          <p:nvPr/>
        </p:nvSpPr>
        <p:spPr>
          <a:xfrm xmlns:a="http://schemas.openxmlformats.org/drawingml/2006/main">
            <a:off x="8334375" y="3686175"/>
            <a:ext cx="3000375" cy="647700"/>
          </a:xfrm>
          <a:prstGeom xmlns:a="http://schemas.openxmlformats.org/drawingml/2006/main" prst="rect">
            <a:avLst/>
          </a:prstGeom>
          <a:solidFill xmlns:a="http://schemas.openxmlformats.org/drawingml/2006/main">
            <a:srgbClr val="FAE9D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異種foundationへ</a:t>
            </a:r>
          </a:p>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反映できるかを検証</a:t>
            </a:r>
          </a:p>
        </p:txBody>
      </p:sp>
      <p:sp>
        <p:nvSpPr>
          <p:cNvPr id="35" name="">
            <a:extLst xmlns:a="http://schemas.openxmlformats.org/drawingml/2006/main">
              <a:ext uri="{FF2B5EF4-FFF2-40B4-BE49-F238E27FC236}">
                <a16:creationId xmlns:a16="http://schemas.microsoft.com/office/drawing/2014/main" id="{6DF4E60D-1171-4FC3-9A45-3EDF7FC0EEEE}"/>
              </a:ext>
            </a:extLst>
          </p:cNvPr>
          <p:cNvSpPr>
            <a:spLocks xmlns:a="http://schemas.openxmlformats.org/drawingml/2006/main" noGrp="1"/>
          </p:cNvSpPr>
          <p:nvPr/>
        </p:nvSpPr>
        <p:spPr>
          <a:xfrm xmlns:a="http://schemas.openxmlformats.org/drawingml/2006/main">
            <a:off x="8401050" y="4572000"/>
            <a:ext cx="2867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E7833D"/>
                </a:solidFill>
                <a:latin typeface="Yu Gothic"/>
                <a:ea typeface="Yu Gothic"/>
                <a:cs typeface="Yu Gothic"/>
              </a:defRPr>
            </a:pPr>
            <a:r>
              <a:rPr sz="1575" b="1">
                <a:solidFill>
                  <a:srgbClr val="E7833D"/>
                </a:solidFill>
                <a:latin typeface="Yu Gothic"/>
                <a:ea typeface="Yu Gothic"/>
                <a:cs typeface="Yu Gothic"/>
              </a:rPr>
              <a:t>proxy-mediated transferが</a:t>
            </a:r>
          </a:p>
          <a:p xmlns:a="http://schemas.openxmlformats.org/drawingml/2006/main">
            <a:pPr algn="ctr">
              <a:defRPr sz="1575" b="1">
                <a:solidFill>
                  <a:srgbClr val="E7833D"/>
                </a:solidFill>
                <a:latin typeface="Yu Gothic"/>
                <a:ea typeface="Yu Gothic"/>
                <a:cs typeface="Yu Gothic"/>
              </a:defRPr>
            </a:pPr>
            <a:r>
              <a:rPr sz="1575" b="1">
                <a:solidFill>
                  <a:srgbClr val="E7833D"/>
                </a:solidFill>
                <a:latin typeface="Yu Gothic"/>
                <a:ea typeface="Yu Gothic"/>
                <a:cs typeface="Yu Gothic"/>
              </a:rPr>
              <a:t>2つのモデルをつなぐ</a:t>
            </a:r>
          </a:p>
        </p:txBody>
      </p:sp>
      <p:sp>
        <p:nvSpPr>
          <p:cNvPr id="36" name="">
            <a:extLst xmlns:a="http://schemas.openxmlformats.org/drawingml/2006/main">
              <a:ext uri="{FF2B5EF4-FFF2-40B4-BE49-F238E27FC236}">
                <a16:creationId xmlns:a16="http://schemas.microsoft.com/office/drawing/2014/main" id="{F735933A-D1CA-4118-895C-028B2AC6250C}"/>
              </a:ext>
            </a:extLst>
          </p:cNvPr>
          <p:cNvSpPr>
            <a:spLocks xmlns:a="http://schemas.openxmlformats.org/drawingml/2006/main" noGrp="1"/>
          </p:cNvSpPr>
          <p:nvPr/>
        </p:nvSpPr>
        <p:spPr>
          <a:xfrm xmlns:a="http://schemas.openxmlformats.org/drawingml/2006/main">
            <a:off x="552450" y="5562600"/>
            <a:ext cx="11087100" cy="657225"/>
          </a:xfrm>
          <a:prstGeom xmlns:a="http://schemas.openxmlformats.org/drawingml/2006/main" prst="rect">
            <a:avLst/>
          </a:prstGeom>
          <a:solidFill xmlns:a="http://schemas.openxmlformats.org/drawingml/2006/main">
            <a:srgbClr val="173B4B"/>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54DD8273-3C19-4646-BC0C-F2B2F3E529F9}"/>
              </a:ext>
            </a:extLst>
          </p:cNvPr>
          <p:cNvSpPr>
            <a:spLocks xmlns:a="http://schemas.openxmlformats.org/drawingml/2006/main" noGrp="1"/>
          </p:cNvSpPr>
          <p:nvPr/>
        </p:nvSpPr>
        <p:spPr>
          <a:xfrm xmlns:a="http://schemas.openxmlformats.org/drawingml/2006/main">
            <a:off x="781050" y="5743575"/>
            <a:ext cx="10629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FFFFFF"/>
                </a:solidFill>
                <a:latin typeface="Yu Gothic"/>
                <a:ea typeface="Yu Gothic"/>
                <a:cs typeface="Yu Gothic"/>
              </a:defRPr>
            </a:pPr>
            <a:r>
              <a:rPr sz="1575" b="1">
                <a:solidFill>
                  <a:srgbClr val="FFFFFF"/>
                </a:solidFill>
                <a:latin typeface="Yu Gothic"/>
                <a:ea typeface="Yu Gothic"/>
                <a:cs typeface="Yu Gothic"/>
              </a:rPr>
              <a:t>対象：共通task上のtask-relevantな予測挙動　（private sampleの意味内容全体は対象外）</a:t>
            </a:r>
          </a:p>
        </p:txBody>
      </p:sp>
    </p:spTree>
    <p:extLst>
      <p:ext uri="{BB962C8B-B14F-4D97-AF65-F5344CB8AC3E}">
        <p14:creationId xmlns:p14="http://schemas.microsoft.com/office/powerpoint/2010/main" val="87736511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D34B5C7-D5D9-46D2-BFF2-E1F4AADABB4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FF89F3-9DF3-4772-9020-692BE6C9DFB5}"/>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C1AEB09-715B-4B31-86F3-3D347A08AADA}"/>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同じriskでも、現場の状況は大きく異なる</a:t>
            </a:r>
          </a:p>
        </p:txBody>
      </p:sp>
      <p:sp>
        <p:nvSpPr>
          <p:cNvPr id="4" name="">
            <a:extLst xmlns:a="http://schemas.openxmlformats.org/drawingml/2006/main">
              <a:ext uri="{FF2B5EF4-FFF2-40B4-BE49-F238E27FC236}">
                <a16:creationId xmlns:a16="http://schemas.microsoft.com/office/drawing/2014/main" id="{C67BCD5F-66B9-44C6-9C96-5B77F93A987D}"/>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02</a:t>
            </a:r>
          </a:p>
        </p:txBody>
      </p:sp>
      <p:sp>
        <p:nvSpPr>
          <p:cNvPr id="5" name="">
            <a:extLst xmlns:a="http://schemas.openxmlformats.org/drawingml/2006/main">
              <a:ext uri="{FF2B5EF4-FFF2-40B4-BE49-F238E27FC236}">
                <a16:creationId xmlns:a16="http://schemas.microsoft.com/office/drawing/2014/main" id="{B126D6E6-2FD0-44D1-B518-6E4A5939A6B2}"/>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3AB06B2-56F7-423C-B3BD-BC59399EEC03}"/>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93B5CED3-F8CC-4ED8-82E5-37297CD0AE92}"/>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2 / 10</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a05254dbe514439"/>
          <a:srcRect xmlns:a="http://schemas.openxmlformats.org/drawingml/2006/main" l="0" t="44" r="0" b="44"/>
          <a:stretch xmlns:a="http://schemas.openxmlformats.org/drawingml/2006/main">
            <a:fillRect l="0" t="0" r="0" b="0"/>
          </a:stretch>
        </p:blipFill>
        <p:spPr>
          <a:xfrm xmlns:a="http://schemas.openxmlformats.org/drawingml/2006/main">
            <a:off x="571500" y="1219200"/>
            <a:ext cx="4762500" cy="2676525"/>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406b29500194801"/>
          <a:srcRect xmlns:a="http://schemas.openxmlformats.org/drawingml/2006/main" l="0" t="44" r="0" b="44"/>
          <a:stretch xmlns:a="http://schemas.openxmlformats.org/drawingml/2006/main">
            <a:fillRect l="0" t="0" r="0" b="0"/>
          </a:stretch>
        </p:blipFill>
        <p:spPr>
          <a:xfrm xmlns:a="http://schemas.openxmlformats.org/drawingml/2006/main">
            <a:off x="6858000" y="1219200"/>
            <a:ext cx="4762500" cy="26765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7249B15F-58D4-47B4-AEAA-A24CF68EC5AF}"/>
              </a:ext>
            </a:extLst>
          </p:cNvPr>
          <p:cNvSpPr>
            <a:spLocks xmlns:a="http://schemas.openxmlformats.org/drawingml/2006/main" noGrp="1"/>
          </p:cNvSpPr>
          <p:nvPr/>
        </p:nvSpPr>
        <p:spPr>
          <a:xfrm xmlns:a="http://schemas.openxmlformats.org/drawingml/2006/main">
            <a:off x="571500" y="9906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client A：昼間・市街地</a:t>
            </a:r>
          </a:p>
        </p:txBody>
      </p:sp>
      <p:sp>
        <p:nvSpPr>
          <p:cNvPr id="11" name="">
            <a:extLst xmlns:a="http://schemas.openxmlformats.org/drawingml/2006/main">
              <a:ext uri="{FF2B5EF4-FFF2-40B4-BE49-F238E27FC236}">
                <a16:creationId xmlns:a16="http://schemas.microsoft.com/office/drawing/2014/main" id="{85403E88-FD01-43D3-8D93-168D505C2BE3}"/>
              </a:ext>
            </a:extLst>
          </p:cNvPr>
          <p:cNvSpPr>
            <a:spLocks xmlns:a="http://schemas.openxmlformats.org/drawingml/2006/main" noGrp="1"/>
          </p:cNvSpPr>
          <p:nvPr/>
        </p:nvSpPr>
        <p:spPr>
          <a:xfrm xmlns:a="http://schemas.openxmlformats.org/drawingml/2006/main">
            <a:off x="6858000" y="9906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client B：夜間・高速道路</a:t>
            </a:r>
          </a:p>
        </p:txBody>
      </p:sp>
      <p:sp>
        <p:nvSpPr>
          <p:cNvPr id="12" name="">
            <a:extLst xmlns:a="http://schemas.openxmlformats.org/drawingml/2006/main">
              <a:ext uri="{FF2B5EF4-FFF2-40B4-BE49-F238E27FC236}">
                <a16:creationId xmlns:a16="http://schemas.microsoft.com/office/drawing/2014/main" id="{2E20D409-AC2F-443C-B5E1-CAF97517A5EB}"/>
              </a:ext>
            </a:extLst>
          </p:cNvPr>
          <p:cNvSpPr>
            <a:spLocks xmlns:a="http://schemas.openxmlformats.org/drawingml/2006/main" noGrp="1"/>
          </p:cNvSpPr>
          <p:nvPr/>
        </p:nvSpPr>
        <p:spPr>
          <a:xfrm xmlns:a="http://schemas.openxmlformats.org/drawingml/2006/main">
            <a:off x="666750" y="42862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FedPACTが再現する対象</a:t>
            </a:r>
          </a:p>
        </p:txBody>
      </p:sp>
      <p:sp>
        <p:nvSpPr>
          <p:cNvPr id="13" name="">
            <a:extLst xmlns:a="http://schemas.openxmlformats.org/drawingml/2006/main">
              <a:ext uri="{FF2B5EF4-FFF2-40B4-BE49-F238E27FC236}">
                <a16:creationId xmlns:a16="http://schemas.microsoft.com/office/drawing/2014/main" id="{F3D97E53-42DD-407D-A106-3EBB45A5E609}"/>
              </a:ext>
            </a:extLst>
          </p:cNvPr>
          <p:cNvSpPr>
            <a:spLocks xmlns:a="http://schemas.openxmlformats.org/drawingml/2006/main" noGrp="1"/>
          </p:cNvSpPr>
          <p:nvPr/>
        </p:nvSpPr>
        <p:spPr>
          <a:xfrm xmlns:a="http://schemas.openxmlformats.org/drawingml/2006/main">
            <a:off x="666750" y="46863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75" b="1">
                <a:solidFill>
                  <a:srgbClr val="147B78"/>
                </a:solidFill>
                <a:latin typeface="Yu Gothic"/>
                <a:ea typeface="Yu Gothic"/>
                <a:cs typeface="Yu Gothic"/>
              </a:defRPr>
            </a:pPr>
            <a:r>
              <a:rPr sz="2175" b="1">
                <a:solidFill>
                  <a:srgbClr val="147B78"/>
                </a:solidFill>
                <a:latin typeface="Yu Gothic"/>
                <a:ea typeface="Yu Gothic"/>
                <a:cs typeface="Yu Gothic"/>
              </a:rPr>
              <a:t>共通タスク上で、private dataによる局所学習後の予測と、その変化</a:t>
            </a:r>
          </a:p>
        </p:txBody>
      </p:sp>
      <p:sp>
        <p:nvSpPr>
          <p:cNvPr id="14" name="">
            <a:extLst xmlns:a="http://schemas.openxmlformats.org/drawingml/2006/main">
              <a:ext uri="{FF2B5EF4-FFF2-40B4-BE49-F238E27FC236}">
                <a16:creationId xmlns:a16="http://schemas.microsoft.com/office/drawing/2014/main" id="{77FB16B2-9E4A-4991-9A93-D82AE09AB1D2}"/>
              </a:ext>
            </a:extLst>
          </p:cNvPr>
          <p:cNvSpPr>
            <a:spLocks xmlns:a="http://schemas.openxmlformats.org/drawingml/2006/main" noGrp="1"/>
          </p:cNvSpPr>
          <p:nvPr/>
        </p:nvSpPr>
        <p:spPr>
          <a:xfrm xmlns:a="http://schemas.openxmlformats.org/drawingml/2006/main">
            <a:off x="666750" y="5353050"/>
            <a:ext cx="10858500" cy="6858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58D1A86-C52E-4C6E-B6F9-FFF417170702}"/>
              </a:ext>
            </a:extLst>
          </p:cNvPr>
          <p:cNvSpPr>
            <a:spLocks xmlns:a="http://schemas.openxmlformats.org/drawingml/2006/main" noGrp="1"/>
          </p:cNvSpPr>
          <p:nvPr/>
        </p:nvSpPr>
        <p:spPr>
          <a:xfrm xmlns:a="http://schemas.openxmlformats.org/drawingml/2006/main">
            <a:off x="895350" y="5514975"/>
            <a:ext cx="1040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7678"/>
          </a:bodyPr>
          <a:lstStyle xmlns:a="http://schemas.openxmlformats.org/drawingml/2006/main"/>
          <a:p xmlns:a="http://schemas.openxmlformats.org/drawingml/2006/main">
            <a:pPr algn="ctr">
              <a:defRPr sz="1575" b="0">
                <a:solidFill>
                  <a:srgbClr val="26373D"/>
                </a:solidFill>
                <a:latin typeface="Yu Gothic"/>
                <a:ea typeface="Yu Gothic"/>
                <a:cs typeface="Yu Gothic"/>
              </a:defRPr>
            </a:pPr>
            <a:r>
              <a:rPr sz="1575" b="0">
                <a:solidFill>
                  <a:srgbClr val="26373D"/>
                </a:solidFill>
                <a:latin typeface="Yu Gothic"/>
                <a:ea typeface="Yu Gothic"/>
                <a:cs typeface="Yu Gothic"/>
              </a:rPr>
              <a:t>研究の意味：server seedだけでは事前に網羅しにくい現場差を、映像そのものではなく予測挙動の要約としてfoundationへ還元する</a:t>
            </a:r>
          </a:p>
        </p:txBody>
      </p:sp>
    </p:spTree>
    <p:extLst>
      <p:ext uri="{BB962C8B-B14F-4D97-AF65-F5344CB8AC3E}">
        <p14:creationId xmlns:p14="http://schemas.microsoft.com/office/powerpoint/2010/main" val="109038160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BCA47CF-28A6-4E6C-B1D3-C24E00C53B2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AAFB50-0C92-4CF9-AC69-4972447E4FFC}"/>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1DB52FD-E518-4BB5-9337-5D68CDA48BC5}"/>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9月15日以降、研究の焦点をLayer 2へ絞った</a:t>
            </a:r>
          </a:p>
        </p:txBody>
      </p:sp>
      <p:sp>
        <p:nvSpPr>
          <p:cNvPr id="4" name="">
            <a:extLst xmlns:a="http://schemas.openxmlformats.org/drawingml/2006/main">
              <a:ext uri="{FF2B5EF4-FFF2-40B4-BE49-F238E27FC236}">
                <a16:creationId xmlns:a16="http://schemas.microsoft.com/office/drawing/2014/main" id="{49499A8F-C78E-4D15-A0DB-C59A5A865F04}"/>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03</a:t>
            </a:r>
          </a:p>
        </p:txBody>
      </p:sp>
      <p:sp>
        <p:nvSpPr>
          <p:cNvPr id="5" name="">
            <a:extLst xmlns:a="http://schemas.openxmlformats.org/drawingml/2006/main">
              <a:ext uri="{FF2B5EF4-FFF2-40B4-BE49-F238E27FC236}">
                <a16:creationId xmlns:a16="http://schemas.microsoft.com/office/drawing/2014/main" id="{DFFFDDD2-4CF3-4F99-92C8-5F1226A20853}"/>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7B4F621-43EE-4248-BAB9-3A2B5D503E65}"/>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24591561-04FA-44E2-9F2A-FEC3A475A619}"/>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3 / 10</a:t>
            </a:r>
          </a:p>
        </p:txBody>
      </p:sp>
      <p:sp>
        <p:nvSpPr>
          <p:cNvPr id="8" name="">
            <a:extLst xmlns:a="http://schemas.openxmlformats.org/drawingml/2006/main">
              <a:ext uri="{FF2B5EF4-FFF2-40B4-BE49-F238E27FC236}">
                <a16:creationId xmlns:a16="http://schemas.microsoft.com/office/drawing/2014/main" id="{7FFFA928-5426-4939-AF05-3CD581C8C893}"/>
              </a:ext>
            </a:extLst>
          </p:cNvPr>
          <p:cNvSpPr>
            <a:spLocks xmlns:a="http://schemas.openxmlformats.org/drawingml/2006/main" noGrp="1"/>
          </p:cNvSpPr>
          <p:nvPr/>
        </p:nvSpPr>
        <p:spPr>
          <a:xfrm xmlns:a="http://schemas.openxmlformats.org/drawingml/2006/main">
            <a:off x="66675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9 / 15</a:t>
            </a:r>
          </a:p>
        </p:txBody>
      </p:sp>
      <p:sp>
        <p:nvSpPr>
          <p:cNvPr id="9" name="">
            <a:extLst xmlns:a="http://schemas.openxmlformats.org/drawingml/2006/main">
              <a:ext uri="{FF2B5EF4-FFF2-40B4-BE49-F238E27FC236}">
                <a16:creationId xmlns:a16="http://schemas.microsoft.com/office/drawing/2014/main" id="{91BE2D0F-6AB0-4358-A578-BB50E0615545}"/>
              </a:ext>
            </a:extLst>
          </p:cNvPr>
          <p:cNvSpPr>
            <a:spLocks xmlns:a="http://schemas.openxmlformats.org/drawingml/2006/main" noGrp="1"/>
          </p:cNvSpPr>
          <p:nvPr/>
        </p:nvSpPr>
        <p:spPr>
          <a:xfrm xmlns:a="http://schemas.openxmlformats.org/drawingml/2006/main">
            <a:off x="666750" y="1724025"/>
            <a:ext cx="2857500" cy="3810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BC38396-9006-4B73-8966-8AE89071EB4F}"/>
              </a:ext>
            </a:extLst>
          </p:cNvPr>
          <p:cNvSpPr>
            <a:spLocks xmlns:a="http://schemas.openxmlformats.org/drawingml/2006/main" noGrp="1"/>
          </p:cNvSpPr>
          <p:nvPr/>
        </p:nvSpPr>
        <p:spPr>
          <a:xfrm xmlns:a="http://schemas.openxmlformats.org/drawingml/2006/main">
            <a:off x="66675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複雑さを減らす</a:t>
            </a:r>
          </a:p>
        </p:txBody>
      </p:sp>
      <p:sp>
        <p:nvSpPr>
          <p:cNvPr id="11" name="">
            <a:extLst xmlns:a="http://schemas.openxmlformats.org/drawingml/2006/main">
              <a:ext uri="{FF2B5EF4-FFF2-40B4-BE49-F238E27FC236}">
                <a16:creationId xmlns:a16="http://schemas.microsoft.com/office/drawing/2014/main" id="{B32A0A0B-72BD-4038-845C-D4EFBF3FC083}"/>
              </a:ext>
            </a:extLst>
          </p:cNvPr>
          <p:cNvSpPr>
            <a:spLocks xmlns:a="http://schemas.openxmlformats.org/drawingml/2006/main" noGrp="1"/>
          </p:cNvSpPr>
          <p:nvPr/>
        </p:nvSpPr>
        <p:spPr>
          <a:xfrm xmlns:a="http://schemas.openxmlformats.org/drawingml/2006/main">
            <a:off x="66675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26373D"/>
                </a:solidFill>
                <a:latin typeface="Yu Gothic"/>
                <a:ea typeface="Yu Gothic"/>
                <a:cs typeface="Yu Gothic"/>
              </a:defRPr>
            </a:pPr>
            <a:r>
              <a:rPr sz="1425" b="0">
                <a:solidFill>
                  <a:srgbClr val="26373D"/>
                </a:solidFill>
                <a:latin typeface="Yu Gothic"/>
                <a:ea typeface="Yu Gothic"/>
                <a:cs typeface="Yu Gothic"/>
              </a:rPr>
              <a:t>機能を一度に入れると失敗原因を切り分けられない。中心課題と最小構成を先に確認する。</a:t>
            </a:r>
          </a:p>
        </p:txBody>
      </p:sp>
      <p:sp>
        <p:nvSpPr>
          <p:cNvPr id="12" name="">
            <a:extLst xmlns:a="http://schemas.openxmlformats.org/drawingml/2006/main">
              <a:ext uri="{FF2B5EF4-FFF2-40B4-BE49-F238E27FC236}">
                <a16:creationId xmlns:a16="http://schemas.microsoft.com/office/drawing/2014/main" id="{572DA2D1-82A3-4E77-8F91-20BD6B2CB4F7}"/>
              </a:ext>
            </a:extLst>
          </p:cNvPr>
          <p:cNvSpPr>
            <a:spLocks xmlns:a="http://schemas.openxmlformats.org/drawingml/2006/main" noGrp="1"/>
          </p:cNvSpPr>
          <p:nvPr/>
        </p:nvSpPr>
        <p:spPr>
          <a:xfrm xmlns:a="http://schemas.openxmlformats.org/drawingml/2006/main">
            <a:off x="411480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9 / 16</a:t>
            </a:r>
          </a:p>
        </p:txBody>
      </p:sp>
      <p:sp>
        <p:nvSpPr>
          <p:cNvPr id="13" name="">
            <a:extLst xmlns:a="http://schemas.openxmlformats.org/drawingml/2006/main">
              <a:ext uri="{FF2B5EF4-FFF2-40B4-BE49-F238E27FC236}">
                <a16:creationId xmlns:a16="http://schemas.microsoft.com/office/drawing/2014/main" id="{182DB6DF-3677-4899-B081-C83C113565DE}"/>
              </a:ext>
            </a:extLst>
          </p:cNvPr>
          <p:cNvSpPr>
            <a:spLocks xmlns:a="http://schemas.openxmlformats.org/drawingml/2006/main" noGrp="1"/>
          </p:cNvSpPr>
          <p:nvPr/>
        </p:nvSpPr>
        <p:spPr>
          <a:xfrm xmlns:a="http://schemas.openxmlformats.org/drawingml/2006/main">
            <a:off x="4114800" y="1724025"/>
            <a:ext cx="2857500" cy="3810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182689E-F2C3-46E7-89E4-5B1FB022331C}"/>
              </a:ext>
            </a:extLst>
          </p:cNvPr>
          <p:cNvSpPr>
            <a:spLocks xmlns:a="http://schemas.openxmlformats.org/drawingml/2006/main" noGrp="1"/>
          </p:cNvSpPr>
          <p:nvPr/>
        </p:nvSpPr>
        <p:spPr>
          <a:xfrm xmlns:a="http://schemas.openxmlformats.org/drawingml/2006/main">
            <a:off x="411480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第I段階の目的を固定</a:t>
            </a:r>
          </a:p>
        </p:txBody>
      </p:sp>
      <p:sp>
        <p:nvSpPr>
          <p:cNvPr id="15" name="">
            <a:extLst xmlns:a="http://schemas.openxmlformats.org/drawingml/2006/main">
              <a:ext uri="{FF2B5EF4-FFF2-40B4-BE49-F238E27FC236}">
                <a16:creationId xmlns:a16="http://schemas.microsoft.com/office/drawing/2014/main" id="{6EA8AE09-6C6A-4582-B3CC-799655E98AF9}"/>
              </a:ext>
            </a:extLst>
          </p:cNvPr>
          <p:cNvSpPr>
            <a:spLocks xmlns:a="http://schemas.openxmlformats.org/drawingml/2006/main" noGrp="1"/>
          </p:cNvSpPr>
          <p:nvPr/>
        </p:nvSpPr>
        <p:spPr>
          <a:xfrm xmlns:a="http://schemas.openxmlformats.org/drawingml/2006/main">
            <a:off x="411480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26373D"/>
                </a:solidFill>
                <a:latin typeface="Yu Gothic"/>
                <a:ea typeface="Yu Gothic"/>
                <a:cs typeface="Yu Gothic"/>
              </a:defRPr>
            </a:pPr>
            <a:r>
              <a:rPr sz="1425" b="0">
                <a:solidFill>
                  <a:srgbClr val="26373D"/>
                </a:solidFill>
                <a:latin typeface="Yu Gothic"/>
                <a:ea typeface="Yu Gothic"/>
                <a:cs typeface="Yu Gothic"/>
              </a:rPr>
              <a:t>三層構造は維持し、研究の中核を第2層に置く。第I段階では性能より、処理とstateの追跡を確認する。</a:t>
            </a:r>
          </a:p>
        </p:txBody>
      </p:sp>
      <p:sp>
        <p:nvSpPr>
          <p:cNvPr id="16" name="">
            <a:extLst xmlns:a="http://schemas.openxmlformats.org/drawingml/2006/main">
              <a:ext uri="{FF2B5EF4-FFF2-40B4-BE49-F238E27FC236}">
                <a16:creationId xmlns:a16="http://schemas.microsoft.com/office/drawing/2014/main" id="{AEFB58E4-2F4F-410D-9A06-FE53AB544336}"/>
              </a:ext>
            </a:extLst>
          </p:cNvPr>
          <p:cNvSpPr>
            <a:spLocks xmlns:a="http://schemas.openxmlformats.org/drawingml/2006/main" noGrp="1"/>
          </p:cNvSpPr>
          <p:nvPr/>
        </p:nvSpPr>
        <p:spPr>
          <a:xfrm xmlns:a="http://schemas.openxmlformats.org/drawingml/2006/main">
            <a:off x="756285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E7833D"/>
                </a:solidFill>
                <a:latin typeface="Yu Gothic"/>
                <a:ea typeface="Yu Gothic"/>
                <a:cs typeface="Yu Gothic"/>
              </a:defRPr>
            </a:pPr>
            <a:r>
              <a:rPr sz="1800" b="1">
                <a:solidFill>
                  <a:srgbClr val="E7833D"/>
                </a:solidFill>
                <a:latin typeface="Yu Gothic"/>
                <a:ea typeface="Yu Gothic"/>
                <a:cs typeface="Yu Gothic"/>
              </a:rPr>
              <a:t>9 / 17</a:t>
            </a:r>
          </a:p>
        </p:txBody>
      </p:sp>
      <p:sp>
        <p:nvSpPr>
          <p:cNvPr id="17" name="">
            <a:extLst xmlns:a="http://schemas.openxmlformats.org/drawingml/2006/main">
              <a:ext uri="{FF2B5EF4-FFF2-40B4-BE49-F238E27FC236}">
                <a16:creationId xmlns:a16="http://schemas.microsoft.com/office/drawing/2014/main" id="{1727D089-F7EC-4FD2-AB7A-BEAFABFC9CFD}"/>
              </a:ext>
            </a:extLst>
          </p:cNvPr>
          <p:cNvSpPr>
            <a:spLocks xmlns:a="http://schemas.openxmlformats.org/drawingml/2006/main" noGrp="1"/>
          </p:cNvSpPr>
          <p:nvPr/>
        </p:nvSpPr>
        <p:spPr>
          <a:xfrm xmlns:a="http://schemas.openxmlformats.org/drawingml/2006/main">
            <a:off x="7562850" y="1724025"/>
            <a:ext cx="2857500" cy="38100"/>
          </a:xfrm>
          <a:prstGeom xmlns:a="http://schemas.openxmlformats.org/drawingml/2006/main" prst="rect">
            <a:avLst/>
          </a:prstGeom>
          <a:solidFill xmlns:a="http://schemas.openxmlformats.org/drawingml/2006/main">
            <a:srgbClr val="E7833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D7B62FA-A0B8-4ED5-B34C-741FA7C74670}"/>
              </a:ext>
            </a:extLst>
          </p:cNvPr>
          <p:cNvSpPr>
            <a:spLocks xmlns:a="http://schemas.openxmlformats.org/drawingml/2006/main" noGrp="1"/>
          </p:cNvSpPr>
          <p:nvPr/>
        </p:nvSpPr>
        <p:spPr>
          <a:xfrm xmlns:a="http://schemas.openxmlformats.org/drawingml/2006/main">
            <a:off x="756285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3 roundの接続を確認</a:t>
            </a:r>
          </a:p>
        </p:txBody>
      </p:sp>
      <p:sp>
        <p:nvSpPr>
          <p:cNvPr id="19" name="">
            <a:extLst xmlns:a="http://schemas.openxmlformats.org/drawingml/2006/main">
              <a:ext uri="{FF2B5EF4-FFF2-40B4-BE49-F238E27FC236}">
                <a16:creationId xmlns:a16="http://schemas.microsoft.com/office/drawing/2014/main" id="{D99A4977-2CA4-492B-8EEB-E51CBE70E806}"/>
              </a:ext>
            </a:extLst>
          </p:cNvPr>
          <p:cNvSpPr>
            <a:spLocks xmlns:a="http://schemas.openxmlformats.org/drawingml/2006/main" noGrp="1"/>
          </p:cNvSpPr>
          <p:nvPr/>
        </p:nvSpPr>
        <p:spPr>
          <a:xfrm xmlns:a="http://schemas.openxmlformats.org/drawingml/2006/main">
            <a:off x="756285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26373D"/>
                </a:solidFill>
                <a:latin typeface="Yu Gothic"/>
                <a:ea typeface="Yu Gothic"/>
                <a:cs typeface="Yu Gothic"/>
              </a:defRPr>
            </a:pPr>
            <a:r>
              <a:rPr sz="1425" b="0">
                <a:solidFill>
                  <a:srgbClr val="26373D"/>
                </a:solidFill>
                <a:latin typeface="Yu Gothic"/>
                <a:ea typeface="Yu Gothic"/>
                <a:cs typeface="Yu Gothic"/>
              </a:rPr>
              <a:t>入力条件を修正した。2 clientからfoundation更新、次roundのstate継承までをログ付きで実行した。</a:t>
            </a:r>
          </a:p>
        </p:txBody>
      </p:sp>
      <p:sp>
        <p:nvSpPr>
          <p:cNvPr id="20" name="">
            <a:extLst xmlns:a="http://schemas.openxmlformats.org/drawingml/2006/main">
              <a:ext uri="{FF2B5EF4-FFF2-40B4-BE49-F238E27FC236}">
                <a16:creationId xmlns:a16="http://schemas.microsoft.com/office/drawing/2014/main" id="{4CB192CB-3B99-4E46-B68E-4DCC40BF7EC4}"/>
              </a:ext>
            </a:extLst>
          </p:cNvPr>
          <p:cNvSpPr>
            <a:spLocks xmlns:a="http://schemas.openxmlformats.org/drawingml/2006/main" noGrp="1"/>
          </p:cNvSpPr>
          <p:nvPr/>
        </p:nvSpPr>
        <p:spPr>
          <a:xfrm xmlns:a="http://schemas.openxmlformats.org/drawingml/2006/main">
            <a:off x="666750" y="5010150"/>
            <a:ext cx="9763125"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AC15660-354F-40D8-A184-28FE7B510283}"/>
              </a:ext>
            </a:extLst>
          </p:cNvPr>
          <p:cNvSpPr>
            <a:spLocks xmlns:a="http://schemas.openxmlformats.org/drawingml/2006/main" noGrp="1"/>
          </p:cNvSpPr>
          <p:nvPr/>
        </p:nvSpPr>
        <p:spPr>
          <a:xfrm xmlns:a="http://schemas.openxmlformats.org/drawingml/2006/main">
            <a:off x="10429875" y="4933950"/>
            <a:ext cx="171450" cy="171450"/>
          </a:xfrm>
          <a:prstGeom xmlns:a="http://schemas.openxmlformats.org/drawingml/2006/main" prst="rect">
            <a:avLst/>
          </a:prstGeom>
          <a:solidFill xmlns:a="http://schemas.openxmlformats.org/drawingml/2006/main">
            <a:srgbClr val="E7833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EADE24E-A841-4382-969D-D96CDA5F7E57}"/>
              </a:ext>
            </a:extLst>
          </p:cNvPr>
          <p:cNvSpPr>
            <a:spLocks xmlns:a="http://schemas.openxmlformats.org/drawingml/2006/main" noGrp="1"/>
          </p:cNvSpPr>
          <p:nvPr/>
        </p:nvSpPr>
        <p:spPr>
          <a:xfrm xmlns:a="http://schemas.openxmlformats.org/drawingml/2006/main">
            <a:off x="666750" y="52578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617078"/>
                </a:solidFill>
                <a:latin typeface="Yu Gothic"/>
                <a:ea typeface="Yu Gothic"/>
                <a:cs typeface="Yu Gothic"/>
              </a:defRPr>
            </a:pPr>
            <a:r>
              <a:rPr sz="1500" b="1">
                <a:solidFill>
                  <a:srgbClr val="617078"/>
                </a:solidFill>
                <a:latin typeface="Yu Gothic"/>
                <a:ea typeface="Yu Gothic"/>
                <a:cs typeface="Yu Gothic"/>
              </a:rPr>
              <a:t>今週の報告範囲</a:t>
            </a:r>
          </a:p>
        </p:txBody>
      </p:sp>
      <p:sp>
        <p:nvSpPr>
          <p:cNvPr id="23" name="">
            <a:extLst xmlns:a="http://schemas.openxmlformats.org/drawingml/2006/main">
              <a:ext uri="{FF2B5EF4-FFF2-40B4-BE49-F238E27FC236}">
                <a16:creationId xmlns:a16="http://schemas.microsoft.com/office/drawing/2014/main" id="{FF5FFA61-4C49-4D2A-A79E-F41038C3846D}"/>
              </a:ext>
            </a:extLst>
          </p:cNvPr>
          <p:cNvSpPr>
            <a:spLocks xmlns:a="http://schemas.openxmlformats.org/drawingml/2006/main" noGrp="1"/>
          </p:cNvSpPr>
          <p:nvPr/>
        </p:nvSpPr>
        <p:spPr>
          <a:xfrm xmlns:a="http://schemas.openxmlformats.org/drawingml/2006/main">
            <a:off x="3143250" y="5200650"/>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385"/>
          </a:bodyPr>
          <a:lstStyle xmlns:a="http://schemas.openxmlformats.org/drawingml/2006/main"/>
          <a:p xmlns:a="http://schemas.openxmlformats.org/drawingml/2006/main">
            <a:pPr algn="l">
              <a:defRPr sz="1800" b="1">
                <a:solidFill>
                  <a:srgbClr val="173B4B"/>
                </a:solidFill>
                <a:latin typeface="Yu Gothic"/>
                <a:ea typeface="Yu Gothic"/>
                <a:cs typeface="Yu Gothic"/>
              </a:defRPr>
            </a:pPr>
            <a:r>
              <a:rPr sz="1800" b="1">
                <a:solidFill>
                  <a:srgbClr val="173B4B"/>
                </a:solidFill>
                <a:latin typeface="Yu Gothic"/>
                <a:ea typeface="Yu Gothic"/>
                <a:cs typeface="Yu Gothic"/>
              </a:rPr>
              <a:t>Layer 2の有効性を主張する前に、どの処理で崩れるかを追える実装を完成させる</a:t>
            </a:r>
          </a:p>
        </p:txBody>
      </p:sp>
    </p:spTree>
    <p:extLst>
      <p:ext uri="{BB962C8B-B14F-4D97-AF65-F5344CB8AC3E}">
        <p14:creationId xmlns:p14="http://schemas.microsoft.com/office/powerpoint/2010/main" val="104367784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5E48AFC-CB06-4354-B4C4-14AEBE07CE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C401E6-B3FB-4F34-A723-3D956C19685E}"/>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338F9CD-FD2B-49D5-BC2E-B649175D14B8}"/>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FedPACT全体フロー</a:t>
            </a:r>
          </a:p>
        </p:txBody>
      </p:sp>
      <p:sp>
        <p:nvSpPr>
          <p:cNvPr id="4" name="">
            <a:extLst xmlns:a="http://schemas.openxmlformats.org/drawingml/2006/main">
              <a:ext uri="{FF2B5EF4-FFF2-40B4-BE49-F238E27FC236}">
                <a16:creationId xmlns:a16="http://schemas.microsoft.com/office/drawing/2014/main" id="{EFD71F95-9392-481A-8C75-C08932B42954}"/>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04</a:t>
            </a:r>
          </a:p>
        </p:txBody>
      </p:sp>
      <p:sp>
        <p:nvSpPr>
          <p:cNvPr id="5" name="">
            <a:extLst xmlns:a="http://schemas.openxmlformats.org/drawingml/2006/main">
              <a:ext uri="{FF2B5EF4-FFF2-40B4-BE49-F238E27FC236}">
                <a16:creationId xmlns:a16="http://schemas.microsoft.com/office/drawing/2014/main" id="{56F07665-E9F8-43BF-A585-DAA3390CCADD}"/>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3C69A15-02B9-4034-87CC-74D498D3CBEA}"/>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E03EDF85-B36F-41CD-AABE-C55DAE8EC837}"/>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4 / 10</a:t>
            </a:r>
          </a:p>
        </p:txBody>
      </p:sp>
      <p:sp>
        <p:nvSpPr>
          <p:cNvPr id="8" name="">
            <a:extLst xmlns:a="http://schemas.openxmlformats.org/drawingml/2006/main">
              <a:ext uri="{FF2B5EF4-FFF2-40B4-BE49-F238E27FC236}">
                <a16:creationId xmlns:a16="http://schemas.microsoft.com/office/drawing/2014/main" id="{63FBBE12-18A8-4C72-8B9C-487640A406CF}"/>
              </a:ext>
            </a:extLst>
          </p:cNvPr>
          <p:cNvSpPr>
            <a:spLocks xmlns:a="http://schemas.openxmlformats.org/drawingml/2006/main" noGrp="1"/>
          </p:cNvSpPr>
          <p:nvPr/>
        </p:nvSpPr>
        <p:spPr>
          <a:xfrm xmlns:a="http://schemas.openxmlformats.org/drawingml/2006/main">
            <a:off x="781050" y="1295400"/>
            <a:ext cx="10629900" cy="4343400"/>
          </a:xfrm>
          <a:prstGeom xmlns:a="http://schemas.openxmlformats.org/drawingml/2006/main" prst="rect">
            <a:avLst/>
          </a:prstGeom>
          <a:solidFill xmlns:a="http://schemas.openxmlformats.org/drawingml/2006/main">
            <a:srgbClr val="ECEFEB"/>
          </a:solidFill>
          <a:ln xmlns:a="http://schemas.openxmlformats.org/drawingml/2006/main" w="19050">
            <a:solidFill>
              <a:srgbClr val="87979C"/>
            </a:solidFill>
          </a:ln>
        </p:spPr>
      </p:sp>
      <p:sp>
        <p:nvSpPr>
          <p:cNvPr id="9" name="">
            <a:extLst xmlns:a="http://schemas.openxmlformats.org/drawingml/2006/main">
              <a:ext uri="{FF2B5EF4-FFF2-40B4-BE49-F238E27FC236}">
                <a16:creationId xmlns:a16="http://schemas.microsoft.com/office/drawing/2014/main" id="{B39FB8E3-045E-48A0-87E0-ED81E91F3073}"/>
              </a:ext>
            </a:extLst>
          </p:cNvPr>
          <p:cNvSpPr>
            <a:spLocks xmlns:a="http://schemas.openxmlformats.org/drawingml/2006/main" noGrp="1"/>
          </p:cNvSpPr>
          <p:nvPr/>
        </p:nvSpPr>
        <p:spPr>
          <a:xfrm xmlns:a="http://schemas.openxmlformats.org/drawingml/2006/main">
            <a:off x="2095500" y="2857500"/>
            <a:ext cx="800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75" b="1">
                <a:solidFill>
                  <a:srgbClr val="617078"/>
                </a:solidFill>
                <a:latin typeface="Yu Gothic"/>
                <a:ea typeface="Yu Gothic"/>
                <a:cs typeface="Yu Gothic"/>
              </a:defRPr>
            </a:pPr>
            <a:r>
              <a:rPr sz="2175" b="1">
                <a:solidFill>
                  <a:srgbClr val="617078"/>
                </a:solidFill>
                <a:latin typeface="Yu Gothic"/>
                <a:ea typeface="Yu Gothic"/>
                <a:cs typeface="Yu Gothic"/>
              </a:rPr>
              <a:t>ここに9月16日Slack共有版のフローチャートを挿入</a:t>
            </a:r>
          </a:p>
        </p:txBody>
      </p:sp>
      <p:sp>
        <p:nvSpPr>
          <p:cNvPr id="10" name="">
            <a:extLst xmlns:a="http://schemas.openxmlformats.org/drawingml/2006/main">
              <a:ext uri="{FF2B5EF4-FFF2-40B4-BE49-F238E27FC236}">
                <a16:creationId xmlns:a16="http://schemas.microsoft.com/office/drawing/2014/main" id="{58058367-4DA8-4F9A-9C0B-A77A197CED7A}"/>
              </a:ext>
            </a:extLst>
          </p:cNvPr>
          <p:cNvSpPr>
            <a:spLocks xmlns:a="http://schemas.openxmlformats.org/drawingml/2006/main" noGrp="1"/>
          </p:cNvSpPr>
          <p:nvPr/>
        </p:nvSpPr>
        <p:spPr>
          <a:xfrm xmlns:a="http://schemas.openxmlformats.org/drawingml/2006/main">
            <a:off x="1381125" y="5867400"/>
            <a:ext cx="942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今回の実験では、この図のLayer 1からLayer 3と次roundへのstate継承までを確認</a:t>
            </a:r>
          </a:p>
        </p:txBody>
      </p:sp>
    </p:spTree>
    <p:extLst>
      <p:ext uri="{BB962C8B-B14F-4D97-AF65-F5344CB8AC3E}">
        <p14:creationId xmlns:p14="http://schemas.microsoft.com/office/powerpoint/2010/main" val="143922542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3131518-E850-41D8-A5D8-58AB56326CA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F11A92-0F3A-40F0-978C-C2873C4D9A0E}"/>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DBCE7C3-5372-4282-BA13-B6A887494354}"/>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今回の実験は三層の接続確認</a:t>
            </a:r>
          </a:p>
        </p:txBody>
      </p:sp>
      <p:sp>
        <p:nvSpPr>
          <p:cNvPr id="4" name="">
            <a:extLst xmlns:a="http://schemas.openxmlformats.org/drawingml/2006/main">
              <a:ext uri="{FF2B5EF4-FFF2-40B4-BE49-F238E27FC236}">
                <a16:creationId xmlns:a16="http://schemas.microsoft.com/office/drawing/2014/main" id="{1B6EAE5E-ED36-4B43-8431-54B522C673FB}"/>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05</a:t>
            </a:r>
          </a:p>
        </p:txBody>
      </p:sp>
      <p:sp>
        <p:nvSpPr>
          <p:cNvPr id="5" name="">
            <a:extLst xmlns:a="http://schemas.openxmlformats.org/drawingml/2006/main">
              <a:ext uri="{FF2B5EF4-FFF2-40B4-BE49-F238E27FC236}">
                <a16:creationId xmlns:a16="http://schemas.microsoft.com/office/drawing/2014/main" id="{1BB0A8F4-8974-426E-89D4-90626358BB3B}"/>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87F8A8E-5039-4E64-89FA-D5C2F9CF2B59}"/>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F3EDCAF1-32CE-408A-888C-737546C7D095}"/>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5 / 10</a:t>
            </a:r>
          </a:p>
        </p:txBody>
      </p:sp>
      <p:sp>
        <p:nvSpPr>
          <p:cNvPr id="8" name="">
            <a:extLst xmlns:a="http://schemas.openxmlformats.org/drawingml/2006/main">
              <a:ext uri="{FF2B5EF4-FFF2-40B4-BE49-F238E27FC236}">
                <a16:creationId xmlns:a16="http://schemas.microsoft.com/office/drawing/2014/main" id="{6D1E08DF-F84B-4B6B-959D-37A7C360F24E}"/>
              </a:ext>
            </a:extLst>
          </p:cNvPr>
          <p:cNvSpPr>
            <a:spLocks xmlns:a="http://schemas.openxmlformats.org/drawingml/2006/main" noGrp="1"/>
          </p:cNvSpPr>
          <p:nvPr/>
        </p:nvSpPr>
        <p:spPr>
          <a:xfrm xmlns:a="http://schemas.openxmlformats.org/drawingml/2006/main">
            <a:off x="666750" y="11239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確認した問い</a:t>
            </a:r>
          </a:p>
        </p:txBody>
      </p:sp>
      <p:sp>
        <p:nvSpPr>
          <p:cNvPr id="9" name="">
            <a:extLst xmlns:a="http://schemas.openxmlformats.org/drawingml/2006/main">
              <a:ext uri="{FF2B5EF4-FFF2-40B4-BE49-F238E27FC236}">
                <a16:creationId xmlns:a16="http://schemas.microsoft.com/office/drawing/2014/main" id="{C28661DC-EF78-44B7-89E0-22F4DA821B8D}"/>
              </a:ext>
            </a:extLst>
          </p:cNvPr>
          <p:cNvSpPr>
            <a:spLocks xmlns:a="http://schemas.openxmlformats.org/drawingml/2006/main" noGrp="1"/>
          </p:cNvSpPr>
          <p:nvPr/>
        </p:nvSpPr>
        <p:spPr>
          <a:xfrm xmlns:a="http://schemas.openxmlformats.org/drawingml/2006/main">
            <a:off x="666750" y="1466850"/>
            <a:ext cx="5429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73B4B"/>
                </a:solidFill>
                <a:latin typeface="Yu Gothic"/>
                <a:ea typeface="Yu Gothic"/>
                <a:cs typeface="Yu Gothic"/>
              </a:defRPr>
            </a:pPr>
            <a:r>
              <a:rPr sz="2100" b="1">
                <a:solidFill>
                  <a:srgbClr val="173B4B"/>
                </a:solidFill>
                <a:latin typeface="Yu Gothic"/>
                <a:ea typeface="Yu Gothic"/>
                <a:cs typeface="Yu Gothic"/>
              </a:rPr>
              <a:t>各roundで処理とstateが正しくつながり、保存したログから入力と出力を追えるか</a:t>
            </a:r>
          </a:p>
        </p:txBody>
      </p:sp>
      <p:sp>
        <p:nvSpPr>
          <p:cNvPr id="10" name="">
            <a:extLst xmlns:a="http://schemas.openxmlformats.org/drawingml/2006/main">
              <a:ext uri="{FF2B5EF4-FFF2-40B4-BE49-F238E27FC236}">
                <a16:creationId xmlns:a16="http://schemas.microsoft.com/office/drawing/2014/main" id="{D04E9B15-F93B-43EC-AD3D-238564E96513}"/>
              </a:ext>
            </a:extLst>
          </p:cNvPr>
          <p:cNvSpPr>
            <a:spLocks xmlns:a="http://schemas.openxmlformats.org/drawingml/2006/main" noGrp="1"/>
          </p:cNvSpPr>
          <p:nvPr/>
        </p:nvSpPr>
        <p:spPr>
          <a:xfrm xmlns:a="http://schemas.openxmlformats.org/drawingml/2006/main">
            <a:off x="685800" y="257175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2 client　各clientは normal 3本＋risk 3本</a:t>
            </a:r>
          </a:p>
        </p:txBody>
      </p:sp>
      <p:sp>
        <p:nvSpPr>
          <p:cNvPr id="11" name="">
            <a:extLst xmlns:a="http://schemas.openxmlformats.org/drawingml/2006/main">
              <a:ext uri="{FF2B5EF4-FFF2-40B4-BE49-F238E27FC236}">
                <a16:creationId xmlns:a16="http://schemas.microsoft.com/office/drawing/2014/main" id="{6847CC48-8EB5-487B-B15E-DE55A7E11E08}"/>
              </a:ext>
            </a:extLst>
          </p:cNvPr>
          <p:cNvSpPr>
            <a:spLocks xmlns:a="http://schemas.openxmlformats.org/drawingml/2006/main" noGrp="1"/>
          </p:cNvSpPr>
          <p:nvPr/>
        </p:nvSpPr>
        <p:spPr>
          <a:xfrm xmlns:a="http://schemas.openxmlformats.org/drawingml/2006/main">
            <a:off x="685800" y="300990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server-side seed　normal 30本＋risk 30本</a:t>
            </a:r>
          </a:p>
        </p:txBody>
      </p:sp>
      <p:sp>
        <p:nvSpPr>
          <p:cNvPr id="12" name="">
            <a:extLst xmlns:a="http://schemas.openxmlformats.org/drawingml/2006/main">
              <a:ext uri="{FF2B5EF4-FFF2-40B4-BE49-F238E27FC236}">
                <a16:creationId xmlns:a16="http://schemas.microsoft.com/office/drawing/2014/main" id="{2B5A30B4-07AE-4EA1-BDD8-1A17B1A05768}"/>
              </a:ext>
            </a:extLst>
          </p:cNvPr>
          <p:cNvSpPr>
            <a:spLocks xmlns:a="http://schemas.openxmlformats.org/drawingml/2006/main" noGrp="1"/>
          </p:cNvSpPr>
          <p:nvPr/>
        </p:nvSpPr>
        <p:spPr>
          <a:xfrm xmlns:a="http://schemas.openxmlformats.org/drawingml/2006/main">
            <a:off x="685800" y="344805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各round　4 prototype、60 proxy候補、4 pair</a:t>
            </a:r>
          </a:p>
        </p:txBody>
      </p:sp>
      <p:sp>
        <p:nvSpPr>
          <p:cNvPr id="13" name="">
            <a:extLst xmlns:a="http://schemas.openxmlformats.org/drawingml/2006/main">
              <a:ext uri="{FF2B5EF4-FFF2-40B4-BE49-F238E27FC236}">
                <a16:creationId xmlns:a16="http://schemas.microsoft.com/office/drawing/2014/main" id="{445B6156-CAF9-410C-BBBE-BA0714A9BB94}"/>
              </a:ext>
            </a:extLst>
          </p:cNvPr>
          <p:cNvSpPr>
            <a:spLocks xmlns:a="http://schemas.openxmlformats.org/drawingml/2006/main" noGrp="1"/>
          </p:cNvSpPr>
          <p:nvPr/>
        </p:nvSpPr>
        <p:spPr>
          <a:xfrm xmlns:a="http://schemas.openxmlformats.org/drawingml/2006/main">
            <a:off x="685800" y="388620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実行　1 roundを確認後、3 round連続</a:t>
            </a:r>
          </a:p>
        </p:txBody>
      </p:sp>
      <p:sp>
        <p:nvSpPr>
          <p:cNvPr id="14" name="">
            <a:extLst xmlns:a="http://schemas.openxmlformats.org/drawingml/2006/main">
              <a:ext uri="{FF2B5EF4-FFF2-40B4-BE49-F238E27FC236}">
                <a16:creationId xmlns:a16="http://schemas.microsoft.com/office/drawing/2014/main" id="{ED6C3E7E-B2C2-45CB-9BC2-BFC0872677F9}"/>
              </a:ext>
            </a:extLst>
          </p:cNvPr>
          <p:cNvSpPr>
            <a:spLocks xmlns:a="http://schemas.openxmlformats.org/drawingml/2006/main" noGrp="1"/>
          </p:cNvSpPr>
          <p:nvPr/>
        </p:nvSpPr>
        <p:spPr>
          <a:xfrm xmlns:a="http://schemas.openxmlformats.org/drawingml/2006/main">
            <a:off x="685800" y="432435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17078"/>
                </a:solidFill>
                <a:latin typeface="Yu Gothic"/>
                <a:ea typeface="Yu Gothic"/>
                <a:cs typeface="Yu Gothic"/>
              </a:defRPr>
            </a:pPr>
            <a:r>
              <a:rPr sz="1275" b="0">
                <a:solidFill>
                  <a:srgbClr val="617078"/>
                </a:solidFill>
                <a:latin typeface="Yu Gothic"/>
                <a:ea typeface="Yu Gothic"/>
                <a:cs typeface="Yu Gothic"/>
              </a:rPr>
              <a:t>第I段階：surrogate / foundation は同じ3B基盤の独立LoRA、1 run</a:t>
            </a:r>
          </a:p>
        </p:txBody>
      </p:sp>
      <p:sp>
        <p:nvSpPr>
          <p:cNvPr id="15" name="">
            <a:extLst xmlns:a="http://schemas.openxmlformats.org/drawingml/2006/main">
              <a:ext uri="{FF2B5EF4-FFF2-40B4-BE49-F238E27FC236}">
                <a16:creationId xmlns:a16="http://schemas.microsoft.com/office/drawing/2014/main" id="{8DB2C9D5-4A9A-4E02-B39A-47C4E0F6C43A}"/>
              </a:ext>
            </a:extLst>
          </p:cNvPr>
          <p:cNvSpPr>
            <a:spLocks xmlns:a="http://schemas.openxmlformats.org/drawingml/2006/main" noGrp="1"/>
          </p:cNvSpPr>
          <p:nvPr/>
        </p:nvSpPr>
        <p:spPr>
          <a:xfrm xmlns:a="http://schemas.openxmlformats.org/drawingml/2006/main">
            <a:off x="6572250" y="1066800"/>
            <a:ext cx="466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7833D"/>
                </a:solidFill>
                <a:latin typeface="Yu Gothic"/>
                <a:ea typeface="Yu Gothic"/>
                <a:cs typeface="Yu Gothic"/>
              </a:defRPr>
            </a:pPr>
            <a:r>
              <a:rPr sz="1125" b="1">
                <a:solidFill>
                  <a:srgbClr val="E7833D"/>
                </a:solidFill>
                <a:latin typeface="Yu Gothic"/>
                <a:ea typeface="Yu Gothic"/>
                <a:cs typeface="Yu Gothic"/>
              </a:rPr>
              <a:t>risk：time_of_alert と time_of_event の範囲</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576a85213e1e468d"/>
          <a:srcRect xmlns:a="http://schemas.openxmlformats.org/drawingml/2006/main" l="94" t="0" r="94" b="0"/>
          <a:stretch xmlns:a="http://schemas.openxmlformats.org/drawingml/2006/main">
            <a:fillRect l="0" t="0" r="0" b="0"/>
          </a:stretch>
        </p:blipFill>
        <p:spPr>
          <a:xfrm xmlns:a="http://schemas.openxmlformats.org/drawingml/2006/main">
            <a:off x="6572250" y="1371600"/>
            <a:ext cx="2247900" cy="1266825"/>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339e6fcf68944e45"/>
          <a:srcRect xmlns:a="http://schemas.openxmlformats.org/drawingml/2006/main" l="94" t="0" r="94" b="0"/>
          <a:stretch xmlns:a="http://schemas.openxmlformats.org/drawingml/2006/main">
            <a:fillRect l="0" t="0" r="0" b="0"/>
          </a:stretch>
        </p:blipFill>
        <p:spPr>
          <a:xfrm xmlns:a="http://schemas.openxmlformats.org/drawingml/2006/main">
            <a:off x="8991600" y="1371600"/>
            <a:ext cx="2247900" cy="126682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A0173E3F-2EF9-444E-8792-46FBBA4F941C}"/>
              </a:ext>
            </a:extLst>
          </p:cNvPr>
          <p:cNvSpPr>
            <a:spLocks xmlns:a="http://schemas.openxmlformats.org/drawingml/2006/main" noGrp="1"/>
          </p:cNvSpPr>
          <p:nvPr/>
        </p:nvSpPr>
        <p:spPr>
          <a:xfrm xmlns:a="http://schemas.openxmlformats.org/drawingml/2006/main">
            <a:off x="6572250" y="2876550"/>
            <a:ext cx="466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normal：対応するriskと同じ絶対時刻</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c7aa200f4bd846ec"/>
          <a:srcRect xmlns:a="http://schemas.openxmlformats.org/drawingml/2006/main" l="94" t="0" r="94" b="0"/>
          <a:stretch xmlns:a="http://schemas.openxmlformats.org/drawingml/2006/main">
            <a:fillRect l="0" t="0" r="0" b="0"/>
          </a:stretch>
        </p:blipFill>
        <p:spPr>
          <a:xfrm xmlns:a="http://schemas.openxmlformats.org/drawingml/2006/main">
            <a:off x="6572250" y="3181350"/>
            <a:ext cx="2247900" cy="1266825"/>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016188237e9c4aef"/>
          <a:srcRect xmlns:a="http://schemas.openxmlformats.org/drawingml/2006/main" l="94" t="0" r="94" b="0"/>
          <a:stretch xmlns:a="http://schemas.openxmlformats.org/drawingml/2006/main">
            <a:fillRect l="0" t="0" r="0" b="0"/>
          </a:stretch>
        </p:blipFill>
        <p:spPr>
          <a:xfrm xmlns:a="http://schemas.openxmlformats.org/drawingml/2006/main">
            <a:off x="8991600" y="3181350"/>
            <a:ext cx="2247900" cy="1266825"/>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33C5FFDE-534A-415C-AD62-B7806F8E6E27}"/>
              </a:ext>
            </a:extLst>
          </p:cNvPr>
          <p:cNvSpPr>
            <a:spLocks xmlns:a="http://schemas.openxmlformats.org/drawingml/2006/main" noGrp="1"/>
          </p:cNvSpPr>
          <p:nvPr/>
        </p:nvSpPr>
        <p:spPr>
          <a:xfrm xmlns:a="http://schemas.openxmlformats.org/drawingml/2006/main">
            <a:off x="666750" y="4857750"/>
            <a:ext cx="10572750" cy="971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06D585B-6D39-499A-8BC7-44F17A7DDB67}"/>
              </a:ext>
            </a:extLst>
          </p:cNvPr>
          <p:cNvSpPr>
            <a:spLocks xmlns:a="http://schemas.openxmlformats.org/drawingml/2006/main" noGrp="1"/>
          </p:cNvSpPr>
          <p:nvPr/>
        </p:nvSpPr>
        <p:spPr>
          <a:xfrm xmlns:a="http://schemas.openxmlformats.org/drawingml/2006/main">
            <a:off x="933450" y="5057775"/>
            <a:ext cx="10039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26373D"/>
                </a:solidFill>
                <a:latin typeface="Yu Gothic"/>
                <a:ea typeface="Yu Gothic"/>
                <a:cs typeface="Yu Gothic"/>
              </a:defRPr>
            </a:pPr>
            <a:r>
              <a:rPr sz="1725" b="1">
                <a:solidFill>
                  <a:srgbClr val="26373D"/>
                </a:solidFill>
                <a:latin typeface="Yu Gothic"/>
                <a:ea typeface="Yu Gothic"/>
                <a:cs typeface="Yu Gothic"/>
              </a:rPr>
              <a:t>旧runではriskの注釈区間内に選択frameが0枚だったため不合格とした。入力規則を修正し、全画像を確認してから再実行した。</a:t>
            </a:r>
          </a:p>
        </p:txBody>
      </p:sp>
    </p:spTree>
    <p:extLst>
      <p:ext uri="{BB962C8B-B14F-4D97-AF65-F5344CB8AC3E}">
        <p14:creationId xmlns:p14="http://schemas.microsoft.com/office/powerpoint/2010/main" val="16950214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8FF081E-917B-4A7E-96CF-06CF0982618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932598-B596-4EB8-BD5C-1F173DD2D535}"/>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0A0B3F4-E477-420D-B2C3-E74F5F9A0EF9}"/>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具体例：局所学習でrisk方向へ0.295変化</a:t>
            </a:r>
          </a:p>
        </p:txBody>
      </p:sp>
      <p:sp>
        <p:nvSpPr>
          <p:cNvPr id="4" name="">
            <a:extLst xmlns:a="http://schemas.openxmlformats.org/drawingml/2006/main">
              <a:ext uri="{FF2B5EF4-FFF2-40B4-BE49-F238E27FC236}">
                <a16:creationId xmlns:a16="http://schemas.microsoft.com/office/drawing/2014/main" id="{B7AEB1B3-146D-4938-A4B5-49A31E9BF3D9}"/>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06</a:t>
            </a:r>
          </a:p>
        </p:txBody>
      </p:sp>
      <p:sp>
        <p:nvSpPr>
          <p:cNvPr id="5" name="">
            <a:extLst xmlns:a="http://schemas.openxmlformats.org/drawingml/2006/main">
              <a:ext uri="{FF2B5EF4-FFF2-40B4-BE49-F238E27FC236}">
                <a16:creationId xmlns:a16="http://schemas.microsoft.com/office/drawing/2014/main" id="{337EC8A3-70BE-4B6E-942B-A4F63F4424F0}"/>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2242AE9-4781-41C1-B3CE-3339C8D506CA}"/>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58A88C57-733B-42D4-8573-48DF712F7A9F}"/>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6 / 10</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cfc97f9c0ceb4701"/>
          <a:srcRect xmlns:a="http://schemas.openxmlformats.org/drawingml/2006/main" l="133" t="0" r="133" b="0"/>
          <a:stretch xmlns:a="http://schemas.openxmlformats.org/drawingml/2006/main">
            <a:fillRect l="0" t="0" r="0" b="0"/>
          </a:stretch>
        </p:blipFill>
        <p:spPr>
          <a:xfrm xmlns:a="http://schemas.openxmlformats.org/drawingml/2006/main">
            <a:off x="666750" y="1219200"/>
            <a:ext cx="2381250" cy="134302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754ef3f2c1be4222"/>
          <a:srcRect xmlns:a="http://schemas.openxmlformats.org/drawingml/2006/main" l="133" t="0" r="133" b="0"/>
          <a:stretch xmlns:a="http://schemas.openxmlformats.org/drawingml/2006/main">
            <a:fillRect l="0" t="0" r="0" b="0"/>
          </a:stretch>
        </p:blipFill>
        <p:spPr>
          <a:xfrm xmlns:a="http://schemas.openxmlformats.org/drawingml/2006/main">
            <a:off x="3333750" y="1219200"/>
            <a:ext cx="2381250" cy="134302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b275f98a707f4b63"/>
          <a:srcRect xmlns:a="http://schemas.openxmlformats.org/drawingml/2006/main" l="133" t="0" r="133" b="0"/>
          <a:stretch xmlns:a="http://schemas.openxmlformats.org/drawingml/2006/main">
            <a:fillRect l="0" t="0" r="0" b="0"/>
          </a:stretch>
        </p:blipFill>
        <p:spPr>
          <a:xfrm xmlns:a="http://schemas.openxmlformats.org/drawingml/2006/main">
            <a:off x="6000750" y="1219200"/>
            <a:ext cx="2381250" cy="1343025"/>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4596468c4fb4460d"/>
          <a:srcRect xmlns:a="http://schemas.openxmlformats.org/drawingml/2006/main" l="133" t="0" r="133" b="0"/>
          <a:stretch xmlns:a="http://schemas.openxmlformats.org/drawingml/2006/main">
            <a:fillRect l="0" t="0" r="0" b="0"/>
          </a:stretch>
        </p:blipFill>
        <p:spPr>
          <a:xfrm xmlns:a="http://schemas.openxmlformats.org/drawingml/2006/main">
            <a:off x="8667750" y="1219200"/>
            <a:ext cx="2381250" cy="13430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49F8057-47CF-4D0B-A685-7456756BFE18}"/>
              </a:ext>
            </a:extLst>
          </p:cNvPr>
          <p:cNvSpPr>
            <a:spLocks xmlns:a="http://schemas.openxmlformats.org/drawingml/2006/main" noGrp="1"/>
          </p:cNvSpPr>
          <p:nvPr/>
        </p:nvSpPr>
        <p:spPr>
          <a:xfrm xmlns:a="http://schemas.openxmlformats.org/drawingml/2006/main">
            <a:off x="666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time_of_alert</a:t>
            </a:r>
          </a:p>
        </p:txBody>
      </p:sp>
      <p:sp>
        <p:nvSpPr>
          <p:cNvPr id="13" name="">
            <a:extLst xmlns:a="http://schemas.openxmlformats.org/drawingml/2006/main">
              <a:ext uri="{FF2B5EF4-FFF2-40B4-BE49-F238E27FC236}">
                <a16:creationId xmlns:a16="http://schemas.microsoft.com/office/drawing/2014/main" id="{9C68554A-79B4-469C-B774-CDC806BC9495}"/>
              </a:ext>
            </a:extLst>
          </p:cNvPr>
          <p:cNvSpPr>
            <a:spLocks xmlns:a="http://schemas.openxmlformats.org/drawingml/2006/main" noGrp="1"/>
          </p:cNvSpPr>
          <p:nvPr/>
        </p:nvSpPr>
        <p:spPr>
          <a:xfrm xmlns:a="http://schemas.openxmlformats.org/drawingml/2006/main">
            <a:off x="3333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約33%</a:t>
            </a:r>
          </a:p>
        </p:txBody>
      </p:sp>
      <p:sp>
        <p:nvSpPr>
          <p:cNvPr id="14" name="">
            <a:extLst xmlns:a="http://schemas.openxmlformats.org/drawingml/2006/main">
              <a:ext uri="{FF2B5EF4-FFF2-40B4-BE49-F238E27FC236}">
                <a16:creationId xmlns:a16="http://schemas.microsoft.com/office/drawing/2014/main" id="{3635152D-007E-4DD0-9EC9-B4967FA26235}"/>
              </a:ext>
            </a:extLst>
          </p:cNvPr>
          <p:cNvSpPr>
            <a:spLocks xmlns:a="http://schemas.openxmlformats.org/drawingml/2006/main" noGrp="1"/>
          </p:cNvSpPr>
          <p:nvPr/>
        </p:nvSpPr>
        <p:spPr>
          <a:xfrm xmlns:a="http://schemas.openxmlformats.org/drawingml/2006/main">
            <a:off x="6000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約67%</a:t>
            </a:r>
          </a:p>
        </p:txBody>
      </p:sp>
      <p:sp>
        <p:nvSpPr>
          <p:cNvPr id="15" name="">
            <a:extLst xmlns:a="http://schemas.openxmlformats.org/drawingml/2006/main">
              <a:ext uri="{FF2B5EF4-FFF2-40B4-BE49-F238E27FC236}">
                <a16:creationId xmlns:a16="http://schemas.microsoft.com/office/drawing/2014/main" id="{E78E03D4-957A-4E8E-B612-71A93DE023ED}"/>
              </a:ext>
            </a:extLst>
          </p:cNvPr>
          <p:cNvSpPr>
            <a:spLocks xmlns:a="http://schemas.openxmlformats.org/drawingml/2006/main" noGrp="1"/>
          </p:cNvSpPr>
          <p:nvPr/>
        </p:nvSpPr>
        <p:spPr>
          <a:xfrm xmlns:a="http://schemas.openxmlformats.org/drawingml/2006/main">
            <a:off x="8667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time_of_event</a:t>
            </a:r>
          </a:p>
        </p:txBody>
      </p:sp>
      <p:sp>
        <p:nvSpPr>
          <p:cNvPr id="16" name="">
            <a:extLst xmlns:a="http://schemas.openxmlformats.org/drawingml/2006/main">
              <a:ext uri="{FF2B5EF4-FFF2-40B4-BE49-F238E27FC236}">
                <a16:creationId xmlns:a16="http://schemas.microsoft.com/office/drawing/2014/main" id="{86149076-9F4B-46C6-9764-DD90C7A5D926}"/>
              </a:ext>
            </a:extLst>
          </p:cNvPr>
          <p:cNvSpPr>
            <a:spLocks xmlns:a="http://schemas.openxmlformats.org/drawingml/2006/main" noGrp="1"/>
          </p:cNvSpPr>
          <p:nvPr/>
        </p:nvSpPr>
        <p:spPr>
          <a:xfrm xmlns:a="http://schemas.openxmlformats.org/drawingml/2006/main">
            <a:off x="666750" y="31432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この動画のrisk成分</a:t>
            </a:r>
          </a:p>
        </p:txBody>
      </p:sp>
      <p:sp>
        <p:nvSpPr>
          <p:cNvPr id="17" name="">
            <a:extLst xmlns:a="http://schemas.openxmlformats.org/drawingml/2006/main">
              <a:ext uri="{FF2B5EF4-FFF2-40B4-BE49-F238E27FC236}">
                <a16:creationId xmlns:a16="http://schemas.microsoft.com/office/drawing/2014/main" id="{A7E09CE6-0FF0-4428-BE86-72F669D8451B}"/>
              </a:ext>
            </a:extLst>
          </p:cNvPr>
          <p:cNvSpPr>
            <a:spLocks xmlns:a="http://schemas.openxmlformats.org/drawingml/2006/main" noGrp="1"/>
          </p:cNvSpPr>
          <p:nvPr/>
        </p:nvSpPr>
        <p:spPr>
          <a:xfrm xmlns:a="http://schemas.openxmlformats.org/drawingml/2006/main">
            <a:off x="68580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q^{pre}</a:t>
            </a:r>
          </a:p>
        </p:txBody>
      </p:sp>
      <p:sp>
        <p:nvSpPr>
          <p:cNvPr id="18" name="">
            <a:extLst xmlns:a="http://schemas.openxmlformats.org/drawingml/2006/main">
              <a:ext uri="{FF2B5EF4-FFF2-40B4-BE49-F238E27FC236}">
                <a16:creationId xmlns:a16="http://schemas.microsoft.com/office/drawing/2014/main" id="{51A05511-C5A5-47D4-AF1E-5029A3075663}"/>
              </a:ext>
            </a:extLst>
          </p:cNvPr>
          <p:cNvSpPr>
            <a:spLocks xmlns:a="http://schemas.openxmlformats.org/drawingml/2006/main" noGrp="1"/>
          </p:cNvSpPr>
          <p:nvPr/>
        </p:nvSpPr>
        <p:spPr>
          <a:xfrm xmlns:a="http://schemas.openxmlformats.org/drawingml/2006/main">
            <a:off x="68580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0.349</a:t>
            </a:r>
          </a:p>
        </p:txBody>
      </p:sp>
      <p:sp>
        <p:nvSpPr>
          <p:cNvPr id="19" name="">
            <a:extLst xmlns:a="http://schemas.openxmlformats.org/drawingml/2006/main">
              <a:ext uri="{FF2B5EF4-FFF2-40B4-BE49-F238E27FC236}">
                <a16:creationId xmlns:a16="http://schemas.microsoft.com/office/drawing/2014/main" id="{BF1B9933-3644-4C82-98C9-FC9EA6E7171F}"/>
              </a:ext>
            </a:extLst>
          </p:cNvPr>
          <p:cNvSpPr>
            <a:spLocks xmlns:a="http://schemas.openxmlformats.org/drawingml/2006/main" noGrp="1"/>
          </p:cNvSpPr>
          <p:nvPr/>
        </p:nvSpPr>
        <p:spPr>
          <a:xfrm xmlns:a="http://schemas.openxmlformats.org/drawingml/2006/main">
            <a:off x="249555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q^{post}</a:t>
            </a:r>
          </a:p>
        </p:txBody>
      </p:sp>
      <p:sp>
        <p:nvSpPr>
          <p:cNvPr id="20" name="">
            <a:extLst xmlns:a="http://schemas.openxmlformats.org/drawingml/2006/main">
              <a:ext uri="{FF2B5EF4-FFF2-40B4-BE49-F238E27FC236}">
                <a16:creationId xmlns:a16="http://schemas.microsoft.com/office/drawing/2014/main" id="{A14D631B-9A33-4C42-BEBE-239DED09EC87}"/>
              </a:ext>
            </a:extLst>
          </p:cNvPr>
          <p:cNvSpPr>
            <a:spLocks xmlns:a="http://schemas.openxmlformats.org/drawingml/2006/main" noGrp="1"/>
          </p:cNvSpPr>
          <p:nvPr/>
        </p:nvSpPr>
        <p:spPr>
          <a:xfrm xmlns:a="http://schemas.openxmlformats.org/drawingml/2006/main">
            <a:off x="249555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0.644</a:t>
            </a:r>
          </a:p>
        </p:txBody>
      </p:sp>
      <p:sp>
        <p:nvSpPr>
          <p:cNvPr id="21" name="">
            <a:extLst xmlns:a="http://schemas.openxmlformats.org/drawingml/2006/main">
              <a:ext uri="{FF2B5EF4-FFF2-40B4-BE49-F238E27FC236}">
                <a16:creationId xmlns:a16="http://schemas.microsoft.com/office/drawing/2014/main" id="{BDFA141A-E555-4516-8C0F-8D5AA4604171}"/>
              </a:ext>
            </a:extLst>
          </p:cNvPr>
          <p:cNvSpPr>
            <a:spLocks xmlns:a="http://schemas.openxmlformats.org/drawingml/2006/main" noGrp="1"/>
          </p:cNvSpPr>
          <p:nvPr/>
        </p:nvSpPr>
        <p:spPr>
          <a:xfrm xmlns:a="http://schemas.openxmlformats.org/drawingml/2006/main">
            <a:off x="430530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Δq</a:t>
            </a:r>
          </a:p>
        </p:txBody>
      </p:sp>
      <p:sp>
        <p:nvSpPr>
          <p:cNvPr id="22" name="">
            <a:extLst xmlns:a="http://schemas.openxmlformats.org/drawingml/2006/main">
              <a:ext uri="{FF2B5EF4-FFF2-40B4-BE49-F238E27FC236}">
                <a16:creationId xmlns:a16="http://schemas.microsoft.com/office/drawing/2014/main" id="{C2BF195E-212D-4250-A2A3-E057067CD131}"/>
              </a:ext>
            </a:extLst>
          </p:cNvPr>
          <p:cNvSpPr>
            <a:spLocks xmlns:a="http://schemas.openxmlformats.org/drawingml/2006/main" noGrp="1"/>
          </p:cNvSpPr>
          <p:nvPr/>
        </p:nvSpPr>
        <p:spPr>
          <a:xfrm xmlns:a="http://schemas.openxmlformats.org/drawingml/2006/main">
            <a:off x="430530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E7833D"/>
                </a:solidFill>
                <a:latin typeface="Yu Gothic"/>
                <a:ea typeface="Yu Gothic"/>
                <a:cs typeface="Yu Gothic"/>
              </a:defRPr>
            </a:pPr>
            <a:r>
              <a:rPr sz="2850" b="1">
                <a:solidFill>
                  <a:srgbClr val="E7833D"/>
                </a:solidFill>
                <a:latin typeface="Yu Gothic"/>
                <a:ea typeface="Yu Gothic"/>
                <a:cs typeface="Yu Gothic"/>
              </a:rPr>
              <a:t>+0.295</a:t>
            </a:r>
          </a:p>
        </p:txBody>
      </p:sp>
      <p:sp>
        <p:nvSpPr>
          <p:cNvPr id="23" name="">
            <a:extLst xmlns:a="http://schemas.openxmlformats.org/drawingml/2006/main">
              <a:ext uri="{FF2B5EF4-FFF2-40B4-BE49-F238E27FC236}">
                <a16:creationId xmlns:a16="http://schemas.microsoft.com/office/drawing/2014/main" id="{18D6DFF4-3EF9-424A-B6A2-1CA9F0B192F6}"/>
              </a:ext>
            </a:extLst>
          </p:cNvPr>
          <p:cNvSpPr>
            <a:spLocks xmlns:a="http://schemas.openxmlformats.org/drawingml/2006/main" noGrp="1"/>
          </p:cNvSpPr>
          <p:nvPr/>
        </p:nvSpPr>
        <p:spPr>
          <a:xfrm xmlns:a="http://schemas.openxmlformats.org/drawingml/2006/main">
            <a:off x="6477000" y="3200400"/>
            <a:ext cx="4762500" cy="18097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80F0390-C082-48CF-940C-996E70FA121B}"/>
              </a:ext>
            </a:extLst>
          </p:cNvPr>
          <p:cNvSpPr>
            <a:spLocks xmlns:a="http://schemas.openxmlformats.org/drawingml/2006/main" noGrp="1"/>
          </p:cNvSpPr>
          <p:nvPr/>
        </p:nvSpPr>
        <p:spPr>
          <a:xfrm xmlns:a="http://schemas.openxmlformats.org/drawingml/2006/main">
            <a:off x="6743700" y="342900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3本のrisk動画から作ったprototype</a:t>
            </a:r>
          </a:p>
        </p:txBody>
      </p:sp>
      <p:sp>
        <p:nvSpPr>
          <p:cNvPr id="25" name="">
            <a:extLst xmlns:a="http://schemas.openxmlformats.org/drawingml/2006/main">
              <a:ext uri="{FF2B5EF4-FFF2-40B4-BE49-F238E27FC236}">
                <a16:creationId xmlns:a16="http://schemas.microsoft.com/office/drawing/2014/main" id="{5851D62E-8312-44CD-AABE-89DA3BC14DD9}"/>
              </a:ext>
            </a:extLst>
          </p:cNvPr>
          <p:cNvSpPr>
            <a:spLocks xmlns:a="http://schemas.openxmlformats.org/drawingml/2006/main" noGrp="1"/>
          </p:cNvSpPr>
          <p:nvPr/>
        </p:nvSpPr>
        <p:spPr>
          <a:xfrm xmlns:a="http://schemas.openxmlformats.org/drawingml/2006/main">
            <a:off x="7000875" y="3905250"/>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μ^{post}_{k,r} のrisk成分　0.724</a:t>
            </a:r>
          </a:p>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Δμ_{k,r} のrisk成分　+0.238</a:t>
            </a:r>
          </a:p>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π_{k,r}　3</a:t>
            </a:r>
          </a:p>
        </p:txBody>
      </p:sp>
      <p:sp>
        <p:nvSpPr>
          <p:cNvPr id="26" name="">
            <a:extLst xmlns:a="http://schemas.openxmlformats.org/drawingml/2006/main">
              <a:ext uri="{FF2B5EF4-FFF2-40B4-BE49-F238E27FC236}">
                <a16:creationId xmlns:a16="http://schemas.microsoft.com/office/drawing/2014/main" id="{E15E7D10-C80E-4870-AA1F-471261EEB1E8}"/>
              </a:ext>
            </a:extLst>
          </p:cNvPr>
          <p:cNvSpPr>
            <a:spLocks xmlns:a="http://schemas.openxmlformats.org/drawingml/2006/main" noGrp="1"/>
          </p:cNvSpPr>
          <p:nvPr/>
        </p:nvSpPr>
        <p:spPr>
          <a:xfrm xmlns:a="http://schemas.openxmlformats.org/drawingml/2006/main">
            <a:off x="666750" y="5334000"/>
            <a:ext cx="1057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C9D2D3"/>
            </a:solidFill>
          </a:ln>
        </p:spPr>
      </p:sp>
      <p:sp>
        <p:nvSpPr>
          <p:cNvPr id="27" name="">
            <a:extLst xmlns:a="http://schemas.openxmlformats.org/drawingml/2006/main">
              <a:ext uri="{FF2B5EF4-FFF2-40B4-BE49-F238E27FC236}">
                <a16:creationId xmlns:a16="http://schemas.microsoft.com/office/drawing/2014/main" id="{4C29CC95-4294-469B-BFB4-41A9DA4446BD}"/>
              </a:ext>
            </a:extLst>
          </p:cNvPr>
          <p:cNvSpPr>
            <a:spLocks xmlns:a="http://schemas.openxmlformats.org/drawingml/2006/main" noGrp="1"/>
          </p:cNvSpPr>
          <p:nvPr/>
        </p:nvSpPr>
        <p:spPr>
          <a:xfrm xmlns:a="http://schemas.openxmlformats.org/drawingml/2006/main">
            <a:off x="904875" y="5476875"/>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26"/>
          </a:bodyPr>
          <a:lstStyle xmlns:a="http://schemas.openxmlformats.org/drawingml/2006/main"/>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serverへ送るのは Q_{k,r}=(μ^{post}_{k,r}, Δμ_{k,r}, π_{k,r})。private動画、raw frame、sample IDは送らない。</a:t>
            </a:r>
          </a:p>
        </p:txBody>
      </p:sp>
    </p:spTree>
    <p:extLst>
      <p:ext uri="{BB962C8B-B14F-4D97-AF65-F5344CB8AC3E}">
        <p14:creationId xmlns:p14="http://schemas.microsoft.com/office/powerpoint/2010/main" val="12257216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901E5C1-3BEB-4E52-82C8-7FD04C6F885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44E0121-E726-4386-AB61-108D60ADBAA1}"/>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A3A3761-755A-4A15-9659-5E78F5A1113D}"/>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最終出力は一致したが、変化量は再現できなかった</a:t>
            </a:r>
          </a:p>
        </p:txBody>
      </p:sp>
      <p:sp>
        <p:nvSpPr>
          <p:cNvPr id="4" name="">
            <a:extLst xmlns:a="http://schemas.openxmlformats.org/drawingml/2006/main">
              <a:ext uri="{FF2B5EF4-FFF2-40B4-BE49-F238E27FC236}">
                <a16:creationId xmlns:a16="http://schemas.microsoft.com/office/drawing/2014/main" id="{2FB07023-F1C6-47C6-B787-098DDF9CAEBD}"/>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07</a:t>
            </a:r>
          </a:p>
        </p:txBody>
      </p:sp>
      <p:sp>
        <p:nvSpPr>
          <p:cNvPr id="5" name="">
            <a:extLst xmlns:a="http://schemas.openxmlformats.org/drawingml/2006/main">
              <a:ext uri="{FF2B5EF4-FFF2-40B4-BE49-F238E27FC236}">
                <a16:creationId xmlns:a16="http://schemas.microsoft.com/office/drawing/2014/main" id="{30EE863C-8D6F-4AA5-AF63-D1F741168266}"/>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85560EE-7EB6-41FD-97D0-1A3AD33CCD9B}"/>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39B274FF-7CB6-43C5-B39E-C1D2B00FA0FA}"/>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7 / 10</a:t>
            </a:r>
          </a:p>
        </p:txBody>
      </p:sp>
      <p:sp>
        <p:nvSpPr>
          <p:cNvPr id="8" name="">
            <a:extLst xmlns:a="http://schemas.openxmlformats.org/drawingml/2006/main">
              <a:ext uri="{FF2B5EF4-FFF2-40B4-BE49-F238E27FC236}">
                <a16:creationId xmlns:a16="http://schemas.microsoft.com/office/drawing/2014/main" id="{C87B1545-6E85-4366-9337-A4F3AC7D8801}"/>
              </a:ext>
            </a:extLst>
          </p:cNvPr>
          <p:cNvSpPr>
            <a:spLocks xmlns:a="http://schemas.openxmlformats.org/drawingml/2006/main" noGrp="1"/>
          </p:cNvSpPr>
          <p:nvPr/>
        </p:nvSpPr>
        <p:spPr>
          <a:xfrm xmlns:a="http://schemas.openxmlformats.org/drawingml/2006/main">
            <a:off x="666750" y="104775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serverが選んだ s^*_{k,r}：normal label、変換なし</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4d7892684e27476d"/>
          <a:srcRect xmlns:a="http://schemas.openxmlformats.org/drawingml/2006/main" l="133" t="0" r="133" b="0"/>
          <a:stretch xmlns:a="http://schemas.openxmlformats.org/drawingml/2006/main">
            <a:fillRect l="0" t="0" r="0" b="0"/>
          </a:stretch>
        </p:blipFill>
        <p:spPr>
          <a:xfrm xmlns:a="http://schemas.openxmlformats.org/drawingml/2006/main">
            <a:off x="666750" y="1381125"/>
            <a:ext cx="2381250" cy="1343025"/>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67c258c877b74c89"/>
          <a:srcRect xmlns:a="http://schemas.openxmlformats.org/drawingml/2006/main" l="133" t="0" r="133" b="0"/>
          <a:stretch xmlns:a="http://schemas.openxmlformats.org/drawingml/2006/main">
            <a:fillRect l="0" t="0" r="0" b="0"/>
          </a:stretch>
        </p:blipFill>
        <p:spPr>
          <a:xfrm xmlns:a="http://schemas.openxmlformats.org/drawingml/2006/main">
            <a:off x="3333750" y="1381125"/>
            <a:ext cx="2381250" cy="134302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c698af2403624308"/>
          <a:srcRect xmlns:a="http://schemas.openxmlformats.org/drawingml/2006/main" l="133" t="0" r="133" b="0"/>
          <a:stretch xmlns:a="http://schemas.openxmlformats.org/drawingml/2006/main">
            <a:fillRect l="0" t="0" r="0" b="0"/>
          </a:stretch>
        </p:blipFill>
        <p:spPr>
          <a:xfrm xmlns:a="http://schemas.openxmlformats.org/drawingml/2006/main">
            <a:off x="6000750" y="1381125"/>
            <a:ext cx="2381250" cy="134302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e24b00164a32411a"/>
          <a:srcRect xmlns:a="http://schemas.openxmlformats.org/drawingml/2006/main" l="133" t="0" r="133" b="0"/>
          <a:stretch xmlns:a="http://schemas.openxmlformats.org/drawingml/2006/main">
            <a:fillRect l="0" t="0" r="0" b="0"/>
          </a:stretch>
        </p:blipFill>
        <p:spPr>
          <a:xfrm xmlns:a="http://schemas.openxmlformats.org/drawingml/2006/main">
            <a:off x="8667750" y="1381125"/>
            <a:ext cx="2381250" cy="13430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E900F53A-FF17-48AE-A40E-7F6CDB462F0F}"/>
              </a:ext>
            </a:extLst>
          </p:cNvPr>
          <p:cNvSpPr>
            <a:spLocks xmlns:a="http://schemas.openxmlformats.org/drawingml/2006/main" noGrp="1"/>
          </p:cNvSpPr>
          <p:nvPr/>
        </p:nvSpPr>
        <p:spPr>
          <a:xfrm xmlns:a="http://schemas.openxmlformats.org/drawingml/2006/main">
            <a:off x="1047750" y="3219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617078"/>
                </a:solidFill>
                <a:latin typeface="Yu Gothic"/>
                <a:ea typeface="Yu Gothic"/>
                <a:cs typeface="Yu Gothic"/>
              </a:defRPr>
            </a:pPr>
            <a:r>
              <a:rPr sz="1425" b="1">
                <a:solidFill>
                  <a:srgbClr val="617078"/>
                </a:solidFill>
                <a:latin typeface="Yu Gothic"/>
                <a:ea typeface="Yu Gothic"/>
                <a:cs typeface="Yu Gothic"/>
              </a:rPr>
              <a:t>post behavior</a:t>
            </a:r>
          </a:p>
        </p:txBody>
      </p:sp>
      <p:sp>
        <p:nvSpPr>
          <p:cNvPr id="14" name="">
            <a:extLst xmlns:a="http://schemas.openxmlformats.org/drawingml/2006/main">
              <a:ext uri="{FF2B5EF4-FFF2-40B4-BE49-F238E27FC236}">
                <a16:creationId xmlns:a16="http://schemas.microsoft.com/office/drawing/2014/main" id="{36505864-42A4-4592-8E8F-63959B6F64D8}"/>
              </a:ext>
            </a:extLst>
          </p:cNvPr>
          <p:cNvSpPr>
            <a:spLocks xmlns:a="http://schemas.openxmlformats.org/drawingml/2006/main" noGrp="1"/>
          </p:cNvSpPr>
          <p:nvPr/>
        </p:nvSpPr>
        <p:spPr>
          <a:xfrm xmlns:a="http://schemas.openxmlformats.org/drawingml/2006/main">
            <a:off x="1000125" y="359092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a:solidFill>
                  <a:srgbClr val="173B4B"/>
                </a:solidFill>
                <a:latin typeface="Yu Gothic"/>
                <a:ea typeface="Yu Gothic"/>
                <a:cs typeface="Yu Gothic"/>
              </a:defRPr>
            </a:pPr>
            <a:r>
              <a:rPr sz="2400" b="1">
                <a:solidFill>
                  <a:srgbClr val="173B4B"/>
                </a:solidFill>
                <a:latin typeface="Yu Gothic"/>
                <a:ea typeface="Yu Gothic"/>
                <a:cs typeface="Yu Gothic"/>
              </a:rPr>
              <a:t>target 0.724</a:t>
            </a:r>
          </a:p>
        </p:txBody>
      </p:sp>
      <p:sp>
        <p:nvSpPr>
          <p:cNvPr id="15" name="">
            <a:extLst xmlns:a="http://schemas.openxmlformats.org/drawingml/2006/main">
              <a:ext uri="{FF2B5EF4-FFF2-40B4-BE49-F238E27FC236}">
                <a16:creationId xmlns:a16="http://schemas.microsoft.com/office/drawing/2014/main" id="{89EE5D92-B6AA-4C4C-899A-B9E5E1A63DA1}"/>
              </a:ext>
            </a:extLst>
          </p:cNvPr>
          <p:cNvSpPr>
            <a:spLocks xmlns:a="http://schemas.openxmlformats.org/drawingml/2006/main" noGrp="1"/>
          </p:cNvSpPr>
          <p:nvPr/>
        </p:nvSpPr>
        <p:spPr>
          <a:xfrm xmlns:a="http://schemas.openxmlformats.org/drawingml/2006/main">
            <a:off x="1000125" y="40576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147B78"/>
                </a:solidFill>
                <a:latin typeface="Yu Gothic"/>
                <a:ea typeface="Yu Gothic"/>
                <a:cs typeface="Yu Gothic"/>
              </a:defRPr>
            </a:pPr>
            <a:r>
              <a:rPr sz="2025" b="1">
                <a:solidFill>
                  <a:srgbClr val="147B78"/>
                </a:solidFill>
                <a:latin typeface="Yu Gothic"/>
                <a:ea typeface="Yu Gothic"/>
                <a:cs typeface="Yu Gothic"/>
              </a:rPr>
              <a:t>proxy 0.724</a:t>
            </a:r>
          </a:p>
        </p:txBody>
      </p:sp>
      <p:sp>
        <p:nvSpPr>
          <p:cNvPr id="16" name="">
            <a:extLst xmlns:a="http://schemas.openxmlformats.org/drawingml/2006/main">
              <a:ext uri="{FF2B5EF4-FFF2-40B4-BE49-F238E27FC236}">
                <a16:creationId xmlns:a16="http://schemas.microsoft.com/office/drawing/2014/main" id="{A7BBF3B7-1643-4501-95C6-2A79E7B90731}"/>
              </a:ext>
            </a:extLst>
          </p:cNvPr>
          <p:cNvSpPr>
            <a:spLocks xmlns:a="http://schemas.openxmlformats.org/drawingml/2006/main" noGrp="1"/>
          </p:cNvSpPr>
          <p:nvPr/>
        </p:nvSpPr>
        <p:spPr>
          <a:xfrm xmlns:a="http://schemas.openxmlformats.org/drawingml/2006/main">
            <a:off x="904875" y="4552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post KL = 8.35 × 10^-10</a:t>
            </a:r>
          </a:p>
        </p:txBody>
      </p:sp>
      <p:sp>
        <p:nvSpPr>
          <p:cNvPr id="17" name="">
            <a:extLst xmlns:a="http://schemas.openxmlformats.org/drawingml/2006/main">
              <a:ext uri="{FF2B5EF4-FFF2-40B4-BE49-F238E27FC236}">
                <a16:creationId xmlns:a16="http://schemas.microsoft.com/office/drawing/2014/main" id="{70DDF305-B30A-410B-ADF6-5B8290783D97}"/>
              </a:ext>
            </a:extLst>
          </p:cNvPr>
          <p:cNvSpPr>
            <a:spLocks xmlns:a="http://schemas.openxmlformats.org/drawingml/2006/main" noGrp="1"/>
          </p:cNvSpPr>
          <p:nvPr/>
        </p:nvSpPr>
        <p:spPr>
          <a:xfrm xmlns:a="http://schemas.openxmlformats.org/drawingml/2006/main">
            <a:off x="4533900" y="3105150"/>
            <a:ext cx="19050" cy="195262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FC0C316-BB1E-4D2E-AB13-FAAD3C496E78}"/>
              </a:ext>
            </a:extLst>
          </p:cNvPr>
          <p:cNvSpPr>
            <a:spLocks xmlns:a="http://schemas.openxmlformats.org/drawingml/2006/main" noGrp="1"/>
          </p:cNvSpPr>
          <p:nvPr/>
        </p:nvSpPr>
        <p:spPr>
          <a:xfrm xmlns:a="http://schemas.openxmlformats.org/drawingml/2006/main">
            <a:off x="5191125" y="3219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617078"/>
                </a:solidFill>
                <a:latin typeface="Yu Gothic"/>
                <a:ea typeface="Yu Gothic"/>
                <a:cs typeface="Yu Gothic"/>
              </a:defRPr>
            </a:pPr>
            <a:r>
              <a:rPr sz="1425" b="1">
                <a:solidFill>
                  <a:srgbClr val="617078"/>
                </a:solidFill>
                <a:latin typeface="Yu Gothic"/>
                <a:ea typeface="Yu Gothic"/>
                <a:cs typeface="Yu Gothic"/>
              </a:rPr>
              <a:t>local delta</a:t>
            </a:r>
          </a:p>
        </p:txBody>
      </p:sp>
      <p:sp>
        <p:nvSpPr>
          <p:cNvPr id="19" name="">
            <a:extLst xmlns:a="http://schemas.openxmlformats.org/drawingml/2006/main">
              <a:ext uri="{FF2B5EF4-FFF2-40B4-BE49-F238E27FC236}">
                <a16:creationId xmlns:a16="http://schemas.microsoft.com/office/drawing/2014/main" id="{1B492BB4-E63B-41FA-AE05-0F7C20123E45}"/>
              </a:ext>
            </a:extLst>
          </p:cNvPr>
          <p:cNvSpPr>
            <a:spLocks xmlns:a="http://schemas.openxmlformats.org/drawingml/2006/main" noGrp="1"/>
          </p:cNvSpPr>
          <p:nvPr/>
        </p:nvSpPr>
        <p:spPr>
          <a:xfrm xmlns:a="http://schemas.openxmlformats.org/drawingml/2006/main">
            <a:off x="5095875" y="359092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a:solidFill>
                  <a:srgbClr val="173B4B"/>
                </a:solidFill>
                <a:latin typeface="Yu Gothic"/>
                <a:ea typeface="Yu Gothic"/>
                <a:cs typeface="Yu Gothic"/>
              </a:defRPr>
            </a:pPr>
            <a:r>
              <a:rPr sz="2400" b="1">
                <a:solidFill>
                  <a:srgbClr val="173B4B"/>
                </a:solidFill>
                <a:latin typeface="Yu Gothic"/>
                <a:ea typeface="Yu Gothic"/>
                <a:cs typeface="Yu Gothic"/>
              </a:rPr>
              <a:t>target +0.238</a:t>
            </a:r>
          </a:p>
        </p:txBody>
      </p:sp>
      <p:sp>
        <p:nvSpPr>
          <p:cNvPr id="20" name="">
            <a:extLst xmlns:a="http://schemas.openxmlformats.org/drawingml/2006/main">
              <a:ext uri="{FF2B5EF4-FFF2-40B4-BE49-F238E27FC236}">
                <a16:creationId xmlns:a16="http://schemas.microsoft.com/office/drawing/2014/main" id="{25456D6D-FE43-446B-8115-533EB90381C7}"/>
              </a:ext>
            </a:extLst>
          </p:cNvPr>
          <p:cNvSpPr>
            <a:spLocks xmlns:a="http://schemas.openxmlformats.org/drawingml/2006/main" noGrp="1"/>
          </p:cNvSpPr>
          <p:nvPr/>
        </p:nvSpPr>
        <p:spPr>
          <a:xfrm xmlns:a="http://schemas.openxmlformats.org/drawingml/2006/main">
            <a:off x="5095875" y="40576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B94A3A"/>
                </a:solidFill>
                <a:latin typeface="Yu Gothic"/>
                <a:ea typeface="Yu Gothic"/>
                <a:cs typeface="Yu Gothic"/>
              </a:defRPr>
            </a:pPr>
            <a:r>
              <a:rPr sz="2025" b="1">
                <a:solidFill>
                  <a:srgbClr val="B94A3A"/>
                </a:solidFill>
                <a:latin typeface="Yu Gothic"/>
                <a:ea typeface="Yu Gothic"/>
                <a:cs typeface="Yu Gothic"/>
              </a:rPr>
              <a:t>proxy +0.051</a:t>
            </a:r>
          </a:p>
        </p:txBody>
      </p:sp>
      <p:sp>
        <p:nvSpPr>
          <p:cNvPr id="21" name="">
            <a:extLst xmlns:a="http://schemas.openxmlformats.org/drawingml/2006/main">
              <a:ext uri="{FF2B5EF4-FFF2-40B4-BE49-F238E27FC236}">
                <a16:creationId xmlns:a16="http://schemas.microsoft.com/office/drawing/2014/main" id="{B7326634-BC4E-4DAF-8EA6-FDFC5F57058F}"/>
              </a:ext>
            </a:extLst>
          </p:cNvPr>
          <p:cNvSpPr>
            <a:spLocks xmlns:a="http://schemas.openxmlformats.org/drawingml/2006/main" noGrp="1"/>
          </p:cNvSpPr>
          <p:nvPr/>
        </p:nvSpPr>
        <p:spPr>
          <a:xfrm xmlns:a="http://schemas.openxmlformats.org/drawingml/2006/main">
            <a:off x="5048250" y="4552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delta MSE = 0.0349</a:t>
            </a:r>
          </a:p>
        </p:txBody>
      </p:sp>
      <p:sp>
        <p:nvSpPr>
          <p:cNvPr id="22" name="">
            <a:extLst xmlns:a="http://schemas.openxmlformats.org/drawingml/2006/main">
              <a:ext uri="{FF2B5EF4-FFF2-40B4-BE49-F238E27FC236}">
                <a16:creationId xmlns:a16="http://schemas.microsoft.com/office/drawing/2014/main" id="{286B569A-13FC-4DB7-AE02-878A0DBA44DF}"/>
              </a:ext>
            </a:extLst>
          </p:cNvPr>
          <p:cNvSpPr>
            <a:spLocks xmlns:a="http://schemas.openxmlformats.org/drawingml/2006/main" noGrp="1"/>
          </p:cNvSpPr>
          <p:nvPr/>
        </p:nvSpPr>
        <p:spPr>
          <a:xfrm xmlns:a="http://schemas.openxmlformats.org/drawingml/2006/main">
            <a:off x="8524875" y="3124200"/>
            <a:ext cx="2714625" cy="1952625"/>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823ACF2-AB4D-4976-80FD-DFE4C4C43E1E}"/>
              </a:ext>
            </a:extLst>
          </p:cNvPr>
          <p:cNvSpPr>
            <a:spLocks xmlns:a="http://schemas.openxmlformats.org/drawingml/2006/main" noGrp="1"/>
          </p:cNvSpPr>
          <p:nvPr/>
        </p:nvSpPr>
        <p:spPr>
          <a:xfrm xmlns:a="http://schemas.openxmlformats.org/drawingml/2006/main">
            <a:off x="8782050" y="33147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E7833D"/>
                </a:solidFill>
                <a:latin typeface="Yu Gothic"/>
                <a:ea typeface="Yu Gothic"/>
                <a:cs typeface="Yu Gothic"/>
              </a:defRPr>
            </a:pPr>
            <a:r>
              <a:rPr sz="1575" b="1">
                <a:solidFill>
                  <a:srgbClr val="E7833D"/>
                </a:solidFill>
                <a:latin typeface="Yu Gothic"/>
                <a:ea typeface="Yu Gothic"/>
                <a:cs typeface="Yu Gothic"/>
              </a:rPr>
              <a:t>重要な診断</a:t>
            </a:r>
          </a:p>
        </p:txBody>
      </p:sp>
      <p:sp>
        <p:nvSpPr>
          <p:cNvPr id="24" name="">
            <a:extLst xmlns:a="http://schemas.openxmlformats.org/drawingml/2006/main">
              <a:ext uri="{FF2B5EF4-FFF2-40B4-BE49-F238E27FC236}">
                <a16:creationId xmlns:a16="http://schemas.microsoft.com/office/drawing/2014/main" id="{5F886064-D592-4E5C-B2D8-852B286AD684}"/>
              </a:ext>
            </a:extLst>
          </p:cNvPr>
          <p:cNvSpPr>
            <a:spLocks xmlns:a="http://schemas.openxmlformats.org/drawingml/2006/main" noGrp="1"/>
          </p:cNvSpPr>
          <p:nvPr/>
        </p:nvSpPr>
        <p:spPr>
          <a:xfrm xmlns:a="http://schemas.openxmlformats.org/drawingml/2006/main">
            <a:off x="8763000" y="3781425"/>
            <a:ext cx="2238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3333"/>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最終のrisk確率だけなら一致する。</a:t>
            </a:r>
          </a:p>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局所学習で動いた方向と量は、現在の候補では十分に再現できていない。</a:t>
            </a:r>
          </a:p>
        </p:txBody>
      </p:sp>
      <p:sp>
        <p:nvSpPr>
          <p:cNvPr id="25" name="">
            <a:extLst xmlns:a="http://schemas.openxmlformats.org/drawingml/2006/main">
              <a:ext uri="{FF2B5EF4-FFF2-40B4-BE49-F238E27FC236}">
                <a16:creationId xmlns:a16="http://schemas.microsoft.com/office/drawing/2014/main" id="{B79BB315-5A44-4955-B59A-80A1D741DDA7}"/>
              </a:ext>
            </a:extLst>
          </p:cNvPr>
          <p:cNvSpPr>
            <a:spLocks xmlns:a="http://schemas.openxmlformats.org/drawingml/2006/main" noGrp="1"/>
          </p:cNvSpPr>
          <p:nvPr/>
        </p:nvSpPr>
        <p:spPr>
          <a:xfrm xmlns:a="http://schemas.openxmlformats.org/drawingml/2006/main">
            <a:off x="952500" y="54292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47B78"/>
                </a:solidFill>
                <a:latin typeface="Yu Gothic"/>
                <a:ea typeface="Yu Gothic"/>
                <a:cs typeface="Yu Gothic"/>
              </a:defRPr>
            </a:pPr>
            <a:r>
              <a:rPr sz="1800" b="1">
                <a:solidFill>
                  <a:srgbClr val="147B78"/>
                </a:solidFill>
                <a:latin typeface="Yu Gothic"/>
                <a:ea typeface="Yu Gothic"/>
                <a:cs typeface="Yu Gothic"/>
              </a:rPr>
              <a:t>Layer 2で評価すべき対象が、post一致だけでは足りないことを実例で確認</a:t>
            </a:r>
          </a:p>
        </p:txBody>
      </p:sp>
    </p:spTree>
    <p:extLst>
      <p:ext uri="{BB962C8B-B14F-4D97-AF65-F5344CB8AC3E}">
        <p14:creationId xmlns:p14="http://schemas.microsoft.com/office/powerpoint/2010/main" val="7068916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5FCD8A1-1636-412A-A9D5-5E271F34933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4350492-B7DC-4418-AA90-314BEB7EFD64}"/>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D870CCD-1232-46ED-800E-8EF5333E1192}"/>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round 1では、4件中1件でdeltaの方向が逆転</a:t>
            </a:r>
          </a:p>
        </p:txBody>
      </p:sp>
      <p:sp>
        <p:nvSpPr>
          <p:cNvPr id="4" name="">
            <a:extLst xmlns:a="http://schemas.openxmlformats.org/drawingml/2006/main">
              <a:ext uri="{FF2B5EF4-FFF2-40B4-BE49-F238E27FC236}">
                <a16:creationId xmlns:a16="http://schemas.microsoft.com/office/drawing/2014/main" id="{0F5513B7-F7B7-4B8A-9E23-90CB5882452F}"/>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08</a:t>
            </a:r>
          </a:p>
        </p:txBody>
      </p:sp>
      <p:sp>
        <p:nvSpPr>
          <p:cNvPr id="5" name="">
            <a:extLst xmlns:a="http://schemas.openxmlformats.org/drawingml/2006/main">
              <a:ext uri="{FF2B5EF4-FFF2-40B4-BE49-F238E27FC236}">
                <a16:creationId xmlns:a16="http://schemas.microsoft.com/office/drawing/2014/main" id="{3B239795-0BAE-4242-AC13-702C6F8C09DF}"/>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417E421-515B-442B-B01E-31234D0D1D1A}"/>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7FE2F177-3004-4E23-A45A-2B795836C0CD}"/>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8 / 10</a:t>
            </a:r>
          </a:p>
        </p:txBody>
      </p:sp>
      <p:graphicFrame>
        <p:nvGraphicFramePr>
          <p:cNvPr id="19" name=""/>
          <p:cNvGraphicFramePr/>
          <p:nvPr/>
        </p:nvGraphicFramePr>
        <p:xfrm>
          <a:off xmlns:a="http://schemas.openxmlformats.org/drawingml/2006/main" x="857250" y="1276350"/>
          <a:ext xmlns:a="http://schemas.openxmlformats.org/drawingml/2006/main" cx="10477500" cy="2857500"/>
        </p:xfrm>
        <a:graphic xmlns:a="http://schemas.openxmlformats.org/drawingml/2006/main">
          <a:graphicData uri="http://schemas.openxmlformats.org/drawingml/2006/table">
            <a:tbl>
              <a:tblPr/>
              <a:tblGrid>
                <a:gridCol w="2762250"/>
                <a:gridCol w="2000250"/>
                <a:gridCol w="2000250"/>
                <a:gridCol w="1714500"/>
                <a:gridCol w="2000250"/>
              </a:tblGrid>
              <a:tr h="571500">
                <a:tc>
                  <a:txBody>
                    <a:bodyPr/>
                    <a:lstStyle/>
                    <a:p>
                      <a:r>
                        <a:rPr sz="1300" b="1">
                          <a:solidFill>
                            <a:srgbClr val="173B4B"/>
                          </a:solidFill>
                          <a:latin typeface="Yu Gothic"/>
                          <a:ea typeface="Yu Gothic"/>
                          <a:cs typeface="Yu Gothic"/>
                        </a:rPr>
                        <a:t>prototype</a:t>
                      </a:r>
                    </a:p>
                  </a:txBody>
                  <a:tcPr marL="91440" marR="91440" marT="45720" marB="45720"/>
                </a:tc>
                <a:tc>
                  <a:txBody>
                    <a:bodyPr/>
                    <a:lstStyle/>
                    <a:p>
                      <a:r>
                        <a:rPr sz="1300" b="1">
                          <a:solidFill>
                            <a:srgbClr val="173B4B"/>
                          </a:solidFill>
                          <a:latin typeface="Yu Gothic"/>
                          <a:ea typeface="Yu Gothic"/>
                          <a:cs typeface="Yu Gothic"/>
                        </a:rPr>
                        <a:t>target Δrisk</a:t>
                      </a:r>
                    </a:p>
                  </a:txBody>
                  <a:tcPr marL="91440" marR="91440" marT="45720" marB="45720"/>
                </a:tc>
                <a:tc>
                  <a:txBody>
                    <a:bodyPr/>
                    <a:lstStyle/>
                    <a:p>
                      <a:r>
                        <a:rPr sz="1300" b="1">
                          <a:solidFill>
                            <a:srgbClr val="173B4B"/>
                          </a:solidFill>
                          <a:latin typeface="Yu Gothic"/>
                          <a:ea typeface="Yu Gothic"/>
                          <a:cs typeface="Yu Gothic"/>
                        </a:rPr>
                        <a:t>proxy Δrisk</a:t>
                      </a:r>
                    </a:p>
                  </a:txBody>
                  <a:tcPr marL="91440" marR="91440" marT="45720" marB="45720"/>
                </a:tc>
                <a:tc>
                  <a:txBody>
                    <a:bodyPr/>
                    <a:lstStyle/>
                    <a:p>
                      <a:r>
                        <a:rPr sz="1300" b="1">
                          <a:solidFill>
                            <a:srgbClr val="173B4B"/>
                          </a:solidFill>
                          <a:latin typeface="Yu Gothic"/>
                          <a:ea typeface="Yu Gothic"/>
                          <a:cs typeface="Yu Gothic"/>
                        </a:rPr>
                        <a:t>方向</a:t>
                      </a:r>
                    </a:p>
                  </a:txBody>
                  <a:tcPr marL="91440" marR="91440" marT="45720" marB="45720"/>
                </a:tc>
                <a:tc>
                  <a:txBody>
                    <a:bodyPr/>
                    <a:lstStyle/>
                    <a:p>
                      <a:r>
                        <a:rPr sz="1300" b="1">
                          <a:solidFill>
                            <a:srgbClr val="173B4B"/>
                          </a:solidFill>
                          <a:latin typeface="Yu Gothic"/>
                          <a:ea typeface="Yu Gothic"/>
                          <a:cs typeface="Yu Gothic"/>
                        </a:rPr>
                        <a:t>seed label</a:t>
                      </a:r>
                    </a:p>
                  </a:txBody>
                  <a:tcPr marL="91440" marR="91440" marT="45720" marB="45720"/>
                </a:tc>
              </a:tr>
              <a:tr h="571500">
                <a:tc>
                  <a:txBody>
                    <a:bodyPr/>
                    <a:lstStyle/>
                    <a:p>
                      <a:r>
                        <a:rPr sz="1500" b="0">
                          <a:solidFill>
                            <a:srgbClr val="26373D"/>
                          </a:solidFill>
                          <a:latin typeface="Yu Gothic"/>
                          <a:ea typeface="Yu Gothic"/>
                          <a:cs typeface="Yu Gothic"/>
                        </a:rPr>
                        <a:t>client-0 / normal</a:t>
                      </a:r>
                    </a:p>
                  </a:txBody>
                  <a:tcPr marL="91440" marR="91440" marT="45720" marB="45720"/>
                </a:tc>
                <a:tc>
                  <a:txBody>
                    <a:bodyPr/>
                    <a:lstStyle/>
                    <a:p>
                      <a:r>
                        <a:rPr sz="1500" b="0">
                          <a:solidFill>
                            <a:srgbClr val="26373D"/>
                          </a:solidFill>
                          <a:latin typeface="Yu Gothic"/>
                          <a:ea typeface="Yu Gothic"/>
                          <a:cs typeface="Yu Gothic"/>
                        </a:rPr>
                        <a:t>+0.094</a:t>
                      </a:r>
                    </a:p>
                  </a:txBody>
                  <a:tcPr marL="91440" marR="91440" marT="45720" marB="45720"/>
                </a:tc>
                <a:tc>
                  <a:txBody>
                    <a:bodyPr/>
                    <a:lstStyle/>
                    <a:p>
                      <a:r>
                        <a:rPr sz="1500" b="0">
                          <a:solidFill>
                            <a:srgbClr val="26373D"/>
                          </a:solidFill>
                          <a:latin typeface="Yu Gothic"/>
                          <a:ea typeface="Yu Gothic"/>
                          <a:cs typeface="Yu Gothic"/>
                        </a:rPr>
                        <a:t>+0.072</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risk</a:t>
                      </a:r>
                    </a:p>
                  </a:txBody>
                  <a:tcPr marL="91440" marR="91440" marT="45720" marB="45720"/>
                </a:tc>
              </a:tr>
              <a:tr h="571500">
                <a:tc>
                  <a:txBody>
                    <a:bodyPr/>
                    <a:lstStyle/>
                    <a:p>
                      <a:r>
                        <a:rPr sz="1500" b="0">
                          <a:solidFill>
                            <a:srgbClr val="26373D"/>
                          </a:solidFill>
                          <a:latin typeface="Yu Gothic"/>
                          <a:ea typeface="Yu Gothic"/>
                          <a:cs typeface="Yu Gothic"/>
                        </a:rPr>
                        <a:t>client-0 / risk</a:t>
                      </a:r>
                    </a:p>
                  </a:txBody>
                  <a:tcPr marL="91440" marR="91440" marT="45720" marB="45720"/>
                </a:tc>
                <a:tc>
                  <a:txBody>
                    <a:bodyPr/>
                    <a:lstStyle/>
                    <a:p>
                      <a:r>
                        <a:rPr sz="1500" b="0">
                          <a:solidFill>
                            <a:srgbClr val="26373D"/>
                          </a:solidFill>
                          <a:latin typeface="Yu Gothic"/>
                          <a:ea typeface="Yu Gothic"/>
                          <a:cs typeface="Yu Gothic"/>
                        </a:rPr>
                        <a:t>+0.238</a:t>
                      </a:r>
                    </a:p>
                  </a:txBody>
                  <a:tcPr marL="91440" marR="91440" marT="45720" marB="45720"/>
                </a:tc>
                <a:tc>
                  <a:txBody>
                    <a:bodyPr/>
                    <a:lstStyle/>
                    <a:p>
                      <a:r>
                        <a:rPr sz="1500" b="0">
                          <a:solidFill>
                            <a:srgbClr val="26373D"/>
                          </a:solidFill>
                          <a:latin typeface="Yu Gothic"/>
                          <a:ea typeface="Yu Gothic"/>
                          <a:cs typeface="Yu Gothic"/>
                        </a:rPr>
                        <a:t>+0.051</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normal</a:t>
                      </a:r>
                    </a:p>
                  </a:txBody>
                  <a:tcPr marL="91440" marR="91440" marT="45720" marB="45720"/>
                </a:tc>
              </a:tr>
              <a:tr h="571500">
                <a:tc>
                  <a:txBody>
                    <a:bodyPr/>
                    <a:lstStyle/>
                    <a:p>
                      <a:r>
                        <a:rPr sz="1500" b="0">
                          <a:solidFill>
                            <a:srgbClr val="26373D"/>
                          </a:solidFill>
                          <a:latin typeface="Yu Gothic"/>
                          <a:ea typeface="Yu Gothic"/>
                          <a:cs typeface="Yu Gothic"/>
                        </a:rPr>
                        <a:t>client-1 / normal</a:t>
                      </a:r>
                    </a:p>
                  </a:txBody>
                  <a:tcPr marL="91440" marR="91440" marT="45720" marB="45720"/>
                </a:tc>
                <a:tc>
                  <a:txBody>
                    <a:bodyPr/>
                    <a:lstStyle/>
                    <a:p>
                      <a:r>
                        <a:rPr sz="1500" b="0">
                          <a:solidFill>
                            <a:srgbClr val="26373D"/>
                          </a:solidFill>
                          <a:latin typeface="Yu Gothic"/>
                          <a:ea typeface="Yu Gothic"/>
                          <a:cs typeface="Yu Gothic"/>
                        </a:rPr>
                        <a:t>−0.103</a:t>
                      </a:r>
                    </a:p>
                  </a:txBody>
                  <a:tcPr marL="91440" marR="91440" marT="45720" marB="45720"/>
                </a:tc>
                <a:tc>
                  <a:txBody>
                    <a:bodyPr>
                      <a:normAutofit/>
                    </a:bodyPr>
                    <a:lstStyle/>
                    <a:p>
                      <a:pPr algn="ctr"/>
                      <a:r>
                        <a:rPr sz="1500" b="1">
                          <a:solidFill>
                            <a:srgbClr val="B94A3A"/>
                          </a:solidFill>
                          <a:latin typeface="Yu Gothic"/>
                          <a:ea typeface="Yu Gothic"/>
                          <a:cs typeface="Yu Gothic"/>
                        </a:rPr>
                        <a:t>+0.056</a:t>
                      </a:r>
                    </a:p>
                  </a:txBody>
                  <a:tcPr marL="91440" marR="91440" marT="45720" marB="45720" anchor="ctr">
                    <a:solidFill>
                      <a:srgbClr val="F5DFDA"/>
                    </a:solidFill>
                  </a:tcPr>
                </a:tc>
                <a:tc>
                  <a:txBody>
                    <a:bodyPr>
                      <a:normAutofit/>
                    </a:bodyPr>
                    <a:lstStyle/>
                    <a:p>
                      <a:pPr algn="ctr"/>
                      <a:r>
                        <a:rPr sz="1500" b="1">
                          <a:solidFill>
                            <a:srgbClr val="B94A3A"/>
                          </a:solidFill>
                          <a:latin typeface="Yu Gothic"/>
                          <a:ea typeface="Yu Gothic"/>
                          <a:cs typeface="Yu Gothic"/>
                        </a:rPr>
                        <a:t>逆向き</a:t>
                      </a:r>
                    </a:p>
                  </a:txBody>
                  <a:tcPr marL="91440" marR="91440" marT="45720" marB="45720" anchor="ctr">
                    <a:solidFill>
                      <a:srgbClr val="F5DFDA"/>
                    </a:solidFill>
                  </a:tcPr>
                </a:tc>
                <a:tc>
                  <a:txBody>
                    <a:bodyPr/>
                    <a:lstStyle/>
                    <a:p>
                      <a:r>
                        <a:rPr sz="1500" b="0">
                          <a:solidFill>
                            <a:srgbClr val="26373D"/>
                          </a:solidFill>
                          <a:latin typeface="Yu Gothic"/>
                          <a:ea typeface="Yu Gothic"/>
                          <a:cs typeface="Yu Gothic"/>
                        </a:rPr>
                        <a:t>risk</a:t>
                      </a:r>
                    </a:p>
                  </a:txBody>
                  <a:tcPr marL="91440" marR="91440" marT="45720" marB="45720"/>
                </a:tc>
              </a:tr>
              <a:tr h="571500">
                <a:tc>
                  <a:txBody>
                    <a:bodyPr/>
                    <a:lstStyle/>
                    <a:p>
                      <a:r>
                        <a:rPr sz="1500" b="0">
                          <a:solidFill>
                            <a:srgbClr val="26373D"/>
                          </a:solidFill>
                          <a:latin typeface="Yu Gothic"/>
                          <a:ea typeface="Yu Gothic"/>
                          <a:cs typeface="Yu Gothic"/>
                        </a:rPr>
                        <a:t>client-1 / risk</a:t>
                      </a:r>
                    </a:p>
                  </a:txBody>
                  <a:tcPr marL="91440" marR="91440" marT="45720" marB="45720"/>
                </a:tc>
                <a:tc>
                  <a:txBody>
                    <a:bodyPr/>
                    <a:lstStyle/>
                    <a:p>
                      <a:r>
                        <a:rPr sz="1500" b="0">
                          <a:solidFill>
                            <a:srgbClr val="26373D"/>
                          </a:solidFill>
                          <a:latin typeface="Yu Gothic"/>
                          <a:ea typeface="Yu Gothic"/>
                          <a:cs typeface="Yu Gothic"/>
                        </a:rPr>
                        <a:t>+0.005</a:t>
                      </a:r>
                    </a:p>
                  </a:txBody>
                  <a:tcPr marL="91440" marR="91440" marT="45720" marB="45720"/>
                </a:tc>
                <a:tc>
                  <a:txBody>
                    <a:bodyPr/>
                    <a:lstStyle/>
                    <a:p>
                      <a:r>
                        <a:rPr sz="1500" b="0">
                          <a:solidFill>
                            <a:srgbClr val="26373D"/>
                          </a:solidFill>
                          <a:latin typeface="Yu Gothic"/>
                          <a:ea typeface="Yu Gothic"/>
                          <a:cs typeface="Yu Gothic"/>
                        </a:rPr>
                        <a:t>+0.010</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normal</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174E039C-BB85-4E72-A4BD-3CB1F8C22849}"/>
              </a:ext>
            </a:extLst>
          </p:cNvPr>
          <p:cNvSpPr>
            <a:spLocks xmlns:a="http://schemas.openxmlformats.org/drawingml/2006/main" noGrp="1"/>
          </p:cNvSpPr>
          <p:nvPr/>
        </p:nvSpPr>
        <p:spPr>
          <a:xfrm xmlns:a="http://schemas.openxmlformats.org/drawingml/2006/main">
            <a:off x="857250" y="4476750"/>
            <a:ext cx="10477500" cy="6858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36AA5E5-B183-4B93-8E3B-5794994C8673}"/>
              </a:ext>
            </a:extLst>
          </p:cNvPr>
          <p:cNvSpPr>
            <a:spLocks xmlns:a="http://schemas.openxmlformats.org/drawingml/2006/main" noGrp="1"/>
          </p:cNvSpPr>
          <p:nvPr/>
        </p:nvSpPr>
        <p:spPr>
          <a:xfrm xmlns:a="http://schemas.openxmlformats.org/drawingml/2006/main">
            <a:off x="1066800" y="4638675"/>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3333"/>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prototype class と seed label はround 1で4件すべて不一致。round 2・3では各3件が一致したため、1 roundの結果を一般化しない。</a:t>
            </a:r>
          </a:p>
        </p:txBody>
      </p:sp>
      <p:sp>
        <p:nvSpPr>
          <p:cNvPr id="11" name="">
            <a:extLst xmlns:a="http://schemas.openxmlformats.org/drawingml/2006/main">
              <a:ext uri="{FF2B5EF4-FFF2-40B4-BE49-F238E27FC236}">
                <a16:creationId xmlns:a16="http://schemas.microsoft.com/office/drawing/2014/main" id="{2DC1E9F8-BCEC-4EEA-BBEE-AE658FF0B365}"/>
              </a:ext>
            </a:extLst>
          </p:cNvPr>
          <p:cNvSpPr>
            <a:spLocks xmlns:a="http://schemas.openxmlformats.org/drawingml/2006/main" noGrp="1"/>
          </p:cNvSpPr>
          <p:nvPr/>
        </p:nvSpPr>
        <p:spPr>
          <a:xfrm xmlns:a="http://schemas.openxmlformats.org/drawingml/2006/main">
            <a:off x="1000125" y="5429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697"/>
          </a:bodyPr>
          <a:lstStyle xmlns:a="http://schemas.openxmlformats.org/drawingml/2006/main"/>
          <a:p xmlns:a="http://schemas.openxmlformats.org/drawingml/2006/main">
            <a:pPr algn="ctr">
              <a:defRPr sz="1650" b="1">
                <a:solidFill>
                  <a:srgbClr val="E7833D"/>
                </a:solidFill>
                <a:latin typeface="Yu Gothic"/>
                <a:ea typeface="Yu Gothic"/>
                <a:cs typeface="Yu Gothic"/>
              </a:defRPr>
            </a:pPr>
            <a:r>
              <a:rPr sz="1650" b="1">
                <a:solidFill>
                  <a:srgbClr val="E7833D"/>
                </a:solidFill>
                <a:latin typeface="Yu Gothic"/>
                <a:ea typeface="Yu Gothic"/>
                <a:cs typeface="Yu Gothic"/>
              </a:rPr>
              <a:t>原因はまだ一つに決められない。60 seedのlabelとmodel argmaxの一致は43件で、model誤分類と検索挙動が混在している。</a:t>
            </a:r>
          </a:p>
        </p:txBody>
      </p:sp>
    </p:spTree>
    <p:extLst>
      <p:ext uri="{BB962C8B-B14F-4D97-AF65-F5344CB8AC3E}">
        <p14:creationId xmlns:p14="http://schemas.microsoft.com/office/powerpoint/2010/main" val="149913655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A370444-164F-4C5C-A108-66450C50CA9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E753FD-CF0D-4A56-8B1C-E10B27ECA2BF}"/>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A97FFC6-AC3E-4210-A6D5-8F579C8E53BB}"/>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3 roundの状態継承は確認、Layer 3に診断点が残った</a:t>
            </a:r>
          </a:p>
        </p:txBody>
      </p:sp>
      <p:sp>
        <p:nvSpPr>
          <p:cNvPr id="4" name="">
            <a:extLst xmlns:a="http://schemas.openxmlformats.org/drawingml/2006/main">
              <a:ext uri="{FF2B5EF4-FFF2-40B4-BE49-F238E27FC236}">
                <a16:creationId xmlns:a16="http://schemas.microsoft.com/office/drawing/2014/main" id="{5FE05CB6-D35C-40C4-B91A-CFFCE55A0A68}"/>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09</a:t>
            </a:r>
          </a:p>
        </p:txBody>
      </p:sp>
      <p:sp>
        <p:nvSpPr>
          <p:cNvPr id="5" name="">
            <a:extLst xmlns:a="http://schemas.openxmlformats.org/drawingml/2006/main">
              <a:ext uri="{FF2B5EF4-FFF2-40B4-BE49-F238E27FC236}">
                <a16:creationId xmlns:a16="http://schemas.microsoft.com/office/drawing/2014/main" id="{807A95C9-44F5-4E92-95E8-7B722BCB0E91}"/>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A8C73E3-65E1-4F6F-BFDF-4F4661949DDC}"/>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B9169FDF-091F-4271-9F4E-126927B7DEA7}"/>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9 / 10</a:t>
            </a:r>
          </a:p>
        </p:txBody>
      </p:sp>
      <p:graphicFrame>
        <p:nvGraphicFramePr>
          <p:cNvPr id="24" name=""/>
          <p:cNvGraphicFramePr/>
          <p:nvPr/>
        </p:nvGraphicFramePr>
        <p:xfrm>
          <a:off xmlns:a="http://schemas.openxmlformats.org/drawingml/2006/main" x="523875" y="1276350"/>
          <a:ext xmlns:a="http://schemas.openxmlformats.org/drawingml/2006/main" cx="11144250" cy="2428875"/>
        </p:xfrm>
        <a:graphic xmlns:a="http://schemas.openxmlformats.org/drawingml/2006/main">
          <a:graphicData uri="http://schemas.openxmlformats.org/drawingml/2006/table">
            <a:tbl>
              <a:tblPr/>
              <a:tblGrid>
                <a:gridCol w="857250"/>
                <a:gridCol w="1285875"/>
                <a:gridCol w="1285875"/>
                <a:gridCol w="2428875"/>
                <a:gridCol w="2095500"/>
                <a:gridCol w="3190875"/>
              </a:tblGrid>
              <a:tr h="607219">
                <a:tc>
                  <a:txBody>
                    <a:bodyPr/>
                    <a:lstStyle/>
                    <a:p>
                      <a:r>
                        <a:rPr sz="1200" b="1">
                          <a:solidFill>
                            <a:srgbClr val="173B4B"/>
                          </a:solidFill>
                          <a:latin typeface="Yu Gothic"/>
                          <a:ea typeface="Yu Gothic"/>
                          <a:cs typeface="Yu Gothic"/>
                        </a:rPr>
                        <a:t>round</a:t>
                      </a:r>
                    </a:p>
                  </a:txBody>
                  <a:tcPr marL="91440" marR="91440" marT="45720" marB="45720"/>
                </a:tc>
                <a:tc>
                  <a:txBody>
                    <a:bodyPr/>
                    <a:lstStyle/>
                    <a:p>
                      <a:r>
                        <a:rPr sz="1200" b="1">
                          <a:solidFill>
                            <a:srgbClr val="173B4B"/>
                          </a:solidFill>
                          <a:latin typeface="Yu Gothic"/>
                          <a:ea typeface="Yu Gothic"/>
                          <a:cs typeface="Yu Gothic"/>
                        </a:rPr>
                        <a:t>入力 M_G</a:t>
                      </a:r>
                    </a:p>
                  </a:txBody>
                  <a:tcPr marL="91440" marR="91440" marT="45720" marB="45720"/>
                </a:tc>
                <a:tc>
                  <a:txBody>
                    <a:bodyPr/>
                    <a:lstStyle/>
                    <a:p>
                      <a:r>
                        <a:rPr sz="1200" b="1">
                          <a:solidFill>
                            <a:srgbClr val="173B4B"/>
                          </a:solidFill>
                          <a:latin typeface="Yu Gothic"/>
                          <a:ea typeface="Yu Gothic"/>
                          <a:cs typeface="Yu Gothic"/>
                        </a:rPr>
                        <a:t>出力 M_G</a:t>
                      </a:r>
                    </a:p>
                  </a:txBody>
                  <a:tcPr marL="91440" marR="91440" marT="45720" marB="45720"/>
                </a:tc>
                <a:tc>
                  <a:txBody>
                    <a:bodyPr/>
                    <a:lstStyle/>
                    <a:p>
                      <a:r>
                        <a:rPr sz="1200" b="1">
                          <a:solidFill>
                            <a:srgbClr val="173B4B"/>
                          </a:solidFill>
                          <a:latin typeface="Yu Gothic"/>
                          <a:ea typeface="Yu Gothic"/>
                          <a:cs typeface="Yu Gothic"/>
                        </a:rPr>
                        <a:t>client LoRA update norm</a:t>
                      </a:r>
                    </a:p>
                  </a:txBody>
                  <a:tcPr marL="91440" marR="91440" marT="45720" marB="45720"/>
                </a:tc>
                <a:tc>
                  <a:txBody>
                    <a:bodyPr/>
                    <a:lstStyle/>
                    <a:p>
                      <a:r>
                        <a:rPr sz="1200" b="1">
                          <a:solidFill>
                            <a:srgbClr val="173B4B"/>
                          </a:solidFill>
                          <a:latin typeface="Yu Gothic"/>
                          <a:ea typeface="Yu Gothic"/>
                          <a:cs typeface="Yu Gothic"/>
                        </a:rPr>
                        <a:t>FedAvg再計算差</a:t>
                      </a:r>
                    </a:p>
                  </a:txBody>
                  <a:tcPr marL="91440" marR="91440" marT="45720" marB="45720"/>
                </a:tc>
                <a:tc>
                  <a:txBody>
                    <a:bodyPr/>
                    <a:lstStyle/>
                    <a:p>
                      <a:r>
                        <a:rPr sz="1200" b="1">
                          <a:solidFill>
                            <a:srgbClr val="173B4B"/>
                          </a:solidFill>
                          <a:latin typeface="Yu Gothic"/>
                          <a:ea typeface="Yu Gothic"/>
                          <a:cs typeface="Yu Gothic"/>
                        </a:rPr>
                        <a:t>各roundの4 pair上の加重KL</a:t>
                      </a:r>
                    </a:p>
                  </a:txBody>
                  <a:tcPr marL="91440" marR="91440" marT="45720" marB="45720"/>
                </a:tc>
              </a:tr>
              <a:tr h="607219">
                <a:tc>
                  <a:txBody>
                    <a:bodyPr/>
                    <a:lstStyle/>
                    <a:p>
                      <a:r>
                        <a:rPr sz="1350" b="0">
                          <a:solidFill>
                            <a:srgbClr val="26373D"/>
                          </a:solidFill>
                          <a:latin typeface="Yu Gothic"/>
                          <a:ea typeface="Yu Gothic"/>
                          <a:cs typeface="Yu Gothic"/>
                        </a:rPr>
                        <a:t>1</a:t>
                      </a:r>
                    </a:p>
                  </a:txBody>
                  <a:tcPr marL="91440" marR="91440" marT="45720" marB="45720"/>
                </a:tc>
                <a:tc>
                  <a:txBody>
                    <a:bodyPr/>
                    <a:lstStyle/>
                    <a:p>
                      <a:r>
                        <a:rPr sz="1350" b="0">
                          <a:solidFill>
                            <a:srgbClr val="26373D"/>
                          </a:solidFill>
                          <a:latin typeface="Yu Gothic"/>
                          <a:ea typeface="Yu Gothic"/>
                          <a:cs typeface="Yu Gothic"/>
                        </a:rPr>
                        <a:t>M_G^0</a:t>
                      </a:r>
                    </a:p>
                  </a:txBody>
                  <a:tcPr marL="91440" marR="91440" marT="45720" marB="45720"/>
                </a:tc>
                <a:tc>
                  <a:txBody>
                    <a:bodyPr/>
                    <a:lstStyle/>
                    <a:p>
                      <a:r>
                        <a:rPr sz="1350" b="0">
                          <a:solidFill>
                            <a:srgbClr val="26373D"/>
                          </a:solidFill>
                          <a:latin typeface="Yu Gothic"/>
                          <a:ea typeface="Yu Gothic"/>
                          <a:cs typeface="Yu Gothic"/>
                        </a:rPr>
                        <a:t>M_G^1</a:t>
                      </a:r>
                    </a:p>
                  </a:txBody>
                  <a:tcPr marL="91440" marR="91440" marT="45720" marB="45720"/>
                </a:tc>
                <a:tc>
                  <a:txBody>
                    <a:bodyPr/>
                    <a:lstStyle/>
                    <a:p>
                      <a:r>
                        <a:rPr sz="1350" b="0">
                          <a:solidFill>
                            <a:srgbClr val="26373D"/>
                          </a:solidFill>
                          <a:latin typeface="Yu Gothic"/>
                          <a:ea typeface="Yu Gothic"/>
                          <a:cs typeface="Yu Gothic"/>
                        </a:rPr>
                        <a:t>0.346 / 0.292</a:t>
                      </a:r>
                    </a:p>
                  </a:txBody>
                  <a:tcPr marL="91440" marR="91440" marT="45720" marB="45720"/>
                </a:tc>
                <a:tc>
                  <a:txBody>
                    <a:bodyPr/>
                    <a:lstStyle/>
                    <a:p>
                      <a:r>
                        <a:rPr sz="1350" b="0">
                          <a:solidFill>
                            <a:srgbClr val="26373D"/>
                          </a:solidFill>
                          <a:latin typeface="Yu Gothic"/>
                          <a:ea typeface="Yu Gothic"/>
                          <a:cs typeface="Yu Gothic"/>
                        </a:rPr>
                        <a:t>5.82 × 10^-11</a:t>
                      </a:r>
                    </a:p>
                  </a:txBody>
                  <a:tcPr marL="91440" marR="91440" marT="45720" marB="45720"/>
                </a:tc>
                <a:tc>
                  <a:txBody>
                    <a:bodyPr/>
                    <a:lstStyle/>
                    <a:p>
                      <a:r>
                        <a:rPr sz="1350" b="0">
                          <a:solidFill>
                            <a:srgbClr val="26373D"/>
                          </a:solidFill>
                          <a:latin typeface="Yu Gothic"/>
                          <a:ea typeface="Yu Gothic"/>
                          <a:cs typeface="Yu Gothic"/>
                        </a:rPr>
                        <a:t>0.0540 から 0.0534</a:t>
                      </a:r>
                    </a:p>
                  </a:txBody>
                  <a:tcPr marL="91440" marR="91440" marT="45720" marB="45720"/>
                </a:tc>
              </a:tr>
              <a:tr h="607219">
                <a:tc>
                  <a:txBody>
                    <a:bodyPr/>
                    <a:lstStyle/>
                    <a:p>
                      <a:r>
                        <a:rPr sz="1350" b="0">
                          <a:solidFill>
                            <a:srgbClr val="26373D"/>
                          </a:solidFill>
                          <a:latin typeface="Yu Gothic"/>
                          <a:ea typeface="Yu Gothic"/>
                          <a:cs typeface="Yu Gothic"/>
                        </a:rPr>
                        <a:t>2</a:t>
                      </a:r>
                    </a:p>
                  </a:txBody>
                  <a:tcPr marL="91440" marR="91440" marT="45720" marB="45720"/>
                </a:tc>
                <a:tc>
                  <a:txBody>
                    <a:bodyPr/>
                    <a:lstStyle/>
                    <a:p>
                      <a:r>
                        <a:rPr sz="1350" b="0">
                          <a:solidFill>
                            <a:srgbClr val="26373D"/>
                          </a:solidFill>
                          <a:latin typeface="Yu Gothic"/>
                          <a:ea typeface="Yu Gothic"/>
                          <a:cs typeface="Yu Gothic"/>
                        </a:rPr>
                        <a:t>M_G^1</a:t>
                      </a:r>
                    </a:p>
                  </a:txBody>
                  <a:tcPr marL="91440" marR="91440" marT="45720" marB="45720"/>
                </a:tc>
                <a:tc>
                  <a:txBody>
                    <a:bodyPr/>
                    <a:lstStyle/>
                    <a:p>
                      <a:r>
                        <a:rPr sz="1350" b="0">
                          <a:solidFill>
                            <a:srgbClr val="26373D"/>
                          </a:solidFill>
                          <a:latin typeface="Yu Gothic"/>
                          <a:ea typeface="Yu Gothic"/>
                          <a:cs typeface="Yu Gothic"/>
                        </a:rPr>
                        <a:t>M_G^2</a:t>
                      </a:r>
                    </a:p>
                  </a:txBody>
                  <a:tcPr marL="91440" marR="91440" marT="45720" marB="45720"/>
                </a:tc>
                <a:tc>
                  <a:txBody>
                    <a:bodyPr/>
                    <a:lstStyle/>
                    <a:p>
                      <a:r>
                        <a:rPr sz="1350" b="0">
                          <a:solidFill>
                            <a:srgbClr val="26373D"/>
                          </a:solidFill>
                          <a:latin typeface="Yu Gothic"/>
                          <a:ea typeface="Yu Gothic"/>
                          <a:cs typeface="Yu Gothic"/>
                        </a:rPr>
                        <a:t>0.323 / 0.280</a:t>
                      </a:r>
                    </a:p>
                  </a:txBody>
                  <a:tcPr marL="91440" marR="91440" marT="45720" marB="45720"/>
                </a:tc>
                <a:tc>
                  <a:txBody>
                    <a:bodyPr/>
                    <a:lstStyle/>
                    <a:p>
                      <a:r>
                        <a:rPr sz="1350" b="0">
                          <a:solidFill>
                            <a:srgbClr val="26373D"/>
                          </a:solidFill>
                          <a:latin typeface="Yu Gothic"/>
                          <a:ea typeface="Yu Gothic"/>
                          <a:cs typeface="Yu Gothic"/>
                        </a:rPr>
                        <a:t>5.82 × 10^-11</a:t>
                      </a:r>
                    </a:p>
                  </a:txBody>
                  <a:tcPr marL="91440" marR="91440" marT="45720" marB="45720"/>
                </a:tc>
                <a:tc>
                  <a:txBody>
                    <a:bodyPr/>
                    <a:lstStyle/>
                    <a:p>
                      <a:r>
                        <a:rPr sz="1350" b="0">
                          <a:solidFill>
                            <a:srgbClr val="26373D"/>
                          </a:solidFill>
                          <a:latin typeface="Yu Gothic"/>
                          <a:ea typeface="Yu Gothic"/>
                          <a:cs typeface="Yu Gothic"/>
                        </a:rPr>
                        <a:t>18.478 から 18.339</a:t>
                      </a:r>
                    </a:p>
                  </a:txBody>
                  <a:tcPr marL="91440" marR="91440" marT="45720" marB="45720"/>
                </a:tc>
              </a:tr>
              <a:tr h="607219">
                <a:tc>
                  <a:txBody>
                    <a:bodyPr/>
                    <a:lstStyle/>
                    <a:p>
                      <a:r>
                        <a:rPr sz="1350" b="0">
                          <a:solidFill>
                            <a:srgbClr val="26373D"/>
                          </a:solidFill>
                          <a:latin typeface="Yu Gothic"/>
                          <a:ea typeface="Yu Gothic"/>
                          <a:cs typeface="Yu Gothic"/>
                        </a:rPr>
                        <a:t>3</a:t>
                      </a:r>
                    </a:p>
                  </a:txBody>
                  <a:tcPr marL="91440" marR="91440" marT="45720" marB="45720"/>
                </a:tc>
                <a:tc>
                  <a:txBody>
                    <a:bodyPr/>
                    <a:lstStyle/>
                    <a:p>
                      <a:r>
                        <a:rPr sz="1350" b="0">
                          <a:solidFill>
                            <a:srgbClr val="26373D"/>
                          </a:solidFill>
                          <a:latin typeface="Yu Gothic"/>
                          <a:ea typeface="Yu Gothic"/>
                          <a:cs typeface="Yu Gothic"/>
                        </a:rPr>
                        <a:t>M_G^2</a:t>
                      </a:r>
                    </a:p>
                  </a:txBody>
                  <a:tcPr marL="91440" marR="91440" marT="45720" marB="45720"/>
                </a:tc>
                <a:tc>
                  <a:txBody>
                    <a:bodyPr/>
                    <a:lstStyle/>
                    <a:p>
                      <a:r>
                        <a:rPr sz="1350" b="0">
                          <a:solidFill>
                            <a:srgbClr val="26373D"/>
                          </a:solidFill>
                          <a:latin typeface="Yu Gothic"/>
                          <a:ea typeface="Yu Gothic"/>
                          <a:cs typeface="Yu Gothic"/>
                        </a:rPr>
                        <a:t>M_G^3</a:t>
                      </a:r>
                    </a:p>
                  </a:txBody>
                  <a:tcPr marL="91440" marR="91440" marT="45720" marB="45720"/>
                </a:tc>
                <a:tc>
                  <a:txBody>
                    <a:bodyPr/>
                    <a:lstStyle/>
                    <a:p>
                      <a:r>
                        <a:rPr sz="1350" b="0">
                          <a:solidFill>
                            <a:srgbClr val="26373D"/>
                          </a:solidFill>
                          <a:latin typeface="Yu Gothic"/>
                          <a:ea typeface="Yu Gothic"/>
                          <a:cs typeface="Yu Gothic"/>
                        </a:rPr>
                        <a:t>0.320 / 0.280</a:t>
                      </a:r>
                    </a:p>
                  </a:txBody>
                  <a:tcPr marL="91440" marR="91440" marT="45720" marB="45720"/>
                </a:tc>
                <a:tc>
                  <a:txBody>
                    <a:bodyPr/>
                    <a:lstStyle/>
                    <a:p>
                      <a:r>
                        <a:rPr sz="1350" b="0">
                          <a:solidFill>
                            <a:srgbClr val="26373D"/>
                          </a:solidFill>
                          <a:latin typeface="Yu Gothic"/>
                          <a:ea typeface="Yu Gothic"/>
                          <a:cs typeface="Yu Gothic"/>
                        </a:rPr>
                        <a:t>1.16 × 10^-10</a:t>
                      </a:r>
                    </a:p>
                  </a:txBody>
                  <a:tcPr marL="91440" marR="91440" marT="45720" marB="45720"/>
                </a:tc>
                <a:tc>
                  <a:txBody>
                    <a:bodyPr>
                      <a:normAutofit/>
                    </a:bodyPr>
                    <a:lstStyle/>
                    <a:p>
                      <a:pPr algn="ctr"/>
                      <a:r>
                        <a:rPr sz="1350" b="1">
                          <a:solidFill>
                            <a:srgbClr val="B94A3A"/>
                          </a:solidFill>
                          <a:latin typeface="Yu Gothic"/>
                          <a:ea typeface="Yu Gothic"/>
                          <a:cs typeface="Yu Gothic"/>
                        </a:rPr>
                        <a:t>16.131 から 16.178</a:t>
                      </a:r>
                    </a:p>
                  </a:txBody>
                  <a:tcPr marL="91440" marR="91440" marT="45720" marB="45720" anchor="ctr">
                    <a:solidFill>
                      <a:srgbClr val="F5DFDA"/>
                    </a:solidFill>
                  </a:tcPr>
                </a:tc>
              </a:tr>
            </a:tbl>
          </a:graphicData>
        </a:graphic>
      </p:graphicFrame>
      <p:sp>
        <p:nvSpPr>
          <p:cNvPr id="9" name="">
            <a:extLst xmlns:a="http://schemas.openxmlformats.org/drawingml/2006/main">
              <a:ext uri="{FF2B5EF4-FFF2-40B4-BE49-F238E27FC236}">
                <a16:creationId xmlns:a16="http://schemas.microsoft.com/office/drawing/2014/main" id="{F8BBF7EE-EE97-480F-96F9-30DAF134A8E9}"/>
              </a:ext>
            </a:extLst>
          </p:cNvPr>
          <p:cNvSpPr>
            <a:spLocks xmlns:a="http://schemas.openxmlformats.org/drawingml/2006/main" noGrp="1"/>
          </p:cNvSpPr>
          <p:nvPr/>
        </p:nvSpPr>
        <p:spPr>
          <a:xfrm xmlns:a="http://schemas.openxmlformats.org/drawingml/2006/main">
            <a:off x="1143000" y="37909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各roundでpairが異なるため、KLをround間の性能trendとして比較しない</a:t>
            </a:r>
          </a:p>
        </p:txBody>
      </p:sp>
      <p:sp>
        <p:nvSpPr>
          <p:cNvPr id="10" name="">
            <a:extLst xmlns:a="http://schemas.openxmlformats.org/drawingml/2006/main">
              <a:ext uri="{FF2B5EF4-FFF2-40B4-BE49-F238E27FC236}">
                <a16:creationId xmlns:a16="http://schemas.microsoft.com/office/drawing/2014/main" id="{EA924B55-2AAC-4E87-9FC1-15E270319E88}"/>
              </a:ext>
            </a:extLst>
          </p:cNvPr>
          <p:cNvSpPr>
            <a:spLocks xmlns:a="http://schemas.openxmlformats.org/drawingml/2006/main" noGrp="1"/>
          </p:cNvSpPr>
          <p:nvPr/>
        </p:nvSpPr>
        <p:spPr>
          <a:xfrm xmlns:a="http://schemas.openxmlformats.org/drawingml/2006/main">
            <a:off x="666750" y="4095750"/>
            <a:ext cx="5000625" cy="13525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AF815C0-FABE-4C41-B9A4-5E55F33F9A51}"/>
              </a:ext>
            </a:extLst>
          </p:cNvPr>
          <p:cNvSpPr>
            <a:spLocks xmlns:a="http://schemas.openxmlformats.org/drawingml/2006/main" noGrp="1"/>
          </p:cNvSpPr>
          <p:nvPr/>
        </p:nvSpPr>
        <p:spPr>
          <a:xfrm xmlns:a="http://schemas.openxmlformats.org/drawingml/2006/main">
            <a:off x="914400" y="42862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確認できたこと</a:t>
            </a:r>
          </a:p>
        </p:txBody>
      </p:sp>
      <p:sp>
        <p:nvSpPr>
          <p:cNvPr id="12" name="">
            <a:extLst xmlns:a="http://schemas.openxmlformats.org/drawingml/2006/main">
              <a:ext uri="{FF2B5EF4-FFF2-40B4-BE49-F238E27FC236}">
                <a16:creationId xmlns:a16="http://schemas.microsoft.com/office/drawing/2014/main" id="{1D379C6D-9D64-4712-9EAF-79BF9E5892E8}"/>
              </a:ext>
            </a:extLst>
          </p:cNvPr>
          <p:cNvSpPr>
            <a:spLocks xmlns:a="http://schemas.openxmlformats.org/drawingml/2006/main" noGrp="1"/>
          </p:cNvSpPr>
          <p:nvPr/>
        </p:nvSpPr>
        <p:spPr>
          <a:xfrm xmlns:a="http://schemas.openxmlformats.org/drawingml/2006/main">
            <a:off x="914400" y="4686300"/>
            <a:ext cx="442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011"/>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M_G^0 から M_G^3まで更新し、round間のcheckpointとtensor digestが一致。各client更新とFedAvgを再計算できた。</a:t>
            </a:r>
          </a:p>
        </p:txBody>
      </p:sp>
      <p:sp>
        <p:nvSpPr>
          <p:cNvPr id="13" name="">
            <a:extLst xmlns:a="http://schemas.openxmlformats.org/drawingml/2006/main">
              <a:ext uri="{FF2B5EF4-FFF2-40B4-BE49-F238E27FC236}">
                <a16:creationId xmlns:a16="http://schemas.microsoft.com/office/drawing/2014/main" id="{11AE2030-E6FB-4E5A-87E7-92C73F9134EC}"/>
              </a:ext>
            </a:extLst>
          </p:cNvPr>
          <p:cNvSpPr>
            <a:spLocks xmlns:a="http://schemas.openxmlformats.org/drawingml/2006/main" noGrp="1"/>
          </p:cNvSpPr>
          <p:nvPr/>
        </p:nvSpPr>
        <p:spPr>
          <a:xfrm xmlns:a="http://schemas.openxmlformats.org/drawingml/2006/main">
            <a:off x="5953125" y="4095750"/>
            <a:ext cx="5572125" cy="1352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9E59E41-CA3D-45B4-BEEF-3E29E0F6BB99}"/>
              </a:ext>
            </a:extLst>
          </p:cNvPr>
          <p:cNvSpPr>
            <a:spLocks xmlns:a="http://schemas.openxmlformats.org/drawingml/2006/main" noGrp="1"/>
          </p:cNvSpPr>
          <p:nvPr/>
        </p:nvSpPr>
        <p:spPr>
          <a:xfrm xmlns:a="http://schemas.openxmlformats.org/drawingml/2006/main">
            <a:off x="6210300" y="428625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残った問題</a:t>
            </a:r>
          </a:p>
        </p:txBody>
      </p:sp>
      <p:sp>
        <p:nvSpPr>
          <p:cNvPr id="15" name="">
            <a:extLst xmlns:a="http://schemas.openxmlformats.org/drawingml/2006/main">
              <a:ext uri="{FF2B5EF4-FFF2-40B4-BE49-F238E27FC236}">
                <a16:creationId xmlns:a16="http://schemas.microsoft.com/office/drawing/2014/main" id="{E28EB0E2-67B3-43F6-A378-20B584C67C2D}"/>
              </a:ext>
            </a:extLst>
          </p:cNvPr>
          <p:cNvSpPr>
            <a:spLocks xmlns:a="http://schemas.openxmlformats.org/drawingml/2006/main" noGrp="1"/>
          </p:cNvSpPr>
          <p:nvPr/>
        </p:nvSpPr>
        <p:spPr>
          <a:xfrm xmlns:a="http://schemas.openxmlformats.org/drawingml/2006/main">
            <a:off x="6210300" y="4686300"/>
            <a:ext cx="5000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011"/>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加重KLを減らす条件をround 3で満たせず、実行確認として更新した。処理は動いたが、安定したfoundation更新とは言えない。</a:t>
            </a:r>
          </a:p>
        </p:txBody>
      </p:sp>
      <p:sp>
        <p:nvSpPr>
          <p:cNvPr id="16" name="">
            <a:extLst xmlns:a="http://schemas.openxmlformats.org/drawingml/2006/main">
              <a:ext uri="{FF2B5EF4-FFF2-40B4-BE49-F238E27FC236}">
                <a16:creationId xmlns:a16="http://schemas.microsoft.com/office/drawing/2014/main" id="{A4739AAF-B276-4E52-82CC-D2BDC76D811C}"/>
              </a:ext>
            </a:extLst>
          </p:cNvPr>
          <p:cNvSpPr>
            <a:spLocks xmlns:a="http://schemas.openxmlformats.org/drawingml/2006/main" noGrp="1"/>
          </p:cNvSpPr>
          <p:nvPr/>
        </p:nvSpPr>
        <p:spPr>
          <a:xfrm xmlns:a="http://schemas.openxmlformats.org/drawingml/2006/main">
            <a:off x="952500" y="5848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この結果から性能向上、proxy品質、未知データへの転移、形式的privacy保証は主張しない</a:t>
            </a:r>
          </a:p>
        </p:txBody>
      </p:sp>
    </p:spTree>
    <p:extLst>
      <p:ext uri="{BB962C8B-B14F-4D97-AF65-F5344CB8AC3E}">
        <p14:creationId xmlns:p14="http://schemas.microsoft.com/office/powerpoint/2010/main" val="123590557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DA403ED-E5A7-4A5E-89F0-A830C00C8A7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005113-5CA9-4C34-89C6-8CFF72FA9477}"/>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A5A16F0-2A60-44EC-AF96-BDF681EC0DD1}"/>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今後：5 roundの前に、失敗箇所を切り分ける</a:t>
            </a:r>
          </a:p>
        </p:txBody>
      </p:sp>
      <p:sp>
        <p:nvSpPr>
          <p:cNvPr id="4" name="">
            <a:extLst xmlns:a="http://schemas.openxmlformats.org/drawingml/2006/main">
              <a:ext uri="{FF2B5EF4-FFF2-40B4-BE49-F238E27FC236}">
                <a16:creationId xmlns:a16="http://schemas.microsoft.com/office/drawing/2014/main" id="{D471AB0D-8947-4A21-B7EE-4198D12FA02A}"/>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10</a:t>
            </a:r>
          </a:p>
        </p:txBody>
      </p:sp>
      <p:sp>
        <p:nvSpPr>
          <p:cNvPr id="5" name="">
            <a:extLst xmlns:a="http://schemas.openxmlformats.org/drawingml/2006/main">
              <a:ext uri="{FF2B5EF4-FFF2-40B4-BE49-F238E27FC236}">
                <a16:creationId xmlns:a16="http://schemas.microsoft.com/office/drawing/2014/main" id="{AAEBD5FD-CE03-43EB-9326-7C220CCCC4FD}"/>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411AA79-71A7-42D4-A083-D85C70E57B0E}"/>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F2F45B58-693A-4CAD-8C6C-D0BEA794F52C}"/>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10 / 10</a:t>
            </a:r>
          </a:p>
        </p:txBody>
      </p:sp>
      <p:sp>
        <p:nvSpPr>
          <p:cNvPr id="8" name="">
            <a:extLst xmlns:a="http://schemas.openxmlformats.org/drawingml/2006/main">
              <a:ext uri="{FF2B5EF4-FFF2-40B4-BE49-F238E27FC236}">
                <a16:creationId xmlns:a16="http://schemas.microsoft.com/office/drawing/2014/main" id="{4816908A-3EA7-4FEF-94B3-17F9CA81F903}"/>
              </a:ext>
            </a:extLst>
          </p:cNvPr>
          <p:cNvSpPr>
            <a:spLocks xmlns:a="http://schemas.openxmlformats.org/drawingml/2006/main" noGrp="1"/>
          </p:cNvSpPr>
          <p:nvPr/>
        </p:nvSpPr>
        <p:spPr>
          <a:xfrm xmlns:a="http://schemas.openxmlformats.org/drawingml/2006/main">
            <a:off x="723900" y="1200150"/>
            <a:ext cx="571500" cy="571500"/>
          </a:xfrm>
          <a:prstGeom xmlns:a="http://schemas.openxmlformats.org/drawingml/2006/main" prst="rect">
            <a:avLst/>
          </a:prstGeom>
          <a:solidFill xmlns:a="http://schemas.openxmlformats.org/drawingml/2006/main">
            <a:srgbClr val="B94A3A"/>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1</a:t>
            </a:r>
          </a:p>
        </p:txBody>
      </p:sp>
      <p:sp>
        <p:nvSpPr>
          <p:cNvPr id="9" name="">
            <a:extLst xmlns:a="http://schemas.openxmlformats.org/drawingml/2006/main">
              <a:ext uri="{FF2B5EF4-FFF2-40B4-BE49-F238E27FC236}">
                <a16:creationId xmlns:a16="http://schemas.microsoft.com/office/drawing/2014/main" id="{C82F0365-80D3-41FE-8677-4D8314686828}"/>
              </a:ext>
            </a:extLst>
          </p:cNvPr>
          <p:cNvSpPr>
            <a:spLocks xmlns:a="http://schemas.openxmlformats.org/drawingml/2006/main" noGrp="1"/>
          </p:cNvSpPr>
          <p:nvPr/>
        </p:nvSpPr>
        <p:spPr>
          <a:xfrm xmlns:a="http://schemas.openxmlformats.org/drawingml/2006/main">
            <a:off x="1581150" y="118110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Layer 3の更新を再確認</a:t>
            </a:r>
          </a:p>
        </p:txBody>
      </p:sp>
      <p:sp>
        <p:nvSpPr>
          <p:cNvPr id="10" name="">
            <a:extLst xmlns:a="http://schemas.openxmlformats.org/drawingml/2006/main">
              <a:ext uri="{FF2B5EF4-FFF2-40B4-BE49-F238E27FC236}">
                <a16:creationId xmlns:a16="http://schemas.microsoft.com/office/drawing/2014/main" id="{76F8351D-472D-4340-B644-097B2B9D46AD}"/>
              </a:ext>
            </a:extLst>
          </p:cNvPr>
          <p:cNvSpPr>
            <a:spLocks xmlns:a="http://schemas.openxmlformats.org/drawingml/2006/main" noGrp="1"/>
          </p:cNvSpPr>
          <p:nvPr/>
        </p:nvSpPr>
        <p:spPr>
          <a:xfrm xmlns:a="http://schemas.openxmlformats.org/drawingml/2006/main">
            <a:off x="1581150" y="1647825"/>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同じ4 pairと同じ損失で、gradient、重み、FP32計算、finite differenceを照合する。十分小さい1回更新で損失が増えないことを合格条件にする。</a:t>
            </a:r>
          </a:p>
        </p:txBody>
      </p:sp>
      <p:sp>
        <p:nvSpPr>
          <p:cNvPr id="11" name="">
            <a:extLst xmlns:a="http://schemas.openxmlformats.org/drawingml/2006/main">
              <a:ext uri="{FF2B5EF4-FFF2-40B4-BE49-F238E27FC236}">
                <a16:creationId xmlns:a16="http://schemas.microsoft.com/office/drawing/2014/main" id="{089636D4-8F01-45DA-9D06-F5412D622997}"/>
              </a:ext>
            </a:extLst>
          </p:cNvPr>
          <p:cNvSpPr>
            <a:spLocks xmlns:a="http://schemas.openxmlformats.org/drawingml/2006/main" noGrp="1"/>
          </p:cNvSpPr>
          <p:nvPr/>
        </p:nvSpPr>
        <p:spPr>
          <a:xfrm xmlns:a="http://schemas.openxmlformats.org/drawingml/2006/main">
            <a:off x="1581150" y="2476500"/>
            <a:ext cx="95250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B247550-C7D9-4D00-B9CC-E5EBFA30940F}"/>
              </a:ext>
            </a:extLst>
          </p:cNvPr>
          <p:cNvSpPr>
            <a:spLocks xmlns:a="http://schemas.openxmlformats.org/drawingml/2006/main" noGrp="1"/>
          </p:cNvSpPr>
          <p:nvPr/>
        </p:nvSpPr>
        <p:spPr>
          <a:xfrm xmlns:a="http://schemas.openxmlformats.org/drawingml/2006/main">
            <a:off x="723900" y="2676525"/>
            <a:ext cx="571500" cy="571500"/>
          </a:xfrm>
          <a:prstGeom xmlns:a="http://schemas.openxmlformats.org/drawingml/2006/main" prst="rect">
            <a:avLst/>
          </a:prstGeom>
          <a:solidFill xmlns:a="http://schemas.openxmlformats.org/drawingml/2006/main">
            <a:srgbClr val="E7833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2</a:t>
            </a:r>
          </a:p>
        </p:txBody>
      </p:sp>
      <p:sp>
        <p:nvSpPr>
          <p:cNvPr id="13" name="">
            <a:extLst xmlns:a="http://schemas.openxmlformats.org/drawingml/2006/main">
              <a:ext uri="{FF2B5EF4-FFF2-40B4-BE49-F238E27FC236}">
                <a16:creationId xmlns:a16="http://schemas.microsoft.com/office/drawing/2014/main" id="{AA68AEF4-7F76-42AA-A381-8C5B7A422E80}"/>
              </a:ext>
            </a:extLst>
          </p:cNvPr>
          <p:cNvSpPr>
            <a:spLocks xmlns:a="http://schemas.openxmlformats.org/drawingml/2006/main" noGrp="1"/>
          </p:cNvSpPr>
          <p:nvPr/>
        </p:nvSpPr>
        <p:spPr>
          <a:xfrm xmlns:a="http://schemas.openxmlformats.org/drawingml/2006/main">
            <a:off x="1581150" y="265747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問題が解消したら5 roundへ</a:t>
            </a:r>
          </a:p>
        </p:txBody>
      </p:sp>
      <p:sp>
        <p:nvSpPr>
          <p:cNvPr id="14" name="">
            <a:extLst xmlns:a="http://schemas.openxmlformats.org/drawingml/2006/main">
              <a:ext uri="{FF2B5EF4-FFF2-40B4-BE49-F238E27FC236}">
                <a16:creationId xmlns:a16="http://schemas.microsoft.com/office/drawing/2014/main" id="{B2813834-F6B9-4FA1-B9AC-5547D6A93E2A}"/>
              </a:ext>
            </a:extLst>
          </p:cNvPr>
          <p:cNvSpPr>
            <a:spLocks xmlns:a="http://schemas.openxmlformats.org/drawingml/2006/main" noGrp="1"/>
          </p:cNvSpPr>
          <p:nvPr/>
        </p:nvSpPr>
        <p:spPr>
          <a:xfrm xmlns:a="http://schemas.openxmlformats.org/drawingml/2006/main">
            <a:off x="1581150" y="3124200"/>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M_Gとfoundationのstate継承、client送信内容、実行時間を同じ形式で保存する。</a:t>
            </a:r>
          </a:p>
        </p:txBody>
      </p:sp>
      <p:sp>
        <p:nvSpPr>
          <p:cNvPr id="15" name="">
            <a:extLst xmlns:a="http://schemas.openxmlformats.org/drawingml/2006/main">
              <a:ext uri="{FF2B5EF4-FFF2-40B4-BE49-F238E27FC236}">
                <a16:creationId xmlns:a16="http://schemas.microsoft.com/office/drawing/2014/main" id="{15056FC2-4CC9-4164-9A6F-6E3194EF682A}"/>
              </a:ext>
            </a:extLst>
          </p:cNvPr>
          <p:cNvSpPr>
            <a:spLocks xmlns:a="http://schemas.openxmlformats.org/drawingml/2006/main" noGrp="1"/>
          </p:cNvSpPr>
          <p:nvPr/>
        </p:nvSpPr>
        <p:spPr>
          <a:xfrm xmlns:a="http://schemas.openxmlformats.org/drawingml/2006/main">
            <a:off x="1581150" y="3952875"/>
            <a:ext cx="95250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19E3C5B-6FA7-48F0-A3F8-3A0BF17ED1FF}"/>
              </a:ext>
            </a:extLst>
          </p:cNvPr>
          <p:cNvSpPr>
            <a:spLocks xmlns:a="http://schemas.openxmlformats.org/drawingml/2006/main" noGrp="1"/>
          </p:cNvSpPr>
          <p:nvPr/>
        </p:nvSpPr>
        <p:spPr>
          <a:xfrm xmlns:a="http://schemas.openxmlformats.org/drawingml/2006/main">
            <a:off x="723900" y="4152900"/>
            <a:ext cx="571500" cy="571500"/>
          </a:xfrm>
          <a:prstGeom xmlns:a="http://schemas.openxmlformats.org/drawingml/2006/main" prst="rect">
            <a:avLst/>
          </a:prstGeom>
          <a:solidFill xmlns:a="http://schemas.openxmlformats.org/drawingml/2006/main">
            <a:srgbClr val="147B7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3</a:t>
            </a:r>
          </a:p>
        </p:txBody>
      </p:sp>
      <p:sp>
        <p:nvSpPr>
          <p:cNvPr id="17" name="">
            <a:extLst xmlns:a="http://schemas.openxmlformats.org/drawingml/2006/main">
              <a:ext uri="{FF2B5EF4-FFF2-40B4-BE49-F238E27FC236}">
                <a16:creationId xmlns:a16="http://schemas.microsoft.com/office/drawing/2014/main" id="{A2BF7C9F-61DD-4933-A183-6043FB4A0D26}"/>
              </a:ext>
            </a:extLst>
          </p:cNvPr>
          <p:cNvSpPr>
            <a:spLocks xmlns:a="http://schemas.openxmlformats.org/drawingml/2006/main" noGrp="1"/>
          </p:cNvSpPr>
          <p:nvPr/>
        </p:nvSpPr>
        <p:spPr>
          <a:xfrm xmlns:a="http://schemas.openxmlformats.org/drawingml/2006/main">
            <a:off x="1581150" y="413385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第II段階でLayer 2を比較</a:t>
            </a:r>
          </a:p>
        </p:txBody>
      </p:sp>
      <p:sp>
        <p:nvSpPr>
          <p:cNvPr id="18" name="">
            <a:extLst xmlns:a="http://schemas.openxmlformats.org/drawingml/2006/main">
              <a:ext uri="{FF2B5EF4-FFF2-40B4-BE49-F238E27FC236}">
                <a16:creationId xmlns:a16="http://schemas.microsoft.com/office/drawing/2014/main" id="{CD91655A-D84C-478B-ABCC-247CDC93C7D5}"/>
              </a:ext>
            </a:extLst>
          </p:cNvPr>
          <p:cNvSpPr>
            <a:spLocks xmlns:a="http://schemas.openxmlformats.org/drawingml/2006/main" noGrp="1"/>
          </p:cNvSpPr>
          <p:nvPr/>
        </p:nvSpPr>
        <p:spPr>
          <a:xfrm xmlns:a="http://schemas.openxmlformats.org/drawingml/2006/main">
            <a:off x="1581150" y="4600575"/>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Server Only、Post Only、Post + Deltaを同じ条件で比較し、seed内容、model予測、delta再現を分けて評価する。</a:t>
            </a:r>
          </a:p>
        </p:txBody>
      </p:sp>
      <p:sp>
        <p:nvSpPr>
          <p:cNvPr id="19" name="">
            <a:extLst xmlns:a="http://schemas.openxmlformats.org/drawingml/2006/main">
              <a:ext uri="{FF2B5EF4-FFF2-40B4-BE49-F238E27FC236}">
                <a16:creationId xmlns:a16="http://schemas.microsoft.com/office/drawing/2014/main" id="{71376C8A-F8DB-4361-AD6B-2E853BBF399C}"/>
              </a:ext>
            </a:extLst>
          </p:cNvPr>
          <p:cNvSpPr>
            <a:spLocks xmlns:a="http://schemas.openxmlformats.org/drawingml/2006/main" noGrp="1"/>
          </p:cNvSpPr>
          <p:nvPr/>
        </p:nvSpPr>
        <p:spPr>
          <a:xfrm xmlns:a="http://schemas.openxmlformats.org/drawingml/2006/main">
            <a:off x="666750" y="5686425"/>
            <a:ext cx="10572750" cy="552450"/>
          </a:xfrm>
          <a:prstGeom xmlns:a="http://schemas.openxmlformats.org/drawingml/2006/main" prst="rect">
            <a:avLst/>
          </a:prstGeom>
          <a:solidFill xmlns:a="http://schemas.openxmlformats.org/drawingml/2006/main">
            <a:srgbClr val="173B4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13CF881-AA41-41C6-83BB-CBA140175FD7}"/>
              </a:ext>
            </a:extLst>
          </p:cNvPr>
          <p:cNvSpPr>
            <a:spLocks xmlns:a="http://schemas.openxmlformats.org/drawingml/2006/main" noGrp="1"/>
          </p:cNvSpPr>
          <p:nvPr/>
        </p:nvSpPr>
        <p:spPr>
          <a:xfrm xmlns:a="http://schemas.openxmlformats.org/drawingml/2006/main">
            <a:off x="914400" y="5819775"/>
            <a:ext cx="10077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329"/>
          </a:bodyPr>
          <a:lstStyle xmlns:a="http://schemas.openxmlformats.org/drawingml/2006/main"/>
          <a:p xmlns:a="http://schemas.openxmlformats.org/drawingml/2006/main">
            <a:pPr algn="ctr">
              <a:defRPr sz="1650" b="1">
                <a:solidFill>
                  <a:srgbClr val="FFFFFF"/>
                </a:solidFill>
                <a:latin typeface="Yu Gothic"/>
                <a:ea typeface="Yu Gothic"/>
                <a:cs typeface="Yu Gothic"/>
              </a:defRPr>
            </a:pPr>
            <a:r>
              <a:rPr sz="1650" b="1">
                <a:solidFill>
                  <a:srgbClr val="FFFFFF"/>
                </a:solidFill>
                <a:latin typeface="Yu Gothic"/>
                <a:ea typeface="Yu Gothic"/>
                <a:cs typeface="Yu Gothic"/>
              </a:rPr>
              <a:t>次の問い：clientのadaptation signalは、server-side seedだけの場合を超えてfoundation更新へ寄与するか</a:t>
            </a:r>
          </a:p>
        </p:txBody>
      </p:sp>
    </p:spTree>
    <p:extLst>
      <p:ext uri="{BB962C8B-B14F-4D97-AF65-F5344CB8AC3E}">
        <p14:creationId xmlns:p14="http://schemas.microsoft.com/office/powerpoint/2010/main" val="1589704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2026-09-17T17:56:51.3750000Z</dcterms:created>
  <dcterms:modified xsi:type="dcterms:W3CDTF">2026-09-17T17:56:51.3750000Z</dcterms:modified>
</coreProperties>
</file>