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6f4ed775474f2e" /><Relationship Type="http://schemas.openxmlformats.org/officeDocument/2006/relationships/extended-properties" Target="/docProps/app.xml" Id="R0231ee46ee0b4b67" /><Relationship Type="http://schemas.openxmlformats.org/officeDocument/2006/relationships/officeDocument" Target="/ppt/presentation.xml" Id="Recc7bf835f194a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c47a3ce2ea4a67"/>
  </p:sldMasterIdLst>
  <p:notesMasterIdLst>
    <p:notesMasterId xmlns:r="http://schemas.openxmlformats.org/officeDocument/2006/relationships" r:id="R3787a5bf088c4987"/>
  </p:notesMasterIdLst>
  <p:sldIdLst>
    <p:sldId xmlns:r="http://schemas.openxmlformats.org/officeDocument/2006/relationships" id="256" r:id="R88c0ef662ddc4f7d"/>
    <p:sldId xmlns:r="http://schemas.openxmlformats.org/officeDocument/2006/relationships" id="257" r:id="Rc220a12b643c40b3"/>
    <p:sldId xmlns:r="http://schemas.openxmlformats.org/officeDocument/2006/relationships" id="258" r:id="R1628b1b4012c437c"/>
    <p:sldId xmlns:r="http://schemas.openxmlformats.org/officeDocument/2006/relationships" id="259" r:id="R4bbebd9e92424f51"/>
    <p:sldId xmlns:r="http://schemas.openxmlformats.org/officeDocument/2006/relationships" id="260" r:id="R1057dec2905642e6"/>
    <p:sldId xmlns:r="http://schemas.openxmlformats.org/officeDocument/2006/relationships" id="261" r:id="R314adbad4b7a4c0d"/>
    <p:sldId xmlns:r="http://schemas.openxmlformats.org/officeDocument/2006/relationships" id="262" r:id="R0c906eeed10b416b"/>
    <p:sldId xmlns:r="http://schemas.openxmlformats.org/officeDocument/2006/relationships" id="263" r:id="R658d8d65f53f44f2"/>
    <p:sldId xmlns:r="http://schemas.openxmlformats.org/officeDocument/2006/relationships" id="264" r:id="Rf08e1efca9714648"/>
    <p:sldId xmlns:r="http://schemas.openxmlformats.org/officeDocument/2006/relationships" id="265" r:id="R6e96e4a849c043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f20fb9e6214f62" /><Relationship Type="http://schemas.openxmlformats.org/officeDocument/2006/relationships/slideMaster" Target="/ppt/slideMasters/slideMaster1.xml" Id="R44c47a3ce2ea4a67" /><Relationship Type="http://schemas.openxmlformats.org/officeDocument/2006/relationships/notesMaster" Target="/ppt/notesMasters/notesMaster1.xml" Id="R3787a5bf088c4987" /><Relationship Type="http://schemas.openxmlformats.org/officeDocument/2006/relationships/presProps" Target="/ppt/presProps.xml" Id="R2770a7ff356043a0" /><Relationship Type="http://schemas.openxmlformats.org/officeDocument/2006/relationships/tableStyles" Target="/ppt/tableStyles.xml" Id="Rf941ecf2161b4f40" /><Relationship Type="http://schemas.openxmlformats.org/officeDocument/2006/relationships/slide" Target="/ppt/slides/slide1.xml" Id="R88c0ef662ddc4f7d" /><Relationship Type="http://schemas.openxmlformats.org/officeDocument/2006/relationships/slide" Target="/ppt/slides/slide2.xml" Id="Rc220a12b643c40b3" /><Relationship Type="http://schemas.openxmlformats.org/officeDocument/2006/relationships/slide" Target="/ppt/slides/slide3.xml" Id="R1628b1b4012c437c" /><Relationship Type="http://schemas.openxmlformats.org/officeDocument/2006/relationships/slide" Target="/ppt/slides/slide4.xml" Id="R4bbebd9e92424f51" /><Relationship Type="http://schemas.openxmlformats.org/officeDocument/2006/relationships/slide" Target="/ppt/slides/slide5.xml" Id="R1057dec2905642e6" /><Relationship Type="http://schemas.openxmlformats.org/officeDocument/2006/relationships/slide" Target="/ppt/slides/slide6.xml" Id="R314adbad4b7a4c0d" /><Relationship Type="http://schemas.openxmlformats.org/officeDocument/2006/relationships/slide" Target="/ppt/slides/slide7.xml" Id="R0c906eeed10b416b" /><Relationship Type="http://schemas.openxmlformats.org/officeDocument/2006/relationships/slide" Target="/ppt/slides/slide8.xml" Id="R658d8d65f53f44f2" /><Relationship Type="http://schemas.openxmlformats.org/officeDocument/2006/relationships/slide" Target="/ppt/slides/slide9.xml" Id="Rf08e1efca9714648" /><Relationship Type="http://schemas.openxmlformats.org/officeDocument/2006/relationships/slide" Target="/ppt/slides/slide10.xml" Id="R6e96e4a849c043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d83398fb9546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1980e1d5f1426a" /><Relationship Type="http://schemas.openxmlformats.org/officeDocument/2006/relationships/notesMaster" Target="/ppt/notesMasters/notesMaster1.xml" Id="R6df67e9e73484d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73b68117934d21" /><Relationship Type="http://schemas.openxmlformats.org/officeDocument/2006/relationships/notesMaster" Target="/ppt/notesMasters/notesMaster1.xml" Id="Rc445fad6f8d444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065270ec9f4bd4" /><Relationship Type="http://schemas.openxmlformats.org/officeDocument/2006/relationships/notesMaster" Target="/ppt/notesMasters/notesMaster1.xml" Id="Rd9271afcd1c04c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bd1298eeb64e90" /><Relationship Type="http://schemas.openxmlformats.org/officeDocument/2006/relationships/notesMaster" Target="/ppt/notesMasters/notesMaster1.xml" Id="R2fd887a6d0a048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a57e8c817d4e4b" /><Relationship Type="http://schemas.openxmlformats.org/officeDocument/2006/relationships/notesMaster" Target="/ppt/notesMasters/notesMaster1.xml" Id="Ra3948941efc344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f4a934dba74e7b" /><Relationship Type="http://schemas.openxmlformats.org/officeDocument/2006/relationships/notesMaster" Target="/ppt/notesMasters/notesMaster1.xml" Id="Rc66d65ec36ae48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aa4ac7fee7474a" /><Relationship Type="http://schemas.openxmlformats.org/officeDocument/2006/relationships/notesMaster" Target="/ppt/notesMasters/notesMaster1.xml" Id="Rda596bd85ac74c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4107079dd44a19" /><Relationship Type="http://schemas.openxmlformats.org/officeDocument/2006/relationships/notesMaster" Target="/ppt/notesMasters/notesMaster1.xml" Id="R35a6cef64d6949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3a331695d749df" /><Relationship Type="http://schemas.openxmlformats.org/officeDocument/2006/relationships/notesMaster" Target="/ppt/notesMasters/notesMaster1.xml" Id="Ra914908e59a043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256463d9f34461" /><Relationship Type="http://schemas.openxmlformats.org/officeDocument/2006/relationships/notesMaster" Target="/ppt/notesMasters/notesMaster1.xml" Id="Rca9980ee239d4f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つかみ：現場の生映像をcloudへ集めず、局所適応で得た挙動だけを代理データへ変換したい。</a:t>
            </a:r>
          </a:p>
          <a:p xmlns:a="http://schemas.openxmlformats.org/drawingml/2006/main">
            <a:r>
              <a:t>ただし、代理化の入力となる局所更新自体が不安定なら、Layer 2が忠実でも有用な知識転移にはならない。</a:t>
            </a:r>
          </a:p>
          <a:p xmlns:a="http://schemas.openxmlformats.org/drawingml/2006/main">
            <a:r>
              <a:t>今回はNEXARの具体的な動画と実測値を使い、Layer 2の経路と、その前段で見つかった問題を説明する。</a:t>
            </a:r>
          </a:p>
          <a:p xmlns:a="http://schemas.openxmlformats.org/drawingml/2006/main">
            <a:r>
              <a:t>Source: notes/advisor/CURRENT.md; docs/fedpact_nexar_concrete_case_20260913.md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左はpositiveラベルのheld-out動画a8adfca63e、右はnegativeラベルのheld-out動画1db89ecde7。どちらも局所学習には未使用。</a:t>
            </a:r>
          </a:p>
          <a:p xmlns:a="http://schemas.openxmlformats.org/drawingml/2006/main">
            <a:r>
              <a:t>左はq(risk) 0.725→0.613、右は0.270→0.156。</a:t>
            </a:r>
          </a:p>
          <a:p xmlns:a="http://schemas.openxmlformats.org/drawingml/2006/main">
            <a:r>
              <a:t>単一フレームの見た目から因果特徴を断定しない。ここで言えるのは出力確率の変化だけ。</a:t>
            </a:r>
          </a:p>
          <a:p xmlns:a="http://schemas.openxmlformats.org/drawingml/2006/main">
            <a:r>
              <a:t>Source: artifacts/runs/fedpact_nexar_example/run_20260913_balanced_order101_risk_fullgrid/client_local/eval_trace.json; artifacts/datasets/frames/train/&lt;sample_id&gt;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今回の該当範囲はFedPACT実験計画の第I段階、Step I-AとStep I-Bの縦切り確認。三層3〜5 round接続やLayer 3更新は未実施。</a:t>
            </a:r>
          </a:p>
          <a:p xmlns:a="http://schemas.openxmlformats.org/drawingml/2006/main">
            <a:r>
              <a:t>client train、client held-out、server seedは同一split seed 42で固定し、ID重複なし。</a:t>
            </a:r>
          </a:p>
          <a:p xmlns:a="http://schemas.openxmlformats.org/drawingml/2006/main">
            <a:r>
              <a:t>server payloadにはLoRA更新情報とclass-wise μ_post、Δμ、frequencyを含める。private raw frameとsample IDは含めない。</a:t>
            </a:r>
          </a:p>
          <a:p xmlns:a="http://schemas.openxmlformats.org/drawingml/2006/main">
            <a:r>
              <a:t>Source: notes/advisor/sources/raw/2026-09-01/FedPACT実験計画260901.pdf pp.3-4; artifacts/runs/fedpact_nexar_example/run_20260913_balanced_order101_risk_fullgrid/client_local/data_splits.json; client_upload/server_payload.json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個別sampleをすべて表示し、平均だけの印象操作を避ける。order 101ではtrain 6本・held-out 6本がすべてnormal方向へ移動した。</a:t>
            </a:r>
          </a:p>
          <a:p xmlns:a="http://schemas.openxmlformats.org/drawingml/2006/main">
            <a:r>
              <a:t>ただし、この1順序だけでクラス非選択性を断定しない。次slideで学習順を変えた結果を示す。</a:t>
            </a:r>
          </a:p>
          <a:p xmlns:a="http://schemas.openxmlformats.org/drawingml/2006/main">
            <a:r>
              <a:t>Source: artifacts/runs/fedpact_nexar_example/run_20260913_balanced_order101_risk_fullgrid/client_local/private_trace.json; client_local/eval_trace.json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order 101は最初に詳細追跡用として固定し、202と303はその後に学習順感度を確認するため追加した。</a:t>
            </a:r>
          </a:p>
          <a:p xmlns:a="http://schemas.openxmlformats.org/drawingml/2006/main">
            <a:r>
              <a:t>batch size 1ではq_postとΔqの符号が学習順で反転。held-outのclass間差も改善・悪化が一貫しない。</a:t>
            </a:r>
          </a:p>
          <a:p xmlns:a="http://schemas.openxmlformats.org/drawingml/2006/main">
            <a:r>
              <a:t>full-batch相当は6動画を同時に1 optimizer stepで更新し、総sample exposureを6に揃えた。共通方向shiftは小さくなったが、これだけで安定化完了とは言わない。</a:t>
            </a:r>
          </a:p>
          <a:p xmlns:a="http://schemas.openxmlformats.org/drawingml/2006/main">
            <a:r>
              <a:t>Source: run_20260913_balanced_order101_risk_fullgrid; run_20260913_balanced_order202_diagnostic; run_20260913_balanced_order303_diagnostic; run_20260913_balanced_fullbatch_diagnostic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3本それぞれのq_pre、q_post、Δqを先に示し、その平均がprototypeになることを明示する。</a:t>
            </a:r>
          </a:p>
          <a:p xmlns:a="http://schemas.openxmlformats.org/drawingml/2006/main">
            <a:r>
              <a:t>左からd626..., 95c3..., 06e2...。数値はriskクラス確率。μ_postとΔμは2クラス確率ベクトル。</a:t>
            </a:r>
          </a:p>
          <a:p xmlns:a="http://schemas.openxmlformats.org/drawingml/2006/main">
            <a:r>
              <a:t>π=3はrisk prototypeの平均に寄与したprivate sample数。−0.090だけを送るのではなく、確率和0を保つ2成分vector[+0.090,−0.090]として扱う。</a:t>
            </a:r>
          </a:p>
          <a:p xmlns:a="http://schemas.openxmlformats.org/drawingml/2006/main">
            <a:r>
              <a:t>Source: artifacts/runs/fedpact_nexar_example/run_20260913_balanced_order101_risk_fullgrid/client_local/private_trace.json; client_upload/server_payload.json; 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retrieval distanceはμ_postと更新後global surrogate上のseed出力とのKL。画像空間の近さではなく、post behaviorの近さで順位付けする。</a:t>
            </a:r>
          </a:p>
          <a:p xmlns:a="http://schemas.openxmlformats.org/drawingml/2006/main">
            <a:r>
              <a:t>全80候補を評価した結果、retrieval rank 6の4b8432de81 + center_crop(0.85)がL_match最小。</a:t>
            </a:r>
          </a:p>
          <a:p xmlns:a="http://schemas.openxmlformats.org/drawingml/2006/main">
            <a:r>
              <a:t>この結果はtop-1 retrievalを採用すべきでない可能性を示すが、seed数8の診断に限定される。大規模候補集合での効率評価は未実施。</a:t>
            </a:r>
          </a:p>
          <a:p xmlns:a="http://schemas.openxmlformats.org/drawingml/2006/main">
            <a:r>
              <a:t>Source: artifacts/runs/fedpact_nexar_example/run_20260913_balanced_order101_risk_fullgrid/server/layer2_trace.json; 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各候補は同じseed動画の全8フレームへ同一変換を適用している。ここでは説明用に最終フレームを表示。</a:t>
            </a:r>
          </a:p>
          <a:p xmlns:a="http://schemas.openxmlformats.org/drawingml/2006/main">
            <a:r>
              <a:t>選択基準はλ_post=λ_delta=1のL_matchのみ。seed逸脱、自然性、時間一貫性、多様性のL_regとQinvは未導入。</a:t>
            </a:r>
          </a:p>
          <a:p xmlns:a="http://schemas.openxmlformats.org/drawingml/2006/main">
            <a:r>
              <a:t>したがってcenter crop 0.85は、定義した数値目的に最も近い候補であって、意味的妥当性が保証された代理画像ではない。</a:t>
            </a:r>
          </a:p>
          <a:p xmlns:a="http://schemas.openxmlformats.org/drawingml/2006/main">
            <a:r>
              <a:t>Source: artifacts/runs/fedpact_nexar_example/run_20260913_balanced_order101_risk_fullgrid/server/transformation_candidates; server/layer2_trace.json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riskとnormalの双方でclass-wise prototypeと数値上の最小proxy候補を生成し、P=(x_tilde, μ_post)として保存した。</a:t>
            </a:r>
          </a:p>
          <a:p xmlns:a="http://schemas.openxmlformats.org/drawingml/2006/main">
            <a:r>
              <a:t>risk側ではnormalラベルseed 4b8432de81が全80候補中のL_match最小。これはL_matchが意味的ラベル整合性を含まないことを示す。</a:t>
            </a:r>
          </a:p>
          <a:p xmlns:a="http://schemas.openxmlformats.org/drawingml/2006/main">
            <a:r>
              <a:t>ここから、same-class retrieval制約やL_reg / quality screeningを今後検討する根拠が得られた。ただし具体方式は未確定。</a:t>
            </a:r>
          </a:p>
          <a:p xmlns:a="http://schemas.openxmlformats.org/drawingml/2006/main">
            <a:r>
              <a:t>Source: run_20260913_balanced_order101_risk_fullgrid/server/proxy_pair.json; run_20260913_balanced_order101_normal_fullgrid/server/proxy_pair.json; summaries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結論を実装上と研究上に分ける。Layer 2の処理経路は通ったが、有用な知識転移を示してはいない。</a:t>
            </a:r>
          </a:p>
          <a:p xmlns:a="http://schemas.openxmlformats.org/drawingml/2006/main">
            <a:r>
              <a:t>最優先はStep I-Aへ戻り、同じ総sample exposureでbatchingとgradient accumulationを比較する。multiple epochを先に増やさない。</a:t>
            </a:r>
          </a:p>
          <a:p xmlns:a="http://schemas.openxmlformats.org/drawingml/2006/main">
            <a:r>
              <a:t>その後、classification head更新の影響を切り分け、複数学習順で安定性を確認する。安定してから2-clientとLayer 3へ進む。</a:t>
            </a:r>
          </a:p>
          <a:p xmlns:a="http://schemas.openxmlformats.org/drawingml/2006/main">
            <a:r>
              <a:t>Source: docs/fedpact_nexar_concrete_case_20260913.md; notes/advisor/sources/raw/2026-09-01/FedPACT実験計画260901.pdf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b52d82fd9546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8e8516b86c44d4" /><Relationship Type="http://schemas.openxmlformats.org/officeDocument/2006/relationships/slideLayout" Target="/ppt/slideLayouts/slideLayout1.xml" Id="Rc93b780b585642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3b780b585642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cdebab1ee4f07" /><Relationship Type="http://schemas.openxmlformats.org/officeDocument/2006/relationships/image" Target="/ppt/media/image.jpeg" Id="R07e9a70bd77848e7" /><Relationship Type="http://schemas.openxmlformats.org/officeDocument/2006/relationships/notesSlide" Target="/ppt/notesSlides/notesSlide1.xml" Id="R8a763a2019dd4a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3c6e706f241a5" /><Relationship Type="http://schemas.openxmlformats.org/officeDocument/2006/relationships/image" Target="/ppt/media/image2.jpeg" Id="R49abaaed3cce45ec" /><Relationship Type="http://schemas.openxmlformats.org/officeDocument/2006/relationships/image" Target="/ppt/media/image3.jpeg" Id="R9120e50a9f504ab5" /><Relationship Type="http://schemas.openxmlformats.org/officeDocument/2006/relationships/image" Target="/ppt/media/image4.jpeg" Id="R0285414e5dfc4992" /><Relationship Type="http://schemas.openxmlformats.org/officeDocument/2006/relationships/image" Target="/ppt/media/image5.jpeg" Id="Rfc0461cf80604580" /><Relationship Type="http://schemas.openxmlformats.org/officeDocument/2006/relationships/image" Target="/ppt/media/image6.jpeg" Id="R8853e0c849f44ff5" /><Relationship Type="http://schemas.openxmlformats.org/officeDocument/2006/relationships/image" Target="/ppt/media/image7.jpeg" Id="Rc73b0e4a1f5741cb" /><Relationship Type="http://schemas.openxmlformats.org/officeDocument/2006/relationships/image" Target="/ppt/media/image8.jpeg" Id="R5e9b9e8f0da145cf" /><Relationship Type="http://schemas.openxmlformats.org/officeDocument/2006/relationships/image" Target="/ppt/media/image9.jpeg" Id="Rb9f2f18d483641bd" /><Relationship Type="http://schemas.openxmlformats.org/officeDocument/2006/relationships/notesSlide" Target="/ppt/notesSlides/notesSlide2.xml" Id="R74730ba3acae44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da502070345c7" /><Relationship Type="http://schemas.openxmlformats.org/officeDocument/2006/relationships/image" Target="/ppt/media/image10.jpeg" Id="R28188b2ec66b46fa" /><Relationship Type="http://schemas.openxmlformats.org/officeDocument/2006/relationships/image" Target="/ppt/media/image11.jpeg" Id="R06585a5064e446f9" /><Relationship Type="http://schemas.openxmlformats.org/officeDocument/2006/relationships/image" Target="/ppt/media/image12.jpeg" Id="Rea348b240a764203" /><Relationship Type="http://schemas.openxmlformats.org/officeDocument/2006/relationships/image" Target="/ppt/media/image13.jpeg" Id="R6eb9f002cc41424e" /><Relationship Type="http://schemas.openxmlformats.org/officeDocument/2006/relationships/image" Target="/ppt/media/image14.jpeg" Id="R3a6c6adea0fb44e0" /><Relationship Type="http://schemas.openxmlformats.org/officeDocument/2006/relationships/image" Target="/ppt/media/image15.jpeg" Id="R279745637a0e4fab" /><Relationship Type="http://schemas.openxmlformats.org/officeDocument/2006/relationships/image" Target="/ppt/media/image16.jpeg" Id="R32f48443efa2438d" /><Relationship Type="http://schemas.openxmlformats.org/officeDocument/2006/relationships/image" Target="/ppt/media/image17.jpeg" Id="R84a61c443ee9401c" /><Relationship Type="http://schemas.openxmlformats.org/officeDocument/2006/relationships/image" Target="/ppt/media/image18.jpeg" Id="Ree21fb218e3646a9" /><Relationship Type="http://schemas.openxmlformats.org/officeDocument/2006/relationships/image" Target="/ppt/media/image19.jpeg" Id="R7de1b866702741b7" /><Relationship Type="http://schemas.openxmlformats.org/officeDocument/2006/relationships/image" Target="/ppt/media/image20.jpeg" Id="R0821035bbbd641dc" /><Relationship Type="http://schemas.openxmlformats.org/officeDocument/2006/relationships/image" Target="/ppt/media/image21.jpeg" Id="Rdb1f5254bdd54d2f" /><Relationship Type="http://schemas.openxmlformats.org/officeDocument/2006/relationships/notesSlide" Target="/ppt/notesSlides/notesSlide3.xml" Id="Ra740cc68215747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c58aad9af4ca2" /><Relationship Type="http://schemas.openxmlformats.org/officeDocument/2006/relationships/notesSlide" Target="/ppt/notesSlides/notesSlide4.xml" Id="Rcfd74190cbbb42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427c5defb463f" /><Relationship Type="http://schemas.openxmlformats.org/officeDocument/2006/relationships/notesSlide" Target="/ppt/notesSlides/notesSlide5.xml" Id="R046c7296364944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50f6c7eec45b8" /><Relationship Type="http://schemas.openxmlformats.org/officeDocument/2006/relationships/image" Target="/ppt/media/image22.jpeg" Id="R89428a69c56f4be4" /><Relationship Type="http://schemas.openxmlformats.org/officeDocument/2006/relationships/image" Target="/ppt/media/image23.jpeg" Id="R5a6cd9728598484f" /><Relationship Type="http://schemas.openxmlformats.org/officeDocument/2006/relationships/image" Target="/ppt/media/image24.jpeg" Id="R7f6d06aea531489f" /><Relationship Type="http://schemas.openxmlformats.org/officeDocument/2006/relationships/notesSlide" Target="/ppt/notesSlides/notesSlide6.xml" Id="Rc7790cc64aad4f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f0c14ef194768" /><Relationship Type="http://schemas.openxmlformats.org/officeDocument/2006/relationships/image" Target="/ppt/media/image25.jpeg" Id="R28266caf9dd24408" /><Relationship Type="http://schemas.openxmlformats.org/officeDocument/2006/relationships/image" Target="/ppt/media/image26.jpeg" Id="Rae2cd1408ec040e7" /><Relationship Type="http://schemas.openxmlformats.org/officeDocument/2006/relationships/image" Target="/ppt/media/image27.jpeg" Id="Rb2d7b2d67c104573" /><Relationship Type="http://schemas.openxmlformats.org/officeDocument/2006/relationships/image" Target="/ppt/media/image28.jpeg" Id="R9ae96ce4136542f8" /><Relationship Type="http://schemas.openxmlformats.org/officeDocument/2006/relationships/notesSlide" Target="/ppt/notesSlides/notesSlide7.xml" Id="Rafa5f985d1394f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b6d23a3fe4430" /><Relationship Type="http://schemas.openxmlformats.org/officeDocument/2006/relationships/image" Target="/ppt/media/image.png" Id="Rf0daf583c3ac4484" /><Relationship Type="http://schemas.openxmlformats.org/officeDocument/2006/relationships/image" Target="/ppt/media/image2.png" Id="Re6e7da1dd7d44ab1" /><Relationship Type="http://schemas.openxmlformats.org/officeDocument/2006/relationships/image" Target="/ppt/media/image3.png" Id="R6fa1e49c62764bb0" /><Relationship Type="http://schemas.openxmlformats.org/officeDocument/2006/relationships/image" Target="/ppt/media/image4.png" Id="R67d7477c684443fa" /><Relationship Type="http://schemas.openxmlformats.org/officeDocument/2006/relationships/image" Target="/ppt/media/image5.png" Id="R3cbd0bb7ddbf46b6" /><Relationship Type="http://schemas.openxmlformats.org/officeDocument/2006/relationships/notesSlide" Target="/ppt/notesSlides/notesSlide8.xml" Id="R92bf16bbf1bc40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6ffa608894ee5" /><Relationship Type="http://schemas.openxmlformats.org/officeDocument/2006/relationships/image" Target="/ppt/media/image6.png" Id="R9344b3aafedb4ace" /><Relationship Type="http://schemas.openxmlformats.org/officeDocument/2006/relationships/image" Target="/ppt/media/image7.png" Id="R2d07347cecec47ea" /><Relationship Type="http://schemas.openxmlformats.org/officeDocument/2006/relationships/image" Target="/ppt/media/image8.png" Id="R170f05b9d72a4ad4" /><Relationship Type="http://schemas.openxmlformats.org/officeDocument/2006/relationships/image" Target="/ppt/media/image9.png" Id="R8ebb2b96ef7e40ba" /><Relationship Type="http://schemas.openxmlformats.org/officeDocument/2006/relationships/image" Target="/ppt/media/image10.png" Id="R1099929a172b4644" /><Relationship Type="http://schemas.openxmlformats.org/officeDocument/2006/relationships/image" Target="/ppt/media/image11.png" Id="R090d58599521462b" /><Relationship Type="http://schemas.openxmlformats.org/officeDocument/2006/relationships/notesSlide" Target="/ppt/notesSlides/notesSlide9.xml" Id="R152dca4a1c284b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8e249adc24afa" /><Relationship Type="http://schemas.openxmlformats.org/officeDocument/2006/relationships/notesSlide" Target="/ppt/notesSlides/notesSlide10.xml" Id="R3b848603878141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e9a70bd77848e7"/>
          <a:srcRect xmlns:a="http://schemas.openxmlformats.org/drawingml/2006/main" l="25391" t="0" r="253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14EF8-4308-42EA-81DB-8A20BE0A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0">
            <a:solidFill>
              <a:srgbClr val="1230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B4C42-99A4-42A0-9B96-93B8E044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0"/>
            <a:ext cx="533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168A7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32DDB-C872-4A1A-B299-39AF8C40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84D2C5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84D2C5"/>
                </a:solidFill>
                <a:latin typeface="BIZ UDPGothic"/>
                <a:ea typeface="BIZ UDPGothic"/>
                <a:cs typeface="BIZ UDPGothic"/>
              </a:rPr>
              <a:t>FedPACT / NEXAR concrete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8CCEE2-9AB2-4140-9A68-EA7B6177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4762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8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38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Layer 2の動作確認と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8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38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局所更新の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8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38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順序依存性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32683-6CD2-4B91-84B2-96A2D7CA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rPr>
              <a:t>実動画の反応変化から、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rPr>
              <a:t>代理データ候補へ至る過程を追う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2DCFB-59F7-4FA4-AF66-A4924678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A9BCC9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A9BCC9"/>
                </a:solidFill>
                <a:latin typeface="BIZ UDPGothic"/>
                <a:ea typeface="BIZ UDPGothic"/>
                <a:cs typeface="BIZ UDPGothic"/>
              </a:rPr>
              <a:t>研究会説明用・診断実験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AC68C-313C-4286-8AC0-6405EDC8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rPr>
              <a:t>YOSHIMURA Aoi   2026.09.13</a:t>
            </a:r>
          </a:p>
        </p:txBody>
      </p:sp>
    </p:spTree>
    <p:extLst>
      <p:ext uri="{BB962C8B-B14F-4D97-AF65-F5344CB8AC3E}">
        <p14:creationId xmlns:p14="http://schemas.microsoft.com/office/powerpoint/2010/main" val="7874240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42D7A0-0039-4E36-BB47-7A86E140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同じ局所学習で、risk動画もnormal動画もrisk確率が下がった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7A37E-58C0-4BC4-912A-BF7E9411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E68F1-A78A-4784-90B2-669D0317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57377-FCE4-4226-967F-08FB7FE5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学習に使っていない2本を先に見る。映像内容の違いより、共通方向の出力移動が目立つ。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5B2C0-EB8C-41BC-896B-34C5C8DA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risk動画 / held-out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abaaed3cce45ec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0e50a9f504ab5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95475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5414e5dfc4992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1350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0461cf80604580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67225" y="1981200"/>
            <a:ext cx="1219200" cy="10668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D6CB10-B95A-40E1-BB43-C6703450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5143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F"/>
          </a:solidFill>
          <a:ln xmlns:a="http://schemas.openxmlformats.org/drawingml/2006/main" w="0">
            <a:solidFill>
              <a:srgbClr val="E7EC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C86EE6-7265-4F05-8EFD-965C6DF6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416007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79BBD-C672-4D64-9E02-FBFD1C8F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607" y="3600450"/>
            <a:ext cx="3727493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solidFill>
              <a:srgbClr val="D95D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BDEA4A-4C90-4299-B022-1EBAA989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0.275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CDD2C3-4F27-4B1D-A04C-35CDA0A4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623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0.725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5AB039-5E1D-4CE5-B5E4-F9729746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局所学習前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8302A4-DFBD-443A-9F5A-AE000903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5143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F"/>
          </a:solidFill>
          <a:ln xmlns:a="http://schemas.openxmlformats.org/drawingml/2006/main" w="0">
            <a:solidFill>
              <a:srgbClr val="E7EC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423E21-B161-4A33-B7C9-67472A1A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99145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BAE484-4E76-4CBF-897B-DDAEEE1B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055" y="4352925"/>
            <a:ext cx="315204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solidFill>
              <a:srgbClr val="D95D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4DF8EF-4A2F-41DD-BD8C-9767C506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0.387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A4C96E-7D0D-4695-9E57-D4041DF6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1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0.613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AE5265-C846-4247-820A-E5D3C803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局所学習後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EB227E-CE77-44FD-87E8-D441B2F8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Δq(risk) = -0.112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62EC66-789E-4EFE-B39A-ACCBA306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normal動画 / held-out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53e0c849f44ff5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b0e4a1f5741cb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77125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b9e8f0da145cf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0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2f18d483641bd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1981200"/>
            <a:ext cx="1219200" cy="10668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5D1285-8AA5-49E9-8425-F1E9A245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5143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F"/>
          </a:solidFill>
          <a:ln xmlns:a="http://schemas.openxmlformats.org/drawingml/2006/main" w="0">
            <a:solidFill>
              <a:srgbClr val="E7EC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D853AA-0DDD-4FC1-BB5B-9574AC27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3754954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9FC823-CE5C-4C1F-98DE-938C02C9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6204" y="3600450"/>
            <a:ext cx="1388546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solidFill>
              <a:srgbClr val="D95D4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1452A2-345C-43AF-8653-BB45CE38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623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0.730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1789CE-D1EF-4EDE-AC1C-9BEA8844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623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0.270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3352BD-3A80-4779-88FA-A9EC4E0F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局所学習前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AAE5F1-5406-4025-95A0-65B5C49A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52925"/>
            <a:ext cx="5143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F"/>
          </a:solidFill>
          <a:ln xmlns:a="http://schemas.openxmlformats.org/drawingml/2006/main" w="0">
            <a:solidFill>
              <a:srgbClr val="E7EC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2C77F0-74DB-4EC7-802F-58E197E2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52925"/>
            <a:ext cx="4340983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4C1AFF-2200-4ECE-AF71-29139562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2233" y="4352925"/>
            <a:ext cx="802517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solidFill>
              <a:srgbClr val="D95D4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388F95-0611-4E7E-88B7-6E8CCBB1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0.844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379FE7-60BE-45FD-BDBC-2380FE79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1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0.156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87A26B-7166-4452-921D-8BC82E53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338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局所学習後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B373A0-B751-4BA6-91C2-46241505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148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Δq(risk) = -0.114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690121-318B-4C60-B966-59ABCF28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725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11430">
            <a:solidFill>
              <a:srgbClr val="D28B2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FCFF94-672A-4F43-8767-EE722CF0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1030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rPr>
              <a:t>この時点で「risk知識を学べた」とは言えない。まず局所更新の健全性を診断する必要がある。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8AFF1B-CDCD-4CCC-88C2-3B2FFC66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held-out examples / order seed 101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A7C246-2A9D-4147-93BC-FD78FE3E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570080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9828D8-0939-42F4-B306-F5899FDB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固定したデータ分割と、今回動かした範囲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4E3C8-F88B-44C2-9BED-E59CDE1A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7EBB1-3332-4C4D-9087-45746CF9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3D141-91B6-4726-827A-7B27B2A6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457200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67D55-224D-4E75-BFA3-BC6E8535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22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CLIENT PRIVATE TRAIN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1C8B5-FCF3-458E-AF5C-3AB5FE4E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4287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6本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16955-02AC-4075-AF58-D07956DD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295400"/>
            <a:ext cx="2571750" cy="36385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5EFF8"/>
          </a:solidFill>
          <a:ln xmlns:a="http://schemas.openxmlformats.org/drawingml/2006/main" w="11430">
            <a:solidFill>
              <a:srgbClr val="2F6F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50D04-DC68-4547-B735-39515CFD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46685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CLIENT HELD-OUT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0B30BF-7545-45B1-A14E-4700B48F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287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6本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5F9BA-8DB6-489E-96BD-1505878A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295400"/>
            <a:ext cx="3333750" cy="36385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11430">
            <a:solidFill>
              <a:srgbClr val="D28B2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1A97A2-61FD-4CC0-A8DF-B587A19C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66850"/>
            <a:ext cx="299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D28B2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D28B23"/>
                </a:solidFill>
                <a:latin typeface="BIZ UDPGothic"/>
                <a:ea typeface="BIZ UDPGothic"/>
                <a:cs typeface="BIZ UDPGothic"/>
              </a:rPr>
              <a:t>SERVER SEED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A73E24-F014-49EA-A799-C50675AB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4287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D28B23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D28B23"/>
                </a:solidFill>
                <a:latin typeface="BIZ UDPGothic"/>
                <a:ea typeface="BIZ UDPGothic"/>
                <a:cs typeface="BIZ UDPGothic"/>
              </a:rPr>
              <a:t>8本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188b2ec66b46fa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2000250"/>
            <a:ext cx="1314450" cy="952500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585a5064e446f9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3390900"/>
            <a:ext cx="1314450" cy="952500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48b240a764203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00275" y="2000250"/>
            <a:ext cx="1314450" cy="952500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b9f002cc41424e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00275" y="3390900"/>
            <a:ext cx="1314450" cy="952500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6c6adea0fb44e0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9500" y="2000250"/>
            <a:ext cx="1314450" cy="952500"/>
          </a:xfrm>
          <a:prstGeom xmlns:a="http://schemas.openxmlformats.org/drawingml/2006/main" prst="rect">
            <a:avLst/>
          </a:prstGeom>
        </p:spPr>
      </p:pic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745637a0e4fab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9500" y="3390900"/>
            <a:ext cx="1314450" cy="9525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147BA3-1C18-49A2-9461-C3C78FD7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×3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4B7FD3-890A-4A62-819E-394369B8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×3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48443efa2438d"/>
          <a:srcRect xmlns:a="http://schemas.openxmlformats.org/drawingml/2006/main" l="15625" t="0" r="156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095500"/>
            <a:ext cx="1047750" cy="857250"/>
          </a:xfrm>
          <a:prstGeom xmlns:a="http://schemas.openxmlformats.org/drawingml/2006/main" prst="rect">
            <a:avLst/>
          </a:prstGeom>
        </p:spPr>
      </p:pic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a61c443ee9401c"/>
          <a:srcRect xmlns:a="http://schemas.openxmlformats.org/drawingml/2006/main" l="15625" t="0" r="156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1800" y="2095500"/>
            <a:ext cx="1047750" cy="8572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47FF97-363D-4C6F-8CA2-A4524A23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19450"/>
            <a:ext cx="2209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risk ×3 / normal ×3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学習・prototype・server検索に未使用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21fb218e3646a9"/>
          <a:srcRect xmlns:a="http://schemas.openxmlformats.org/drawingml/2006/main" l="11599" t="0" r="115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29625" y="2038350"/>
            <a:ext cx="1352550" cy="990600"/>
          </a:xfrm>
          <a:prstGeom xmlns:a="http://schemas.openxmlformats.org/drawingml/2006/main" prst="rect">
            <a:avLst/>
          </a:prstGeom>
        </p:spPr>
      </p:pic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1b866702741b7"/>
          <a:srcRect xmlns:a="http://schemas.openxmlformats.org/drawingml/2006/main" l="11599" t="0" r="115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96475" y="2038350"/>
            <a:ext cx="1352550" cy="990600"/>
          </a:xfrm>
          <a:prstGeom xmlns:a="http://schemas.openxmlformats.org/drawingml/2006/main" prst="rect">
            <a:avLst/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21035bbbd641dc"/>
          <a:srcRect xmlns:a="http://schemas.openxmlformats.org/drawingml/2006/main" l="11599" t="0" r="115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29625" y="3257550"/>
            <a:ext cx="1352550" cy="990600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1f5254bdd54d2f"/>
          <a:srcRect xmlns:a="http://schemas.openxmlformats.org/drawingml/2006/main" l="11599" t="0" r="115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96475" y="3257550"/>
            <a:ext cx="1352550" cy="9906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12540C-8D51-4B3C-83A9-B05F26D3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386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risk ×4 / normal ×4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clientへ配布しないcloud-only pool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8D99E5-AE47-4A6C-A1BF-77DF2AA5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3FEEF0-B528-4A09-9AD1-E03AB036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625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Qwen2.5-VL-3B / fixed checkpoint  |  split seed 42  |  LoRA + classification head更新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474089-3E00-4F53-B80D-E056F797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Step I-A：qᵖʳᵉ / qᵖᵒˢᵗ / Δq診断　→　Step I-B：prototype / seed検索 / 代理候補生成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E52E67-D25D-4C07-AF1E-BB3F0BF4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固定split・ID重複なし・private raw data非送信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99E0BD-E8CD-4167-A63A-539C90EB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771351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498DBD9-51FC-47AE-B93E-A38298CC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order 101では、12本すべてがnormal側へ移動した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AC387-D0AB-45A7-9796-D773645F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61825-4BDC-40E0-AC2B-C60E16E2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0854A-2141-46B4-B7E1-74152402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private train 6本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00CBC-2AEC-41D9-AEE6-BD485D48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006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F6EC7-4E7B-49D3-B110-1CB80CA9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0.0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6C05F-8D20-4979-A7A6-63484668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623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D566F-B432-4B6A-BF87-C50424F5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0.5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8D30F-3CDC-43C8-BC2F-FE3FCD32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240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5F64C8-7CEF-4A17-942B-9110D9EA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1.0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A81B2-B5B7-4DA7-A4C5-CD31C65C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q(risk)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0AD05B-65DB-4B6E-9663-F5220793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339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qᵖʳᵉ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DA6576-7DB3-458E-8CCB-D5A39FD0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1339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qᵖᵒˢᵗ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331BF4-F777-40F3-A105-942B80D5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74678"/>
            <a:ext cx="3409950" cy="584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A6950D-314E-4940-921A-DD90153F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42705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891F56-776C-4D4A-822F-0891EAB0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4855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6D30EA-FD74-445F-B0F8-9AB729D9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70447"/>
            <a:ext cx="3409950" cy="3861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4E6CA5-4EC8-4D6E-B661-509DDED1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12282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60A64C-4051-4C50-BC69-23998571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50896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83C6B4-F248-4DA2-96C0-BE5B11D2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89211"/>
            <a:ext cx="3409950" cy="3711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16A011-4FE0-4142-BD28-6BE917B0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14158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46EA35-0CCF-4CFA-B1DE-5B63BC7D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5127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FA4DAE-25A5-4A50-9347-54FC9F65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27825"/>
            <a:ext cx="3409950" cy="3032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348959-FFC8-46BF-B29E-6D17094C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480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9A1B87-9C19-42DC-A820-3C5FDC87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78343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1E84C3-E1FE-4FE4-B3B0-B3B150B6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20635"/>
            <a:ext cx="3409950" cy="4366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770A00-7553-4FD9-8E5F-7720C985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57301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CD651B-F095-488E-810C-F8499189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00968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83A457-0CFE-4E2A-B4F3-03330D32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35232"/>
            <a:ext cx="3409950" cy="6949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A4476B-D5A7-4DEA-BB8C-E75FB8E0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88760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650EBF-DC94-4C84-9873-6C02AA2C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58259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B24468-5925-4BD6-88EC-EFBAA8D8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8587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held-out 6本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C37743-DAFE-4F2E-AABD-DF3C5418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006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C37847-5F42-4AEF-BFEE-DDCE7CB4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053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0.0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A7BEF7-AD4D-4E31-A340-4D6BE300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623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CF969C-AF3B-4DBD-9A90-FEB76CA4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670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0.5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C18D37-8196-4B80-99A5-FB180AD3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240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D8B579-9377-45A0-B963-C24F78A3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1.0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B118E9-2DF4-42C9-9065-D31E6324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382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q(risk)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EC26A0-4332-4397-BE4F-12271F06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339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qᵖʳᵉ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91FC4C-B713-40FA-8CAE-4FBD26E2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1339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qᵖᵒˢᵗ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44A454-34C8-4769-B075-C2863EE5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26074"/>
            <a:ext cx="3409950" cy="3665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61272E-1383-4797-A438-9BF91031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57844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5E47EB-B1F4-4916-B884-99622F3A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94503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CC38E09-CE64-436D-93EF-BA3F28D9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16070"/>
            <a:ext cx="3409950" cy="3733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8B49ED-6171-4518-9399-86602266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06844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4F186C-FD4B-44E1-84B8-F62C5829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4417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D221181-7A46-4CCB-8EA3-D2AE7E8E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67616"/>
            <a:ext cx="3409950" cy="3810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8A76C6-4D09-4679-B952-93AE01D3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21999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9EE4570-8D60-4B18-B079-16C04BDA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60106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4162BF-8776-4DDE-AD90-B7DEDA17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34049"/>
            <a:ext cx="3409950" cy="2415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4A80A3F-E983-43CC-847C-AA433042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38642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4CFFF42-3A72-4E1A-931B-6F548317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62800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E4D515A-FD26-477C-97A8-C8D31E6A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00608"/>
            <a:ext cx="3409950" cy="5116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59B5618-F774-40E6-BFE8-126C1E0F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25298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1BB3D6B-2FC4-4E87-8EF5-B5F574AA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76466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7C217CE-E9A2-4D1B-BACA-92DAFE50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17488"/>
            <a:ext cx="3409950" cy="3964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475BCE-0267-4BFA-97CB-D2C0C1BA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1698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FB4E4F5-8D21-4986-B9DC-F74D4593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56628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5B7F641-B572-4746-A7FD-FB2321BB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896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7E2043D-2E23-4D20-BDC3-9674A402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平均Δq(risk)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EEE814C-8995-4B0E-A82D-7262F4CF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19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train normal −0.139　train risk −0.090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FC956CD-63CA-48DD-99BE-1CED781E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197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held-out normal −0.101　held-out risk −0.130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252CD38-46D7-448A-8018-6B932769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1239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label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BE6C833-B5D0-427D-B8D9-4381BD00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1239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label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525703A-F0A9-4232-A956-3C190639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赤=risk label　青=normal label　縦軸=q(risk)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D869B94-FA23-449C-B46C-5A80B0ED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1962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D5B0547-E9A6-440C-88E3-7697F891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学習順だけでΔqの符号が反転した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4D3DE-564A-4A2C-B4D6-1FA0CBCC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2E084-93E9-475C-80E6-2357B5CA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24CAB-05D9-4E7F-907F-E0176816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DF41E-2649-4076-B021-42B9AB15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平均q(risk)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13282-05EF-4979-A4B5-8020B80F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381125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51AAA-0303-462B-8D86-DDECD9EE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38275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pre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C541E-003C-4D7F-8628-6561A32A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3811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C957A-5112-4DCE-894C-E93EDDA5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382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order 101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43503-E163-431D-AB2B-FBDD62BF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3811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1654A3-74CB-422D-AF4E-434EBAD2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382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order 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6B10EF-FB46-4B68-8E7F-593A866E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3811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92EDBB-9E29-4DCD-8478-F00DFBF2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382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order 303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A25E89-1E39-464F-ACD6-31AF7214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381125"/>
            <a:ext cx="2114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E832AF-7862-4D08-98AC-882B7363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382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full-batch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4FB0A0-14AF-4F6E-A1A6-EFD575FA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137166-5BA4-4CBA-938D-DA76A754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train normal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E35671-D2E9-4FDA-A17A-AA31BBDF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905000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78C3EC-420C-4775-883F-BFBD0BFE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62150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0.341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D40519-4BD0-4ADD-B034-7A7B01FE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0500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677DC8-8CD4-4332-9B14-448F56BA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6215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0.201 (-0.139)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AC5A6F-34DA-4115-850D-455E00B7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0500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0B8466-6BDE-4A8B-9D20-1FB51034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6215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0.403 (+0.062)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5D47B0-E31D-4538-A215-F9105880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0500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2BFEE7-9109-4AEC-AB3A-2376ED90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6215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0.150 (-0.191)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5FF6A2-AB32-4EA9-BE4D-C6B06A0A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05000"/>
            <a:ext cx="2114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A9CB01-60E4-4861-89DC-84A9709D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621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0.300 (-0.041)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7DEA03-96DE-4975-85C8-8ABBC579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2C2B87-144A-4B50-ACBF-E6DA08EE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train risk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71786B-8280-487C-94A9-EFD1B575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28875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D1C835-782A-493B-97DE-2445C555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86025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0.685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65B8F9-FBCA-4180-8AC1-2D773F37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2887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55065A-6B58-49EA-B6D9-E9C560F2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8602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0.596 (-0.090)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B179FE-844D-4D0B-B7C1-D7842524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2887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15885F-FDFB-4BE0-BB7F-6C7CAB13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8602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0.845 (+0.160)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12356F-969C-4621-8DAC-536B2888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2887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30500C-F236-4B4A-AF99-957B6D81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8602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0.491 (-0.194)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B9E647-69C8-4096-99E4-7DD7BF98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28875"/>
            <a:ext cx="2114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85099C-5D57-4270-AEC4-5700DD18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860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0.698 (+0.013)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CCF70A-AC4E-4FEC-A05D-E6F72639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DF0DDA-D804-4078-9543-CE4615BF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held-out normal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10B74F-72CA-4313-8F0C-07E83E0F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52750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435655-094B-4C5F-909D-B9935002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09900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0.222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EF98C1-9242-46D9-9374-8AE31805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5275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062EF8-EA86-4B4B-886B-0022575D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990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0.121 (-0.101)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D4AE1B4-43C8-424E-B10B-A5AC9C67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5275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67E8F6-F1A7-44FB-825B-1A7F4EB1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0990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0.297 (+0.075)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C8E67C3-A912-4FF9-81C2-E308242B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5275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F4BEC6E-075B-47DA-8502-D1194EF3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990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0.080 (-0.143)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03BBA56-1E0C-4D63-A3F7-0F52B446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52750"/>
            <a:ext cx="2114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7AECA68-1BF5-430B-9729-4370B3EB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099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0.201 (-0.021)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4754BB6-71BB-45D7-A9E4-36969BFC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2848443-B540-4D6F-A9CD-9413E470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held-out risk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93631EE-8CC9-4AE0-B260-E5F0300B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76625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FEB1D51-D136-4597-8860-E22AF17B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33775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0.596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63F4450-C97C-40EB-AA62-02BAEBBE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766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74B7A6C-4E90-43AC-A89A-02293D27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337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0.466 (-0.130)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5022168-0B29-43FB-AC67-5BF1E489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4766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CA300C8-1391-4997-A5B7-A4619C7C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337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0.707 (+0.111)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66F2F3D-2503-4681-BEC6-83FFA617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766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98379CA-AB8C-441B-A2FC-97DBCEEB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337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0.350 (-0.246)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7A64EB5-E72C-4DEF-BDCA-39EC6739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76625"/>
            <a:ext cx="2114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C91F8B9-3BDF-4520-881E-52ABBCAD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337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0.576 (-0.020)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8D50282-DB44-4BCB-B86A-84DE3F6E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class間差 = mean q(risk | risk) − mean q(risk | normal)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2F2A6D9-5A1C-47EB-902C-B3883377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3B9639B-D95A-423C-8496-D9B87FDF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class間差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163ACBE-8E6B-497B-80B3-01EF95EC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720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63A5BD7-E2F8-4776-93D8-341939B4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291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pre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3A1F265-0A84-4A50-82C2-1577CA92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720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563A366-A9B3-4D25-BDB5-0391BAB8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291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101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86CC19F-10B4-4C9F-82DD-9E44A715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720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8F163AC-B7CF-4A64-9C4B-13581C4A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291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202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5708AEF-290E-41E9-B319-B746F39C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5720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6FFC847-EC77-4996-AF00-8B3A9E2A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291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303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7538966-2F5C-4A0C-B829-A1810973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720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9005387-34D1-4E19-BBE0-4AE2DFA7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2915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full-batch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3337EEC-2707-4A41-A90B-19064025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D64F98E-E785-4AE8-81FB-EECFC43E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train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AFAE06D-01D1-4C14-AA69-8EDC90C8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9720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9EFA4EC-7BB7-443A-A02F-97FE3E5F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2920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0.345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145B328-7348-4D9D-9E81-E98684A8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720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C80A06B-1A2F-4914-8D73-DE398D79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292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0.394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3031B9D-0B95-4778-889A-06C6B5F0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720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893AAD9-D0B3-4847-A1BA-B229AC8F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292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0.442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5C94376-E014-463A-9F10-DD45D6A8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9720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D954B09-3AF3-4496-BAF1-C4A76864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292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0.342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1B448AB-294D-4C61-89F7-214AA4FD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720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A19E414-5921-41E5-8709-5749B158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292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0.398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6CF1998-0FA4-4DAA-9423-51A63B56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C0078D7-434E-4CE4-9A9F-9837E382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held-out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9E36A02-2D83-4E60-A299-6B65F7A8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3721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E659FC5-D923-41ED-954D-895322C7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292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0.374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1C90D46-EFA1-4836-9331-B4DEA86F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3721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E6E9512-09CA-4B0F-AB92-B9B0B4D6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0.345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8BE5CF9-2EEE-4FCD-B792-800E27CA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3721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2A6FFAB-7651-4D2A-B273-B538BC3B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4292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0.409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887E9D9-3139-4C2E-96FA-629C2AC7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3721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9F58C0F-B66D-4155-AB1F-E6C586D0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292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0.271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1BD2A0B-385E-4BCF-897B-84526AA4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3721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58BA07E-6091-464B-ADA0-B19DEBC7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2925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0.375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F1E909F-7FE8-4568-A03B-736FEBFF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38650"/>
            <a:ext cx="28765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9525">
            <a:solidFill>
              <a:srgbClr val="D28B2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11480F9-CA18-48B9-A514-6E013E54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0057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rPr>
              <a:t>診断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8681AAE-E813-41D1-ADEC-E40CA5DC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33950"/>
            <a:ext cx="2457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batch size 1では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共通方向shiftが支配的。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6本同時更新ではshiftが縮小。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D334918-E69F-48C5-8EC8-95B539BC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同じsplit・checkpoint・総sample exposure=6。括弧内はΔq(risk)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83D99BC-E236-4357-B956-EE1D899F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085135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C098CD-0BD0-4949-81B2-3AA47A0E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risk 3本の反応を平均し、送信prototypeを作る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708FD-5F61-4C21-917E-EF595DB7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6582B-3CD7-4DBB-A7A9-70F7C031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428a69c56f4be4"/>
          <a:srcRect xmlns:a="http://schemas.openxmlformats.org/drawingml/2006/main" l="4250" t="0" r="4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28750"/>
            <a:ext cx="2324100" cy="1428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517AC-EB42-4922-8D69-69C3D2AE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d626422e71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31DCF7-9A5A-4106-A022-DB1A63EE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0.771 → 0.753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FB49E-F788-4C48-A138-F7658BD8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Δq(risk) -0.018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6cd9728598484f"/>
          <a:srcRect xmlns:a="http://schemas.openxmlformats.org/drawingml/2006/main" l="4250" t="0" r="4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1350" y="1428750"/>
            <a:ext cx="2324100" cy="1428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F9F46D-B67E-42B7-BCE9-C424BB37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5275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95c3bf1ba2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1FC31F-888E-46F4-AAFF-8F40930B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575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0.559 → 0.441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6E596-E38A-443B-83E7-6B0D5CE1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1950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Δq(risk) -0.118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d06aea531489f"/>
          <a:srcRect xmlns:a="http://schemas.openxmlformats.org/drawingml/2006/main" l="4250" t="0" r="4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53100" y="1428750"/>
            <a:ext cx="2324100" cy="1428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AD98E-EDA2-4BC7-87CC-5A7DEB4B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5275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06e20a0fd0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D48380-51C8-4CC8-8CBC-230ECA71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575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0.726 → 0.593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92EA1C-33C3-47D6-BDA3-0A0C2D1D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1950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Δq(risk) -0.133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AA30C-4130-4BF7-9E49-09D7B8D1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371600"/>
            <a:ext cx="30861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65492C-E8A6-4336-BE94-C69D2704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81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risk prototype / order 101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212A66-99AC-4369-9194-C83C7A16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145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μᵖᵒˢᵗₖ,ᵣ = [0.404, 0.596]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812660-9F0A-4E70-AC8C-51DB9E1A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479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Δμₖ,ᵣ = [+0.090, −0.090]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BC33FB-6C23-401E-9CAD-F2C60C6C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00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πₖ,ᵣ =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2DED5B-13FE-4A88-85A7-6D521955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57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πは平均に寄与したrisk動画数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6A89E9-16CC-49DB-8B26-A31EBB78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744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E3DE"/>
          </a:solidFill>
          <a:ln xmlns:a="http://schemas.openxmlformats.org/drawingml/2006/main" w="9525">
            <a:solidFill>
              <a:srgbClr val="D95D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9F2F70-7F74-416D-A640-BD8E06DF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1032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defRPr>
            </a:pPr>
            <a:r>
              <a:rPr sz="16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rPr>
              <a:t>注意：risk prototypeでもrisk確率は平均0.090低下。Layer 2は、この局所挙動の有用性までは保証しない。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7A25A0-82B1-4E3D-984C-FD571BCC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normal側も送信： μᵖᵒˢᵗ=[0.799, 0.201]　Δμ=[+0.139, -0.139]　π=3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AB0723-5210-4D1F-A493-56417CA1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送信：LoRA更新情報 + μᵖᵒˢᵗ + Δμ + π　／　非送信：raw video・frame・sample ID・独立したμᵖʳᵉ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58B798-DD5B-4225-ADCA-37094B89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q vectorの成分順：[normal, risk]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DE9A30-5308-42DA-A5DF-BAB46FF8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276296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A523C7-4BC7-4655-9B91-8813EBBF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μᵖᵒˢᵗの検索1位は、Lmatchの全体最小ではなかった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65FC6-18AF-48D3-8566-7503EC26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4D598-DFCC-4D61-80C3-41C5520F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A123B-DC0C-45E4-939C-68CC8527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検索距離：Dₖₗ( μᵖᵒˢᵗₖ,ᵣ  ||  q(seed; Mᴳᵗ⁺¹) )　— seed画像そのものではなく、更新後モデルの反応を比較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751E1-8F95-4E7E-AEC4-C67B5192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2476500" cy="32766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266caf9dd24408"/>
          <a:srcRect xmlns:a="http://schemas.openxmlformats.org/drawingml/2006/main" l="5750" t="0" r="5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809750"/>
            <a:ext cx="2247900" cy="1428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267BA-CB89-4B91-88E4-BA779D9F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retrieval rank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D2144-EF54-4B48-969F-FE693394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Dₖₗ = 0.000789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B4F32-F416-47BB-86AC-117BB111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best transform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brightness 1.1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27CBDB-1254-4BCD-A28F-B19FE82E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min Lmatch = 0.000697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722A9-BA51-414F-9862-17746A66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2476500" cy="32766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2cd1408ec040e7"/>
          <a:srcRect xmlns:a="http://schemas.openxmlformats.org/drawingml/2006/main" l="5750" t="0" r="5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48050" y="1809750"/>
            <a:ext cx="2247900" cy="1428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21E93-D4B3-49E0-A8EA-2FC33DB9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528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retrieval rank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757DA0-F304-4A77-9451-F4C48B36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0522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Dₖₗ = 0.006646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CD06EF-3D83-4F65-B889-C080ADE4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576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best transform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brightness 1.1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FC852B-92EE-4236-89FC-888970ED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0057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min Lmatch = 0.000774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9B0612-C324-4887-850E-52CE66E6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76400"/>
            <a:ext cx="2476500" cy="32766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d7b2d67c104573"/>
          <a:srcRect xmlns:a="http://schemas.openxmlformats.org/drawingml/2006/main" l="5750" t="0" r="5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1809750"/>
            <a:ext cx="2247900" cy="1428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E3D839-2B60-4E9B-9001-6010721B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528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retrieval rank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835377-F6B2-4C1E-9DFB-676BE2C3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0522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Dₖₗ = 0.009779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2A96BF-A508-4836-B7D7-AB1D4CF8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576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best transform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center_crop 0.85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141AAD-5B9B-45E9-9820-CA5CEA26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0057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min Lmatch = 0.005256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588516-CED0-4048-98A6-C5D64263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76400"/>
            <a:ext cx="2476500" cy="32766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68A7A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96ce4136542f8"/>
          <a:srcRect xmlns:a="http://schemas.openxmlformats.org/drawingml/2006/main" l="5750" t="0" r="5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1809750"/>
            <a:ext cx="2247900" cy="14287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9AC078-9C3E-484D-AE90-C7CD01B7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528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retrieval rank 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CF29BA-44ED-4222-B1CB-9791C1D1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0522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Dₖₗ = 0.061598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29A309-40F3-4583-ADCC-1B032456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576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best transform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center_crop 0.85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F8993C-483B-496C-9DD8-A8350D7B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60057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min Lmatch = 0.000279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F44CE6-ECE7-4483-99B5-AD94E9AC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8966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9525">
            <a:solidFill>
              <a:srgbClr val="D28B2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9EF3B3-204F-434C-AB77-4025ED22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rPr>
              <a:t>top-1内の最小 0.000697　→　8×10全探索の最小 0.000279（rank 6 seed）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56637A-A3A5-46F4-B9AE-7AEBE1A5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小規模な8 seedだからこそ、top-N比較より先に全探索で見落としを確認できる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798C12-8D25-4956-A431-CD06DE0D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risk prototype / 8 seed × 10 transformations = 80 candidates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24CF27-70F9-4505-AE0F-993AA249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280481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5A2ED1-6F6F-4752-9D8F-15C855A8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rank 6 seedを変換し、postとdeltaの再現誤差を比較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F143A-CF02-4D24-8EDB-04C9B580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97BC2-7C14-4E2C-A36B-36EBE0B0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DB53C-6853-44BF-A65A-A5CF1932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2152650" cy="3714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daf583c3ac4484"/>
          <a:srcRect xmlns:a="http://schemas.openxmlformats.org/drawingml/2006/main" l="11375" t="0" r="1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524000"/>
            <a:ext cx="1962150" cy="1428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11A63-2966-4510-BFF0-339BA55C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C6304-3DCD-406C-ABE3-09E6785E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 0.061598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delta MSE  0.000658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  0.062256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FC7A0A-68E0-4877-8624-28517982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409700"/>
            <a:ext cx="2152650" cy="3714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7da1dd7d44ab1"/>
          <a:srcRect xmlns:a="http://schemas.openxmlformats.org/drawingml/2006/main" l="11375" t="0" r="1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86075" y="1524000"/>
            <a:ext cx="1962150" cy="1428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0064D-7803-49D5-9CDE-657C68BB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67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brightness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0.75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F4FDD-86F0-4113-93E3-11E77818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6766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 0.088164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delta MSE  0.001812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  0.089976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FBCF32-B1E6-4356-890D-3A07EFEB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409700"/>
            <a:ext cx="2152650" cy="3714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a1e49c62764bb0"/>
          <a:srcRect xmlns:a="http://schemas.openxmlformats.org/drawingml/2006/main" l="11375" t="0" r="1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1524000"/>
            <a:ext cx="1962150" cy="1428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26D8BF-7A03-4067-9FD7-7FEE2D79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67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contrast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1.2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5A28A3-8D31-4F1A-9C6B-D7029502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766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 0.049697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delta MSE  0.003053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  0.052749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F2CCEF-B90E-4B01-8498-016935B9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409700"/>
            <a:ext cx="2152650" cy="3714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38100">
            <a:solidFill>
              <a:srgbClr val="168A7A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d7477c684443fa"/>
          <a:srcRect xmlns:a="http://schemas.openxmlformats.org/drawingml/2006/main" l="11375" t="0" r="1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53325" y="1524000"/>
            <a:ext cx="1962150" cy="14287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0F55A1-3429-41AB-99EA-E3B29429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67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center_crop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0.85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871BDF-4376-4762-8CCE-E95A6D22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6766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 0.000109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delta MSE  0.000169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  0.000279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AFD1D1-2DD7-419B-B3EF-613D7624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3392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数値上の最小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865A46-C506-463F-9C2B-92CECEF5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409700"/>
            <a:ext cx="2152650" cy="3714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d0bb7ddbf46b6"/>
          <a:srcRect xmlns:a="http://schemas.openxmlformats.org/drawingml/2006/main" l="11375" t="0" r="1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86950" y="1524000"/>
            <a:ext cx="1962150" cy="14287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623B9B-330E-4A7A-9F32-C46CFE61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67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gaussian_blur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0.75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ECE21C-2CF3-497E-8CA5-C6F35366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766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 0.039934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delta MSE  0.000833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  0.040767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5FC58B-500B-4732-92E7-24EBEE1D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Lmatch = KL( μᵖᵒˢᵗ || qᵖᵒˢᵗ(proxy) ) + MSE( Δμ, qᵖᵒˢᵗ(proxy) − qᵖʳᵉ(proxy) 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4223C8-87C7-4731-90BE-43EAFA22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91200"/>
            <a:ext cx="97917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E3DE"/>
          </a:solidFill>
          <a:ln xmlns:a="http://schemas.openxmlformats.org/drawingml/2006/main" w="9525">
            <a:solidFill>
              <a:srgbClr val="D95D4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E9A4EB-D28A-4511-AE7D-753F7943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95975"/>
            <a:ext cx="937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rPr>
              <a:t>Lreg・Qinv未導入。cropが危険箇所を強調した、意味的に妥当、とはまだ言えない。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E84E1B-F4BA-4FEC-BD74-DB03DFE1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source seed 4b8432de81 / retrieval rank 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42A51D-A1F1-4966-86D0-D98810AA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300216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7CB06D-D7EA-4747-BBA0-DA09EB72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risk / normal両prototypeでproxy pairまで生成した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384DA-0F9F-4E60-9681-EF68D43A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A8D30-781D-4D58-ADE6-22A630F3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38F9B-2D0D-4DE3-8706-09FDDD84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prototype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44b3aafedb4ace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95450"/>
            <a:ext cx="1562100" cy="120015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7347cecec47ea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66950" y="1695450"/>
            <a:ext cx="1562100" cy="1200150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0f05b9d72a4ad4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24300" y="1695450"/>
            <a:ext cx="1562100" cy="1200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AF3E6-A8CF-462A-A55B-3F1A7D45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μᵖᵒˢᵗ = [0.404, 0.596]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Δμ = [+0.090, -0.090]　π=3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4D87C-3C81-4DBB-A609-BC7312B2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seed 4b8432de81 / seed label=0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center_crop(0.85)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0.000109　delta MSE 0.000169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 0.000279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7BBD80-BC03-4920-B7EF-011D5537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57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prototype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bb2b96ef7e40ba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29350" y="1695450"/>
            <a:ext cx="1562100" cy="1200150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99929a172b4644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6700" y="1695450"/>
            <a:ext cx="1562100" cy="1200150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d58599521462b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44050" y="1695450"/>
            <a:ext cx="1562100" cy="1200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671E27-C097-438F-A83C-35950518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051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μᵖᵒˢᵗ = [0.799, 0.201]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Δμ = [+0.139, -0.139]　π=3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BEE6AC-431D-4125-8AD9-7524C566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433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seed 17c2e0d437 / seed label=0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brightness(0.75)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0.000080　delta MSE 0.000389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 0.000468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A6E37B-C3AF-497C-9E64-94C4D5DA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668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9525">
            <a:solidFill>
              <a:srgbClr val="D28B2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F4CFFD-8066-4AC7-9C5C-0FC53352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defRPr>
            </a:pPr>
            <a:r>
              <a:rPr sz="195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rPr>
              <a:t>Pₖ,ᵣ = ( x̃ₖ,ᵣ , μᵖᵒˢᵗₖ,ᵣ ) をLayer 3へ渡せる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170634-C13A-488B-A330-C1DE5994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7690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rPr>
              <a:t>ただしrisk側の数値最小候補はnormalラベルseed。Lmatchだけでは意味的妥当性を保証できない。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076D7F-2E53-49B6-BB53-C9ADA05C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数値上のproxy candidate。foundation transferは未実施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E3F3C3-8684-4012-ADE8-551C3098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670869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C80EDD-6685-45B0-94B4-90609488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実装上は経路が通った。研究上はStep I-Aの安定化が先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F5264-D156-4EED-84E4-4E07E8EB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F80A0-ED56-4B15-8333-526AF6CF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0203E-9FD5-403A-B7EA-7C58B5E3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1054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046E8-8DA2-463A-8049-4B48886A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621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確認できたこと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72072-171B-49DB-A8C7-2E7B33FC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572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1　balanced private 6本でqᵖʳᵉ / qᵖᵒˢᵗ / Δqを保存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2　risk / normalの両prototypeをprivate raw dataなしで送信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3　8 seed × 10変換を全探索しproxy pairを生成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4　top-1固定の見落としを実測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356B6-8BEF-435E-B909-16CCF564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55816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7E3DE"/>
          </a:solidFill>
          <a:ln xmlns:a="http://schemas.openxmlformats.org/drawingml/2006/main" w="11430">
            <a:solidFill>
              <a:srgbClr val="D95D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F2E504-3367-4DB3-889E-56994477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621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まだ解けていないこと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2FCC2-CF67-4933-8C94-BA038A92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47875"/>
            <a:ext cx="4953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• batch size 1の局所更新は順序依存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• 未見動画のclass分離改善は一貫しない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• 数値最小proxyの意味的妥当性は未保証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• Lreg / Qinv / 2-client / Layer 3 / 3〜5 roundは未実施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249021-9C58-4FBB-808F-F23DC4BC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次にやる実験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9DE586-5034-4E99-AEFE-7B53FB70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6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BC788-5685-43B4-B723-C49488D6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D6D72C-53F1-40E0-9F3C-E12565FE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7680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同じ総sample exposureで、batch 1 / 層化mini-batch / gradient accumulationを比較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640F16-4D90-4364-BDCC-45366DD8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53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A37731-A0AB-4596-B4B1-16BA31AF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ECEF3B-6EBA-44BE-BB17-E00F0090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5305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order 101 / 202 / 303で再現し、更新parameter監査とhead固定 / 更新を切り分け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D0E064-4A64-4457-9DCD-F8869BB1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08CCE4-505D-4EE5-845C-6CCE38D5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864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34F35B-18D3-4223-AE1D-E41D7E6F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2930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局所信号が安定してから2-client化 → Layer 3 → 3〜5 round接続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0C75D6-E836-4966-930B-A4A368D4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Layer 2は入力された局所挙動を追う。入力信号の質は別途保証が必要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A8954B-A150-4EA2-8830-DEFB9C39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478164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2026-09-13T14:21:10.0630000Z</dcterms:created>
  <dcterms:modified xsi:type="dcterms:W3CDTF">2026-09-13T14:21:10.0630000Z</dcterms:modified>
</coreProperties>
</file>