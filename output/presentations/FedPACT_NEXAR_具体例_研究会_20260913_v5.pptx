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51f7930e6df44f8" /><Relationship Type="http://schemas.openxmlformats.org/officeDocument/2006/relationships/extended-properties" Target="/docProps/app.xml" Id="Re4b361afd3da4f2b" /><Relationship Type="http://schemas.openxmlformats.org/officeDocument/2006/relationships/officeDocument" Target="/ppt/presentation.xml" Id="Rf23fa6f9bee3486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ce0797228ef4535"/>
  </p:sldMasterIdLst>
  <p:notesMasterIdLst>
    <p:notesMasterId xmlns:r="http://schemas.openxmlformats.org/officeDocument/2006/relationships" r:id="R235fe30fb27e48c0"/>
  </p:notesMasterIdLst>
  <p:sldIdLst>
    <p:sldId xmlns:r="http://schemas.openxmlformats.org/officeDocument/2006/relationships" id="256" r:id="R1d0e39833d314a0c"/>
    <p:sldId xmlns:r="http://schemas.openxmlformats.org/officeDocument/2006/relationships" id="257" r:id="Ra304a40ecaf74dd7"/>
    <p:sldId xmlns:r="http://schemas.openxmlformats.org/officeDocument/2006/relationships" id="258" r:id="Rddadf1be6dd14612"/>
    <p:sldId xmlns:r="http://schemas.openxmlformats.org/officeDocument/2006/relationships" id="259" r:id="R399e97f3ab3e4b2f"/>
    <p:sldId xmlns:r="http://schemas.openxmlformats.org/officeDocument/2006/relationships" id="260" r:id="Rc9ee7bd768c54ca3"/>
    <p:sldId xmlns:r="http://schemas.openxmlformats.org/officeDocument/2006/relationships" id="261" r:id="R326e882ad5d042bd"/>
    <p:sldId xmlns:r="http://schemas.openxmlformats.org/officeDocument/2006/relationships" id="262" r:id="Rc846582963d245c8"/>
    <p:sldId xmlns:r="http://schemas.openxmlformats.org/officeDocument/2006/relationships" id="263" r:id="Rd89169a8f7f5478d"/>
    <p:sldId xmlns:r="http://schemas.openxmlformats.org/officeDocument/2006/relationships" id="264" r:id="R1689d7e09b4d4b60"/>
    <p:sldId xmlns:r="http://schemas.openxmlformats.org/officeDocument/2006/relationships" id="265" r:id="R62e44be21a5348a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71c952f5c9641c9" /><Relationship Type="http://schemas.openxmlformats.org/officeDocument/2006/relationships/slideMaster" Target="/ppt/slideMasters/slideMaster1.xml" Id="R6ce0797228ef4535" /><Relationship Type="http://schemas.openxmlformats.org/officeDocument/2006/relationships/notesMaster" Target="/ppt/notesMasters/notesMaster1.xml" Id="R235fe30fb27e48c0" /><Relationship Type="http://schemas.openxmlformats.org/officeDocument/2006/relationships/presProps" Target="/ppt/presProps.xml" Id="Ra6d3d762ffd14f88" /><Relationship Type="http://schemas.openxmlformats.org/officeDocument/2006/relationships/tableStyles" Target="/ppt/tableStyles.xml" Id="R2c117d0a7f1149d7" /><Relationship Type="http://schemas.openxmlformats.org/officeDocument/2006/relationships/slide" Target="/ppt/slides/slide1.xml" Id="R1d0e39833d314a0c" /><Relationship Type="http://schemas.openxmlformats.org/officeDocument/2006/relationships/slide" Target="/ppt/slides/slide2.xml" Id="Ra304a40ecaf74dd7" /><Relationship Type="http://schemas.openxmlformats.org/officeDocument/2006/relationships/slide" Target="/ppt/slides/slide3.xml" Id="Rddadf1be6dd14612" /><Relationship Type="http://schemas.openxmlformats.org/officeDocument/2006/relationships/slide" Target="/ppt/slides/slide4.xml" Id="R399e97f3ab3e4b2f" /><Relationship Type="http://schemas.openxmlformats.org/officeDocument/2006/relationships/slide" Target="/ppt/slides/slide5.xml" Id="Rc9ee7bd768c54ca3" /><Relationship Type="http://schemas.openxmlformats.org/officeDocument/2006/relationships/slide" Target="/ppt/slides/slide6.xml" Id="R326e882ad5d042bd" /><Relationship Type="http://schemas.openxmlformats.org/officeDocument/2006/relationships/slide" Target="/ppt/slides/slide7.xml" Id="Rc846582963d245c8" /><Relationship Type="http://schemas.openxmlformats.org/officeDocument/2006/relationships/slide" Target="/ppt/slides/slide8.xml" Id="Rd89169a8f7f5478d" /><Relationship Type="http://schemas.openxmlformats.org/officeDocument/2006/relationships/slide" Target="/ppt/slides/slide9.xml" Id="R1689d7e09b4d4b60" /><Relationship Type="http://schemas.openxmlformats.org/officeDocument/2006/relationships/slide" Target="/ppt/slides/slide10.xml" Id="R62e44be21a5348a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466d0e890c34a7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b20e8b0dffa4910" /><Relationship Type="http://schemas.openxmlformats.org/officeDocument/2006/relationships/notesMaster" Target="/ppt/notesMasters/notesMaster1.xml" Id="R6e7318e7439e4ae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e5a752a08b64479" /><Relationship Type="http://schemas.openxmlformats.org/officeDocument/2006/relationships/notesMaster" Target="/ppt/notesMasters/notesMaster1.xml" Id="Ra4460c145ae14da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7b2ebd1740e4974" /><Relationship Type="http://schemas.openxmlformats.org/officeDocument/2006/relationships/notesMaster" Target="/ppt/notesMasters/notesMaster1.xml" Id="Ra63cc5bc79344f5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ea465cfdd1d4ff3" /><Relationship Type="http://schemas.openxmlformats.org/officeDocument/2006/relationships/notesMaster" Target="/ppt/notesMasters/notesMaster1.xml" Id="R74915e4b157b45a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2c1524f666442d3" /><Relationship Type="http://schemas.openxmlformats.org/officeDocument/2006/relationships/notesMaster" Target="/ppt/notesMasters/notesMaster1.xml" Id="Rb39d2ce076cb493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0b86347dacb4591" /><Relationship Type="http://schemas.openxmlformats.org/officeDocument/2006/relationships/notesMaster" Target="/ppt/notesMasters/notesMaster1.xml" Id="Rcb6b0a0b9c1c4ea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3442ebed37e4a26" /><Relationship Type="http://schemas.openxmlformats.org/officeDocument/2006/relationships/notesMaster" Target="/ppt/notesMasters/notesMaster1.xml" Id="R80aa18bd22f6498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27f75e24c2f4ac6" /><Relationship Type="http://schemas.openxmlformats.org/officeDocument/2006/relationships/notesMaster" Target="/ppt/notesMasters/notesMaster1.xml" Id="R31f7104f579042a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6af286343294da7" /><Relationship Type="http://schemas.openxmlformats.org/officeDocument/2006/relationships/notesMaster" Target="/ppt/notesMasters/notesMaster1.xml" Id="Rb3ae89b1ed9c444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f145ebb98aa4e7a" /><Relationship Type="http://schemas.openxmlformats.org/officeDocument/2006/relationships/notesMaster" Target="/ppt/notesMasters/notesMaster1.xml" Id="R6456d35922f144c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つかみ：現場の生映像をcloudへ集めず、局所適応で得た挙動だけを代理データへ変換したい。</a:t>
            </a:r>
          </a:p>
          <a:p xmlns:a="http://schemas.openxmlformats.org/drawingml/2006/main">
            <a:r>
              <a:t>ただし、代理化の入力となる局所更新自体が不安定なら、Layer 2が忠実でも有用な知識転移にはならない。</a:t>
            </a:r>
          </a:p>
          <a:p xmlns:a="http://schemas.openxmlformats.org/drawingml/2006/main">
            <a:r>
              <a:t>今回はNEXARの具体的な動画と実測値を使い、Layer 2の経路と、その前段で見つかった問題を説明する。</a:t>
            </a:r>
          </a:p>
          <a:p xmlns:a="http://schemas.openxmlformats.org/drawingml/2006/main">
            <a:r>
              <a:t>Source: notes/advisor/CURRENT.md; docs/fedpact_nexar_concrete_case_20260913.md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左はpositiveラベルのheld-out動画a8adfca63e、右はnegativeラベルのheld-out動画1db89ecde7。どちらも局所学習には未使用。</a:t>
            </a:r>
          </a:p>
          <a:p xmlns:a="http://schemas.openxmlformats.org/drawingml/2006/main">
            <a:r>
              <a:t>左はq(risk) 0.725→0.613、右は0.270→0.156。</a:t>
            </a:r>
          </a:p>
          <a:p xmlns:a="http://schemas.openxmlformats.org/drawingml/2006/main">
            <a:r>
              <a:t>単一フレームの見た目から因果特徴を断定しない。ここで言えるのは出力確率の変化だけ。</a:t>
            </a:r>
          </a:p>
          <a:p xmlns:a="http://schemas.openxmlformats.org/drawingml/2006/main">
            <a:r>
              <a:t>Source: artifacts/runs/fedpact_nexar_example/run_20260913_balanced_order101_risk_fullgrid/client_local/eval_trace.json; artifacts/datasets/frames/train/&lt;sample_id&gt;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今回の該当範囲はFedPACT実験計画の第I段階、Step I-AとStep I-Bの縦切り確認。三層3〜5 round接続やLayer 3更新は未実施。</a:t>
            </a:r>
          </a:p>
          <a:p xmlns:a="http://schemas.openxmlformats.org/drawingml/2006/main">
            <a:r>
              <a:t>client train、client held-out、server seedは同一split seed 42で固定し、ID重複なし。</a:t>
            </a:r>
          </a:p>
          <a:p xmlns:a="http://schemas.openxmlformats.org/drawingml/2006/main">
            <a:r>
              <a:t>今回のserver payloadにはtrainable update（client LoRA＋classification head）とclass-wise μ_post、Δμ、π、class_countを含める。private raw frameとsample IDは含めない。</a:t>
            </a:r>
          </a:p>
          <a:p xmlns:a="http://schemas.openxmlformats.org/drawingml/2006/main">
            <a:r>
              <a:t>PDFの基本protocolで用いる重みはπ。class_countは今回の実装schemaに併記した監査用fieldで、現runではπと同値。</a:t>
            </a:r>
          </a:p>
          <a:p xmlns:a="http://schemas.openxmlformats.org/drawingml/2006/main">
            <a:r>
              <a:t>Source: notes/advisor/sources/raw/2026-09-01/FedPACT実験計画260901.pdf pp.3-4; artifacts/runs/fedpact_nexar_example/run_20260913_balanced_order101_risk_fullgrid/client_local/data_splits.json; client_upload/server_payload.json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個別sampleをすべて表示し、平均だけの印象操作を避ける。order 101ではtrain 6本・held-out 6本がすべてnormal方向へ移動した。</a:t>
            </a:r>
          </a:p>
          <a:p xmlns:a="http://schemas.openxmlformats.org/drawingml/2006/main">
            <a:r>
              <a:t>ただし、この1順序だけでクラス非選択性を断定しない。次slideで学習順を変えた結果を示す。</a:t>
            </a:r>
          </a:p>
          <a:p xmlns:a="http://schemas.openxmlformats.org/drawingml/2006/main">
            <a:r>
              <a:t>Source: artifacts/runs/fedpact_nexar_example/run_20260913_balanced_order101_risk_fullgrid/client_local/private_trace.json; client_local/eval_trace.json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order 101は最初に詳細追跡用として固定し、202と303はその後に学習順感度を確認するため追加した。</a:t>
            </a:r>
          </a:p>
          <a:p xmlns:a="http://schemas.openxmlformats.org/drawingml/2006/main">
            <a:r>
              <a:t>batch size 1ではq_postとΔqの符号が学習順で反転。held-outのclass間差も改善・悪化が一貫しない。</a:t>
            </a:r>
          </a:p>
          <a:p xmlns:a="http://schemas.openxmlformats.org/drawingml/2006/main">
            <a:r>
              <a:t>batch size 1は6 optimizer steps、full-batch相当は6動画を同時に1 optimizer stepで更新した。総sample exposureは6に揃えたが、batch構成とoptimizer step数が交絡している。</a:t>
            </a:r>
          </a:p>
          <a:p xmlns:a="http://schemas.openxmlformats.org/drawingml/2006/main">
            <a:r>
              <a:t>共通方向shiftが小さくなった事実は示せるが、batch化が原因とはまだ言えない。次実験でoptimizer step数を記録・統制して切り分ける。</a:t>
            </a:r>
          </a:p>
          <a:p xmlns:a="http://schemas.openxmlformats.org/drawingml/2006/main">
            <a:r>
              <a:t>Source: run_20260913_balanced_order101_risk_fullgrid; run_20260913_balanced_order202_diagnostic; run_20260913_balanced_order303_diagnostic; run_20260913_balanced_fullbatch_diagnostic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3本それぞれのq_pre、q_post、Δqを先に示し、その平均がprototypeになることを明示する。</a:t>
            </a:r>
          </a:p>
          <a:p xmlns:a="http://schemas.openxmlformats.org/drawingml/2006/main">
            <a:r>
              <a:t>左からd626..., 95c3..., 06e2...。数値はriskクラス確率。μ_postとΔμは2クラス確率ベクトル。</a:t>
            </a:r>
          </a:p>
          <a:p xmlns:a="http://schemas.openxmlformats.org/drawingml/2006/main">
            <a:r>
              <a:t>π=3はrisk prototypeの平均に寄与したprivate sample数。−0.090だけを送るのではなく、確率和0を保つ2成分vector[+0.090,−0.090]として扱う。</a:t>
            </a:r>
          </a:p>
          <a:p xmlns:a="http://schemas.openxmlformats.org/drawingml/2006/main">
            <a:r>
              <a:t>実装payloadはtrainable updateにclient LoRAとclassification headを含み、prototypeにはπ（frequency）とclass_countを併記する。class_countはPDFの基本protocolにはない実装上の監査field。</a:t>
            </a:r>
          </a:p>
          <a:p xmlns:a="http://schemas.openxmlformats.org/drawingml/2006/main">
            <a:r>
              <a:t>Source: artifacts/runs/fedpact_nexar_example/run_20260913_balanced_order101_risk_fullgrid/client_local/private_trace.json; client_upload/server_payload.json; 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retrieval distanceはμ_postと連合集約後global surrogate M_G^{t+1}上のseed出力p_G^{t+1}(s)とのKL。画像空間の近さではなく、post behaviorの近さで順位付けする。</a:t>
            </a:r>
          </a:p>
          <a:p xmlns:a="http://schemas.openxmlformats.org/drawingml/2006/main">
            <a:r>
              <a:t>M_G^tは連合集約前、M_G^{t+1}は連合集約後のglobal surrogate。今回は1 clientなのでM_G^{t+1}は局所学習後surrogateと一致する。</a:t>
            </a:r>
          </a:p>
          <a:p xmlns:a="http://schemas.openxmlformats.org/drawingml/2006/main">
            <a:r>
              <a:t>全80候補を評価した結果、retrieval rank 6の4b8432de81 + center_crop(0.85)がL_match最小。</a:t>
            </a:r>
          </a:p>
          <a:p xmlns:a="http://schemas.openxmlformats.org/drawingml/2006/main">
            <a:r>
              <a:t>この結果はtop-1 retrievalを採用すべきでない可能性を示すが、seed数8の診断に限定される。大規模候補集合での効率評価は未実施。</a:t>
            </a:r>
          </a:p>
          <a:p xmlns:a="http://schemas.openxmlformats.org/drawingml/2006/main">
            <a:r>
              <a:t>Source: artifacts/runs/fedpact_nexar_example/run_20260913_balanced_order101_risk_fullgrid/server/layer2_trace.json; 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各候補は同じseed動画の全8フレームへ同一変換を適用している。ここでは説明用に最終フレームを表示。</a:t>
            </a:r>
          </a:p>
          <a:p xmlns:a="http://schemas.openxmlformats.org/drawingml/2006/main">
            <a:r>
              <a:t>選択基準はλ_post=λ_delta=1のL_matchのみ。proxy側のdeltaはp_G^{t+1}(x_tilde)-p_G^t(x_tilde)であり、client側のq^{post}-q^{pre}とは記号を分ける。</a:t>
            </a:r>
          </a:p>
          <a:p xmlns:a="http://schemas.openxmlformats.org/drawingml/2006/main">
            <a:r>
              <a:t>seed逸脱、自然性、時間一貫性、多様性のL_regとQinvは未導入。</a:t>
            </a:r>
          </a:p>
          <a:p xmlns:a="http://schemas.openxmlformats.org/drawingml/2006/main">
            <a:r>
              <a:t>したがってcenter crop 0.85は、定義した数値目的に最も近い候補であって、意味的妥当性が保証された代理画像ではない。</a:t>
            </a:r>
          </a:p>
          <a:p xmlns:a="http://schemas.openxmlformats.org/drawingml/2006/main">
            <a:r>
              <a:t>Source: artifacts/runs/fedpact_nexar_example/run_20260913_balanced_order101_risk_fullgrid/server/transformation_candidates; server/layer2_trace.json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riskとnormalの双方でclass-wise prototypeと数値上の最小proxy候補を生成し、P=(x_tilde, μ_post)として保存した。</a:t>
            </a:r>
          </a:p>
          <a:p xmlns:a="http://schemas.openxmlformats.org/drawingml/2006/main">
            <a:r>
              <a:t>risk側ではnormalラベルseed 4b8432de81が全80候補中のL_match最小。これはL_matchが意味的ラベル整合性を含まないことを示す。</a:t>
            </a:r>
          </a:p>
          <a:p xmlns:a="http://schemas.openxmlformats.org/drawingml/2006/main">
            <a:r>
              <a:t>ここから、same-class retrieval制約やL_reg / quality screeningを今後検討する根拠が得られた。ただし具体方式は未確定。</a:t>
            </a:r>
          </a:p>
          <a:p xmlns:a="http://schemas.openxmlformats.org/drawingml/2006/main">
            <a:r>
              <a:t>Source: run_20260913_balanced_order101_risk_fullgrid/server/proxy_pair.json; run_20260913_balanced_order101_normal_fullgrid/server/proxy_pair.json; summaries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結論を実装上と研究上に分ける。Layer 2の処理経路は通ったが、有用な知識転移を示してはいない。</a:t>
            </a:r>
          </a:p>
          <a:p xmlns:a="http://schemas.openxmlformats.org/drawingml/2006/main">
            <a:r>
              <a:t>最初に更新parameter、classification headの状態、各parameterの更新量、全runのq_pre一致を監査する。</a:t>
            </a:r>
          </a:p>
          <a:p xmlns:a="http://schemas.openxmlformats.org/drawingml/2006/main">
            <a:r>
              <a:t>その後、optimizer step数と総sample exposureを記録しながら層化mini-batchとgradient accumulationをscreeningする。multiple epochを先に増やさない。</a:t>
            </a:r>
          </a:p>
          <a:p xmlns:a="http://schemas.openxmlformats.org/drawingml/2006/main">
            <a:r>
              <a:t>複数学習順で安定性を確認し、安定してから2-clientとLayer 3へ進む。</a:t>
            </a:r>
          </a:p>
          <a:p xmlns:a="http://schemas.openxmlformats.org/drawingml/2006/main">
            <a:r>
              <a:t>Source: docs/fedpact_nexar_concrete_case_20260913.md; notes/advisor/sources/raw/2026-09-01/FedPACT実験計画260901.pdf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3c84b29b1149e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2cf437a0154430d" /><Relationship Type="http://schemas.openxmlformats.org/officeDocument/2006/relationships/slideLayout" Target="/ppt/slideLayouts/slideLayout1.xml" Id="Rcadc6f402aa841a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adc6f402aa841a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6c8253791d4196" /><Relationship Type="http://schemas.openxmlformats.org/officeDocument/2006/relationships/image" Target="/ppt/media/image.jpeg" Id="Rbdffbdaffac546e1" /><Relationship Type="http://schemas.openxmlformats.org/officeDocument/2006/relationships/notesSlide" Target="/ppt/notesSlides/notesSlide1.xml" Id="R5584b7295f28442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57947ef1804c95" /><Relationship Type="http://schemas.openxmlformats.org/officeDocument/2006/relationships/image" Target="/ppt/media/image2.jpeg" Id="R8642bbf875c94e49" /><Relationship Type="http://schemas.openxmlformats.org/officeDocument/2006/relationships/image" Target="/ppt/media/image3.jpeg" Id="R8a5956ffe4ed4ff2" /><Relationship Type="http://schemas.openxmlformats.org/officeDocument/2006/relationships/image" Target="/ppt/media/image4.jpeg" Id="Rcc7bebb237a041bd" /><Relationship Type="http://schemas.openxmlformats.org/officeDocument/2006/relationships/image" Target="/ppt/media/image5.jpeg" Id="Rbb8ede56a4844b4d" /><Relationship Type="http://schemas.openxmlformats.org/officeDocument/2006/relationships/image" Target="/ppt/media/image6.jpeg" Id="R487c749ce26a4bb5" /><Relationship Type="http://schemas.openxmlformats.org/officeDocument/2006/relationships/image" Target="/ppt/media/image7.jpeg" Id="R48d342bd67294d13" /><Relationship Type="http://schemas.openxmlformats.org/officeDocument/2006/relationships/image" Target="/ppt/media/image8.jpeg" Id="Rd0621201460a4a04" /><Relationship Type="http://schemas.openxmlformats.org/officeDocument/2006/relationships/image" Target="/ppt/media/image9.jpeg" Id="R3d102085b24f40a6" /><Relationship Type="http://schemas.openxmlformats.org/officeDocument/2006/relationships/notesSlide" Target="/ppt/notesSlides/notesSlide2.xml" Id="Rfc12acb2c4d443d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5e402a2bec422a" /><Relationship Type="http://schemas.openxmlformats.org/officeDocument/2006/relationships/image" Target="/ppt/media/image10.jpeg" Id="R094a6cfe6efa4eca" /><Relationship Type="http://schemas.openxmlformats.org/officeDocument/2006/relationships/image" Target="/ppt/media/image11.jpeg" Id="R3d2635ea42224cfe" /><Relationship Type="http://schemas.openxmlformats.org/officeDocument/2006/relationships/image" Target="/ppt/media/image12.jpeg" Id="R6695174e288e4198" /><Relationship Type="http://schemas.openxmlformats.org/officeDocument/2006/relationships/image" Target="/ppt/media/image13.jpeg" Id="R717c2676cfde4a15" /><Relationship Type="http://schemas.openxmlformats.org/officeDocument/2006/relationships/image" Target="/ppt/media/image14.jpeg" Id="R17b90801f9f14cc2" /><Relationship Type="http://schemas.openxmlformats.org/officeDocument/2006/relationships/image" Target="/ppt/media/image15.jpeg" Id="R10f7257d28434e04" /><Relationship Type="http://schemas.openxmlformats.org/officeDocument/2006/relationships/image" Target="/ppt/media/image16.jpeg" Id="Rfbecc01c8ec846d9" /><Relationship Type="http://schemas.openxmlformats.org/officeDocument/2006/relationships/image" Target="/ppt/media/image17.jpeg" Id="R6ade68b3aba6476c" /><Relationship Type="http://schemas.openxmlformats.org/officeDocument/2006/relationships/image" Target="/ppt/media/image18.jpeg" Id="R2cfd119b28664b0a" /><Relationship Type="http://schemas.openxmlformats.org/officeDocument/2006/relationships/image" Target="/ppt/media/image19.jpeg" Id="R7730ff9711d94d96" /><Relationship Type="http://schemas.openxmlformats.org/officeDocument/2006/relationships/image" Target="/ppt/media/image20.jpeg" Id="R13224564f920412a" /><Relationship Type="http://schemas.openxmlformats.org/officeDocument/2006/relationships/image" Target="/ppt/media/image21.jpeg" Id="R8471f38cf7104ac6" /><Relationship Type="http://schemas.openxmlformats.org/officeDocument/2006/relationships/notesSlide" Target="/ppt/notesSlides/notesSlide3.xml" Id="R9612df106bb2454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46a3ae9d1e4909" /><Relationship Type="http://schemas.openxmlformats.org/officeDocument/2006/relationships/notesSlide" Target="/ppt/notesSlides/notesSlide4.xml" Id="R5d8ded68d2d0484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7aec49948247f9" /><Relationship Type="http://schemas.openxmlformats.org/officeDocument/2006/relationships/notesSlide" Target="/ppt/notesSlides/notesSlide5.xml" Id="R8a60fba34be343c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98d234ef9c4386" /><Relationship Type="http://schemas.openxmlformats.org/officeDocument/2006/relationships/image" Target="/ppt/media/image22.jpeg" Id="Rb8996ff9c8d4491b" /><Relationship Type="http://schemas.openxmlformats.org/officeDocument/2006/relationships/image" Target="/ppt/media/image23.jpeg" Id="Rc2e650f717124611" /><Relationship Type="http://schemas.openxmlformats.org/officeDocument/2006/relationships/image" Target="/ppt/media/image24.jpeg" Id="R91b892a40d1e4b6c" /><Relationship Type="http://schemas.openxmlformats.org/officeDocument/2006/relationships/notesSlide" Target="/ppt/notesSlides/notesSlide6.xml" Id="Rfca9a53360a8409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4bb3ddc5cf414c" /><Relationship Type="http://schemas.openxmlformats.org/officeDocument/2006/relationships/image" Target="/ppt/media/image25.jpeg" Id="R44521b27fe304506" /><Relationship Type="http://schemas.openxmlformats.org/officeDocument/2006/relationships/image" Target="/ppt/media/image26.jpeg" Id="R6b5236b9af42416c" /><Relationship Type="http://schemas.openxmlformats.org/officeDocument/2006/relationships/image" Target="/ppt/media/image27.jpeg" Id="R797acbab43ef4aba" /><Relationship Type="http://schemas.openxmlformats.org/officeDocument/2006/relationships/image" Target="/ppt/media/image28.jpeg" Id="R6b12ba9b96ea4b33" /><Relationship Type="http://schemas.openxmlformats.org/officeDocument/2006/relationships/notesSlide" Target="/ppt/notesSlides/notesSlide7.xml" Id="R09131044c4b644c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a216ef9ba947cf" /><Relationship Type="http://schemas.openxmlformats.org/officeDocument/2006/relationships/image" Target="/ppt/media/image.png" Id="R46746b0ee25f416c" /><Relationship Type="http://schemas.openxmlformats.org/officeDocument/2006/relationships/image" Target="/ppt/media/image2.png" Id="Rb8b611da03884b0b" /><Relationship Type="http://schemas.openxmlformats.org/officeDocument/2006/relationships/image" Target="/ppt/media/image3.png" Id="R3a8752f957b94a95" /><Relationship Type="http://schemas.openxmlformats.org/officeDocument/2006/relationships/image" Target="/ppt/media/image4.png" Id="Rfe33dbd0f63c4c2e" /><Relationship Type="http://schemas.openxmlformats.org/officeDocument/2006/relationships/image" Target="/ppt/media/image5.png" Id="Rebb46e1827554b7b" /><Relationship Type="http://schemas.openxmlformats.org/officeDocument/2006/relationships/notesSlide" Target="/ppt/notesSlides/notesSlide8.xml" Id="R1435451684764bf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fc69a1522645db" /><Relationship Type="http://schemas.openxmlformats.org/officeDocument/2006/relationships/image" Target="/ppt/media/image6.png" Id="Raaffeb4767f540bb" /><Relationship Type="http://schemas.openxmlformats.org/officeDocument/2006/relationships/image" Target="/ppt/media/image7.png" Id="R6255f43d54864b59" /><Relationship Type="http://schemas.openxmlformats.org/officeDocument/2006/relationships/image" Target="/ppt/media/image8.png" Id="R6e19ac1a706f4008" /><Relationship Type="http://schemas.openxmlformats.org/officeDocument/2006/relationships/image" Target="/ppt/media/image9.png" Id="Ra7ccc37f180940d8" /><Relationship Type="http://schemas.openxmlformats.org/officeDocument/2006/relationships/image" Target="/ppt/media/image10.png" Id="R9c94af946c26498b" /><Relationship Type="http://schemas.openxmlformats.org/officeDocument/2006/relationships/image" Target="/ppt/media/image11.png" Id="R9891b7b5f8a94efd" /><Relationship Type="http://schemas.openxmlformats.org/officeDocument/2006/relationships/notesSlide" Target="/ppt/notesSlides/notesSlide9.xml" Id="R816d68fc8a8b405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097fa1c0b042d7" /><Relationship Type="http://schemas.openxmlformats.org/officeDocument/2006/relationships/notesSlide" Target="/ppt/notesSlides/notesSlide10.xml" Id="R93cc3ca144914c4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0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ffbdaffac546e1"/>
          <a:srcRect xmlns:a="http://schemas.openxmlformats.org/drawingml/2006/main" l="25391" t="0" r="2539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0"/>
            <a:ext cx="6000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BDB8C0-5B51-4E9D-87B0-CDE9CBC5C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191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A"/>
          </a:solidFill>
          <a:ln xmlns:a="http://schemas.openxmlformats.org/drawingml/2006/main" w="0">
            <a:solidFill>
              <a:srgbClr val="12304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42B05C-ACF0-494F-8E6D-4A32BF4B3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0"/>
            <a:ext cx="533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7A"/>
          </a:solidFill>
          <a:ln xmlns:a="http://schemas.openxmlformats.org/drawingml/2006/main" w="0">
            <a:solidFill>
              <a:srgbClr val="168A7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B44368-E65C-4AF9-9200-018B528C3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84D2C5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84D2C5"/>
                </a:solidFill>
                <a:latin typeface="BIZ UDPGothic"/>
                <a:ea typeface="BIZ UDPGothic"/>
                <a:cs typeface="BIZ UDPGothic"/>
              </a:rPr>
              <a:t>FedPACT / NEXAR concrete case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3B5936-2245-4FF3-A70A-133B957DD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19200"/>
            <a:ext cx="4762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35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Layer 2 動作確認と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5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35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局所更新の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5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35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順序依存性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66299B-764C-45AE-9F96-6B30983D6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DCE7EE"/>
                </a:solidFill>
                <a:latin typeface="BIZ UDPGothic"/>
                <a:ea typeface="BIZ UDPGothic"/>
                <a:cs typeface="BIZ UDPGothic"/>
              </a:defRPr>
            </a:pPr>
            <a:r>
              <a:rPr sz="1875" b="0">
                <a:solidFill>
                  <a:srgbClr val="DCE7EE"/>
                </a:solidFill>
                <a:latin typeface="BIZ UDPGothic"/>
                <a:ea typeface="BIZ UDPGothic"/>
                <a:cs typeface="BIZ UDPGothic"/>
              </a:rPr>
              <a:t>実動画の反応変化から、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DCE7EE"/>
                </a:solidFill>
                <a:latin typeface="BIZ UDPGothic"/>
                <a:ea typeface="BIZ UDPGothic"/>
                <a:cs typeface="BIZ UDPGothic"/>
              </a:defRPr>
            </a:pPr>
            <a:r>
              <a:rPr sz="1875" b="0">
                <a:solidFill>
                  <a:srgbClr val="DCE7EE"/>
                </a:solidFill>
                <a:latin typeface="BIZ UDPGothic"/>
                <a:ea typeface="BIZ UDPGothic"/>
                <a:cs typeface="BIZ UDPGothic"/>
              </a:rPr>
              <a:t>代理データ候補へ至る過程を追う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783020-84B5-430A-A97E-7DEE8A42D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626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A9BCC9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0">
                <a:solidFill>
                  <a:srgbClr val="A9BCC9"/>
                </a:solidFill>
                <a:latin typeface="BIZ UDPGothic"/>
                <a:ea typeface="BIZ UDPGothic"/>
                <a:cs typeface="BIZ UDPGothic"/>
              </a:rPr>
              <a:t>研究会説明用・診断実験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EBFEB4-5C1D-4E66-92BD-D98284F6B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4837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DCE7EE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0">
                <a:solidFill>
                  <a:srgbClr val="DCE7EE"/>
                </a:solidFill>
                <a:latin typeface="BIZ UDPGothic"/>
                <a:ea typeface="BIZ UDPGothic"/>
                <a:cs typeface="BIZ UDPGothic"/>
              </a:rPr>
              <a:t>YOSHIMURA Aoi   2026.09.13</a:t>
            </a:r>
          </a:p>
        </p:txBody>
      </p:sp>
    </p:spTree>
    <p:extLst>
      <p:ext uri="{BB962C8B-B14F-4D97-AF65-F5344CB8AC3E}">
        <p14:creationId xmlns:p14="http://schemas.microsoft.com/office/powerpoint/2010/main" val="10235993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0EB29BD-3F54-48A6-BC9F-5C1D3ECCE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同じ局所学習で、risk動画もnormal動画もrisk確率が下がった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0BCA1E-2155-4B75-A69A-F429286E5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57200"/>
            <a:ext cx="590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F57D91-7C31-476C-B86A-FA37448C4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7D1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D91B3D-EACB-4632-8A71-F45EA60D6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held-out 6本のうちrisk／normal各1本を例示。映像内容の違いより、共通方向の出力移動が目立つ。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72F448-3AF7-4A54-9E7D-86517967F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D95D45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D95D45"/>
                </a:solidFill>
                <a:latin typeface="BIZ UDPGothic"/>
                <a:ea typeface="BIZ UDPGothic"/>
                <a:cs typeface="BIZ UDPGothic"/>
              </a:rPr>
              <a:t>risk動画 / held-out</a:t>
            </a:r>
          </a:p>
        </p:txBody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42bbf875c94e49"/>
          <a:srcRect xmlns:a="http://schemas.openxmlformats.org/drawingml/2006/main" l="17857" t="0" r="1785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981200"/>
            <a:ext cx="1219200" cy="1066800"/>
          </a:xfrm>
          <a:prstGeom xmlns:a="http://schemas.openxmlformats.org/drawingml/2006/main" prst="rect">
            <a:avLst/>
          </a:prstGeom>
        </p:spPr>
      </p:pic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5956ffe4ed4ff2"/>
          <a:srcRect xmlns:a="http://schemas.openxmlformats.org/drawingml/2006/main" l="17857" t="0" r="1785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95475" y="1981200"/>
            <a:ext cx="1219200" cy="1066800"/>
          </a:xfrm>
          <a:prstGeom xmlns:a="http://schemas.openxmlformats.org/drawingml/2006/main" prst="rect">
            <a:avLst/>
          </a:prstGeom>
        </p:spPr>
      </p:pic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7bebb237a041bd"/>
          <a:srcRect xmlns:a="http://schemas.openxmlformats.org/drawingml/2006/main" l="17857" t="0" r="1785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81350" y="1981200"/>
            <a:ext cx="1219200" cy="1066800"/>
          </a:xfrm>
          <a:prstGeom xmlns:a="http://schemas.openxmlformats.org/drawingml/2006/main" prst="rect">
            <a:avLst/>
          </a:prstGeom>
        </p:spPr>
      </p:pic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8ede56a4844b4d"/>
          <a:srcRect xmlns:a="http://schemas.openxmlformats.org/drawingml/2006/main" l="17857" t="0" r="1785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67225" y="1981200"/>
            <a:ext cx="1219200" cy="10668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B03426-7327-456F-B1D7-9005FF63C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51435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EF"/>
          </a:solidFill>
          <a:ln xmlns:a="http://schemas.openxmlformats.org/drawingml/2006/main" w="0">
            <a:solidFill>
              <a:srgbClr val="E7EC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AE7F8B-C875-47CD-B4D5-84B921B9D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1416007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solidFill>
              <a:srgbClr val="2F6FA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959490-8962-44BB-BD2C-44BBD5944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607" y="3600450"/>
            <a:ext cx="3727493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45"/>
          </a:solidFill>
          <a:ln xmlns:a="http://schemas.openxmlformats.org/drawingml/2006/main" w="0">
            <a:solidFill>
              <a:srgbClr val="D95D4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333411-7193-418B-B4EF-0C0BA3891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62325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normal 0.275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97077E-E4AC-4403-9808-6B4C7526B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362325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75" b="0">
                <a:solidFill>
                  <a:srgbClr val="D95D45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D95D45"/>
                </a:solidFill>
                <a:latin typeface="BIZ UDPGothic"/>
                <a:ea typeface="BIZ UDPGothic"/>
                <a:cs typeface="BIZ UDPGothic"/>
              </a:rPr>
              <a:t>risk 0.725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892B83-8812-450B-B723-21FC0201B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局所学習前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98B8AA-0783-458D-936F-C406AB433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51435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EF"/>
          </a:solidFill>
          <a:ln xmlns:a="http://schemas.openxmlformats.org/drawingml/2006/main" w="0">
            <a:solidFill>
              <a:srgbClr val="E7EC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CD3E99-2553-492C-99DE-6AA16759F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199145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solidFill>
              <a:srgbClr val="2F6FA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EB7D57-A5A3-4D6F-B7D1-71E36EF0D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055" y="4352925"/>
            <a:ext cx="315204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45"/>
          </a:solidFill>
          <a:ln xmlns:a="http://schemas.openxmlformats.org/drawingml/2006/main" w="0">
            <a:solidFill>
              <a:srgbClr val="D95D4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477F1F-FE2D-4656-9AC3-62C787A65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normal 0.387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12575C-5E0B-4BEA-87E1-42534A5F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1148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75" b="0">
                <a:solidFill>
                  <a:srgbClr val="D95D45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D95D45"/>
                </a:solidFill>
                <a:latin typeface="BIZ UDPGothic"/>
                <a:ea typeface="BIZ UDPGothic"/>
                <a:cs typeface="BIZ UDPGothic"/>
              </a:rPr>
              <a:t>risk 0.613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D66F48-1045-488C-9115-D4A101F48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382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局所学習後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044E16-85D7-4429-AE2C-091F5179A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21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Δq(risk) = -0.112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9E0234-9C40-4EC9-A230-1F8E6DDCA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192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normal動画 / held-out</a:t>
            </a:r>
          </a:p>
        </p:txBody>
      </p:sp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7c749ce26a4bb5"/>
          <a:srcRect xmlns:a="http://schemas.openxmlformats.org/drawingml/2006/main" l="17857" t="0" r="1785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1981200"/>
            <a:ext cx="1219200" cy="1066800"/>
          </a:xfrm>
          <a:prstGeom xmlns:a="http://schemas.openxmlformats.org/drawingml/2006/main" prst="rect">
            <a:avLst/>
          </a:prstGeom>
        </p:spPr>
      </p:pic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d342bd67294d13"/>
          <a:srcRect xmlns:a="http://schemas.openxmlformats.org/drawingml/2006/main" l="17857" t="0" r="1785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77125" y="1981200"/>
            <a:ext cx="1219200" cy="1066800"/>
          </a:xfrm>
          <a:prstGeom xmlns:a="http://schemas.openxmlformats.org/drawingml/2006/main" prst="rect">
            <a:avLst/>
          </a:prstGeom>
        </p:spPr>
      </p:pic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621201460a4a04"/>
          <a:srcRect xmlns:a="http://schemas.openxmlformats.org/drawingml/2006/main" l="17857" t="0" r="1785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63000" y="1981200"/>
            <a:ext cx="1219200" cy="1066800"/>
          </a:xfrm>
          <a:prstGeom xmlns:a="http://schemas.openxmlformats.org/drawingml/2006/main" prst="rect">
            <a:avLst/>
          </a:prstGeom>
        </p:spPr>
      </p:pic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102085b24f40a6"/>
          <a:srcRect xmlns:a="http://schemas.openxmlformats.org/drawingml/2006/main" l="17857" t="0" r="1785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48875" y="1981200"/>
            <a:ext cx="1219200" cy="106680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EB8A19-FB1B-438F-96C9-A893D8365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00450"/>
            <a:ext cx="51435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EF"/>
          </a:solidFill>
          <a:ln xmlns:a="http://schemas.openxmlformats.org/drawingml/2006/main" w="0">
            <a:solidFill>
              <a:srgbClr val="E7ECE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F1CC2F-2D97-4916-A08E-14A9D8BF2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00450"/>
            <a:ext cx="3754954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solidFill>
              <a:srgbClr val="2F6FA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0BFCE1-E84B-455A-B6E4-197A9D356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6204" y="3600450"/>
            <a:ext cx="1388546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45"/>
          </a:solidFill>
          <a:ln xmlns:a="http://schemas.openxmlformats.org/drawingml/2006/main" w="0">
            <a:solidFill>
              <a:srgbClr val="D95D4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188A1F-5E3F-4199-BA0B-E6090B54E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62325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normal 0.730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14E1F9E-3EF8-438E-9FEF-21F7535B7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62325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75" b="0">
                <a:solidFill>
                  <a:srgbClr val="D95D45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D95D45"/>
                </a:solidFill>
                <a:latin typeface="BIZ UDPGothic"/>
                <a:ea typeface="BIZ UDPGothic"/>
                <a:cs typeface="BIZ UDPGothic"/>
              </a:rPr>
              <a:t>risk 0.270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B2753F3-7F4D-460B-9B8C-D3853ED2F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813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局所学習前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6623A5A-E177-4FC2-81B1-29BB09E5B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52925"/>
            <a:ext cx="51435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EF"/>
          </a:solidFill>
          <a:ln xmlns:a="http://schemas.openxmlformats.org/drawingml/2006/main" w="0">
            <a:solidFill>
              <a:srgbClr val="E7ECE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13D28AC-6D9B-4DC2-82AF-63256FCF6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52925"/>
            <a:ext cx="4340983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solidFill>
              <a:srgbClr val="2F6FA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4C813AD-0478-4DE7-9328-37D4943DF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2233" y="4352925"/>
            <a:ext cx="802517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45"/>
          </a:solidFill>
          <a:ln xmlns:a="http://schemas.openxmlformats.org/drawingml/2006/main" w="0">
            <a:solidFill>
              <a:srgbClr val="D95D4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082DAE4-407E-484B-AB30-10FE69357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148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normal 0.844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5393105-0C27-4B83-A22D-1FEB3004C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1148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75" b="0">
                <a:solidFill>
                  <a:srgbClr val="D95D45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D95D45"/>
                </a:solidFill>
                <a:latin typeface="BIZ UDPGothic"/>
                <a:ea typeface="BIZ UDPGothic"/>
                <a:cs typeface="BIZ UDPGothic"/>
              </a:rPr>
              <a:t>risk 0.156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EEB230B-505D-4EDC-AC75-B9AF040B0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3382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局所学習後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AC939FF-3AB4-450D-8EF8-6EB4B3CA7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14875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21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Δq(risk) = -0.114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936327E-0124-4724-AA91-6BFB30C2D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7251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8ECCE"/>
          </a:solidFill>
          <a:ln xmlns:a="http://schemas.openxmlformats.org/drawingml/2006/main" w="11430">
            <a:solidFill>
              <a:srgbClr val="D28B2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C2B3E5F-A97A-4987-A5AC-D1A527859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81650"/>
            <a:ext cx="1030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7A4A00"/>
                </a:solidFill>
                <a:latin typeface="BIZ UDPGothic"/>
                <a:ea typeface="BIZ UDPGothic"/>
                <a:cs typeface="BIZ UDPGothic"/>
              </a:defRPr>
            </a:pPr>
            <a:r>
              <a:rPr sz="1725" b="1">
                <a:solidFill>
                  <a:srgbClr val="7A4A00"/>
                </a:solidFill>
                <a:latin typeface="BIZ UDPGothic"/>
                <a:ea typeface="BIZ UDPGothic"/>
                <a:cs typeface="BIZ UDPGothic"/>
              </a:rPr>
              <a:t>この時点で「risk知識を学べた」とは言えない。まず局所更新の健全性を診断する必要がある。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77706BC-E703-4208-A56E-F0AC0F64A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held-out examples / order seed 101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74E3EEC-C54D-4D95-8542-C5B026836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8088448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CB6B700-E829-4165-8204-56F31ECBB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固定したデータ分割と、今回動かした範囲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F2590C-EC70-4C21-9237-679EF7E70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57200"/>
            <a:ext cx="590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3E5B28-72EB-4DF5-A311-64FEE8FD7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7D1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9F77A5-3D92-45FF-8BCB-B0EF303F1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4572000" cy="3638550"/>
          </a:xfrm>
          <a:prstGeom xmlns:a="http://schemas.openxmlformats.org/drawingml/2006/main" prst="roundRect">
            <a:avLst>
              <a:gd name="adj" fmla="val 2094"/>
            </a:avLst>
          </a:prstGeom>
          <a:solidFill xmlns:a="http://schemas.openxmlformats.org/drawingml/2006/main">
            <a:srgbClr val="DDF1EC"/>
          </a:solidFill>
          <a:ln xmlns:a="http://schemas.openxmlformats.org/drawingml/2006/main" w="11430">
            <a:solidFill>
              <a:srgbClr val="168A7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532AD3-8972-4A2F-9E25-E2F8FCA53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3448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rPr>
              <a:t>CLIENT PRIVATE TRAIN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1EF355-4F4F-4838-8736-68C728A6C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428750"/>
            <a:ext cx="76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2100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defRPr>
            </a:pPr>
            <a:r>
              <a:rPr sz="2100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rPr>
              <a:t>6本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961AA6-DC94-437E-9E1D-0DD49A0F1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295400"/>
            <a:ext cx="2571750" cy="36385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E5EFF8"/>
          </a:solidFill>
          <a:ln xmlns:a="http://schemas.openxmlformats.org/drawingml/2006/main" w="11430">
            <a:solidFill>
              <a:srgbClr val="2F6FA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75F4A0-6B7A-413E-9959-7F58C8BA5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46685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CLIENT HELD-OUT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726DE4-3878-4675-81EC-A4292BE05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428750"/>
            <a:ext cx="76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21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21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6本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B699FC-BA23-4FAE-BEDC-559504C0B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295400"/>
            <a:ext cx="3333750" cy="36385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8ECCE"/>
          </a:solidFill>
          <a:ln xmlns:a="http://schemas.openxmlformats.org/drawingml/2006/main" w="11430">
            <a:solidFill>
              <a:srgbClr val="D28B2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150B92-91B7-4FBB-838C-55F15FB92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466850"/>
            <a:ext cx="220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D28B23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D28B23"/>
                </a:solidFill>
                <a:latin typeface="BIZ UDPGothic"/>
                <a:ea typeface="BIZ UDPGothic"/>
                <a:cs typeface="BIZ UDPGothic"/>
              </a:rPr>
              <a:t>SERVER SEED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BA3804-32C1-42B3-847F-F08010D5E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1428750"/>
            <a:ext cx="76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2100" b="1">
                <a:solidFill>
                  <a:srgbClr val="D28B23"/>
                </a:solidFill>
                <a:latin typeface="BIZ UDPGothic"/>
                <a:ea typeface="BIZ UDPGothic"/>
                <a:cs typeface="BIZ UDPGothic"/>
              </a:defRPr>
            </a:pPr>
            <a:r>
              <a:rPr sz="2100" b="1">
                <a:solidFill>
                  <a:srgbClr val="D28B23"/>
                </a:solidFill>
                <a:latin typeface="BIZ UDPGothic"/>
                <a:ea typeface="BIZ UDPGothic"/>
                <a:cs typeface="BIZ UDPGothic"/>
              </a:rPr>
              <a:t>8本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4a6cfe6efa4eca"/>
          <a:srcRect xmlns:a="http://schemas.openxmlformats.org/drawingml/2006/main" l="11188" t="0" r="111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" y="2000250"/>
            <a:ext cx="1314450" cy="952500"/>
          </a:xfrm>
          <a:prstGeom xmlns:a="http://schemas.openxmlformats.org/drawingml/2006/main" prst="rect">
            <a:avLst/>
          </a:prstGeom>
        </p:spPr>
      </p:pic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2635ea42224cfe"/>
          <a:srcRect xmlns:a="http://schemas.openxmlformats.org/drawingml/2006/main" l="11188" t="0" r="111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" y="3390900"/>
            <a:ext cx="1314450" cy="952500"/>
          </a:xfrm>
          <a:prstGeom xmlns:a="http://schemas.openxmlformats.org/drawingml/2006/main" prst="rect">
            <a:avLst/>
          </a:prstGeom>
        </p:spPr>
      </p:pic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95174e288e4198"/>
          <a:srcRect xmlns:a="http://schemas.openxmlformats.org/drawingml/2006/main" l="11188" t="0" r="111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00275" y="2000250"/>
            <a:ext cx="1314450" cy="952500"/>
          </a:xfrm>
          <a:prstGeom xmlns:a="http://schemas.openxmlformats.org/drawingml/2006/main" prst="rect">
            <a:avLst/>
          </a:prstGeom>
        </p:spPr>
      </p:pic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7c2676cfde4a15"/>
          <a:srcRect xmlns:a="http://schemas.openxmlformats.org/drawingml/2006/main" l="11188" t="0" r="111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00275" y="3390900"/>
            <a:ext cx="1314450" cy="952500"/>
          </a:xfrm>
          <a:prstGeom xmlns:a="http://schemas.openxmlformats.org/drawingml/2006/main" prst="rect">
            <a:avLst/>
          </a:prstGeom>
        </p:spPr>
      </p:pic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b90801f9f14cc2"/>
          <a:srcRect xmlns:a="http://schemas.openxmlformats.org/drawingml/2006/main" l="11188" t="0" r="111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19500" y="2000250"/>
            <a:ext cx="1314450" cy="952500"/>
          </a:xfrm>
          <a:prstGeom xmlns:a="http://schemas.openxmlformats.org/drawingml/2006/main" prst="rect">
            <a:avLst/>
          </a:prstGeom>
        </p:spPr>
      </p:pic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f7257d28434e04"/>
          <a:srcRect xmlns:a="http://schemas.openxmlformats.org/drawingml/2006/main" l="11188" t="0" r="111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19500" y="3390900"/>
            <a:ext cx="1314450" cy="95250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2C1D00-0467-4502-AA6C-DA2CC9BA7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D95D45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D95D45"/>
                </a:solidFill>
                <a:latin typeface="BIZ UDPGothic"/>
                <a:ea typeface="BIZ UDPGothic"/>
                <a:cs typeface="BIZ UDPGothic"/>
              </a:rPr>
              <a:t>risk ×3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9D4A7A-4A12-46B0-90E6-6D5E58D1B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813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normal ×3</a:t>
            </a:r>
          </a:p>
        </p:txBody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ecc01c8ec846d9"/>
          <a:srcRect xmlns:a="http://schemas.openxmlformats.org/drawingml/2006/main" l="15625" t="0" r="156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2095500"/>
            <a:ext cx="1047750" cy="857250"/>
          </a:xfrm>
          <a:prstGeom xmlns:a="http://schemas.openxmlformats.org/drawingml/2006/main" prst="rect">
            <a:avLst/>
          </a:prstGeom>
        </p:spPr>
      </p:pic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de68b3aba6476c"/>
          <a:srcRect xmlns:a="http://schemas.openxmlformats.org/drawingml/2006/main" l="15625" t="0" r="156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81800" y="2095500"/>
            <a:ext cx="1047750" cy="85725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9B93B2-CC68-4112-A0D2-38B2A7F5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19450"/>
            <a:ext cx="2209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risk ×3 / normal ×3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学習・prototype・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server検索に未使用</a:t>
            </a:r>
          </a:p>
        </p:txBody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fd119b28664b0a"/>
          <a:srcRect xmlns:a="http://schemas.openxmlformats.org/drawingml/2006/main" l="11599" t="0" r="1159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29625" y="2038350"/>
            <a:ext cx="1352550" cy="990600"/>
          </a:xfrm>
          <a:prstGeom xmlns:a="http://schemas.openxmlformats.org/drawingml/2006/main" prst="rect">
            <a:avLst/>
          </a:prstGeom>
        </p:spPr>
      </p:pic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30ff9711d94d96"/>
          <a:srcRect xmlns:a="http://schemas.openxmlformats.org/drawingml/2006/main" l="11599" t="0" r="1159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96475" y="2038350"/>
            <a:ext cx="1352550" cy="990600"/>
          </a:xfrm>
          <a:prstGeom xmlns:a="http://schemas.openxmlformats.org/drawingml/2006/main" prst="rect">
            <a:avLst/>
          </a:prstGeom>
        </p:spPr>
      </p:pic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224564f920412a"/>
          <a:srcRect xmlns:a="http://schemas.openxmlformats.org/drawingml/2006/main" l="11599" t="0" r="1159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29625" y="3257550"/>
            <a:ext cx="1352550" cy="990600"/>
          </a:xfrm>
          <a:prstGeom xmlns:a="http://schemas.openxmlformats.org/drawingml/2006/main" prst="rect">
            <a:avLst/>
          </a:prstGeom>
        </p:spPr>
      </p:pic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71f38cf7104ac6"/>
          <a:srcRect xmlns:a="http://schemas.openxmlformats.org/drawingml/2006/main" l="11599" t="0" r="1159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96475" y="3257550"/>
            <a:ext cx="1352550" cy="99060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2F2098-7A63-4E20-8D1E-560D3712D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343400"/>
            <a:ext cx="295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risk ×4 / normal ×4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clientへ配布しないcloud-only pool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802A58-C1D1-4CBF-8BDC-F04C5A49E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E851BE-16B9-40C2-904F-94E8ACFF8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6257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Qwen2.5-VL-3B / fixed checkpoint  |  split seed 42  |  LoRA + classification head更新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2340514-A5A0-4F84-8D0B-E9F69E434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1057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Step I-A → I-B  |  q・μ・Δμ = softmax確率  |  λpost = λΔ = 1  |  Lreg未導入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E736AE4-F7E8-40AD-B1E2-B057171A3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固定split・ID重複なし・private raw data非送信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30806E9-6DB7-43C7-B722-66675F011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398875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6B456BF-DE44-49DA-9970-77D406E21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order 101では、12本すべてがnormal側へ移動した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8EDD54-B2AD-4D30-B0D5-CB8930972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57200"/>
            <a:ext cx="590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04D6A5-ECCA-42CD-B7CB-E06B2F6EC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7D1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687DC8-B123-4BA0-8EAF-FB52817DF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private train 6本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9C38FF-C084-4458-A367-D58120404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000625"/>
            <a:ext cx="414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C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4E28CD-7A42-44AF-8A32-3CD5EBFB5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0.0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40858C-EAC5-40CD-99DD-F4549DFB1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62325"/>
            <a:ext cx="414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BC594E-CFA8-449B-872C-A0876BB55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0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0.5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956E9D-79CE-47EE-AAFD-F2A6B881C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24025"/>
            <a:ext cx="414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C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957884-DB12-4D31-841A-D708E96C0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1.0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1063DA-E229-4D1D-B989-06E79B8BD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382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q(risk)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7CBA22-50EE-43EC-9151-0A881ECFF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1339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qᵖʳᵉ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513C8D-CD89-4D28-9E97-8DC3382F7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133975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qᵖᵒˢᵗ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33CBAE-C69E-48F4-8F49-3B37AB459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474678"/>
            <a:ext cx="3409950" cy="5845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95D4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827DFD-E4A4-4E3B-8B34-715A250F0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42705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4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455928-4AA8-4092-81DD-8B09513BB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48550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4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B7D71F-7F60-4A43-93EF-4C8D85B1B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170447"/>
            <a:ext cx="3409950" cy="38614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95D4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8BFB60-0350-4A38-9C09-80B18467F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3122822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4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707F1D-5BC9-420E-896F-575185F13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50896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4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842DEB-75B8-4C2F-A2AB-57F279BAA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189211"/>
            <a:ext cx="3409950" cy="37112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2F6FA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39F3B1-6829-4835-B119-351C3998E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414158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954118-C634-41E1-AF01-5B8536C5D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51271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F8F851-E48A-4587-867B-C1001D138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527825"/>
            <a:ext cx="3409950" cy="30323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2F6FA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E5862B-A94E-4141-8096-4A9ECC85C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4480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DEE1F6-BF08-41FB-9375-0E34E54D9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783432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EC1491-40D2-46D3-8262-485C4F4AA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620635"/>
            <a:ext cx="3409950" cy="43667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95D4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5F8749-849C-4316-ACDA-7C2A1661C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57301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4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F957D4-30C6-4770-9389-518B00AA8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00968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4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725021-0CF9-40F6-A040-898F07959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935232"/>
            <a:ext cx="3409950" cy="69498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2F6FA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2CF508-C4F7-4AC4-93F0-70433FF82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887607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E003069-5757-43AA-8BB5-D850E0F0F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58259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22E3A7D-2247-4E38-A61F-35C1C3C5C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285875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held-out 6本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0DC33C3-5226-4B24-A276-56DAA87B7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000625"/>
            <a:ext cx="414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CE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544CEF-C1EC-48B2-ACA8-236A0E280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9053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0.0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0DF6B81-543E-45BB-B574-62E3FC32E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362325"/>
            <a:ext cx="414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4BAEB20-CACB-4036-A1FC-7EE5E251D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670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0.5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278C97F-7514-412B-8745-ED3FDC52A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724025"/>
            <a:ext cx="414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CE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38167A6-A64F-4B8B-8437-6748B195A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287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1.0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E0E6414-5CCD-41F5-8AFC-0F896D150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382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q(risk)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039FDA3-230D-4083-9C76-3F82111B9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1339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qᵖʳᵉ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A9CB4A8-39E4-445E-9AAF-EE7131059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133975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qᵖᵒˢᵗ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5BC347F-D0AF-4E7D-B4C4-A97D7A7AD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626074"/>
            <a:ext cx="3409950" cy="3665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95D4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12DD51D-EC87-4BA1-BF04-CE4687086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57844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4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077FE6E-84C3-4CA3-B8E2-ADE5A80F0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294503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4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F045234-3C4E-4753-B492-840FFE047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116070"/>
            <a:ext cx="3409950" cy="3733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2F6FA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4035E8F-8A0B-4208-AC00-1B81F538D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06844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60022CA-53D2-40C8-8E7A-EC7C79D9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4441767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F46B7E0-4202-42FD-ACAE-4C1D7D3C2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267616"/>
            <a:ext cx="3409950" cy="38107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2F6FA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E5955F5-D479-4CB5-A5EE-DC5EAD99B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21999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406AA7E-380A-4A05-BDA6-922D8A102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460106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3FD0D5A-A9F9-4558-9435-64BFCE6DF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434049"/>
            <a:ext cx="3409950" cy="24158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2F6FA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B65A2EF-A1FE-4103-9FF6-B92FA2EF7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386424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9EAE95F-21A6-427D-89CC-AF6BECF20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462800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A5132CF-EE9F-4D55-8F7A-182B06070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300608"/>
            <a:ext cx="3409950" cy="51167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95D4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75013AD-3AC4-4846-95F3-D683F3F6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25298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4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F95594D-006D-4C37-83E0-CA38D1F35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376466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4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EF376CE-81AF-46E5-9725-06070AF94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217488"/>
            <a:ext cx="3409950" cy="39641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95D4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2DF25F9-741D-465D-96D8-EFCF6076F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16986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4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CFA4F60-9CF1-482B-8170-8E62D6F12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356628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4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15BEA67-4F06-4F77-8928-AA9556261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8966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5906876-BF0E-4BD7-8055-32791D918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388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平均Δq(risk)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9C61B65-7DD6-47AE-B65C-59DDD5C5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56260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train normal −0.139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train risk −0.090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92186D5-048F-45AE-8BD1-F047CA6A9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56260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held-out normal −0.101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held-out risk −0.130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0A8A7F3-7EFE-48B5-8908-9F4D38A71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12395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D95D45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1">
                <a:solidFill>
                  <a:srgbClr val="D95D45"/>
                </a:solidFill>
                <a:latin typeface="BIZ UDPGothic"/>
                <a:ea typeface="BIZ UDPGothic"/>
                <a:cs typeface="BIZ UDPGothic"/>
              </a:rPr>
              <a:t>risk label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96117F2-4BEA-44EE-B436-463A945BD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1123950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normal label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0E76ECA-2BD6-4163-8D69-182303F82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赤=risk label　青=normal label　縦軸=q(risk)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30B88DD-693E-404C-A7DF-CF7F1B289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440980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22357697-939C-4B1F-929D-521691D6A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学習順だけでΔqの符号が反転した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6EBED1-64D3-4758-B682-54860E641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57200"/>
            <a:ext cx="590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A304B1-B1F0-4EDF-9B33-3002CB5B9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7D1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3A007E-76A8-4540-BD85-D82B39454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809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0A5417-77B7-423E-A00B-BD09D58A0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695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平均q(risk)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7DBD10-D17B-46A9-8C24-6DB206A0A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381125"/>
            <a:ext cx="1047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F6EB59-040F-4B53-A546-A33A5BB95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438275"/>
            <a:ext cx="933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pre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71DD47-5F19-4119-8BE3-C38A3D0CF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381125"/>
            <a:ext cx="2000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AC7F42-B572-418B-9A47-70AF471C4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38275"/>
            <a:ext cx="1885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order 101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7C25FB-1565-458A-BAEA-813D1678A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381125"/>
            <a:ext cx="2000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A15CDD-CDE1-48CE-BAC5-97CF5DD63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438275"/>
            <a:ext cx="1885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order 202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EE325D-699E-4753-B95A-638BEA137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381125"/>
            <a:ext cx="2000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C74899-7348-4179-9E8D-41807246D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38275"/>
            <a:ext cx="1885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order 303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19A8A3-A561-4896-82BD-21623E424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381125"/>
            <a:ext cx="21145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139C8B-647A-4033-BF40-92755FCFC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43827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full-batch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CCBFB5-5BBB-421F-A5AD-819C2666B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1809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7A7836-38E7-4DE8-ADA3-ED764B9FD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62150"/>
            <a:ext cx="1695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train normal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B3E654-9E46-4F3A-817D-402F586C5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905000"/>
            <a:ext cx="1047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A8BC50-2E90-4A3A-83C7-FFE0C22BE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62150"/>
            <a:ext cx="933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0.341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D2F7BF-0E65-4216-9CE5-EE032D66C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905000"/>
            <a:ext cx="2000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2197D9-04EA-4FA3-B97F-A29CCF52B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62150"/>
            <a:ext cx="1885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0.201 (-0.139)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A9372E-6AAB-4F66-B45A-0107E77DD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905000"/>
            <a:ext cx="2000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E0C889-1D52-42DD-B208-CE3FFEB53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962150"/>
            <a:ext cx="1885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0.403 (+0.062)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1A5475-9587-49E9-A7A0-B80AE5FCE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905000"/>
            <a:ext cx="2000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32CED3-D12D-4195-8A95-B63DA2A94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62150"/>
            <a:ext cx="1885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0.150 (-0.191)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02974F-EF5A-4621-87F4-98C92D39C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905000"/>
            <a:ext cx="21145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48A906-52E2-4C06-AFCD-FAAFBF3C8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962150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0.300 (-0.041)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CB132B-17F1-4583-BE3E-8B9C5868D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1809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F0DBA1-A158-46BA-8E2E-D7533257D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695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train risk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EF25DA1-BE64-4638-9482-7E6EC0EDE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428875"/>
            <a:ext cx="1047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87AC40-A920-464A-952B-876F4A4AC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486025"/>
            <a:ext cx="933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0.685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8C07656-C7B0-4DCE-9A3B-BFA23B483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428875"/>
            <a:ext cx="2000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3EBD143-CAFA-4BCC-860C-6EB2362A4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86025"/>
            <a:ext cx="1885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0.596 (-0.090)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703D9A1-9418-491C-B9E7-DBEDA8A1E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428875"/>
            <a:ext cx="2000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C246DC3-4127-4222-9969-75470BB90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486025"/>
            <a:ext cx="1885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0.845 (+0.160)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CEEEE4C-6CAE-4790-9325-67E2C6C27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428875"/>
            <a:ext cx="2000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71D677B-6CDE-4BA0-8A59-1B35F374F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86025"/>
            <a:ext cx="1885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0.491 (-0.194)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6DFFDA1-360C-4BA0-90D1-CD93486E5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428875"/>
            <a:ext cx="21145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FE19026-69A7-4A8D-A476-E53D1C245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8602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0.698 (+0.013)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C72D84F-4B17-4015-9B87-6D52C5C7F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1809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000ACE5-55C7-4F60-9C38-8E03CB526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9900"/>
            <a:ext cx="1695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held-out normal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B672301-38F3-408E-BE31-D467FCF76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952750"/>
            <a:ext cx="1047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6D93092-D9D7-4D71-8A15-02959829E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09900"/>
            <a:ext cx="933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0.222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2A2C45B-445B-4AD7-83DB-AEDFB71DB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952750"/>
            <a:ext cx="2000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88D3D69-D4AD-4C10-8107-7C9B43B3B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09900"/>
            <a:ext cx="1885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0.121 (-0.101)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F65EE39-26A6-440D-9A2C-D109620BA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952750"/>
            <a:ext cx="2000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21A5179-78D7-4F95-822E-1A2E7C3C3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009900"/>
            <a:ext cx="1885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0.297 (+0.075)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CB52076-CBE8-4889-BE01-45A2EBE02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952750"/>
            <a:ext cx="2000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72FAB65-825A-4415-939F-CE0F4437F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09900"/>
            <a:ext cx="1885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0.080 (-0.143)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B897014-1B0C-44F7-865E-3C67AC950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952750"/>
            <a:ext cx="21145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CF245B3-538E-4DE5-8A8F-3010384B7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09900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0.201 (-0.021)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F4CDF69-E94A-40A7-BD52-CF3FA6F4C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809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553FB84-A3D9-4DC8-8842-FD673C6D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33775"/>
            <a:ext cx="1695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held-out risk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A0C87F7-4383-4B52-BC87-A890EC38B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476625"/>
            <a:ext cx="1047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67B1B6D-D936-4A60-BCD4-9D035DEA2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533775"/>
            <a:ext cx="933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0.596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A17DF2B-BE2F-4437-90B2-0EA6E2429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476625"/>
            <a:ext cx="2000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20136AF-637E-41A5-A5DD-AB3414A8D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533775"/>
            <a:ext cx="1885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0.466 (-0.130)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D4D561C-F3D2-461C-B320-B1BDAEFF8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476625"/>
            <a:ext cx="2000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1B9FDB5-808F-42B4-BC55-922B4208D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533775"/>
            <a:ext cx="1885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0.707 (+0.111)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91A5EE8-CE63-4735-BA17-268F6B124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476625"/>
            <a:ext cx="2000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1F6010A-7DEA-4D34-A992-42B8C5303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533775"/>
            <a:ext cx="1885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0.350 (-0.246)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D4F5259-59ED-4E2F-9E33-D81FA44ED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476625"/>
            <a:ext cx="21145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20F7687-90F4-49CD-BE9A-D9445B892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53377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0.576 (-0.020)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97D9B88-B606-466D-B314-158C270AE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class間差 = mean q(risk | risk) − mean q(risk | normal)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85DF679-A31A-4DC7-AC49-B6DE56049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10D0B7F-6C52-47B5-A16E-53AF9CD4D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29150"/>
            <a:ext cx="1600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class間差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DCBAE17-29B2-42AB-9D1E-D702F7714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57200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0A49B3B-E6ED-40CC-B917-4E3B227EF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629150"/>
            <a:ext cx="933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pre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D06240B-74A9-4A81-9B2A-377350239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57200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9172DE1-6FC3-495C-9FCA-029955C3D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629150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101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A992A47-5A82-452D-81F3-86C1A7C3A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57200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B044725-5E8C-4FA0-AFD8-DE70C9ED1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629150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202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EADEA7F-AB6D-46E3-BC20-588861815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57200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446BDA5-69D5-46D4-903D-59DCF05D6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629150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303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3CE4BF7-36D1-4823-94A6-398FE0426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57200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C62A7E3-CEBF-4B29-84F3-FE0F8D1E5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629150"/>
            <a:ext cx="1219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full-batch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A41A1B4-6C99-494F-B3AF-E72481B1A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A9F6EB0-CB1F-4D2E-BEF7-1399A0DBB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29200"/>
            <a:ext cx="1600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train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CD5ECB7-A852-4CAE-BDAE-F78A7BFD3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97205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A094CB4-0331-4880-9050-5821BAF85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29200"/>
            <a:ext cx="933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0.345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52413D3-DB57-4FF4-9A87-1E8D98797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97205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CEC2EC83-918B-44C1-894B-95433EC19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029200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0.394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23CFA54B-507E-4287-A9F4-FC7E2AD3C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97205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BEE70F9C-C5A8-4814-85AF-B9576419A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029200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0.442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4C0E200C-90E5-4BB0-994F-FCA338616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97205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C6F38BF6-F59B-4060-BA4C-C19BBA17B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029200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0.342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0CB911FA-7B70-41E9-875B-093AB9608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97205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AED03A50-401B-4BE5-A0AC-2533B7DF6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029200"/>
            <a:ext cx="1219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0.398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56C8D1B0-A3B9-47F2-90BF-F0E24170C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BF163826-C152-43DC-A7BB-7A43E5B0E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1600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held-out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61B93C0A-DB4A-42F1-8581-DDF9059F4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37210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57EBF1F2-4E60-43F1-93C4-22654FB1B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429250"/>
            <a:ext cx="933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0.374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E62BDEA7-D6DC-4A55-A5F7-4ADBF74A8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37210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BE31461-A269-4717-BE69-64E23F19B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429250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0.345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2D30D822-8D98-4B79-A696-A6796A347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37210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4743097C-3454-48A0-B643-29E2582AD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429250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0.409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D542226D-5866-4A15-BE98-A6D540039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37210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E4003BD6-9C50-4CAB-B6C9-3CBDF7D5C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429250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0.271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1985B6FB-205B-48A9-BA2A-A367D19CD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37210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2396A195-9378-4FCE-ACF8-303C91245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429250"/>
            <a:ext cx="1219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0.375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D9B313C4-A36E-4080-977D-560F5592A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438650"/>
            <a:ext cx="28765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8ECCE"/>
          </a:solidFill>
          <a:ln xmlns:a="http://schemas.openxmlformats.org/drawingml/2006/main" w="9525">
            <a:solidFill>
              <a:srgbClr val="D28B23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929E0FF5-3A45-4436-B362-37DAEAC24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600575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7A4A00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7A4A00"/>
                </a:solidFill>
                <a:latin typeface="BIZ UDPGothic"/>
                <a:ea typeface="BIZ UDPGothic"/>
                <a:cs typeface="BIZ UDPGothic"/>
              </a:rPr>
              <a:t>診断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3BFAA03A-4D82-43E5-91FC-E6EDE4EAD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895850"/>
            <a:ext cx="24574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batch 1：順序で符号反転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6本同時：shift縮小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原因は未分離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91E3F026-75DA-4F99-8C3D-144383E79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同じsplit・checkpoint・sample exposure=6 / class間差は非丸め値から算出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0ACBA7DA-EBEC-4738-A127-084DC4050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0243480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F36B91-AC57-46F2-B0EB-EC7CF4D31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risk 3本の反応を平均し、送信prototypeを作る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73D3FC-9D95-4F1C-8357-B36A8DB69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57200"/>
            <a:ext cx="590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3334EB-EBE7-4EA9-9A9A-E23E806F6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7D1D9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996ff9c8d4491b"/>
          <a:srcRect xmlns:a="http://schemas.openxmlformats.org/drawingml/2006/main" l="4250" t="0" r="42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428750"/>
            <a:ext cx="2324100" cy="1428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3876A5-4C67-4F72-B734-565D8B6BE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232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d626422e71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85C499-6742-466C-BDC7-A3F29639A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2324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D95D45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1">
                <a:solidFill>
                  <a:srgbClr val="D95D45"/>
                </a:solidFill>
                <a:latin typeface="BIZ UDPGothic"/>
                <a:ea typeface="BIZ UDPGothic"/>
                <a:cs typeface="BIZ UDPGothic"/>
              </a:rPr>
              <a:t>0.771 → 0.753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93E6C1-C349-4754-9987-C8A0885C8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2324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Δq(risk) -0.018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e650f717124611"/>
          <a:srcRect xmlns:a="http://schemas.openxmlformats.org/drawingml/2006/main" l="4250" t="0" r="42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81350" y="1428750"/>
            <a:ext cx="2324100" cy="1428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5DF8FB-81DC-4C70-9834-263831D45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952750"/>
            <a:ext cx="232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95c3bf1ba2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BF4F7C-946E-4D1D-A5C6-E5463DDC7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257550"/>
            <a:ext cx="2324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D95D45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1">
                <a:solidFill>
                  <a:srgbClr val="D95D45"/>
                </a:solidFill>
                <a:latin typeface="BIZ UDPGothic"/>
                <a:ea typeface="BIZ UDPGothic"/>
                <a:cs typeface="BIZ UDPGothic"/>
              </a:rPr>
              <a:t>0.559 → 0.441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F0B251-51F2-49BF-AA6B-692DD2259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619500"/>
            <a:ext cx="2324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Δq(risk) -0.118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b892a40d1e4b6c"/>
          <a:srcRect xmlns:a="http://schemas.openxmlformats.org/drawingml/2006/main" l="4250" t="0" r="42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53100" y="1428750"/>
            <a:ext cx="2324100" cy="14287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EEF5E7-B387-4B41-B045-7A15A123A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952750"/>
            <a:ext cx="232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06e20a0fd0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DFEB75-527E-4498-86EA-B11A3C7A8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257550"/>
            <a:ext cx="2324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D95D45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1">
                <a:solidFill>
                  <a:srgbClr val="D95D45"/>
                </a:solidFill>
                <a:latin typeface="BIZ UDPGothic"/>
                <a:ea typeface="BIZ UDPGothic"/>
                <a:cs typeface="BIZ UDPGothic"/>
              </a:rPr>
              <a:t>0.726 → 0.593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147840-74D2-4D3D-BC38-F6C1F04D9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619500"/>
            <a:ext cx="2324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Δq(risk) -0.133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688DFC-2335-44F7-8201-E48DC6B02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371600"/>
            <a:ext cx="308610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DDF1EC"/>
          </a:solidFill>
          <a:ln xmlns:a="http://schemas.openxmlformats.org/drawingml/2006/main" w="11430">
            <a:solidFill>
              <a:srgbClr val="168A7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8E8914-746F-4080-AA56-07C48BFDB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5811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rPr>
              <a:t>risk prototype / order 101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C4FFB9-3C3B-4E37-B5D3-2F4721FA2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1145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8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μᵖᵒˢᵗₖ,ᵣ = [0.404, 0.596]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40A68A-D8C1-4003-8763-AC1E8D571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6479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8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Δμₖ,ᵣ = [+0.090, −0.090]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9FF1B7-DC4C-4A41-9A24-D83B468E0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2004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8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πₖ,ᵣ = 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5D3E42-08C6-4165-A59B-070E0A036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6576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πは平均に寄与したrisk動画数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8C627E-FD6C-48F8-AAF2-304DD23E9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107442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7E3DE"/>
          </a:solidFill>
          <a:ln xmlns:a="http://schemas.openxmlformats.org/drawingml/2006/main" w="9525">
            <a:solidFill>
              <a:srgbClr val="D95D4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1EBCB4-3BFE-47CE-8CF8-34F26C51E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29150"/>
            <a:ext cx="1032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8C2F22"/>
                </a:solidFill>
                <a:latin typeface="BIZ UDPGothic"/>
                <a:ea typeface="BIZ UDPGothic"/>
                <a:cs typeface="BIZ UDPGothic"/>
              </a:defRPr>
            </a:pPr>
            <a:r>
              <a:rPr sz="1650" b="1">
                <a:solidFill>
                  <a:srgbClr val="8C2F22"/>
                </a:solidFill>
                <a:latin typeface="BIZ UDPGothic"/>
                <a:ea typeface="BIZ UDPGothic"/>
                <a:cs typeface="BIZ UDPGothic"/>
              </a:rPr>
              <a:t>注意：risk prototypeでもrisk確率は平均0.090低下。Layer 2は、この局所挙動の有用性までは保証しない。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423740-D0D9-4B50-A4E4-A29D42393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67350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normal側も送信： μᵖᵒˢᵗ=[0.799, 0.201]　Δμ=[+0.139, -0.139]　π=3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2C264D-1214-40E1-90E5-58878916C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81675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63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63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今回の送信：trainable update（client LoRA + classification head）+ μᵖᵒˢᵗ + Δμ + π + class count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163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63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非送信：raw video・frame・sample ID・独立したμᵖʳᵉ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3E1E8D-09AC-44EC-8A82-342450A93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q vectorの成分順：[normal, risk] / q・μ・Δμはsoftmax確率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F3BB25-A1D7-477D-8BED-4E642DB9E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2915143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DB71667-BE93-44FA-A187-AF17CF82E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μᵖᵒˢᵗの検索1位は、Lmatchの全体最小ではなかった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BE8013-FD00-46B1-BF01-E8A235C8A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57200"/>
            <a:ext cx="590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11BF58-22A6-40B2-B3FB-9CCA5B896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7D1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C45300-97C5-4D73-889A-F53381B72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検索距離：Dₖₗ( μᵖᵒˢᵗₖ,ᵣ  ||  pᴳᵗ⁺¹(s) )　— seed画像そのものではなく、連合集約後モデルの反応を比較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D222BC-1EEA-4862-905A-6E1D43398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2476500" cy="32766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521b27fe304506"/>
          <a:srcRect xmlns:a="http://schemas.openxmlformats.org/drawingml/2006/main" l="5750" t="0" r="57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" y="1809750"/>
            <a:ext cx="2247900" cy="1428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F3FBFC-7F44-4CC3-9B87-21C8B9646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52800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425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retrieval rank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4E1578-18DC-405D-AF29-FEF6BECE2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05225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Dₖₗ = 0.000789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A4532B-C8EF-4281-81FB-16996D61E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57650"/>
            <a:ext cx="2171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best transform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brightness 1.1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E0DE98-0FD7-4F5F-985D-AAFAD7846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57700"/>
            <a:ext cx="217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Lmatch(min)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0.000697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4379AE-03E8-4C28-A50E-89D15ED6C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76400"/>
            <a:ext cx="2476500" cy="32766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5236b9af42416c"/>
          <a:srcRect xmlns:a="http://schemas.openxmlformats.org/drawingml/2006/main" l="5750" t="0" r="57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48050" y="1809750"/>
            <a:ext cx="2247900" cy="14287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7B13CD-2B70-47DF-ADC2-7B3B8D1DC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352800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425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retrieval rank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DCA9F2-9E67-4E7C-BE10-E12FEF8D1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705225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Dₖₗ = 0.006646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571D6D-7838-4688-BB86-C9C777F70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057650"/>
            <a:ext cx="2171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best transform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brightness 1.1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78B82F-358D-4FBD-B084-C7BAEA216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457700"/>
            <a:ext cx="217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Lmatch(min)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0.000774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CAFB1E-7417-491D-B1E4-F9FC3DB54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676400"/>
            <a:ext cx="2476500" cy="32766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7acbab43ef4aba"/>
          <a:srcRect xmlns:a="http://schemas.openxmlformats.org/drawingml/2006/main" l="5750" t="0" r="57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72200" y="1809750"/>
            <a:ext cx="2247900" cy="142875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149E53-705B-45CB-9F74-658E44592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352800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425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retrieval rank 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CD77F4-8112-4CB9-BC6C-2EF07914F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05225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Dₖₗ = 0.009779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97A43B-804D-4034-82B4-2814F4786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57650"/>
            <a:ext cx="2171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best transform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center_crop 0.85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BE7BF3-5DA2-4F85-9E91-71C8DD4FE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457700"/>
            <a:ext cx="217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Lmatch(min)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0.005256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290B12-BCAB-457A-8885-EB8BACAEE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676400"/>
            <a:ext cx="2476500" cy="32766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168A7A"/>
            </a:solidFill>
            <a:prstDash val="solid"/>
          </a:ln>
        </p:spPr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12ba9b96ea4b33"/>
          <a:srcRect xmlns:a="http://schemas.openxmlformats.org/drawingml/2006/main" l="5750" t="0" r="57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96350" y="1809750"/>
            <a:ext cx="2247900" cy="142875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B55199-9B5B-4EEA-ACBF-DB67C1496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352800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defRPr>
            </a:pPr>
            <a:r>
              <a:rPr sz="1425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rPr>
              <a:t>retrieval rank 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9734E2-D85E-45A7-94C3-282D1FD80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705225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Dₖₗ = 0.061598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EDA2AC-1D07-464E-816A-CC2647BC2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057650"/>
            <a:ext cx="2171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best transform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center_crop 0.85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C9BDDA-14F4-47DA-AE57-85398DF78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457700"/>
            <a:ext cx="217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rPr>
              <a:t>Lmatch(min)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rPr>
              <a:t>0.000279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F1BCED-CCA0-46FD-AD79-EFDBF863E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8966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ECCE"/>
          </a:solidFill>
          <a:ln xmlns:a="http://schemas.openxmlformats.org/drawingml/2006/main" w="9525">
            <a:solidFill>
              <a:srgbClr val="D28B2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57F95EE-8D0E-4B22-ADD8-093910FD3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91150"/>
            <a:ext cx="1043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7A4A00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1">
                <a:solidFill>
                  <a:srgbClr val="7A4A00"/>
                </a:solidFill>
                <a:latin typeface="BIZ UDPGothic"/>
                <a:ea typeface="BIZ UDPGothic"/>
                <a:cs typeface="BIZ UDPGothic"/>
              </a:rPr>
              <a:t>top-1内の最小 0.000697　→　8×10全探索の最小 0.000279（rank 6 seed）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DF03728-C604-429C-8AEE-05E9A6361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5310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小規模な8 seedだからこそ、top-N比較より先に全探索で見落としを確認できる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45F8555-428F-4D50-88A9-B555C9FC8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risk prototype / 8 seed × 10 transformations = 80 candidates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D6E6381-80DB-4961-89AC-A263E8D59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7232411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8E93E6B-07EB-4C63-B6D5-695F48801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rank 6 seedを変換し、postとdeltaの再現誤差を比較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DA8021-7FAF-4578-9F5C-762339110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57200"/>
            <a:ext cx="590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0148BA-41AC-4636-AD8E-1A81C660A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7D1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C92162-C429-4B09-B13A-0D88C1D5A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9700"/>
            <a:ext cx="2152650" cy="371475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746b0ee25f416c"/>
          <a:srcRect xmlns:a="http://schemas.openxmlformats.org/drawingml/2006/main" l="11375" t="0" r="1137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524000"/>
            <a:ext cx="1962150" cy="1428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1B870E-3FD6-46EB-9D0F-D557BF6DF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67050"/>
            <a:ext cx="1924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4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identity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1556ED-99B2-4014-8106-6DFBD6DF7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76650"/>
            <a:ext cx="1885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post KL  0.061598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delta MSE  0.000658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Lmatch  0.062256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D1670D-68F6-4555-87B8-8FA00BDDB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1409700"/>
            <a:ext cx="2152650" cy="371475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b611da03884b0b"/>
          <a:srcRect xmlns:a="http://schemas.openxmlformats.org/drawingml/2006/main" l="11375" t="0" r="1137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86075" y="1524000"/>
            <a:ext cx="1962150" cy="14287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6F1320-3FD4-438A-9B7D-A2FD0B2FD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067050"/>
            <a:ext cx="1924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4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brightness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4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0.75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BE47B8-270F-45B7-BBB0-2CFA8FA93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676650"/>
            <a:ext cx="1885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post KL  0.088164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delta MSE  0.001812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Lmatch  0.089976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BC43ED-6A89-4F79-9759-26B55045B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409700"/>
            <a:ext cx="2152650" cy="371475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8752f957b94a95"/>
          <a:srcRect xmlns:a="http://schemas.openxmlformats.org/drawingml/2006/main" l="11375" t="0" r="1137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19700" y="1524000"/>
            <a:ext cx="1962150" cy="14287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B217B9-2C43-4505-9072-0B80806E0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067050"/>
            <a:ext cx="1924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4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contrast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4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1.2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FF07E1-F909-464F-AD10-87E619333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676650"/>
            <a:ext cx="1885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post KL  0.049697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delta MSE  0.003053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Lmatch  0.052749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2BAD9B-15BE-41E6-A0C3-E81505DD3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1409700"/>
            <a:ext cx="2152650" cy="371475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DDF1EC"/>
          </a:solidFill>
          <a:ln xmlns:a="http://schemas.openxmlformats.org/drawingml/2006/main" w="38100">
            <a:solidFill>
              <a:srgbClr val="168A7A"/>
            </a:solidFill>
            <a:prstDash val="solid"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33dbd0f63c4c2e"/>
          <a:srcRect xmlns:a="http://schemas.openxmlformats.org/drawingml/2006/main" l="11375" t="0" r="1137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53325" y="1524000"/>
            <a:ext cx="1962150" cy="142875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C9A339-6626-4A88-AA19-0213746D2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067050"/>
            <a:ext cx="1924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defRPr>
            </a:pPr>
            <a:r>
              <a:rPr sz="1425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rPr>
              <a:t>center_crop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defRPr>
            </a:pPr>
            <a:r>
              <a:rPr sz="1425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rPr>
              <a:t>0.85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944685-A209-4C9E-BA42-35A6F8EBB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3676650"/>
            <a:ext cx="1885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post KL  0.000109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delta MSE  0.000169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Lmatch  0.000279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032F27-E107-4B56-AEAF-D1459B789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733925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rPr>
              <a:t>数値上の最小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E5611B-A768-4323-8B16-F69363F1C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409700"/>
            <a:ext cx="2152650" cy="371475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b46e1827554b7b"/>
          <a:srcRect xmlns:a="http://schemas.openxmlformats.org/drawingml/2006/main" l="11375" t="0" r="1137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86950" y="1524000"/>
            <a:ext cx="1962150" cy="142875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4F2AD1-8A35-4DA1-83B3-ED6124DEC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067050"/>
            <a:ext cx="1924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4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gaussian_blur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4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0.75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380205-BECC-4C4C-BFE2-E9377773D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676650"/>
            <a:ext cx="1885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post KL  0.039934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delta MSE  0.000833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Lmatch  0.040767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97487D-AC23-4635-8EAF-08023790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Lmatch = KL( μᵖᵒˢᵗₖ,ᵣ || pᴳᵗ⁺¹(x̃ₖ,ᵣ) ) + MSE( Δμₖ,ᵣ , pᴳᵗ⁺¹(x̃ₖ,ᵣ) − pᴳᵗ(x̃ₖ,ᵣ) 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EC1B4C-BA29-4878-9152-4D57123B9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63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63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Mᴳᵗ = 連合集約前、Mᴳᵗ⁺¹ = 連合集約後（今回は1 clientのため局所学習後surrogateと一致）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905BC1-6E8F-4464-9360-44BBBC1D7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867400"/>
            <a:ext cx="97917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E3DE"/>
          </a:solidFill>
          <a:ln xmlns:a="http://schemas.openxmlformats.org/drawingml/2006/main" w="9525">
            <a:solidFill>
              <a:srgbClr val="D95D4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A9CE1E-2656-40B5-A557-5F7D86016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962650"/>
            <a:ext cx="937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8C2F22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8C2F22"/>
                </a:solidFill>
                <a:latin typeface="BIZ UDPGothic"/>
                <a:ea typeface="BIZ UDPGothic"/>
                <a:cs typeface="BIZ UDPGothic"/>
              </a:rPr>
              <a:t>λpost=λΔ=1、Lreg・Qinv未導入。数値最小でも意味的に妥当とはまだ言えない。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5C9B68-71ED-4124-8C8C-17037719F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source seed 4b8432de81 / retrieval rank 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7CA45FD-FD18-4DB4-A67B-230092FE6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03877573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843F56-E77F-4675-8DA3-00ECEB262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risk / normal両prototypeでproxy pairまで生成した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08D268-6765-4BAF-8228-8CDB6824F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57200"/>
            <a:ext cx="590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52A511-D2A3-4349-BBE1-DDCC8195B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7D1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CEB9AC-040C-4CB9-A133-3A3AF053A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D95D45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1">
                <a:solidFill>
                  <a:srgbClr val="D95D45"/>
                </a:solidFill>
                <a:latin typeface="BIZ UDPGothic"/>
                <a:ea typeface="BIZ UDPGothic"/>
                <a:cs typeface="BIZ UDPGothic"/>
              </a:rPr>
              <a:t>risk prototype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ffeb4767f540bb"/>
          <a:srcRect xmlns:a="http://schemas.openxmlformats.org/drawingml/2006/main" l="13393" t="0" r="1339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695450"/>
            <a:ext cx="1562100" cy="1200150"/>
          </a:xfrm>
          <a:prstGeom xmlns:a="http://schemas.openxmlformats.org/drawingml/2006/main" prst="rect">
            <a:avLst/>
          </a:prstGeom>
        </p:spPr>
      </p:pic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55f43d54864b59"/>
          <a:srcRect xmlns:a="http://schemas.openxmlformats.org/drawingml/2006/main" l="13393" t="0" r="1339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66950" y="1695450"/>
            <a:ext cx="1562100" cy="1200150"/>
          </a:xfrm>
          <a:prstGeom xmlns:a="http://schemas.openxmlformats.org/drawingml/2006/main" prst="rect">
            <a:avLst/>
          </a:prstGeom>
        </p:spPr>
      </p:pic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19ac1a706f4008"/>
          <a:srcRect xmlns:a="http://schemas.openxmlformats.org/drawingml/2006/main" l="13393" t="0" r="1339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24300" y="1695450"/>
            <a:ext cx="1562100" cy="12001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BE7BAF-EE86-4637-A08B-196835C55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μᵖᵒˢᵗ = [0.404, 0.596]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Δμ = [+0.090, -0.090]　π=3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6F3A20-3DEC-4DFA-9B08-9DF72CA58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4953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seed 4b8432de81 / seed label=0</a:t>
            </a:r>
          </a:p>
          <a:p xmlns:a="http://schemas.openxmlformats.org/drawingml/2006/main">
            <a:pPr algn="ctr">
              <a:lnSpc>
                <a:spcPct val="114000"/>
              </a:lnSpc>
              <a:buNone/>
              <a:def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center_crop(0.85)</a:t>
            </a:r>
          </a:p>
          <a:p xmlns:a="http://schemas.openxmlformats.org/drawingml/2006/main">
            <a:pPr algn="ctr">
              <a:lnSpc>
                <a:spcPct val="114000"/>
              </a:lnSpc>
              <a:buNone/>
              <a:def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post KL 0.000109　delta MSE 0.000169</a:t>
            </a:r>
          </a:p>
          <a:p xmlns:a="http://schemas.openxmlformats.org/drawingml/2006/main">
            <a:pPr algn="ctr">
              <a:lnSpc>
                <a:spcPct val="114000"/>
              </a:lnSpc>
              <a:buNone/>
              <a:def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Lmatch 0.000279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15E5C0-0D84-4CFD-9A3A-46B33D52F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2573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normal prototype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ccc37f180940d8"/>
          <a:srcRect xmlns:a="http://schemas.openxmlformats.org/drawingml/2006/main" l="13393" t="0" r="1339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29350" y="1695450"/>
            <a:ext cx="1562100" cy="1200150"/>
          </a:xfrm>
          <a:prstGeom xmlns:a="http://schemas.openxmlformats.org/drawingml/2006/main" prst="rect">
            <a:avLst/>
          </a:prstGeom>
        </p:spPr>
      </p:pic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94af946c26498b"/>
          <a:srcRect xmlns:a="http://schemas.openxmlformats.org/drawingml/2006/main" l="13393" t="0" r="1339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86700" y="1695450"/>
            <a:ext cx="1562100" cy="1200150"/>
          </a:xfrm>
          <a:prstGeom xmlns:a="http://schemas.openxmlformats.org/drawingml/2006/main" prst="rect">
            <a:avLst/>
          </a:prstGeom>
        </p:spPr>
      </p:pic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91b7b5f8a94efd"/>
          <a:srcRect xmlns:a="http://schemas.openxmlformats.org/drawingml/2006/main" l="13393" t="0" r="1339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44050" y="1695450"/>
            <a:ext cx="1562100" cy="12001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C63113-10B2-4106-92FF-00EFA9569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10515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μᵖᵒˢᵗ = [0.799, 0.201]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Δμ = [+0.139, -0.139]　π=3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5562F0-D206-4748-9040-E35CA2996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943350"/>
            <a:ext cx="4953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seed 17c2e0d437 / seed label=0</a:t>
            </a:r>
          </a:p>
          <a:p xmlns:a="http://schemas.openxmlformats.org/drawingml/2006/main">
            <a:pPr algn="ctr">
              <a:lnSpc>
                <a:spcPct val="114000"/>
              </a:lnSpc>
              <a:buNone/>
              <a:def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brightness(0.75)</a:t>
            </a:r>
          </a:p>
          <a:p xmlns:a="http://schemas.openxmlformats.org/drawingml/2006/main">
            <a:pPr algn="ctr">
              <a:lnSpc>
                <a:spcPct val="114000"/>
              </a:lnSpc>
              <a:buNone/>
              <a:def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post KL 0.000080　delta MSE 0.000389</a:t>
            </a:r>
          </a:p>
          <a:p xmlns:a="http://schemas.openxmlformats.org/drawingml/2006/main">
            <a:pPr algn="ctr">
              <a:lnSpc>
                <a:spcPct val="114000"/>
              </a:lnSpc>
              <a:buNone/>
              <a:def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Lmatch 0.000468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D29168-BFAD-436C-8D6A-0CE47BC1E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10668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8ECCE"/>
          </a:solidFill>
          <a:ln xmlns:a="http://schemas.openxmlformats.org/drawingml/2006/main" w="9525">
            <a:solidFill>
              <a:srgbClr val="D28B2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3BAFBA-4C7C-41E1-93A3-934DF447C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05425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7A4A00"/>
                </a:solidFill>
                <a:latin typeface="BIZ UDPGothic"/>
                <a:ea typeface="BIZ UDPGothic"/>
                <a:cs typeface="BIZ UDPGothic"/>
              </a:defRPr>
            </a:pPr>
            <a:r>
              <a:rPr sz="1950" b="1">
                <a:solidFill>
                  <a:srgbClr val="7A4A00"/>
                </a:solidFill>
                <a:latin typeface="BIZ UDPGothic"/>
                <a:ea typeface="BIZ UDPGothic"/>
                <a:cs typeface="BIZ UDPGothic"/>
              </a:rPr>
              <a:t>Pₖ,ᵣ = ( x̃ₖ,ᵣ , μᵖᵒˢᵗₖ,ᵣ ) をLayer 3へ渡せる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9B3C1C-1A2F-47BD-84DD-AEC6B2FC7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76900"/>
            <a:ext cx="1019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8C2F22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8C2F22"/>
                </a:solidFill>
                <a:latin typeface="BIZ UDPGothic"/>
                <a:ea typeface="BIZ UDPGothic"/>
                <a:cs typeface="BIZ UDPGothic"/>
              </a:rPr>
              <a:t>ただしrisk側の数値最小候補はnormalラベルseed。Lmatchだけでは意味的妥当性を保証できない。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DA983F-5A38-41B3-AD2A-78B70143E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数値上のproxy candidate。foundation transferは未実施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C76F77-B3A1-45B7-ABC2-EC1180FAF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40906202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F67BA4-D297-4E00-94ED-A2B5AB1D0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実装上は経路が通った。研究上はStep I-Aの安定化が先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3DA6B3-9349-466E-AB4D-E7784781A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57200"/>
            <a:ext cx="590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8AFB1F-F68D-400A-BC7B-3032A8F74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7D1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7BFB3E-CC36-4FDC-9C82-BDEDA6FF7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51054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DDF1EC"/>
          </a:solidFill>
          <a:ln xmlns:a="http://schemas.openxmlformats.org/drawingml/2006/main" w="11430">
            <a:solidFill>
              <a:srgbClr val="168A7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41BD43-B46F-431E-91D5-DCF393E57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621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rPr>
              <a:t>確認できたこと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F98DF5-3C1D-4098-9B3C-73D4C9E84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45720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1　balanced private 6本でqᵖʳᵉ / qᵖᵒˢᵗ / Δqを保存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2　risk / normalの両prototypeをprivate raw dataなしで送信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3　8 seed × 10変換を全探索しproxy pairを生成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4　top-1固定の見落としを実測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C1825D-7B93-48C6-A8C2-0E0B5A979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352550"/>
            <a:ext cx="558165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7E3DE"/>
          </a:solidFill>
          <a:ln xmlns:a="http://schemas.openxmlformats.org/drawingml/2006/main" w="11430">
            <a:solidFill>
              <a:srgbClr val="D95D4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512E1E-000F-4C4A-938C-D7C5A666F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5621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D95D45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1">
                <a:solidFill>
                  <a:srgbClr val="D95D45"/>
                </a:solidFill>
                <a:latin typeface="BIZ UDPGothic"/>
                <a:ea typeface="BIZ UDPGothic"/>
                <a:cs typeface="BIZ UDPGothic"/>
              </a:rPr>
              <a:t>まだ解けていないこと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00E419-0046-48BB-80F2-4601DE299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47875"/>
            <a:ext cx="4953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• batch size 1の局所更新は順序依存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• 未見動画のclass分離改善は一貫しない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• 数値最小proxyの意味的妥当性は未保証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• Lreg / Qinv / 2-client / Layer 3 / 3〜5 roundは未実施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9E17B3-3506-47F2-9404-5DFCFE9A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次にやる実験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AC158D-D037-4EBE-95E2-09CD89EFB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76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solidFill>
              <a:srgbClr val="2F6FA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8CC9C0-8A0A-483F-9BC4-E27D1F6DD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339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B56DFB-4C15-416B-B158-6B5AD30DE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76800"/>
            <a:ext cx="10172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更新parameter・head状態・各更新量・全runのqᵖʳᵉ一致を監査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1CCA79-4379-4CEE-A525-90CE7E498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53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solidFill>
              <a:srgbClr val="2F6FA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76355C-97CA-477C-B54B-4307CCC0C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102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EA2AC5-95A8-4C6B-A4C2-9319B7700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353050"/>
            <a:ext cx="10172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optimizer step数とsample exposureを記録し、層化mini-batch / gradient accumulationを比較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D8C449-114A-4373-A66E-28FA3DB4D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293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solidFill>
              <a:srgbClr val="2F6FA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107981-70BB-4BDE-BD99-178237021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864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172C96-6789-42F5-9819-27727681F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829300"/>
            <a:ext cx="10172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order 101 / 202 / 303で安定性確認後、2-client → Layer 3 → 3〜5 round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360C9A-5E5A-4037-B553-2C9CB8A3D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Layer 2は入力された局所挙動を追う。入力信号の質は別途保証が必要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9A0ECE-DC98-4871-BC20-AED28BD16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0456942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2026-09-13T14:34:58.1260000Z</dcterms:created>
  <dcterms:modified xsi:type="dcterms:W3CDTF">2026-09-13T14:34:58.1260000Z</dcterms:modified>
</coreProperties>
</file>