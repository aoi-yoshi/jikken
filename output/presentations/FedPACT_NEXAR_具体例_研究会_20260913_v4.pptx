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217073b48843ad" /><Relationship Type="http://schemas.openxmlformats.org/officeDocument/2006/relationships/extended-properties" Target="/docProps/app.xml" Id="R10008de3db534001" /><Relationship Type="http://schemas.openxmlformats.org/officeDocument/2006/relationships/officeDocument" Target="/ppt/presentation.xml" Id="R8bd39998424044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bed204df7d4b34"/>
  </p:sldMasterIdLst>
  <p:notesMasterIdLst>
    <p:notesMasterId xmlns:r="http://schemas.openxmlformats.org/officeDocument/2006/relationships" r:id="Re6aab0b894154623"/>
  </p:notesMasterIdLst>
  <p:sldIdLst>
    <p:sldId xmlns:r="http://schemas.openxmlformats.org/officeDocument/2006/relationships" id="256" r:id="Re171a6a46c5d4aaf"/>
    <p:sldId xmlns:r="http://schemas.openxmlformats.org/officeDocument/2006/relationships" id="257" r:id="R82aa2e2562734da2"/>
    <p:sldId xmlns:r="http://schemas.openxmlformats.org/officeDocument/2006/relationships" id="258" r:id="R0d54afc47eaf4f3d"/>
    <p:sldId xmlns:r="http://schemas.openxmlformats.org/officeDocument/2006/relationships" id="259" r:id="R92817ca595474014"/>
    <p:sldId xmlns:r="http://schemas.openxmlformats.org/officeDocument/2006/relationships" id="260" r:id="R465a0255ca644767"/>
    <p:sldId xmlns:r="http://schemas.openxmlformats.org/officeDocument/2006/relationships" id="261" r:id="R7974454052564946"/>
    <p:sldId xmlns:r="http://schemas.openxmlformats.org/officeDocument/2006/relationships" id="262" r:id="Rd0d1390f4c4741c8"/>
    <p:sldId xmlns:r="http://schemas.openxmlformats.org/officeDocument/2006/relationships" id="263" r:id="Rd78c908bc07b44ed"/>
    <p:sldId xmlns:r="http://schemas.openxmlformats.org/officeDocument/2006/relationships" id="264" r:id="R70d8da76eb034200"/>
    <p:sldId xmlns:r="http://schemas.openxmlformats.org/officeDocument/2006/relationships" id="265" r:id="R7a6aac90684848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3c28068d604408" /><Relationship Type="http://schemas.openxmlformats.org/officeDocument/2006/relationships/slideMaster" Target="/ppt/slideMasters/slideMaster1.xml" Id="R81bed204df7d4b34" /><Relationship Type="http://schemas.openxmlformats.org/officeDocument/2006/relationships/notesMaster" Target="/ppt/notesMasters/notesMaster1.xml" Id="Re6aab0b894154623" /><Relationship Type="http://schemas.openxmlformats.org/officeDocument/2006/relationships/presProps" Target="/ppt/presProps.xml" Id="R6252537b30ca4706" /><Relationship Type="http://schemas.openxmlformats.org/officeDocument/2006/relationships/tableStyles" Target="/ppt/tableStyles.xml" Id="R48d6a2ae86fd4637" /><Relationship Type="http://schemas.openxmlformats.org/officeDocument/2006/relationships/slide" Target="/ppt/slides/slide1.xml" Id="Re171a6a46c5d4aaf" /><Relationship Type="http://schemas.openxmlformats.org/officeDocument/2006/relationships/slide" Target="/ppt/slides/slide2.xml" Id="R82aa2e2562734da2" /><Relationship Type="http://schemas.openxmlformats.org/officeDocument/2006/relationships/slide" Target="/ppt/slides/slide3.xml" Id="R0d54afc47eaf4f3d" /><Relationship Type="http://schemas.openxmlformats.org/officeDocument/2006/relationships/slide" Target="/ppt/slides/slide4.xml" Id="R92817ca595474014" /><Relationship Type="http://schemas.openxmlformats.org/officeDocument/2006/relationships/slide" Target="/ppt/slides/slide5.xml" Id="R465a0255ca644767" /><Relationship Type="http://schemas.openxmlformats.org/officeDocument/2006/relationships/slide" Target="/ppt/slides/slide6.xml" Id="R7974454052564946" /><Relationship Type="http://schemas.openxmlformats.org/officeDocument/2006/relationships/slide" Target="/ppt/slides/slide7.xml" Id="Rd0d1390f4c4741c8" /><Relationship Type="http://schemas.openxmlformats.org/officeDocument/2006/relationships/slide" Target="/ppt/slides/slide8.xml" Id="Rd78c908bc07b44ed" /><Relationship Type="http://schemas.openxmlformats.org/officeDocument/2006/relationships/slide" Target="/ppt/slides/slide9.xml" Id="R70d8da76eb034200" /><Relationship Type="http://schemas.openxmlformats.org/officeDocument/2006/relationships/slide" Target="/ppt/slides/slide10.xml" Id="R7a6aac90684848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8c89b2fc9445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4cc84616b541fe" /><Relationship Type="http://schemas.openxmlformats.org/officeDocument/2006/relationships/notesMaster" Target="/ppt/notesMasters/notesMaster1.xml" Id="R1541303894bd43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501822124d4f65" /><Relationship Type="http://schemas.openxmlformats.org/officeDocument/2006/relationships/notesMaster" Target="/ppt/notesMasters/notesMaster1.xml" Id="R196ebc89cacd44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666b46d3ec45e7" /><Relationship Type="http://schemas.openxmlformats.org/officeDocument/2006/relationships/notesMaster" Target="/ppt/notesMasters/notesMaster1.xml" Id="R6d44b011e22549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06c732a98c4afe" /><Relationship Type="http://schemas.openxmlformats.org/officeDocument/2006/relationships/notesMaster" Target="/ppt/notesMasters/notesMaster1.xml" Id="Rc998c937536d40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7762a6935a4ab7" /><Relationship Type="http://schemas.openxmlformats.org/officeDocument/2006/relationships/notesMaster" Target="/ppt/notesMasters/notesMaster1.xml" Id="R6388f20d62c54c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5cdbfdeff5406a" /><Relationship Type="http://schemas.openxmlformats.org/officeDocument/2006/relationships/notesMaster" Target="/ppt/notesMasters/notesMaster1.xml" Id="R638e05b8f0be42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231947a86d4471" /><Relationship Type="http://schemas.openxmlformats.org/officeDocument/2006/relationships/notesMaster" Target="/ppt/notesMasters/notesMaster1.xml" Id="R4bc39fa4447a4e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ec8176519b40f3" /><Relationship Type="http://schemas.openxmlformats.org/officeDocument/2006/relationships/notesMaster" Target="/ppt/notesMasters/notesMaster1.xml" Id="Re24621a4e70e4c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b646bd69b94d74" /><Relationship Type="http://schemas.openxmlformats.org/officeDocument/2006/relationships/notesMaster" Target="/ppt/notesMasters/notesMaster1.xml" Id="R9168a54eec0549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3ebc1b0f0144e1" /><Relationship Type="http://schemas.openxmlformats.org/officeDocument/2006/relationships/notesMaster" Target="/ppt/notesMasters/notesMaster1.xml" Id="Rb3c8f5c167fd42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つかみ：現場の生映像をcloudへ集めず、局所適応で得た挙動だけを代理データへ変換したい。</a:t>
            </a:r>
          </a:p>
          <a:p xmlns:a="http://schemas.openxmlformats.org/drawingml/2006/main">
            <a:r>
              <a:t>ただし、代理化の入力となる局所更新自体が不安定なら、Layer 2が忠実でも有用な知識転移にはならない。</a:t>
            </a:r>
          </a:p>
          <a:p xmlns:a="http://schemas.openxmlformats.org/drawingml/2006/main">
            <a:r>
              <a:t>今回はNEXARの具体的な動画と実測値を使い、Layer 2の経路と、その前段で見つかった問題を説明する。</a:t>
            </a:r>
          </a:p>
          <a:p xmlns:a="http://schemas.openxmlformats.org/drawingml/2006/main">
            <a:r>
              <a:t>Source: notes/advisor/CURRENT.md; docs/fedpact_nexar_concrete_case_20260913.md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左はpositiveラベルのheld-out動画a8adfca63e、右はnegativeラベルのheld-out動画1db89ecde7。どちらも局所学習には未使用。</a:t>
            </a:r>
          </a:p>
          <a:p xmlns:a="http://schemas.openxmlformats.org/drawingml/2006/main">
            <a:r>
              <a:t>左はq(risk) 0.725→0.613、右は0.270→0.156。</a:t>
            </a:r>
          </a:p>
          <a:p xmlns:a="http://schemas.openxmlformats.org/drawingml/2006/main">
            <a:r>
              <a:t>単一フレームの見た目から因果特徴を断定しない。ここで言えるのは出力確率の変化だけ。</a:t>
            </a:r>
          </a:p>
          <a:p xmlns:a="http://schemas.openxmlformats.org/drawingml/2006/main">
            <a:r>
              <a:t>Source: artifacts/runs/fedpact_nexar_example/run_20260913_balanced_order101_risk_fullgrid/client_local/eval_trace.json; artifacts/datasets/frames/train/&lt;sample_id&gt;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今回の該当範囲はFedPACT実験計画の第I段階、Step I-AとStep I-Bの縦切り確認。三層3〜5 round接続やLayer 3更新は未実施。</a:t>
            </a:r>
          </a:p>
          <a:p xmlns:a="http://schemas.openxmlformats.org/drawingml/2006/main">
            <a:r>
              <a:t>client train、client held-out、server seedは同一split seed 42で固定し、ID重複なし。</a:t>
            </a:r>
          </a:p>
          <a:p xmlns:a="http://schemas.openxmlformats.org/drawingml/2006/main">
            <a:r>
              <a:t>server payloadにはLoRA更新情報とclass-wise μ_post、Δμ、frequencyを含める。private raw frameとsample IDは含めない。</a:t>
            </a:r>
          </a:p>
          <a:p xmlns:a="http://schemas.openxmlformats.org/drawingml/2006/main">
            <a:r>
              <a:t>Source: notes/advisor/sources/raw/2026-09-01/FedPACT実験計画260901.pdf pp.3-4; artifacts/runs/fedpact_nexar_example/run_20260913_balanced_order101_risk_fullgrid/client_local/data_splits.json; client_upload/server_payload.json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個別sampleをすべて表示し、平均だけの印象操作を避ける。order 101ではtrain 6本・held-out 6本がすべてnormal方向へ移動した。</a:t>
            </a:r>
          </a:p>
          <a:p xmlns:a="http://schemas.openxmlformats.org/drawingml/2006/main">
            <a:r>
              <a:t>ただし、この1順序だけでクラス非選択性を断定しない。次slideで学習順を変えた結果を示す。</a:t>
            </a:r>
          </a:p>
          <a:p xmlns:a="http://schemas.openxmlformats.org/drawingml/2006/main">
            <a:r>
              <a:t>Source: artifacts/runs/fedpact_nexar_example/run_20260913_balanced_order101_risk_fullgrid/client_local/private_trace.json; client_local/eval_trace.json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order 101は最初に詳細追跡用として固定し、202と303はその後に学習順感度を確認するため追加した。</a:t>
            </a:r>
          </a:p>
          <a:p xmlns:a="http://schemas.openxmlformats.org/drawingml/2006/main">
            <a:r>
              <a:t>batch size 1ではq_postとΔqの符号が学習順で反転。held-outのclass間差も改善・悪化が一貫しない。</a:t>
            </a:r>
          </a:p>
          <a:p xmlns:a="http://schemas.openxmlformats.org/drawingml/2006/main">
            <a:r>
              <a:t>full-batch相当は6動画を同時に1 optimizer stepで更新し、総sample exposureを6に揃えた。共通方向shiftは小さくなったが、これだけで安定化完了とは言わない。</a:t>
            </a:r>
          </a:p>
          <a:p xmlns:a="http://schemas.openxmlformats.org/drawingml/2006/main">
            <a:r>
              <a:t>Source: run_20260913_balanced_order101_risk_fullgrid; run_20260913_balanced_order202_diagnostic; run_20260913_balanced_order303_diagnostic; run_20260913_balanced_fullbatch_diagnostic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3本それぞれのq_pre、q_post、Δqを先に示し、その平均がprototypeになることを明示する。</a:t>
            </a:r>
          </a:p>
          <a:p xmlns:a="http://schemas.openxmlformats.org/drawingml/2006/main">
            <a:r>
              <a:t>左からd626..., 95c3..., 06e2...。数値はriskクラス確率。μ_postとΔμは2クラス確率ベクトル。</a:t>
            </a:r>
          </a:p>
          <a:p xmlns:a="http://schemas.openxmlformats.org/drawingml/2006/main">
            <a:r>
              <a:t>π=3はrisk prototypeの平均に寄与したprivate sample数。−0.090だけを送るのではなく、確率和0を保つ2成分vector[+0.090,−0.090]として扱う。</a:t>
            </a:r>
          </a:p>
          <a:p xmlns:a="http://schemas.openxmlformats.org/drawingml/2006/main">
            <a:r>
              <a:t>Source: artifacts/runs/fedpact_nexar_example/run_20260913_balanced_order101_risk_fullgrid/client_local/private_trace.json; client_upload/server_payload.json; 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retrieval distanceはμ_postと更新後global surrogate上のseed出力とのKL。画像空間の近さではなく、post behaviorの近さで順位付けする。</a:t>
            </a:r>
          </a:p>
          <a:p xmlns:a="http://schemas.openxmlformats.org/drawingml/2006/main">
            <a:r>
              <a:t>全80候補を評価した結果、retrieval rank 6の4b8432de81 + center_crop(0.85)がL_match最小。</a:t>
            </a:r>
          </a:p>
          <a:p xmlns:a="http://schemas.openxmlformats.org/drawingml/2006/main">
            <a:r>
              <a:t>この結果はtop-1 retrievalを採用すべきでない可能性を示すが、seed数8の診断に限定される。大規模候補集合での効率評価は未実施。</a:t>
            </a:r>
          </a:p>
          <a:p xmlns:a="http://schemas.openxmlformats.org/drawingml/2006/main">
            <a:r>
              <a:t>Source: artifacts/runs/fedpact_nexar_example/run_20260913_balanced_order101_risk_fullgrid/server/layer2_trace.json; 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各候補は同じseed動画の全8フレームへ同一変換を適用している。ここでは説明用に最終フレームを表示。</a:t>
            </a:r>
          </a:p>
          <a:p xmlns:a="http://schemas.openxmlformats.org/drawingml/2006/main">
            <a:r>
              <a:t>選択基準はλ_post=λ_delta=1のL_matchのみ。seed逸脱、自然性、時間一貫性、多様性のL_regとQinvは未導入。</a:t>
            </a:r>
          </a:p>
          <a:p xmlns:a="http://schemas.openxmlformats.org/drawingml/2006/main">
            <a:r>
              <a:t>したがってcenter crop 0.85は、定義した数値目的に最も近い候補であって、意味的妥当性が保証された代理画像ではない。</a:t>
            </a:r>
          </a:p>
          <a:p xmlns:a="http://schemas.openxmlformats.org/drawingml/2006/main">
            <a:r>
              <a:t>Source: artifacts/runs/fedpact_nexar_example/run_20260913_balanced_order101_risk_fullgrid/server/transformation_candidates; server/layer2_trace.json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riskとnormalの双方でclass-wise prototypeと数値上の最小proxy候補を生成し、P=(x_tilde, μ_post)として保存した。</a:t>
            </a:r>
          </a:p>
          <a:p xmlns:a="http://schemas.openxmlformats.org/drawingml/2006/main">
            <a:r>
              <a:t>risk側ではnormalラベルseed 4b8432de81が全80候補中のL_match最小。これはL_matchが意味的ラベル整合性を含まないことを示す。</a:t>
            </a:r>
          </a:p>
          <a:p xmlns:a="http://schemas.openxmlformats.org/drawingml/2006/main">
            <a:r>
              <a:t>ここから、same-class retrieval制約やL_reg / quality screeningを今後検討する根拠が得られた。ただし具体方式は未確定。</a:t>
            </a:r>
          </a:p>
          <a:p xmlns:a="http://schemas.openxmlformats.org/drawingml/2006/main">
            <a:r>
              <a:t>Source: run_20260913_balanced_order101_risk_fullgrid/server/proxy_pair.json; run_20260913_balanced_order101_normal_fullgrid/server/proxy_pair.json; summaries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結論を実装上と研究上に分ける。Layer 2の処理経路は通ったが、有用な知識転移を示してはいない。</a:t>
            </a:r>
          </a:p>
          <a:p xmlns:a="http://schemas.openxmlformats.org/drawingml/2006/main">
            <a:r>
              <a:t>最優先はStep I-Aへ戻り、同じ総sample exposureでbatchingとgradient accumulationを比較する。multiple epochを先に増やさない。</a:t>
            </a:r>
          </a:p>
          <a:p xmlns:a="http://schemas.openxmlformats.org/drawingml/2006/main">
            <a:r>
              <a:t>その後、classification head更新の影響を切り分け、複数学習順で安定性を確認する。安定してから2-clientとLayer 3へ進む。</a:t>
            </a:r>
          </a:p>
          <a:p xmlns:a="http://schemas.openxmlformats.org/drawingml/2006/main">
            <a:r>
              <a:t>Source: docs/fedpact_nexar_concrete_case_20260913.md; notes/advisor/sources/raw/2026-09-01/FedPACT実験計画260901.pdf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bcd3043b244a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2e4b662adc4390" /><Relationship Type="http://schemas.openxmlformats.org/officeDocument/2006/relationships/slideLayout" Target="/ppt/slideLayouts/slideLayout1.xml" Id="Rc2e2dc89c1f64c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e2dc89c1f64c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0ff723f7484965" /><Relationship Type="http://schemas.openxmlformats.org/officeDocument/2006/relationships/image" Target="/ppt/media/image.jpeg" Id="R64d388e4e0104960" /><Relationship Type="http://schemas.openxmlformats.org/officeDocument/2006/relationships/notesSlide" Target="/ppt/notesSlides/notesSlide1.xml" Id="R7cf66f54ac084c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9910646424e8f" /><Relationship Type="http://schemas.openxmlformats.org/officeDocument/2006/relationships/image" Target="/ppt/media/image2.jpeg" Id="R22bf58b117c244c2" /><Relationship Type="http://schemas.openxmlformats.org/officeDocument/2006/relationships/image" Target="/ppt/media/image3.jpeg" Id="Rc9c557ef79204bc4" /><Relationship Type="http://schemas.openxmlformats.org/officeDocument/2006/relationships/image" Target="/ppt/media/image4.jpeg" Id="Re1927545eeee403a" /><Relationship Type="http://schemas.openxmlformats.org/officeDocument/2006/relationships/image" Target="/ppt/media/image5.jpeg" Id="R798b5de9b9794fa8" /><Relationship Type="http://schemas.openxmlformats.org/officeDocument/2006/relationships/image" Target="/ppt/media/image6.jpeg" Id="Re8f06221dcd34c18" /><Relationship Type="http://schemas.openxmlformats.org/officeDocument/2006/relationships/image" Target="/ppt/media/image7.jpeg" Id="R5899e4b7c64e449c" /><Relationship Type="http://schemas.openxmlformats.org/officeDocument/2006/relationships/image" Target="/ppt/media/image8.jpeg" Id="Rc101e2cbb2904325" /><Relationship Type="http://schemas.openxmlformats.org/officeDocument/2006/relationships/image" Target="/ppt/media/image9.jpeg" Id="R7ff5a283f3394a14" /><Relationship Type="http://schemas.openxmlformats.org/officeDocument/2006/relationships/notesSlide" Target="/ppt/notesSlides/notesSlide2.xml" Id="Rca21dc02c59e4d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e4858dc2f4c97" /><Relationship Type="http://schemas.openxmlformats.org/officeDocument/2006/relationships/image" Target="/ppt/media/image10.jpeg" Id="Rcb4079e936ad4971" /><Relationship Type="http://schemas.openxmlformats.org/officeDocument/2006/relationships/image" Target="/ppt/media/image11.jpeg" Id="R9d5e5c90cfb94ee1" /><Relationship Type="http://schemas.openxmlformats.org/officeDocument/2006/relationships/image" Target="/ppt/media/image12.jpeg" Id="R92e76469f8064f5e" /><Relationship Type="http://schemas.openxmlformats.org/officeDocument/2006/relationships/image" Target="/ppt/media/image13.jpeg" Id="Reb7891f5b5ed4521" /><Relationship Type="http://schemas.openxmlformats.org/officeDocument/2006/relationships/image" Target="/ppt/media/image14.jpeg" Id="Ra7a322fb0f324c72" /><Relationship Type="http://schemas.openxmlformats.org/officeDocument/2006/relationships/image" Target="/ppt/media/image15.jpeg" Id="R37c5910fff8c4667" /><Relationship Type="http://schemas.openxmlformats.org/officeDocument/2006/relationships/image" Target="/ppt/media/image16.jpeg" Id="R5c6cffd4f86642e8" /><Relationship Type="http://schemas.openxmlformats.org/officeDocument/2006/relationships/image" Target="/ppt/media/image17.jpeg" Id="Rbdaf176f71cb4f59" /><Relationship Type="http://schemas.openxmlformats.org/officeDocument/2006/relationships/image" Target="/ppt/media/image18.jpeg" Id="R1f33e7cdcdf94214" /><Relationship Type="http://schemas.openxmlformats.org/officeDocument/2006/relationships/image" Target="/ppt/media/image19.jpeg" Id="R3c6c3d412c5f4f7f" /><Relationship Type="http://schemas.openxmlformats.org/officeDocument/2006/relationships/image" Target="/ppt/media/image20.jpeg" Id="R259b35297d3043f4" /><Relationship Type="http://schemas.openxmlformats.org/officeDocument/2006/relationships/image" Target="/ppt/media/image21.jpeg" Id="R8f567f0065754010" /><Relationship Type="http://schemas.openxmlformats.org/officeDocument/2006/relationships/notesSlide" Target="/ppt/notesSlides/notesSlide3.xml" Id="R8c6222eca6614e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164f01d454815" /><Relationship Type="http://schemas.openxmlformats.org/officeDocument/2006/relationships/notesSlide" Target="/ppt/notesSlides/notesSlide4.xml" Id="Rb74294fd2dca4a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0e6f1d5164c10" /><Relationship Type="http://schemas.openxmlformats.org/officeDocument/2006/relationships/notesSlide" Target="/ppt/notesSlides/notesSlide5.xml" Id="Rf1bee469496843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17059fdad49d4" /><Relationship Type="http://schemas.openxmlformats.org/officeDocument/2006/relationships/image" Target="/ppt/media/image22.jpeg" Id="R61b5f93680ed405b" /><Relationship Type="http://schemas.openxmlformats.org/officeDocument/2006/relationships/image" Target="/ppt/media/image23.jpeg" Id="R667d77b43b024143" /><Relationship Type="http://schemas.openxmlformats.org/officeDocument/2006/relationships/image" Target="/ppt/media/image24.jpeg" Id="Rd54c06bf283f458e" /><Relationship Type="http://schemas.openxmlformats.org/officeDocument/2006/relationships/notesSlide" Target="/ppt/notesSlides/notesSlide6.xml" Id="R085908f3775d46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f10a522414b4f" /><Relationship Type="http://schemas.openxmlformats.org/officeDocument/2006/relationships/image" Target="/ppt/media/image25.jpeg" Id="Rbb4bfe739df14b70" /><Relationship Type="http://schemas.openxmlformats.org/officeDocument/2006/relationships/image" Target="/ppt/media/image26.jpeg" Id="R41830b113ea64dc5" /><Relationship Type="http://schemas.openxmlformats.org/officeDocument/2006/relationships/image" Target="/ppt/media/image27.jpeg" Id="Re78f8c91899c45fa" /><Relationship Type="http://schemas.openxmlformats.org/officeDocument/2006/relationships/image" Target="/ppt/media/image28.jpeg" Id="Rc19305834adb4db0" /><Relationship Type="http://schemas.openxmlformats.org/officeDocument/2006/relationships/notesSlide" Target="/ppt/notesSlides/notesSlide7.xml" Id="R9c0c19362bc94c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97689baec34311" /><Relationship Type="http://schemas.openxmlformats.org/officeDocument/2006/relationships/image" Target="/ppt/media/image.png" Id="Rc1215d6382cc4d89" /><Relationship Type="http://schemas.openxmlformats.org/officeDocument/2006/relationships/image" Target="/ppt/media/image2.png" Id="Rea2fc712b4e94d4e" /><Relationship Type="http://schemas.openxmlformats.org/officeDocument/2006/relationships/image" Target="/ppt/media/image3.png" Id="R62da0965b71943f1" /><Relationship Type="http://schemas.openxmlformats.org/officeDocument/2006/relationships/image" Target="/ppt/media/image4.png" Id="Rc1dd01a14f87442c" /><Relationship Type="http://schemas.openxmlformats.org/officeDocument/2006/relationships/image" Target="/ppt/media/image5.png" Id="R8a5d342e00344bf0" /><Relationship Type="http://schemas.openxmlformats.org/officeDocument/2006/relationships/notesSlide" Target="/ppt/notesSlides/notesSlide8.xml" Id="R1217861e5bf143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98d2bfa9343e6" /><Relationship Type="http://schemas.openxmlformats.org/officeDocument/2006/relationships/image" Target="/ppt/media/image6.png" Id="Rb98edcf6290f4075" /><Relationship Type="http://schemas.openxmlformats.org/officeDocument/2006/relationships/image" Target="/ppt/media/image7.png" Id="R4cb03fc598114121" /><Relationship Type="http://schemas.openxmlformats.org/officeDocument/2006/relationships/image" Target="/ppt/media/image8.png" Id="R0e648cd93e3d43dd" /><Relationship Type="http://schemas.openxmlformats.org/officeDocument/2006/relationships/image" Target="/ppt/media/image9.png" Id="R1bbe833a5cea433b" /><Relationship Type="http://schemas.openxmlformats.org/officeDocument/2006/relationships/image" Target="/ppt/media/image10.png" Id="R4f90da41dd614059" /><Relationship Type="http://schemas.openxmlformats.org/officeDocument/2006/relationships/image" Target="/ppt/media/image11.png" Id="Ra6d9cafc5ebd4dce" /><Relationship Type="http://schemas.openxmlformats.org/officeDocument/2006/relationships/notesSlide" Target="/ppt/notesSlides/notesSlide9.xml" Id="Raa4b6eb6f0794d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fa3cb1cde4d95" /><Relationship Type="http://schemas.openxmlformats.org/officeDocument/2006/relationships/notesSlide" Target="/ppt/notesSlides/notesSlide10.xml" Id="Rc17d8ac21cc04d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d388e4e0104960"/>
          <a:srcRect xmlns:a="http://schemas.openxmlformats.org/drawingml/2006/main" l="25391" t="0" r="253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DBD8A4-9CC5-42A1-BBA3-9C2C969A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0">
            <a:solidFill>
              <a:srgbClr val="1230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F762F-EFD0-432A-9060-58E469C4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0"/>
            <a:ext cx="533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168A7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FF17B-ADD9-4095-9A0C-6451F4F5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84D2C5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84D2C5"/>
                </a:solidFill>
                <a:latin typeface="BIZ UDPGothic"/>
                <a:ea typeface="BIZ UDPGothic"/>
                <a:cs typeface="BIZ UDPGothic"/>
              </a:rPr>
              <a:t>FedPACT / NEXAR concrete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309A2-97C3-4145-A200-8349DE3B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4762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35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Layer 2 動作確認と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35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局所更新の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35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順序依存性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98FB3-3097-40F9-8AFB-33C43CE6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rPr>
              <a:t>実動画の反応変化から、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rPr>
              <a:t>代理データ候補へ至る過程を追う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DE416-6506-4B74-9CFA-AAA7D72C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A9BCC9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A9BCC9"/>
                </a:solidFill>
                <a:latin typeface="BIZ UDPGothic"/>
                <a:ea typeface="BIZ UDPGothic"/>
                <a:cs typeface="BIZ UDPGothic"/>
              </a:rPr>
              <a:t>研究会説明用・診断実験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2BA305-C508-49E4-B2DB-96552396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rPr>
              <a:t>YOSHIMURA Aoi   2026.09.13</a:t>
            </a:r>
          </a:p>
        </p:txBody>
      </p:sp>
    </p:spTree>
    <p:extLst>
      <p:ext uri="{BB962C8B-B14F-4D97-AF65-F5344CB8AC3E}">
        <p14:creationId xmlns:p14="http://schemas.microsoft.com/office/powerpoint/2010/main" val="11914308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7BBC3D3-F8FC-401E-9CE1-9AC58FDD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同じ局所学習で、risk動画もnormal動画もrisk確率が下がった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91B470-4509-4848-A9B4-2FA16D56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D277EC-EDBB-407B-AD6D-267A9CB5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AE981B-3F49-43EF-B804-D69DFE7B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学習に使っていない2本を先に見る。映像内容の違いより、共通方向の出力移動が目立つ。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EF073F-F6B9-4A9E-A5BE-F310F024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risk動画 / held-out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bf58b117c244c2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c557ef79204bc4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95475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927545eeee403a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81350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8b5de9b9794fa8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67225" y="1981200"/>
            <a:ext cx="1219200" cy="10668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34D8C2-06BC-4C0E-8F88-5BD88701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5143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F"/>
          </a:solidFill>
          <a:ln xmlns:a="http://schemas.openxmlformats.org/drawingml/2006/main" w="0">
            <a:solidFill>
              <a:srgbClr val="E7EC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0933E5-9FB9-4993-994F-14180575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416007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6583E4-369B-4133-A28A-74082F07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607" y="3600450"/>
            <a:ext cx="3727493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0">
            <a:solidFill>
              <a:srgbClr val="D95D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DA7BA6-33B7-4F8C-9D73-BE948E86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0.275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FDB176-ED86-419A-AB35-ABBA566C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623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0.725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9B11C9-1A84-4B21-9776-E4CC2BCE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局所学習前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238B36-B7D9-43CC-BB15-357E683B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5143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F"/>
          </a:solidFill>
          <a:ln xmlns:a="http://schemas.openxmlformats.org/drawingml/2006/main" w="0">
            <a:solidFill>
              <a:srgbClr val="E7EC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E12513-C837-45E7-A281-0FE7A362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99145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B8DCAE-25A4-4894-8521-25584CC9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055" y="4352925"/>
            <a:ext cx="315204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0">
            <a:solidFill>
              <a:srgbClr val="D95D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8D3BC9-F6DD-45DE-94A4-4B675B33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0.387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2D3237-E30C-4531-BDCD-305AF44B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11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0.613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859A35-B611-4CB8-AA1D-5E07A9B8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局所学習後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C04B2D-4D14-4932-BA68-FD44F239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Δq(risk) = -0.112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CBE8D9-2E4F-4FA1-8808-349D29AF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normal動画 / held-out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f06221dcd34c18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99e4b7c64e449c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77125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01e2cbb2904325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0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f5a283f3394a14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1981200"/>
            <a:ext cx="1219200" cy="10668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4FF092-B460-445B-A69D-B980F60D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5143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F"/>
          </a:solidFill>
          <a:ln xmlns:a="http://schemas.openxmlformats.org/drawingml/2006/main" w="0">
            <a:solidFill>
              <a:srgbClr val="E7EC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3439BF-F79D-4707-9BE2-F03420A4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3754954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F9BD7F-285C-47AE-BE3F-EBEB85DE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6204" y="3600450"/>
            <a:ext cx="1388546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0">
            <a:solidFill>
              <a:srgbClr val="D95D4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8B383E-2DA6-4A1C-B948-33557C85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623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0.730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D8F1C3-B636-4745-93FA-78FB05AC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623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0.270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53FA24-AF79-4A2D-9550-E49A57B2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局所学習前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E8E969-2D2F-414A-B47F-B617CA88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52925"/>
            <a:ext cx="5143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F"/>
          </a:solidFill>
          <a:ln xmlns:a="http://schemas.openxmlformats.org/drawingml/2006/main" w="0">
            <a:solidFill>
              <a:srgbClr val="E7EC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68A9AC-7AD0-4F1B-A38C-9DBCC993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52925"/>
            <a:ext cx="4340983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AB9E53-C093-46AD-ABD0-59054421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2233" y="4352925"/>
            <a:ext cx="802517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0">
            <a:solidFill>
              <a:srgbClr val="D95D4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7A692B-C6B9-4963-9587-C4C40ADC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1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0.844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BD3CF3-7B5B-409E-A423-CB0BC2BA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1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0.156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E9EDB7-B06A-4075-8154-9188F666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338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局所学習後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958CBA-FF72-4E01-A295-BCC71F0A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148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Δq(risk) = -0.114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8D012D-D0E9-4B25-B435-CEB8F3C2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725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ECCE"/>
          </a:solidFill>
          <a:ln xmlns:a="http://schemas.openxmlformats.org/drawingml/2006/main" w="11430">
            <a:solidFill>
              <a:srgbClr val="D28B2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29A9E6-5EA5-4C26-A7C0-7E95561B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1030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rPr>
              <a:t>この時点で「risk知識を学べた」とは言えない。まず局所更新の健全性を診断する必要がある。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E427EF-9F52-4205-98A4-4DDFADF7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held-out examples / order seed 101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BDFFCA1-C385-4695-8ED0-DC951D4E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519897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7325DC-B245-4886-8223-FA1E1085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固定したデータ分割と、今回動かした範囲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30294-159E-4388-AC10-9831E804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1843A-1045-4D88-B245-4017EB36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2A38B4-EEE3-4117-91A6-E256A428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457200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FC215A-C7DE-46BE-AFF2-748DA7A6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3448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CLIENT PRIVATE TRAIN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2C470-FEF0-41D2-BD8A-4A7CE4E7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4287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1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6本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537403-AE63-4FC6-B901-91507DBE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295400"/>
            <a:ext cx="2571750" cy="36385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5EFF8"/>
          </a:solidFill>
          <a:ln xmlns:a="http://schemas.openxmlformats.org/drawingml/2006/main" w="11430">
            <a:solidFill>
              <a:srgbClr val="2F6F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519C7-D82A-4D5A-AEA9-CCD6DFD1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4668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CLIENT HELD-OUT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5CB5C-E41F-486F-9702-4597AF83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287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6本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924824-9211-475F-A2D1-6EC9F983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295400"/>
            <a:ext cx="3333750" cy="36385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8ECCE"/>
          </a:solidFill>
          <a:ln xmlns:a="http://schemas.openxmlformats.org/drawingml/2006/main" w="11430">
            <a:solidFill>
              <a:srgbClr val="D28B2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EDAAA-6BB3-4A4A-A75B-CCA4D6ED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668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D28B23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D28B23"/>
                </a:solidFill>
                <a:latin typeface="BIZ UDPGothic"/>
                <a:ea typeface="BIZ UDPGothic"/>
                <a:cs typeface="BIZ UDPGothic"/>
              </a:rPr>
              <a:t>SERVER SEED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9DEB6-D54C-446C-9C07-1E3FF0A7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4287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100" b="1">
                <a:solidFill>
                  <a:srgbClr val="D28B23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D28B23"/>
                </a:solidFill>
                <a:latin typeface="BIZ UDPGothic"/>
                <a:ea typeface="BIZ UDPGothic"/>
                <a:cs typeface="BIZ UDPGothic"/>
              </a:rPr>
              <a:t>8本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4079e936ad4971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2000250"/>
            <a:ext cx="1314450" cy="952500"/>
          </a:xfrm>
          <a:prstGeom xmlns:a="http://schemas.openxmlformats.org/drawingml/2006/main" prst="rect">
            <a:avLst/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5e5c90cfb94ee1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3390900"/>
            <a:ext cx="1314450" cy="952500"/>
          </a:xfrm>
          <a:prstGeom xmlns:a="http://schemas.openxmlformats.org/drawingml/2006/main" prst="rect">
            <a:avLst/>
          </a:prstGeom>
        </p:spPr>
      </p:pic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e76469f8064f5e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00275" y="2000250"/>
            <a:ext cx="1314450" cy="952500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7891f5b5ed4521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00275" y="3390900"/>
            <a:ext cx="1314450" cy="952500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a322fb0f324c72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19500" y="2000250"/>
            <a:ext cx="1314450" cy="952500"/>
          </a:xfrm>
          <a:prstGeom xmlns:a="http://schemas.openxmlformats.org/drawingml/2006/main" prst="rect">
            <a:avLst/>
          </a:prstGeom>
        </p:spPr>
      </p:pic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c5910fff8c4667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19500" y="3390900"/>
            <a:ext cx="1314450" cy="9525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EDD5B0-588D-4F65-9502-926EC94B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×3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36B628-2263-4DDB-96E2-D94149BD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×3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6cffd4f86642e8"/>
          <a:srcRect xmlns:a="http://schemas.openxmlformats.org/drawingml/2006/main" l="15625" t="0" r="156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095500"/>
            <a:ext cx="1047750" cy="857250"/>
          </a:xfrm>
          <a:prstGeom xmlns:a="http://schemas.openxmlformats.org/drawingml/2006/main" prst="rect">
            <a:avLst/>
          </a:prstGeom>
        </p:spPr>
      </p:pic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af176f71cb4f59"/>
          <a:srcRect xmlns:a="http://schemas.openxmlformats.org/drawingml/2006/main" l="15625" t="0" r="156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1800" y="2095500"/>
            <a:ext cx="1047750" cy="8572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000C49-FBEA-47F3-95E2-1E3946D1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19450"/>
            <a:ext cx="2209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risk ×3 / normal ×3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学習・prototype・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server検索に未使用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33e7cdcdf94214"/>
          <a:srcRect xmlns:a="http://schemas.openxmlformats.org/drawingml/2006/main" l="11599" t="0" r="115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29625" y="2038350"/>
            <a:ext cx="1352550" cy="990600"/>
          </a:xfrm>
          <a:prstGeom xmlns:a="http://schemas.openxmlformats.org/drawingml/2006/main" prst="rect">
            <a:avLst/>
          </a:prstGeom>
        </p:spPr>
      </p:pic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6c3d412c5f4f7f"/>
          <a:srcRect xmlns:a="http://schemas.openxmlformats.org/drawingml/2006/main" l="11599" t="0" r="115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96475" y="2038350"/>
            <a:ext cx="1352550" cy="990600"/>
          </a:xfrm>
          <a:prstGeom xmlns:a="http://schemas.openxmlformats.org/drawingml/2006/main" prst="rect">
            <a:avLst/>
          </a:prstGeom>
        </p:spPr>
      </p:pic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9b35297d3043f4"/>
          <a:srcRect xmlns:a="http://schemas.openxmlformats.org/drawingml/2006/main" l="11599" t="0" r="115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29625" y="3257550"/>
            <a:ext cx="1352550" cy="990600"/>
          </a:xfrm>
          <a:prstGeom xmlns:a="http://schemas.openxmlformats.org/drawingml/2006/main" prst="rect">
            <a:avLst/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567f0065754010"/>
          <a:srcRect xmlns:a="http://schemas.openxmlformats.org/drawingml/2006/main" l="11599" t="0" r="115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96475" y="3257550"/>
            <a:ext cx="1352550" cy="9906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B5D70F-41BB-4D89-A4D9-0BA44A5D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4340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risk ×4 / normal ×4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clientへ配布しないcloud-only pool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04A595-C8CA-434C-AC8A-33DAE5DC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12E5D8-33D4-4927-A7F6-C0DA4110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625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Qwen2.5-VL-3B / fixed checkpoint  |  split seed 42  |  LoRA + classification head更新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9B3B32-74A6-4C44-B0CA-9388A7B9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Step I-A：qᵖʳᵉ / qᵖᵒˢᵗ / Δq診断　→　Step I-B：prototype / seed検索 / 代理候補生成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5E5DBC-0B48-42A9-9BBF-A496016B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固定split・ID重複なし・private raw data非送信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7CBDA2-70F6-4DE7-A4F8-E3EE750A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871867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BAF8BEC-B7B5-44CA-9084-E3E044FE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order 101では、12本すべてがnormal側へ移動した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42169-494A-4F03-8F0F-EDF55A58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40DD0E-1D52-424B-B66D-33C437AC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7DB6C0-6006-4FCF-B5EF-E01B5AB2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private train 6本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6D6FA-7BDE-466A-BCDB-8D898C3B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006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C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C48BCA-B80D-4AC2-ABC7-57DF52DA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0.0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46571-A5EE-4841-8F97-C8539084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623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BCE01-636E-4654-ADEE-C432D47E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0.5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35075F-3C0D-41F7-B25D-F3553CFF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240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C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23309-A1CB-40D9-9E45-5DBB45CB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1.0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A634F1-2C35-409A-87A9-0A3BF615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q(risk)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3B6A49-D67D-4ABC-A08E-26144B4F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339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qᵖʳᵉ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51F61-2B85-42EA-B822-CC68DBD0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1339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qᵖᵒˢᵗ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13EBCB-1891-4B94-B749-4810F395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74678"/>
            <a:ext cx="3409950" cy="584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418CBD-5486-495D-8651-384F5D7E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42705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EF256E-1A3B-49E2-B5CB-E3BF25A8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48550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352D8C-2108-42A9-99AB-D58AF7CF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70447"/>
            <a:ext cx="3409950" cy="3861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2957B7-104C-4452-A26E-F5AA55AC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12282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9DF028-2A6C-42FE-B04E-A2E31D1F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50896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1D7E45-8A2F-4DD0-9AAF-3F95DD5B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189211"/>
            <a:ext cx="3409950" cy="3711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9199E4-C370-4CBC-9C7F-A0FEE425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14158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22B414-ABDD-4E63-BD60-BC6779D5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5127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165B7A-6A76-45C8-A6F4-4BA4EF9A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27825"/>
            <a:ext cx="3409950" cy="3032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139969-7401-463E-A9C3-4D247C7D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480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E97AEF-C97F-489E-B900-4E01A71B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78343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0399DE-5AA7-496D-BEB0-24202492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20635"/>
            <a:ext cx="3409950" cy="4366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E0892E-CD53-4B5C-ACD0-52898565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57301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040F0B-F785-40E8-AD6C-D247E0CF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00968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70E115-6D28-43ED-9488-85271DBF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35232"/>
            <a:ext cx="3409950" cy="6949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F2CEF2-C23D-4CD0-A1DA-3F294DEB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88760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7A1C1E-82BF-48FD-A9FC-5039BCB4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58259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05557C-52F0-49D6-92EE-4A42F1EC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8587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held-out 6本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AC2243-C9F9-4D78-B226-7FA6C594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006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C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F593B0-7B53-4C23-B2CD-9BC392F8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053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0.0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F19047-A9BA-4DDC-A748-80B62FE0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623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81C11B-F5F4-4EC1-B125-59C9BBE6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670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0.5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1E011A-AA5C-4221-8C43-B85DAC6D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240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C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FB4571-C147-4B72-BD0F-E0120DCC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1.0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3C3D2A-A4EA-4182-8197-98E85EBB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382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q(risk)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250253-D9E2-4653-B55E-823732DB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339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qᵖʳᵉ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5BD11F-C299-4E9B-A11B-AF21895A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1339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qᵖᵒˢᵗ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73A093-1351-4B94-A399-B068B628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26074"/>
            <a:ext cx="3409950" cy="3665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122FDD0-67C6-46F0-A62C-BA08D12C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57844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8805164-A72F-4765-8F5D-FC75ED64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94503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21DC00-E2B8-4E3E-8FC8-9D8E5DD0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16070"/>
            <a:ext cx="3409950" cy="3733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672DD62-1637-428D-9022-8A728CD4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06844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8D1DB8C-DE07-49FC-9625-6E073C8C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44176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506825-D9F3-4B3B-B879-7953BF39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267616"/>
            <a:ext cx="3409950" cy="3810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3A98CBA-826D-4C01-8679-23F8AB89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21999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B470A45-6050-43A8-9957-B355CA63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60106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4F21737-4549-45BF-8711-4D078239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34049"/>
            <a:ext cx="3409950" cy="2415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3666D58-ED38-4075-A32F-287F7E2D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38642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88F7948-A1EC-45F0-9440-A949C73E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62800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8A787BB-D868-49EF-9B17-F6C3BCFA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00608"/>
            <a:ext cx="3409950" cy="5116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0B57504-3839-47FA-883B-751E8006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25298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224877B-A634-4708-BF83-B4640DB2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76466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A30E773-8758-4B90-B28E-07BF127F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17488"/>
            <a:ext cx="3409950" cy="3964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EF3592D-E32F-4B29-BAF3-0FD6FEF7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1698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E9D7A50-6659-440E-A913-C47A9B82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56628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509AE76-579B-4326-9A22-10BCD1B2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896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C3954A6-054D-46D0-9D4E-41AE8E7C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平均Δq(risk)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FBE09F4-A81F-452F-BEC2-BFDEB2BB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626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train normal −0.139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train risk −0.090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1EAA480-A902-4361-B01E-B9799C5C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626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held-out normal −0.101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held-out risk −0.130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2CABD28-AA2F-44AB-88AF-DABA21F2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1239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label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B25EFE7-D1B2-4FAE-A44C-91FC66CE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1239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label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A2B019D-C302-472B-A37B-B0B5B0F8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赤=risk label　青=normal label　縦軸=q(risk)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46B458F-FD71-41C4-A429-81BFB27A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565256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FE4A745-F424-4693-8935-AD16A9A0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学習順だけでΔqの符号が反転した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1BFFA-B58D-4BF9-AF30-2914D9B7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6B9AC-B2A2-44F0-997C-E80C34BC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B13FBE-B72C-4F6D-8E84-9A0F5B4C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BEA2A-1283-44E2-92C2-EB56C0D6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平均q(risk)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6F7AF-874D-457D-AF98-7721DD57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381125"/>
            <a:ext cx="1047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414AD4-DC15-4E27-8A5E-850E6F69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38275"/>
            <a:ext cx="93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pre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B11C4-F0CE-418D-8409-C42AB4EF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3811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627C3C-84BF-4B0E-BC49-7CB7FAB2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382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order 101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260E27-5B56-4DE3-84B4-5F61DE1E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3811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B6131-2430-4599-A6D9-008AC3B7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382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order 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438DE2-67D5-4C7A-8BD8-13AE1215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3811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29880B-D7AF-4C45-9815-7CCC69C9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382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order 303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F2C2E4-0687-45FE-BFFB-018D72AB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381125"/>
            <a:ext cx="21145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F85E77-F8F8-4891-A205-17F0A9B8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382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full-batch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C95789-828E-47D6-A6EA-42559D84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DF5952-B218-4903-A9C2-C2E20C7E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train normal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52397D-AFC3-42F2-89A0-48A23DED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905000"/>
            <a:ext cx="1047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CA5869-F893-4FEA-927B-DEFC68E6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62150"/>
            <a:ext cx="93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0.341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8C82CC-29F2-4086-90B0-54E83643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0500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D31878-296F-4486-89F6-C70BA80C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6215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0.201 (-0.139)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8411EE-B8E2-477D-851C-6B1F9CC3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0500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6AFE92-BFE9-4020-A9B7-392455DD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6215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0.403 (+0.062)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C01171-5A43-4648-8B5F-68F2F5ED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0500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38EF0D-D08F-46CB-932F-937C75F4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6215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0.150 (-0.191)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570DC7-B20E-4E11-86CE-03648E8F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905000"/>
            <a:ext cx="21145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534F11-40F3-4E88-AB80-D19CF43E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621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0.300 (-0.041)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8B1F8D-4640-4784-AECB-FD4683F4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F6BF94-8FDC-462B-B8B9-3DBE202B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train risk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A99DC9-52D7-4EB0-BEF2-6C54832F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28875"/>
            <a:ext cx="1047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47F1A4-8DC1-4820-A66A-060FAEBE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86025"/>
            <a:ext cx="93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0.685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E63B45-8955-437B-832E-8EEB5B10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2887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C5F34E-97CD-495A-A7FF-AA33369C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8602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0.596 (-0.090)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744C7A-77AB-4FED-B076-1FA9AEC1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2887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BC7748-2F8D-4129-9F5D-9C8C57E3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8602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0.845 (+0.160)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7FA1E3-4C4F-4188-9C68-B29BB800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2887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310CA4-12BF-498B-B6F8-6D30D619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8602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0.491 (-0.194)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53A365-D2D2-4B90-BB82-11F1CD26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28875"/>
            <a:ext cx="21145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4EB146-3607-478C-AE95-42B8BD33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860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0.698 (+0.013)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02F53E-318C-4B50-A45A-D1EDDF04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7FC69C-7995-4FBF-8DEB-66925DB4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held-out normal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43D177-0359-472C-8F71-4C6DC085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52750"/>
            <a:ext cx="1047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B56A708-85A1-414E-85EF-A9A1DC53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09900"/>
            <a:ext cx="93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0.222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5CBF4C7-CEE9-4132-9F0D-A9172787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5275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FB072E-5291-4079-BAF5-E0F4A4A2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990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0.121 (-0.101)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C0DF637-748B-40ED-90F9-AD14773A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5275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78F1A67-2A67-49F4-A597-97CFCACD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0990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0.297 (+0.075)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EA68230-0160-46A2-8137-4F5E7B99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5275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0CF3B6E-C683-4A9B-835F-81CC8D67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990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0.080 (-0.143)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3635AF4-752B-4CF2-8139-2D33AEE0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52750"/>
            <a:ext cx="21145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41CA176-83D1-4004-950C-C8FD8221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099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0.201 (-0.021)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B180589-0329-4B09-9A6F-A1F0F724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C53C624-8369-4106-8D76-8C9A33C4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33775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held-out risk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38249D9-AC36-48EB-81FB-0691F968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76625"/>
            <a:ext cx="1047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1B7697B-76F3-4D2B-A314-DAEEB70D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33775"/>
            <a:ext cx="93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0.596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6CAEE9C-E2EC-4757-B019-0C0963D6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766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1C4585B-331D-4ADC-AE42-5CDFF2BD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337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0.466 (-0.130)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2B8F2AC-0922-4B4D-92EC-89AA6011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4766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F42E9BE-7AFA-4E86-AB4D-D3F4EC22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337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0.707 (+0.111)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D41C4FE-F7C5-4117-9C7F-68A726E4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766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47D13DE-1D91-41C0-A093-C7E3C4A1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337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0.350 (-0.246)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86964A1-E9A7-45E8-9385-7BDAEF94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76625"/>
            <a:ext cx="21145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81CC3A4-0995-4797-BE43-49FF9793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337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0.576 (-0.020)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E0D90DF-0BEB-48C6-9C45-5968DA42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class間差 = mean q(risk | risk) − mean q(risk | normal)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5CC007E-2956-478A-B5FF-6DCE3CCB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1D6A10D-D530-47D7-BA55-08E21209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class間差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E03E845-51B1-42D8-A8D7-055079D9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720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2CCB451-06FA-4B9E-9664-F7D2B6C2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291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pre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E2EB30D-CF20-4242-B512-52CFC684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720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6877862-C216-42B8-BA28-73D0EC4D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291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101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6EB7088-012D-433C-9B9E-2DCBA125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720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3F3D106-115F-41BE-B272-7A3384A0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291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202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E568D13-21FC-4EAD-9A31-42BD97E8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5720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23F8D99-7EF4-4D11-8A85-EC4CDE7D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291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303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49033D4-F7CE-4B4F-847B-0FB4614E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720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762ED49-D9D1-4D4F-B87B-98A74867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2915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full-batch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E04157C-B5C9-4B43-B4C0-BF49DFF4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769C5EC-4B25-444B-814F-28C69BF3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train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E79B61B-520F-4CAA-A4B4-F2CE28F6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9720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6D47E1B-271C-4365-AD6E-3DB6DE73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2920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0.345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F5DA041-53A7-4EBB-8A70-78326AA9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720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8AB495E-0AD2-4843-8F66-990137F0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292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0.394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DC4FDCA-66AB-485B-8C80-F7F8C0D0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9720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802731A-94F4-4F15-A8AB-B6C91401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292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0.442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D6F2D17-C150-4462-88CB-62B1AA6D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9720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92BCE89-DDB3-4F6A-9A22-C82727BF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292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0.342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5655F4A-9D75-4CEF-AC26-48869ABF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720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AB53AD2-F71B-484C-9296-42253947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0292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0.398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BB0FF7D-3303-4B21-9A12-CA4B8395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BDF2212-EC3C-4806-9F54-C8EC66FC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held-out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9D08E60-ACB3-41B4-B92B-7C3CC8F6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3721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08F9296-67BB-4EE4-A56B-6432D27D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292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0.374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D487702-45D7-4CCA-8DAB-F0DCF86E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3721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958984F-5271-4304-8417-89CF8AE9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292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0.345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30DBD43-E4B5-4E54-9FB1-3FAE0984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3721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35D840C-33C9-4177-9C17-AAD9B04D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4292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0.409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725050B-D0B1-46A2-B02C-60FE14AA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3721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4BF7B59-661B-4AE8-BFA7-D7547591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4292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0.271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A36ED31-C7A1-45FE-A88A-42209877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3721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3763501-2844-4FEB-AC8D-E4F0E820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42925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0.375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A5AAA0B-E06F-478D-B3AD-8448E37F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38650"/>
            <a:ext cx="28765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8ECCE"/>
          </a:solidFill>
          <a:ln xmlns:a="http://schemas.openxmlformats.org/drawingml/2006/main" w="9525">
            <a:solidFill>
              <a:srgbClr val="D28B2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0548FC4-AA23-4201-ABDE-51228732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600575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rPr>
              <a:t>診断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F886D70-A431-48EE-8899-D43C63F1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933950"/>
            <a:ext cx="2457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batch 1：順序で符号反転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6本同時：共通shift縮小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DDCE366-F907-4A57-8FB5-2E81CA40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同じsplit・checkpoint・総sample exposure=6。括弧内はΔq(risk)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2916F61-A496-453C-A410-D7674596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080490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A44A0D-BDB7-4AF7-9F6B-A586D4CE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risk 3本の反応を平均し、送信prototypeを作る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32C550-3B15-44FC-99BA-88F2A25A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1AC98-2E2A-4DD0-B7FD-7461DC5B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b5f93680ed405b"/>
          <a:srcRect xmlns:a="http://schemas.openxmlformats.org/drawingml/2006/main" l="4250" t="0" r="4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428750"/>
            <a:ext cx="2324100" cy="1428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AB90AE-DA46-448C-902C-892383C1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d626422e71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5B892-C961-4D36-B3BD-15CECBE9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0.771 → 0.753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48FC7-7FA8-4E4E-8C3D-24650759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Δq(risk) -0.018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d77b43b024143"/>
          <a:srcRect xmlns:a="http://schemas.openxmlformats.org/drawingml/2006/main" l="4250" t="0" r="4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81350" y="1428750"/>
            <a:ext cx="2324100" cy="1428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70356B-0DB3-4E4C-902F-D0AF0FDD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5275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95c3bf1ba2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AF8883-7C07-43FA-97AD-3D8637EB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575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0.559 → 0.441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F972DF-FF11-44CA-BCED-D5EF8EBB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1950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Δq(risk) -0.118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c06bf283f458e"/>
          <a:srcRect xmlns:a="http://schemas.openxmlformats.org/drawingml/2006/main" l="4250" t="0" r="4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53100" y="1428750"/>
            <a:ext cx="2324100" cy="1428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196365-CF38-4244-816E-E18E2770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5275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06e20a0fd0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CA6E6D-98C6-4C29-B818-D60AD671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575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0.726 → 0.593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5310BB-257C-457A-94E6-8919BC3E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1950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Δq(risk) -0.133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5A862A-9CA3-4DBF-8DA7-582042BC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371600"/>
            <a:ext cx="30861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725674-5819-40CF-BC2A-39A899EE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811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risk prototype / order 101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118665-A748-4AA2-BAD4-1526E61C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145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μᵖᵒˢᵗₖ,ᵣ = [0.404, 0.596]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30E139-583A-4CCB-88D8-2932899B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479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Δμₖ,ᵣ = [+0.090, −0.090]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9A7CBE-B196-423A-9CC5-2D7DFAF4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004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πₖ,ᵣ =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4D166A-8576-472A-A94C-831D2E9A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57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πは平均に寄与したrisk動画数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356066-0BEF-46AE-9526-02CA2162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744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E3DE"/>
          </a:solidFill>
          <a:ln xmlns:a="http://schemas.openxmlformats.org/drawingml/2006/main" w="9525">
            <a:solidFill>
              <a:srgbClr val="D95D4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170001-1C39-4349-AB80-0CE05106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1032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defRPr>
            </a:pPr>
            <a:r>
              <a:rPr sz="1650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rPr>
              <a:t>注意：risk prototypeでもrisk確率は平均0.090低下。Layer 2は、この局所挙動の有用性までは保証しない。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CF556B-76DD-4916-B8A9-4E3FC0A4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normal側も送信： μᵖᵒˢᵗ=[0.799, 0.201]　Δμ=[+0.139, -0.139]　π=3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401AE9-857F-4462-8057-DBE29D48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送信：LoRA更新情報 + μᵖᵒˢᵗ + Δμ + π　／　非送信：raw video・frame・sample ID・独立したμᵖʳᵉ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B472CD-B178-4DA1-8203-2B2CFA83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q vectorの成分順：[normal, risk]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E008A1-F5A3-46F5-96E5-6FD220AF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035917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934927-CDE1-439C-BBBD-F0AD2AF0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μᵖᵒˢᵗの検索1位は、Lmatchの全体最小ではなかった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863066-52AC-438E-A827-19C116FD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BCD9A-B978-4159-ACA9-BF980F78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94D4D2-C4C4-450A-ABA7-5DE4E555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検索距離：Dₖₗ( μᵖᵒˢᵗₖ,ᵣ  ||  q(seed; Mᴳᵗ⁺¹) )　— seed画像そのものではなく、更新後モデルの反応を比較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C32CB-92F3-489C-9C7F-BA401A0B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2476500" cy="32766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4bfe739df14b70"/>
          <a:srcRect xmlns:a="http://schemas.openxmlformats.org/drawingml/2006/main" l="5750" t="0" r="5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1809750"/>
            <a:ext cx="2247900" cy="1428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5E7D50-88B0-42E1-B279-15CA972F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retrieval rank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364DBD-F240-4787-A942-0D077864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Dₖₗ = 0.000789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1E3837-99A2-46A8-89F8-B4E6F14E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best transform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brightness 1.1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C204E-F306-459C-8B70-A78BC9B5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Lmatch(min)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0.000697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409390-94E6-4A68-8892-9AFF0A4C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2476500" cy="32766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30b113ea64dc5"/>
          <a:srcRect xmlns:a="http://schemas.openxmlformats.org/drawingml/2006/main" l="5750" t="0" r="5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48050" y="1809750"/>
            <a:ext cx="2247900" cy="1428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B656D9-4D1A-4EB5-BDEF-0ABED6FC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528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retrieval rank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685089-49CF-4C57-B5BA-906ADFBD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05225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Dₖₗ = 0.006646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5DF5A8-32EA-4799-B337-F8577520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576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best transform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brightness 1.1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C3AFA9-67F5-40D5-AC6F-8D5E91A3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577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Lmatch(min)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0.000774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C8081F-6A7F-47BB-B7A7-409DF7F1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76400"/>
            <a:ext cx="2476500" cy="32766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8f8c91899c45fa"/>
          <a:srcRect xmlns:a="http://schemas.openxmlformats.org/drawingml/2006/main" l="5750" t="0" r="5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1809750"/>
            <a:ext cx="2247900" cy="14287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5E39FB-C778-45D4-90CD-7517E362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528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retrieval rank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EA1208-7DC2-4E2B-9221-826A2FA7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05225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Dₖₗ = 0.009779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6B1552-E551-4A4A-B80F-52D4FC7D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576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best transform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center_crop 0.85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9E1340-C0E1-4380-AF0B-6B955EB6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577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Lmatch(min)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0.005256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7C7578-5BB4-421F-BFF9-03B0E797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76400"/>
            <a:ext cx="2476500" cy="32766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68A7A"/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9305834adb4db0"/>
          <a:srcRect xmlns:a="http://schemas.openxmlformats.org/drawingml/2006/main" l="5750" t="0" r="5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6350" y="1809750"/>
            <a:ext cx="2247900" cy="14287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321E40-C8C3-46C7-BE93-EEB6187D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528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retrieval rank 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171A23-26FF-4E98-ADA1-8B1EB0D1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05225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Dₖₗ = 0.061598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82DDAE-FB8C-4589-97AD-20C5F21E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576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best transform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center_crop 0.85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57E5D5-CCBC-4FDE-B24B-2C6309EE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577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Lmatch(min)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0.000279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5C4AF5-878C-46F3-8FEE-68BDEF18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8966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ECCE"/>
          </a:solidFill>
          <a:ln xmlns:a="http://schemas.openxmlformats.org/drawingml/2006/main" w="9525">
            <a:solidFill>
              <a:srgbClr val="D28B2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792BF1-0D23-45A6-B128-406352DE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rPr>
              <a:t>top-1内の最小 0.000697　→　8×10全探索の最小 0.000279（rank 6 seed）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CA4013-0992-4DEA-8031-DCBB2342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小規模な8 seedだからこそ、top-N比較より先に全探索で見落としを確認できる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42430E-86CB-48CA-BE47-97276FFA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risk prototype / 8 seed × 10 transformations = 80 candidates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39B8B6-5CF9-437E-93A0-BD1DC04A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742960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42852D-B52D-4EE4-9D4A-C8D0BF2D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rank 6 seedを変換し、postとdeltaの再現誤差を比較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FF039-7C72-4DE3-98C0-1BF7BEA9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CF230B-7AE5-443A-BD49-A3F5632B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CC481-BEF6-4039-A8C7-59226ADD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2152650" cy="37147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215d6382cc4d89"/>
          <a:srcRect xmlns:a="http://schemas.openxmlformats.org/drawingml/2006/main" l="11375" t="0" r="11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524000"/>
            <a:ext cx="1962150" cy="1428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22BC1B-A97E-495A-A3D4-114B5892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identity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FDE0A5-0455-47ED-8D18-F979074B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 0.061598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delta MSE  0.000658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  0.062256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F79E6C-E484-497B-90A5-1ECAA0D4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409700"/>
            <a:ext cx="2152650" cy="37147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2fc712b4e94d4e"/>
          <a:srcRect xmlns:a="http://schemas.openxmlformats.org/drawingml/2006/main" l="11375" t="0" r="11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86075" y="1524000"/>
            <a:ext cx="1962150" cy="1428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85AC05-CFC8-4F03-A195-622EEF64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670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brightness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0.75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46C8E9-A3EC-4BD8-92AE-1CB1470F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67665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 0.088164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delta MSE  0.001812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  0.089976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55C93D-435C-41D4-B413-46C8CF87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409700"/>
            <a:ext cx="2152650" cy="37147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da0965b71943f1"/>
          <a:srcRect xmlns:a="http://schemas.openxmlformats.org/drawingml/2006/main" l="11375" t="0" r="11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9700" y="1524000"/>
            <a:ext cx="1962150" cy="14287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9ED995-CCE5-4E54-8602-ADAD5B18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670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contrast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1.2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0729E6-6CC5-4ECA-AA08-878CDEBE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7665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 0.049697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delta MSE  0.003053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  0.052749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E6607C-5915-49FA-AB64-E28DD62A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409700"/>
            <a:ext cx="2152650" cy="37147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38100">
            <a:solidFill>
              <a:srgbClr val="168A7A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dd01a14f87442c"/>
          <a:srcRect xmlns:a="http://schemas.openxmlformats.org/drawingml/2006/main" l="11375" t="0" r="11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53325" y="1524000"/>
            <a:ext cx="1962150" cy="14287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07547B-32F9-4C21-AFCE-50AE9568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0670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center_crop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0.85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4585EC-48E4-4EB9-962A-7C6EB55B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67665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 0.000109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delta MSE  0.000169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  0.000279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E2B2C4-A4F5-4D7D-B45C-7217F293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3392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数値上の最小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F19CAE-D86D-4444-9B1F-E9B4CE86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409700"/>
            <a:ext cx="2152650" cy="37147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5d342e00344bf0"/>
          <a:srcRect xmlns:a="http://schemas.openxmlformats.org/drawingml/2006/main" l="11375" t="0" r="11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86950" y="1524000"/>
            <a:ext cx="1962150" cy="14287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A7D2F0-EB06-44D8-98FF-D6819869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670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gaussian_blur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0.75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7F046D-0828-4B5A-8EC5-4AC52816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7665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 0.039934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delta MSE  0.000833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  0.040767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4215F7-242F-44AB-BB1C-F7900D79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Lmatch = KL( μᵖᵒˢᵗ || qᵖᵒˢᵗ(proxy) ) + MSE( Δμ, qᵖᵒˢᵗ(proxy) − qᵖʳᵉ(proxy) 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AEEA95-1B75-4826-A305-4596E241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91200"/>
            <a:ext cx="97917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E3DE"/>
          </a:solidFill>
          <a:ln xmlns:a="http://schemas.openxmlformats.org/drawingml/2006/main" w="9525">
            <a:solidFill>
              <a:srgbClr val="D95D4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C59B85-E6D2-4437-A4CA-30EED1E9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895975"/>
            <a:ext cx="937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rPr>
              <a:t>Lreg・Qinv未導入。cropが危険箇所を強調した、意味的に妥当、とはまだ言えない。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F3A4CF-F6DF-4346-BBD5-5B2AD65A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source seed 4b8432de81 / retrieval rank 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74F482-F0F7-4085-98C2-3303E272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865676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62DF29-A5CE-4387-A312-B9851EFF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risk / normal両prototypeでproxy pairまで生成した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246B7-A45A-4131-B9D3-6BC26328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EBB29E-3847-4CA7-9F3B-24744CCE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182F7C-EF93-4837-A0F6-6B0ABFCC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prototype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8edcf6290f4075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95450"/>
            <a:ext cx="1562100" cy="120015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03fc598114121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66950" y="1695450"/>
            <a:ext cx="1562100" cy="1200150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648cd93e3d43dd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24300" y="1695450"/>
            <a:ext cx="1562100" cy="1200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855D81-BB6E-4F81-90A2-1B1E8AA4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μᵖᵒˢᵗ = [0.404, 0.596]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Δμ = [+0.090, -0.090]　π=3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CEE80B-339A-4605-8437-A922009E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seed 4b8432de81 / seed label=0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center_crop(0.85)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0.000109　delta MSE 0.000169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 0.000279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F7B19E-94E5-47F4-BCDE-FA57F3D5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2573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prototype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be833a5cea433b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29350" y="1695450"/>
            <a:ext cx="1562100" cy="1200150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90da41dd614059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86700" y="1695450"/>
            <a:ext cx="1562100" cy="1200150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d9cafc5ebd4dce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44050" y="1695450"/>
            <a:ext cx="1562100" cy="1200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810C1A-8E3C-4F29-BEB5-F5CC3ADE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051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μᵖᵒˢᵗ = [0.799, 0.201]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Δμ = [+0.139, -0.139]　π=3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F3A52A-37B5-4FCF-B674-8B37E3D4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4335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seed 17c2e0d437 / seed label=0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brightness(0.75)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0.000080　delta MSE 0.000389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 0.000468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B2476A-8D9E-418E-84DC-AAB81A0C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668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ECCE"/>
          </a:solidFill>
          <a:ln xmlns:a="http://schemas.openxmlformats.org/drawingml/2006/main" w="9525">
            <a:solidFill>
              <a:srgbClr val="D28B2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98CD2E-82C2-4975-8715-575A26D2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defRPr>
            </a:pPr>
            <a:r>
              <a:rPr sz="195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rPr>
              <a:t>Pₖ,ᵣ = ( x̃ₖ,ᵣ , μᵖᵒˢᵗₖ,ᵣ ) をLayer 3へ渡せる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05A37E-08C4-4B88-B5FC-F24A2A9B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7690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rPr>
              <a:t>ただしrisk側の数値最小候補はnormalラベルseed。Lmatchだけでは意味的妥当性を保証できない。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CA63A4-4F55-482A-A387-05A0F75C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数値上のproxy candidate。foundation transferは未実施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BE69EB-D98B-4F21-B37F-A5A85632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505330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9EABAB-0B7E-4D86-8C44-1017A3EE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実装上は経路が通った。研究上はStep I-Aの安定化が先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58D66-8125-402C-8B4F-28396752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56040-FB8F-42C6-B0C0-A78DE926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B06DB-BBD9-419E-AA80-E5456D35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1054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1F7A8-254C-41DA-9E41-C062268E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621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確認できたこと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35944-73B1-422D-AB48-92B20F3A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572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1　balanced private 6本でqᵖʳᵉ / qᵖᵒˢᵗ / Δqを保存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2　risk / normalの両prototypeをprivate raw dataなしで送信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3　8 seed × 10変換を全探索しproxy pairを生成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4　top-1固定の見落としを実測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807AE-59C4-4616-9A37-49F0D1A5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52550"/>
            <a:ext cx="55816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7E3DE"/>
          </a:solidFill>
          <a:ln xmlns:a="http://schemas.openxmlformats.org/drawingml/2006/main" w="11430">
            <a:solidFill>
              <a:srgbClr val="D95D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0A2CE2-8136-46C6-BDAF-D22109FC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621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まだ解けていないこと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40EA3-706F-4965-B2CD-CA3ADC48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47875"/>
            <a:ext cx="4953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• batch size 1の局所更新は順序依存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• 未見動画のclass分離改善は一貫しない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• 数値最小proxyの意味的妥当性は未保証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• Lreg / Qinv / 2-client / Layer 3 / 3〜5 roundは未実施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A1911-26FA-47C8-9F43-50013C86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次にやる実験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9E6B6-8D13-43C3-A189-3FCC432F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76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0C0AF-ED2D-4478-A677-897230FE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8A748A-00F3-4F5D-A323-F06750B0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76800"/>
            <a:ext cx="1017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同じ総sample exposureで、batch 1 / 層化mini-batch / gradient accumulationを比較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156E64-02C9-43FB-B7DE-06647D34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53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8EB9B1-B1FA-43E3-8871-CCF350D6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BF175A-1967-43F9-8129-6A44BE2B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53050"/>
            <a:ext cx="1017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order 101 / 202 / 303で再現し、更新parameter監査とhead固定 / 更新を切り分け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D0444C-A68F-42F3-9B6A-28A29AF4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47B881-16AF-4394-ADE7-A5CBBC9F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864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E1C5AF-F475-4834-BD23-A8FDB5D7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29300"/>
            <a:ext cx="1017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局所信号が安定してから2-client化 → Layer 3 → 3〜5 round接続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B3B4E6-1513-482F-BF61-D18A5050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Layer 2は入力された局所挙動を追う。入力信号の質は別途保証が必要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8FE308-B8B4-4A33-9179-AE88116C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788746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2026-09-13T14:26:14.6260000Z</dcterms:created>
  <dcterms:modified xsi:type="dcterms:W3CDTF">2026-09-13T14:26:14.6260000Z</dcterms:modified>
</coreProperties>
</file>