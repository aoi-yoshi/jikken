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d4c8bc26c242d3" /><Relationship Type="http://schemas.openxmlformats.org/officeDocument/2006/relationships/extended-properties" Target="/docProps/app.xml" Id="R588732d5dc1a4dcd" /><Relationship Type="http://schemas.openxmlformats.org/officeDocument/2006/relationships/officeDocument" Target="/ppt/presentation.xml" Id="R0e83bd3477874244" /></Relationships>
</file>

<file path=ppt/presentation.xml><?xml version="1.0" encoding="utf-8"?>
<p:presentation xmlns:p="http://schemas.openxmlformats.org/presentationml/2006/main">
  <p:sldMasterIdLst>
    <p:sldMasterId xmlns:r="http://schemas.openxmlformats.org/officeDocument/2006/relationships" id="2147483648" r:id="Rf84182617d3b40d1"/>
  </p:sldMasterIdLst>
  <p:notesMasterIdLst>
    <p:notesMasterId xmlns:r="http://schemas.openxmlformats.org/officeDocument/2006/relationships" r:id="R77e6b995237d47e4"/>
  </p:notesMasterIdLst>
  <p:sldIdLst>
    <p:sldId xmlns:r="http://schemas.openxmlformats.org/officeDocument/2006/relationships" id="256" r:id="R90d79bed5ffb4042"/>
    <p:sldId xmlns:r="http://schemas.openxmlformats.org/officeDocument/2006/relationships" id="257" r:id="Rb909d7092bd44e48"/>
    <p:sldId xmlns:r="http://schemas.openxmlformats.org/officeDocument/2006/relationships" id="258" r:id="Rced57fbd72ab4d99"/>
    <p:sldId xmlns:r="http://schemas.openxmlformats.org/officeDocument/2006/relationships" id="259" r:id="R607a9c8b26e243d4"/>
    <p:sldId xmlns:r="http://schemas.openxmlformats.org/officeDocument/2006/relationships" id="260" r:id="R54198b8eda014bf0"/>
    <p:sldId xmlns:r="http://schemas.openxmlformats.org/officeDocument/2006/relationships" id="261" r:id="R8db41616aeac41ee"/>
    <p:sldId xmlns:r="http://schemas.openxmlformats.org/officeDocument/2006/relationships" id="262" r:id="R250dacbcaa764961"/>
    <p:sldId xmlns:r="http://schemas.openxmlformats.org/officeDocument/2006/relationships" id="263" r:id="Rb3effc42c44e4f9e"/>
    <p:sldId xmlns:r="http://schemas.openxmlformats.org/officeDocument/2006/relationships" id="264" r:id="R54a9fa3435a24a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d9178d20504f37" /><Relationship Type="http://schemas.openxmlformats.org/officeDocument/2006/relationships/slideMaster" Target="/ppt/slideMasters/slideMaster1.xml" Id="Rf84182617d3b40d1" /><Relationship Type="http://schemas.openxmlformats.org/officeDocument/2006/relationships/notesMaster" Target="/ppt/notesMasters/notesMaster1.xml" Id="R77e6b995237d47e4" /><Relationship Type="http://schemas.openxmlformats.org/officeDocument/2006/relationships/presProps" Target="/ppt/presProps.xml" Id="R449bf8d493d04ecb" /><Relationship Type="http://schemas.openxmlformats.org/officeDocument/2006/relationships/tableStyles" Target="/ppt/tableStyles.xml" Id="R7aae289049ab495d" /><Relationship Type="http://schemas.openxmlformats.org/officeDocument/2006/relationships/slide" Target="/ppt/slides/slide1.xml" Id="R90d79bed5ffb4042" /><Relationship Type="http://schemas.openxmlformats.org/officeDocument/2006/relationships/slide" Target="/ppt/slides/slide2.xml" Id="Rb909d7092bd44e48" /><Relationship Type="http://schemas.openxmlformats.org/officeDocument/2006/relationships/slide" Target="/ppt/slides/slide3.xml" Id="Rced57fbd72ab4d99" /><Relationship Type="http://schemas.openxmlformats.org/officeDocument/2006/relationships/slide" Target="/ppt/slides/slide4.xml" Id="R607a9c8b26e243d4" /><Relationship Type="http://schemas.openxmlformats.org/officeDocument/2006/relationships/slide" Target="/ppt/slides/slide5.xml" Id="R54198b8eda014bf0" /><Relationship Type="http://schemas.openxmlformats.org/officeDocument/2006/relationships/slide" Target="/ppt/slides/slide6.xml" Id="R8db41616aeac41ee" /><Relationship Type="http://schemas.openxmlformats.org/officeDocument/2006/relationships/slide" Target="/ppt/slides/slide7.xml" Id="R250dacbcaa764961" /><Relationship Type="http://schemas.openxmlformats.org/officeDocument/2006/relationships/slide" Target="/ppt/slides/slide8.xml" Id="Rb3effc42c44e4f9e" /><Relationship Type="http://schemas.openxmlformats.org/officeDocument/2006/relationships/slide" Target="/ppt/slides/slide9.xml" Id="R54a9fa3435a24a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4a2dc7c8ac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c68a78b794913" /><Relationship Type="http://schemas.openxmlformats.org/officeDocument/2006/relationships/notesMaster" Target="/ppt/notesMasters/notesMaster1.xml" Id="R5c8e24c13ea04f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edcfecd9f94d54" /><Relationship Type="http://schemas.openxmlformats.org/officeDocument/2006/relationships/notesMaster" Target="/ppt/notesMasters/notesMaster1.xml" Id="Rc746896e36684f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b570404ffc4029" /><Relationship Type="http://schemas.openxmlformats.org/officeDocument/2006/relationships/notesMaster" Target="/ppt/notesMasters/notesMaster1.xml" Id="Rc5c1fa1136ab45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67e6f5ee004f9c" /><Relationship Type="http://schemas.openxmlformats.org/officeDocument/2006/relationships/notesMaster" Target="/ppt/notesMasters/notesMaster1.xml" Id="R784e5daf032c49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5ade5daad4cd0" /><Relationship Type="http://schemas.openxmlformats.org/officeDocument/2006/relationships/notesMaster" Target="/ppt/notesMasters/notesMaster1.xml" Id="Rd346d6637d4143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9c9ddf3bf74002" /><Relationship Type="http://schemas.openxmlformats.org/officeDocument/2006/relationships/notesMaster" Target="/ppt/notesMasters/notesMaster1.xml" Id="R1819eeefd58e46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8d4de7c856453d" /><Relationship Type="http://schemas.openxmlformats.org/officeDocument/2006/relationships/notesMaster" Target="/ppt/notesMasters/notesMaster1.xml" Id="Rdfd65d142dd446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6f4db2e4464374" /><Relationship Type="http://schemas.openxmlformats.org/officeDocument/2006/relationships/notesMaster" Target="/ppt/notesMasters/notesMaster1.xml" Id="Rf16837b54b394d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465a7243b34757" /><Relationship Type="http://schemas.openxmlformats.org/officeDocument/2006/relationships/notesMaster" Target="/ppt/notesMasters/notesMaster1.xml" Id="Rc556f20489024a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冒頭では、モデルの性能値ではなく研究の問いを示す。</a:t>
            </a:r>
          </a:p>
          <a:p xmlns:a="http://schemas.openxmlformats.org/drawingml/2006/main">
            <a:r>
              <a:t>フィジカルAIが現場経験を継続的に学ぶには、現場から学習へ知識を戻す循環が必要になる。一方で、現場の生画像を一か所へ集められない場合がある。</a:t>
            </a:r>
          </a:p>
          <a:p xmlns:a="http://schemas.openxmlformats.org/drawingml/2006/main">
            <a:r>
              <a:t>今回の問いは、端末で獲得した適応知識を、生画像を送らずにクラウド側へ戻せるか、である。</a:t>
            </a:r>
          </a:p>
          <a:p xmlns:a="http://schemas.openxmlformats.org/drawingml/2006/main">
            <a:r>
              <a:t>この発表ではFedPACTのLayer 2を、NEXARの具体例で説明する。</a:t>
            </a:r>
          </a:p>
          <a:p xmlns:a="http://schemas.openxmlformats.org/drawingml/2006/main">
            <a:r>
              <a:t>Source: notes/advisor/CURRENT.md; notes/advisor/sources/raw/2026-09-08/professor_physical_ai_hook_context.md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左がclient、右がserverである。clientはprivate映像を保持したまま局所適応する。</a:t>
            </a:r>
          </a:p>
          <a:p xmlns:a="http://schemas.openxmlformats.org/drawingml/2006/main">
            <a:r>
              <a:t>serverが画像を持たないと、異種foundation modelへ出力蒸留する入力がない。そこでLayer 2が、server所有seedから代理入力を作る。</a:t>
            </a:r>
          </a:p>
          <a:p xmlns:a="http://schemas.openxmlformats.org/drawingml/2006/main">
            <a:r>
              <a:t>clientから送るbasic payloadはLoRA更新情報、μ_post、Δμ_local、frequency。μ_preはdelta計算にだけ使い、独立には送らない。</a:t>
            </a:r>
          </a:p>
          <a:p xmlns:a="http://schemas.openxmlformats.org/drawingml/2006/main">
            <a:r>
              <a:t>この資料はLayer 2の必要性と処理を具体化する。</a:t>
            </a:r>
          </a:p>
          <a:p xmlns:a="http://schemas.openxmlformats.org/drawingml/2006/main">
            <a:r>
              <a:t>Source: notes/advisor/CURRENT.md; SOURCE_INDEX.md D-041, D-055, D-059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この例ではclient private側のrisk場面3件をclass-wise meanでまとめた。上の4フレームは3件のうち代表例である。</a:t>
            </a:r>
          </a:p>
          <a:p xmlns:a="http://schemas.openxmlformats.org/drawingml/2006/main">
            <a:r>
              <a:t>局所適応前の平均risk確率は0.685、適応後は0.933。risk方向のlocal deltaは+0.248。</a:t>
            </a:r>
          </a:p>
          <a:p xmlns:a="http://schemas.openxmlformats.org/drawingml/2006/main">
            <a:r>
              <a:t>clientは同一private sample上でpreとpostを計算する。serverへはμ_post、Δμ_local、frequencyを送るが、private画像、sample ID、μ_preは送らない。</a:t>
            </a:r>
          </a:p>
          <a:p xmlns:a="http://schemas.openxmlformats.org/drawingml/2006/main">
            <a:r>
              <a:t>説明では、μ_postを『学習後にどんな判断をするようになったか』、Δμ_localを『学習で判断がどれだけ変わったか』と言い換える。</a:t>
            </a:r>
          </a:p>
          <a:p xmlns:a="http://schemas.openxmlformats.org/drawingml/2006/main">
            <a:r>
              <a:t>Source: artifacts/runs/fedpact_nexar_example/run_20260910_002139_presentation_case/client_local/private_trace.json; 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探索距離は突然導入するのではなく、seed候補を順位付けする必要から導入する。</a:t>
            </a:r>
          </a:p>
          <a:p xmlns:a="http://schemas.openxmlformats.org/drawingml/2006/main">
            <a:r>
              <a:t>updated global surrogateへseed画像を入れるとnormal/riskの確率分布が得られる。その分布と端末から届いたμ_postのずれをKL divergenceで1つの数値にする。</a:t>
            </a:r>
          </a:p>
          <a:p xmlns:a="http://schemas.openxmlformats.org/drawingml/2006/main">
            <a:r>
              <a:t>式の向きはD_KL(μ_post || candidate)。μ_postを目標分布、candidateを再現側として評価する。</a:t>
            </a:r>
          </a:p>
          <a:p xmlns:a="http://schemas.openxmlformats.org/drawingml/2006/main">
            <a:r>
              <a:t>距離が小さいほど、画像がprivate画像に似ているのではなく、モデルの反応が端末の学習後判断に近い。</a:t>
            </a:r>
          </a:p>
          <a:p xmlns:a="http://schemas.openxmlformats.org/drawingml/2006/main">
            <a:r>
              <a:t>この例のBは[0.089, 0.911]で、目標[0.067, 0.933]に近く、post KLは0.00325。</a:t>
            </a:r>
          </a:p>
          <a:p xmlns:a="http://schemas.openxmlformats.org/drawingml/2006/main">
            <a:r>
              <a:t>Source: notes/advisor/CURRENT.md; SOURCE_INDEX.md D-059; artifacts/.../server/layer2_trace.json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seedはclientへ配布しないcloud-only data。このrunでは8件を評価し、説明用に4件を表示した。</a:t>
            </a:r>
          </a:p>
          <a:p xmlns:a="http://schemas.openxmlformats.org/drawingml/2006/main">
            <a:r>
              <a:t>各seedをupdated global surrogateへ入力し、μ_postとのpost KLを計算した。Bの0.0033が最小だったため、Bをretrieved seedとした。</a:t>
            </a:r>
          </a:p>
          <a:p xmlns:a="http://schemas.openxmlformats.org/drawingml/2006/main">
            <a:r>
              <a:t>retrievalは画像の見た目やground-truth labelを直接使って選ぶ処理ではない。選択基準はモデル出力の一致度。</a:t>
            </a:r>
          </a:p>
          <a:p xmlns:a="http://schemas.openxmlformats.org/drawingml/2006/main">
            <a:r>
              <a:t>候補Cも近いが、Bの方が目標分布へのKLが小さい。</a:t>
            </a:r>
          </a:p>
          <a:p xmlns:a="http://schemas.openxmlformats.org/drawingml/2006/main">
            <a:r>
              <a:t>この段階ではdeltaをまだ使わない。deltaは次のproxy objectiveで使う。</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retrieved seed Bから、無変換、明るさ、contrast、cropなど10候補を作った。スライドには4候補を示す。</a:t>
            </a:r>
          </a:p>
          <a:p xmlns:a="http://schemas.openxmlformats.org/drawingml/2006/main">
            <a:r>
              <a:t>各変換はBへ独立に適用する。左から順に画像を加工したわけではない。</a:t>
            </a:r>
          </a:p>
          <a:p xmlns:a="http://schemas.openxmlformats.org/drawingml/2006/main">
            <a:r>
              <a:t>post KLは学習後判断の一致、delta MSEはclientのΔμ_localとproxy上のglobal surrogate更新前後差の一致を測る。</a:t>
            </a:r>
          </a:p>
          <a:p xmlns:a="http://schemas.openxmlformats.org/drawingml/2006/main">
            <a:r>
              <a:t>center crop 0.85はpost KLを0.003251から0.002700へ下げた。一方でdelta MSEは無変換より増えた。両者の和L_matchは0.003254で最小になった。</a:t>
            </a:r>
          </a:p>
          <a:p xmlns:a="http://schemas.openxmlformats.org/drawingml/2006/main">
            <a:r>
              <a:t>無変換との差は小さいため、この1例からtransformationの有効性は主張しない。ここでは選択過程と評価量を説明する。</a:t>
            </a:r>
          </a:p>
          <a:p xmlns:a="http://schemas.openxmlformats.org/drawingml/2006/main">
            <a:r>
              <a:t>今回のL_matchはλ_post=λ_delta=1、L_reg未導入。</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最終出力はproxy画像x_tildeと端末のpost prototype μ_postのpair。</a:t>
            </a:r>
          </a:p>
          <a:p xmlns:a="http://schemas.openxmlformats.org/drawingml/2006/main">
            <a:r>
              <a:t>この例でproxy上のupdated surrogateはrisk 0.913。端末目標risk 0.933に近い。</a:t>
            </a:r>
          </a:p>
          <a:p xmlns:a="http://schemas.openxmlformats.org/drawingml/2006/main">
            <a:r>
              <a:t>proxy上で測ったglobal surrogateのrisk変化は+0.224、client local deltaの目標は+0.248。</a:t>
            </a:r>
          </a:p>
          <a:p xmlns:a="http://schemas.openxmlformats.org/drawingml/2006/main">
            <a:r>
              <a:t>Layer 3のteacherは端末から届いたμ_post。proxy上のglobal surrogate出力をteacher labelへ置き換えない。</a:t>
            </a:r>
          </a:p>
          <a:p xmlns:a="http://schemas.openxmlformats.org/drawingml/2006/main">
            <a:r>
              <a:t>このslideはLayer 2からLayer 3への受渡しを説明する。foundation性能の改善結果を示すslideではない。</a:t>
            </a:r>
          </a:p>
          <a:p xmlns:a="http://schemas.openxmlformats.org/drawingml/2006/main">
            <a:r>
              <a:t>Source: notes/advisor/SOURCE_INDEX.md D-029, D-049, D-062; run summary.json; server/proxy_pair.json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retrievalとoptimizationで評価量が違う。retrievalはupdated global surrogateのpost出力とμ_postのKLだけ。</a:t>
            </a:r>
          </a:p>
          <a:p xmlns:a="http://schemas.openxmlformats.org/drawingml/2006/main">
            <a:r>
              <a:t>transformation後はpost KLに加えてdelta MSEも使う。</a:t>
            </a:r>
          </a:p>
          <a:p xmlns:a="http://schemas.openxmlformats.org/drawingml/2006/main">
            <a:r>
              <a:t>Δμ_localはclient固有の局所適応差。p_after-p_beforeはproxy上で測るglobal surrogateのround前後差。同一の量ではない。</a:t>
            </a:r>
          </a:p>
          <a:p xmlns:a="http://schemas.openxmlformats.org/drawingml/2006/main">
            <a:r>
              <a:t>現在の診断runではlambdaを1に置き、regularizationは未導入。Qinvの具体式とthresholdも未固定。</a:t>
            </a:r>
          </a:p>
          <a:p xmlns:a="http://schemas.openxmlformats.org/drawingml/2006/main">
            <a:r>
              <a:t>教授から細部を聞かれた場合は、このslideで実装済み部分とscreening待ちを分けて説明する。</a:t>
            </a:r>
          </a:p>
          <a:p xmlns:a="http://schemas.openxmlformats.org/drawingml/2006/main">
            <a:r>
              <a:t>Source: notes/advisor/CURRENT.md; SOURCE_INDEX.md D-043, D-049, D-050; FedPACT実験計画26060901.pdf 3-4ページ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このslideは質疑用。今回の数値を性能結果として過大解釈しないために条件と範囲を明示する。</a:t>
            </a:r>
          </a:p>
          <a:p xmlns:a="http://schemas.openxmlformats.org/drawingml/2006/main">
            <a:r>
              <a:t>単一clientなので、このrunではFedAvg後global surrogateがそのclientのlocal after stateと一致する。</a:t>
            </a:r>
          </a:p>
          <a:p xmlns:a="http://schemas.openxmlformats.org/drawingml/2006/main">
            <a:r>
              <a:t>seed数8、変換数10は説明用診断の規模。本評価ではscreeningで候補集合とlambdaを固定し、複数runで確認する。</a:t>
            </a:r>
          </a:p>
          <a:p xmlns:a="http://schemas.openxmlformats.org/drawingml/2006/main">
            <a:r>
              <a:t>client private、server seed、evaluation-onlyのID重複は0。server payload内のprivate sample IDも0件。</a:t>
            </a:r>
          </a:p>
          <a:p xmlns:a="http://schemas.openxmlformats.org/drawingml/2006/main">
            <a:r>
              <a:t>Source: artifacts/runs/fedpact_nexar_example/run_20260910_002139_presentation_case/summary.json; client_local/data_splits.json; client_upload/server_payload.json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cfbde4ca594e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b99f4d65884354" /><Relationship Type="http://schemas.openxmlformats.org/officeDocument/2006/relationships/slideLayout" Target="/ppt/slideLayouts/slideLayout1.xml" Id="R41a2b1cab98e47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a2b1cab98e47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d13ae04cc8437f" /><Relationship Type="http://schemas.openxmlformats.org/officeDocument/2006/relationships/image" Target="/ppt/media/image.jpeg" Id="R6569fefc6e4242ee" /><Relationship Type="http://schemas.openxmlformats.org/officeDocument/2006/relationships/notesSlide" Target="/ppt/notesSlides/notesSlide1.xml" Id="Rf0040decc9244a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a287a19afa4b42" /><Relationship Type="http://schemas.openxmlformats.org/officeDocument/2006/relationships/image" Target="/ppt/media/image2.jpeg" Id="R9586d09015b34648" /><Relationship Type="http://schemas.openxmlformats.org/officeDocument/2006/relationships/notesSlide" Target="/ppt/notesSlides/notesSlide2.xml" Id="R6205f673aa604e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63c0806dc94e85" /><Relationship Type="http://schemas.openxmlformats.org/officeDocument/2006/relationships/image" Target="/ppt/media/image3.jpeg" Id="R675d128c505742a0" /><Relationship Type="http://schemas.openxmlformats.org/officeDocument/2006/relationships/image" Target="/ppt/media/image4.jpeg" Id="R1465c9a6ec1d41f0" /><Relationship Type="http://schemas.openxmlformats.org/officeDocument/2006/relationships/image" Target="/ppt/media/image5.jpeg" Id="Re0a136e0c9ca470c" /><Relationship Type="http://schemas.openxmlformats.org/officeDocument/2006/relationships/image" Target="/ppt/media/image6.jpeg" Id="R64bed10014cd43c1" /><Relationship Type="http://schemas.openxmlformats.org/officeDocument/2006/relationships/notesSlide" Target="/ppt/notesSlides/notesSlide3.xml" Id="Re1145e786bb145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a7592918c34c6a" /><Relationship Type="http://schemas.openxmlformats.org/officeDocument/2006/relationships/notesSlide" Target="/ppt/notesSlides/notesSlide4.xml" Id="R5097df01276f44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759ef25f8a4297" /><Relationship Type="http://schemas.openxmlformats.org/officeDocument/2006/relationships/image" Target="/ppt/media/image7.jpeg" Id="R0140b1668bef4492" /><Relationship Type="http://schemas.openxmlformats.org/officeDocument/2006/relationships/image" Target="/ppt/media/image8.jpeg" Id="R6aa3c4ec7ce5417f" /><Relationship Type="http://schemas.openxmlformats.org/officeDocument/2006/relationships/image" Target="/ppt/media/image9.jpeg" Id="Rd27fa13d6de143d9" /><Relationship Type="http://schemas.openxmlformats.org/officeDocument/2006/relationships/image" Target="/ppt/media/image10.jpeg" Id="R024962c5c8454aa6" /><Relationship Type="http://schemas.openxmlformats.org/officeDocument/2006/relationships/notesSlide" Target="/ppt/notesSlides/notesSlide5.xml" Id="Rb1fcdd69b8f347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55f79d87a84d6a" /><Relationship Type="http://schemas.openxmlformats.org/officeDocument/2006/relationships/image" Target="/ppt/media/image.png" Id="R58e4d18a8b164429" /><Relationship Type="http://schemas.openxmlformats.org/officeDocument/2006/relationships/image" Target="/ppt/media/image2.png" Id="R980cfb91468a4d0c" /><Relationship Type="http://schemas.openxmlformats.org/officeDocument/2006/relationships/image" Target="/ppt/media/image3.png" Id="R11ac0aff34784ba4" /><Relationship Type="http://schemas.openxmlformats.org/officeDocument/2006/relationships/image" Target="/ppt/media/image4.png" Id="R7bf87dc5b6ab4619" /><Relationship Type="http://schemas.openxmlformats.org/officeDocument/2006/relationships/notesSlide" Target="/ppt/notesSlides/notesSlide6.xml" Id="R2a2c3a0c281a49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7277fbfa5e41dc" /><Relationship Type="http://schemas.openxmlformats.org/officeDocument/2006/relationships/image" Target="/ppt/media/image5.png" Id="R5a408c345c164992" /><Relationship Type="http://schemas.openxmlformats.org/officeDocument/2006/relationships/image" Target="/ppt/media/image6.png" Id="Ra04fefd9248d4e92" /><Relationship Type="http://schemas.openxmlformats.org/officeDocument/2006/relationships/image" Target="/ppt/media/image7.png" Id="R4299cfc08d0d42e5" /><Relationship Type="http://schemas.openxmlformats.org/officeDocument/2006/relationships/image" Target="/ppt/media/image8.png" Id="R88e435109601458a" /><Relationship Type="http://schemas.openxmlformats.org/officeDocument/2006/relationships/notesSlide" Target="/ppt/notesSlides/notesSlide7.xml" Id="Rfda596a8413944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7c13f764394d47" /><Relationship Type="http://schemas.openxmlformats.org/officeDocument/2006/relationships/notesSlide" Target="/ppt/notesSlides/notesSlide8.xml" Id="Rde11f1ea855342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75e4925dc64fa9" /><Relationship Type="http://schemas.openxmlformats.org/officeDocument/2006/relationships/notesSlide" Target="/ppt/notesSlides/notesSlide9.xml" Id="Rb515e7972611460f"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569fefc6e4242ee"/>
          <a:srcRect xmlns:a="http://schemas.openxmlformats.org/drawingml/2006/main" l="25391" t="0" r="25391"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DC4080-7955-4A41-9A3F-7DDC848AA414}"/>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04A"/>
          </a:solidFill>
          <a:ln xmlns:a="http://schemas.openxmlformats.org/drawingml/2006/main" w="0">
            <a:solidFill>
              <a:srgbClr val="12304A"/>
            </a:solidFill>
            <a:prstDash val="solid"/>
          </a:ln>
        </p:spPr>
      </p:sp>
      <p:sp>
        <p:nvSpPr>
          <p:cNvPr id="3" name="">
            <a:extLst xmlns:a="http://schemas.openxmlformats.org/drawingml/2006/main">
              <a:ext uri="{FF2B5EF4-FFF2-40B4-BE49-F238E27FC236}">
                <a16:creationId xmlns:a16="http://schemas.microsoft.com/office/drawing/2014/main" id="{5B7AB94A-B5D3-4C3A-AFBE-008E3119B4DB}"/>
              </a:ext>
            </a:extLst>
          </p:cNvPr>
          <p:cNvSpPr>
            <a:spLocks xmlns:a="http://schemas.openxmlformats.org/drawingml/2006/main" noGrp="1"/>
          </p:cNvSpPr>
          <p:nvPr/>
        </p:nvSpPr>
        <p:spPr>
          <a:xfrm xmlns:a="http://schemas.openxmlformats.org/drawingml/2006/main">
            <a:off x="5657850" y="0"/>
            <a:ext cx="533400" cy="6858000"/>
          </a:xfrm>
          <a:prstGeom xmlns:a="http://schemas.openxmlformats.org/drawingml/2006/main" prst="rect">
            <a:avLst/>
          </a:prstGeom>
          <a:solidFill xmlns:a="http://schemas.openxmlformats.org/drawingml/2006/main">
            <a:srgbClr val="168A7A"/>
          </a:solidFill>
          <a:ln xmlns:a="http://schemas.openxmlformats.org/drawingml/2006/main" w="0">
            <a:solidFill>
              <a:srgbClr val="168A7A"/>
            </a:solidFill>
            <a:prstDash val="solid"/>
          </a:ln>
        </p:spPr>
      </p:sp>
      <p:sp>
        <p:nvSpPr>
          <p:cNvPr id="4" name="">
            <a:extLst xmlns:a="http://schemas.openxmlformats.org/drawingml/2006/main">
              <a:ext uri="{FF2B5EF4-FFF2-40B4-BE49-F238E27FC236}">
                <a16:creationId xmlns:a16="http://schemas.microsoft.com/office/drawing/2014/main" id="{70380571-CB77-4263-B115-4CC8F8251247}"/>
              </a:ext>
            </a:extLst>
          </p:cNvPr>
          <p:cNvSpPr>
            <a:spLocks xmlns:a="http://schemas.openxmlformats.org/drawingml/2006/main" noGrp="1"/>
          </p:cNvSpPr>
          <p:nvPr/>
        </p:nvSpPr>
        <p:spPr>
          <a:xfrm xmlns:a="http://schemas.openxmlformats.org/drawingml/2006/main">
            <a:off x="628650" y="666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84D2C5"/>
                </a:solidFill>
                <a:latin typeface="BIZ UDPGothic"/>
                <a:ea typeface="BIZ UDPGothic"/>
                <a:cs typeface="BIZ UDPGothic"/>
              </a:defRPr>
            </a:pPr>
            <a:r>
              <a:rPr sz="1500" b="1">
                <a:solidFill>
                  <a:srgbClr val="84D2C5"/>
                </a:solidFill>
                <a:latin typeface="BIZ UDPGothic"/>
                <a:ea typeface="BIZ UDPGothic"/>
                <a:cs typeface="BIZ UDPGothic"/>
              </a:rPr>
              <a:t>FedPACT Layer 2</a:t>
            </a:r>
          </a:p>
        </p:txBody>
      </p:sp>
      <p:sp>
        <p:nvSpPr>
          <p:cNvPr id="5" name="">
            <a:extLst xmlns:a="http://schemas.openxmlformats.org/drawingml/2006/main">
              <a:ext uri="{FF2B5EF4-FFF2-40B4-BE49-F238E27FC236}">
                <a16:creationId xmlns:a16="http://schemas.microsoft.com/office/drawing/2014/main" id="{81320837-9FD6-4504-A362-FF65FCC19183}"/>
              </a:ext>
            </a:extLst>
          </p:cNvPr>
          <p:cNvSpPr>
            <a:spLocks xmlns:a="http://schemas.openxmlformats.org/drawingml/2006/main" noGrp="1"/>
          </p:cNvSpPr>
          <p:nvPr/>
        </p:nvSpPr>
        <p:spPr>
          <a:xfrm xmlns:a="http://schemas.openxmlformats.org/drawingml/2006/main">
            <a:off x="628650" y="1285875"/>
            <a:ext cx="4619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現場の適応知識を</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生画像なしで</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クラウドへ戻す</a:t>
            </a:r>
          </a:p>
        </p:txBody>
      </p:sp>
      <p:sp>
        <p:nvSpPr>
          <p:cNvPr id="6" name="">
            <a:extLst xmlns:a="http://schemas.openxmlformats.org/drawingml/2006/main">
              <a:ext uri="{FF2B5EF4-FFF2-40B4-BE49-F238E27FC236}">
                <a16:creationId xmlns:a16="http://schemas.microsoft.com/office/drawing/2014/main" id="{693AA40A-894B-4EE3-A029-7540268CDC35}"/>
              </a:ext>
            </a:extLst>
          </p:cNvPr>
          <p:cNvSpPr>
            <a:spLocks xmlns:a="http://schemas.openxmlformats.org/drawingml/2006/main" noGrp="1"/>
          </p:cNvSpPr>
          <p:nvPr/>
        </p:nvSpPr>
        <p:spPr>
          <a:xfrm xmlns:a="http://schemas.openxmlformats.org/drawingml/2006/main">
            <a:off x="666750" y="385762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NEXARの具体例で追う</a:t>
            </a:r>
          </a:p>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seed探索・画像変換・proxy選択</a:t>
            </a:r>
          </a:p>
        </p:txBody>
      </p:sp>
      <p:sp>
        <p:nvSpPr>
          <p:cNvPr id="7" name="">
            <a:extLst xmlns:a="http://schemas.openxmlformats.org/drawingml/2006/main">
              <a:ext uri="{FF2B5EF4-FFF2-40B4-BE49-F238E27FC236}">
                <a16:creationId xmlns:a16="http://schemas.microsoft.com/office/drawing/2014/main" id="{DEACAE45-9796-4066-8C41-F6E554F528C4}"/>
              </a:ext>
            </a:extLst>
          </p:cNvPr>
          <p:cNvSpPr>
            <a:spLocks xmlns:a="http://schemas.openxmlformats.org/drawingml/2006/main" noGrp="1"/>
          </p:cNvSpPr>
          <p:nvPr/>
        </p:nvSpPr>
        <p:spPr>
          <a:xfrm xmlns:a="http://schemas.openxmlformats.org/drawingml/2006/main">
            <a:off x="666750" y="55816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CC9"/>
                </a:solidFill>
                <a:latin typeface="BIZ UDPGothic"/>
                <a:ea typeface="BIZ UDPGothic"/>
                <a:cs typeface="BIZ UDPGothic"/>
              </a:defRPr>
            </a:pPr>
            <a:r>
              <a:rPr sz="1350" b="0">
                <a:solidFill>
                  <a:srgbClr val="A9BCC9"/>
                </a:solidFill>
                <a:latin typeface="BIZ UDPGothic"/>
                <a:ea typeface="BIZ UDPGothic"/>
                <a:cs typeface="BIZ UDPGothic"/>
              </a:rPr>
              <a:t>研究会説明用ケーススタディ</a:t>
            </a:r>
          </a:p>
        </p:txBody>
      </p:sp>
      <p:sp>
        <p:nvSpPr>
          <p:cNvPr id="8" name="">
            <a:extLst xmlns:a="http://schemas.openxmlformats.org/drawingml/2006/main">
              <a:ext uri="{FF2B5EF4-FFF2-40B4-BE49-F238E27FC236}">
                <a16:creationId xmlns:a16="http://schemas.microsoft.com/office/drawing/2014/main" id="{AD47162F-5744-48A6-9E17-09E0CBD765D7}"/>
              </a:ext>
            </a:extLst>
          </p:cNvPr>
          <p:cNvSpPr>
            <a:spLocks xmlns:a="http://schemas.openxmlformats.org/drawingml/2006/main" noGrp="1"/>
          </p:cNvSpPr>
          <p:nvPr/>
        </p:nvSpPr>
        <p:spPr>
          <a:xfrm xmlns:a="http://schemas.openxmlformats.org/drawingml/2006/main">
            <a:off x="666750" y="60483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CE7EE"/>
                </a:solidFill>
                <a:latin typeface="BIZ UDPGothic"/>
                <a:ea typeface="BIZ UDPGothic"/>
                <a:cs typeface="BIZ UDPGothic"/>
              </a:defRPr>
            </a:pPr>
            <a:r>
              <a:rPr sz="1350" b="0">
                <a:solidFill>
                  <a:srgbClr val="DCE7EE"/>
                </a:solidFill>
                <a:latin typeface="BIZ UDPGothic"/>
                <a:ea typeface="BIZ UDPGothic"/>
                <a:cs typeface="BIZ UDPGothic"/>
              </a:rPr>
              <a:t>YOSHIMURA Aoi   2026.09.10</a:t>
            </a:r>
          </a:p>
        </p:txBody>
      </p:sp>
    </p:spTree>
    <p:extLst>
      <p:ext uri="{BB962C8B-B14F-4D97-AF65-F5344CB8AC3E}">
        <p14:creationId xmlns:p14="http://schemas.microsoft.com/office/powerpoint/2010/main" val="28129889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08BEC78-681C-4FDE-900E-D9DEBBD6FBCB}"/>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proxy generationが必要になる理由</a:t>
            </a:r>
          </a:p>
        </p:txBody>
      </p:sp>
      <p:sp>
        <p:nvSpPr>
          <p:cNvPr id="2" name="">
            <a:extLst xmlns:a="http://schemas.openxmlformats.org/drawingml/2006/main">
              <a:ext uri="{FF2B5EF4-FFF2-40B4-BE49-F238E27FC236}">
                <a16:creationId xmlns:a16="http://schemas.microsoft.com/office/drawing/2014/main" id="{E74DE4EE-C4B3-40A0-86B5-2B6E24985997}"/>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01</a:t>
            </a:r>
          </a:p>
        </p:txBody>
      </p:sp>
      <p:sp>
        <p:nvSpPr>
          <p:cNvPr id="3" name="">
            <a:extLst xmlns:a="http://schemas.openxmlformats.org/drawingml/2006/main">
              <a:ext uri="{FF2B5EF4-FFF2-40B4-BE49-F238E27FC236}">
                <a16:creationId xmlns:a16="http://schemas.microsoft.com/office/drawing/2014/main" id="{9EFCF75A-3113-43E4-8A50-B16FE05CE8AA}"/>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586d09015b34648"/>
          <a:srcRect xmlns:a="http://schemas.openxmlformats.org/drawingml/2006/main" l="0" t="53" r="0" b="53"/>
          <a:stretch xmlns:a="http://schemas.openxmlformats.org/drawingml/2006/main">
            <a:fillRect l="0" t="0" r="0" b="0"/>
          </a:stretch>
        </p:blipFill>
        <p:spPr>
          <a:xfrm xmlns:a="http://schemas.openxmlformats.org/drawingml/2006/main">
            <a:off x="609600" y="1381125"/>
            <a:ext cx="4000500" cy="2247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EB85CE6-9788-4D8E-AAD0-CDCAF2620878}"/>
              </a:ext>
            </a:extLst>
          </p:cNvPr>
          <p:cNvSpPr>
            <a:spLocks xmlns:a="http://schemas.openxmlformats.org/drawingml/2006/main" noGrp="1"/>
          </p:cNvSpPr>
          <p:nvPr/>
        </p:nvSpPr>
        <p:spPr>
          <a:xfrm xmlns:a="http://schemas.openxmlformats.org/drawingml/2006/main">
            <a:off x="609600" y="3810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168A7A"/>
                </a:solidFill>
                <a:latin typeface="BIZ UDPGothic"/>
                <a:ea typeface="BIZ UDPGothic"/>
                <a:cs typeface="BIZ UDPGothic"/>
              </a:defRPr>
            </a:pPr>
            <a:r>
              <a:rPr sz="1350" b="1">
                <a:solidFill>
                  <a:srgbClr val="168A7A"/>
                </a:solidFill>
                <a:latin typeface="BIZ UDPGothic"/>
                <a:ea typeface="BIZ UDPGothic"/>
                <a:cs typeface="BIZ UDPGothic"/>
              </a:rPr>
              <a:t>CLIENT</a:t>
            </a:r>
          </a:p>
        </p:txBody>
      </p:sp>
      <p:sp>
        <p:nvSpPr>
          <p:cNvPr id="6" name="">
            <a:extLst xmlns:a="http://schemas.openxmlformats.org/drawingml/2006/main">
              <a:ext uri="{FF2B5EF4-FFF2-40B4-BE49-F238E27FC236}">
                <a16:creationId xmlns:a16="http://schemas.microsoft.com/office/drawing/2014/main" id="{5B7B22CC-76D2-4383-9110-9A9847A64991}"/>
              </a:ext>
            </a:extLst>
          </p:cNvPr>
          <p:cNvSpPr>
            <a:spLocks xmlns:a="http://schemas.openxmlformats.org/drawingml/2006/main" noGrp="1"/>
          </p:cNvSpPr>
          <p:nvPr/>
        </p:nvSpPr>
        <p:spPr>
          <a:xfrm xmlns:a="http://schemas.openxmlformats.org/drawingml/2006/main">
            <a:off x="609600" y="41433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現場固有の危険パターンを</a:t>
            </a:r>
          </a:p>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private映像から学習</a:t>
            </a:r>
          </a:p>
        </p:txBody>
      </p:sp>
      <p:sp>
        <p:nvSpPr>
          <p:cNvPr id="7" name="">
            <a:extLst xmlns:a="http://schemas.openxmlformats.org/drawingml/2006/main">
              <a:ext uri="{FF2B5EF4-FFF2-40B4-BE49-F238E27FC236}">
                <a16:creationId xmlns:a16="http://schemas.microsoft.com/office/drawing/2014/main" id="{E6E40582-79C4-48BC-85DE-8F0137984BBA}"/>
              </a:ext>
            </a:extLst>
          </p:cNvPr>
          <p:cNvSpPr>
            <a:spLocks xmlns:a="http://schemas.openxmlformats.org/drawingml/2006/main" noGrp="1"/>
          </p:cNvSpPr>
          <p:nvPr/>
        </p:nvSpPr>
        <p:spPr>
          <a:xfrm xmlns:a="http://schemas.openxmlformats.org/drawingml/2006/main">
            <a:off x="609600" y="49530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人物・位置・ナンバーを含み得る映像は端末内に残す</a:t>
            </a:r>
          </a:p>
        </p:txBody>
      </p:sp>
      <p:sp>
        <p:nvSpPr>
          <p:cNvPr id="8" name="">
            <a:extLst xmlns:a="http://schemas.openxmlformats.org/drawingml/2006/main">
              <a:ext uri="{FF2B5EF4-FFF2-40B4-BE49-F238E27FC236}">
                <a16:creationId xmlns:a16="http://schemas.microsoft.com/office/drawing/2014/main" id="{2EC04F85-C146-460F-8583-CF038AC5ED10}"/>
              </a:ext>
            </a:extLst>
          </p:cNvPr>
          <p:cNvSpPr>
            <a:spLocks xmlns:a="http://schemas.openxmlformats.org/drawingml/2006/main" noGrp="1"/>
          </p:cNvSpPr>
          <p:nvPr/>
        </p:nvSpPr>
        <p:spPr>
          <a:xfrm xmlns:a="http://schemas.openxmlformats.org/drawingml/2006/main">
            <a:off x="5143500" y="1238250"/>
            <a:ext cx="28575" cy="44958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9" name="">
            <a:extLst xmlns:a="http://schemas.openxmlformats.org/drawingml/2006/main">
              <a:ext uri="{FF2B5EF4-FFF2-40B4-BE49-F238E27FC236}">
                <a16:creationId xmlns:a16="http://schemas.microsoft.com/office/drawing/2014/main" id="{B4AD5675-2CF6-4A62-9226-A71447B5545B}"/>
              </a:ext>
            </a:extLst>
          </p:cNvPr>
          <p:cNvSpPr>
            <a:spLocks xmlns:a="http://schemas.openxmlformats.org/drawingml/2006/main" noGrp="1"/>
          </p:cNvSpPr>
          <p:nvPr/>
        </p:nvSpPr>
        <p:spPr>
          <a:xfrm xmlns:a="http://schemas.openxmlformats.org/drawingml/2006/main">
            <a:off x="4305300" y="5810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D95D45"/>
                </a:solidFill>
                <a:latin typeface="BIZ UDPGothic"/>
                <a:ea typeface="BIZ UDPGothic"/>
                <a:cs typeface="BIZ UDPGothic"/>
              </a:defRPr>
            </a:pPr>
            <a:r>
              <a:rPr sz="1275" b="1">
                <a:solidFill>
                  <a:srgbClr val="D95D45"/>
                </a:solidFill>
                <a:latin typeface="BIZ UDPGothic"/>
                <a:ea typeface="BIZ UDPGothic"/>
                <a:cs typeface="BIZ UDPGothic"/>
              </a:rPr>
              <a:t>生画像を送れない壁</a:t>
            </a:r>
          </a:p>
        </p:txBody>
      </p:sp>
      <p:sp>
        <p:nvSpPr>
          <p:cNvPr id="10" name="">
            <a:extLst xmlns:a="http://schemas.openxmlformats.org/drawingml/2006/main">
              <a:ext uri="{FF2B5EF4-FFF2-40B4-BE49-F238E27FC236}">
                <a16:creationId xmlns:a16="http://schemas.microsoft.com/office/drawing/2014/main" id="{FFE1C461-F670-4CEC-AA31-74BB72DCA1F4}"/>
              </a:ext>
            </a:extLst>
          </p:cNvPr>
          <p:cNvSpPr>
            <a:spLocks xmlns:a="http://schemas.openxmlformats.org/drawingml/2006/main" noGrp="1"/>
          </p:cNvSpPr>
          <p:nvPr/>
        </p:nvSpPr>
        <p:spPr>
          <a:xfrm xmlns:a="http://schemas.openxmlformats.org/drawingml/2006/main">
            <a:off x="5667375" y="1524000"/>
            <a:ext cx="2476500" cy="1047750"/>
          </a:xfrm>
          <a:prstGeom xmlns:a="http://schemas.openxmlformats.org/drawingml/2006/main" prst="roundRect">
            <a:avLst>
              <a:gd name="adj" fmla="val 7273"/>
            </a:avLst>
          </a:prstGeom>
          <a:solidFill xmlns:a="http://schemas.openxmlformats.org/drawingml/2006/main">
            <a:srgbClr val="DDF1EC"/>
          </a:solidFill>
          <a:ln xmlns:a="http://schemas.openxmlformats.org/drawingml/2006/main" w="19050">
            <a:solidFill>
              <a:srgbClr val="168A7A"/>
            </a:solidFill>
            <a:prstDash val="solid"/>
          </a:ln>
        </p:spPr>
      </p:sp>
      <p:sp>
        <p:nvSpPr>
          <p:cNvPr id="11" name="">
            <a:extLst xmlns:a="http://schemas.openxmlformats.org/drawingml/2006/main">
              <a:ext uri="{FF2B5EF4-FFF2-40B4-BE49-F238E27FC236}">
                <a16:creationId xmlns:a16="http://schemas.microsoft.com/office/drawing/2014/main" id="{C0E94AC1-4520-4253-8AF5-87E470D45EBF}"/>
              </a:ext>
            </a:extLst>
          </p:cNvPr>
          <p:cNvSpPr>
            <a:spLocks xmlns:a="http://schemas.openxmlformats.org/drawingml/2006/main" noGrp="1"/>
          </p:cNvSpPr>
          <p:nvPr/>
        </p:nvSpPr>
        <p:spPr>
          <a:xfrm xmlns:a="http://schemas.openxmlformats.org/drawingml/2006/main">
            <a:off x="5857875" y="16859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判断の要約を送る</a:t>
            </a:r>
          </a:p>
        </p:txBody>
      </p:sp>
      <p:sp>
        <p:nvSpPr>
          <p:cNvPr id="12" name="">
            <a:extLst xmlns:a="http://schemas.openxmlformats.org/drawingml/2006/main">
              <a:ext uri="{FF2B5EF4-FFF2-40B4-BE49-F238E27FC236}">
                <a16:creationId xmlns:a16="http://schemas.microsoft.com/office/drawing/2014/main" id="{AA4D3C8B-AB61-49D1-9FF5-3A636A3B9D66}"/>
              </a:ext>
            </a:extLst>
          </p:cNvPr>
          <p:cNvSpPr>
            <a:spLocks xmlns:a="http://schemas.openxmlformats.org/drawingml/2006/main" noGrp="1"/>
          </p:cNvSpPr>
          <p:nvPr/>
        </p:nvSpPr>
        <p:spPr>
          <a:xfrm xmlns:a="http://schemas.openxmlformats.org/drawingml/2006/main">
            <a:off x="5753100" y="2057400"/>
            <a:ext cx="2305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102A43"/>
                </a:solidFill>
                <a:latin typeface="BIZ UDPGothic"/>
                <a:ea typeface="BIZ UDPGothic"/>
                <a:cs typeface="BIZ UDPGothic"/>
              </a:defRPr>
            </a:pPr>
            <a:r>
              <a:rPr sz="1200" b="0">
                <a:solidFill>
                  <a:srgbClr val="102A43"/>
                </a:solidFill>
                <a:latin typeface="BIZ UDPGothic"/>
                <a:ea typeface="BIZ UDPGothic"/>
                <a:cs typeface="BIZ UDPGothic"/>
              </a:rPr>
              <a:t>μ_post・Δμ_local・frequency</a:t>
            </a:r>
          </a:p>
          <a:p xmlns:a="http://schemas.openxmlformats.org/drawingml/2006/main">
            <a:pPr algn="ctr">
              <a:lnSpc>
                <a:spcPct val="100000"/>
              </a:lnSpc>
              <a:buNone/>
              <a:defRPr sz="1200" b="0">
                <a:solidFill>
                  <a:srgbClr val="102A43"/>
                </a:solidFill>
                <a:latin typeface="BIZ UDPGothic"/>
                <a:ea typeface="BIZ UDPGothic"/>
                <a:cs typeface="BIZ UDPGothic"/>
              </a:defRPr>
            </a:pPr>
            <a:r>
              <a:rPr sz="1200" b="0">
                <a:solidFill>
                  <a:srgbClr val="102A43"/>
                </a:solidFill>
                <a:latin typeface="BIZ UDPGothic"/>
                <a:ea typeface="BIZ UDPGothic"/>
                <a:cs typeface="BIZ UDPGothic"/>
              </a:rPr>
              <a:t>LoRA更新情報</a:t>
            </a:r>
          </a:p>
        </p:txBody>
      </p:sp>
      <p:sp>
        <p:nvSpPr>
          <p:cNvPr id="13" name="">
            <a:extLst xmlns:a="http://schemas.openxmlformats.org/drawingml/2006/main">
              <a:ext uri="{FF2B5EF4-FFF2-40B4-BE49-F238E27FC236}">
                <a16:creationId xmlns:a16="http://schemas.microsoft.com/office/drawing/2014/main" id="{A9DC784C-41B6-4173-8160-5449992ADD3A}"/>
              </a:ext>
            </a:extLst>
          </p:cNvPr>
          <p:cNvSpPr>
            <a:spLocks xmlns:a="http://schemas.openxmlformats.org/drawingml/2006/main" noGrp="1"/>
          </p:cNvSpPr>
          <p:nvPr/>
        </p:nvSpPr>
        <p:spPr>
          <a:xfrm xmlns:a="http://schemas.openxmlformats.org/drawingml/2006/main">
            <a:off x="8763000" y="1524000"/>
            <a:ext cx="2619375" cy="1047750"/>
          </a:xfrm>
          <a:prstGeom xmlns:a="http://schemas.openxmlformats.org/drawingml/2006/main" prst="roundRect">
            <a:avLst>
              <a:gd name="adj" fmla="val 7273"/>
            </a:avLst>
          </a:prstGeom>
          <a:solidFill xmlns:a="http://schemas.openxmlformats.org/drawingml/2006/main">
            <a:srgbClr val="E5EFF8"/>
          </a:solidFill>
          <a:ln xmlns:a="http://schemas.openxmlformats.org/drawingml/2006/main" w="19050">
            <a:solidFill>
              <a:srgbClr val="2F6FA5"/>
            </a:solidFill>
            <a:prstDash val="solid"/>
          </a:ln>
        </p:spPr>
      </p:sp>
      <p:sp>
        <p:nvSpPr>
          <p:cNvPr id="14" name="">
            <a:extLst xmlns:a="http://schemas.openxmlformats.org/drawingml/2006/main">
              <a:ext uri="{FF2B5EF4-FFF2-40B4-BE49-F238E27FC236}">
                <a16:creationId xmlns:a16="http://schemas.microsoft.com/office/drawing/2014/main" id="{A1719C0A-2EE0-429D-AC5C-49BC8DF6DDC2}"/>
              </a:ext>
            </a:extLst>
          </p:cNvPr>
          <p:cNvSpPr>
            <a:spLocks xmlns:a="http://schemas.openxmlformats.org/drawingml/2006/main" noGrp="1"/>
          </p:cNvSpPr>
          <p:nvPr/>
        </p:nvSpPr>
        <p:spPr>
          <a:xfrm xmlns:a="http://schemas.openxmlformats.org/drawingml/2006/main">
            <a:off x="8953500"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SERVER</a:t>
            </a:r>
          </a:p>
        </p:txBody>
      </p:sp>
      <p:sp>
        <p:nvSpPr>
          <p:cNvPr id="15" name="">
            <a:extLst xmlns:a="http://schemas.openxmlformats.org/drawingml/2006/main">
              <a:ext uri="{FF2B5EF4-FFF2-40B4-BE49-F238E27FC236}">
                <a16:creationId xmlns:a16="http://schemas.microsoft.com/office/drawing/2014/main" id="{16EB7CAE-77F3-4BF0-9ED4-C92E7AB3B002}"/>
              </a:ext>
            </a:extLst>
          </p:cNvPr>
          <p:cNvSpPr>
            <a:spLocks xmlns:a="http://schemas.openxmlformats.org/drawingml/2006/main" noGrp="1"/>
          </p:cNvSpPr>
          <p:nvPr/>
        </p:nvSpPr>
        <p:spPr>
          <a:xfrm xmlns:a="http://schemas.openxmlformats.org/drawingml/2006/main">
            <a:off x="8953500" y="206692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seedから代理画像を作る</a:t>
            </a:r>
          </a:p>
        </p:txBody>
      </p: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8143875" y="2047875"/>
            <a:ext cx="619125" cy="0"/>
          </a:xfrm>
          <a:prstGeom xmlns:a="http://schemas.openxmlformats.org/drawingml/2006/main" prst="straightConnector1">
            <a:avLst/>
          </a:prstGeom>
          <a:ln xmlns:a="http://schemas.openxmlformats.org/drawingml/2006/main" w="28575">
            <a:solidFill>
              <a:srgbClr val="2F6FA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15D0A3EC-1D74-48F7-B503-ECF8BF4EC918}"/>
              </a:ext>
            </a:extLst>
          </p:cNvPr>
          <p:cNvSpPr>
            <a:spLocks xmlns:a="http://schemas.openxmlformats.org/drawingml/2006/main" noGrp="1"/>
          </p:cNvSpPr>
          <p:nvPr/>
        </p:nvSpPr>
        <p:spPr>
          <a:xfrm xmlns:a="http://schemas.openxmlformats.org/drawingml/2006/main">
            <a:off x="5619750"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18" name="">
            <a:extLst xmlns:a="http://schemas.openxmlformats.org/drawingml/2006/main">
              <a:ext uri="{FF2B5EF4-FFF2-40B4-BE49-F238E27FC236}">
                <a16:creationId xmlns:a16="http://schemas.microsoft.com/office/drawing/2014/main" id="{0574256A-1B08-4A37-B432-15DD917BD3CB}"/>
              </a:ext>
            </a:extLst>
          </p:cNvPr>
          <p:cNvSpPr>
            <a:spLocks xmlns:a="http://schemas.openxmlformats.org/drawingml/2006/main" noGrp="1"/>
          </p:cNvSpPr>
          <p:nvPr/>
        </p:nvSpPr>
        <p:spPr>
          <a:xfrm xmlns:a="http://schemas.openxmlformats.org/drawingml/2006/main">
            <a:off x="5762625"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1</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端末で適応</a:t>
            </a:r>
          </a:p>
        </p:txBody>
      </p:sp>
      <p:sp>
        <p:nvSpPr>
          <p:cNvPr id="19" name="">
            <a:extLst xmlns:a="http://schemas.openxmlformats.org/drawingml/2006/main">
              <a:ext uri="{FF2B5EF4-FFF2-40B4-BE49-F238E27FC236}">
                <a16:creationId xmlns:a16="http://schemas.microsoft.com/office/drawing/2014/main" id="{33AAD201-0C66-48D7-95E8-7F4961217124}"/>
              </a:ext>
            </a:extLst>
          </p:cNvPr>
          <p:cNvSpPr>
            <a:spLocks xmlns:a="http://schemas.openxmlformats.org/drawingml/2006/main" noGrp="1"/>
          </p:cNvSpPr>
          <p:nvPr/>
        </p:nvSpPr>
        <p:spPr>
          <a:xfrm xmlns:a="http://schemas.openxmlformats.org/drawingml/2006/main">
            <a:off x="7667625" y="3143250"/>
            <a:ext cx="1809750" cy="952500"/>
          </a:xfrm>
          <a:prstGeom xmlns:a="http://schemas.openxmlformats.org/drawingml/2006/main" prst="roundRect">
            <a:avLst>
              <a:gd name="adj" fmla="val 8000"/>
            </a:avLst>
          </a:prstGeom>
          <a:solidFill xmlns:a="http://schemas.openxmlformats.org/drawingml/2006/main">
            <a:srgbClr val="F7E3DE"/>
          </a:solidFill>
          <a:ln xmlns:a="http://schemas.openxmlformats.org/drawingml/2006/main" w="28575">
            <a:solidFill>
              <a:srgbClr val="D95D45"/>
            </a:solidFill>
            <a:prstDash val="solid"/>
          </a:ln>
        </p:spPr>
      </p:sp>
      <p:sp>
        <p:nvSpPr>
          <p:cNvPr id="20" name="">
            <a:extLst xmlns:a="http://schemas.openxmlformats.org/drawingml/2006/main">
              <a:ext uri="{FF2B5EF4-FFF2-40B4-BE49-F238E27FC236}">
                <a16:creationId xmlns:a16="http://schemas.microsoft.com/office/drawing/2014/main" id="{EFC762BA-1299-46AE-9213-46F0ECAF3440}"/>
              </a:ext>
            </a:extLst>
          </p:cNvPr>
          <p:cNvSpPr>
            <a:spLocks xmlns:a="http://schemas.openxmlformats.org/drawingml/2006/main" noGrp="1"/>
          </p:cNvSpPr>
          <p:nvPr/>
        </p:nvSpPr>
        <p:spPr>
          <a:xfrm xmlns:a="http://schemas.openxmlformats.org/drawingml/2006/main">
            <a:off x="7858125" y="3333750"/>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Layer 2</a:t>
            </a:r>
          </a:p>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proxy生成</a:t>
            </a:r>
          </a:p>
        </p:txBody>
      </p:sp>
      <p:sp>
        <p:nvSpPr>
          <p:cNvPr id="21" name="">
            <a:extLst xmlns:a="http://schemas.openxmlformats.org/drawingml/2006/main">
              <a:ext uri="{FF2B5EF4-FFF2-40B4-BE49-F238E27FC236}">
                <a16:creationId xmlns:a16="http://schemas.microsoft.com/office/drawing/2014/main" id="{C4F7A6EF-DC31-40E8-A806-181E60BD772B}"/>
              </a:ext>
            </a:extLst>
          </p:cNvPr>
          <p:cNvSpPr>
            <a:spLocks xmlns:a="http://schemas.openxmlformats.org/drawingml/2006/main" noGrp="1"/>
          </p:cNvSpPr>
          <p:nvPr/>
        </p:nvSpPr>
        <p:spPr>
          <a:xfrm xmlns:a="http://schemas.openxmlformats.org/drawingml/2006/main">
            <a:off x="9858375"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22" name="">
            <a:extLst xmlns:a="http://schemas.openxmlformats.org/drawingml/2006/main">
              <a:ext uri="{FF2B5EF4-FFF2-40B4-BE49-F238E27FC236}">
                <a16:creationId xmlns:a16="http://schemas.microsoft.com/office/drawing/2014/main" id="{28625FB8-B92E-4B2D-8418-73B13C04A4F8}"/>
              </a:ext>
            </a:extLst>
          </p:cNvPr>
          <p:cNvSpPr>
            <a:spLocks xmlns:a="http://schemas.openxmlformats.org/drawingml/2006/main" noGrp="1"/>
          </p:cNvSpPr>
          <p:nvPr/>
        </p:nvSpPr>
        <p:spPr>
          <a:xfrm xmlns:a="http://schemas.openxmlformats.org/drawingml/2006/main">
            <a:off x="10001250"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3</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基盤へ蒸留</a:t>
            </a:r>
          </a:p>
        </p:txBody>
      </p:sp>
      <p:cxnSp>
        <p:nvCxnSpPr>
          <p:cNvPr id="51" name=""/>
          <p:cNvCxnSpPr>
            <a:stCxn xmlns:a="http://schemas.openxmlformats.org/drawingml/2006/main" id="17" idx="3"/>
            <a:endCxn xmlns:a="http://schemas.openxmlformats.org/drawingml/2006/main" id="19" idx="1"/>
          </p:cNvCxnSpPr>
          <p:nvPr/>
        </p:nvCxnSpPr>
        <p:spPr>
          <a:xfrm xmlns:a="http://schemas.openxmlformats.org/drawingml/2006/main">
            <a:off x="7286625" y="3619500"/>
            <a:ext cx="381000" cy="0"/>
          </a:xfrm>
          <a:prstGeom xmlns:a="http://schemas.openxmlformats.org/drawingml/2006/main" prst="straightConnector1">
            <a:avLst/>
          </a:prstGeom>
          <a:ln xmlns:a="http://schemas.openxmlformats.org/drawingml/2006/main" w="28575">
            <a:solidFill>
              <a:srgbClr val="D95D45"/>
            </a:solidFill>
            <a:prstDash val="solid"/>
            <a:tailEnd type="triangle" w="med" len="med"/>
          </a:ln>
        </p:spPr>
      </p:cxnSp>
      <p:cxnSp>
        <p:nvCxnSpPr>
          <p:cNvPr id="52" name=""/>
          <p:cNvCxnSpPr>
            <a:stCxn xmlns:a="http://schemas.openxmlformats.org/drawingml/2006/main" id="19" idx="3"/>
            <a:endCxn xmlns:a="http://schemas.openxmlformats.org/drawingml/2006/main" id="21" idx="1"/>
          </p:cNvCxnSpPr>
          <p:nvPr/>
        </p:nvCxnSpPr>
        <p:spPr>
          <a:xfrm xmlns:a="http://schemas.openxmlformats.org/drawingml/2006/main">
            <a:off x="9477375" y="3619500"/>
            <a:ext cx="381000" cy="0"/>
          </a:xfrm>
          <a:prstGeom xmlns:a="http://schemas.openxmlformats.org/drawingml/2006/main" prst="straightConnector1">
            <a:avLst/>
          </a:prstGeom>
          <a:ln xmlns:a="http://schemas.openxmlformats.org/drawingml/2006/main" w="28575">
            <a:solidFill>
              <a:srgbClr val="D95D45"/>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29DE577A-365C-4278-8435-4F0E9B3462DD}"/>
              </a:ext>
            </a:extLst>
          </p:cNvPr>
          <p:cNvSpPr>
            <a:spLocks xmlns:a="http://schemas.openxmlformats.org/drawingml/2006/main" noGrp="1"/>
          </p:cNvSpPr>
          <p:nvPr/>
        </p:nvSpPr>
        <p:spPr>
          <a:xfrm xmlns:a="http://schemas.openxmlformats.org/drawingml/2006/main">
            <a:off x="7810500" y="43053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D95D45"/>
                </a:solidFill>
                <a:latin typeface="BIZ UDPGothic"/>
                <a:ea typeface="BIZ UDPGothic"/>
                <a:cs typeface="BIZ UDPGothic"/>
              </a:defRPr>
            </a:pPr>
            <a:r>
              <a:rPr sz="1350" b="1">
                <a:solidFill>
                  <a:srgbClr val="D95D45"/>
                </a:solidFill>
                <a:latin typeface="BIZ UDPGothic"/>
                <a:ea typeface="BIZ UDPGothic"/>
                <a:cs typeface="BIZ UDPGothic"/>
              </a:rPr>
              <a:t>今回の説明範囲</a:t>
            </a:r>
          </a:p>
        </p:txBody>
      </p:sp>
      <p:sp>
        <p:nvSpPr>
          <p:cNvPr id="26" name="">
            <a:extLst xmlns:a="http://schemas.openxmlformats.org/drawingml/2006/main">
              <a:ext uri="{FF2B5EF4-FFF2-40B4-BE49-F238E27FC236}">
                <a16:creationId xmlns:a16="http://schemas.microsoft.com/office/drawing/2014/main" id="{8CE618F7-F02B-4E8A-AACD-A26EBADF4B6D}"/>
              </a:ext>
            </a:extLst>
          </p:cNvPr>
          <p:cNvSpPr>
            <a:spLocks xmlns:a="http://schemas.openxmlformats.org/drawingml/2006/main" noGrp="1"/>
          </p:cNvSpPr>
          <p:nvPr/>
        </p:nvSpPr>
        <p:spPr>
          <a:xfrm xmlns:a="http://schemas.openxmlformats.org/drawingml/2006/main">
            <a:off x="5667375" y="4953000"/>
            <a:ext cx="581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端末の判断を再現するserver画像を探し、Layer 3へ渡せるpairを作る</a:t>
            </a:r>
          </a:p>
        </p:txBody>
      </p:sp>
      <p:sp>
        <p:nvSpPr>
          <p:cNvPr id="27" name="">
            <a:extLst xmlns:a="http://schemas.openxmlformats.org/drawingml/2006/main">
              <a:ext uri="{FF2B5EF4-FFF2-40B4-BE49-F238E27FC236}">
                <a16:creationId xmlns:a16="http://schemas.microsoft.com/office/drawing/2014/main" id="{A704B7E3-AA60-4352-9920-CF812EBCFB14}"/>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研究方針：private raw dataは送らず、判断の要約を介してfoundation側へ接続</a:t>
            </a:r>
          </a:p>
        </p:txBody>
      </p:sp>
      <p:sp>
        <p:nvSpPr>
          <p:cNvPr id="28" name="">
            <a:extLst xmlns:a="http://schemas.openxmlformats.org/drawingml/2006/main">
              <a:ext uri="{FF2B5EF4-FFF2-40B4-BE49-F238E27FC236}">
                <a16:creationId xmlns:a16="http://schemas.microsoft.com/office/drawing/2014/main" id="{8D31A322-8493-4DC0-85A9-4DE0927994A0}"/>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2</a:t>
            </a:r>
          </a:p>
        </p:txBody>
      </p:sp>
    </p:spTree>
    <p:extLst>
      <p:ext uri="{BB962C8B-B14F-4D97-AF65-F5344CB8AC3E}">
        <p14:creationId xmlns:p14="http://schemas.microsoft.com/office/powerpoint/2010/main" val="756342125"/>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EDB50F5-18EE-4274-8912-95E9D79CABC2}"/>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端末から届く目標は画像ではなく判断の変化</a:t>
            </a:r>
          </a:p>
        </p:txBody>
      </p:sp>
      <p:sp>
        <p:nvSpPr>
          <p:cNvPr id="2" name="">
            <a:extLst xmlns:a="http://schemas.openxmlformats.org/drawingml/2006/main">
              <a:ext uri="{FF2B5EF4-FFF2-40B4-BE49-F238E27FC236}">
                <a16:creationId xmlns:a16="http://schemas.microsoft.com/office/drawing/2014/main" id="{3AD8E47A-BEFF-46AF-A537-CCEBDE11D0FE}"/>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02</a:t>
            </a:r>
          </a:p>
        </p:txBody>
      </p:sp>
      <p:sp>
        <p:nvSpPr>
          <p:cNvPr id="3" name="">
            <a:extLst xmlns:a="http://schemas.openxmlformats.org/drawingml/2006/main">
              <a:ext uri="{FF2B5EF4-FFF2-40B4-BE49-F238E27FC236}">
                <a16:creationId xmlns:a16="http://schemas.microsoft.com/office/drawing/2014/main" id="{22F299B6-601F-4C1F-92C4-18195CDC2041}"/>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A51ABCF1-A0B0-4AB3-B1F9-F7B551F6768F}"/>
              </a:ext>
            </a:extLst>
          </p:cNvPr>
          <p:cNvSpPr>
            <a:spLocks xmlns:a="http://schemas.openxmlformats.org/drawingml/2006/main" noGrp="1"/>
          </p:cNvSpPr>
          <p:nvPr/>
        </p:nvSpPr>
        <p:spPr>
          <a:xfrm xmlns:a="http://schemas.openxmlformats.org/drawingml/2006/main">
            <a:off x="609600" y="1209675"/>
            <a:ext cx="1428750" cy="323850"/>
          </a:xfrm>
          <a:prstGeom xmlns:a="http://schemas.openxmlformats.org/drawingml/2006/main" prst="roundRect">
            <a:avLst>
              <a:gd name="adj" fmla="val 23529"/>
            </a:avLst>
          </a:prstGeom>
          <a:solidFill xmlns:a="http://schemas.openxmlformats.org/drawingml/2006/main">
            <a:srgbClr val="168A7A"/>
          </a:solidFill>
          <a:ln xmlns:a="http://schemas.openxmlformats.org/drawingml/2006/main" w="0">
            <a:solidFill>
              <a:srgbClr val="168A7A"/>
            </a:solidFill>
            <a:prstDash val="solid"/>
          </a:ln>
        </p:spPr>
      </p:sp>
      <p:sp>
        <p:nvSpPr>
          <p:cNvPr id="5" name="">
            <a:extLst xmlns:a="http://schemas.openxmlformats.org/drawingml/2006/main">
              <a:ext uri="{FF2B5EF4-FFF2-40B4-BE49-F238E27FC236}">
                <a16:creationId xmlns:a16="http://schemas.microsoft.com/office/drawing/2014/main" id="{54C0BC0F-6D29-4A28-ACA6-FD9E39FB8F91}"/>
              </a:ext>
            </a:extLst>
          </p:cNvPr>
          <p:cNvSpPr>
            <a:spLocks xmlns:a="http://schemas.openxmlformats.org/drawingml/2006/main" noGrp="1"/>
          </p:cNvSpPr>
          <p:nvPr/>
        </p:nvSpPr>
        <p:spPr>
          <a:xfrm xmlns:a="http://schemas.openxmlformats.org/drawingml/2006/main">
            <a:off x="704850" y="1257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CLIENT 内</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75d128c505742a0"/>
          <a:srcRect xmlns:a="http://schemas.openxmlformats.org/drawingml/2006/main" l="0" t="46" r="0" b="46"/>
          <a:stretch xmlns:a="http://schemas.openxmlformats.org/drawingml/2006/main">
            <a:fillRect l="0" t="0" r="0" b="0"/>
          </a:stretch>
        </p:blipFill>
        <p:spPr>
          <a:xfrm xmlns:a="http://schemas.openxmlformats.org/drawingml/2006/main">
            <a:off x="609600" y="1762125"/>
            <a:ext cx="2305050" cy="12954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465c9a6ec1d41f0"/>
          <a:srcRect xmlns:a="http://schemas.openxmlformats.org/drawingml/2006/main" l="0" t="46" r="0" b="46"/>
          <a:stretch xmlns:a="http://schemas.openxmlformats.org/drawingml/2006/main">
            <a:fillRect l="0" t="0" r="0" b="0"/>
          </a:stretch>
        </p:blipFill>
        <p:spPr>
          <a:xfrm xmlns:a="http://schemas.openxmlformats.org/drawingml/2006/main">
            <a:off x="2990850" y="1762125"/>
            <a:ext cx="2305050" cy="12954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0a136e0c9ca470c"/>
          <a:srcRect xmlns:a="http://schemas.openxmlformats.org/drawingml/2006/main" l="0" t="46" r="0" b="46"/>
          <a:stretch xmlns:a="http://schemas.openxmlformats.org/drawingml/2006/main">
            <a:fillRect l="0" t="0" r="0" b="0"/>
          </a:stretch>
        </p:blipFill>
        <p:spPr>
          <a:xfrm xmlns:a="http://schemas.openxmlformats.org/drawingml/2006/main">
            <a:off x="5372100" y="1762125"/>
            <a:ext cx="2305050" cy="12954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4bed10014cd43c1"/>
          <a:srcRect xmlns:a="http://schemas.openxmlformats.org/drawingml/2006/main" l="0" t="46" r="0" b="46"/>
          <a:stretch xmlns:a="http://schemas.openxmlformats.org/drawingml/2006/main">
            <a:fillRect l="0" t="0" r="0" b="0"/>
          </a:stretch>
        </p:blipFill>
        <p:spPr>
          <a:xfrm xmlns:a="http://schemas.openxmlformats.org/drawingml/2006/main">
            <a:off x="7753350" y="1762125"/>
            <a:ext cx="2305050" cy="1295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8942F15-E320-49B8-98B9-7538D3891066}"/>
              </a:ext>
            </a:extLst>
          </p:cNvPr>
          <p:cNvSpPr>
            <a:spLocks xmlns:a="http://schemas.openxmlformats.org/drawingml/2006/main" noGrp="1"/>
          </p:cNvSpPr>
          <p:nvPr/>
        </p:nvSpPr>
        <p:spPr>
          <a:xfrm xmlns:a="http://schemas.openxmlformats.org/drawingml/2006/main">
            <a:off x="609600" y="31718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表示画像はrisk prototypeを作った3件のうち1件</a:t>
            </a:r>
          </a:p>
        </p:txBody>
      </p:sp>
      <p:sp>
        <p:nvSpPr>
          <p:cNvPr id="11" name="">
            <a:extLst xmlns:a="http://schemas.openxmlformats.org/drawingml/2006/main">
              <a:ext uri="{FF2B5EF4-FFF2-40B4-BE49-F238E27FC236}">
                <a16:creationId xmlns:a16="http://schemas.microsoft.com/office/drawing/2014/main" id="{60E2239E-CF7E-471E-9FB9-2410641D5044}"/>
              </a:ext>
            </a:extLst>
          </p:cNvPr>
          <p:cNvSpPr>
            <a:spLocks xmlns:a="http://schemas.openxmlformats.org/drawingml/2006/main" noGrp="1"/>
          </p:cNvSpPr>
          <p:nvPr/>
        </p:nvSpPr>
        <p:spPr>
          <a:xfrm xmlns:a="http://schemas.openxmlformats.org/drawingml/2006/main">
            <a:off x="609600" y="37814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局所適応前の平均出力</a:t>
            </a:r>
          </a:p>
        </p:txBody>
      </p:sp>
      <p:sp>
        <p:nvSpPr>
          <p:cNvPr id="12" name="">
            <a:extLst xmlns:a="http://schemas.openxmlformats.org/drawingml/2006/main">
              <a:ext uri="{FF2B5EF4-FFF2-40B4-BE49-F238E27FC236}">
                <a16:creationId xmlns:a16="http://schemas.microsoft.com/office/drawing/2014/main" id="{81664A80-E82B-44F9-AB2E-F5931D404EBE}"/>
              </a:ext>
            </a:extLst>
          </p:cNvPr>
          <p:cNvSpPr>
            <a:spLocks xmlns:a="http://schemas.openxmlformats.org/drawingml/2006/main" noGrp="1"/>
          </p:cNvSpPr>
          <p:nvPr/>
        </p:nvSpPr>
        <p:spPr>
          <a:xfrm xmlns:a="http://schemas.openxmlformats.org/drawingml/2006/main">
            <a:off x="60960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816F23F7-0D68-47A8-B945-B23CCB6E6D3D}"/>
              </a:ext>
            </a:extLst>
          </p:cNvPr>
          <p:cNvSpPr>
            <a:spLocks xmlns:a="http://schemas.openxmlformats.org/drawingml/2006/main" noGrp="1"/>
          </p:cNvSpPr>
          <p:nvPr/>
        </p:nvSpPr>
        <p:spPr>
          <a:xfrm xmlns:a="http://schemas.openxmlformats.org/drawingml/2006/main">
            <a:off x="609600" y="4400550"/>
            <a:ext cx="1260158"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2CF72B2A-C6D4-4F5A-A11F-EFC880A119E0}"/>
              </a:ext>
            </a:extLst>
          </p:cNvPr>
          <p:cNvSpPr>
            <a:spLocks xmlns:a="http://schemas.openxmlformats.org/drawingml/2006/main" noGrp="1"/>
          </p:cNvSpPr>
          <p:nvPr/>
        </p:nvSpPr>
        <p:spPr>
          <a:xfrm xmlns:a="http://schemas.openxmlformats.org/drawingml/2006/main">
            <a:off x="1869758" y="4400550"/>
            <a:ext cx="274034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4F60C581-1263-4CCB-AE34-77D2F60CDB6C}"/>
              </a:ext>
            </a:extLst>
          </p:cNvPr>
          <p:cNvSpPr>
            <a:spLocks xmlns:a="http://schemas.openxmlformats.org/drawingml/2006/main" noGrp="1"/>
          </p:cNvSpPr>
          <p:nvPr/>
        </p:nvSpPr>
        <p:spPr>
          <a:xfrm xmlns:a="http://schemas.openxmlformats.org/drawingml/2006/main">
            <a:off x="6096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0.315</a:t>
            </a:r>
          </a:p>
        </p:txBody>
      </p:sp>
      <p:sp>
        <p:nvSpPr>
          <p:cNvPr id="16" name="">
            <a:extLst xmlns:a="http://schemas.openxmlformats.org/drawingml/2006/main">
              <a:ext uri="{FF2B5EF4-FFF2-40B4-BE49-F238E27FC236}">
                <a16:creationId xmlns:a16="http://schemas.microsoft.com/office/drawing/2014/main" id="{2435F4B0-BA7E-451C-92E1-E60B98CC86B7}"/>
              </a:ext>
            </a:extLst>
          </p:cNvPr>
          <p:cNvSpPr>
            <a:spLocks xmlns:a="http://schemas.openxmlformats.org/drawingml/2006/main" noGrp="1"/>
          </p:cNvSpPr>
          <p:nvPr/>
        </p:nvSpPr>
        <p:spPr>
          <a:xfrm xmlns:a="http://schemas.openxmlformats.org/drawingml/2006/main">
            <a:off x="26098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0.685</a:t>
            </a:r>
          </a:p>
        </p:txBody>
      </p:sp>
      <p:sp>
        <p:nvSpPr>
          <p:cNvPr id="17" name="">
            <a:extLst xmlns:a="http://schemas.openxmlformats.org/drawingml/2006/main">
              <a:ext uri="{FF2B5EF4-FFF2-40B4-BE49-F238E27FC236}">
                <a16:creationId xmlns:a16="http://schemas.microsoft.com/office/drawing/2014/main" id="{99AC3015-9B26-41D2-B444-52ABFF17ABFC}"/>
              </a:ext>
            </a:extLst>
          </p:cNvPr>
          <p:cNvSpPr>
            <a:spLocks xmlns:a="http://schemas.openxmlformats.org/drawingml/2006/main" noGrp="1"/>
          </p:cNvSpPr>
          <p:nvPr/>
        </p:nvSpPr>
        <p:spPr>
          <a:xfrm xmlns:a="http://schemas.openxmlformats.org/drawingml/2006/main">
            <a:off x="5238750" y="37814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局所適応後の平均出力  μ_post</a:t>
            </a:r>
          </a:p>
        </p:txBody>
      </p:sp>
      <p:sp>
        <p:nvSpPr>
          <p:cNvPr id="18" name="">
            <a:extLst xmlns:a="http://schemas.openxmlformats.org/drawingml/2006/main">
              <a:ext uri="{FF2B5EF4-FFF2-40B4-BE49-F238E27FC236}">
                <a16:creationId xmlns:a16="http://schemas.microsoft.com/office/drawing/2014/main" id="{400CF5D7-7E27-4D8F-944E-F65587E1E253}"/>
              </a:ext>
            </a:extLst>
          </p:cNvPr>
          <p:cNvSpPr>
            <a:spLocks xmlns:a="http://schemas.openxmlformats.org/drawingml/2006/main" noGrp="1"/>
          </p:cNvSpPr>
          <p:nvPr/>
        </p:nvSpPr>
        <p:spPr>
          <a:xfrm xmlns:a="http://schemas.openxmlformats.org/drawingml/2006/main">
            <a:off x="523875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44967C87-D26D-46E6-8264-F5CF94BBFC93}"/>
              </a:ext>
            </a:extLst>
          </p:cNvPr>
          <p:cNvSpPr>
            <a:spLocks xmlns:a="http://schemas.openxmlformats.org/drawingml/2006/main" noGrp="1"/>
          </p:cNvSpPr>
          <p:nvPr/>
        </p:nvSpPr>
        <p:spPr>
          <a:xfrm xmlns:a="http://schemas.openxmlformats.org/drawingml/2006/main">
            <a:off x="5238750" y="4400550"/>
            <a:ext cx="268034"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7291A68B-1416-4482-BAEA-AF5EDCEA4DDE}"/>
              </a:ext>
            </a:extLst>
          </p:cNvPr>
          <p:cNvSpPr>
            <a:spLocks xmlns:a="http://schemas.openxmlformats.org/drawingml/2006/main" noGrp="1"/>
          </p:cNvSpPr>
          <p:nvPr/>
        </p:nvSpPr>
        <p:spPr>
          <a:xfrm xmlns:a="http://schemas.openxmlformats.org/drawingml/2006/main">
            <a:off x="5506784" y="4400550"/>
            <a:ext cx="3732467"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3E33C4E3-8932-4EF3-8FF0-4DAC25CED13D}"/>
              </a:ext>
            </a:extLst>
          </p:cNvPr>
          <p:cNvSpPr>
            <a:spLocks xmlns:a="http://schemas.openxmlformats.org/drawingml/2006/main" noGrp="1"/>
          </p:cNvSpPr>
          <p:nvPr/>
        </p:nvSpPr>
        <p:spPr>
          <a:xfrm xmlns:a="http://schemas.openxmlformats.org/drawingml/2006/main">
            <a:off x="52387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0.067</a:t>
            </a:r>
          </a:p>
        </p:txBody>
      </p:sp>
      <p:sp>
        <p:nvSpPr>
          <p:cNvPr id="22" name="">
            <a:extLst xmlns:a="http://schemas.openxmlformats.org/drawingml/2006/main">
              <a:ext uri="{FF2B5EF4-FFF2-40B4-BE49-F238E27FC236}">
                <a16:creationId xmlns:a16="http://schemas.microsoft.com/office/drawing/2014/main" id="{591848F1-7FEE-45F6-A8E5-C9017481EAD6}"/>
              </a:ext>
            </a:extLst>
          </p:cNvPr>
          <p:cNvSpPr>
            <a:spLocks xmlns:a="http://schemas.openxmlformats.org/drawingml/2006/main" noGrp="1"/>
          </p:cNvSpPr>
          <p:nvPr/>
        </p:nvSpPr>
        <p:spPr>
          <a:xfrm xmlns:a="http://schemas.openxmlformats.org/drawingml/2006/main">
            <a:off x="72390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0.933</a:t>
            </a:r>
          </a:p>
        </p:txBody>
      </p:sp>
      <p:sp>
        <p:nvSpPr>
          <p:cNvPr id="23" name="">
            <a:extLst xmlns:a="http://schemas.openxmlformats.org/drawingml/2006/main">
              <a:ext uri="{FF2B5EF4-FFF2-40B4-BE49-F238E27FC236}">
                <a16:creationId xmlns:a16="http://schemas.microsoft.com/office/drawing/2014/main" id="{04E68125-4FC8-4DBC-BBED-086DAB75653D}"/>
              </a:ext>
            </a:extLst>
          </p:cNvPr>
          <p:cNvSpPr>
            <a:spLocks xmlns:a="http://schemas.openxmlformats.org/drawingml/2006/main" noGrp="1"/>
          </p:cNvSpPr>
          <p:nvPr/>
        </p:nvSpPr>
        <p:spPr>
          <a:xfrm xmlns:a="http://schemas.openxmlformats.org/drawingml/2006/main">
            <a:off x="9658350" y="38576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risk判断の変化</a:t>
            </a:r>
          </a:p>
        </p:txBody>
      </p:sp>
      <p:sp>
        <p:nvSpPr>
          <p:cNvPr id="24" name="">
            <a:extLst xmlns:a="http://schemas.openxmlformats.org/drawingml/2006/main">
              <a:ext uri="{FF2B5EF4-FFF2-40B4-BE49-F238E27FC236}">
                <a16:creationId xmlns:a16="http://schemas.microsoft.com/office/drawing/2014/main" id="{84F8C547-D698-4955-A2C0-531ABBFE0A51}"/>
              </a:ext>
            </a:extLst>
          </p:cNvPr>
          <p:cNvSpPr>
            <a:spLocks xmlns:a="http://schemas.openxmlformats.org/drawingml/2006/main" noGrp="1"/>
          </p:cNvSpPr>
          <p:nvPr/>
        </p:nvSpPr>
        <p:spPr>
          <a:xfrm xmlns:a="http://schemas.openxmlformats.org/drawingml/2006/main">
            <a:off x="9658350" y="42386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3150" b="1">
                <a:solidFill>
                  <a:srgbClr val="D95D45"/>
                </a:solidFill>
                <a:latin typeface="BIZ UDPGothic"/>
                <a:ea typeface="BIZ UDPGothic"/>
                <a:cs typeface="BIZ UDPGothic"/>
              </a:defRPr>
            </a:pPr>
            <a:r>
              <a:rPr sz="3150" b="1">
                <a:solidFill>
                  <a:srgbClr val="D95D45"/>
                </a:solidFill>
                <a:latin typeface="BIZ UDPGothic"/>
                <a:ea typeface="BIZ UDPGothic"/>
                <a:cs typeface="BIZ UDPGothic"/>
              </a:rPr>
              <a:t>+0.248</a:t>
            </a:r>
          </a:p>
        </p:txBody>
      </p:sp>
      <p:sp>
        <p:nvSpPr>
          <p:cNvPr id="25" name="">
            <a:extLst xmlns:a="http://schemas.openxmlformats.org/drawingml/2006/main">
              <a:ext uri="{FF2B5EF4-FFF2-40B4-BE49-F238E27FC236}">
                <a16:creationId xmlns:a16="http://schemas.microsoft.com/office/drawing/2014/main" id="{98CBA843-7340-450A-BDB9-C180A7F222EF}"/>
              </a:ext>
            </a:extLst>
          </p:cNvPr>
          <p:cNvSpPr>
            <a:spLocks xmlns:a="http://schemas.openxmlformats.org/drawingml/2006/main" noGrp="1"/>
          </p:cNvSpPr>
          <p:nvPr/>
        </p:nvSpPr>
        <p:spPr>
          <a:xfrm xmlns:a="http://schemas.openxmlformats.org/drawingml/2006/main">
            <a:off x="9658350" y="4810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Δμ_local</a:t>
            </a:r>
          </a:p>
        </p:txBody>
      </p:sp>
      <p:sp>
        <p:nvSpPr>
          <p:cNvPr id="26" name="">
            <a:extLst xmlns:a="http://schemas.openxmlformats.org/drawingml/2006/main">
              <a:ext uri="{FF2B5EF4-FFF2-40B4-BE49-F238E27FC236}">
                <a16:creationId xmlns:a16="http://schemas.microsoft.com/office/drawing/2014/main" id="{2AA7A561-D692-4047-A70A-DDD0D6965AE1}"/>
              </a:ext>
            </a:extLst>
          </p:cNvPr>
          <p:cNvSpPr>
            <a:spLocks xmlns:a="http://schemas.openxmlformats.org/drawingml/2006/main" noGrp="1"/>
          </p:cNvSpPr>
          <p:nvPr/>
        </p:nvSpPr>
        <p:spPr>
          <a:xfrm xmlns:a="http://schemas.openxmlformats.org/drawingml/2006/main">
            <a:off x="609600" y="5457825"/>
            <a:ext cx="10953750" cy="685800"/>
          </a:xfrm>
          <a:prstGeom xmlns:a="http://schemas.openxmlformats.org/drawingml/2006/main" prst="roundRect">
            <a:avLst>
              <a:gd name="adj" fmla="val 11111"/>
            </a:avLst>
          </a:prstGeom>
          <a:solidFill xmlns:a="http://schemas.openxmlformats.org/drawingml/2006/main">
            <a:srgbClr val="DDF1EC"/>
          </a:solidFill>
          <a:ln xmlns:a="http://schemas.openxmlformats.org/drawingml/2006/main" w="14288">
            <a:solidFill>
              <a:srgbClr val="168A7A"/>
            </a:solidFill>
            <a:prstDash val="solid"/>
          </a:ln>
        </p:spPr>
      </p:sp>
      <p:sp>
        <p:nvSpPr>
          <p:cNvPr id="27" name="">
            <a:extLst xmlns:a="http://schemas.openxmlformats.org/drawingml/2006/main">
              <a:ext uri="{FF2B5EF4-FFF2-40B4-BE49-F238E27FC236}">
                <a16:creationId xmlns:a16="http://schemas.microsoft.com/office/drawing/2014/main" id="{CF65A84A-D0DB-46EB-A864-69DBC532989A}"/>
              </a:ext>
            </a:extLst>
          </p:cNvPr>
          <p:cNvSpPr>
            <a:spLocks xmlns:a="http://schemas.openxmlformats.org/drawingml/2006/main" noGrp="1"/>
          </p:cNvSpPr>
          <p:nvPr/>
        </p:nvSpPr>
        <p:spPr>
          <a:xfrm xmlns:a="http://schemas.openxmlformats.org/drawingml/2006/main">
            <a:off x="838200" y="56769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SERVERへ送る   </a:t>
            </a:r>
            <a:r>
              <a:rPr sz="1575" b="1">
                <a:solidFill>
                  <a:srgbClr val="102A43"/>
                </a:solidFill>
                <a:latin typeface="BIZ UDPGothic"/>
                <a:ea typeface="BIZ UDPGothic"/>
                <a:cs typeface="BIZ UDPGothic"/>
              </a:rPr>
              <a:t>μ_post=[0.067, 0.933]   Δμ_local=[−0.248, +0.248]   frequency=3   LoRA更新情報</a:t>
            </a:r>
          </a:p>
        </p:txBody>
      </p:sp>
      <p:sp>
        <p:nvSpPr>
          <p:cNvPr id="28" name="">
            <a:extLst xmlns:a="http://schemas.openxmlformats.org/drawingml/2006/main">
              <a:ext uri="{FF2B5EF4-FFF2-40B4-BE49-F238E27FC236}">
                <a16:creationId xmlns:a16="http://schemas.microsoft.com/office/drawing/2014/main" id="{B8930405-C6DA-431B-857B-27FCF875676C}"/>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Diagnostic run: run_20260910_002139_presentation_case</a:t>
            </a:r>
          </a:p>
        </p:txBody>
      </p:sp>
      <p:sp>
        <p:nvSpPr>
          <p:cNvPr id="29" name="">
            <a:extLst xmlns:a="http://schemas.openxmlformats.org/drawingml/2006/main">
              <a:ext uri="{FF2B5EF4-FFF2-40B4-BE49-F238E27FC236}">
                <a16:creationId xmlns:a16="http://schemas.microsoft.com/office/drawing/2014/main" id="{75E3FCC8-EB69-43F3-AD18-4A4DADCAE1C2}"/>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3</a:t>
            </a:r>
          </a:p>
        </p:txBody>
      </p:sp>
    </p:spTree>
    <p:extLst>
      <p:ext uri="{BB962C8B-B14F-4D97-AF65-F5344CB8AC3E}">
        <p14:creationId xmlns:p14="http://schemas.microsoft.com/office/powerpoint/2010/main" val="869269787"/>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D8F9F96-8940-4A40-A306-87E656489470}"/>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探索距離はseed候補を順位付けするための尺度</a:t>
            </a:r>
          </a:p>
        </p:txBody>
      </p:sp>
      <p:sp>
        <p:nvSpPr>
          <p:cNvPr id="2" name="">
            <a:extLst xmlns:a="http://schemas.openxmlformats.org/drawingml/2006/main">
              <a:ext uri="{FF2B5EF4-FFF2-40B4-BE49-F238E27FC236}">
                <a16:creationId xmlns:a16="http://schemas.microsoft.com/office/drawing/2014/main" id="{0E035F97-6273-44C5-8B07-955A3A0FB5EE}"/>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03</a:t>
            </a:r>
          </a:p>
        </p:txBody>
      </p:sp>
      <p:sp>
        <p:nvSpPr>
          <p:cNvPr id="3" name="">
            <a:extLst xmlns:a="http://schemas.openxmlformats.org/drawingml/2006/main">
              <a:ext uri="{FF2B5EF4-FFF2-40B4-BE49-F238E27FC236}">
                <a16:creationId xmlns:a16="http://schemas.microsoft.com/office/drawing/2014/main" id="{62FD1209-4C5C-4F82-A15F-0CAADDB46841}"/>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BABCDE6D-171A-4033-8207-432DE25C189F}"/>
              </a:ext>
            </a:extLst>
          </p:cNvPr>
          <p:cNvSpPr>
            <a:spLocks xmlns:a="http://schemas.openxmlformats.org/drawingml/2006/main" noGrp="1"/>
          </p:cNvSpPr>
          <p:nvPr/>
        </p:nvSpPr>
        <p:spPr>
          <a:xfrm xmlns:a="http://schemas.openxmlformats.org/drawingml/2006/main">
            <a:off x="609600" y="1571625"/>
            <a:ext cx="3381375" cy="1809750"/>
          </a:xfrm>
          <a:prstGeom xmlns:a="http://schemas.openxmlformats.org/drawingml/2006/main" prst="roundRect">
            <a:avLst>
              <a:gd name="adj" fmla="val 4211"/>
            </a:avLst>
          </a:prstGeom>
          <a:solidFill xmlns:a="http://schemas.openxmlformats.org/drawingml/2006/main">
            <a:srgbClr val="DDF1EC"/>
          </a:solidFill>
          <a:ln xmlns:a="http://schemas.openxmlformats.org/drawingml/2006/main" w="19050">
            <a:solidFill>
              <a:srgbClr val="168A7A"/>
            </a:solidFill>
            <a:prstDash val="solid"/>
          </a:ln>
        </p:spPr>
      </p:sp>
      <p:sp>
        <p:nvSpPr>
          <p:cNvPr id="5" name="">
            <a:extLst xmlns:a="http://schemas.openxmlformats.org/drawingml/2006/main">
              <a:ext uri="{FF2B5EF4-FFF2-40B4-BE49-F238E27FC236}">
                <a16:creationId xmlns:a16="http://schemas.microsoft.com/office/drawing/2014/main" id="{80C82346-98F0-45A2-9B1F-E0D293CA555A}"/>
              </a:ext>
            </a:extLst>
          </p:cNvPr>
          <p:cNvSpPr>
            <a:spLocks xmlns:a="http://schemas.openxmlformats.org/drawingml/2006/main" noGrp="1"/>
          </p:cNvSpPr>
          <p:nvPr/>
        </p:nvSpPr>
        <p:spPr>
          <a:xfrm xmlns:a="http://schemas.openxmlformats.org/drawingml/2006/main">
            <a:off x="838200" y="1781175"/>
            <a:ext cx="2924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68A7A"/>
                </a:solidFill>
                <a:latin typeface="BIZ UDPGothic"/>
                <a:ea typeface="BIZ UDPGothic"/>
                <a:cs typeface="BIZ UDPGothic"/>
              </a:defRPr>
            </a:pPr>
            <a:r>
              <a:rPr sz="1875" b="1">
                <a:solidFill>
                  <a:srgbClr val="168A7A"/>
                </a:solidFill>
                <a:latin typeface="BIZ UDPGothic"/>
                <a:ea typeface="BIZ UDPGothic"/>
                <a:cs typeface="BIZ UDPGothic"/>
              </a:rPr>
              <a:t>端末から届いた目標</a:t>
            </a:r>
          </a:p>
        </p:txBody>
      </p:sp>
      <p:sp>
        <p:nvSpPr>
          <p:cNvPr id="6" name="">
            <a:extLst xmlns:a="http://schemas.openxmlformats.org/drawingml/2006/main">
              <a:ext uri="{FF2B5EF4-FFF2-40B4-BE49-F238E27FC236}">
                <a16:creationId xmlns:a16="http://schemas.microsoft.com/office/drawing/2014/main" id="{A258C35D-79E0-4CB9-8ADF-717684CE9891}"/>
              </a:ext>
            </a:extLst>
          </p:cNvPr>
          <p:cNvSpPr>
            <a:spLocks xmlns:a="http://schemas.openxmlformats.org/drawingml/2006/main" noGrp="1"/>
          </p:cNvSpPr>
          <p:nvPr/>
        </p:nvSpPr>
        <p:spPr>
          <a:xfrm xmlns:a="http://schemas.openxmlformats.org/drawingml/2006/main">
            <a:off x="838200" y="22383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μ_post</a:t>
            </a:r>
          </a:p>
        </p:txBody>
      </p:sp>
      <p:sp>
        <p:nvSpPr>
          <p:cNvPr id="7" name="">
            <a:extLst xmlns:a="http://schemas.openxmlformats.org/drawingml/2006/main">
              <a:ext uri="{FF2B5EF4-FFF2-40B4-BE49-F238E27FC236}">
                <a16:creationId xmlns:a16="http://schemas.microsoft.com/office/drawing/2014/main" id="{2711B470-6182-4CEF-A43D-E39118369593}"/>
              </a:ext>
            </a:extLst>
          </p:cNvPr>
          <p:cNvSpPr>
            <a:spLocks xmlns:a="http://schemas.openxmlformats.org/drawingml/2006/main" noGrp="1"/>
          </p:cNvSpPr>
          <p:nvPr/>
        </p:nvSpPr>
        <p:spPr>
          <a:xfrm xmlns:a="http://schemas.openxmlformats.org/drawingml/2006/main">
            <a:off x="904875" y="2905125"/>
            <a:ext cx="28003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8" name="">
            <a:extLst xmlns:a="http://schemas.openxmlformats.org/drawingml/2006/main">
              <a:ext uri="{FF2B5EF4-FFF2-40B4-BE49-F238E27FC236}">
                <a16:creationId xmlns:a16="http://schemas.microsoft.com/office/drawing/2014/main" id="{00ED3D27-F0E5-4DB4-A74C-9284A503203E}"/>
              </a:ext>
            </a:extLst>
          </p:cNvPr>
          <p:cNvSpPr>
            <a:spLocks xmlns:a="http://schemas.openxmlformats.org/drawingml/2006/main" noGrp="1"/>
          </p:cNvSpPr>
          <p:nvPr/>
        </p:nvSpPr>
        <p:spPr>
          <a:xfrm xmlns:a="http://schemas.openxmlformats.org/drawingml/2006/main">
            <a:off x="904875" y="2905125"/>
            <a:ext cx="187623"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9" name="">
            <a:extLst xmlns:a="http://schemas.openxmlformats.org/drawingml/2006/main">
              <a:ext uri="{FF2B5EF4-FFF2-40B4-BE49-F238E27FC236}">
                <a16:creationId xmlns:a16="http://schemas.microsoft.com/office/drawing/2014/main" id="{C6BAF287-5360-4D18-B834-6CFA9DAF5260}"/>
              </a:ext>
            </a:extLst>
          </p:cNvPr>
          <p:cNvSpPr>
            <a:spLocks xmlns:a="http://schemas.openxmlformats.org/drawingml/2006/main" noGrp="1"/>
          </p:cNvSpPr>
          <p:nvPr/>
        </p:nvSpPr>
        <p:spPr>
          <a:xfrm xmlns:a="http://schemas.openxmlformats.org/drawingml/2006/main">
            <a:off x="1092498" y="2905125"/>
            <a:ext cx="2612727"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0" name="">
            <a:extLst xmlns:a="http://schemas.openxmlformats.org/drawingml/2006/main">
              <a:ext uri="{FF2B5EF4-FFF2-40B4-BE49-F238E27FC236}">
                <a16:creationId xmlns:a16="http://schemas.microsoft.com/office/drawing/2014/main" id="{6D22D254-BBAB-4FEE-9084-79120C04DD4E}"/>
              </a:ext>
            </a:extLst>
          </p:cNvPr>
          <p:cNvSpPr>
            <a:spLocks xmlns:a="http://schemas.openxmlformats.org/drawingml/2006/main" noGrp="1"/>
          </p:cNvSpPr>
          <p:nvPr/>
        </p:nvSpPr>
        <p:spPr>
          <a:xfrm xmlns:a="http://schemas.openxmlformats.org/drawingml/2006/main">
            <a:off x="904875"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0.067</a:t>
            </a:r>
          </a:p>
        </p:txBody>
      </p:sp>
      <p:sp>
        <p:nvSpPr>
          <p:cNvPr id="11" name="">
            <a:extLst xmlns:a="http://schemas.openxmlformats.org/drawingml/2006/main">
              <a:ext uri="{FF2B5EF4-FFF2-40B4-BE49-F238E27FC236}">
                <a16:creationId xmlns:a16="http://schemas.microsoft.com/office/drawing/2014/main" id="{88309FEE-E015-46F6-AD8F-E3B98C224454}"/>
              </a:ext>
            </a:extLst>
          </p:cNvPr>
          <p:cNvSpPr>
            <a:spLocks xmlns:a="http://schemas.openxmlformats.org/drawingml/2006/main" noGrp="1"/>
          </p:cNvSpPr>
          <p:nvPr/>
        </p:nvSpPr>
        <p:spPr>
          <a:xfrm xmlns:a="http://schemas.openxmlformats.org/drawingml/2006/main">
            <a:off x="2305050"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0.933</a:t>
            </a:r>
          </a:p>
        </p:txBody>
      </p:sp>
      <p:sp>
        <p:nvSpPr>
          <p:cNvPr id="12" name="">
            <a:extLst xmlns:a="http://schemas.openxmlformats.org/drawingml/2006/main">
              <a:ext uri="{FF2B5EF4-FFF2-40B4-BE49-F238E27FC236}">
                <a16:creationId xmlns:a16="http://schemas.microsoft.com/office/drawing/2014/main" id="{ABCC332A-EF96-4718-B6E2-A6D3D017B2EB}"/>
              </a:ext>
            </a:extLst>
          </p:cNvPr>
          <p:cNvSpPr>
            <a:spLocks xmlns:a="http://schemas.openxmlformats.org/drawingml/2006/main" noGrp="1"/>
          </p:cNvSpPr>
          <p:nvPr/>
        </p:nvSpPr>
        <p:spPr>
          <a:xfrm xmlns:a="http://schemas.openxmlformats.org/drawingml/2006/main">
            <a:off x="4629150" y="1952625"/>
            <a:ext cx="2571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2F6FA5"/>
            </a:solidFill>
            <a:prstDash val="solid"/>
          </a:ln>
        </p:spPr>
      </p:sp>
      <p:sp>
        <p:nvSpPr>
          <p:cNvPr id="13" name="">
            <a:extLst xmlns:a="http://schemas.openxmlformats.org/drawingml/2006/main">
              <a:ext uri="{FF2B5EF4-FFF2-40B4-BE49-F238E27FC236}">
                <a16:creationId xmlns:a16="http://schemas.microsoft.com/office/drawing/2014/main" id="{A05E0F9C-45A2-412B-98C1-9935A9A9B5DE}"/>
              </a:ext>
            </a:extLst>
          </p:cNvPr>
          <p:cNvSpPr>
            <a:spLocks xmlns:a="http://schemas.openxmlformats.org/drawingml/2006/main" noGrp="1"/>
          </p:cNvSpPr>
          <p:nvPr/>
        </p:nvSpPr>
        <p:spPr>
          <a:xfrm xmlns:a="http://schemas.openxmlformats.org/drawingml/2006/main">
            <a:off x="4810125" y="21526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updated global surrogate</a:t>
            </a:r>
          </a:p>
        </p:txBody>
      </p:sp>
      <p:sp>
        <p:nvSpPr>
          <p:cNvPr id="14" name="">
            <a:extLst xmlns:a="http://schemas.openxmlformats.org/drawingml/2006/main">
              <a:ext uri="{FF2B5EF4-FFF2-40B4-BE49-F238E27FC236}">
                <a16:creationId xmlns:a16="http://schemas.microsoft.com/office/drawing/2014/main" id="{C29747ED-A98E-4B9D-8A27-1476325F1CEE}"/>
              </a:ext>
            </a:extLst>
          </p:cNvPr>
          <p:cNvSpPr>
            <a:spLocks xmlns:a="http://schemas.openxmlformats.org/drawingml/2006/main" noGrp="1"/>
          </p:cNvSpPr>
          <p:nvPr/>
        </p:nvSpPr>
        <p:spPr>
          <a:xfrm xmlns:a="http://schemas.openxmlformats.org/drawingml/2006/main">
            <a:off x="4810125" y="2571750"/>
            <a:ext cx="2209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seed画像を確率分布へ変換</a:t>
            </a:r>
          </a:p>
        </p:txBody>
      </p:sp>
      <p:sp>
        <p:nvSpPr>
          <p:cNvPr id="15" name="">
            <a:extLst xmlns:a="http://schemas.openxmlformats.org/drawingml/2006/main">
              <a:ext uri="{FF2B5EF4-FFF2-40B4-BE49-F238E27FC236}">
                <a16:creationId xmlns:a16="http://schemas.microsoft.com/office/drawing/2014/main" id="{308F97E8-260E-4ED9-80A8-BAD975857803}"/>
              </a:ext>
            </a:extLst>
          </p:cNvPr>
          <p:cNvSpPr>
            <a:spLocks xmlns:a="http://schemas.openxmlformats.org/drawingml/2006/main" noGrp="1"/>
          </p:cNvSpPr>
          <p:nvPr/>
        </p:nvSpPr>
        <p:spPr>
          <a:xfrm xmlns:a="http://schemas.openxmlformats.org/drawingml/2006/main">
            <a:off x="7848600" y="1571625"/>
            <a:ext cx="3714750" cy="1809750"/>
          </a:xfrm>
          <a:prstGeom xmlns:a="http://schemas.openxmlformats.org/drawingml/2006/main" prst="roundRect">
            <a:avLst>
              <a:gd name="adj" fmla="val 4211"/>
            </a:avLst>
          </a:prstGeom>
          <a:solidFill xmlns:a="http://schemas.openxmlformats.org/drawingml/2006/main">
            <a:srgbClr val="E5EFF8"/>
          </a:solidFill>
          <a:ln xmlns:a="http://schemas.openxmlformats.org/drawingml/2006/main" w="19050">
            <a:solidFill>
              <a:srgbClr val="2F6FA5"/>
            </a:solidFill>
            <a:prstDash val="solid"/>
          </a:ln>
        </p:spPr>
      </p:sp>
      <p:sp>
        <p:nvSpPr>
          <p:cNvPr id="16" name="">
            <a:extLst xmlns:a="http://schemas.openxmlformats.org/drawingml/2006/main">
              <a:ext uri="{FF2B5EF4-FFF2-40B4-BE49-F238E27FC236}">
                <a16:creationId xmlns:a16="http://schemas.microsoft.com/office/drawing/2014/main" id="{542AEC07-423D-45C0-B4B7-93E9A548ECD4}"/>
              </a:ext>
            </a:extLst>
          </p:cNvPr>
          <p:cNvSpPr>
            <a:spLocks xmlns:a="http://schemas.openxmlformats.org/drawingml/2006/main" noGrp="1"/>
          </p:cNvSpPr>
          <p:nvPr/>
        </p:nvSpPr>
        <p:spPr>
          <a:xfrm xmlns:a="http://schemas.openxmlformats.org/drawingml/2006/main">
            <a:off x="8096250" y="1781175"/>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2F6FA5"/>
                </a:solidFill>
                <a:latin typeface="BIZ UDPGothic"/>
                <a:ea typeface="BIZ UDPGothic"/>
                <a:cs typeface="BIZ UDPGothic"/>
              </a:defRPr>
            </a:pPr>
            <a:r>
              <a:rPr sz="1875" b="1">
                <a:solidFill>
                  <a:srgbClr val="2F6FA5"/>
                </a:solidFill>
                <a:latin typeface="BIZ UDPGothic"/>
                <a:ea typeface="BIZ UDPGothic"/>
                <a:cs typeface="BIZ UDPGothic"/>
              </a:rPr>
              <a:t>seed候補 k の出力</a:t>
            </a:r>
          </a:p>
        </p:txBody>
      </p:sp>
      <p:sp>
        <p:nvSpPr>
          <p:cNvPr id="17" name="">
            <a:extLst xmlns:a="http://schemas.openxmlformats.org/drawingml/2006/main">
              <a:ext uri="{FF2B5EF4-FFF2-40B4-BE49-F238E27FC236}">
                <a16:creationId xmlns:a16="http://schemas.microsoft.com/office/drawing/2014/main" id="{120BFD23-3446-4158-9B89-396D165ED93D}"/>
              </a:ext>
            </a:extLst>
          </p:cNvPr>
          <p:cNvSpPr>
            <a:spLocks xmlns:a="http://schemas.openxmlformats.org/drawingml/2006/main" noGrp="1"/>
          </p:cNvSpPr>
          <p:nvPr/>
        </p:nvSpPr>
        <p:spPr>
          <a:xfrm xmlns:a="http://schemas.openxmlformats.org/drawingml/2006/main">
            <a:off x="8096250" y="22383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p_G^after(x_seed,k)</a:t>
            </a:r>
          </a:p>
        </p:txBody>
      </p:sp>
      <p:sp>
        <p:nvSpPr>
          <p:cNvPr id="18" name="">
            <a:extLst xmlns:a="http://schemas.openxmlformats.org/drawingml/2006/main">
              <a:ext uri="{FF2B5EF4-FFF2-40B4-BE49-F238E27FC236}">
                <a16:creationId xmlns:a16="http://schemas.microsoft.com/office/drawing/2014/main" id="{72960A83-33F3-47FE-B2C5-2DCAD8BB4AC5}"/>
              </a:ext>
            </a:extLst>
          </p:cNvPr>
          <p:cNvSpPr>
            <a:spLocks xmlns:a="http://schemas.openxmlformats.org/drawingml/2006/main" noGrp="1"/>
          </p:cNvSpPr>
          <p:nvPr/>
        </p:nvSpPr>
        <p:spPr>
          <a:xfrm xmlns:a="http://schemas.openxmlformats.org/drawingml/2006/main">
            <a:off x="8229600" y="2905125"/>
            <a:ext cx="29527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EC4EE376-93E3-4AA2-BB34-F5AE76A67F61}"/>
              </a:ext>
            </a:extLst>
          </p:cNvPr>
          <p:cNvSpPr>
            <a:spLocks xmlns:a="http://schemas.openxmlformats.org/drawingml/2006/main" noGrp="1"/>
          </p:cNvSpPr>
          <p:nvPr/>
        </p:nvSpPr>
        <p:spPr>
          <a:xfrm xmlns:a="http://schemas.openxmlformats.org/drawingml/2006/main">
            <a:off x="8229600" y="2905125"/>
            <a:ext cx="262795"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D205FE07-BB67-4B68-A4AA-266EAF9E4DD4}"/>
              </a:ext>
            </a:extLst>
          </p:cNvPr>
          <p:cNvSpPr>
            <a:spLocks xmlns:a="http://schemas.openxmlformats.org/drawingml/2006/main" noGrp="1"/>
          </p:cNvSpPr>
          <p:nvPr/>
        </p:nvSpPr>
        <p:spPr>
          <a:xfrm xmlns:a="http://schemas.openxmlformats.org/drawingml/2006/main">
            <a:off x="8492395" y="2905125"/>
            <a:ext cx="2689955"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4A9E6E53-CBAE-45F2-9249-CB4EB1E783AF}"/>
              </a:ext>
            </a:extLst>
          </p:cNvPr>
          <p:cNvSpPr>
            <a:spLocks xmlns:a="http://schemas.openxmlformats.org/drawingml/2006/main" noGrp="1"/>
          </p:cNvSpPr>
          <p:nvPr/>
        </p:nvSpPr>
        <p:spPr>
          <a:xfrm xmlns:a="http://schemas.openxmlformats.org/drawingml/2006/main">
            <a:off x="8229600"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0.089</a:t>
            </a:r>
          </a:p>
        </p:txBody>
      </p:sp>
      <p:sp>
        <p:nvSpPr>
          <p:cNvPr id="22" name="">
            <a:extLst xmlns:a="http://schemas.openxmlformats.org/drawingml/2006/main">
              <a:ext uri="{FF2B5EF4-FFF2-40B4-BE49-F238E27FC236}">
                <a16:creationId xmlns:a16="http://schemas.microsoft.com/office/drawing/2014/main" id="{948B9810-1441-4CD0-BA37-DDC1ED4CCFCB}"/>
              </a:ext>
            </a:extLst>
          </p:cNvPr>
          <p:cNvSpPr>
            <a:spLocks xmlns:a="http://schemas.openxmlformats.org/drawingml/2006/main" noGrp="1"/>
          </p:cNvSpPr>
          <p:nvPr/>
        </p:nvSpPr>
        <p:spPr>
          <a:xfrm xmlns:a="http://schemas.openxmlformats.org/drawingml/2006/main">
            <a:off x="9705975"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0.911</a:t>
            </a:r>
          </a:p>
        </p:txBody>
      </p:sp>
      <p:cxnSp>
        <p:nvCxnSpPr>
          <p:cNvPr id="54" name=""/>
          <p:cNvCxnSpPr>
            <a:stCxn xmlns:a="http://schemas.openxmlformats.org/drawingml/2006/main" id="4" idx="3"/>
            <a:endCxn xmlns:a="http://schemas.openxmlformats.org/drawingml/2006/main" id="12" idx="1"/>
          </p:cNvCxnSpPr>
          <p:nvPr/>
        </p:nvCxnSpPr>
        <p:spPr>
          <a:xfrm xmlns:a="http://schemas.openxmlformats.org/drawingml/2006/main">
            <a:off x="3990975" y="2476500"/>
            <a:ext cx="638175" cy="0"/>
          </a:xfrm>
          <a:prstGeom xmlns:a="http://schemas.openxmlformats.org/drawingml/2006/main" prst="straightConnector1">
            <a:avLst/>
          </a:prstGeom>
          <a:ln xmlns:a="http://schemas.openxmlformats.org/drawingml/2006/main" w="28575">
            <a:solidFill>
              <a:srgbClr val="168A7A"/>
            </a:solidFill>
            <a:prstDash val="solid"/>
            <a:tailEnd type="triangle" w="med" len="med"/>
          </a:ln>
        </p:spPr>
      </p:cxnSp>
      <p:cxnSp>
        <p:nvCxnSpPr>
          <p:cNvPr id="55" name=""/>
          <p:cNvCxnSpPr>
            <a:stCxn xmlns:a="http://schemas.openxmlformats.org/drawingml/2006/main" id="12" idx="3"/>
            <a:endCxn xmlns:a="http://schemas.openxmlformats.org/drawingml/2006/main" id="15" idx="1"/>
          </p:cNvCxnSpPr>
          <p:nvPr/>
        </p:nvCxnSpPr>
        <p:spPr>
          <a:xfrm xmlns:a="http://schemas.openxmlformats.org/drawingml/2006/main">
            <a:off x="7200900" y="2476500"/>
            <a:ext cx="647700" cy="0"/>
          </a:xfrm>
          <a:prstGeom xmlns:a="http://schemas.openxmlformats.org/drawingml/2006/main" prst="straightConnector1">
            <a:avLst/>
          </a:prstGeom>
          <a:ln xmlns:a="http://schemas.openxmlformats.org/drawingml/2006/main" w="28575">
            <a:solidFill>
              <a:srgbClr val="2F6FA5"/>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54F4498F-4086-4A21-AE80-F718737AF347}"/>
              </a:ext>
            </a:extLst>
          </p:cNvPr>
          <p:cNvSpPr>
            <a:spLocks xmlns:a="http://schemas.openxmlformats.org/drawingml/2006/main" noGrp="1"/>
          </p:cNvSpPr>
          <p:nvPr/>
        </p:nvSpPr>
        <p:spPr>
          <a:xfrm xmlns:a="http://schemas.openxmlformats.org/drawingml/2006/main">
            <a:off x="1238250" y="3905250"/>
            <a:ext cx="9715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C7D1D9"/>
            </a:solidFill>
            <a:prstDash val="solid"/>
          </a:ln>
        </p:spPr>
      </p:sp>
      <p:sp>
        <p:nvSpPr>
          <p:cNvPr id="26" name="">
            <a:extLst xmlns:a="http://schemas.openxmlformats.org/drawingml/2006/main">
              <a:ext uri="{FF2B5EF4-FFF2-40B4-BE49-F238E27FC236}">
                <a16:creationId xmlns:a16="http://schemas.microsoft.com/office/drawing/2014/main" id="{0F307539-84A0-445C-AAAF-DA982EF94535}"/>
              </a:ext>
            </a:extLst>
          </p:cNvPr>
          <p:cNvSpPr>
            <a:spLocks xmlns:a="http://schemas.openxmlformats.org/drawingml/2006/main" noGrp="1"/>
          </p:cNvSpPr>
          <p:nvPr/>
        </p:nvSpPr>
        <p:spPr>
          <a:xfrm xmlns:a="http://schemas.openxmlformats.org/drawingml/2006/main">
            <a:off x="1619250" y="4095750"/>
            <a:ext cx="895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325" b="1">
                <a:solidFill>
                  <a:srgbClr val="102A43"/>
                </a:solidFill>
                <a:latin typeface="BIZ UDPGothic"/>
                <a:ea typeface="BIZ UDPGothic"/>
                <a:cs typeface="BIZ UDPGothic"/>
              </a:defRPr>
            </a:pPr>
            <a:r>
              <a:rPr sz="2325" b="1">
                <a:solidFill>
                  <a:srgbClr val="102A43"/>
                </a:solidFill>
                <a:latin typeface="BIZ UDPGothic"/>
                <a:ea typeface="BIZ UDPGothic"/>
                <a:cs typeface="BIZ UDPGothic"/>
              </a:rPr>
              <a:t>d_k = D_KL( μ_post  ||  p_G^after(x_seed,k) )</a:t>
            </a:r>
          </a:p>
        </p:txBody>
      </p:sp>
      <p:sp>
        <p:nvSpPr>
          <p:cNvPr id="27" name="">
            <a:extLst xmlns:a="http://schemas.openxmlformats.org/drawingml/2006/main">
              <a:ext uri="{FF2B5EF4-FFF2-40B4-BE49-F238E27FC236}">
                <a16:creationId xmlns:a16="http://schemas.microsoft.com/office/drawing/2014/main" id="{469EAB98-CD6C-4165-ACBC-DAC68F781717}"/>
              </a:ext>
            </a:extLst>
          </p:cNvPr>
          <p:cNvSpPr>
            <a:spLocks xmlns:a="http://schemas.openxmlformats.org/drawingml/2006/main" noGrp="1"/>
          </p:cNvSpPr>
          <p:nvPr/>
        </p:nvSpPr>
        <p:spPr>
          <a:xfrm xmlns:a="http://schemas.openxmlformats.org/drawingml/2006/main">
            <a:off x="609600" y="5238750"/>
            <a:ext cx="214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D95D45"/>
                </a:solidFill>
                <a:latin typeface="BIZ UDPGothic"/>
                <a:ea typeface="BIZ UDPGothic"/>
                <a:cs typeface="BIZ UDPGothic"/>
              </a:defRPr>
            </a:pPr>
            <a:r>
              <a:rPr sz="1725" b="1">
                <a:solidFill>
                  <a:srgbClr val="D95D45"/>
                </a:solidFill>
                <a:latin typeface="BIZ UDPGothic"/>
                <a:ea typeface="BIZ UDPGothic"/>
                <a:cs typeface="BIZ UDPGothic"/>
              </a:rPr>
              <a:t>なぜ距離が必要か</a:t>
            </a:r>
          </a:p>
        </p:txBody>
      </p:sp>
      <p:sp>
        <p:nvSpPr>
          <p:cNvPr id="28" name="">
            <a:extLst xmlns:a="http://schemas.openxmlformats.org/drawingml/2006/main">
              <a:ext uri="{FF2B5EF4-FFF2-40B4-BE49-F238E27FC236}">
                <a16:creationId xmlns:a16="http://schemas.microsoft.com/office/drawing/2014/main" id="{5C3784FC-1D9E-4ABE-B114-88C7B841087A}"/>
              </a:ext>
            </a:extLst>
          </p:cNvPr>
          <p:cNvSpPr>
            <a:spLocks xmlns:a="http://schemas.openxmlformats.org/drawingml/2006/main" noGrp="1"/>
          </p:cNvSpPr>
          <p:nvPr/>
        </p:nvSpPr>
        <p:spPr>
          <a:xfrm xmlns:a="http://schemas.openxmlformats.org/drawingml/2006/main">
            <a:off x="2857500" y="52197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多数のseedを並べるには、2つの確率分布のずれを1つの数値にする必要がある</a:t>
            </a:r>
          </a:p>
        </p:txBody>
      </p:sp>
      <p:sp>
        <p:nvSpPr>
          <p:cNvPr id="29" name="">
            <a:extLst xmlns:a="http://schemas.openxmlformats.org/drawingml/2006/main">
              <a:ext uri="{FF2B5EF4-FFF2-40B4-BE49-F238E27FC236}">
                <a16:creationId xmlns:a16="http://schemas.microsoft.com/office/drawing/2014/main" id="{4E729908-E02C-4CB8-8652-EE93730329AF}"/>
              </a:ext>
            </a:extLst>
          </p:cNvPr>
          <p:cNvSpPr>
            <a:spLocks xmlns:a="http://schemas.openxmlformats.org/drawingml/2006/main" noGrp="1"/>
          </p:cNvSpPr>
          <p:nvPr/>
        </p:nvSpPr>
        <p:spPr>
          <a:xfrm xmlns:a="http://schemas.openxmlformats.org/drawingml/2006/main">
            <a:off x="2857500" y="57340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距離が小さいほど、updated global surrogateが端末の学習後判断に近い反応をする</a:t>
            </a:r>
          </a:p>
        </p:txBody>
      </p:sp>
      <p:sp>
        <p:nvSpPr>
          <p:cNvPr id="30" name="">
            <a:extLst xmlns:a="http://schemas.openxmlformats.org/drawingml/2006/main">
              <a:ext uri="{FF2B5EF4-FFF2-40B4-BE49-F238E27FC236}">
                <a16:creationId xmlns:a16="http://schemas.microsoft.com/office/drawing/2014/main" id="{DC6AEB1F-4BBD-40B5-8777-B660BEF5AFF0}"/>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retrievalではpost prototypeのみを用いる。画像の画素距離や見た目の類似度ではない</a:t>
            </a:r>
          </a:p>
        </p:txBody>
      </p:sp>
      <p:sp>
        <p:nvSpPr>
          <p:cNvPr id="31" name="">
            <a:extLst xmlns:a="http://schemas.openxmlformats.org/drawingml/2006/main">
              <a:ext uri="{FF2B5EF4-FFF2-40B4-BE49-F238E27FC236}">
                <a16:creationId xmlns:a16="http://schemas.microsoft.com/office/drawing/2014/main" id="{1414688B-17D3-492D-8524-977BFE67E4FA}"/>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4</a:t>
            </a:r>
          </a:p>
        </p:txBody>
      </p:sp>
    </p:spTree>
    <p:extLst>
      <p:ext uri="{BB962C8B-B14F-4D97-AF65-F5344CB8AC3E}">
        <p14:creationId xmlns:p14="http://schemas.microsoft.com/office/powerpoint/2010/main" val="1912419549"/>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E8756BDA-C9B2-4C64-A603-C78FEACB9EA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8件のserver seedを評価し、最小距離のBを選択</a:t>
            </a:r>
          </a:p>
        </p:txBody>
      </p:sp>
      <p:sp>
        <p:nvSpPr>
          <p:cNvPr id="2" name="">
            <a:extLst xmlns:a="http://schemas.openxmlformats.org/drawingml/2006/main">
              <a:ext uri="{FF2B5EF4-FFF2-40B4-BE49-F238E27FC236}">
                <a16:creationId xmlns:a16="http://schemas.microsoft.com/office/drawing/2014/main" id="{4EA09AA8-E510-45B7-9156-9EF0721D384E}"/>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04</a:t>
            </a:r>
          </a:p>
        </p:txBody>
      </p:sp>
      <p:sp>
        <p:nvSpPr>
          <p:cNvPr id="3" name="">
            <a:extLst xmlns:a="http://schemas.openxmlformats.org/drawingml/2006/main">
              <a:ext uri="{FF2B5EF4-FFF2-40B4-BE49-F238E27FC236}">
                <a16:creationId xmlns:a16="http://schemas.microsoft.com/office/drawing/2014/main" id="{B83037E3-1ED6-4C7B-9839-BEACFCB50BC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D16A49DD-8209-4558-B5E8-8715ECB6A092}"/>
              </a:ext>
            </a:extLst>
          </p:cNvPr>
          <p:cNvSpPr>
            <a:spLocks xmlns:a="http://schemas.openxmlformats.org/drawingml/2006/main" noGrp="1"/>
          </p:cNvSpPr>
          <p:nvPr/>
        </p:nvSpPr>
        <p:spPr>
          <a:xfrm xmlns:a="http://schemas.openxmlformats.org/drawingml/2006/main">
            <a:off x="609600" y="12001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目標  μ_post=[normal 0.067, risk 0.933]</a:t>
            </a:r>
          </a:p>
        </p:txBody>
      </p:sp>
      <p:sp>
        <p:nvSpPr>
          <p:cNvPr id="5" name="">
            <a:extLst xmlns:a="http://schemas.openxmlformats.org/drawingml/2006/main">
              <a:ext uri="{FF2B5EF4-FFF2-40B4-BE49-F238E27FC236}">
                <a16:creationId xmlns:a16="http://schemas.microsoft.com/office/drawing/2014/main" id="{6B22B2A9-BE32-4D9A-BBB1-52E8815E2E01}"/>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表示は8件中4件</a:t>
            </a:r>
          </a:p>
        </p:txBody>
      </p:sp>
      <p:sp>
        <p:nvSpPr>
          <p:cNvPr id="6" name="">
            <a:extLst xmlns:a="http://schemas.openxmlformats.org/drawingml/2006/main">
              <a:ext uri="{FF2B5EF4-FFF2-40B4-BE49-F238E27FC236}">
                <a16:creationId xmlns:a16="http://schemas.microsoft.com/office/drawing/2014/main" id="{49566C09-0C95-4FB1-9238-651D849A4CDE}"/>
              </a:ext>
            </a:extLst>
          </p:cNvPr>
          <p:cNvSpPr>
            <a:spLocks xmlns:a="http://schemas.openxmlformats.org/drawingml/2006/main" noGrp="1"/>
          </p:cNvSpPr>
          <p:nvPr/>
        </p:nvSpPr>
        <p:spPr>
          <a:xfrm xmlns:a="http://schemas.openxmlformats.org/drawingml/2006/main">
            <a:off x="60960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7D8A97"/>
                </a:solidFill>
                <a:latin typeface="BIZ UDPGothic"/>
                <a:ea typeface="BIZ UDPGothic"/>
                <a:cs typeface="BIZ UDPGothic"/>
              </a:defRPr>
            </a:pPr>
            <a:r>
              <a:rPr sz="2025" b="1">
                <a:solidFill>
                  <a:srgbClr val="7D8A97"/>
                </a:solidFill>
                <a:latin typeface="BIZ UDPGothic"/>
                <a:ea typeface="BIZ UDPGothic"/>
                <a:cs typeface="BIZ UDPGothic"/>
              </a:rPr>
              <a:t>候補 A</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140b1668bef4492"/>
          <a:srcRect xmlns:a="http://schemas.openxmlformats.org/drawingml/2006/main" l="0" t="85" r="0" b="85"/>
          <a:stretch xmlns:a="http://schemas.openxmlformats.org/drawingml/2006/main">
            <a:fillRect l="0" t="0" r="0" b="0"/>
          </a:stretch>
        </p:blipFill>
        <p:spPr>
          <a:xfrm xmlns:a="http://schemas.openxmlformats.org/drawingml/2006/main">
            <a:off x="609600" y="209550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F767A93-0AC4-4989-889E-CA9B5E48F929}"/>
              </a:ext>
            </a:extLst>
          </p:cNvPr>
          <p:cNvSpPr>
            <a:spLocks xmlns:a="http://schemas.openxmlformats.org/drawingml/2006/main" noGrp="1"/>
          </p:cNvSpPr>
          <p:nvPr/>
        </p:nvSpPr>
        <p:spPr>
          <a:xfrm xmlns:a="http://schemas.openxmlformats.org/drawingml/2006/main">
            <a:off x="60960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9" name="">
            <a:extLst xmlns:a="http://schemas.openxmlformats.org/drawingml/2006/main">
              <a:ext uri="{FF2B5EF4-FFF2-40B4-BE49-F238E27FC236}">
                <a16:creationId xmlns:a16="http://schemas.microsoft.com/office/drawing/2014/main" id="{6175C59D-49A6-42CA-B3CD-810A53CB70BD}"/>
              </a:ext>
            </a:extLst>
          </p:cNvPr>
          <p:cNvSpPr>
            <a:spLocks xmlns:a="http://schemas.openxmlformats.org/drawingml/2006/main" noGrp="1"/>
          </p:cNvSpPr>
          <p:nvPr/>
        </p:nvSpPr>
        <p:spPr>
          <a:xfrm xmlns:a="http://schemas.openxmlformats.org/drawingml/2006/main">
            <a:off x="609600" y="3981450"/>
            <a:ext cx="1235774"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0" name="">
            <a:extLst xmlns:a="http://schemas.openxmlformats.org/drawingml/2006/main">
              <a:ext uri="{FF2B5EF4-FFF2-40B4-BE49-F238E27FC236}">
                <a16:creationId xmlns:a16="http://schemas.microsoft.com/office/drawing/2014/main" id="{145868F7-AD54-4353-9BF6-76D2C387C11E}"/>
              </a:ext>
            </a:extLst>
          </p:cNvPr>
          <p:cNvSpPr>
            <a:spLocks xmlns:a="http://schemas.openxmlformats.org/drawingml/2006/main" noGrp="1"/>
          </p:cNvSpPr>
          <p:nvPr/>
        </p:nvSpPr>
        <p:spPr>
          <a:xfrm xmlns:a="http://schemas.openxmlformats.org/drawingml/2006/main">
            <a:off x="1845374" y="3981450"/>
            <a:ext cx="12407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1" name="">
            <a:extLst xmlns:a="http://schemas.openxmlformats.org/drawingml/2006/main">
              <a:ext uri="{FF2B5EF4-FFF2-40B4-BE49-F238E27FC236}">
                <a16:creationId xmlns:a16="http://schemas.microsoft.com/office/drawing/2014/main" id="{DF3813AB-6AB2-4FA6-9579-1EDE34BD1C46}"/>
              </a:ext>
            </a:extLst>
          </p:cNvPr>
          <p:cNvSpPr>
            <a:spLocks xmlns:a="http://schemas.openxmlformats.org/drawingml/2006/main" noGrp="1"/>
          </p:cNvSpPr>
          <p:nvPr/>
        </p:nvSpPr>
        <p:spPr>
          <a:xfrm xmlns:a="http://schemas.openxmlformats.org/drawingml/2006/main">
            <a:off x="6096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0.499</a:t>
            </a:r>
          </a:p>
        </p:txBody>
      </p:sp>
      <p:sp>
        <p:nvSpPr>
          <p:cNvPr id="12" name="">
            <a:extLst xmlns:a="http://schemas.openxmlformats.org/drawingml/2006/main">
              <a:ext uri="{FF2B5EF4-FFF2-40B4-BE49-F238E27FC236}">
                <a16:creationId xmlns:a16="http://schemas.microsoft.com/office/drawing/2014/main" id="{39B4EB0B-928A-4F34-A69A-CD269A9C9642}"/>
              </a:ext>
            </a:extLst>
          </p:cNvPr>
          <p:cNvSpPr>
            <a:spLocks xmlns:a="http://schemas.openxmlformats.org/drawingml/2006/main" noGrp="1"/>
          </p:cNvSpPr>
          <p:nvPr/>
        </p:nvSpPr>
        <p:spPr>
          <a:xfrm xmlns:a="http://schemas.openxmlformats.org/drawingml/2006/main">
            <a:off x="18478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0.501</a:t>
            </a:r>
          </a:p>
        </p:txBody>
      </p:sp>
      <p:sp>
        <p:nvSpPr>
          <p:cNvPr id="13" name="">
            <a:extLst xmlns:a="http://schemas.openxmlformats.org/drawingml/2006/main">
              <a:ext uri="{FF2B5EF4-FFF2-40B4-BE49-F238E27FC236}">
                <a16:creationId xmlns:a16="http://schemas.microsoft.com/office/drawing/2014/main" id="{380870EE-C211-4606-9F12-769F03A0BC4C}"/>
              </a:ext>
            </a:extLst>
          </p:cNvPr>
          <p:cNvSpPr>
            <a:spLocks xmlns:a="http://schemas.openxmlformats.org/drawingml/2006/main" noGrp="1"/>
          </p:cNvSpPr>
          <p:nvPr/>
        </p:nvSpPr>
        <p:spPr>
          <a:xfrm xmlns:a="http://schemas.openxmlformats.org/drawingml/2006/main">
            <a:off x="609600"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14" name="">
            <a:extLst xmlns:a="http://schemas.openxmlformats.org/drawingml/2006/main">
              <a:ext uri="{FF2B5EF4-FFF2-40B4-BE49-F238E27FC236}">
                <a16:creationId xmlns:a16="http://schemas.microsoft.com/office/drawing/2014/main" id="{7B8B834E-865E-4C34-9668-16FBC103AD04}"/>
              </a:ext>
            </a:extLst>
          </p:cNvPr>
          <p:cNvSpPr>
            <a:spLocks xmlns:a="http://schemas.openxmlformats.org/drawingml/2006/main" noGrp="1"/>
          </p:cNvSpPr>
          <p:nvPr/>
        </p:nvSpPr>
        <p:spPr>
          <a:xfrm xmlns:a="http://schemas.openxmlformats.org/drawingml/2006/main">
            <a:off x="1809750"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0.4463</a:t>
            </a:r>
          </a:p>
        </p:txBody>
      </p:sp>
      <p:sp>
        <p:nvSpPr>
          <p:cNvPr id="15" name="">
            <a:extLst xmlns:a="http://schemas.openxmlformats.org/drawingml/2006/main">
              <a:ext uri="{FF2B5EF4-FFF2-40B4-BE49-F238E27FC236}">
                <a16:creationId xmlns:a16="http://schemas.microsoft.com/office/drawing/2014/main" id="{89D7AC65-BD07-4F82-A0DB-EBE2E9AA31EA}"/>
              </a:ext>
            </a:extLst>
          </p:cNvPr>
          <p:cNvSpPr>
            <a:spLocks xmlns:a="http://schemas.openxmlformats.org/drawingml/2006/main" noGrp="1"/>
          </p:cNvSpPr>
          <p:nvPr/>
        </p:nvSpPr>
        <p:spPr>
          <a:xfrm xmlns:a="http://schemas.openxmlformats.org/drawingml/2006/main">
            <a:off x="609600"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16" name="">
            <a:extLst xmlns:a="http://schemas.openxmlformats.org/drawingml/2006/main">
              <a:ext uri="{FF2B5EF4-FFF2-40B4-BE49-F238E27FC236}">
                <a16:creationId xmlns:a16="http://schemas.microsoft.com/office/drawing/2014/main" id="{FE7F3535-6E4A-4B46-9F20-79BAF345BB03}"/>
              </a:ext>
            </a:extLst>
          </p:cNvPr>
          <p:cNvSpPr>
            <a:spLocks xmlns:a="http://schemas.openxmlformats.org/drawingml/2006/main" noGrp="1"/>
          </p:cNvSpPr>
          <p:nvPr/>
        </p:nvSpPr>
        <p:spPr>
          <a:xfrm xmlns:a="http://schemas.openxmlformats.org/drawingml/2006/main">
            <a:off x="1809750"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8 / 8</a:t>
            </a:r>
          </a:p>
        </p:txBody>
      </p:sp>
      <p:sp>
        <p:nvSpPr>
          <p:cNvPr id="17" name="">
            <a:extLst xmlns:a="http://schemas.openxmlformats.org/drawingml/2006/main">
              <a:ext uri="{FF2B5EF4-FFF2-40B4-BE49-F238E27FC236}">
                <a16:creationId xmlns:a16="http://schemas.microsoft.com/office/drawing/2014/main" id="{835D2BBB-ED99-4D93-9407-6C1F05905809}"/>
              </a:ext>
            </a:extLst>
          </p:cNvPr>
          <p:cNvSpPr>
            <a:spLocks xmlns:a="http://schemas.openxmlformats.org/drawingml/2006/main" noGrp="1"/>
          </p:cNvSpPr>
          <p:nvPr/>
        </p:nvSpPr>
        <p:spPr>
          <a:xfrm xmlns:a="http://schemas.openxmlformats.org/drawingml/2006/main">
            <a:off x="60960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7D8A97"/>
                </a:solidFill>
                <a:latin typeface="BIZ UDPGothic"/>
                <a:ea typeface="BIZ UDPGothic"/>
                <a:cs typeface="BIZ UDPGothic"/>
              </a:defRPr>
            </a:pPr>
            <a:r>
              <a:rPr sz="1500" b="0">
                <a:solidFill>
                  <a:srgbClr val="7D8A97"/>
                </a:solidFill>
                <a:latin typeface="BIZ UDPGothic"/>
                <a:ea typeface="BIZ UDPGothic"/>
                <a:cs typeface="BIZ UDPGothic"/>
              </a:rPr>
              <a:t>目標と離れる</a:t>
            </a:r>
          </a:p>
        </p:txBody>
      </p:sp>
      <p:sp>
        <p:nvSpPr>
          <p:cNvPr id="18" name="">
            <a:extLst xmlns:a="http://schemas.openxmlformats.org/drawingml/2006/main">
              <a:ext uri="{FF2B5EF4-FFF2-40B4-BE49-F238E27FC236}">
                <a16:creationId xmlns:a16="http://schemas.microsoft.com/office/drawing/2014/main" id="{2AC64E0A-B6D9-482F-9EF9-8CFE7E31FAB5}"/>
              </a:ext>
            </a:extLst>
          </p:cNvPr>
          <p:cNvSpPr>
            <a:spLocks xmlns:a="http://schemas.openxmlformats.org/drawingml/2006/main" noGrp="1"/>
          </p:cNvSpPr>
          <p:nvPr/>
        </p:nvSpPr>
        <p:spPr>
          <a:xfrm xmlns:a="http://schemas.openxmlformats.org/drawingml/2006/main">
            <a:off x="345757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68A7A"/>
                </a:solidFill>
                <a:latin typeface="BIZ UDPGothic"/>
                <a:ea typeface="BIZ UDPGothic"/>
                <a:cs typeface="BIZ UDPGothic"/>
              </a:defRPr>
            </a:pPr>
            <a:r>
              <a:rPr sz="2025" b="1">
                <a:solidFill>
                  <a:srgbClr val="168A7A"/>
                </a:solidFill>
                <a:latin typeface="BIZ UDPGothic"/>
                <a:ea typeface="BIZ UDPGothic"/>
                <a:cs typeface="BIZ UDPGothic"/>
              </a:rPr>
              <a:t>候補 B</a:t>
            </a:r>
          </a:p>
        </p:txBody>
      </p:sp>
      <p:sp>
        <p:nvSpPr>
          <p:cNvPr id="19" name="">
            <a:extLst xmlns:a="http://schemas.openxmlformats.org/drawingml/2006/main">
              <a:ext uri="{FF2B5EF4-FFF2-40B4-BE49-F238E27FC236}">
                <a16:creationId xmlns:a16="http://schemas.microsoft.com/office/drawing/2014/main" id="{D276B589-FDBF-4622-B39C-07FBF18162F0}"/>
              </a:ext>
            </a:extLst>
          </p:cNvPr>
          <p:cNvSpPr>
            <a:spLocks xmlns:a="http://schemas.openxmlformats.org/drawingml/2006/main" noGrp="1"/>
          </p:cNvSpPr>
          <p:nvPr/>
        </p:nvSpPr>
        <p:spPr>
          <a:xfrm xmlns:a="http://schemas.openxmlformats.org/drawingml/2006/main">
            <a:off x="3362325" y="1562100"/>
            <a:ext cx="2686050" cy="4286250"/>
          </a:xfrm>
          <a:prstGeom xmlns:a="http://schemas.openxmlformats.org/drawingml/2006/main" prst="roundRect">
            <a:avLst>
              <a:gd name="adj" fmla="val 2837"/>
            </a:avLst>
          </a:prstGeom>
          <a:noFill xmlns:a="http://schemas.openxmlformats.org/drawingml/2006/main"/>
          <a:ln xmlns:a="http://schemas.openxmlformats.org/drawingml/2006/main" w="38100">
            <a:solidFill>
              <a:srgbClr val="168A7A"/>
            </a:solid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6aa3c4ec7ce5417f"/>
          <a:srcRect xmlns:a="http://schemas.openxmlformats.org/drawingml/2006/main" l="0" t="85" r="0" b="85"/>
          <a:stretch xmlns:a="http://schemas.openxmlformats.org/drawingml/2006/main">
            <a:fillRect l="0" t="0" r="0" b="0"/>
          </a:stretch>
        </p:blipFill>
        <p:spPr>
          <a:xfrm xmlns:a="http://schemas.openxmlformats.org/drawingml/2006/main">
            <a:off x="3457575" y="2095500"/>
            <a:ext cx="2476500" cy="1390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131F589F-C189-4EFB-B240-9932BEBCE869}"/>
              </a:ext>
            </a:extLst>
          </p:cNvPr>
          <p:cNvSpPr>
            <a:spLocks xmlns:a="http://schemas.openxmlformats.org/drawingml/2006/main" noGrp="1"/>
          </p:cNvSpPr>
          <p:nvPr/>
        </p:nvSpPr>
        <p:spPr>
          <a:xfrm xmlns:a="http://schemas.openxmlformats.org/drawingml/2006/main">
            <a:off x="345757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22" name="">
            <a:extLst xmlns:a="http://schemas.openxmlformats.org/drawingml/2006/main">
              <a:ext uri="{FF2B5EF4-FFF2-40B4-BE49-F238E27FC236}">
                <a16:creationId xmlns:a16="http://schemas.microsoft.com/office/drawing/2014/main" id="{196D4CA4-1EAD-4333-95B4-95B6B1899964}"/>
              </a:ext>
            </a:extLst>
          </p:cNvPr>
          <p:cNvSpPr>
            <a:spLocks xmlns:a="http://schemas.openxmlformats.org/drawingml/2006/main" noGrp="1"/>
          </p:cNvSpPr>
          <p:nvPr/>
        </p:nvSpPr>
        <p:spPr>
          <a:xfrm xmlns:a="http://schemas.openxmlformats.org/drawingml/2006/main">
            <a:off x="3457575" y="3981450"/>
            <a:ext cx="220408"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3" name="">
            <a:extLst xmlns:a="http://schemas.openxmlformats.org/drawingml/2006/main">
              <a:ext uri="{FF2B5EF4-FFF2-40B4-BE49-F238E27FC236}">
                <a16:creationId xmlns:a16="http://schemas.microsoft.com/office/drawing/2014/main" id="{5BF161E2-35EA-4DE1-88C6-E64BD07D5F90}"/>
              </a:ext>
            </a:extLst>
          </p:cNvPr>
          <p:cNvSpPr>
            <a:spLocks xmlns:a="http://schemas.openxmlformats.org/drawingml/2006/main" noGrp="1"/>
          </p:cNvSpPr>
          <p:nvPr/>
        </p:nvSpPr>
        <p:spPr>
          <a:xfrm xmlns:a="http://schemas.openxmlformats.org/drawingml/2006/main">
            <a:off x="3677984" y="3981450"/>
            <a:ext cx="2256092"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4" name="">
            <a:extLst xmlns:a="http://schemas.openxmlformats.org/drawingml/2006/main">
              <a:ext uri="{FF2B5EF4-FFF2-40B4-BE49-F238E27FC236}">
                <a16:creationId xmlns:a16="http://schemas.microsoft.com/office/drawing/2014/main" id="{6CABEA41-69B9-4AF6-868E-AF8912B4DFC3}"/>
              </a:ext>
            </a:extLst>
          </p:cNvPr>
          <p:cNvSpPr>
            <a:spLocks xmlns:a="http://schemas.openxmlformats.org/drawingml/2006/main" noGrp="1"/>
          </p:cNvSpPr>
          <p:nvPr/>
        </p:nvSpPr>
        <p:spPr>
          <a:xfrm xmlns:a="http://schemas.openxmlformats.org/drawingml/2006/main">
            <a:off x="34575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0.089</a:t>
            </a:r>
          </a:p>
        </p:txBody>
      </p:sp>
      <p:sp>
        <p:nvSpPr>
          <p:cNvPr id="25" name="">
            <a:extLst xmlns:a="http://schemas.openxmlformats.org/drawingml/2006/main">
              <a:ext uri="{FF2B5EF4-FFF2-40B4-BE49-F238E27FC236}">
                <a16:creationId xmlns:a16="http://schemas.microsoft.com/office/drawing/2014/main" id="{73B49FF1-EF6E-4AA6-845B-F84E7EE40E6A}"/>
              </a:ext>
            </a:extLst>
          </p:cNvPr>
          <p:cNvSpPr>
            <a:spLocks xmlns:a="http://schemas.openxmlformats.org/drawingml/2006/main" noGrp="1"/>
          </p:cNvSpPr>
          <p:nvPr/>
        </p:nvSpPr>
        <p:spPr>
          <a:xfrm xmlns:a="http://schemas.openxmlformats.org/drawingml/2006/main">
            <a:off x="46958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0.911</a:t>
            </a:r>
          </a:p>
        </p:txBody>
      </p:sp>
      <p:sp>
        <p:nvSpPr>
          <p:cNvPr id="26" name="">
            <a:extLst xmlns:a="http://schemas.openxmlformats.org/drawingml/2006/main">
              <a:ext uri="{FF2B5EF4-FFF2-40B4-BE49-F238E27FC236}">
                <a16:creationId xmlns:a16="http://schemas.microsoft.com/office/drawing/2014/main" id="{E771D15F-BB41-4DD3-9AB9-8824C7EF1018}"/>
              </a:ext>
            </a:extLst>
          </p:cNvPr>
          <p:cNvSpPr>
            <a:spLocks xmlns:a="http://schemas.openxmlformats.org/drawingml/2006/main" noGrp="1"/>
          </p:cNvSpPr>
          <p:nvPr/>
        </p:nvSpPr>
        <p:spPr>
          <a:xfrm xmlns:a="http://schemas.openxmlformats.org/drawingml/2006/main">
            <a:off x="3457575"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27" name="">
            <a:extLst xmlns:a="http://schemas.openxmlformats.org/drawingml/2006/main">
              <a:ext uri="{FF2B5EF4-FFF2-40B4-BE49-F238E27FC236}">
                <a16:creationId xmlns:a16="http://schemas.microsoft.com/office/drawing/2014/main" id="{69B00C79-479D-4D3F-9E23-0B39CD0A20C5}"/>
              </a:ext>
            </a:extLst>
          </p:cNvPr>
          <p:cNvSpPr>
            <a:spLocks xmlns:a="http://schemas.openxmlformats.org/drawingml/2006/main" noGrp="1"/>
          </p:cNvSpPr>
          <p:nvPr/>
        </p:nvSpPr>
        <p:spPr>
          <a:xfrm xmlns:a="http://schemas.openxmlformats.org/drawingml/2006/main">
            <a:off x="4657725"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0.0033</a:t>
            </a:r>
          </a:p>
        </p:txBody>
      </p:sp>
      <p:sp>
        <p:nvSpPr>
          <p:cNvPr id="28" name="">
            <a:extLst xmlns:a="http://schemas.openxmlformats.org/drawingml/2006/main">
              <a:ext uri="{FF2B5EF4-FFF2-40B4-BE49-F238E27FC236}">
                <a16:creationId xmlns:a16="http://schemas.microsoft.com/office/drawing/2014/main" id="{A900C992-6C5C-4E3B-8B20-47525D9FB79F}"/>
              </a:ext>
            </a:extLst>
          </p:cNvPr>
          <p:cNvSpPr>
            <a:spLocks xmlns:a="http://schemas.openxmlformats.org/drawingml/2006/main" noGrp="1"/>
          </p:cNvSpPr>
          <p:nvPr/>
        </p:nvSpPr>
        <p:spPr>
          <a:xfrm xmlns:a="http://schemas.openxmlformats.org/drawingml/2006/main">
            <a:off x="3457575"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29" name="">
            <a:extLst xmlns:a="http://schemas.openxmlformats.org/drawingml/2006/main">
              <a:ext uri="{FF2B5EF4-FFF2-40B4-BE49-F238E27FC236}">
                <a16:creationId xmlns:a16="http://schemas.microsoft.com/office/drawing/2014/main" id="{F6613212-E1B2-4179-9920-1729E05A9BFE}"/>
              </a:ext>
            </a:extLst>
          </p:cNvPr>
          <p:cNvSpPr>
            <a:spLocks xmlns:a="http://schemas.openxmlformats.org/drawingml/2006/main" noGrp="1"/>
          </p:cNvSpPr>
          <p:nvPr/>
        </p:nvSpPr>
        <p:spPr>
          <a:xfrm xmlns:a="http://schemas.openxmlformats.org/drawingml/2006/main">
            <a:off x="4657725"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1 / 8</a:t>
            </a:r>
          </a:p>
        </p:txBody>
      </p:sp>
      <p:sp>
        <p:nvSpPr>
          <p:cNvPr id="30" name="">
            <a:extLst xmlns:a="http://schemas.openxmlformats.org/drawingml/2006/main">
              <a:ext uri="{FF2B5EF4-FFF2-40B4-BE49-F238E27FC236}">
                <a16:creationId xmlns:a16="http://schemas.microsoft.com/office/drawing/2014/main" id="{E01E43E7-E0E1-4ED8-806F-76FCB5FF7A46}"/>
              </a:ext>
            </a:extLst>
          </p:cNvPr>
          <p:cNvSpPr>
            <a:spLocks xmlns:a="http://schemas.openxmlformats.org/drawingml/2006/main" noGrp="1"/>
          </p:cNvSpPr>
          <p:nvPr/>
        </p:nvSpPr>
        <p:spPr>
          <a:xfrm xmlns:a="http://schemas.openxmlformats.org/drawingml/2006/main">
            <a:off x="345757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最小距離</a:t>
            </a:r>
          </a:p>
        </p:txBody>
      </p:sp>
      <p:sp>
        <p:nvSpPr>
          <p:cNvPr id="31" name="">
            <a:extLst xmlns:a="http://schemas.openxmlformats.org/drawingml/2006/main">
              <a:ext uri="{FF2B5EF4-FFF2-40B4-BE49-F238E27FC236}">
                <a16:creationId xmlns:a16="http://schemas.microsoft.com/office/drawing/2014/main" id="{27419788-F156-4F51-8DAC-FB82FCC5DF7E}"/>
              </a:ext>
            </a:extLst>
          </p:cNvPr>
          <p:cNvSpPr>
            <a:spLocks xmlns:a="http://schemas.openxmlformats.org/drawingml/2006/main" noGrp="1"/>
          </p:cNvSpPr>
          <p:nvPr/>
        </p:nvSpPr>
        <p:spPr>
          <a:xfrm xmlns:a="http://schemas.openxmlformats.org/drawingml/2006/main">
            <a:off x="630555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2F6FA5"/>
                </a:solidFill>
                <a:latin typeface="BIZ UDPGothic"/>
                <a:ea typeface="BIZ UDPGothic"/>
                <a:cs typeface="BIZ UDPGothic"/>
              </a:defRPr>
            </a:pPr>
            <a:r>
              <a:rPr sz="2025" b="1">
                <a:solidFill>
                  <a:srgbClr val="2F6FA5"/>
                </a:solidFill>
                <a:latin typeface="BIZ UDPGothic"/>
                <a:ea typeface="BIZ UDPGothic"/>
                <a:cs typeface="BIZ UDPGothic"/>
              </a:rPr>
              <a:t>候補 C</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d27fa13d6de143d9"/>
          <a:srcRect xmlns:a="http://schemas.openxmlformats.org/drawingml/2006/main" l="0" t="85" r="0" b="85"/>
          <a:stretch xmlns:a="http://schemas.openxmlformats.org/drawingml/2006/main">
            <a:fillRect l="0" t="0" r="0" b="0"/>
          </a:stretch>
        </p:blipFill>
        <p:spPr>
          <a:xfrm xmlns:a="http://schemas.openxmlformats.org/drawingml/2006/main">
            <a:off x="6305550" y="2095500"/>
            <a:ext cx="2476500" cy="1390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CC380FEB-D9B1-4A26-944E-A7F94A7455FB}"/>
              </a:ext>
            </a:extLst>
          </p:cNvPr>
          <p:cNvSpPr>
            <a:spLocks xmlns:a="http://schemas.openxmlformats.org/drawingml/2006/main" noGrp="1"/>
          </p:cNvSpPr>
          <p:nvPr/>
        </p:nvSpPr>
        <p:spPr>
          <a:xfrm xmlns:a="http://schemas.openxmlformats.org/drawingml/2006/main">
            <a:off x="630555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34" name="">
            <a:extLst xmlns:a="http://schemas.openxmlformats.org/drawingml/2006/main">
              <a:ext uri="{FF2B5EF4-FFF2-40B4-BE49-F238E27FC236}">
                <a16:creationId xmlns:a16="http://schemas.microsoft.com/office/drawing/2014/main" id="{68B795C8-0A2C-4771-87B2-84613AA7335B}"/>
              </a:ext>
            </a:extLst>
          </p:cNvPr>
          <p:cNvSpPr>
            <a:spLocks xmlns:a="http://schemas.openxmlformats.org/drawingml/2006/main" noGrp="1"/>
          </p:cNvSpPr>
          <p:nvPr/>
        </p:nvSpPr>
        <p:spPr>
          <a:xfrm xmlns:a="http://schemas.openxmlformats.org/drawingml/2006/main">
            <a:off x="6305550" y="3981450"/>
            <a:ext cx="245173"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35" name="">
            <a:extLst xmlns:a="http://schemas.openxmlformats.org/drawingml/2006/main">
              <a:ext uri="{FF2B5EF4-FFF2-40B4-BE49-F238E27FC236}">
                <a16:creationId xmlns:a16="http://schemas.microsoft.com/office/drawing/2014/main" id="{DD0CA737-8CDD-4389-9F98-C2255E22BD7B}"/>
              </a:ext>
            </a:extLst>
          </p:cNvPr>
          <p:cNvSpPr>
            <a:spLocks xmlns:a="http://schemas.openxmlformats.org/drawingml/2006/main" noGrp="1"/>
          </p:cNvSpPr>
          <p:nvPr/>
        </p:nvSpPr>
        <p:spPr>
          <a:xfrm xmlns:a="http://schemas.openxmlformats.org/drawingml/2006/main">
            <a:off x="6550724" y="3981450"/>
            <a:ext cx="22313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36" name="">
            <a:extLst xmlns:a="http://schemas.openxmlformats.org/drawingml/2006/main">
              <a:ext uri="{FF2B5EF4-FFF2-40B4-BE49-F238E27FC236}">
                <a16:creationId xmlns:a16="http://schemas.microsoft.com/office/drawing/2014/main" id="{DCB5071C-51F4-477D-96B2-F3D1823B8E1A}"/>
              </a:ext>
            </a:extLst>
          </p:cNvPr>
          <p:cNvSpPr>
            <a:spLocks xmlns:a="http://schemas.openxmlformats.org/drawingml/2006/main" noGrp="1"/>
          </p:cNvSpPr>
          <p:nvPr/>
        </p:nvSpPr>
        <p:spPr>
          <a:xfrm xmlns:a="http://schemas.openxmlformats.org/drawingml/2006/main">
            <a:off x="63055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0.099</a:t>
            </a:r>
          </a:p>
        </p:txBody>
      </p:sp>
      <p:sp>
        <p:nvSpPr>
          <p:cNvPr id="37" name="">
            <a:extLst xmlns:a="http://schemas.openxmlformats.org/drawingml/2006/main">
              <a:ext uri="{FF2B5EF4-FFF2-40B4-BE49-F238E27FC236}">
                <a16:creationId xmlns:a16="http://schemas.microsoft.com/office/drawing/2014/main" id="{57EC94A4-88EF-41C0-B981-51453F818559}"/>
              </a:ext>
            </a:extLst>
          </p:cNvPr>
          <p:cNvSpPr>
            <a:spLocks xmlns:a="http://schemas.openxmlformats.org/drawingml/2006/main" noGrp="1"/>
          </p:cNvSpPr>
          <p:nvPr/>
        </p:nvSpPr>
        <p:spPr>
          <a:xfrm xmlns:a="http://schemas.openxmlformats.org/drawingml/2006/main">
            <a:off x="75438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0.901</a:t>
            </a:r>
          </a:p>
        </p:txBody>
      </p:sp>
      <p:sp>
        <p:nvSpPr>
          <p:cNvPr id="38" name="">
            <a:extLst xmlns:a="http://schemas.openxmlformats.org/drawingml/2006/main">
              <a:ext uri="{FF2B5EF4-FFF2-40B4-BE49-F238E27FC236}">
                <a16:creationId xmlns:a16="http://schemas.microsoft.com/office/drawing/2014/main" id="{F374B3FD-4AAA-46A0-8526-874AA72C1FE1}"/>
              </a:ext>
            </a:extLst>
          </p:cNvPr>
          <p:cNvSpPr>
            <a:spLocks xmlns:a="http://schemas.openxmlformats.org/drawingml/2006/main" noGrp="1"/>
          </p:cNvSpPr>
          <p:nvPr/>
        </p:nvSpPr>
        <p:spPr>
          <a:xfrm xmlns:a="http://schemas.openxmlformats.org/drawingml/2006/main">
            <a:off x="6305550"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39" name="">
            <a:extLst xmlns:a="http://schemas.openxmlformats.org/drawingml/2006/main">
              <a:ext uri="{FF2B5EF4-FFF2-40B4-BE49-F238E27FC236}">
                <a16:creationId xmlns:a16="http://schemas.microsoft.com/office/drawing/2014/main" id="{281CC34C-6B65-470B-84F7-8D8AA14135DD}"/>
              </a:ext>
            </a:extLst>
          </p:cNvPr>
          <p:cNvSpPr>
            <a:spLocks xmlns:a="http://schemas.openxmlformats.org/drawingml/2006/main" noGrp="1"/>
          </p:cNvSpPr>
          <p:nvPr/>
        </p:nvSpPr>
        <p:spPr>
          <a:xfrm xmlns:a="http://schemas.openxmlformats.org/drawingml/2006/main">
            <a:off x="7505700"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0.0065</a:t>
            </a:r>
          </a:p>
        </p:txBody>
      </p:sp>
      <p:sp>
        <p:nvSpPr>
          <p:cNvPr id="40" name="">
            <a:extLst xmlns:a="http://schemas.openxmlformats.org/drawingml/2006/main">
              <a:ext uri="{FF2B5EF4-FFF2-40B4-BE49-F238E27FC236}">
                <a16:creationId xmlns:a16="http://schemas.microsoft.com/office/drawing/2014/main" id="{820CE903-BBE7-48E8-B11E-4B32ADDDDD6C}"/>
              </a:ext>
            </a:extLst>
          </p:cNvPr>
          <p:cNvSpPr>
            <a:spLocks xmlns:a="http://schemas.openxmlformats.org/drawingml/2006/main" noGrp="1"/>
          </p:cNvSpPr>
          <p:nvPr/>
        </p:nvSpPr>
        <p:spPr>
          <a:xfrm xmlns:a="http://schemas.openxmlformats.org/drawingml/2006/main">
            <a:off x="6305550"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41" name="">
            <a:extLst xmlns:a="http://schemas.openxmlformats.org/drawingml/2006/main">
              <a:ext uri="{FF2B5EF4-FFF2-40B4-BE49-F238E27FC236}">
                <a16:creationId xmlns:a16="http://schemas.microsoft.com/office/drawing/2014/main" id="{7FD98F90-2DA1-4D07-B0BE-C47DF63E0FDF}"/>
              </a:ext>
            </a:extLst>
          </p:cNvPr>
          <p:cNvSpPr>
            <a:spLocks xmlns:a="http://schemas.openxmlformats.org/drawingml/2006/main" noGrp="1"/>
          </p:cNvSpPr>
          <p:nvPr/>
        </p:nvSpPr>
        <p:spPr>
          <a:xfrm xmlns:a="http://schemas.openxmlformats.org/drawingml/2006/main">
            <a:off x="7505700"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3 / 8</a:t>
            </a:r>
          </a:p>
        </p:txBody>
      </p:sp>
      <p:sp>
        <p:nvSpPr>
          <p:cNvPr id="42" name="">
            <a:extLst xmlns:a="http://schemas.openxmlformats.org/drawingml/2006/main">
              <a:ext uri="{FF2B5EF4-FFF2-40B4-BE49-F238E27FC236}">
                <a16:creationId xmlns:a16="http://schemas.microsoft.com/office/drawing/2014/main" id="{8911F6F1-79CC-44F0-BE83-36C3D7BA5EF0}"/>
              </a:ext>
            </a:extLst>
          </p:cNvPr>
          <p:cNvSpPr>
            <a:spLocks xmlns:a="http://schemas.openxmlformats.org/drawingml/2006/main" noGrp="1"/>
          </p:cNvSpPr>
          <p:nvPr/>
        </p:nvSpPr>
        <p:spPr>
          <a:xfrm xmlns:a="http://schemas.openxmlformats.org/drawingml/2006/main">
            <a:off x="630555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2F6FA5"/>
                </a:solidFill>
                <a:latin typeface="BIZ UDPGothic"/>
                <a:ea typeface="BIZ UDPGothic"/>
                <a:cs typeface="BIZ UDPGothic"/>
              </a:defRPr>
            </a:pPr>
            <a:r>
              <a:rPr sz="1500" b="0">
                <a:solidFill>
                  <a:srgbClr val="2F6FA5"/>
                </a:solidFill>
                <a:latin typeface="BIZ UDPGothic"/>
                <a:ea typeface="BIZ UDPGothic"/>
                <a:cs typeface="BIZ UDPGothic"/>
              </a:rPr>
              <a:t>近い</a:t>
            </a:r>
          </a:p>
        </p:txBody>
      </p:sp>
      <p:sp>
        <p:nvSpPr>
          <p:cNvPr id="43" name="">
            <a:extLst xmlns:a="http://schemas.openxmlformats.org/drawingml/2006/main">
              <a:ext uri="{FF2B5EF4-FFF2-40B4-BE49-F238E27FC236}">
                <a16:creationId xmlns:a16="http://schemas.microsoft.com/office/drawing/2014/main" id="{99086122-DC86-43F0-9F47-F6C195A8527F}"/>
              </a:ext>
            </a:extLst>
          </p:cNvPr>
          <p:cNvSpPr>
            <a:spLocks xmlns:a="http://schemas.openxmlformats.org/drawingml/2006/main" noGrp="1"/>
          </p:cNvSpPr>
          <p:nvPr/>
        </p:nvSpPr>
        <p:spPr>
          <a:xfrm xmlns:a="http://schemas.openxmlformats.org/drawingml/2006/main">
            <a:off x="915352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D28B23"/>
                </a:solidFill>
                <a:latin typeface="BIZ UDPGothic"/>
                <a:ea typeface="BIZ UDPGothic"/>
                <a:cs typeface="BIZ UDPGothic"/>
              </a:defRPr>
            </a:pPr>
            <a:r>
              <a:rPr sz="2025" b="1">
                <a:solidFill>
                  <a:srgbClr val="D28B23"/>
                </a:solidFill>
                <a:latin typeface="BIZ UDPGothic"/>
                <a:ea typeface="BIZ UDPGothic"/>
                <a:cs typeface="BIZ UDPGothic"/>
              </a:rPr>
              <a:t>候補 D</a:t>
            </a:r>
          </a:p>
        </p:txBody>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024962c5c8454aa6"/>
          <a:srcRect xmlns:a="http://schemas.openxmlformats.org/drawingml/2006/main" l="0" t="85" r="0" b="85"/>
          <a:stretch xmlns:a="http://schemas.openxmlformats.org/drawingml/2006/main">
            <a:fillRect l="0" t="0" r="0" b="0"/>
          </a:stretch>
        </p:blipFill>
        <p:spPr>
          <a:xfrm xmlns:a="http://schemas.openxmlformats.org/drawingml/2006/main">
            <a:off x="9153525" y="2095500"/>
            <a:ext cx="2476500" cy="1390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A140E43A-0469-4789-B507-AE50EAEE3150}"/>
              </a:ext>
            </a:extLst>
          </p:cNvPr>
          <p:cNvSpPr>
            <a:spLocks xmlns:a="http://schemas.openxmlformats.org/drawingml/2006/main" noGrp="1"/>
          </p:cNvSpPr>
          <p:nvPr/>
        </p:nvSpPr>
        <p:spPr>
          <a:xfrm xmlns:a="http://schemas.openxmlformats.org/drawingml/2006/main">
            <a:off x="915352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46" name="">
            <a:extLst xmlns:a="http://schemas.openxmlformats.org/drawingml/2006/main">
              <a:ext uri="{FF2B5EF4-FFF2-40B4-BE49-F238E27FC236}">
                <a16:creationId xmlns:a16="http://schemas.microsoft.com/office/drawing/2014/main" id="{45CA0658-AA76-425A-9732-523CBF4F642A}"/>
              </a:ext>
            </a:extLst>
          </p:cNvPr>
          <p:cNvSpPr>
            <a:spLocks xmlns:a="http://schemas.openxmlformats.org/drawingml/2006/main" noGrp="1"/>
          </p:cNvSpPr>
          <p:nvPr/>
        </p:nvSpPr>
        <p:spPr>
          <a:xfrm xmlns:a="http://schemas.openxmlformats.org/drawingml/2006/main">
            <a:off x="9153525" y="3981450"/>
            <a:ext cx="356616"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47" name="">
            <a:extLst xmlns:a="http://schemas.openxmlformats.org/drawingml/2006/main">
              <a:ext uri="{FF2B5EF4-FFF2-40B4-BE49-F238E27FC236}">
                <a16:creationId xmlns:a16="http://schemas.microsoft.com/office/drawing/2014/main" id="{E2C014FC-44F8-47AC-B83A-3FECD002900E}"/>
              </a:ext>
            </a:extLst>
          </p:cNvPr>
          <p:cNvSpPr>
            <a:spLocks xmlns:a="http://schemas.openxmlformats.org/drawingml/2006/main" noGrp="1"/>
          </p:cNvSpPr>
          <p:nvPr/>
        </p:nvSpPr>
        <p:spPr>
          <a:xfrm xmlns:a="http://schemas.openxmlformats.org/drawingml/2006/main">
            <a:off x="9510141" y="3981450"/>
            <a:ext cx="2119884"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48" name="">
            <a:extLst xmlns:a="http://schemas.openxmlformats.org/drawingml/2006/main">
              <a:ext uri="{FF2B5EF4-FFF2-40B4-BE49-F238E27FC236}">
                <a16:creationId xmlns:a16="http://schemas.microsoft.com/office/drawing/2014/main" id="{370B0934-5F8D-4451-A2FF-B81E270DA156}"/>
              </a:ext>
            </a:extLst>
          </p:cNvPr>
          <p:cNvSpPr>
            <a:spLocks xmlns:a="http://schemas.openxmlformats.org/drawingml/2006/main" noGrp="1"/>
          </p:cNvSpPr>
          <p:nvPr/>
        </p:nvSpPr>
        <p:spPr>
          <a:xfrm xmlns:a="http://schemas.openxmlformats.org/drawingml/2006/main">
            <a:off x="91535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0.144</a:t>
            </a:r>
          </a:p>
        </p:txBody>
      </p:sp>
      <p:sp>
        <p:nvSpPr>
          <p:cNvPr id="49" name="">
            <a:extLst xmlns:a="http://schemas.openxmlformats.org/drawingml/2006/main">
              <a:ext uri="{FF2B5EF4-FFF2-40B4-BE49-F238E27FC236}">
                <a16:creationId xmlns:a16="http://schemas.microsoft.com/office/drawing/2014/main" id="{4BC80663-82AA-446A-ABD2-89758EB743B8}"/>
              </a:ext>
            </a:extLst>
          </p:cNvPr>
          <p:cNvSpPr>
            <a:spLocks xmlns:a="http://schemas.openxmlformats.org/drawingml/2006/main" noGrp="1"/>
          </p:cNvSpPr>
          <p:nvPr/>
        </p:nvSpPr>
        <p:spPr>
          <a:xfrm xmlns:a="http://schemas.openxmlformats.org/drawingml/2006/main">
            <a:off x="103917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0.856</a:t>
            </a:r>
          </a:p>
        </p:txBody>
      </p:sp>
      <p:sp>
        <p:nvSpPr>
          <p:cNvPr id="50" name="">
            <a:extLst xmlns:a="http://schemas.openxmlformats.org/drawingml/2006/main">
              <a:ext uri="{FF2B5EF4-FFF2-40B4-BE49-F238E27FC236}">
                <a16:creationId xmlns:a16="http://schemas.microsoft.com/office/drawing/2014/main" id="{370E6554-92C2-4572-96A6-72D675FA17D9}"/>
              </a:ext>
            </a:extLst>
          </p:cNvPr>
          <p:cNvSpPr>
            <a:spLocks xmlns:a="http://schemas.openxmlformats.org/drawingml/2006/main" noGrp="1"/>
          </p:cNvSpPr>
          <p:nvPr/>
        </p:nvSpPr>
        <p:spPr>
          <a:xfrm xmlns:a="http://schemas.openxmlformats.org/drawingml/2006/main">
            <a:off x="9153525"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51" name="">
            <a:extLst xmlns:a="http://schemas.openxmlformats.org/drawingml/2006/main">
              <a:ext uri="{FF2B5EF4-FFF2-40B4-BE49-F238E27FC236}">
                <a16:creationId xmlns:a16="http://schemas.microsoft.com/office/drawing/2014/main" id="{B527787F-3D4B-48E4-B1C7-3C0A0D61C19B}"/>
              </a:ext>
            </a:extLst>
          </p:cNvPr>
          <p:cNvSpPr>
            <a:spLocks xmlns:a="http://schemas.openxmlformats.org/drawingml/2006/main" noGrp="1"/>
          </p:cNvSpPr>
          <p:nvPr/>
        </p:nvSpPr>
        <p:spPr>
          <a:xfrm xmlns:a="http://schemas.openxmlformats.org/drawingml/2006/main">
            <a:off x="10353675"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0.0293</a:t>
            </a:r>
          </a:p>
        </p:txBody>
      </p:sp>
      <p:sp>
        <p:nvSpPr>
          <p:cNvPr id="52" name="">
            <a:extLst xmlns:a="http://schemas.openxmlformats.org/drawingml/2006/main">
              <a:ext uri="{FF2B5EF4-FFF2-40B4-BE49-F238E27FC236}">
                <a16:creationId xmlns:a16="http://schemas.microsoft.com/office/drawing/2014/main" id="{53EDAEBA-087B-4E44-9E15-F8E670EE0915}"/>
              </a:ext>
            </a:extLst>
          </p:cNvPr>
          <p:cNvSpPr>
            <a:spLocks xmlns:a="http://schemas.openxmlformats.org/drawingml/2006/main" noGrp="1"/>
          </p:cNvSpPr>
          <p:nvPr/>
        </p:nvSpPr>
        <p:spPr>
          <a:xfrm xmlns:a="http://schemas.openxmlformats.org/drawingml/2006/main">
            <a:off x="9153525"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53" name="">
            <a:extLst xmlns:a="http://schemas.openxmlformats.org/drawingml/2006/main">
              <a:ext uri="{FF2B5EF4-FFF2-40B4-BE49-F238E27FC236}">
                <a16:creationId xmlns:a16="http://schemas.microsoft.com/office/drawing/2014/main" id="{8363F3EB-6EF7-4BB6-8710-C0CD35866E86}"/>
              </a:ext>
            </a:extLst>
          </p:cNvPr>
          <p:cNvSpPr>
            <a:spLocks xmlns:a="http://schemas.openxmlformats.org/drawingml/2006/main" noGrp="1"/>
          </p:cNvSpPr>
          <p:nvPr/>
        </p:nvSpPr>
        <p:spPr>
          <a:xfrm xmlns:a="http://schemas.openxmlformats.org/drawingml/2006/main">
            <a:off x="10353675"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4 / 8</a:t>
            </a:r>
          </a:p>
        </p:txBody>
      </p:sp>
      <p:sp>
        <p:nvSpPr>
          <p:cNvPr id="54" name="">
            <a:extLst xmlns:a="http://schemas.openxmlformats.org/drawingml/2006/main">
              <a:ext uri="{FF2B5EF4-FFF2-40B4-BE49-F238E27FC236}">
                <a16:creationId xmlns:a16="http://schemas.microsoft.com/office/drawing/2014/main" id="{A9905DD0-55CC-4C24-9FB8-AF34C419B592}"/>
              </a:ext>
            </a:extLst>
          </p:cNvPr>
          <p:cNvSpPr>
            <a:spLocks xmlns:a="http://schemas.openxmlformats.org/drawingml/2006/main" noGrp="1"/>
          </p:cNvSpPr>
          <p:nvPr/>
        </p:nvSpPr>
        <p:spPr>
          <a:xfrm xmlns:a="http://schemas.openxmlformats.org/drawingml/2006/main">
            <a:off x="915352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D28B23"/>
                </a:solidFill>
                <a:latin typeface="BIZ UDPGothic"/>
                <a:ea typeface="BIZ UDPGothic"/>
                <a:cs typeface="BIZ UDPGothic"/>
              </a:defRPr>
            </a:pPr>
            <a:r>
              <a:rPr sz="1500" b="0">
                <a:solidFill>
                  <a:srgbClr val="D28B23"/>
                </a:solidFill>
                <a:latin typeface="BIZ UDPGothic"/>
                <a:ea typeface="BIZ UDPGothic"/>
                <a:cs typeface="BIZ UDPGothic"/>
              </a:rPr>
              <a:t>やや離れる</a:t>
            </a:r>
          </a:p>
        </p:txBody>
      </p:sp>
      <p:sp>
        <p:nvSpPr>
          <p:cNvPr id="55" name="">
            <a:extLst xmlns:a="http://schemas.openxmlformats.org/drawingml/2006/main">
              <a:ext uri="{FF2B5EF4-FFF2-40B4-BE49-F238E27FC236}">
                <a16:creationId xmlns:a16="http://schemas.microsoft.com/office/drawing/2014/main" id="{102F9998-5A82-46EB-A058-4020413E6BD7}"/>
              </a:ext>
            </a:extLst>
          </p:cNvPr>
          <p:cNvSpPr>
            <a:spLocks xmlns:a="http://schemas.openxmlformats.org/drawingml/2006/main" noGrp="1"/>
          </p:cNvSpPr>
          <p:nvPr/>
        </p:nvSpPr>
        <p:spPr>
          <a:xfrm xmlns:a="http://schemas.openxmlformats.org/drawingml/2006/main">
            <a:off x="3190875" y="60007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Bを次のtransformationへ渡す</a:t>
            </a:r>
          </a:p>
        </p:txBody>
      </p:sp>
      <p:sp>
        <p:nvSpPr>
          <p:cNvPr id="56" name="">
            <a:extLst xmlns:a="http://schemas.openxmlformats.org/drawingml/2006/main">
              <a:ext uri="{FF2B5EF4-FFF2-40B4-BE49-F238E27FC236}">
                <a16:creationId xmlns:a16="http://schemas.microsoft.com/office/drawing/2014/main" id="{A365085F-4B16-4AD6-90DA-1D35D5DB560C}"/>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選択基準：updated global surrogateの出力とμ_postのpost KLが最小</a:t>
            </a:r>
          </a:p>
        </p:txBody>
      </p:sp>
      <p:sp>
        <p:nvSpPr>
          <p:cNvPr id="57" name="">
            <a:extLst xmlns:a="http://schemas.openxmlformats.org/drawingml/2006/main">
              <a:ext uri="{FF2B5EF4-FFF2-40B4-BE49-F238E27FC236}">
                <a16:creationId xmlns:a16="http://schemas.microsoft.com/office/drawing/2014/main" id="{A08BB3DE-4A5F-4E90-929E-1D5ACD788862}"/>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5</a:t>
            </a:r>
          </a:p>
        </p:txBody>
      </p:sp>
    </p:spTree>
    <p:extLst>
      <p:ext uri="{BB962C8B-B14F-4D97-AF65-F5344CB8AC3E}">
        <p14:creationId xmlns:p14="http://schemas.microsoft.com/office/powerpoint/2010/main" val="981820144"/>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1117DA4-C9FB-48C3-94C6-1C5586F631CF}"/>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Bを4通りに変換し、判断の再現誤差を比較</a:t>
            </a:r>
          </a:p>
        </p:txBody>
      </p:sp>
      <p:sp>
        <p:nvSpPr>
          <p:cNvPr id="2" name="">
            <a:extLst xmlns:a="http://schemas.openxmlformats.org/drawingml/2006/main">
              <a:ext uri="{FF2B5EF4-FFF2-40B4-BE49-F238E27FC236}">
                <a16:creationId xmlns:a16="http://schemas.microsoft.com/office/drawing/2014/main" id="{A23D2745-697D-4898-A6E6-DFBFA34A95B6}"/>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05</a:t>
            </a:r>
          </a:p>
        </p:txBody>
      </p:sp>
      <p:sp>
        <p:nvSpPr>
          <p:cNvPr id="3" name="">
            <a:extLst xmlns:a="http://schemas.openxmlformats.org/drawingml/2006/main">
              <a:ext uri="{FF2B5EF4-FFF2-40B4-BE49-F238E27FC236}">
                <a16:creationId xmlns:a16="http://schemas.microsoft.com/office/drawing/2014/main" id="{970F4ECA-6693-44AE-8431-67BDBE4C1CE2}"/>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4FB3747E-FD5A-4FA4-8BE8-A45B1146DCAD}"/>
              </a:ext>
            </a:extLst>
          </p:cNvPr>
          <p:cNvSpPr>
            <a:spLocks xmlns:a="http://schemas.openxmlformats.org/drawingml/2006/main" noGrp="1"/>
          </p:cNvSpPr>
          <p:nvPr/>
        </p:nvSpPr>
        <p:spPr>
          <a:xfrm xmlns:a="http://schemas.openxmlformats.org/drawingml/2006/main">
            <a:off x="609600" y="1200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同じ4フレームへ各変換を独立に適用</a:t>
            </a:r>
          </a:p>
        </p:txBody>
      </p:sp>
      <p:sp>
        <p:nvSpPr>
          <p:cNvPr id="5" name="">
            <a:extLst xmlns:a="http://schemas.openxmlformats.org/drawingml/2006/main">
              <a:ext uri="{FF2B5EF4-FFF2-40B4-BE49-F238E27FC236}">
                <a16:creationId xmlns:a16="http://schemas.microsoft.com/office/drawing/2014/main" id="{63976A79-FAC1-44CF-8FBB-CF9602610F51}"/>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変換は累積しない</a:t>
            </a:r>
          </a:p>
        </p:txBody>
      </p:sp>
      <p:sp>
        <p:nvSpPr>
          <p:cNvPr id="6" name="">
            <a:extLst xmlns:a="http://schemas.openxmlformats.org/drawingml/2006/main">
              <a:ext uri="{FF2B5EF4-FFF2-40B4-BE49-F238E27FC236}">
                <a16:creationId xmlns:a16="http://schemas.microsoft.com/office/drawing/2014/main" id="{39243AEC-2AD4-4EF2-B63E-E88BCB742F54}"/>
              </a:ext>
            </a:extLst>
          </p:cNvPr>
          <p:cNvSpPr>
            <a:spLocks xmlns:a="http://schemas.openxmlformats.org/drawingml/2006/main" noGrp="1"/>
          </p:cNvSpPr>
          <p:nvPr/>
        </p:nvSpPr>
        <p:spPr>
          <a:xfrm xmlns:a="http://schemas.openxmlformats.org/drawingml/2006/main">
            <a:off x="60960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7D8A97"/>
                </a:solidFill>
                <a:latin typeface="BIZ UDPGothic"/>
                <a:ea typeface="BIZ UDPGothic"/>
                <a:cs typeface="BIZ UDPGothic"/>
              </a:defRPr>
            </a:pPr>
            <a:r>
              <a:rPr sz="1800" b="1">
                <a:solidFill>
                  <a:srgbClr val="7D8A97"/>
                </a:solidFill>
                <a:latin typeface="BIZ UDPGothic"/>
                <a:ea typeface="BIZ UDPGothic"/>
                <a:cs typeface="BIZ UDPGothic"/>
              </a:rPr>
              <a:t>無変換</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8e4d18a8b164429"/>
          <a:srcRect xmlns:a="http://schemas.openxmlformats.org/drawingml/2006/main" l="0" t="85" r="0" b="85"/>
          <a:stretch xmlns:a="http://schemas.openxmlformats.org/drawingml/2006/main">
            <a:fillRect l="0" t="0" r="0" b="0"/>
          </a:stretch>
        </p:blipFill>
        <p:spPr>
          <a:xfrm xmlns:a="http://schemas.openxmlformats.org/drawingml/2006/main">
            <a:off x="609600" y="215265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1D86D5A-6142-4640-B167-097762C28C61}"/>
              </a:ext>
            </a:extLst>
          </p:cNvPr>
          <p:cNvSpPr>
            <a:spLocks xmlns:a="http://schemas.openxmlformats.org/drawingml/2006/main" noGrp="1"/>
          </p:cNvSpPr>
          <p:nvPr/>
        </p:nvSpPr>
        <p:spPr>
          <a:xfrm xmlns:a="http://schemas.openxmlformats.org/drawingml/2006/main">
            <a:off x="60960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Bをそのまま使用</a:t>
            </a:r>
          </a:p>
        </p:txBody>
      </p:sp>
      <p:sp>
        <p:nvSpPr>
          <p:cNvPr id="9" name="">
            <a:extLst xmlns:a="http://schemas.openxmlformats.org/drawingml/2006/main">
              <a:ext uri="{FF2B5EF4-FFF2-40B4-BE49-F238E27FC236}">
                <a16:creationId xmlns:a16="http://schemas.microsoft.com/office/drawing/2014/main" id="{027FC711-CB09-42DA-9D41-52321AC7AF32}"/>
              </a:ext>
            </a:extLst>
          </p:cNvPr>
          <p:cNvSpPr>
            <a:spLocks xmlns:a="http://schemas.openxmlformats.org/drawingml/2006/main" noGrp="1"/>
          </p:cNvSpPr>
          <p:nvPr/>
        </p:nvSpPr>
        <p:spPr>
          <a:xfrm xmlns:a="http://schemas.openxmlformats.org/drawingml/2006/main">
            <a:off x="609600"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10" name="">
            <a:extLst xmlns:a="http://schemas.openxmlformats.org/drawingml/2006/main">
              <a:ext uri="{FF2B5EF4-FFF2-40B4-BE49-F238E27FC236}">
                <a16:creationId xmlns:a16="http://schemas.microsoft.com/office/drawing/2014/main" id="{BAEACEE8-EC7B-4F6E-9F7C-DA91E809A477}"/>
              </a:ext>
            </a:extLst>
          </p:cNvPr>
          <p:cNvSpPr>
            <a:spLocks xmlns:a="http://schemas.openxmlformats.org/drawingml/2006/main" noGrp="1"/>
          </p:cNvSpPr>
          <p:nvPr/>
        </p:nvSpPr>
        <p:spPr>
          <a:xfrm xmlns:a="http://schemas.openxmlformats.org/drawingml/2006/main">
            <a:off x="1809750"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0.00325</a:t>
            </a:r>
          </a:p>
        </p:txBody>
      </p:sp>
      <p:sp>
        <p:nvSpPr>
          <p:cNvPr id="11" name="">
            <a:extLst xmlns:a="http://schemas.openxmlformats.org/drawingml/2006/main">
              <a:ext uri="{FF2B5EF4-FFF2-40B4-BE49-F238E27FC236}">
                <a16:creationId xmlns:a16="http://schemas.microsoft.com/office/drawing/2014/main" id="{73F7193B-223F-4AF1-9251-73D563BE8DD9}"/>
              </a:ext>
            </a:extLst>
          </p:cNvPr>
          <p:cNvSpPr>
            <a:spLocks xmlns:a="http://schemas.openxmlformats.org/drawingml/2006/main" noGrp="1"/>
          </p:cNvSpPr>
          <p:nvPr/>
        </p:nvSpPr>
        <p:spPr>
          <a:xfrm xmlns:a="http://schemas.openxmlformats.org/drawingml/2006/main">
            <a:off x="609600"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12" name="">
            <a:extLst xmlns:a="http://schemas.openxmlformats.org/drawingml/2006/main">
              <a:ext uri="{FF2B5EF4-FFF2-40B4-BE49-F238E27FC236}">
                <a16:creationId xmlns:a16="http://schemas.microsoft.com/office/drawing/2014/main" id="{2D032F38-BCCC-4542-B26E-25A9D72D3998}"/>
              </a:ext>
            </a:extLst>
          </p:cNvPr>
          <p:cNvSpPr>
            <a:spLocks xmlns:a="http://schemas.openxmlformats.org/drawingml/2006/main" noGrp="1"/>
          </p:cNvSpPr>
          <p:nvPr/>
        </p:nvSpPr>
        <p:spPr>
          <a:xfrm xmlns:a="http://schemas.openxmlformats.org/drawingml/2006/main">
            <a:off x="1809750"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0.00003</a:t>
            </a:r>
          </a:p>
        </p:txBody>
      </p:sp>
      <p:sp>
        <p:nvSpPr>
          <p:cNvPr id="13" name="">
            <a:extLst xmlns:a="http://schemas.openxmlformats.org/drawingml/2006/main">
              <a:ext uri="{FF2B5EF4-FFF2-40B4-BE49-F238E27FC236}">
                <a16:creationId xmlns:a16="http://schemas.microsoft.com/office/drawing/2014/main" id="{7E1D1E54-F61C-42E6-9D67-3FADE3605181}"/>
              </a:ext>
            </a:extLst>
          </p:cNvPr>
          <p:cNvSpPr>
            <a:spLocks xmlns:a="http://schemas.openxmlformats.org/drawingml/2006/main" noGrp="1"/>
          </p:cNvSpPr>
          <p:nvPr/>
        </p:nvSpPr>
        <p:spPr>
          <a:xfrm xmlns:a="http://schemas.openxmlformats.org/drawingml/2006/main">
            <a:off x="60960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14" name="">
            <a:extLst xmlns:a="http://schemas.openxmlformats.org/drawingml/2006/main">
              <a:ext uri="{FF2B5EF4-FFF2-40B4-BE49-F238E27FC236}">
                <a16:creationId xmlns:a16="http://schemas.microsoft.com/office/drawing/2014/main" id="{3DFC670D-0F19-424A-8DA1-873832D5AA30}"/>
              </a:ext>
            </a:extLst>
          </p:cNvPr>
          <p:cNvSpPr>
            <a:spLocks xmlns:a="http://schemas.openxmlformats.org/drawingml/2006/main" noGrp="1"/>
          </p:cNvSpPr>
          <p:nvPr/>
        </p:nvSpPr>
        <p:spPr>
          <a:xfrm xmlns:a="http://schemas.openxmlformats.org/drawingml/2006/main">
            <a:off x="609600"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15" name="">
            <a:extLst xmlns:a="http://schemas.openxmlformats.org/drawingml/2006/main">
              <a:ext uri="{FF2B5EF4-FFF2-40B4-BE49-F238E27FC236}">
                <a16:creationId xmlns:a16="http://schemas.microsoft.com/office/drawing/2014/main" id="{C02711DD-2F6B-4C80-8645-E524062F6EAF}"/>
              </a:ext>
            </a:extLst>
          </p:cNvPr>
          <p:cNvSpPr>
            <a:spLocks xmlns:a="http://schemas.openxmlformats.org/drawingml/2006/main" noGrp="1"/>
          </p:cNvSpPr>
          <p:nvPr/>
        </p:nvSpPr>
        <p:spPr>
          <a:xfrm xmlns:a="http://schemas.openxmlformats.org/drawingml/2006/main">
            <a:off x="1809750"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0.00329</a:t>
            </a:r>
          </a:p>
        </p:txBody>
      </p:sp>
      <p:sp>
        <p:nvSpPr>
          <p:cNvPr id="16" name="">
            <a:extLst xmlns:a="http://schemas.openxmlformats.org/drawingml/2006/main">
              <a:ext uri="{FF2B5EF4-FFF2-40B4-BE49-F238E27FC236}">
                <a16:creationId xmlns:a16="http://schemas.microsoft.com/office/drawing/2014/main" id="{44512B72-D71D-4090-BBB2-1AF1768DCD3E}"/>
              </a:ext>
            </a:extLst>
          </p:cNvPr>
          <p:cNvSpPr>
            <a:spLocks xmlns:a="http://schemas.openxmlformats.org/drawingml/2006/main" noGrp="1"/>
          </p:cNvSpPr>
          <p:nvPr/>
        </p:nvSpPr>
        <p:spPr>
          <a:xfrm xmlns:a="http://schemas.openxmlformats.org/drawingml/2006/main">
            <a:off x="345757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D28B23"/>
                </a:solidFill>
                <a:latin typeface="BIZ UDPGothic"/>
                <a:ea typeface="BIZ UDPGothic"/>
                <a:cs typeface="BIZ UDPGothic"/>
              </a:defRPr>
            </a:pPr>
            <a:r>
              <a:rPr sz="1800" b="1">
                <a:solidFill>
                  <a:srgbClr val="D28B23"/>
                </a:solidFill>
                <a:latin typeface="BIZ UDPGothic"/>
                <a:ea typeface="BIZ UDPGothic"/>
                <a:cs typeface="BIZ UDPGothic"/>
              </a:rPr>
              <a:t>明るさ ×0.75</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980cfb91468a4d0c"/>
          <a:srcRect xmlns:a="http://schemas.openxmlformats.org/drawingml/2006/main" l="0" t="85" r="0" b="85"/>
          <a:stretch xmlns:a="http://schemas.openxmlformats.org/drawingml/2006/main">
            <a:fillRect l="0" t="0" r="0" b="0"/>
          </a:stretch>
        </p:blipFill>
        <p:spPr>
          <a:xfrm xmlns:a="http://schemas.openxmlformats.org/drawingml/2006/main">
            <a:off x="3457575" y="2152650"/>
            <a:ext cx="2476500" cy="13906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AB8AA5BC-DC17-4256-ABCA-3DDF68DBE248}"/>
              </a:ext>
            </a:extLst>
          </p:cNvPr>
          <p:cNvSpPr>
            <a:spLocks xmlns:a="http://schemas.openxmlformats.org/drawingml/2006/main" noGrp="1"/>
          </p:cNvSpPr>
          <p:nvPr/>
        </p:nvSpPr>
        <p:spPr>
          <a:xfrm xmlns:a="http://schemas.openxmlformats.org/drawingml/2006/main">
            <a:off x="345757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全フレームを25%暗く</a:t>
            </a:r>
          </a:p>
        </p:txBody>
      </p:sp>
      <p:sp>
        <p:nvSpPr>
          <p:cNvPr id="19" name="">
            <a:extLst xmlns:a="http://schemas.openxmlformats.org/drawingml/2006/main">
              <a:ext uri="{FF2B5EF4-FFF2-40B4-BE49-F238E27FC236}">
                <a16:creationId xmlns:a16="http://schemas.microsoft.com/office/drawing/2014/main" id="{E7FB1938-800E-4F80-A831-9869FA7B1929}"/>
              </a:ext>
            </a:extLst>
          </p:cNvPr>
          <p:cNvSpPr>
            <a:spLocks xmlns:a="http://schemas.openxmlformats.org/drawingml/2006/main" noGrp="1"/>
          </p:cNvSpPr>
          <p:nvPr/>
        </p:nvSpPr>
        <p:spPr>
          <a:xfrm xmlns:a="http://schemas.openxmlformats.org/drawingml/2006/main">
            <a:off x="3457575"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20" name="">
            <a:extLst xmlns:a="http://schemas.openxmlformats.org/drawingml/2006/main">
              <a:ext uri="{FF2B5EF4-FFF2-40B4-BE49-F238E27FC236}">
                <a16:creationId xmlns:a16="http://schemas.microsoft.com/office/drawing/2014/main" id="{CE4A9FDA-B25B-4472-8883-B68B89063733}"/>
              </a:ext>
            </a:extLst>
          </p:cNvPr>
          <p:cNvSpPr>
            <a:spLocks xmlns:a="http://schemas.openxmlformats.org/drawingml/2006/main" noGrp="1"/>
          </p:cNvSpPr>
          <p:nvPr/>
        </p:nvSpPr>
        <p:spPr>
          <a:xfrm xmlns:a="http://schemas.openxmlformats.org/drawingml/2006/main">
            <a:off x="4657725"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0.01086</a:t>
            </a:r>
          </a:p>
        </p:txBody>
      </p:sp>
      <p:sp>
        <p:nvSpPr>
          <p:cNvPr id="21" name="">
            <a:extLst xmlns:a="http://schemas.openxmlformats.org/drawingml/2006/main">
              <a:ext uri="{FF2B5EF4-FFF2-40B4-BE49-F238E27FC236}">
                <a16:creationId xmlns:a16="http://schemas.microsoft.com/office/drawing/2014/main" id="{126882F7-D295-4531-BF4F-1D5D0761A77F}"/>
              </a:ext>
            </a:extLst>
          </p:cNvPr>
          <p:cNvSpPr>
            <a:spLocks xmlns:a="http://schemas.openxmlformats.org/drawingml/2006/main" noGrp="1"/>
          </p:cNvSpPr>
          <p:nvPr/>
        </p:nvSpPr>
        <p:spPr>
          <a:xfrm xmlns:a="http://schemas.openxmlformats.org/drawingml/2006/main">
            <a:off x="3457575"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22" name="">
            <a:extLst xmlns:a="http://schemas.openxmlformats.org/drawingml/2006/main">
              <a:ext uri="{FF2B5EF4-FFF2-40B4-BE49-F238E27FC236}">
                <a16:creationId xmlns:a16="http://schemas.microsoft.com/office/drawing/2014/main" id="{E8D0181B-3F4F-4C8B-BA7C-0D0D19031D37}"/>
              </a:ext>
            </a:extLst>
          </p:cNvPr>
          <p:cNvSpPr>
            <a:spLocks xmlns:a="http://schemas.openxmlformats.org/drawingml/2006/main" noGrp="1"/>
          </p:cNvSpPr>
          <p:nvPr/>
        </p:nvSpPr>
        <p:spPr>
          <a:xfrm xmlns:a="http://schemas.openxmlformats.org/drawingml/2006/main">
            <a:off x="4657725"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0.00129</a:t>
            </a:r>
          </a:p>
        </p:txBody>
      </p:sp>
      <p:sp>
        <p:nvSpPr>
          <p:cNvPr id="23" name="">
            <a:extLst xmlns:a="http://schemas.openxmlformats.org/drawingml/2006/main">
              <a:ext uri="{FF2B5EF4-FFF2-40B4-BE49-F238E27FC236}">
                <a16:creationId xmlns:a16="http://schemas.microsoft.com/office/drawing/2014/main" id="{792720EF-F2D6-46F9-A4A8-E4BF0AD30DF2}"/>
              </a:ext>
            </a:extLst>
          </p:cNvPr>
          <p:cNvSpPr>
            <a:spLocks xmlns:a="http://schemas.openxmlformats.org/drawingml/2006/main" noGrp="1"/>
          </p:cNvSpPr>
          <p:nvPr/>
        </p:nvSpPr>
        <p:spPr>
          <a:xfrm xmlns:a="http://schemas.openxmlformats.org/drawingml/2006/main">
            <a:off x="345757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24" name="">
            <a:extLst xmlns:a="http://schemas.openxmlformats.org/drawingml/2006/main">
              <a:ext uri="{FF2B5EF4-FFF2-40B4-BE49-F238E27FC236}">
                <a16:creationId xmlns:a16="http://schemas.microsoft.com/office/drawing/2014/main" id="{6F966D26-80B5-4024-A2D6-B9BA0A291553}"/>
              </a:ext>
            </a:extLst>
          </p:cNvPr>
          <p:cNvSpPr>
            <a:spLocks xmlns:a="http://schemas.openxmlformats.org/drawingml/2006/main" noGrp="1"/>
          </p:cNvSpPr>
          <p:nvPr/>
        </p:nvSpPr>
        <p:spPr>
          <a:xfrm xmlns:a="http://schemas.openxmlformats.org/drawingml/2006/main">
            <a:off x="3457575"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25" name="">
            <a:extLst xmlns:a="http://schemas.openxmlformats.org/drawingml/2006/main">
              <a:ext uri="{FF2B5EF4-FFF2-40B4-BE49-F238E27FC236}">
                <a16:creationId xmlns:a16="http://schemas.microsoft.com/office/drawing/2014/main" id="{D6C07567-B521-4BFC-A148-B9E4E88D47C4}"/>
              </a:ext>
            </a:extLst>
          </p:cNvPr>
          <p:cNvSpPr>
            <a:spLocks xmlns:a="http://schemas.openxmlformats.org/drawingml/2006/main" noGrp="1"/>
          </p:cNvSpPr>
          <p:nvPr/>
        </p:nvSpPr>
        <p:spPr>
          <a:xfrm xmlns:a="http://schemas.openxmlformats.org/drawingml/2006/main">
            <a:off x="4657725"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0.01215</a:t>
            </a:r>
          </a:p>
        </p:txBody>
      </p:sp>
      <p:sp>
        <p:nvSpPr>
          <p:cNvPr id="26" name="">
            <a:extLst xmlns:a="http://schemas.openxmlformats.org/drawingml/2006/main">
              <a:ext uri="{FF2B5EF4-FFF2-40B4-BE49-F238E27FC236}">
                <a16:creationId xmlns:a16="http://schemas.microsoft.com/office/drawing/2014/main" id="{C2115A0D-FF02-40D3-9289-438725A76B1B}"/>
              </a:ext>
            </a:extLst>
          </p:cNvPr>
          <p:cNvSpPr>
            <a:spLocks xmlns:a="http://schemas.openxmlformats.org/drawingml/2006/main" noGrp="1"/>
          </p:cNvSpPr>
          <p:nvPr/>
        </p:nvSpPr>
        <p:spPr>
          <a:xfrm xmlns:a="http://schemas.openxmlformats.org/drawingml/2006/main">
            <a:off x="630555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2F6FA5"/>
                </a:solidFill>
                <a:latin typeface="BIZ UDPGothic"/>
                <a:ea typeface="BIZ UDPGothic"/>
                <a:cs typeface="BIZ UDPGothic"/>
              </a:defRPr>
            </a:pPr>
            <a:r>
              <a:rPr sz="1800" b="1">
                <a:solidFill>
                  <a:srgbClr val="2F6FA5"/>
                </a:solidFill>
                <a:latin typeface="BIZ UDPGothic"/>
                <a:ea typeface="BIZ UDPGothic"/>
                <a:cs typeface="BIZ UDPGothic"/>
              </a:rPr>
              <a:t>contrast ×1.20</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11ac0aff34784ba4"/>
          <a:srcRect xmlns:a="http://schemas.openxmlformats.org/drawingml/2006/main" l="0" t="85" r="0" b="85"/>
          <a:stretch xmlns:a="http://schemas.openxmlformats.org/drawingml/2006/main">
            <a:fillRect l="0" t="0" r="0" b="0"/>
          </a:stretch>
        </p:blipFill>
        <p:spPr>
          <a:xfrm xmlns:a="http://schemas.openxmlformats.org/drawingml/2006/main">
            <a:off x="6305550" y="2152650"/>
            <a:ext cx="2476500" cy="13906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1E56BC8B-FC32-478E-825E-3AC1E97695A5}"/>
              </a:ext>
            </a:extLst>
          </p:cNvPr>
          <p:cNvSpPr>
            <a:spLocks xmlns:a="http://schemas.openxmlformats.org/drawingml/2006/main" noGrp="1"/>
          </p:cNvSpPr>
          <p:nvPr/>
        </p:nvSpPr>
        <p:spPr>
          <a:xfrm xmlns:a="http://schemas.openxmlformats.org/drawingml/2006/main">
            <a:off x="630555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明暗差を20%強調</a:t>
            </a:r>
          </a:p>
        </p:txBody>
      </p:sp>
      <p:sp>
        <p:nvSpPr>
          <p:cNvPr id="29" name="">
            <a:extLst xmlns:a="http://schemas.openxmlformats.org/drawingml/2006/main">
              <a:ext uri="{FF2B5EF4-FFF2-40B4-BE49-F238E27FC236}">
                <a16:creationId xmlns:a16="http://schemas.microsoft.com/office/drawing/2014/main" id="{4E332F46-D1C7-4AC7-8E8C-F23005505507}"/>
              </a:ext>
            </a:extLst>
          </p:cNvPr>
          <p:cNvSpPr>
            <a:spLocks xmlns:a="http://schemas.openxmlformats.org/drawingml/2006/main" noGrp="1"/>
          </p:cNvSpPr>
          <p:nvPr/>
        </p:nvSpPr>
        <p:spPr>
          <a:xfrm xmlns:a="http://schemas.openxmlformats.org/drawingml/2006/main">
            <a:off x="6305550"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30" name="">
            <a:extLst xmlns:a="http://schemas.openxmlformats.org/drawingml/2006/main">
              <a:ext uri="{FF2B5EF4-FFF2-40B4-BE49-F238E27FC236}">
                <a16:creationId xmlns:a16="http://schemas.microsoft.com/office/drawing/2014/main" id="{62BDB10D-A736-46CD-9B79-22C986A1CC3C}"/>
              </a:ext>
            </a:extLst>
          </p:cNvPr>
          <p:cNvSpPr>
            <a:spLocks xmlns:a="http://schemas.openxmlformats.org/drawingml/2006/main" noGrp="1"/>
          </p:cNvSpPr>
          <p:nvPr/>
        </p:nvSpPr>
        <p:spPr>
          <a:xfrm xmlns:a="http://schemas.openxmlformats.org/drawingml/2006/main">
            <a:off x="7505700"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0.00585</a:t>
            </a:r>
          </a:p>
        </p:txBody>
      </p:sp>
      <p:sp>
        <p:nvSpPr>
          <p:cNvPr id="31" name="">
            <a:extLst xmlns:a="http://schemas.openxmlformats.org/drawingml/2006/main">
              <a:ext uri="{FF2B5EF4-FFF2-40B4-BE49-F238E27FC236}">
                <a16:creationId xmlns:a16="http://schemas.microsoft.com/office/drawing/2014/main" id="{2B546EC1-4D29-4E76-A2A6-34D260658BDD}"/>
              </a:ext>
            </a:extLst>
          </p:cNvPr>
          <p:cNvSpPr>
            <a:spLocks xmlns:a="http://schemas.openxmlformats.org/drawingml/2006/main" noGrp="1"/>
          </p:cNvSpPr>
          <p:nvPr/>
        </p:nvSpPr>
        <p:spPr>
          <a:xfrm xmlns:a="http://schemas.openxmlformats.org/drawingml/2006/main">
            <a:off x="6305550"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32" name="">
            <a:extLst xmlns:a="http://schemas.openxmlformats.org/drawingml/2006/main">
              <a:ext uri="{FF2B5EF4-FFF2-40B4-BE49-F238E27FC236}">
                <a16:creationId xmlns:a16="http://schemas.microsoft.com/office/drawing/2014/main" id="{D08B58BA-CC63-4E28-9EBE-C9037DCF00A8}"/>
              </a:ext>
            </a:extLst>
          </p:cNvPr>
          <p:cNvSpPr>
            <a:spLocks xmlns:a="http://schemas.openxmlformats.org/drawingml/2006/main" noGrp="1"/>
          </p:cNvSpPr>
          <p:nvPr/>
        </p:nvSpPr>
        <p:spPr>
          <a:xfrm xmlns:a="http://schemas.openxmlformats.org/drawingml/2006/main">
            <a:off x="7505700"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0.00030</a:t>
            </a:r>
          </a:p>
        </p:txBody>
      </p:sp>
      <p:sp>
        <p:nvSpPr>
          <p:cNvPr id="33" name="">
            <a:extLst xmlns:a="http://schemas.openxmlformats.org/drawingml/2006/main">
              <a:ext uri="{FF2B5EF4-FFF2-40B4-BE49-F238E27FC236}">
                <a16:creationId xmlns:a16="http://schemas.microsoft.com/office/drawing/2014/main" id="{D5D53B8C-C7EC-4F86-BB2B-C758BC006CEE}"/>
              </a:ext>
            </a:extLst>
          </p:cNvPr>
          <p:cNvSpPr>
            <a:spLocks xmlns:a="http://schemas.openxmlformats.org/drawingml/2006/main" noGrp="1"/>
          </p:cNvSpPr>
          <p:nvPr/>
        </p:nvSpPr>
        <p:spPr>
          <a:xfrm xmlns:a="http://schemas.openxmlformats.org/drawingml/2006/main">
            <a:off x="630555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34" name="">
            <a:extLst xmlns:a="http://schemas.openxmlformats.org/drawingml/2006/main">
              <a:ext uri="{FF2B5EF4-FFF2-40B4-BE49-F238E27FC236}">
                <a16:creationId xmlns:a16="http://schemas.microsoft.com/office/drawing/2014/main" id="{A687D3E2-C497-461F-A060-958CEF7F4DFF}"/>
              </a:ext>
            </a:extLst>
          </p:cNvPr>
          <p:cNvSpPr>
            <a:spLocks xmlns:a="http://schemas.openxmlformats.org/drawingml/2006/main" noGrp="1"/>
          </p:cNvSpPr>
          <p:nvPr/>
        </p:nvSpPr>
        <p:spPr>
          <a:xfrm xmlns:a="http://schemas.openxmlformats.org/drawingml/2006/main">
            <a:off x="6305550"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35" name="">
            <a:extLst xmlns:a="http://schemas.openxmlformats.org/drawingml/2006/main">
              <a:ext uri="{FF2B5EF4-FFF2-40B4-BE49-F238E27FC236}">
                <a16:creationId xmlns:a16="http://schemas.microsoft.com/office/drawing/2014/main" id="{97E6F3E1-F8C4-4B10-8329-B00056171E03}"/>
              </a:ext>
            </a:extLst>
          </p:cNvPr>
          <p:cNvSpPr>
            <a:spLocks xmlns:a="http://schemas.openxmlformats.org/drawingml/2006/main" noGrp="1"/>
          </p:cNvSpPr>
          <p:nvPr/>
        </p:nvSpPr>
        <p:spPr>
          <a:xfrm xmlns:a="http://schemas.openxmlformats.org/drawingml/2006/main">
            <a:off x="7505700"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0.00615</a:t>
            </a:r>
          </a:p>
        </p:txBody>
      </p:sp>
      <p:sp>
        <p:nvSpPr>
          <p:cNvPr id="36" name="">
            <a:extLst xmlns:a="http://schemas.openxmlformats.org/drawingml/2006/main">
              <a:ext uri="{FF2B5EF4-FFF2-40B4-BE49-F238E27FC236}">
                <a16:creationId xmlns:a16="http://schemas.microsoft.com/office/drawing/2014/main" id="{18CE11D6-E0CD-4051-B7CA-D2C2A5CC59E2}"/>
              </a:ext>
            </a:extLst>
          </p:cNvPr>
          <p:cNvSpPr>
            <a:spLocks xmlns:a="http://schemas.openxmlformats.org/drawingml/2006/main" noGrp="1"/>
          </p:cNvSpPr>
          <p:nvPr/>
        </p:nvSpPr>
        <p:spPr>
          <a:xfrm xmlns:a="http://schemas.openxmlformats.org/drawingml/2006/main">
            <a:off x="9058275" y="1571625"/>
            <a:ext cx="2686050" cy="4324350"/>
          </a:xfrm>
          <a:prstGeom xmlns:a="http://schemas.openxmlformats.org/drawingml/2006/main" prst="roundRect">
            <a:avLst>
              <a:gd name="adj" fmla="val 2837"/>
            </a:avLst>
          </a:prstGeom>
          <a:solidFill xmlns:a="http://schemas.openxmlformats.org/drawingml/2006/main">
            <a:srgbClr val="DDF1EC"/>
          </a:solidFill>
          <a:ln xmlns:a="http://schemas.openxmlformats.org/drawingml/2006/main" w="38100">
            <a:solidFill>
              <a:srgbClr val="168A7A"/>
            </a:solidFill>
            <a:prstDash val="solid"/>
          </a:ln>
        </p:spPr>
      </p:sp>
      <p:sp>
        <p:nvSpPr>
          <p:cNvPr id="37" name="">
            <a:extLst xmlns:a="http://schemas.openxmlformats.org/drawingml/2006/main">
              <a:ext uri="{FF2B5EF4-FFF2-40B4-BE49-F238E27FC236}">
                <a16:creationId xmlns:a16="http://schemas.microsoft.com/office/drawing/2014/main" id="{5EAAC973-00C5-4CAF-917B-43E46FE04911}"/>
              </a:ext>
            </a:extLst>
          </p:cNvPr>
          <p:cNvSpPr>
            <a:spLocks xmlns:a="http://schemas.openxmlformats.org/drawingml/2006/main" noGrp="1"/>
          </p:cNvSpPr>
          <p:nvPr/>
        </p:nvSpPr>
        <p:spPr>
          <a:xfrm xmlns:a="http://schemas.openxmlformats.org/drawingml/2006/main">
            <a:off x="915352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center crop 0.85</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7bf87dc5b6ab4619"/>
          <a:srcRect xmlns:a="http://schemas.openxmlformats.org/drawingml/2006/main" l="0" t="85" r="0" b="85"/>
          <a:stretch xmlns:a="http://schemas.openxmlformats.org/drawingml/2006/main">
            <a:fillRect l="0" t="0" r="0" b="0"/>
          </a:stretch>
        </p:blipFill>
        <p:spPr>
          <a:xfrm xmlns:a="http://schemas.openxmlformats.org/drawingml/2006/main">
            <a:off x="9153525" y="2152650"/>
            <a:ext cx="2476500" cy="13906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FA8DB2C6-5F68-45E5-B23E-5A1B77A19A07}"/>
              </a:ext>
            </a:extLst>
          </p:cNvPr>
          <p:cNvSpPr>
            <a:spLocks xmlns:a="http://schemas.openxmlformats.org/drawingml/2006/main" noGrp="1"/>
          </p:cNvSpPr>
          <p:nvPr/>
        </p:nvSpPr>
        <p:spPr>
          <a:xfrm xmlns:a="http://schemas.openxmlformats.org/drawingml/2006/main">
            <a:off x="915352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中央85%を切り出して拡大</a:t>
            </a:r>
          </a:p>
        </p:txBody>
      </p:sp>
      <p:sp>
        <p:nvSpPr>
          <p:cNvPr id="40" name="">
            <a:extLst xmlns:a="http://schemas.openxmlformats.org/drawingml/2006/main">
              <a:ext uri="{FF2B5EF4-FFF2-40B4-BE49-F238E27FC236}">
                <a16:creationId xmlns:a16="http://schemas.microsoft.com/office/drawing/2014/main" id="{892FFA3C-55B3-42D4-B435-FBD36084265D}"/>
              </a:ext>
            </a:extLst>
          </p:cNvPr>
          <p:cNvSpPr>
            <a:spLocks xmlns:a="http://schemas.openxmlformats.org/drawingml/2006/main" noGrp="1"/>
          </p:cNvSpPr>
          <p:nvPr/>
        </p:nvSpPr>
        <p:spPr>
          <a:xfrm xmlns:a="http://schemas.openxmlformats.org/drawingml/2006/main">
            <a:off x="9153525"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41" name="">
            <a:extLst xmlns:a="http://schemas.openxmlformats.org/drawingml/2006/main">
              <a:ext uri="{FF2B5EF4-FFF2-40B4-BE49-F238E27FC236}">
                <a16:creationId xmlns:a16="http://schemas.microsoft.com/office/drawing/2014/main" id="{9DBD68B7-81E2-45EE-BC85-30DA19132B5F}"/>
              </a:ext>
            </a:extLst>
          </p:cNvPr>
          <p:cNvSpPr>
            <a:spLocks xmlns:a="http://schemas.openxmlformats.org/drawingml/2006/main" noGrp="1"/>
          </p:cNvSpPr>
          <p:nvPr/>
        </p:nvSpPr>
        <p:spPr>
          <a:xfrm xmlns:a="http://schemas.openxmlformats.org/drawingml/2006/main">
            <a:off x="10353675"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0.00270</a:t>
            </a:r>
          </a:p>
        </p:txBody>
      </p:sp>
      <p:sp>
        <p:nvSpPr>
          <p:cNvPr id="42" name="">
            <a:extLst xmlns:a="http://schemas.openxmlformats.org/drawingml/2006/main">
              <a:ext uri="{FF2B5EF4-FFF2-40B4-BE49-F238E27FC236}">
                <a16:creationId xmlns:a16="http://schemas.microsoft.com/office/drawing/2014/main" id="{5B228C50-E01C-4DAD-87A8-49D8307AC845}"/>
              </a:ext>
            </a:extLst>
          </p:cNvPr>
          <p:cNvSpPr>
            <a:spLocks xmlns:a="http://schemas.openxmlformats.org/drawingml/2006/main" noGrp="1"/>
          </p:cNvSpPr>
          <p:nvPr/>
        </p:nvSpPr>
        <p:spPr>
          <a:xfrm xmlns:a="http://schemas.openxmlformats.org/drawingml/2006/main">
            <a:off x="9153525"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43" name="">
            <a:extLst xmlns:a="http://schemas.openxmlformats.org/drawingml/2006/main">
              <a:ext uri="{FF2B5EF4-FFF2-40B4-BE49-F238E27FC236}">
                <a16:creationId xmlns:a16="http://schemas.microsoft.com/office/drawing/2014/main" id="{EE4BC8A2-7382-4023-BB87-BEBD72583526}"/>
              </a:ext>
            </a:extLst>
          </p:cNvPr>
          <p:cNvSpPr>
            <a:spLocks xmlns:a="http://schemas.openxmlformats.org/drawingml/2006/main" noGrp="1"/>
          </p:cNvSpPr>
          <p:nvPr/>
        </p:nvSpPr>
        <p:spPr>
          <a:xfrm xmlns:a="http://schemas.openxmlformats.org/drawingml/2006/main">
            <a:off x="10353675"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0.00055</a:t>
            </a:r>
          </a:p>
        </p:txBody>
      </p:sp>
      <p:sp>
        <p:nvSpPr>
          <p:cNvPr id="44" name="">
            <a:extLst xmlns:a="http://schemas.openxmlformats.org/drawingml/2006/main">
              <a:ext uri="{FF2B5EF4-FFF2-40B4-BE49-F238E27FC236}">
                <a16:creationId xmlns:a16="http://schemas.microsoft.com/office/drawing/2014/main" id="{D708C76D-3747-4B91-BAED-1517BC7E949D}"/>
              </a:ext>
            </a:extLst>
          </p:cNvPr>
          <p:cNvSpPr>
            <a:spLocks xmlns:a="http://schemas.openxmlformats.org/drawingml/2006/main" noGrp="1"/>
          </p:cNvSpPr>
          <p:nvPr/>
        </p:nvSpPr>
        <p:spPr>
          <a:xfrm xmlns:a="http://schemas.openxmlformats.org/drawingml/2006/main">
            <a:off x="915352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45" name="">
            <a:extLst xmlns:a="http://schemas.openxmlformats.org/drawingml/2006/main">
              <a:ext uri="{FF2B5EF4-FFF2-40B4-BE49-F238E27FC236}">
                <a16:creationId xmlns:a16="http://schemas.microsoft.com/office/drawing/2014/main" id="{D4510BCE-A867-4929-BB69-CBF7E179109A}"/>
              </a:ext>
            </a:extLst>
          </p:cNvPr>
          <p:cNvSpPr>
            <a:spLocks xmlns:a="http://schemas.openxmlformats.org/drawingml/2006/main" noGrp="1"/>
          </p:cNvSpPr>
          <p:nvPr/>
        </p:nvSpPr>
        <p:spPr>
          <a:xfrm xmlns:a="http://schemas.openxmlformats.org/drawingml/2006/main">
            <a:off x="9153525"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46" name="">
            <a:extLst xmlns:a="http://schemas.openxmlformats.org/drawingml/2006/main">
              <a:ext uri="{FF2B5EF4-FFF2-40B4-BE49-F238E27FC236}">
                <a16:creationId xmlns:a16="http://schemas.microsoft.com/office/drawing/2014/main" id="{E1D3312F-87B4-4256-8C13-E15C90BE470D}"/>
              </a:ext>
            </a:extLst>
          </p:cNvPr>
          <p:cNvSpPr>
            <a:spLocks xmlns:a="http://schemas.openxmlformats.org/drawingml/2006/main" noGrp="1"/>
          </p:cNvSpPr>
          <p:nvPr/>
        </p:nvSpPr>
        <p:spPr>
          <a:xfrm xmlns:a="http://schemas.openxmlformats.org/drawingml/2006/main">
            <a:off x="10353675"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0.00325</a:t>
            </a:r>
          </a:p>
        </p:txBody>
      </p:sp>
      <p:sp>
        <p:nvSpPr>
          <p:cNvPr id="47" name="">
            <a:extLst xmlns:a="http://schemas.openxmlformats.org/drawingml/2006/main">
              <a:ext uri="{FF2B5EF4-FFF2-40B4-BE49-F238E27FC236}">
                <a16:creationId xmlns:a16="http://schemas.microsoft.com/office/drawing/2014/main" id="{1225EE89-05E8-43A6-942B-514AD85AEB5B}"/>
              </a:ext>
            </a:extLst>
          </p:cNvPr>
          <p:cNvSpPr>
            <a:spLocks xmlns:a="http://schemas.openxmlformats.org/drawingml/2006/main" noGrp="1"/>
          </p:cNvSpPr>
          <p:nvPr/>
        </p:nvSpPr>
        <p:spPr>
          <a:xfrm xmlns:a="http://schemas.openxmlformats.org/drawingml/2006/main">
            <a:off x="9153525" y="55530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選択</a:t>
            </a:r>
          </a:p>
        </p:txBody>
      </p:sp>
      <p:sp>
        <p:nvSpPr>
          <p:cNvPr id="48" name="">
            <a:extLst xmlns:a="http://schemas.openxmlformats.org/drawingml/2006/main">
              <a:ext uri="{FF2B5EF4-FFF2-40B4-BE49-F238E27FC236}">
                <a16:creationId xmlns:a16="http://schemas.microsoft.com/office/drawing/2014/main" id="{1CECF579-3DE3-4C0C-9E96-626648603C02}"/>
              </a:ext>
            </a:extLst>
          </p:cNvPr>
          <p:cNvSpPr>
            <a:spLocks xmlns:a="http://schemas.openxmlformats.org/drawingml/2006/main" noGrp="1"/>
          </p:cNvSpPr>
          <p:nvPr/>
        </p:nvSpPr>
        <p:spPr>
          <a:xfrm xmlns:a="http://schemas.openxmlformats.org/drawingml/2006/main">
            <a:off x="1428750" y="60960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L_match = post判断のずれ + 判断変化のずれ   小さいほど端末の適応挙動に近い</a:t>
            </a:r>
          </a:p>
        </p:txBody>
      </p:sp>
      <p:sp>
        <p:nvSpPr>
          <p:cNvPr id="49" name="">
            <a:extLst xmlns:a="http://schemas.openxmlformats.org/drawingml/2006/main">
              <a:ext uri="{FF2B5EF4-FFF2-40B4-BE49-F238E27FC236}">
                <a16:creationId xmlns:a16="http://schemas.microsoft.com/office/drawing/2014/main" id="{8FF434C5-6983-4CF3-AD45-DA5C3A77A742}"/>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10変換を評価。スライドは説明しやすい4候補を表示</a:t>
            </a:r>
          </a:p>
        </p:txBody>
      </p:sp>
      <p:sp>
        <p:nvSpPr>
          <p:cNvPr id="50" name="">
            <a:extLst xmlns:a="http://schemas.openxmlformats.org/drawingml/2006/main">
              <a:ext uri="{FF2B5EF4-FFF2-40B4-BE49-F238E27FC236}">
                <a16:creationId xmlns:a16="http://schemas.microsoft.com/office/drawing/2014/main" id="{65BD4A82-1142-4FF5-8E2F-852A56DEA9D5}"/>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6</a:t>
            </a:r>
          </a:p>
        </p:txBody>
      </p:sp>
    </p:spTree>
    <p:extLst>
      <p:ext uri="{BB962C8B-B14F-4D97-AF65-F5344CB8AC3E}">
        <p14:creationId xmlns:p14="http://schemas.microsoft.com/office/powerpoint/2010/main" val="163948373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EA0E7B9-38D1-44EE-9B86-5F9139D05BE1}"/>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最終proxyと端末目標をpairにしてLayer 3へ渡す</a:t>
            </a:r>
          </a:p>
        </p:txBody>
      </p:sp>
      <p:sp>
        <p:nvSpPr>
          <p:cNvPr id="2" name="">
            <a:extLst xmlns:a="http://schemas.openxmlformats.org/drawingml/2006/main">
              <a:ext uri="{FF2B5EF4-FFF2-40B4-BE49-F238E27FC236}">
                <a16:creationId xmlns:a16="http://schemas.microsoft.com/office/drawing/2014/main" id="{6EFBBCA4-78E4-4EBE-A9F2-3DBF5FCE422F}"/>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06</a:t>
            </a:r>
          </a:p>
        </p:txBody>
      </p:sp>
      <p:sp>
        <p:nvSpPr>
          <p:cNvPr id="3" name="">
            <a:extLst xmlns:a="http://schemas.openxmlformats.org/drawingml/2006/main">
              <a:ext uri="{FF2B5EF4-FFF2-40B4-BE49-F238E27FC236}">
                <a16:creationId xmlns:a16="http://schemas.microsoft.com/office/drawing/2014/main" id="{755DE5D7-89D8-4F0B-8377-065D29C4914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EFB19F9B-95A5-4F1D-ACD5-47143CF5F21D}"/>
              </a:ext>
            </a:extLst>
          </p:cNvPr>
          <p:cNvSpPr>
            <a:spLocks xmlns:a="http://schemas.openxmlformats.org/drawingml/2006/main" noGrp="1"/>
          </p:cNvSpPr>
          <p:nvPr/>
        </p:nvSpPr>
        <p:spPr>
          <a:xfrm xmlns:a="http://schemas.openxmlformats.org/drawingml/2006/main">
            <a:off x="609600" y="12001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501FFE57-112C-4513-86DC-E8A5CB3A9270}"/>
              </a:ext>
            </a:extLst>
          </p:cNvPr>
          <p:cNvSpPr>
            <a:spLocks xmlns:a="http://schemas.openxmlformats.org/drawingml/2006/main" noGrp="1"/>
          </p:cNvSpPr>
          <p:nvPr/>
        </p:nvSpPr>
        <p:spPr>
          <a:xfrm xmlns:a="http://schemas.openxmlformats.org/drawingml/2006/main">
            <a:off x="704850" y="1247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SERVER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a408c345c164992"/>
          <a:srcRect xmlns:a="http://schemas.openxmlformats.org/drawingml/2006/main" l="152" t="0" r="152" b="0"/>
          <a:stretch xmlns:a="http://schemas.openxmlformats.org/drawingml/2006/main">
            <a:fillRect l="0" t="0" r="0" b="0"/>
          </a:stretch>
        </p:blipFill>
        <p:spPr>
          <a:xfrm xmlns:a="http://schemas.openxmlformats.org/drawingml/2006/main">
            <a:off x="609600" y="1762125"/>
            <a:ext cx="2076450" cy="11715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04fefd9248d4e92"/>
          <a:srcRect xmlns:a="http://schemas.openxmlformats.org/drawingml/2006/main" l="152" t="0" r="152" b="0"/>
          <a:stretch xmlns:a="http://schemas.openxmlformats.org/drawingml/2006/main">
            <a:fillRect l="0" t="0" r="0" b="0"/>
          </a:stretch>
        </p:blipFill>
        <p:spPr>
          <a:xfrm xmlns:a="http://schemas.openxmlformats.org/drawingml/2006/main">
            <a:off x="2762250" y="1762125"/>
            <a:ext cx="2076450" cy="11715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4299cfc08d0d42e5"/>
          <a:srcRect xmlns:a="http://schemas.openxmlformats.org/drawingml/2006/main" l="152" t="0" r="152" b="0"/>
          <a:stretch xmlns:a="http://schemas.openxmlformats.org/drawingml/2006/main">
            <a:fillRect l="0" t="0" r="0" b="0"/>
          </a:stretch>
        </p:blipFill>
        <p:spPr>
          <a:xfrm xmlns:a="http://schemas.openxmlformats.org/drawingml/2006/main">
            <a:off x="4914900" y="1762125"/>
            <a:ext cx="2076450" cy="11715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8e435109601458a"/>
          <a:srcRect xmlns:a="http://schemas.openxmlformats.org/drawingml/2006/main" l="152" t="0" r="152" b="0"/>
          <a:stretch xmlns:a="http://schemas.openxmlformats.org/drawingml/2006/main">
            <a:fillRect l="0" t="0" r="0" b="0"/>
          </a:stretch>
        </p:blipFill>
        <p:spPr>
          <a:xfrm xmlns:a="http://schemas.openxmlformats.org/drawingml/2006/main">
            <a:off x="7067550" y="1762125"/>
            <a:ext cx="2076450" cy="11715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4DFB836-8775-42D7-8C2C-8B922DFE4561}"/>
              </a:ext>
            </a:extLst>
          </p:cNvPr>
          <p:cNvSpPr>
            <a:spLocks xmlns:a="http://schemas.openxmlformats.org/drawingml/2006/main" noGrp="1"/>
          </p:cNvSpPr>
          <p:nvPr/>
        </p:nvSpPr>
        <p:spPr>
          <a:xfrm xmlns:a="http://schemas.openxmlformats.org/drawingml/2006/main">
            <a:off x="609600" y="30765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x̃：center crop 0.85を適用した4フレーム</a:t>
            </a:r>
          </a:p>
        </p:txBody>
      </p:sp>
      <p:sp>
        <p:nvSpPr>
          <p:cNvPr id="11" name="">
            <a:extLst xmlns:a="http://schemas.openxmlformats.org/drawingml/2006/main">
              <a:ext uri="{FF2B5EF4-FFF2-40B4-BE49-F238E27FC236}">
                <a16:creationId xmlns:a16="http://schemas.microsoft.com/office/drawing/2014/main" id="{1D630E91-DBC1-4B8A-9DC2-D498B6ECF086}"/>
              </a:ext>
            </a:extLst>
          </p:cNvPr>
          <p:cNvSpPr>
            <a:spLocks xmlns:a="http://schemas.openxmlformats.org/drawingml/2006/main" noGrp="1"/>
          </p:cNvSpPr>
          <p:nvPr/>
        </p:nvSpPr>
        <p:spPr>
          <a:xfrm xmlns:a="http://schemas.openxmlformats.org/drawingml/2006/main">
            <a:off x="609600" y="37909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端末の目標  μ_post</a:t>
            </a:r>
          </a:p>
        </p:txBody>
      </p:sp>
      <p:sp>
        <p:nvSpPr>
          <p:cNvPr id="12" name="">
            <a:extLst xmlns:a="http://schemas.openxmlformats.org/drawingml/2006/main">
              <a:ext uri="{FF2B5EF4-FFF2-40B4-BE49-F238E27FC236}">
                <a16:creationId xmlns:a16="http://schemas.microsoft.com/office/drawing/2014/main" id="{C1C9D80B-F442-4FFC-BC1E-7C5D57999244}"/>
              </a:ext>
            </a:extLst>
          </p:cNvPr>
          <p:cNvSpPr>
            <a:spLocks xmlns:a="http://schemas.openxmlformats.org/drawingml/2006/main" noGrp="1"/>
          </p:cNvSpPr>
          <p:nvPr/>
        </p:nvSpPr>
        <p:spPr>
          <a:xfrm xmlns:a="http://schemas.openxmlformats.org/drawingml/2006/main">
            <a:off x="609600"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4395361C-5EE7-4496-A382-2DE99440645D}"/>
              </a:ext>
            </a:extLst>
          </p:cNvPr>
          <p:cNvSpPr>
            <a:spLocks xmlns:a="http://schemas.openxmlformats.org/drawingml/2006/main" noGrp="1"/>
          </p:cNvSpPr>
          <p:nvPr/>
        </p:nvSpPr>
        <p:spPr>
          <a:xfrm xmlns:a="http://schemas.openxmlformats.org/drawingml/2006/main">
            <a:off x="609600" y="4495800"/>
            <a:ext cx="261652"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EF8EA170-6A1F-4DD5-8924-86215F000493}"/>
              </a:ext>
            </a:extLst>
          </p:cNvPr>
          <p:cNvSpPr>
            <a:spLocks xmlns:a="http://schemas.openxmlformats.org/drawingml/2006/main" noGrp="1"/>
          </p:cNvSpPr>
          <p:nvPr/>
        </p:nvSpPr>
        <p:spPr>
          <a:xfrm xmlns:a="http://schemas.openxmlformats.org/drawingml/2006/main">
            <a:off x="871252" y="4495800"/>
            <a:ext cx="3643598"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A509BDA1-720E-420A-AF6D-566D96FDF313}"/>
              </a:ext>
            </a:extLst>
          </p:cNvPr>
          <p:cNvSpPr>
            <a:spLocks xmlns:a="http://schemas.openxmlformats.org/drawingml/2006/main" noGrp="1"/>
          </p:cNvSpPr>
          <p:nvPr/>
        </p:nvSpPr>
        <p:spPr>
          <a:xfrm xmlns:a="http://schemas.openxmlformats.org/drawingml/2006/main">
            <a:off x="6096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0.067</a:t>
            </a:r>
          </a:p>
        </p:txBody>
      </p:sp>
      <p:sp>
        <p:nvSpPr>
          <p:cNvPr id="16" name="">
            <a:extLst xmlns:a="http://schemas.openxmlformats.org/drawingml/2006/main">
              <a:ext uri="{FF2B5EF4-FFF2-40B4-BE49-F238E27FC236}">
                <a16:creationId xmlns:a16="http://schemas.microsoft.com/office/drawing/2014/main" id="{AC2759BE-5515-4A8D-9E90-3DB3D3ADE1FE}"/>
              </a:ext>
            </a:extLst>
          </p:cNvPr>
          <p:cNvSpPr>
            <a:spLocks xmlns:a="http://schemas.openxmlformats.org/drawingml/2006/main" noGrp="1"/>
          </p:cNvSpPr>
          <p:nvPr/>
        </p:nvSpPr>
        <p:spPr>
          <a:xfrm xmlns:a="http://schemas.openxmlformats.org/drawingml/2006/main">
            <a:off x="256222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0.933</a:t>
            </a:r>
          </a:p>
        </p:txBody>
      </p:sp>
      <p:sp>
        <p:nvSpPr>
          <p:cNvPr id="17" name="">
            <a:extLst xmlns:a="http://schemas.openxmlformats.org/drawingml/2006/main">
              <a:ext uri="{FF2B5EF4-FFF2-40B4-BE49-F238E27FC236}">
                <a16:creationId xmlns:a16="http://schemas.microsoft.com/office/drawing/2014/main" id="{0CA33957-3742-4F4B-9E1A-C72FCA94D582}"/>
              </a:ext>
            </a:extLst>
          </p:cNvPr>
          <p:cNvSpPr>
            <a:spLocks xmlns:a="http://schemas.openxmlformats.org/drawingml/2006/main" noGrp="1"/>
          </p:cNvSpPr>
          <p:nvPr/>
        </p:nvSpPr>
        <p:spPr>
          <a:xfrm xmlns:a="http://schemas.openxmlformats.org/drawingml/2006/main">
            <a:off x="5095875" y="3790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proxy上のupdated surrogate出力</a:t>
            </a:r>
          </a:p>
        </p:txBody>
      </p:sp>
      <p:sp>
        <p:nvSpPr>
          <p:cNvPr id="18" name="">
            <a:extLst xmlns:a="http://schemas.openxmlformats.org/drawingml/2006/main">
              <a:ext uri="{FF2B5EF4-FFF2-40B4-BE49-F238E27FC236}">
                <a16:creationId xmlns:a16="http://schemas.microsoft.com/office/drawing/2014/main" id="{414A76C3-779F-455D-A6F4-8F185BCC19FF}"/>
              </a:ext>
            </a:extLst>
          </p:cNvPr>
          <p:cNvSpPr>
            <a:spLocks xmlns:a="http://schemas.openxmlformats.org/drawingml/2006/main" noGrp="1"/>
          </p:cNvSpPr>
          <p:nvPr/>
        </p:nvSpPr>
        <p:spPr>
          <a:xfrm xmlns:a="http://schemas.openxmlformats.org/drawingml/2006/main">
            <a:off x="5095875"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BC6E07BD-DD08-4A65-B3FA-6550A96819B0}"/>
              </a:ext>
            </a:extLst>
          </p:cNvPr>
          <p:cNvSpPr>
            <a:spLocks xmlns:a="http://schemas.openxmlformats.org/drawingml/2006/main" noGrp="1"/>
          </p:cNvSpPr>
          <p:nvPr/>
        </p:nvSpPr>
        <p:spPr>
          <a:xfrm xmlns:a="http://schemas.openxmlformats.org/drawingml/2006/main">
            <a:off x="5095875" y="4495800"/>
            <a:ext cx="339757"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85FE9FD2-C419-43AD-9025-5568623B005E}"/>
              </a:ext>
            </a:extLst>
          </p:cNvPr>
          <p:cNvSpPr>
            <a:spLocks xmlns:a="http://schemas.openxmlformats.org/drawingml/2006/main" noGrp="1"/>
          </p:cNvSpPr>
          <p:nvPr/>
        </p:nvSpPr>
        <p:spPr>
          <a:xfrm xmlns:a="http://schemas.openxmlformats.org/drawingml/2006/main">
            <a:off x="5435632" y="4495800"/>
            <a:ext cx="356549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34743D8F-CE66-498F-8224-32603C5461C8}"/>
              </a:ext>
            </a:extLst>
          </p:cNvPr>
          <p:cNvSpPr>
            <a:spLocks xmlns:a="http://schemas.openxmlformats.org/drawingml/2006/main" noGrp="1"/>
          </p:cNvSpPr>
          <p:nvPr/>
        </p:nvSpPr>
        <p:spPr>
          <a:xfrm xmlns:a="http://schemas.openxmlformats.org/drawingml/2006/main">
            <a:off x="509587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0.087</a:t>
            </a:r>
          </a:p>
        </p:txBody>
      </p:sp>
      <p:sp>
        <p:nvSpPr>
          <p:cNvPr id="22" name="">
            <a:extLst xmlns:a="http://schemas.openxmlformats.org/drawingml/2006/main">
              <a:ext uri="{FF2B5EF4-FFF2-40B4-BE49-F238E27FC236}">
                <a16:creationId xmlns:a16="http://schemas.microsoft.com/office/drawing/2014/main" id="{91BEB703-4DA5-4648-9BA5-E50E4720D508}"/>
              </a:ext>
            </a:extLst>
          </p:cNvPr>
          <p:cNvSpPr>
            <a:spLocks xmlns:a="http://schemas.openxmlformats.org/drawingml/2006/main" noGrp="1"/>
          </p:cNvSpPr>
          <p:nvPr/>
        </p:nvSpPr>
        <p:spPr>
          <a:xfrm xmlns:a="http://schemas.openxmlformats.org/drawingml/2006/main">
            <a:off x="70485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0.913</a:t>
            </a:r>
          </a:p>
        </p:txBody>
      </p:sp>
      <p:sp>
        <p:nvSpPr>
          <p:cNvPr id="23" name="">
            <a:extLst xmlns:a="http://schemas.openxmlformats.org/drawingml/2006/main">
              <a:ext uri="{FF2B5EF4-FFF2-40B4-BE49-F238E27FC236}">
                <a16:creationId xmlns:a16="http://schemas.microsoft.com/office/drawing/2014/main" id="{41A90BF9-C5C5-4AA3-AFFB-4B94566FAC9E}"/>
              </a:ext>
            </a:extLst>
          </p:cNvPr>
          <p:cNvSpPr>
            <a:spLocks xmlns:a="http://schemas.openxmlformats.org/drawingml/2006/main" noGrp="1"/>
          </p:cNvSpPr>
          <p:nvPr/>
        </p:nvSpPr>
        <p:spPr>
          <a:xfrm xmlns:a="http://schemas.openxmlformats.org/drawingml/2006/main">
            <a:off x="9620250" y="4000500"/>
            <a:ext cx="1952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proxy上のrisk変化 +0.224</a:t>
            </a:r>
          </a:p>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目標のrisk変化 +0.248</a:t>
            </a:r>
          </a:p>
        </p:txBody>
      </p:sp>
      <p:sp>
        <p:nvSpPr>
          <p:cNvPr id="24" name="">
            <a:extLst xmlns:a="http://schemas.openxmlformats.org/drawingml/2006/main">
              <a:ext uri="{FF2B5EF4-FFF2-40B4-BE49-F238E27FC236}">
                <a16:creationId xmlns:a16="http://schemas.microsoft.com/office/drawing/2014/main" id="{372B37A8-D0CA-44E7-A97B-CBAD79A2AAF0}"/>
              </a:ext>
            </a:extLst>
          </p:cNvPr>
          <p:cNvSpPr>
            <a:spLocks xmlns:a="http://schemas.openxmlformats.org/drawingml/2006/main" noGrp="1"/>
          </p:cNvSpPr>
          <p:nvPr/>
        </p:nvSpPr>
        <p:spPr>
          <a:xfrm xmlns:a="http://schemas.openxmlformats.org/drawingml/2006/main">
            <a:off x="1619250" y="5286375"/>
            <a:ext cx="5715000" cy="933450"/>
          </a:xfrm>
          <a:prstGeom xmlns:a="http://schemas.openxmlformats.org/drawingml/2006/main" prst="roundRect">
            <a:avLst>
              <a:gd name="adj" fmla="val 8163"/>
            </a:avLst>
          </a:prstGeom>
          <a:solidFill xmlns:a="http://schemas.openxmlformats.org/drawingml/2006/main">
            <a:srgbClr val="ECE6F5"/>
          </a:solidFill>
          <a:ln xmlns:a="http://schemas.openxmlformats.org/drawingml/2006/main" w="19050">
            <a:solidFill>
              <a:srgbClr val="7A5AA6"/>
            </a:solidFill>
            <a:prstDash val="solid"/>
          </a:ln>
        </p:spPr>
      </p:sp>
      <p:sp>
        <p:nvSpPr>
          <p:cNvPr id="25" name="">
            <a:extLst xmlns:a="http://schemas.openxmlformats.org/drawingml/2006/main">
              <a:ext uri="{FF2B5EF4-FFF2-40B4-BE49-F238E27FC236}">
                <a16:creationId xmlns:a16="http://schemas.microsoft.com/office/drawing/2014/main" id="{6A86262D-11B5-4E29-A544-B290C4910D49}"/>
              </a:ext>
            </a:extLst>
          </p:cNvPr>
          <p:cNvSpPr>
            <a:spLocks xmlns:a="http://schemas.openxmlformats.org/drawingml/2006/main" noGrp="1"/>
          </p:cNvSpPr>
          <p:nvPr/>
        </p:nvSpPr>
        <p:spPr>
          <a:xfrm xmlns:a="http://schemas.openxmlformats.org/drawingml/2006/main">
            <a:off x="1952625" y="5534025"/>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550" b="1">
                <a:solidFill>
                  <a:srgbClr val="563B7B"/>
                </a:solidFill>
                <a:latin typeface="BIZ UDPGothic"/>
                <a:ea typeface="BIZ UDPGothic"/>
                <a:cs typeface="BIZ UDPGothic"/>
              </a:defRPr>
            </a:pPr>
            <a:r>
              <a:rPr sz="2550" b="1">
                <a:solidFill>
                  <a:srgbClr val="563B7B"/>
                </a:solidFill>
                <a:latin typeface="BIZ UDPGothic"/>
                <a:ea typeface="BIZ UDPGothic"/>
                <a:cs typeface="BIZ UDPGothic"/>
              </a:rPr>
              <a:t>P = ( x̃ , μ_post )</a:t>
            </a:r>
          </a:p>
        </p:txBody>
      </p:sp>
      <p:sp>
        <p:nvSpPr>
          <p:cNvPr id="26" name="">
            <a:extLst xmlns:a="http://schemas.openxmlformats.org/drawingml/2006/main">
              <a:ext uri="{FF2B5EF4-FFF2-40B4-BE49-F238E27FC236}">
                <a16:creationId xmlns:a16="http://schemas.microsoft.com/office/drawing/2014/main" id="{D2B36AB6-0190-4C1F-AF86-ABD3FF8E9C60}"/>
              </a:ext>
            </a:extLst>
          </p:cNvPr>
          <p:cNvSpPr>
            <a:spLocks xmlns:a="http://schemas.openxmlformats.org/drawingml/2006/main" noGrp="1"/>
          </p:cNvSpPr>
          <p:nvPr/>
        </p:nvSpPr>
        <p:spPr>
          <a:xfrm xmlns:a="http://schemas.openxmlformats.org/drawingml/2006/main">
            <a:off x="8572500" y="5286375"/>
            <a:ext cx="2714625" cy="933450"/>
          </a:xfrm>
          <a:prstGeom xmlns:a="http://schemas.openxmlformats.org/drawingml/2006/main" prst="roundRect">
            <a:avLst>
              <a:gd name="adj" fmla="val 8163"/>
            </a:avLst>
          </a:prstGeom>
          <a:solidFill xmlns:a="http://schemas.openxmlformats.org/drawingml/2006/main">
            <a:srgbClr val="E5EFF8"/>
          </a:solidFill>
          <a:ln xmlns:a="http://schemas.openxmlformats.org/drawingml/2006/main" w="19050">
            <a:solidFill>
              <a:srgbClr val="2F6FA5"/>
            </a:solidFill>
            <a:prstDash val="solid"/>
          </a:ln>
        </p:spPr>
      </p:sp>
      <p:sp>
        <p:nvSpPr>
          <p:cNvPr id="27" name="">
            <a:extLst xmlns:a="http://schemas.openxmlformats.org/drawingml/2006/main">
              <a:ext uri="{FF2B5EF4-FFF2-40B4-BE49-F238E27FC236}">
                <a16:creationId xmlns:a16="http://schemas.microsoft.com/office/drawing/2014/main" id="{C5933194-F1F3-4294-B590-550392CD2C95}"/>
              </a:ext>
            </a:extLst>
          </p:cNvPr>
          <p:cNvSpPr>
            <a:spLocks xmlns:a="http://schemas.openxmlformats.org/drawingml/2006/main" noGrp="1"/>
          </p:cNvSpPr>
          <p:nvPr/>
        </p:nvSpPr>
        <p:spPr>
          <a:xfrm xmlns:a="http://schemas.openxmlformats.org/drawingml/2006/main">
            <a:off x="8763000" y="5429250"/>
            <a:ext cx="2333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2F6FA5"/>
                </a:solidFill>
                <a:latin typeface="BIZ UDPGothic"/>
                <a:ea typeface="BIZ UDPGothic"/>
                <a:cs typeface="BIZ UDPGothic"/>
              </a:defRPr>
            </a:pPr>
            <a:r>
              <a:rPr sz="1500" b="1">
                <a:solidFill>
                  <a:srgbClr val="2F6FA5"/>
                </a:solidFill>
                <a:latin typeface="BIZ UDPGothic"/>
                <a:ea typeface="BIZ UDPGothic"/>
                <a:cs typeface="BIZ UDPGothic"/>
              </a:rPr>
              <a:t>Layer 3へ</a:t>
            </a:r>
          </a:p>
          <a:p xmlns:a="http://schemas.openxmlformats.org/drawingml/2006/main">
            <a:pPr algn="ctr">
              <a:lnSpc>
                <a:spcPct val="100000"/>
              </a:lnSpc>
              <a:buNone/>
              <a:defRPr sz="1500" b="1">
                <a:solidFill>
                  <a:srgbClr val="2F6FA5"/>
                </a:solidFill>
                <a:latin typeface="BIZ UDPGothic"/>
                <a:ea typeface="BIZ UDPGothic"/>
                <a:cs typeface="BIZ UDPGothic"/>
              </a:defRPr>
            </a:pPr>
            <a:r>
              <a:rPr sz="1500" b="1">
                <a:solidFill>
                  <a:srgbClr val="2F6FA5"/>
                </a:solidFill>
                <a:latin typeface="BIZ UDPGothic"/>
                <a:ea typeface="BIZ UDPGothic"/>
                <a:cs typeface="BIZ UDPGothic"/>
              </a:rPr>
              <a:t>foundation LoRA蒸留用</a:t>
            </a:r>
          </a:p>
        </p:txBody>
      </p:sp>
      <p:cxnSp>
        <p:nvCxnSpPr>
          <p:cNvPr id="58" name=""/>
          <p:cNvCxnSpPr>
            <a:stCxn xmlns:a="http://schemas.openxmlformats.org/drawingml/2006/main" id="24" idx="3"/>
            <a:endCxn xmlns:a="http://schemas.openxmlformats.org/drawingml/2006/main" id="26" idx="1"/>
          </p:cNvCxnSpPr>
          <p:nvPr/>
        </p:nvCxnSpPr>
        <p:spPr>
          <a:xfrm xmlns:a="http://schemas.openxmlformats.org/drawingml/2006/main">
            <a:off x="7334250" y="5753100"/>
            <a:ext cx="1238250" cy="0"/>
          </a:xfrm>
          <a:prstGeom xmlns:a="http://schemas.openxmlformats.org/drawingml/2006/main" prst="straightConnector1">
            <a:avLst/>
          </a:prstGeom>
          <a:ln xmlns:a="http://schemas.openxmlformats.org/drawingml/2006/main" w="28575">
            <a:solidFill>
              <a:srgbClr val="7A5AA6"/>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1B7C06B1-BB85-4B51-B6EE-9AA644D2F8D8}"/>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teacherはμ_post。proxy上のsurrogate出力をteacher labelにはしない</a:t>
            </a:r>
          </a:p>
        </p:txBody>
      </p:sp>
      <p:sp>
        <p:nvSpPr>
          <p:cNvPr id="30" name="">
            <a:extLst xmlns:a="http://schemas.openxmlformats.org/drawingml/2006/main">
              <a:ext uri="{FF2B5EF4-FFF2-40B4-BE49-F238E27FC236}">
                <a16:creationId xmlns:a16="http://schemas.microsoft.com/office/drawing/2014/main" id="{52FA59C6-FEF7-43BC-A3F8-566388C7CAB4}"/>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7</a:t>
            </a:r>
          </a:p>
        </p:txBody>
      </p:sp>
    </p:spTree>
    <p:extLst>
      <p:ext uri="{BB962C8B-B14F-4D97-AF65-F5344CB8AC3E}">
        <p14:creationId xmlns:p14="http://schemas.microsoft.com/office/powerpoint/2010/main" val="1815622509"/>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616D0F9-AB6A-4634-9F98-4524A5C80460}"/>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補足：retrievalとproxy optimizationの評価量</a:t>
            </a:r>
          </a:p>
        </p:txBody>
      </p:sp>
      <p:sp>
        <p:nvSpPr>
          <p:cNvPr id="2" name="">
            <a:extLst xmlns:a="http://schemas.openxmlformats.org/drawingml/2006/main">
              <a:ext uri="{FF2B5EF4-FFF2-40B4-BE49-F238E27FC236}">
                <a16:creationId xmlns:a16="http://schemas.microsoft.com/office/drawing/2014/main" id="{8090AA07-86AD-4DEA-8219-CB4F32DB1801}"/>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A1</a:t>
            </a:r>
          </a:p>
        </p:txBody>
      </p:sp>
      <p:sp>
        <p:nvSpPr>
          <p:cNvPr id="3" name="">
            <a:extLst xmlns:a="http://schemas.openxmlformats.org/drawingml/2006/main">
              <a:ext uri="{FF2B5EF4-FFF2-40B4-BE49-F238E27FC236}">
                <a16:creationId xmlns:a16="http://schemas.microsoft.com/office/drawing/2014/main" id="{273B6D1E-9266-44CA-807B-57EF0C6BBB4B}"/>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FA1CDA0C-2A40-4B74-B043-8F4F988FDFDA}"/>
              </a:ext>
            </a:extLst>
          </p:cNvPr>
          <p:cNvSpPr>
            <a:spLocks xmlns:a="http://schemas.openxmlformats.org/drawingml/2006/main" noGrp="1"/>
          </p:cNvSpPr>
          <p:nvPr/>
        </p:nvSpPr>
        <p:spPr>
          <a:xfrm xmlns:a="http://schemas.openxmlformats.org/drawingml/2006/main">
            <a:off x="609600" y="12382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95074230-44E4-4717-837F-9F30417E9545}"/>
              </a:ext>
            </a:extLst>
          </p:cNvPr>
          <p:cNvSpPr>
            <a:spLocks xmlns:a="http://schemas.openxmlformats.org/drawingml/2006/main" noGrp="1"/>
          </p:cNvSpPr>
          <p:nvPr/>
        </p:nvSpPr>
        <p:spPr>
          <a:xfrm xmlns:a="http://schemas.openxmlformats.org/drawingml/2006/main">
            <a:off x="704850"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Retrieval</a:t>
            </a:r>
          </a:p>
        </p:txBody>
      </p:sp>
      <p:sp>
        <p:nvSpPr>
          <p:cNvPr id="6" name="">
            <a:extLst xmlns:a="http://schemas.openxmlformats.org/drawingml/2006/main">
              <a:ext uri="{FF2B5EF4-FFF2-40B4-BE49-F238E27FC236}">
                <a16:creationId xmlns:a16="http://schemas.microsoft.com/office/drawing/2014/main" id="{833FDAC8-3CFA-4554-A142-B64BD9306E16}"/>
              </a:ext>
            </a:extLst>
          </p:cNvPr>
          <p:cNvSpPr>
            <a:spLocks xmlns:a="http://schemas.openxmlformats.org/drawingml/2006/main" noGrp="1"/>
          </p:cNvSpPr>
          <p:nvPr/>
        </p:nvSpPr>
        <p:spPr>
          <a:xfrm xmlns:a="http://schemas.openxmlformats.org/drawingml/2006/main">
            <a:off x="609600" y="17526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seed候補の順位付け</a:t>
            </a:r>
          </a:p>
        </p:txBody>
      </p:sp>
      <p:sp>
        <p:nvSpPr>
          <p:cNvPr id="7" name="">
            <a:extLst xmlns:a="http://schemas.openxmlformats.org/drawingml/2006/main">
              <a:ext uri="{FF2B5EF4-FFF2-40B4-BE49-F238E27FC236}">
                <a16:creationId xmlns:a16="http://schemas.microsoft.com/office/drawing/2014/main" id="{B68BA3E9-DDAB-4947-A89A-2E3A43F13AA7}"/>
              </a:ext>
            </a:extLst>
          </p:cNvPr>
          <p:cNvSpPr>
            <a:spLocks xmlns:a="http://schemas.openxmlformats.org/drawingml/2006/main" noGrp="1"/>
          </p:cNvSpPr>
          <p:nvPr/>
        </p:nvSpPr>
        <p:spPr>
          <a:xfrm xmlns:a="http://schemas.openxmlformats.org/drawingml/2006/main">
            <a:off x="609600" y="2286000"/>
            <a:ext cx="5048250" cy="952500"/>
          </a:xfrm>
          <a:prstGeom xmlns:a="http://schemas.openxmlformats.org/drawingml/2006/main" prst="roundRect">
            <a:avLst>
              <a:gd name="adj" fmla="val 8000"/>
            </a:avLst>
          </a:prstGeom>
          <a:solidFill xmlns:a="http://schemas.openxmlformats.org/drawingml/2006/main">
            <a:srgbClr val="E5EFF8"/>
          </a:solidFill>
          <a:ln xmlns:a="http://schemas.openxmlformats.org/drawingml/2006/main" w="19050">
            <a:solidFill>
              <a:srgbClr val="2F6FA5"/>
            </a:solidFill>
            <a:prstDash val="solid"/>
          </a:ln>
        </p:spPr>
      </p:sp>
      <p:sp>
        <p:nvSpPr>
          <p:cNvPr id="8" name="">
            <a:extLst xmlns:a="http://schemas.openxmlformats.org/drawingml/2006/main">
              <a:ext uri="{FF2B5EF4-FFF2-40B4-BE49-F238E27FC236}">
                <a16:creationId xmlns:a16="http://schemas.microsoft.com/office/drawing/2014/main" id="{DD20073F-D7C2-455F-A89D-D57733EA4D3C}"/>
              </a:ext>
            </a:extLst>
          </p:cNvPr>
          <p:cNvSpPr>
            <a:spLocks xmlns:a="http://schemas.openxmlformats.org/drawingml/2006/main" noGrp="1"/>
          </p:cNvSpPr>
          <p:nvPr/>
        </p:nvSpPr>
        <p:spPr>
          <a:xfrm xmlns:a="http://schemas.openxmlformats.org/drawingml/2006/main">
            <a:off x="876300" y="2590800"/>
            <a:ext cx="451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D_KL( μ_post || p_G^after(x_seed) )</a:t>
            </a:r>
          </a:p>
        </p:txBody>
      </p:sp>
      <p:sp>
        <p:nvSpPr>
          <p:cNvPr id="9" name="">
            <a:extLst xmlns:a="http://schemas.openxmlformats.org/drawingml/2006/main">
              <a:ext uri="{FF2B5EF4-FFF2-40B4-BE49-F238E27FC236}">
                <a16:creationId xmlns:a16="http://schemas.microsoft.com/office/drawing/2014/main" id="{3F018020-6231-47A7-8743-C6ADFB28D444}"/>
              </a:ext>
            </a:extLst>
          </p:cNvPr>
          <p:cNvSpPr>
            <a:spLocks xmlns:a="http://schemas.openxmlformats.org/drawingml/2006/main" noGrp="1"/>
          </p:cNvSpPr>
          <p:nvPr/>
        </p:nvSpPr>
        <p:spPr>
          <a:xfrm xmlns:a="http://schemas.openxmlformats.org/drawingml/2006/main">
            <a:off x="609600" y="347662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updated global surrogateのpost出力だけで検索</a:t>
            </a:r>
          </a:p>
        </p:txBody>
      </p:sp>
      <p:sp>
        <p:nvSpPr>
          <p:cNvPr id="10" name="">
            <a:extLst xmlns:a="http://schemas.openxmlformats.org/drawingml/2006/main">
              <a:ext uri="{FF2B5EF4-FFF2-40B4-BE49-F238E27FC236}">
                <a16:creationId xmlns:a16="http://schemas.microsoft.com/office/drawing/2014/main" id="{CFA88995-A34E-47CD-9877-08652F359613}"/>
              </a:ext>
            </a:extLst>
          </p:cNvPr>
          <p:cNvSpPr>
            <a:spLocks xmlns:a="http://schemas.openxmlformats.org/drawingml/2006/main" noGrp="1"/>
          </p:cNvSpPr>
          <p:nvPr/>
        </p:nvSpPr>
        <p:spPr>
          <a:xfrm xmlns:a="http://schemas.openxmlformats.org/drawingml/2006/main">
            <a:off x="6019800" y="1238250"/>
            <a:ext cx="28575" cy="4095750"/>
          </a:xfrm>
          <a:prstGeom xmlns:a="http://schemas.openxmlformats.org/drawingml/2006/main" prst="rect">
            <a:avLst/>
          </a:prstGeom>
          <a:solidFill xmlns:a="http://schemas.openxmlformats.org/drawingml/2006/main">
            <a:srgbClr val="C7D1D9"/>
          </a:solidFill>
          <a:ln xmlns:a="http://schemas.openxmlformats.org/drawingml/2006/main" w="0">
            <a:solidFill>
              <a:srgbClr val="C7D1D9"/>
            </a:solidFill>
            <a:prstDash val="solid"/>
          </a:ln>
        </p:spPr>
      </p:sp>
      <p:sp>
        <p:nvSpPr>
          <p:cNvPr id="11" name="">
            <a:extLst xmlns:a="http://schemas.openxmlformats.org/drawingml/2006/main">
              <a:ext uri="{FF2B5EF4-FFF2-40B4-BE49-F238E27FC236}">
                <a16:creationId xmlns:a16="http://schemas.microsoft.com/office/drawing/2014/main" id="{162B3BAA-EFC4-45ED-8A1B-65E7FCE9C826}"/>
              </a:ext>
            </a:extLst>
          </p:cNvPr>
          <p:cNvSpPr>
            <a:spLocks xmlns:a="http://schemas.openxmlformats.org/drawingml/2006/main" noGrp="1"/>
          </p:cNvSpPr>
          <p:nvPr/>
        </p:nvSpPr>
        <p:spPr>
          <a:xfrm xmlns:a="http://schemas.openxmlformats.org/drawingml/2006/main">
            <a:off x="6429375" y="1238250"/>
            <a:ext cx="1428750" cy="323850"/>
          </a:xfrm>
          <a:prstGeom xmlns:a="http://schemas.openxmlformats.org/drawingml/2006/main" prst="roundRect">
            <a:avLst>
              <a:gd name="adj" fmla="val 23529"/>
            </a:avLst>
          </a:prstGeom>
          <a:solidFill xmlns:a="http://schemas.openxmlformats.org/drawingml/2006/main">
            <a:srgbClr val="D95D45"/>
          </a:solidFill>
          <a:ln xmlns:a="http://schemas.openxmlformats.org/drawingml/2006/main" w="0">
            <a:solidFill>
              <a:srgbClr val="D95D45"/>
            </a:solidFill>
            <a:prstDash val="solid"/>
          </a:ln>
        </p:spPr>
      </p:sp>
      <p:sp>
        <p:nvSpPr>
          <p:cNvPr id="12" name="">
            <a:extLst xmlns:a="http://schemas.openxmlformats.org/drawingml/2006/main">
              <a:ext uri="{FF2B5EF4-FFF2-40B4-BE49-F238E27FC236}">
                <a16:creationId xmlns:a16="http://schemas.microsoft.com/office/drawing/2014/main" id="{B39573D1-949A-4AC6-A8F4-ECE14623FB8C}"/>
              </a:ext>
            </a:extLst>
          </p:cNvPr>
          <p:cNvSpPr>
            <a:spLocks xmlns:a="http://schemas.openxmlformats.org/drawingml/2006/main" noGrp="1"/>
          </p:cNvSpPr>
          <p:nvPr/>
        </p:nvSpPr>
        <p:spPr>
          <a:xfrm xmlns:a="http://schemas.openxmlformats.org/drawingml/2006/main">
            <a:off x="6524625"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Optimization</a:t>
            </a:r>
          </a:p>
        </p:txBody>
      </p:sp>
      <p:sp>
        <p:nvSpPr>
          <p:cNvPr id="13" name="">
            <a:extLst xmlns:a="http://schemas.openxmlformats.org/drawingml/2006/main">
              <a:ext uri="{FF2B5EF4-FFF2-40B4-BE49-F238E27FC236}">
                <a16:creationId xmlns:a16="http://schemas.microsoft.com/office/drawing/2014/main" id="{DB0B887C-B765-420E-9F25-C04D7CE944F9}"/>
              </a:ext>
            </a:extLst>
          </p:cNvPr>
          <p:cNvSpPr>
            <a:spLocks xmlns:a="http://schemas.openxmlformats.org/drawingml/2006/main" noGrp="1"/>
          </p:cNvSpPr>
          <p:nvPr/>
        </p:nvSpPr>
        <p:spPr>
          <a:xfrm xmlns:a="http://schemas.openxmlformats.org/drawingml/2006/main">
            <a:off x="6429375" y="17526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変換候補の再現誤差</a:t>
            </a:r>
          </a:p>
        </p:txBody>
      </p:sp>
      <p:sp>
        <p:nvSpPr>
          <p:cNvPr id="14" name="">
            <a:extLst xmlns:a="http://schemas.openxmlformats.org/drawingml/2006/main">
              <a:ext uri="{FF2B5EF4-FFF2-40B4-BE49-F238E27FC236}">
                <a16:creationId xmlns:a16="http://schemas.microsoft.com/office/drawing/2014/main" id="{25AD5182-68B7-46E8-9BCB-BDC9F059CA39}"/>
              </a:ext>
            </a:extLst>
          </p:cNvPr>
          <p:cNvSpPr>
            <a:spLocks xmlns:a="http://schemas.openxmlformats.org/drawingml/2006/main" noGrp="1"/>
          </p:cNvSpPr>
          <p:nvPr/>
        </p:nvSpPr>
        <p:spPr>
          <a:xfrm xmlns:a="http://schemas.openxmlformats.org/drawingml/2006/main">
            <a:off x="6429375" y="2286000"/>
            <a:ext cx="5143500" cy="1409700"/>
          </a:xfrm>
          <a:prstGeom xmlns:a="http://schemas.openxmlformats.org/drawingml/2006/main" prst="roundRect">
            <a:avLst>
              <a:gd name="adj" fmla="val 5405"/>
            </a:avLst>
          </a:prstGeom>
          <a:solidFill xmlns:a="http://schemas.openxmlformats.org/drawingml/2006/main">
            <a:srgbClr val="F7E3DE"/>
          </a:solidFill>
          <a:ln xmlns:a="http://schemas.openxmlformats.org/drawingml/2006/main" w="19050">
            <a:solidFill>
              <a:srgbClr val="D95D45"/>
            </a:solidFill>
            <a:prstDash val="solid"/>
          </a:ln>
        </p:spPr>
      </p:sp>
      <p:sp>
        <p:nvSpPr>
          <p:cNvPr id="15" name="">
            <a:extLst xmlns:a="http://schemas.openxmlformats.org/drawingml/2006/main">
              <a:ext uri="{FF2B5EF4-FFF2-40B4-BE49-F238E27FC236}">
                <a16:creationId xmlns:a16="http://schemas.microsoft.com/office/drawing/2014/main" id="{45B03329-2437-436F-A8EA-F32A3AD946D7}"/>
              </a:ext>
            </a:extLst>
          </p:cNvPr>
          <p:cNvSpPr>
            <a:spLocks xmlns:a="http://schemas.openxmlformats.org/drawingml/2006/main" noGrp="1"/>
          </p:cNvSpPr>
          <p:nvPr/>
        </p:nvSpPr>
        <p:spPr>
          <a:xfrm xmlns:a="http://schemas.openxmlformats.org/drawingml/2006/main">
            <a:off x="6667500" y="2457450"/>
            <a:ext cx="466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L_match = λ_post D_KL(μ_post || p_after(x̃))</a:t>
            </a:r>
          </a:p>
          <a:p xmlns:a="http://schemas.openxmlformats.org/drawingml/2006/main">
            <a:pPr algn="ctr">
              <a:lnSpc>
                <a:spcPct val="11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 λ_Δ MSE(Δμ_local, p_after(x̃) − p_before(x̃))</a:t>
            </a:r>
          </a:p>
        </p:txBody>
      </p:sp>
      <p:sp>
        <p:nvSpPr>
          <p:cNvPr id="16" name="">
            <a:extLst xmlns:a="http://schemas.openxmlformats.org/drawingml/2006/main">
              <a:ext uri="{FF2B5EF4-FFF2-40B4-BE49-F238E27FC236}">
                <a16:creationId xmlns:a16="http://schemas.microsoft.com/office/drawing/2014/main" id="{CA3D19C9-5719-472A-BDAC-2D62520DA8DB}"/>
              </a:ext>
            </a:extLst>
          </p:cNvPr>
          <p:cNvSpPr>
            <a:spLocks xmlns:a="http://schemas.openxmlformats.org/drawingml/2006/main" noGrp="1"/>
          </p:cNvSpPr>
          <p:nvPr/>
        </p:nvSpPr>
        <p:spPr>
          <a:xfrm xmlns:a="http://schemas.openxmlformats.org/drawingml/2006/main">
            <a:off x="6429375" y="385762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clientのdeltaとproxy上のglobal round差を比較</a:t>
            </a:r>
          </a:p>
        </p:txBody>
      </p:sp>
      <p:sp>
        <p:nvSpPr>
          <p:cNvPr id="17" name="">
            <a:extLst xmlns:a="http://schemas.openxmlformats.org/drawingml/2006/main">
              <a:ext uri="{FF2B5EF4-FFF2-40B4-BE49-F238E27FC236}">
                <a16:creationId xmlns:a16="http://schemas.microsoft.com/office/drawing/2014/main" id="{10AD40FE-0298-4464-BD23-93ACA86FEBC4}"/>
              </a:ext>
            </a:extLst>
          </p:cNvPr>
          <p:cNvSpPr>
            <a:spLocks xmlns:a="http://schemas.openxmlformats.org/drawingml/2006/main" noGrp="1"/>
          </p:cNvSpPr>
          <p:nvPr/>
        </p:nvSpPr>
        <p:spPr>
          <a:xfrm xmlns:a="http://schemas.openxmlformats.org/drawingml/2006/main">
            <a:off x="609600" y="4476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重要な区別</a:t>
            </a:r>
          </a:p>
        </p:txBody>
      </p:sp>
      <p:sp>
        <p:nvSpPr>
          <p:cNvPr id="18" name="">
            <a:extLst xmlns:a="http://schemas.openxmlformats.org/drawingml/2006/main">
              <a:ext uri="{FF2B5EF4-FFF2-40B4-BE49-F238E27FC236}">
                <a16:creationId xmlns:a16="http://schemas.microsoft.com/office/drawing/2014/main" id="{0FF69A4A-F359-4F88-9B9F-EEB65B5AB1AE}"/>
              </a:ext>
            </a:extLst>
          </p:cNvPr>
          <p:cNvSpPr>
            <a:spLocks xmlns:a="http://schemas.openxmlformats.org/drawingml/2006/main" noGrp="1"/>
          </p:cNvSpPr>
          <p:nvPr/>
        </p:nvSpPr>
        <p:spPr>
          <a:xfrm xmlns:a="http://schemas.openxmlformats.org/drawingml/2006/main">
            <a:off x="609600" y="5000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Δμ_local</a:t>
            </a:r>
          </a:p>
        </p:txBody>
      </p:sp>
      <p:sp>
        <p:nvSpPr>
          <p:cNvPr id="19" name="">
            <a:extLst xmlns:a="http://schemas.openxmlformats.org/drawingml/2006/main">
              <a:ext uri="{FF2B5EF4-FFF2-40B4-BE49-F238E27FC236}">
                <a16:creationId xmlns:a16="http://schemas.microsoft.com/office/drawing/2014/main" id="{8107375F-A93D-436E-8A27-3D83525B33B5}"/>
              </a:ext>
            </a:extLst>
          </p:cNvPr>
          <p:cNvSpPr>
            <a:spLocks xmlns:a="http://schemas.openxmlformats.org/drawingml/2006/main" noGrp="1"/>
          </p:cNvSpPr>
          <p:nvPr/>
        </p:nvSpPr>
        <p:spPr>
          <a:xfrm xmlns:a="http://schemas.openxmlformats.org/drawingml/2006/main">
            <a:off x="2095500" y="5000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102A43"/>
                </a:solidFill>
                <a:latin typeface="BIZ UDPGothic"/>
                <a:ea typeface="BIZ UDPGothic"/>
                <a:cs typeface="BIZ UDPGothic"/>
              </a:defRPr>
            </a:pPr>
            <a:r>
              <a:rPr sz="1575" b="0">
                <a:solidFill>
                  <a:srgbClr val="102A43"/>
                </a:solidFill>
                <a:latin typeface="BIZ UDPGothic"/>
                <a:ea typeface="BIZ UDPGothic"/>
                <a:cs typeface="BIZ UDPGothic"/>
              </a:rPr>
              <a:t>client固有の局所適応前後差</a:t>
            </a:r>
          </a:p>
        </p:txBody>
      </p:sp>
      <p:sp>
        <p:nvSpPr>
          <p:cNvPr id="20" name="">
            <a:extLst xmlns:a="http://schemas.openxmlformats.org/drawingml/2006/main">
              <a:ext uri="{FF2B5EF4-FFF2-40B4-BE49-F238E27FC236}">
                <a16:creationId xmlns:a16="http://schemas.microsoft.com/office/drawing/2014/main" id="{F70C7751-EB3C-4BA3-8F10-39590AAE17AE}"/>
              </a:ext>
            </a:extLst>
          </p:cNvPr>
          <p:cNvSpPr>
            <a:spLocks xmlns:a="http://schemas.openxmlformats.org/drawingml/2006/main" noGrp="1"/>
          </p:cNvSpPr>
          <p:nvPr/>
        </p:nvSpPr>
        <p:spPr>
          <a:xfrm xmlns:a="http://schemas.openxmlformats.org/drawingml/2006/main">
            <a:off x="6429375" y="5000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p_after − p_before</a:t>
            </a:r>
          </a:p>
        </p:txBody>
      </p:sp>
      <p:sp>
        <p:nvSpPr>
          <p:cNvPr id="21" name="">
            <a:extLst xmlns:a="http://schemas.openxmlformats.org/drawingml/2006/main">
              <a:ext uri="{FF2B5EF4-FFF2-40B4-BE49-F238E27FC236}">
                <a16:creationId xmlns:a16="http://schemas.microsoft.com/office/drawing/2014/main" id="{88BBD217-F2A6-4454-AA8A-9D645B37A880}"/>
              </a:ext>
            </a:extLst>
          </p:cNvPr>
          <p:cNvSpPr>
            <a:spLocks xmlns:a="http://schemas.openxmlformats.org/drawingml/2006/main" noGrp="1"/>
          </p:cNvSpPr>
          <p:nvPr/>
        </p:nvSpPr>
        <p:spPr>
          <a:xfrm xmlns:a="http://schemas.openxmlformats.org/drawingml/2006/main">
            <a:off x="8572500" y="5000625"/>
            <a:ext cx="300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同一proxy上で測るglobal surrogate更新前後差</a:t>
            </a:r>
          </a:p>
        </p:txBody>
      </p:sp>
      <p:sp>
        <p:nvSpPr>
          <p:cNvPr id="22" name="">
            <a:extLst xmlns:a="http://schemas.openxmlformats.org/drawingml/2006/main">
              <a:ext uri="{FF2B5EF4-FFF2-40B4-BE49-F238E27FC236}">
                <a16:creationId xmlns:a16="http://schemas.microsoft.com/office/drawing/2014/main" id="{5FEC26FF-56AE-489A-A52C-D33915F5D790}"/>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7D8A97"/>
                </a:solidFill>
                <a:latin typeface="BIZ UDPGothic"/>
                <a:ea typeface="BIZ UDPGothic"/>
                <a:cs typeface="BIZ UDPGothic"/>
              </a:defRPr>
            </a:pPr>
            <a:r>
              <a:rPr sz="1500" b="1">
                <a:solidFill>
                  <a:srgbClr val="7D8A97"/>
                </a:solidFill>
                <a:latin typeface="BIZ UDPGothic"/>
                <a:ea typeface="BIZ UDPGothic"/>
                <a:cs typeface="BIZ UDPGothic"/>
              </a:rPr>
              <a:t>現在の診断run：λ_post=1、λ_Δ=1、L_reg未導入。Qinvの具体式とthresholdはscreening待ち</a:t>
            </a:r>
          </a:p>
        </p:txBody>
      </p:sp>
      <p:sp>
        <p:nvSpPr>
          <p:cNvPr id="23" name="">
            <a:extLst xmlns:a="http://schemas.openxmlformats.org/drawingml/2006/main">
              <a:ext uri="{FF2B5EF4-FFF2-40B4-BE49-F238E27FC236}">
                <a16:creationId xmlns:a16="http://schemas.microsoft.com/office/drawing/2014/main" id="{5029650D-CA3C-48A0-8786-9B9F6CCEDAB7}"/>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L_proxy = L_match + L_reg。seed逸脱・自然性・時間的一貫性は後続screeningで固定</a:t>
            </a:r>
          </a:p>
        </p:txBody>
      </p:sp>
      <p:sp>
        <p:nvSpPr>
          <p:cNvPr id="24" name="">
            <a:extLst xmlns:a="http://schemas.openxmlformats.org/drawingml/2006/main">
              <a:ext uri="{FF2B5EF4-FFF2-40B4-BE49-F238E27FC236}">
                <a16:creationId xmlns:a16="http://schemas.microsoft.com/office/drawing/2014/main" id="{210A9ED1-F5AD-4016-A91A-DD219CDF7C25}"/>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8</a:t>
            </a:r>
          </a:p>
        </p:txBody>
      </p:sp>
    </p:spTree>
    <p:extLst>
      <p:ext uri="{BB962C8B-B14F-4D97-AF65-F5344CB8AC3E}">
        <p14:creationId xmlns:p14="http://schemas.microsoft.com/office/powerpoint/2010/main" val="309824831"/>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A97B7F5-24B0-4B3D-A168-D44565FD7CCE}"/>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補足：説明用runの条件</a:t>
            </a:r>
          </a:p>
        </p:txBody>
      </p:sp>
      <p:sp>
        <p:nvSpPr>
          <p:cNvPr id="2" name="">
            <a:extLst xmlns:a="http://schemas.openxmlformats.org/drawingml/2006/main">
              <a:ext uri="{FF2B5EF4-FFF2-40B4-BE49-F238E27FC236}">
                <a16:creationId xmlns:a16="http://schemas.microsoft.com/office/drawing/2014/main" id="{5AE53D14-2040-4F89-95FD-F64901D03D5F}"/>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A2</a:t>
            </a:r>
          </a:p>
        </p:txBody>
      </p:sp>
      <p:sp>
        <p:nvSpPr>
          <p:cNvPr id="3" name="">
            <a:extLst xmlns:a="http://schemas.openxmlformats.org/drawingml/2006/main">
              <a:ext uri="{FF2B5EF4-FFF2-40B4-BE49-F238E27FC236}">
                <a16:creationId xmlns:a16="http://schemas.microsoft.com/office/drawing/2014/main" id="{2BADABD3-B0E6-476F-94B9-6B83E21FB2A1}"/>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3B10AEF2-46A9-44A5-B7AE-A38390730925}"/>
              </a:ext>
            </a:extLst>
          </p:cNvPr>
          <p:cNvSpPr>
            <a:spLocks xmlns:a="http://schemas.openxmlformats.org/drawingml/2006/main" noGrp="1"/>
          </p:cNvSpPr>
          <p:nvPr/>
        </p:nvSpPr>
        <p:spPr>
          <a:xfrm xmlns:a="http://schemas.openxmlformats.org/drawingml/2006/main">
            <a:off x="6096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2F6FA5"/>
                </a:solidFill>
                <a:latin typeface="BIZ UDPGothic"/>
                <a:ea typeface="BIZ UDPGothic"/>
                <a:cs typeface="BIZ UDPGothic"/>
              </a:defRPr>
            </a:pPr>
            <a:r>
              <a:rPr sz="2100" b="1">
                <a:solidFill>
                  <a:srgbClr val="2F6FA5"/>
                </a:solidFill>
                <a:latin typeface="BIZ UDPGothic"/>
                <a:ea typeface="BIZ UDPGothic"/>
                <a:cs typeface="BIZ UDPGothic"/>
              </a:rPr>
              <a:t>実行条件</a:t>
            </a:r>
          </a:p>
        </p:txBody>
      </p:sp>
      <p:sp>
        <p:nvSpPr>
          <p:cNvPr id="5" name="">
            <a:extLst xmlns:a="http://schemas.openxmlformats.org/drawingml/2006/main">
              <a:ext uri="{FF2B5EF4-FFF2-40B4-BE49-F238E27FC236}">
                <a16:creationId xmlns:a16="http://schemas.microsoft.com/office/drawing/2014/main" id="{18C776EE-454F-4135-B20D-207E8691183F}"/>
              </a:ext>
            </a:extLst>
          </p:cNvPr>
          <p:cNvSpPr>
            <a:spLocks xmlns:a="http://schemas.openxmlformats.org/drawingml/2006/main" noGrp="1"/>
          </p:cNvSpPr>
          <p:nvPr/>
        </p:nvSpPr>
        <p:spPr>
          <a:xfrm xmlns:a="http://schemas.openxmlformats.org/drawingml/2006/main">
            <a:off x="60960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surrogate</a:t>
            </a:r>
          </a:p>
        </p:txBody>
      </p:sp>
      <p:sp>
        <p:nvSpPr>
          <p:cNvPr id="6" name="">
            <a:extLst xmlns:a="http://schemas.openxmlformats.org/drawingml/2006/main">
              <a:ext uri="{FF2B5EF4-FFF2-40B4-BE49-F238E27FC236}">
                <a16:creationId xmlns:a16="http://schemas.microsoft.com/office/drawing/2014/main" id="{441BB409-340E-43CC-A7A6-8EA14E1E9B07}"/>
              </a:ext>
            </a:extLst>
          </p:cNvPr>
          <p:cNvSpPr>
            <a:spLocks xmlns:a="http://schemas.openxmlformats.org/drawingml/2006/main" noGrp="1"/>
          </p:cNvSpPr>
          <p:nvPr/>
        </p:nvSpPr>
        <p:spPr>
          <a:xfrm xmlns:a="http://schemas.openxmlformats.org/drawingml/2006/main">
            <a:off x="2514600" y="1857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Qwen2.5-VL-3B-Instruct</a:t>
            </a:r>
          </a:p>
        </p:txBody>
      </p:sp>
      <p:sp>
        <p:nvSpPr>
          <p:cNvPr id="7" name="">
            <a:extLst xmlns:a="http://schemas.openxmlformats.org/drawingml/2006/main">
              <a:ext uri="{FF2B5EF4-FFF2-40B4-BE49-F238E27FC236}">
                <a16:creationId xmlns:a16="http://schemas.microsoft.com/office/drawing/2014/main" id="{F45895E5-1BB3-482F-919E-85E361454CF7}"/>
              </a:ext>
            </a:extLst>
          </p:cNvPr>
          <p:cNvSpPr>
            <a:spLocks xmlns:a="http://schemas.openxmlformats.org/drawingml/2006/main" noGrp="1"/>
          </p:cNvSpPr>
          <p:nvPr/>
        </p:nvSpPr>
        <p:spPr>
          <a:xfrm xmlns:a="http://schemas.openxmlformats.org/drawingml/2006/main">
            <a:off x="609600" y="2209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8" name="">
            <a:extLst xmlns:a="http://schemas.openxmlformats.org/drawingml/2006/main">
              <a:ext uri="{FF2B5EF4-FFF2-40B4-BE49-F238E27FC236}">
                <a16:creationId xmlns:a16="http://schemas.microsoft.com/office/drawing/2014/main" id="{570FA394-A1D4-4063-9C33-A18B28FAD2AF}"/>
              </a:ext>
            </a:extLst>
          </p:cNvPr>
          <p:cNvSpPr>
            <a:spLocks xmlns:a="http://schemas.openxmlformats.org/drawingml/2006/main" noGrp="1"/>
          </p:cNvSpPr>
          <p:nvPr/>
        </p:nvSpPr>
        <p:spPr>
          <a:xfrm xmlns:a="http://schemas.openxmlformats.org/drawingml/2006/main">
            <a:off x="609600" y="23907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client</a:t>
            </a:r>
          </a:p>
        </p:txBody>
      </p:sp>
      <p:sp>
        <p:nvSpPr>
          <p:cNvPr id="9" name="">
            <a:extLst xmlns:a="http://schemas.openxmlformats.org/drawingml/2006/main">
              <a:ext uri="{FF2B5EF4-FFF2-40B4-BE49-F238E27FC236}">
                <a16:creationId xmlns:a16="http://schemas.microsoft.com/office/drawing/2014/main" id="{09F4FFFE-C803-4341-9AD0-EE75E4EFE297}"/>
              </a:ext>
            </a:extLst>
          </p:cNvPr>
          <p:cNvSpPr>
            <a:spLocks xmlns:a="http://schemas.openxmlformats.org/drawingml/2006/main" noGrp="1"/>
          </p:cNvSpPr>
          <p:nvPr/>
        </p:nvSpPr>
        <p:spPr>
          <a:xfrm xmlns:a="http://schemas.openxmlformats.org/drawingml/2006/main">
            <a:off x="2514600" y="23907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 client  局所学習3 step</a:t>
            </a:r>
          </a:p>
        </p:txBody>
      </p:sp>
      <p:sp>
        <p:nvSpPr>
          <p:cNvPr id="10" name="">
            <a:extLst xmlns:a="http://schemas.openxmlformats.org/drawingml/2006/main">
              <a:ext uri="{FF2B5EF4-FFF2-40B4-BE49-F238E27FC236}">
                <a16:creationId xmlns:a16="http://schemas.microsoft.com/office/drawing/2014/main" id="{745A82A2-2B4B-4A3E-A048-426CAE666E20}"/>
              </a:ext>
            </a:extLst>
          </p:cNvPr>
          <p:cNvSpPr>
            <a:spLocks xmlns:a="http://schemas.openxmlformats.org/drawingml/2006/main" noGrp="1"/>
          </p:cNvSpPr>
          <p:nvPr/>
        </p:nvSpPr>
        <p:spPr>
          <a:xfrm xmlns:a="http://schemas.openxmlformats.org/drawingml/2006/main">
            <a:off x="609600" y="27432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1" name="">
            <a:extLst xmlns:a="http://schemas.openxmlformats.org/drawingml/2006/main">
              <a:ext uri="{FF2B5EF4-FFF2-40B4-BE49-F238E27FC236}">
                <a16:creationId xmlns:a16="http://schemas.microsoft.com/office/drawing/2014/main" id="{D3663168-402F-48D5-AA86-3A6A56F6EB41}"/>
              </a:ext>
            </a:extLst>
          </p:cNvPr>
          <p:cNvSpPr>
            <a:spLocks xmlns:a="http://schemas.openxmlformats.org/drawingml/2006/main" noGrp="1"/>
          </p:cNvSpPr>
          <p:nvPr/>
        </p:nvSpPr>
        <p:spPr>
          <a:xfrm xmlns:a="http://schemas.openxmlformats.org/drawingml/2006/main">
            <a:off x="609600" y="29241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private prototype</a:t>
            </a:r>
          </a:p>
        </p:txBody>
      </p:sp>
      <p:sp>
        <p:nvSpPr>
          <p:cNvPr id="12" name="">
            <a:extLst xmlns:a="http://schemas.openxmlformats.org/drawingml/2006/main">
              <a:ext uri="{FF2B5EF4-FFF2-40B4-BE49-F238E27FC236}">
                <a16:creationId xmlns:a16="http://schemas.microsoft.com/office/drawing/2014/main" id="{BF36E91A-8016-4BEE-AB8F-5BD5799B59A3}"/>
              </a:ext>
            </a:extLst>
          </p:cNvPr>
          <p:cNvSpPr>
            <a:spLocks xmlns:a="http://schemas.openxmlformats.org/drawingml/2006/main" noGrp="1"/>
          </p:cNvSpPr>
          <p:nvPr/>
        </p:nvSpPr>
        <p:spPr>
          <a:xfrm xmlns:a="http://schemas.openxmlformats.org/drawingml/2006/main">
            <a:off x="2514600" y="29241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risk 3件のclass-wise mean</a:t>
            </a:r>
          </a:p>
        </p:txBody>
      </p:sp>
      <p:sp>
        <p:nvSpPr>
          <p:cNvPr id="13" name="">
            <a:extLst xmlns:a="http://schemas.openxmlformats.org/drawingml/2006/main">
              <a:ext uri="{FF2B5EF4-FFF2-40B4-BE49-F238E27FC236}">
                <a16:creationId xmlns:a16="http://schemas.microsoft.com/office/drawing/2014/main" id="{4575C4CC-56F3-496A-8BDC-5700B300D75B}"/>
              </a:ext>
            </a:extLst>
          </p:cNvPr>
          <p:cNvSpPr>
            <a:spLocks xmlns:a="http://schemas.openxmlformats.org/drawingml/2006/main" noGrp="1"/>
          </p:cNvSpPr>
          <p:nvPr/>
        </p:nvSpPr>
        <p:spPr>
          <a:xfrm xmlns:a="http://schemas.openxmlformats.org/drawingml/2006/main">
            <a:off x="609600" y="32766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4" name="">
            <a:extLst xmlns:a="http://schemas.openxmlformats.org/drawingml/2006/main">
              <a:ext uri="{FF2B5EF4-FFF2-40B4-BE49-F238E27FC236}">
                <a16:creationId xmlns:a16="http://schemas.microsoft.com/office/drawing/2014/main" id="{4BF3569F-1892-4627-9CCA-5AABBB2D2BF8}"/>
              </a:ext>
            </a:extLst>
          </p:cNvPr>
          <p:cNvSpPr>
            <a:spLocks xmlns:a="http://schemas.openxmlformats.org/drawingml/2006/main" noGrp="1"/>
          </p:cNvSpPr>
          <p:nvPr/>
        </p:nvSpPr>
        <p:spPr>
          <a:xfrm xmlns:a="http://schemas.openxmlformats.org/drawingml/2006/main">
            <a:off x="609600" y="34575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server seed</a:t>
            </a:r>
          </a:p>
        </p:txBody>
      </p:sp>
      <p:sp>
        <p:nvSpPr>
          <p:cNvPr id="15" name="">
            <a:extLst xmlns:a="http://schemas.openxmlformats.org/drawingml/2006/main">
              <a:ext uri="{FF2B5EF4-FFF2-40B4-BE49-F238E27FC236}">
                <a16:creationId xmlns:a16="http://schemas.microsoft.com/office/drawing/2014/main" id="{941A8463-9D52-4F9A-8AE6-D96A1C59AAA4}"/>
              </a:ext>
            </a:extLst>
          </p:cNvPr>
          <p:cNvSpPr>
            <a:spLocks xmlns:a="http://schemas.openxmlformats.org/drawingml/2006/main" noGrp="1"/>
          </p:cNvSpPr>
          <p:nvPr/>
        </p:nvSpPr>
        <p:spPr>
          <a:xfrm xmlns:a="http://schemas.openxmlformats.org/drawingml/2006/main">
            <a:off x="2514600" y="34575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8件  clientとsample非重複</a:t>
            </a:r>
          </a:p>
        </p:txBody>
      </p:sp>
      <p:sp>
        <p:nvSpPr>
          <p:cNvPr id="16" name="">
            <a:extLst xmlns:a="http://schemas.openxmlformats.org/drawingml/2006/main">
              <a:ext uri="{FF2B5EF4-FFF2-40B4-BE49-F238E27FC236}">
                <a16:creationId xmlns:a16="http://schemas.microsoft.com/office/drawing/2014/main" id="{8045A667-E001-4F54-B173-DFF0673CBCD3}"/>
              </a:ext>
            </a:extLst>
          </p:cNvPr>
          <p:cNvSpPr>
            <a:spLocks xmlns:a="http://schemas.openxmlformats.org/drawingml/2006/main" noGrp="1"/>
          </p:cNvSpPr>
          <p:nvPr/>
        </p:nvSpPr>
        <p:spPr>
          <a:xfrm xmlns:a="http://schemas.openxmlformats.org/drawingml/2006/main">
            <a:off x="609600" y="38100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7" name="">
            <a:extLst xmlns:a="http://schemas.openxmlformats.org/drawingml/2006/main">
              <a:ext uri="{FF2B5EF4-FFF2-40B4-BE49-F238E27FC236}">
                <a16:creationId xmlns:a16="http://schemas.microsoft.com/office/drawing/2014/main" id="{BDEAFC3C-9863-4818-B13F-7070A141882A}"/>
              </a:ext>
            </a:extLst>
          </p:cNvPr>
          <p:cNvSpPr>
            <a:spLocks xmlns:a="http://schemas.openxmlformats.org/drawingml/2006/main" noGrp="1"/>
          </p:cNvSpPr>
          <p:nvPr/>
        </p:nvSpPr>
        <p:spPr>
          <a:xfrm xmlns:a="http://schemas.openxmlformats.org/drawingml/2006/main">
            <a:off x="6096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入力</a:t>
            </a:r>
          </a:p>
        </p:txBody>
      </p:sp>
      <p:sp>
        <p:nvSpPr>
          <p:cNvPr id="18" name="">
            <a:extLst xmlns:a="http://schemas.openxmlformats.org/drawingml/2006/main">
              <a:ext uri="{FF2B5EF4-FFF2-40B4-BE49-F238E27FC236}">
                <a16:creationId xmlns:a16="http://schemas.microsoft.com/office/drawing/2014/main" id="{08ABFD88-F01A-463D-8714-8C6C7EB45A51}"/>
              </a:ext>
            </a:extLst>
          </p:cNvPr>
          <p:cNvSpPr>
            <a:spLocks xmlns:a="http://schemas.openxmlformats.org/drawingml/2006/main" noGrp="1"/>
          </p:cNvSpPr>
          <p:nvPr/>
        </p:nvSpPr>
        <p:spPr>
          <a:xfrm xmlns:a="http://schemas.openxmlformats.org/drawingml/2006/main">
            <a:off x="2514600" y="39909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各サンプル4フレーム</a:t>
            </a:r>
          </a:p>
        </p:txBody>
      </p:sp>
      <p:sp>
        <p:nvSpPr>
          <p:cNvPr id="19" name="">
            <a:extLst xmlns:a="http://schemas.openxmlformats.org/drawingml/2006/main">
              <a:ext uri="{FF2B5EF4-FFF2-40B4-BE49-F238E27FC236}">
                <a16:creationId xmlns:a16="http://schemas.microsoft.com/office/drawing/2014/main" id="{80ADDF9C-DE7C-4BED-A6E4-B6A03EDF4A4C}"/>
              </a:ext>
            </a:extLst>
          </p:cNvPr>
          <p:cNvSpPr>
            <a:spLocks xmlns:a="http://schemas.openxmlformats.org/drawingml/2006/main" noGrp="1"/>
          </p:cNvSpPr>
          <p:nvPr/>
        </p:nvSpPr>
        <p:spPr>
          <a:xfrm xmlns:a="http://schemas.openxmlformats.org/drawingml/2006/main">
            <a:off x="609600" y="43434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0" name="">
            <a:extLst xmlns:a="http://schemas.openxmlformats.org/drawingml/2006/main">
              <a:ext uri="{FF2B5EF4-FFF2-40B4-BE49-F238E27FC236}">
                <a16:creationId xmlns:a16="http://schemas.microsoft.com/office/drawing/2014/main" id="{0904725B-4D3E-4B8C-A323-6737DF363EFF}"/>
              </a:ext>
            </a:extLst>
          </p:cNvPr>
          <p:cNvSpPr>
            <a:spLocks xmlns:a="http://schemas.openxmlformats.org/drawingml/2006/main" noGrp="1"/>
          </p:cNvSpPr>
          <p:nvPr/>
        </p:nvSpPr>
        <p:spPr>
          <a:xfrm xmlns:a="http://schemas.openxmlformats.org/drawingml/2006/main">
            <a:off x="609600" y="4524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変換</a:t>
            </a:r>
          </a:p>
        </p:txBody>
      </p:sp>
      <p:sp>
        <p:nvSpPr>
          <p:cNvPr id="21" name="">
            <a:extLst xmlns:a="http://schemas.openxmlformats.org/drawingml/2006/main">
              <a:ext uri="{FF2B5EF4-FFF2-40B4-BE49-F238E27FC236}">
                <a16:creationId xmlns:a16="http://schemas.microsoft.com/office/drawing/2014/main" id="{45BA7CC1-3604-4E05-8551-55F51C06D883}"/>
              </a:ext>
            </a:extLst>
          </p:cNvPr>
          <p:cNvSpPr>
            <a:spLocks xmlns:a="http://schemas.openxmlformats.org/drawingml/2006/main" noGrp="1"/>
          </p:cNvSpPr>
          <p:nvPr/>
        </p:nvSpPr>
        <p:spPr>
          <a:xfrm xmlns:a="http://schemas.openxmlformats.org/drawingml/2006/main">
            <a:off x="2514600" y="4524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10候補からL_match最小を選択</a:t>
            </a:r>
          </a:p>
        </p:txBody>
      </p:sp>
      <p:sp>
        <p:nvSpPr>
          <p:cNvPr id="22" name="">
            <a:extLst xmlns:a="http://schemas.openxmlformats.org/drawingml/2006/main">
              <a:ext uri="{FF2B5EF4-FFF2-40B4-BE49-F238E27FC236}">
                <a16:creationId xmlns:a16="http://schemas.microsoft.com/office/drawing/2014/main" id="{D6188B98-4212-4016-ACC8-BCC533497542}"/>
              </a:ext>
            </a:extLst>
          </p:cNvPr>
          <p:cNvSpPr>
            <a:spLocks xmlns:a="http://schemas.openxmlformats.org/drawingml/2006/main" noGrp="1"/>
          </p:cNvSpPr>
          <p:nvPr/>
        </p:nvSpPr>
        <p:spPr>
          <a:xfrm xmlns:a="http://schemas.openxmlformats.org/drawingml/2006/main">
            <a:off x="609600" y="4876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3" name="">
            <a:extLst xmlns:a="http://schemas.openxmlformats.org/drawingml/2006/main">
              <a:ext uri="{FF2B5EF4-FFF2-40B4-BE49-F238E27FC236}">
                <a16:creationId xmlns:a16="http://schemas.microsoft.com/office/drawing/2014/main" id="{B1AC8B71-7751-4915-8440-16CBD265AC36}"/>
              </a:ext>
            </a:extLst>
          </p:cNvPr>
          <p:cNvSpPr>
            <a:spLocks xmlns:a="http://schemas.openxmlformats.org/drawingml/2006/main" noGrp="1"/>
          </p:cNvSpPr>
          <p:nvPr/>
        </p:nvSpPr>
        <p:spPr>
          <a:xfrm xmlns:a="http://schemas.openxmlformats.org/drawingml/2006/main">
            <a:off x="64008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68A7A"/>
                </a:solidFill>
                <a:latin typeface="BIZ UDPGothic"/>
                <a:ea typeface="BIZ UDPGothic"/>
                <a:cs typeface="BIZ UDPGothic"/>
              </a:defRPr>
            </a:pPr>
            <a:r>
              <a:rPr sz="2100" b="1">
                <a:solidFill>
                  <a:srgbClr val="168A7A"/>
                </a:solidFill>
                <a:latin typeface="BIZ UDPGothic"/>
                <a:ea typeface="BIZ UDPGothic"/>
                <a:cs typeface="BIZ UDPGothic"/>
              </a:rPr>
              <a:t>この例から言えること</a:t>
            </a:r>
          </a:p>
        </p:txBody>
      </p:sp>
      <p:sp>
        <p:nvSpPr>
          <p:cNvPr id="24" name="">
            <a:extLst xmlns:a="http://schemas.openxmlformats.org/drawingml/2006/main">
              <a:ext uri="{FF2B5EF4-FFF2-40B4-BE49-F238E27FC236}">
                <a16:creationId xmlns:a16="http://schemas.microsoft.com/office/drawing/2014/main" id="{0AA5A02D-6EEB-42A8-AEBE-8270ED668B22}"/>
              </a:ext>
            </a:extLst>
          </p:cNvPr>
          <p:cNvSpPr>
            <a:spLocks xmlns:a="http://schemas.openxmlformats.org/drawingml/2006/main" noGrp="1"/>
          </p:cNvSpPr>
          <p:nvPr/>
        </p:nvSpPr>
        <p:spPr>
          <a:xfrm xmlns:a="http://schemas.openxmlformats.org/drawingml/2006/main">
            <a:off x="6400800" y="19240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Layer 2の入出力が実データで接続した</a:t>
            </a:r>
          </a:p>
        </p:txBody>
      </p:sp>
      <p:sp>
        <p:nvSpPr>
          <p:cNvPr id="25" name="">
            <a:extLst xmlns:a="http://schemas.openxmlformats.org/drawingml/2006/main">
              <a:ext uri="{FF2B5EF4-FFF2-40B4-BE49-F238E27FC236}">
                <a16:creationId xmlns:a16="http://schemas.microsoft.com/office/drawing/2014/main" id="{E026E9CE-A5A7-46E3-8DD2-C1BD1D6B6DBD}"/>
              </a:ext>
            </a:extLst>
          </p:cNvPr>
          <p:cNvSpPr>
            <a:spLocks xmlns:a="http://schemas.openxmlformats.org/drawingml/2006/main" noGrp="1"/>
          </p:cNvSpPr>
          <p:nvPr/>
        </p:nvSpPr>
        <p:spPr>
          <a:xfrm xmlns:a="http://schemas.openxmlformats.org/drawingml/2006/main">
            <a:off x="6400800" y="24288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seed候補と変換候補を同じ基準で追跡できる</a:t>
            </a:r>
          </a:p>
        </p:txBody>
      </p:sp>
      <p:sp>
        <p:nvSpPr>
          <p:cNvPr id="26" name="">
            <a:extLst xmlns:a="http://schemas.openxmlformats.org/drawingml/2006/main">
              <a:ext uri="{FF2B5EF4-FFF2-40B4-BE49-F238E27FC236}">
                <a16:creationId xmlns:a16="http://schemas.microsoft.com/office/drawing/2014/main" id="{64B33FE8-78AD-4060-B9F2-E7F0DCDBB57E}"/>
              </a:ext>
            </a:extLst>
          </p:cNvPr>
          <p:cNvSpPr>
            <a:spLocks xmlns:a="http://schemas.openxmlformats.org/drawingml/2006/main" noGrp="1"/>
          </p:cNvSpPr>
          <p:nvPr/>
        </p:nvSpPr>
        <p:spPr>
          <a:xfrm xmlns:a="http://schemas.openxmlformats.org/drawingml/2006/main">
            <a:off x="6400800" y="29337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private ID・raw frameがserver payloadへ入っていない</a:t>
            </a:r>
          </a:p>
        </p:txBody>
      </p:sp>
      <p:sp>
        <p:nvSpPr>
          <p:cNvPr id="27" name="">
            <a:extLst xmlns:a="http://schemas.openxmlformats.org/drawingml/2006/main">
              <a:ext uri="{FF2B5EF4-FFF2-40B4-BE49-F238E27FC236}">
                <a16:creationId xmlns:a16="http://schemas.microsoft.com/office/drawing/2014/main" id="{3BFDD856-E931-470D-9DBD-B7F1465F23E1}"/>
              </a:ext>
            </a:extLst>
          </p:cNvPr>
          <p:cNvSpPr>
            <a:spLocks xmlns:a="http://schemas.openxmlformats.org/drawingml/2006/main" noGrp="1"/>
          </p:cNvSpPr>
          <p:nvPr/>
        </p:nvSpPr>
        <p:spPr>
          <a:xfrm xmlns:a="http://schemas.openxmlformats.org/drawingml/2006/main">
            <a:off x="64008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D95D45"/>
                </a:solidFill>
                <a:latin typeface="BIZ UDPGothic"/>
                <a:ea typeface="BIZ UDPGothic"/>
                <a:cs typeface="BIZ UDPGothic"/>
              </a:defRPr>
            </a:pPr>
            <a:r>
              <a:rPr sz="2100" b="1">
                <a:solidFill>
                  <a:srgbClr val="D95D45"/>
                </a:solidFill>
                <a:latin typeface="BIZ UDPGothic"/>
                <a:ea typeface="BIZ UDPGothic"/>
                <a:cs typeface="BIZ UDPGothic"/>
              </a:rPr>
              <a:t>まだ言えないこと</a:t>
            </a:r>
          </a:p>
        </p:txBody>
      </p:sp>
      <p:sp>
        <p:nvSpPr>
          <p:cNvPr id="28" name="">
            <a:extLst xmlns:a="http://schemas.openxmlformats.org/drawingml/2006/main">
              <a:ext uri="{FF2B5EF4-FFF2-40B4-BE49-F238E27FC236}">
                <a16:creationId xmlns:a16="http://schemas.microsoft.com/office/drawing/2014/main" id="{F8A739DB-8AD2-439B-950C-282AEA9AB0BA}"/>
              </a:ext>
            </a:extLst>
          </p:cNvPr>
          <p:cNvSpPr>
            <a:spLocks xmlns:a="http://schemas.openxmlformats.org/drawingml/2006/main" noGrp="1"/>
          </p:cNvSpPr>
          <p:nvPr/>
        </p:nvSpPr>
        <p:spPr>
          <a:xfrm xmlns:a="http://schemas.openxmlformats.org/drawingml/2006/main">
            <a:off x="6400800" y="4400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transformationが一貫してproxy fidelityを改善するか</a:t>
            </a:r>
          </a:p>
        </p:txBody>
      </p:sp>
      <p:sp>
        <p:nvSpPr>
          <p:cNvPr id="29" name="">
            <a:extLst xmlns:a="http://schemas.openxmlformats.org/drawingml/2006/main">
              <a:ext uri="{FF2B5EF4-FFF2-40B4-BE49-F238E27FC236}">
                <a16:creationId xmlns:a16="http://schemas.microsoft.com/office/drawing/2014/main" id="{ED1EECF2-9468-4008-8AD3-F5ACD8D13246}"/>
              </a:ext>
            </a:extLst>
          </p:cNvPr>
          <p:cNvSpPr>
            <a:spLocks xmlns:a="http://schemas.openxmlformats.org/drawingml/2006/main" noGrp="1"/>
          </p:cNvSpPr>
          <p:nvPr/>
        </p:nvSpPr>
        <p:spPr>
          <a:xfrm xmlns:a="http://schemas.openxmlformats.org/drawingml/2006/main">
            <a:off x="6400800" y="4905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proxyがfoundationのF1・AUCを改善するか</a:t>
            </a:r>
          </a:p>
        </p:txBody>
      </p:sp>
      <p:sp>
        <p:nvSpPr>
          <p:cNvPr id="30" name="">
            <a:extLst xmlns:a="http://schemas.openxmlformats.org/drawingml/2006/main">
              <a:ext uri="{FF2B5EF4-FFF2-40B4-BE49-F238E27FC236}">
                <a16:creationId xmlns:a16="http://schemas.microsoft.com/office/drawing/2014/main" id="{33827295-1384-496B-B22C-B6A9A8AE0B2C}"/>
              </a:ext>
            </a:extLst>
          </p:cNvPr>
          <p:cNvSpPr>
            <a:spLocks xmlns:a="http://schemas.openxmlformats.org/drawingml/2006/main" noGrp="1"/>
          </p:cNvSpPr>
          <p:nvPr/>
        </p:nvSpPr>
        <p:spPr>
          <a:xfrm xmlns:a="http://schemas.openxmlformats.org/drawingml/2006/main">
            <a:off x="6400800" y="54102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複数clientのFedAvg後でも同じ再現度を得られるか</a:t>
            </a:r>
          </a:p>
        </p:txBody>
      </p:sp>
      <p:sp>
        <p:nvSpPr>
          <p:cNvPr id="31" name="">
            <a:extLst xmlns:a="http://schemas.openxmlformats.org/drawingml/2006/main">
              <a:ext uri="{FF2B5EF4-FFF2-40B4-BE49-F238E27FC236}">
                <a16:creationId xmlns:a16="http://schemas.microsoft.com/office/drawing/2014/main" id="{FE090874-53F3-49BC-AC3C-E3AB3F953216}"/>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oundRect">
            <a:avLst>
              <a:gd name="adj" fmla="val 20000"/>
            </a:avLst>
          </a:prstGeom>
          <a:solidFill xmlns:a="http://schemas.openxmlformats.org/drawingml/2006/main">
            <a:srgbClr val="F8ECCE"/>
          </a:solidFill>
          <a:ln xmlns:a="http://schemas.openxmlformats.org/drawingml/2006/main" w="9525">
            <a:solidFill>
              <a:srgbClr val="D28B23"/>
            </a:solidFill>
            <a:prstDash val="solid"/>
          </a:ln>
        </p:spPr>
      </p:sp>
      <p:sp>
        <p:nvSpPr>
          <p:cNvPr id="32" name="">
            <a:extLst xmlns:a="http://schemas.openxmlformats.org/drawingml/2006/main">
              <a:ext uri="{FF2B5EF4-FFF2-40B4-BE49-F238E27FC236}">
                <a16:creationId xmlns:a16="http://schemas.microsoft.com/office/drawing/2014/main" id="{F97C35DD-2696-4BA1-8CD1-95CA890969AD}"/>
              </a:ext>
            </a:extLst>
          </p:cNvPr>
          <p:cNvSpPr>
            <a:spLocks xmlns:a="http://schemas.openxmlformats.org/drawingml/2006/main" noGrp="1"/>
          </p:cNvSpPr>
          <p:nvPr/>
        </p:nvSpPr>
        <p:spPr>
          <a:xfrm xmlns:a="http://schemas.openxmlformats.org/drawingml/2006/main">
            <a:off x="781050" y="5962650"/>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7A4A00"/>
                </a:solidFill>
                <a:latin typeface="BIZ UDPGothic"/>
                <a:ea typeface="BIZ UDPGothic"/>
                <a:cs typeface="BIZ UDPGothic"/>
              </a:defRPr>
            </a:pPr>
            <a:r>
              <a:rPr sz="1425" b="1">
                <a:solidFill>
                  <a:srgbClr val="7A4A00"/>
                </a:solidFill>
                <a:latin typeface="BIZ UDPGothic"/>
                <a:ea typeface="BIZ UDPGothic"/>
                <a:cs typeface="BIZ UDPGothic"/>
              </a:rPr>
              <a:t>位置づけ：処理説明と実装診断のためのcase study。性能の有効性を示す評価実験ではない</a:t>
            </a:r>
          </a:p>
        </p:txBody>
      </p:sp>
      <p:sp>
        <p:nvSpPr>
          <p:cNvPr id="33" name="">
            <a:extLst xmlns:a="http://schemas.openxmlformats.org/drawingml/2006/main">
              <a:ext uri="{FF2B5EF4-FFF2-40B4-BE49-F238E27FC236}">
                <a16:creationId xmlns:a16="http://schemas.microsoft.com/office/drawing/2014/main" id="{FFFD37BE-8298-4C71-BD19-BD75DD800E9B}"/>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run_20260910_002139_presentation_case  seed=42</a:t>
            </a:r>
          </a:p>
        </p:txBody>
      </p:sp>
      <p:sp>
        <p:nvSpPr>
          <p:cNvPr id="34" name="">
            <a:extLst xmlns:a="http://schemas.openxmlformats.org/drawingml/2006/main">
              <a:ext uri="{FF2B5EF4-FFF2-40B4-BE49-F238E27FC236}">
                <a16:creationId xmlns:a16="http://schemas.microsoft.com/office/drawing/2014/main" id="{5746C315-6CAE-486D-89C9-637C8F46BAB3}"/>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9</a:t>
            </a:r>
          </a:p>
        </p:txBody>
      </p:sp>
    </p:spTree>
    <p:extLst>
      <p:ext uri="{BB962C8B-B14F-4D97-AF65-F5344CB8AC3E}">
        <p14:creationId xmlns:p14="http://schemas.microsoft.com/office/powerpoint/2010/main" val="1723947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2026-09-09T15:54:27.5820000Z</dcterms:created>
  <dcterms:modified xsi:type="dcterms:W3CDTF">2026-09-09T15:54:27.5820000Z</dcterms:modified>
</coreProperties>
</file>