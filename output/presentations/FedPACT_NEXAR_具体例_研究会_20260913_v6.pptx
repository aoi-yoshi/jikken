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c72241aefe4cf7" /><Relationship Type="http://schemas.openxmlformats.org/officeDocument/2006/relationships/extended-properties" Target="/docProps/app.xml" Id="Raec93ccdd18249f2" /><Relationship Type="http://schemas.openxmlformats.org/officeDocument/2006/relationships/officeDocument" Target="/ppt/presentation.xml" Id="R8be7bed380a148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e80b95f9594215"/>
  </p:sldMasterIdLst>
  <p:notesMasterIdLst>
    <p:notesMasterId xmlns:r="http://schemas.openxmlformats.org/officeDocument/2006/relationships" r:id="R7c19c80004244ee2"/>
  </p:notesMasterIdLst>
  <p:sldIdLst>
    <p:sldId xmlns:r="http://schemas.openxmlformats.org/officeDocument/2006/relationships" id="256" r:id="R8f52e5e167e64d1a"/>
    <p:sldId xmlns:r="http://schemas.openxmlformats.org/officeDocument/2006/relationships" id="257" r:id="R3dfb1f47b6f94508"/>
    <p:sldId xmlns:r="http://schemas.openxmlformats.org/officeDocument/2006/relationships" id="258" r:id="R89aefe9eaf544e52"/>
    <p:sldId xmlns:r="http://schemas.openxmlformats.org/officeDocument/2006/relationships" id="259" r:id="R180e8b2a305a4ad1"/>
    <p:sldId xmlns:r="http://schemas.openxmlformats.org/officeDocument/2006/relationships" id="260" r:id="Rf0c58259fa7d4137"/>
    <p:sldId xmlns:r="http://schemas.openxmlformats.org/officeDocument/2006/relationships" id="261" r:id="R964d77cacad24017"/>
    <p:sldId xmlns:r="http://schemas.openxmlformats.org/officeDocument/2006/relationships" id="262" r:id="R05982432f6d54559"/>
    <p:sldId xmlns:r="http://schemas.openxmlformats.org/officeDocument/2006/relationships" id="263" r:id="R2fbdbe0bcac34d6f"/>
    <p:sldId xmlns:r="http://schemas.openxmlformats.org/officeDocument/2006/relationships" id="264" r:id="Rcc083577a5f24d3e"/>
    <p:sldId xmlns:r="http://schemas.openxmlformats.org/officeDocument/2006/relationships" id="265" r:id="R3ffb6680d01248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1b58d8a293460d" /><Relationship Type="http://schemas.openxmlformats.org/officeDocument/2006/relationships/slideMaster" Target="/ppt/slideMasters/slideMaster1.xml" Id="Rdae80b95f9594215" /><Relationship Type="http://schemas.openxmlformats.org/officeDocument/2006/relationships/notesMaster" Target="/ppt/notesMasters/notesMaster1.xml" Id="R7c19c80004244ee2" /><Relationship Type="http://schemas.openxmlformats.org/officeDocument/2006/relationships/presProps" Target="/ppt/presProps.xml" Id="R69c5a54772e24e92" /><Relationship Type="http://schemas.openxmlformats.org/officeDocument/2006/relationships/tableStyles" Target="/ppt/tableStyles.xml" Id="Rb6771e2e83fb4688" /><Relationship Type="http://schemas.openxmlformats.org/officeDocument/2006/relationships/slide" Target="/ppt/slides/slide1.xml" Id="R8f52e5e167e64d1a" /><Relationship Type="http://schemas.openxmlformats.org/officeDocument/2006/relationships/slide" Target="/ppt/slides/slide2.xml" Id="R3dfb1f47b6f94508" /><Relationship Type="http://schemas.openxmlformats.org/officeDocument/2006/relationships/slide" Target="/ppt/slides/slide3.xml" Id="R89aefe9eaf544e52" /><Relationship Type="http://schemas.openxmlformats.org/officeDocument/2006/relationships/slide" Target="/ppt/slides/slide4.xml" Id="R180e8b2a305a4ad1" /><Relationship Type="http://schemas.openxmlformats.org/officeDocument/2006/relationships/slide" Target="/ppt/slides/slide5.xml" Id="Rf0c58259fa7d4137" /><Relationship Type="http://schemas.openxmlformats.org/officeDocument/2006/relationships/slide" Target="/ppt/slides/slide6.xml" Id="R964d77cacad24017" /><Relationship Type="http://schemas.openxmlformats.org/officeDocument/2006/relationships/slide" Target="/ppt/slides/slide7.xml" Id="R05982432f6d54559" /><Relationship Type="http://schemas.openxmlformats.org/officeDocument/2006/relationships/slide" Target="/ppt/slides/slide8.xml" Id="R2fbdbe0bcac34d6f" /><Relationship Type="http://schemas.openxmlformats.org/officeDocument/2006/relationships/slide" Target="/ppt/slides/slide9.xml" Id="Rcc083577a5f24d3e" /><Relationship Type="http://schemas.openxmlformats.org/officeDocument/2006/relationships/slide" Target="/ppt/slides/slide10.xml" Id="R3ffb6680d01248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9aa931a98641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d772b820404381" /><Relationship Type="http://schemas.openxmlformats.org/officeDocument/2006/relationships/notesMaster" Target="/ppt/notesMasters/notesMaster1.xml" Id="Ra21f7749226047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2adcacaf864b73" /><Relationship Type="http://schemas.openxmlformats.org/officeDocument/2006/relationships/notesMaster" Target="/ppt/notesMasters/notesMaster1.xml" Id="Rf6106e5fb59140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1a4f9a67ce4240" /><Relationship Type="http://schemas.openxmlformats.org/officeDocument/2006/relationships/notesMaster" Target="/ppt/notesMasters/notesMaster1.xml" Id="R8b36878d3e1645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55c4fe205b47f9" /><Relationship Type="http://schemas.openxmlformats.org/officeDocument/2006/relationships/notesMaster" Target="/ppt/notesMasters/notesMaster1.xml" Id="R795b4ae003c74e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c69da97d984bde" /><Relationship Type="http://schemas.openxmlformats.org/officeDocument/2006/relationships/notesMaster" Target="/ppt/notesMasters/notesMaster1.xml" Id="R3f660f2bd1bc47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646a9a26c34bb6" /><Relationship Type="http://schemas.openxmlformats.org/officeDocument/2006/relationships/notesMaster" Target="/ppt/notesMasters/notesMaster1.xml" Id="R12a5fc591c7448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7181ec1e0346a3" /><Relationship Type="http://schemas.openxmlformats.org/officeDocument/2006/relationships/notesMaster" Target="/ppt/notesMasters/notesMaster1.xml" Id="Rf3cbcc042eec43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eefa4c32f0443a" /><Relationship Type="http://schemas.openxmlformats.org/officeDocument/2006/relationships/notesMaster" Target="/ppt/notesMasters/notesMaster1.xml" Id="R38bec67439714f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4eb40cd46d45c1" /><Relationship Type="http://schemas.openxmlformats.org/officeDocument/2006/relationships/notesMaster" Target="/ppt/notesMasters/notesMaster1.xml" Id="R9386c83125f34f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2ba81ea9854437" /><Relationship Type="http://schemas.openxmlformats.org/officeDocument/2006/relationships/notesMaster" Target="/ppt/notesMasters/notesMaster1.xml" Id="R87d77dc5dfec41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つかみ：現場の生映像をcloudへ集めず、局所適応で得た挙動だけを代理データへ変換したい。</a:t>
            </a:r>
          </a:p>
          <a:p xmlns:a="http://schemas.openxmlformats.org/drawingml/2006/main">
            <a:r>
              <a:t>ただし、代理化の入力となる局所更新自体が不安定なら、Layer 2が忠実でも有用な知識転移にはならない。</a:t>
            </a:r>
          </a:p>
          <a:p xmlns:a="http://schemas.openxmlformats.org/drawingml/2006/main">
            <a:r>
              <a:t>今回はNEXARの具体的な動画と実測値を使い、Layer 2の経路と、その前段で見つかった問題を説明する。</a:t>
            </a:r>
          </a:p>
          <a:p xmlns:a="http://schemas.openxmlformats.org/drawingml/2006/main">
            <a:r>
              <a:t>Source: notes/advisor/CURRENT.md; docs/fedpact_nexar_concrete_case_20260913.md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左はpositiveラベルのheld-out動画a8adfca63e、右はnegativeラベルのheld-out動画1db89ecde7。どちらも局所学習には未使用。</a:t>
            </a:r>
          </a:p>
          <a:p xmlns:a="http://schemas.openxmlformats.org/drawingml/2006/main">
            <a:r>
              <a:t>左はq(risk) 0.725→0.613、右は0.270→0.156。</a:t>
            </a:r>
          </a:p>
          <a:p xmlns:a="http://schemas.openxmlformats.org/drawingml/2006/main">
            <a:r>
              <a:t>単一フレームの見た目から因果特徴を断定しない。ここで言えるのは出力確率の変化だけ。</a:t>
            </a:r>
          </a:p>
          <a:p xmlns:a="http://schemas.openxmlformats.org/drawingml/2006/main">
            <a:r>
              <a:t>Source: artifacts/runs/fedpact_nexar_example/run_20260913_balanced_order101_risk_fullgrid/client_local/eval_trace.json; artifacts/datasets/frames/train/&lt;sample_id&gt;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今回の該当範囲はFedPACT実験計画の第I段階、Step I-AとStep I-Bの縦切り確認。三層3〜5 round接続やLayer 3更新は未実施。</a:t>
            </a:r>
          </a:p>
          <a:p xmlns:a="http://schemas.openxmlformats.org/drawingml/2006/main">
            <a:r>
              <a:t>client train、client held-out、server seedは同一split seed 42で固定し、ID重複なし。</a:t>
            </a:r>
          </a:p>
          <a:p xmlns:a="http://schemas.openxmlformats.org/drawingml/2006/main">
            <a:r>
              <a:t>今回のserver payloadにはtrainable update（client LoRA＋classification head）とclass-wise μ_post、Δμ、π、class_countを含める。private raw frameとsample IDは含めない。</a:t>
            </a:r>
          </a:p>
          <a:p xmlns:a="http://schemas.openxmlformats.org/drawingml/2006/main">
            <a:r>
              <a:t>PDFの基本protocolで用いる重みはπ。class_countは今回の実装schemaに併記した監査用fieldで、現runではπと同値。</a:t>
            </a:r>
          </a:p>
          <a:p xmlns:a="http://schemas.openxmlformats.org/drawingml/2006/main">
            <a:r>
              <a:t>Source: notes/advisor/sources/raw/2026-09-01/FedPACT実験計画260901.pdf pp.3-4; artifacts/runs/fedpact_nexar_example/run_20260913_balanced_order101_risk_fullgrid/client_local/data_splits.json; client_upload/server_payload.json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個別sampleをすべて表示し、平均だけの印象操作を避ける。order 101ではtrain 6本・held-out 6本がすべてnormal方向へ移動した。</a:t>
            </a:r>
          </a:p>
          <a:p xmlns:a="http://schemas.openxmlformats.org/drawingml/2006/main">
            <a:r>
              <a:t>ただし、この1順序だけでクラス非選択性を断定しない。次slideで学習順を変えた結果を示す。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client_local/eval_trace.json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order 101は最初に詳細追跡用として固定し、202と303はその後に学習順感度を確認するため追加した。</a:t>
            </a:r>
          </a:p>
          <a:p xmlns:a="http://schemas.openxmlformats.org/drawingml/2006/main">
            <a:r>
              <a:t>batch size 1ではq_postとΔqの符号が学習順で反転。held-outのclass間差も改善・悪化が一貫しない。</a:t>
            </a:r>
          </a:p>
          <a:p xmlns:a="http://schemas.openxmlformats.org/drawingml/2006/main">
            <a:r>
              <a:t>batch size 1は6 optimizer steps、full-batch相当は6動画を同時に1 optimizer stepで更新した。総sample exposureは6に揃えたが、batch構成とoptimizer step数が交絡している。</a:t>
            </a:r>
          </a:p>
          <a:p xmlns:a="http://schemas.openxmlformats.org/drawingml/2006/main">
            <a:r>
              <a:t>共通方向shiftが小さくなった事実は示せるが、batch化が原因とはまだ言えない。次実験でoptimizer step数を記録・統制して切り分ける。</a:t>
            </a:r>
          </a:p>
          <a:p xmlns:a="http://schemas.openxmlformats.org/drawingml/2006/main">
            <a:r>
              <a:t>Source: run_20260913_balanced_order101_risk_fullgrid; run_20260913_balanced_order202_diagnostic; run_20260913_balanced_order303_diagnostic; run_20260913_balanced_fullbatch_diagnostic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3本それぞれのq_pre、q_post、Δqを先に示し、その平均がprototypeになることを明示する。</a:t>
            </a:r>
          </a:p>
          <a:p xmlns:a="http://schemas.openxmlformats.org/drawingml/2006/main">
            <a:r>
              <a:t>左からd626..., 95c3..., 06e2...。数値はriskクラス確率。μ_postとΔμは2クラス確率ベクトル。</a:t>
            </a:r>
          </a:p>
          <a:p xmlns:a="http://schemas.openxmlformats.org/drawingml/2006/main">
            <a:r>
              <a:t>π=3はrisk prototypeの平均に寄与したprivate sample数。−0.090だけを送るのではなく、確率和0を保つ2成分vector[+0.090,−0.090]として扱う。</a:t>
            </a:r>
          </a:p>
          <a:p xmlns:a="http://schemas.openxmlformats.org/drawingml/2006/main">
            <a:r>
              <a:t>実装payloadはtrainable updateにclient LoRAとclassification headを含み、prototypeにはπ（frequency）とclass_countを併記する。class_countはPDFの基本protocolにはない実装上の監査field。</a:t>
            </a:r>
          </a:p>
          <a:p xmlns:a="http://schemas.openxmlformats.org/drawingml/2006/main">
            <a:r>
              <a:t>Source: artifacts/runs/fedpact_nexar_example/run_20260913_balanced_order101_risk_fullgrid/client_local/private_trace.json; client_upload/server_payload.json;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retrieval distanceはμ_postと連合集約後global surrogate M_G^{t+1}上のseed出力p_G^{t+1}(s)とのKL。画像空間の近さではなく、post behaviorの近さで順位付けする。</a:t>
            </a:r>
          </a:p>
          <a:p xmlns:a="http://schemas.openxmlformats.org/drawingml/2006/main">
            <a:r>
              <a:t>M_G^tは連合集約前、M_G^{t+1}は連合集約後のglobal surrogate。今回は1 clientなのでM_G^{t+1}は局所学習後surrogateと一致する。</a:t>
            </a:r>
          </a:p>
          <a:p xmlns:a="http://schemas.openxmlformats.org/drawingml/2006/main">
            <a:r>
              <a:t>全80候補を評価した結果、retrieval rank 6の4b8432de81 + center_crop(0.85)がL_match最小。</a:t>
            </a:r>
          </a:p>
          <a:p xmlns:a="http://schemas.openxmlformats.org/drawingml/2006/main">
            <a:r>
              <a:t>この結果はtop-1 retrievalを採用すべきでない可能性を示すが、seed数8の診断に限定される。大規模候補集合での効率評価は未実施。</a:t>
            </a:r>
          </a:p>
          <a:p xmlns:a="http://schemas.openxmlformats.org/drawingml/2006/main">
            <a:r>
              <a:t>Source: artifacts/runs/fedpact_nexar_example/run_20260913_balanced_order101_risk_fullgrid/server/layer2_trace.json; 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各候補は同じseed動画の全8フレームへ同一変換を適用している。ここでは説明用に最終フレームを表示。</a:t>
            </a:r>
          </a:p>
          <a:p xmlns:a="http://schemas.openxmlformats.org/drawingml/2006/main">
            <a:r>
              <a:t>選択基準はλ_post=λ_delta=1のL_matchのみ。proxy側のdeltaはp_G^{t+1}(x_tilde)-p_G^t(x_tilde)であり、client側のq^{post}-q^{pre}とは記号を分ける。</a:t>
            </a:r>
          </a:p>
          <a:p xmlns:a="http://schemas.openxmlformats.org/drawingml/2006/main">
            <a:r>
              <a:t>seed逸脱、自然性、時間一貫性、多様性のL_regとQinvは未導入。</a:t>
            </a:r>
          </a:p>
          <a:p xmlns:a="http://schemas.openxmlformats.org/drawingml/2006/main">
            <a:r>
              <a:t>したがってcenter crop 0.85は、定義した数値目的に最も近い候補であって、意味的妥当性が保証された代理画像ではない。</a:t>
            </a:r>
          </a:p>
          <a:p xmlns:a="http://schemas.openxmlformats.org/drawingml/2006/main">
            <a:r>
              <a:t>Source: artifacts/runs/fedpact_nexar_example/run_20260913_balanced_order101_risk_fullgrid/server/transformation_candidates; server/layer2_trace.json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riskとnormalの双方でclass-wise prototypeと数値上の最小proxy候補を生成し、P=(x_tilde, μ_post)として保存した。</a:t>
            </a:r>
          </a:p>
          <a:p xmlns:a="http://schemas.openxmlformats.org/drawingml/2006/main">
            <a:r>
              <a:t>risk側ではnormalラベルseed 4b8432de81が全80候補中のL_match最小。これはL_matchが意味的ラベル整合性を含まないことを示す。</a:t>
            </a:r>
          </a:p>
          <a:p xmlns:a="http://schemas.openxmlformats.org/drawingml/2006/main">
            <a:r>
              <a:t>ここから、same-class retrieval制約やL_reg / quality screeningを今後検討する根拠が得られた。ただし具体方式は未確定。</a:t>
            </a:r>
          </a:p>
          <a:p xmlns:a="http://schemas.openxmlformats.org/drawingml/2006/main">
            <a:r>
              <a:t>Source: run_20260913_balanced_order101_risk_fullgrid/server/proxy_pair.json; run_20260913_balanced_order101_normal_fullgrid/server/proxy_pair.json;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結論を実装上と研究上に分ける。Layer 2の処理経路は通ったが、有用な知識転移を示してはいない。</a:t>
            </a:r>
          </a:p>
          <a:p xmlns:a="http://schemas.openxmlformats.org/drawingml/2006/main">
            <a:r>
              <a:t>最初に更新parameter、classification headの状態、各parameterの更新量、全runのq_pre一致を監査する。</a:t>
            </a:r>
          </a:p>
          <a:p xmlns:a="http://schemas.openxmlformats.org/drawingml/2006/main">
            <a:r>
              <a:t>その後、optimizer step数と総sample exposureを記録しながら層化mini-batchとgradient accumulationをscreeningする。multiple epochを先に増やさない。</a:t>
            </a:r>
          </a:p>
          <a:p xmlns:a="http://schemas.openxmlformats.org/drawingml/2006/main">
            <a:r>
              <a:t>複数学習順で安定性を確認し、安定してから2-clientとLayer 3へ進む。</a:t>
            </a:r>
          </a:p>
          <a:p xmlns:a="http://schemas.openxmlformats.org/drawingml/2006/main">
            <a:r>
              <a:t>Source: docs/fedpact_nexar_concrete_case_20260913.md; notes/advisor/sources/raw/2026-09-01/FedPACT実験計画260901.pdf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3635a5f46c4a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937bdbea3b438e" /><Relationship Type="http://schemas.openxmlformats.org/officeDocument/2006/relationships/slideLayout" Target="/ppt/slideLayouts/slideLayout1.xml" Id="R45d17c62038340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d17c62038340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6c5f6a2d447db" /><Relationship Type="http://schemas.openxmlformats.org/officeDocument/2006/relationships/image" Target="/ppt/media/image.jpeg" Id="R88ccd1d8b4c5470f" /><Relationship Type="http://schemas.openxmlformats.org/officeDocument/2006/relationships/notesSlide" Target="/ppt/notesSlides/notesSlide1.xml" Id="R9d1f9e46bfdb46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242fb3329426e" /><Relationship Type="http://schemas.openxmlformats.org/officeDocument/2006/relationships/image" Target="/ppt/media/image2.jpeg" Id="Rcd971dfea1914b95" /><Relationship Type="http://schemas.openxmlformats.org/officeDocument/2006/relationships/image" Target="/ppt/media/image3.jpeg" Id="R2d3c9dfb580f4476" /><Relationship Type="http://schemas.openxmlformats.org/officeDocument/2006/relationships/image" Target="/ppt/media/image4.jpeg" Id="R5f035d145425472e" /><Relationship Type="http://schemas.openxmlformats.org/officeDocument/2006/relationships/image" Target="/ppt/media/image5.jpeg" Id="Rb1e880fad13042f5" /><Relationship Type="http://schemas.openxmlformats.org/officeDocument/2006/relationships/image" Target="/ppt/media/image6.jpeg" Id="R747bc471ea1c4b7a" /><Relationship Type="http://schemas.openxmlformats.org/officeDocument/2006/relationships/image" Target="/ppt/media/image7.jpeg" Id="R3f2125a0c10840dd" /><Relationship Type="http://schemas.openxmlformats.org/officeDocument/2006/relationships/image" Target="/ppt/media/image8.jpeg" Id="R285426a3ea914a7d" /><Relationship Type="http://schemas.openxmlformats.org/officeDocument/2006/relationships/image" Target="/ppt/media/image9.jpeg" Id="Rad59182df0444c3d" /><Relationship Type="http://schemas.openxmlformats.org/officeDocument/2006/relationships/notesSlide" Target="/ppt/notesSlides/notesSlide2.xml" Id="Re17213be889b4f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8587ca3624570" /><Relationship Type="http://schemas.openxmlformats.org/officeDocument/2006/relationships/image" Target="/ppt/media/image10.jpeg" Id="R0154ef12cd2f4c98" /><Relationship Type="http://schemas.openxmlformats.org/officeDocument/2006/relationships/image" Target="/ppt/media/image11.jpeg" Id="R749e8dd71de34403" /><Relationship Type="http://schemas.openxmlformats.org/officeDocument/2006/relationships/image" Target="/ppt/media/image12.jpeg" Id="R95f7aa8459bc425a" /><Relationship Type="http://schemas.openxmlformats.org/officeDocument/2006/relationships/image" Target="/ppt/media/image13.jpeg" Id="Rf1750158cf2541e5" /><Relationship Type="http://schemas.openxmlformats.org/officeDocument/2006/relationships/image" Target="/ppt/media/image14.jpeg" Id="R16ec59b661294c08" /><Relationship Type="http://schemas.openxmlformats.org/officeDocument/2006/relationships/image" Target="/ppt/media/image15.jpeg" Id="Re92ea85a5af640ff" /><Relationship Type="http://schemas.openxmlformats.org/officeDocument/2006/relationships/image" Target="/ppt/media/image16.jpeg" Id="Rfb8112c47133490b" /><Relationship Type="http://schemas.openxmlformats.org/officeDocument/2006/relationships/image" Target="/ppt/media/image17.jpeg" Id="Rce91fac5db32466b" /><Relationship Type="http://schemas.openxmlformats.org/officeDocument/2006/relationships/image" Target="/ppt/media/image18.jpeg" Id="Rd97ed14d55504f98" /><Relationship Type="http://schemas.openxmlformats.org/officeDocument/2006/relationships/image" Target="/ppt/media/image19.jpeg" Id="R531562464df44401" /><Relationship Type="http://schemas.openxmlformats.org/officeDocument/2006/relationships/image" Target="/ppt/media/image20.jpeg" Id="Rd5d55aaf06534878" /><Relationship Type="http://schemas.openxmlformats.org/officeDocument/2006/relationships/image" Target="/ppt/media/image21.jpeg" Id="Rba51e91f171543b1" /><Relationship Type="http://schemas.openxmlformats.org/officeDocument/2006/relationships/notesSlide" Target="/ppt/notesSlides/notesSlide3.xml" Id="Rc565181489c24b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d4d87af5d46c9" /><Relationship Type="http://schemas.openxmlformats.org/officeDocument/2006/relationships/notesSlide" Target="/ppt/notesSlides/notesSlide4.xml" Id="Rb648bfedc52a4e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4525691fe4054" /><Relationship Type="http://schemas.openxmlformats.org/officeDocument/2006/relationships/notesSlide" Target="/ppt/notesSlides/notesSlide5.xml" Id="R60ff3a15e41944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e5d038cdd4f61" /><Relationship Type="http://schemas.openxmlformats.org/officeDocument/2006/relationships/image" Target="/ppt/media/image22.jpeg" Id="R8baf738ff3bc4684" /><Relationship Type="http://schemas.openxmlformats.org/officeDocument/2006/relationships/image" Target="/ppt/media/image23.jpeg" Id="Rba2ce7b5b0764f6c" /><Relationship Type="http://schemas.openxmlformats.org/officeDocument/2006/relationships/image" Target="/ppt/media/image24.jpeg" Id="R9f375a5f75014903" /><Relationship Type="http://schemas.openxmlformats.org/officeDocument/2006/relationships/notesSlide" Target="/ppt/notesSlides/notesSlide6.xml" Id="Rf0afbfda663a4e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d24806f1f4f99" /><Relationship Type="http://schemas.openxmlformats.org/officeDocument/2006/relationships/image" Target="/ppt/media/image25.jpeg" Id="Rde152b6061fe484f" /><Relationship Type="http://schemas.openxmlformats.org/officeDocument/2006/relationships/image" Target="/ppt/media/image26.jpeg" Id="R5a6590600a7742c2" /><Relationship Type="http://schemas.openxmlformats.org/officeDocument/2006/relationships/image" Target="/ppt/media/image27.jpeg" Id="R32a6b7af039d4f6a" /><Relationship Type="http://schemas.openxmlformats.org/officeDocument/2006/relationships/image" Target="/ppt/media/image28.jpeg" Id="R391e7e318e404028" /><Relationship Type="http://schemas.openxmlformats.org/officeDocument/2006/relationships/notesSlide" Target="/ppt/notesSlides/notesSlide7.xml" Id="Rb622ba5603b743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ebac7730d4e02" /><Relationship Type="http://schemas.openxmlformats.org/officeDocument/2006/relationships/image" Target="/ppt/media/image.png" Id="R84c2f60481574174" /><Relationship Type="http://schemas.openxmlformats.org/officeDocument/2006/relationships/image" Target="/ppt/media/image2.png" Id="Ra7a86cab7a8443ec" /><Relationship Type="http://schemas.openxmlformats.org/officeDocument/2006/relationships/image" Target="/ppt/media/image3.png" Id="R0b616d9e26014a52" /><Relationship Type="http://schemas.openxmlformats.org/officeDocument/2006/relationships/image" Target="/ppt/media/image4.png" Id="Rcd02d359753d4296" /><Relationship Type="http://schemas.openxmlformats.org/officeDocument/2006/relationships/image" Target="/ppt/media/image5.png" Id="R4904fcf197f04c06" /><Relationship Type="http://schemas.openxmlformats.org/officeDocument/2006/relationships/notesSlide" Target="/ppt/notesSlides/notesSlide8.xml" Id="Rf92f86d9354d49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1fc4c79fb4cc1" /><Relationship Type="http://schemas.openxmlformats.org/officeDocument/2006/relationships/image" Target="/ppt/media/image6.png" Id="R01f9c818557543f7" /><Relationship Type="http://schemas.openxmlformats.org/officeDocument/2006/relationships/image" Target="/ppt/media/image7.png" Id="Rce1e496ae9cc4c8b" /><Relationship Type="http://schemas.openxmlformats.org/officeDocument/2006/relationships/image" Target="/ppt/media/image8.png" Id="R52ac45f16f1643dd" /><Relationship Type="http://schemas.openxmlformats.org/officeDocument/2006/relationships/image" Target="/ppt/media/image9.png" Id="Re2fc399bdba14ab7" /><Relationship Type="http://schemas.openxmlformats.org/officeDocument/2006/relationships/image" Target="/ppt/media/image10.png" Id="R58b713b7c405400f" /><Relationship Type="http://schemas.openxmlformats.org/officeDocument/2006/relationships/image" Target="/ppt/media/image11.png" Id="Rd66741d928c5439f" /><Relationship Type="http://schemas.openxmlformats.org/officeDocument/2006/relationships/notesSlide" Target="/ppt/notesSlides/notesSlide9.xml" Id="R51e3b1519c244b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87ee5604147f5" /><Relationship Type="http://schemas.openxmlformats.org/officeDocument/2006/relationships/notesSlide" Target="/ppt/notesSlides/notesSlide10.xml" Id="R28045ae9a06447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cd1d8b4c5470f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2B80-703F-483B-AD15-CD18BE01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0">
            <a:solidFill>
              <a:srgbClr val="1230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46BC7-3BA5-4DAD-A155-6211B15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0"/>
            <a:ext cx="533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7A"/>
          </a:solidFill>
          <a:ln xmlns:a="http://schemas.openxmlformats.org/drawingml/2006/main" w="0">
            <a:solidFill>
              <a:srgbClr val="168A7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C674B-9AC4-4D83-BC70-51308F2C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84D2C5"/>
                </a:solidFill>
                <a:latin typeface="BIZ UDPGothic"/>
                <a:ea typeface="BIZ UDPGothic"/>
                <a:cs typeface="BIZ UDPGothic"/>
              </a:rPr>
              <a:t>FedPACT / NEXAR concrete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048C2-6F56-4AB5-B892-624D500E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192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Layer 2 動作確認と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局所更新の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352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順序依存性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E2077-8C63-447D-B5F1-618BBFCC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実動画の反応変化から、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代理データ候補へ至る過程を追う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1C7E8-00C4-4A0A-A016-BD974DF3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A9BCC9"/>
                </a:solidFill>
                <a:latin typeface="BIZ UDPGothic"/>
                <a:ea typeface="BIZ UDPGothic"/>
                <a:cs typeface="BIZ UDPGothic"/>
              </a:rPr>
              <a:t>研究会説明用・診断実験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8F872-E8AE-4965-8C97-4C00898D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DCE7EE"/>
                </a:solidFill>
                <a:latin typeface="BIZ UDPGothic"/>
                <a:ea typeface="BIZ UDPGothic"/>
                <a:cs typeface="BIZ UDPGothic"/>
              </a:rPr>
              <a:t>YOSHIMURA Aoi   2026.09.13</a:t>
            </a:r>
          </a:p>
        </p:txBody>
      </p:sp>
    </p:spTree>
    <p:extLst>
      <p:ext uri="{BB962C8B-B14F-4D97-AF65-F5344CB8AC3E}">
        <p14:creationId xmlns:p14="http://schemas.microsoft.com/office/powerpoint/2010/main" val="555608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6A8181-6ECD-4AE4-8F81-51CEFB93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同じ局所学習で、risk動画もnormal動画もrisk確率が下がった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5AF44-4617-4180-95F5-630A6F85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452DE-B34F-4764-8832-A2EF1E3D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80841-42A9-4A17-9106-D4D91ED3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held-out 6本のうちrisk／normal各1本を例示。映像内容の違いより、共通方向の出力移動が目立つ。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2EF01-8D63-479D-8575-99165C6E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risk動画 / held-out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71dfea1914b95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c9dfb580f4476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547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35d145425472e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880fad13042f5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B8805-C492-462B-93B9-B743716B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76AAE-AD25-4774-828F-1B572805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141600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B4408-EFCA-4DC4-B617-C712A336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07" y="3600450"/>
            <a:ext cx="372749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EF228-498D-42C4-A6BE-8F6F877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0.275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C9953-7102-4963-9BBF-89D00FF7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0.725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836BD-50CE-40F3-A053-28E03BEC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13A65-EF95-4A2D-AFFC-5CD89B0B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0B7BB-DE48-4047-A5D3-1003534D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99145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18276-AC4E-4077-8A0D-7037A21C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55" y="4352925"/>
            <a:ext cx="315204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9A823-31E1-4134-8233-299A5D0D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0.387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1AD02-6A82-41B7-BBF4-591F57BF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0.613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ED431-F337-4588-A626-CAFF778B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E978F-3101-40A2-A85C-4F5A1BE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70290-5499-47FE-BEC4-C9D3FDE8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normal動画 / held-out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7bc471ea1c4b7a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125a0c10840dd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77125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5426a3ea914a7d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0" y="1981200"/>
            <a:ext cx="1219200" cy="1066800"/>
          </a:xfrm>
          <a:prstGeom xmlns:a="http://schemas.openxmlformats.org/drawingml/2006/main" prst="rect">
            <a:avLst/>
          </a:prstGeom>
        </p:spPr>
      </p:pic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9182df0444c3d"/>
          <a:srcRect xmlns:a="http://schemas.openxmlformats.org/drawingml/2006/main" l="17857" t="0" r="17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8875" y="1981200"/>
            <a:ext cx="1219200" cy="10668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5081A-2E3A-4618-B57F-9AAD8C3D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679AA4-D28A-4B3D-BC6D-1D3C8CDB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3754954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3343CF-3EEF-482E-9C32-2A69A579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204" y="3600450"/>
            <a:ext cx="1388546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9D6878-5C34-44EA-9DD8-A6A0FB1C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0.730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1962D4-AA99-4031-B638-F5A8AB10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0.270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F70ECD-477E-4962-AB13-9090CA0E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70CD7C-23F2-4426-850A-CFFD7B5C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514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F"/>
          </a:solidFill>
          <a:ln xmlns:a="http://schemas.openxmlformats.org/drawingml/2006/main" w="0">
            <a:solidFill>
              <a:srgbClr val="E7EC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322C36-90C6-44D4-966A-C1766488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52925"/>
            <a:ext cx="4340983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2AD025-4F17-4B91-BF85-0ED36D0A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2233" y="4352925"/>
            <a:ext cx="802517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0">
            <a:solidFill>
              <a:srgbClr val="D95D4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088778-E139-4F2C-81D6-5B15AB7C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0.844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DA3719-7F30-4092-8F4C-2B1BE72E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0.156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D90E0F-8B12-4214-8530-74B83C11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338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局所学習後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C09A42-9281-44D1-813A-50E3E1E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= -0.114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F4CCA0-A149-45B3-9A29-C6E36E88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725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64E5D4-811E-4B55-AE78-12C11BF6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0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725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この時点で「risk知識を学べた」とは言えない。まず局所更新の健全性を診断する必要がある。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8FC4C7-E115-4143-B49C-C3752E73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held-out examples / order seed 101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F5A31D-3086-4B07-B872-BD25A4EC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5503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746147-9D37-46F4-8CE8-1ADB8FA9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固定したデータ分割と、今回動かした範囲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A127E-7A82-4C4F-9A81-1F58DBB3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4B542-D5DF-46AE-8627-927A446B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9AA86-5653-40D6-8499-393921E9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4572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ECD95-CBD5-43EC-829B-1D9515F3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3448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CLIENT PRIVATE 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3A116-3DF8-4F06-A7D3-64DB09AC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B0B67-CD0C-443B-AACA-D263F0BA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954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5EFF8"/>
          </a:solidFill>
          <a:ln xmlns:a="http://schemas.openxmlformats.org/drawingml/2006/main" w="11430">
            <a:solidFill>
              <a:srgbClr val="2F6F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FA236-9A68-4754-8656-EEB11151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668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CLIENT HELD-OUT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ADA88-4352-44FB-BDCA-683574C9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6本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B1F3F-01E4-4928-A8E1-8C26F1B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9540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11430">
            <a:solidFill>
              <a:srgbClr val="D28B2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EB6C4-D796-431D-9B94-8A289622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SERVER 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72F17-7BFB-4656-A304-45B1BBBF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428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defRPr>
            </a:pPr>
            <a:r>
              <a:rPr sz="2100" b="1">
                <a:solidFill>
                  <a:srgbClr val="D28B23"/>
                </a:solidFill>
                <a:latin typeface="BIZ UDPGothic"/>
                <a:ea typeface="BIZ UDPGothic"/>
                <a:cs typeface="BIZ UDPGothic"/>
              </a:rPr>
              <a:t>8本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4ef12cd2f4c98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e8dd71de34403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7aa8459bc425a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50158cf2541e5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275" y="339090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c59b661294c08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2000250"/>
            <a:ext cx="1314450" cy="95250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ea85a5af640ff"/>
          <a:srcRect xmlns:a="http://schemas.openxmlformats.org/drawingml/2006/main" l="11188" t="0" r="11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3390900"/>
            <a:ext cx="1314450" cy="952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FC19B-1C35-4E99-8914-1ACE20AB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×3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221F0-4F96-4B2B-BB8E-60530913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×3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112c47133490b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095500"/>
            <a:ext cx="1047750" cy="857250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91fac5db32466b"/>
          <a:srcRect xmlns:a="http://schemas.openxmlformats.org/drawingml/2006/main" l="15625" t="0" r="15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1800" y="2095500"/>
            <a:ext cx="1047750" cy="8572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14F07-F71A-41CB-90F4-FC6F676D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×3 / normal ×3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学習・prototype・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server検索に未使用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ed14d55504f98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562464df44401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20383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55aaf06534878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9625" y="3257550"/>
            <a:ext cx="1352550" cy="99060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1e91f171543b1"/>
          <a:srcRect xmlns:a="http://schemas.openxmlformats.org/drawingml/2006/main" l="11599" t="0" r="115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6475" y="3257550"/>
            <a:ext cx="1352550" cy="990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3BAFAE-B5DA-4EA3-AA1D-24E4BB6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×4 / normal ×4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clientへ配布しないcloud-only pool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C52F35-4044-4F63-BC98-04B11394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79C2D2-6C5D-4995-9438-B1C9D154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Qwen2.5-VL-3B / fixed checkpoint  |  split seed 42  |  LoRA + classification head更新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3D3AA3-8E74-44B4-BC95-86B9F130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Step I-A → I-B  |  q・μᵖᵒˢᵗ = softmax確率、Δq・Δμ = その差  |  λ_post = λ_Δ =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7AA04F-3E82-4B68-BA78-2D15BE29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固定split・ID重複なし・private raw data非送信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156302-8045-418E-9A1C-A3D5D571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85243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F02C86D-0132-4B48-BF7B-E17B58A9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101では、12本すべてがnormal側へ移動した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44E38-4205-4840-AEDE-6A72A708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E0871-F476-42DD-ACF1-C5BB5154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3ABAC-0176-428D-B929-DA11DDC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private train 6本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49968-F524-4551-B1EB-1DAD13FE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FC2DE-2555-4ACE-AFF3-B61ED779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14E3C-4162-40DF-8C43-64DD04DD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2F07F-58D9-4DF5-BCBF-33F517EE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22AE9-57F3-46BB-90E6-96975F61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23EA2-E675-4B3F-8274-C889CB46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03FB1-6BC0-4E95-9312-09AD61D8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CEB1A-A3E8-43A9-8E70-CC382CBB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A7122-B516-4697-AA64-48C14A5C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7D94B-D1ED-4E7E-9565-9B05E670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74678"/>
            <a:ext cx="3409950" cy="584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58271-CD48-4980-8F0C-81B6F261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2705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1773F-74AF-4635-8523-BB24651B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4855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113B1-3A1A-4B4E-AB23-82C13FAF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70447"/>
            <a:ext cx="3409950" cy="3861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95E78-FA75-4E67-AF9D-A1943335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228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2B2BE-D114-4010-AF2E-5D1F2FFC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089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28DF5-BD2B-4C33-B273-DD6D5CA1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89211"/>
            <a:ext cx="3409950" cy="3711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C433E-BCA9-4DCF-9E8C-7C3F8B52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415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58F9CB-8275-46B7-BB00-90844359E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127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93645-6DAF-4AF4-B4B0-5168A3CA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27825"/>
            <a:ext cx="3409950" cy="30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BE7C32-F768-4462-8D25-992D272A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480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5C125-2493-4CF6-A8F7-5807F80C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7834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BB2CA6-5A97-4465-BF34-9177C957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0635"/>
            <a:ext cx="3409950" cy="436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47EB8C-6644-47F5-A96C-79CF0948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730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E3DC4F-432B-49B2-BB5F-104292D0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00968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8BC6AB-400D-4EB7-AE3D-E246215A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35232"/>
            <a:ext cx="3409950" cy="69498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018AA-AA5A-4EED-942D-A9B656F8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8876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0B48C-E799-4728-80F8-26D7F3B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259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D4F0E2-8277-47EE-A851-5DC6E9F0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285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6本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79A520-5A04-4238-AFD9-83D5D55B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006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E1E36E-B14F-4789-99B9-227C2A17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053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3E1EB0-AA44-4AC8-A6BD-E49F51B3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623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461632-3643-43C6-9881-998B0F2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670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0.5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03D93D-945A-4E3E-A56F-D377A6F2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24025"/>
            <a:ext cx="414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C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A6A01B-00E5-4725-878E-4E4C32C4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1.0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129F73-DCB3-47AB-8C14-CA25E37A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382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q(risk)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699A50-720E-41D3-B0CE-C7494533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qᵖʳᵉ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26A4E-9037-4A83-809B-71B11E6E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33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qᵖᵒˢᵗ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3FC095-0E1A-441F-9D43-BBD8A323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6074"/>
            <a:ext cx="3409950" cy="36658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7DFEA5-A866-4C5F-8162-66ED40DE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784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7ED36E-9308-4FBB-976F-7FAFCF62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9450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66FC81-6D3B-4D4B-A948-D582F6BE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6070"/>
            <a:ext cx="3409950" cy="37332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379527-4B5C-4D3A-8A6A-5998E134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06844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FCFB0B-F441-4101-BCB7-D974A358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417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0A0BEA-3F31-43BD-AD96-796B4032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67616"/>
            <a:ext cx="3409950" cy="3810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01D3DB-681D-4D92-A57E-EB9AE39E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199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2269E6-3B0D-41C0-9A62-658DCB9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010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B8117C-C172-4547-B8FE-7D81E47B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34049"/>
            <a:ext cx="3409950" cy="241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F6FA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827B93-C56D-4034-85EF-D8043133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864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E20959-0835-4BF8-8A42-14832F51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2800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28E619-FAB0-4D96-B643-DC9B8E5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00608"/>
            <a:ext cx="3409950" cy="5116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7B702B-60F2-4D69-94F0-D84BC0F1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2529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D50BF0-1418-438B-B3CB-C141EFA7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646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C793B2-B25C-41E2-9782-79C6659E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7488"/>
            <a:ext cx="3409950" cy="3964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95D4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DA4BF0-6953-4D30-8B8C-50D08136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698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B43FBBA-2357-4E8C-ACEE-BA564F01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662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D45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A5CFDEB-CD85-4D3A-A4C0-16AB3F5C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896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F06137-317B-4F60-8A91-F9E9A3B8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平均Δq(risk)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BA5A66-45C1-4CD9-905D-A45B1C16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626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normal −0.139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train risk −0.090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8C8A22-84B8-4E98-9236-DA207205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62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normal −0.101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held-out risk −0.130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F480EBF-7911-4C14-A619-0E04F275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23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label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481A8F0-1904-4E79-84D1-7BF9CAEB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239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label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188241-74BD-4115-BFE1-E4CFCFC8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赤=risk label　青=normal label　縦軸=q(risk)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F92B59-93C2-4B78-9972-4F237FE4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235006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2273D42-B395-40BC-B145-A1FA52A4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学習順だけでΔqの符号が反転した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9A1E6-A741-456A-8DB7-9E05A1A9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DA631-377A-4F8F-ADE2-C4A5A3D6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3E100-2431-497E-AE62-92023A7D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08A59-31C8-4351-B674-98C1D824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平均q(risk)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42483-D050-40BF-A347-8F299D04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811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56831-3EC1-4C9F-880E-64EDCD76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382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EAA5F-C586-41BB-B3C8-69DD2221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0E6D6-90A6-4F84-9E0A-4046C610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101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44B81F-0916-483B-A70B-AFADD4AD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19880-620D-4C9B-A040-72A28786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31CD6-AA57-4819-876D-D840C143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811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E484A-4B51-4508-A9A0-48D160B3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382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order 303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3C00A-3D30-45A1-AF51-22A581A1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3811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CA0AB-35C4-41B4-BD81-52374FB7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4382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66E4C-6A77-4F1B-8F75-EF8F6890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EDA5B-F60E-4CB4-AFAE-5F5D9038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normal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DD4C2-4958-42C2-9A4B-38964A9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ABC19-980A-4F0A-A15C-90561DA4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6215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EE257-368E-4412-898D-58030AA6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AE1E83-7E6C-488F-990F-BB784DF6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(-0.139)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D556D-EA82-4CFA-8EC2-5FDA3FD4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ED81E2-0B4C-4193-B59F-AFFC4B1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0.403 (+0.062)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8B294-4C28-4D7F-A747-345EC714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122C37-B486-45D9-8F65-80B01F29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0.150 (-0.191)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4282DE-E82D-4C61-B264-5F5E8A22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71FAF-87C5-4963-B3FD-B48E25DF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621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0.300 (-0.041)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6C4B4-A11C-4C05-B66D-ECBB1C32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33AED5-C273-4EB3-B298-CCEDE0A9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82B09-C375-4198-B177-C29B5C2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2887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A8CA38-C75E-4235-ADDE-5CE9FF59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8602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0.685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828478-BD7C-4EAB-86B8-DD551FE6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A70757-0FEA-4897-B392-91724C8E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 (-0.090)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447E62-78CC-41FD-9352-B961D37A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D2F372-E602-4562-BA2D-E897365F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0.845 (+0.160)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A68ADB-08E6-4FF2-8BFA-07C69AAF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288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6DA55D-BA9A-46EA-8805-7CC2D8A0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8602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0.491 (-0.194)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4A289E-2870-4AF7-95DA-BD5C52A9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2887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E534D3-462B-48AC-8A96-F879BAD8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860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0.698 (+0.013)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3A1E7C-9A50-4FDD-9A62-1F893866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807993-03AB-4C02-A860-CA0B9E58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normal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81DBCC-0952-4EDC-BE37-ACBC73E0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318B8C-DEF0-4E2E-9EDD-543223E4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6D7867-8641-43A1-9326-E4680D82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BBA2AC-5788-4A0C-A079-C942DCCC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0.121 (-0.101)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B22269-5662-448B-A1C1-6A9C5769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178F5A-BA5E-4786-A259-FC40D11C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0.297 (+0.075)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FCB065-1516-43E1-BAB8-D3913811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8E7AC3-EA80-48B2-923B-ACB126B1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0.080 (-0.143)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DA2625-A675-4550-954B-DEFB7703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2F2D50-DD01-4B37-B4B6-9ED303C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099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0.201 (-0.021)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65D56A-0941-4272-9A4D-682CEDC0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9F73C7-75E6-4B98-9E2E-AEE306D6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695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 risk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20BFEB-802A-4C2F-821A-AC33645F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76625"/>
            <a:ext cx="1047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691CF2-0FD9-4C0F-A016-92F67E7A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33775"/>
            <a:ext cx="93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0.596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E596D9-0D22-48DA-B344-0D98B11A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E49AB9-86DF-407E-B261-4E82995E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0.466 (-0.130)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999609-D907-45EA-B268-29978253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8CD3FD-44FC-44A2-A766-C2CBE35E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0.707 (+0.111)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A25154-2425-493B-8EDB-8474A81A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7662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A8A6D7-4B5C-432E-A258-4314F646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0.350 (-0.246)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35ED202-A581-44B9-8429-4636D976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21145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2604CB-B042-4F27-A03B-5F9B197F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7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0.576 (-0.020)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2D53F0D-8C39-4EFA-9B41-03B1978A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class間差 = mean q(risk | risk) − mean q(risk | normal)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94A06C7-6623-4B38-B5D7-AC620E6D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AAA30B-9D83-474C-B40C-8E95B66E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class間差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A1DF0C-28F8-4AD5-861C-8E09CCC6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720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5591B1-B955-4BD4-856D-34EC1B09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291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pre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ED1FCA-9EE9-49AC-9516-608D46B8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327274-418E-46DD-87D9-E4531387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101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C43A4D5-6848-4507-BD94-8A4A4EDE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59BA2B-A5A5-48E2-9F6D-E92B3FF7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202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96A1423-BFC3-4BA6-97E4-BB656619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720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F7DA9C-587C-41C7-AF24-8F103BDF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291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303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5029654-5506-4A18-9BBD-FDBC33D6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720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5D214E-ECB4-4E8A-9333-5B686AF0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291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full-batch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9DCA428-2896-4BB3-A9BB-C333E7D7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7EB0CAB-C9EA-44EE-9CBC-1148F193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train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30A405-BCEA-48FD-BDF1-C46389CF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9720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D8D8CB9-D7E9-417E-8C01-0961398C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EEA642B-B8AD-4215-A1E3-A7895235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C9F27CD-ADA0-4508-9D29-FBE8AE14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0.394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B72B888-EC21-4A96-91F4-CE999077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2C41545-18E1-4788-8E4F-93F8278A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0.442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CC37048-8F10-439B-BA11-B603C379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58BE398-0C73-4923-8568-7A1F7DF8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29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E94D3A8-5F7C-43A8-B193-489C408D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45C24D-F6EC-40A1-9E5B-7E3BE0F5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2920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0.398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A6749DE-DEAE-4934-A047-61A0A0E3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3AD65C-FBAB-49FF-9850-3D665231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held-out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24BA928-23CC-4315-A24E-E3AF4244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721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213243E-6070-4B55-8E07-8CD7EB1C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95F2E1C-CA2B-4BC6-9BE0-E30EBC08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D150564-A2EA-48F9-84C4-445ACD62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0.345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D1D877-BE1D-48DC-8CBA-AA0E2DF6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9A910DA-B1DB-47EA-AF12-D5A8B7A2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0.409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ED215DE-9661-491E-A8D5-CD6BC2D3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721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1205A14-F06B-432D-B61A-3B8C7F0C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2925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0.271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7C0AE07-542A-4028-A907-C01E5449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72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80F8696-F883-4ACC-8BCD-EBEA9678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29250"/>
            <a:ext cx="121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0.375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5AB0E81-45BC-4C95-97F1-C6F9BE16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28765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0A21149-263B-440A-8F8A-CED8CBE0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005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診断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6337834-0F90-44FE-BF71-4A3DC819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95850"/>
            <a:ext cx="2457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batch 1：順序で符号反転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6本同時：shift縮小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原因は未分離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600D1A1-47FB-4068-8279-1F682B77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同じsplit・checkpoint・sample exposure=6 / class間差は非丸め値から算出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FE1B453-9C8D-44EE-AA9A-485EDCE3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5185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36F13B-4EB7-44C5-A873-A7795C44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3本の反応を平均し、送信prototypeを作る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AE2CA-8BF5-4D7D-8BB0-C91ABEC7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66D60-6E69-405F-AB0E-7633B41C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f738ff3bc4684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A91A7-E7D0-4E51-BF5A-703AA4AB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d626422e71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BFB8C-F5E2-4A2A-AEE2-E0DE82A5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0.771 → 0.753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E56AA-D09B-4A4F-B41F-1AD5E416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-0.018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ce7b5b0764f6c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135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60F52-60DA-4C4A-B981-CDFC923C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95c3bf1ba2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CFDEB-8A17-4411-824A-8B756611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0.559 → 0.441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41A8C-8267-4DF0-981C-B6889AE9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-0.118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75a5f75014903"/>
          <a:srcRect xmlns:a="http://schemas.openxmlformats.org/drawingml/2006/main" l="4250" t="0" r="4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53100" y="1428750"/>
            <a:ext cx="23241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C93FF-4DDB-4C62-8511-A1F1F3D0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2324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06e20a0fd0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87D6A-575E-4A16-86A9-9FE4872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0.726 → 0.593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1C7E4-9811-4916-A7CD-BD840F64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19500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Δq(risk) -0.133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5D708-E717-45D6-BD57-00C92FC5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71600"/>
            <a:ext cx="3086100" cy="27432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22FA8-CFEF-4512-A687-77487DAB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81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risk prototype / order 101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D46AC-8525-4581-80B5-4858A34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145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μᵖᵒˢᵗₖ,ᵣ = [0.404, 0.596]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F2074-AC2D-4FF6-B7A0-EEFA884D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Δμₖ,ᵣ = [+0.090, −0.090]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43D118-2369-4440-862F-8EBB8A1B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8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πₖ,ᵣ =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72B0A1-14B0-4A82-B9FD-50E24FDC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57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πは平均に寄与したrisk動画数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547D2-EB9A-4077-8015-7E73252F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744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FE937-C9BF-497C-92CF-1EFC5CA2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1032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6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注意：risk prototypeでもrisk確率は平均0.090低下。Layer 2は、この局所挙動の有用性までは保証しない。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ED976-F3C3-4F86-929F-5D79C063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normal側も送信： μᵖᵒˢᵗ=[0.799, 0.201]　Δμ=[+0.139, -0.139]　π=3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A3F4B5-E8E3-4404-81F6-48D2A44A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今回の送信：trainable update（client LoRA + classification head）+ μᵖᵒˢᵗ + Δμ + π + class count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非送信：raw video・frame・sample ID・独立したμᵖʳᵉ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04EEF-0E11-46E2-A64B-F2732887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成分順：[normal, risk] / q・μᵖᵒˢᵗはsoftmax確率、Δq・Δμはその差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97927-3704-4B51-AE17-915F3586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70455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B766B2-6A2B-41E9-847A-5803655A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μᵖᵒˢᵗの検索1位は、L_matchの全体最小ではなかった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4BC26-7BAA-4533-9426-2571A090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40F47-A759-47E0-8476-AAAC0043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5CF21-C704-43BC-95B8-30A0D857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検索距離：Dₖₗ( μᵖᵒˢᵗₖ,ᵣ  ||  p_Gᵗ⁺¹(s) )　— seed画像そのものではなく、連合集約後モデルの反応を比較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1792F-800C-43EA-84A2-F38B786E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52b6061fe484f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39B54-0312-4C28-8A04-65A4A83C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E410E-AFAA-455A-91D2-84AB8019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0.000789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B6D56-EBEC-4308-8507-62188F52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7A80D-6637-4786-90C3-99A47107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0.000697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CD313-940F-4CD0-80C7-AE923BCF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590600a7742c2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480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8AA32-8DF8-495F-8408-D6E6EA3F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CA6F7-2DC5-4005-A2C0-8A617953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0.006646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4C032-E284-46E2-8A68-72B82FD4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 1.1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1142B-D372-4CC2-AC0E-63A6C5D0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0.000774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4311F-63B9-44C6-9A72-91ECB6BB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6b7af039d4f6a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8C55-D3E7-406B-9F1E-15A0F3DB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retrieval rank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CACF9-53D4-4326-A9D9-AA18253E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0.009779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72A550-B68C-45D1-B8DB-8C91E84E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2B611-0397-46B5-BE51-E226374F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0.005256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26654-6283-456C-8A6D-036FFF43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76400"/>
            <a:ext cx="2476500" cy="32766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e7e318e404028"/>
          <a:srcRect xmlns:a="http://schemas.openxmlformats.org/drawingml/2006/main" l="5750" t="0" r="57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6350" y="1809750"/>
            <a:ext cx="2247900" cy="1428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6A1F43-A87E-442A-B362-DC684B5C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5280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retrieval rank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B5A91B-EDA1-4DF1-8B18-45430B49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05225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Dₖₗ = 0.061598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231B62-67AD-4C68-829D-524B64BE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best transform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center_crop 0.85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DBE25-C976-43A2-9339-4FD3C173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L_match(min)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0.000279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2325E1-0543-478C-8D6B-60799D0E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6CBB75-3E0D-4923-A06A-6745710D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top-1内の最小 0.000697　→　8×10全探索の最小 0.000279（rank 6 seed）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E47091-DE4B-44FF-80E5-87DFD763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小規模な8 seedだからこそ、top-N比較より先に全探索で見落としを確認できる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E3FEC-D475-4CEB-8499-416F91C7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risk prototype / 8 seed × 10 transformations = 80 candidates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FB8DA1-F9A7-48B9-BC91-9E14CB83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74467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0A9DC2-F3D4-449F-BFE5-D9699BA0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rank 6 seedを変換し、postとdeltaの再現誤差を比較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A49D3-D92D-475F-9CAD-023670B6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8325E-7906-4B3A-9A09-71182278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07E97-F160-419B-9F70-D0FA057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2f60481574174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7E9A7-9EBC-4936-A38A-2C605427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8C131-5794-42B7-9273-22B8D9F6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0.061598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0.000658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 0.062256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24A71-C895-4088-834F-8C77F060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86cab7a8443ec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07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DA647-BD20-4371-B06C-19C9DA96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brightness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E30A5-0DC1-41AA-9DEF-834E1EF1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0.088164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0.001812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 0.089976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CBBD6-32F2-4751-A2B5-7BF0EA8D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16d9e26014a52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E44EF-4342-4105-B9BE-761DEAE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contrast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2860E-7705-4882-AE24-00C50B5F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0.049697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0.003053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 0.052749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0823C-75D8-4065-BA3B-303C24D1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38100">
            <a:solidFill>
              <a:srgbClr val="168A7A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2d359753d4296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53325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0B2EB-B78C-4037-B9CB-561E9A99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center_crop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0.85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C820-EB1C-4D12-919D-C191C5A3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0.000109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0.000169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 0.000279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73C7F-B1FF-4BB2-97EC-C1749D4C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3392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数値上の最小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5DBE5-6698-43A9-8273-BA92E58A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09700"/>
            <a:ext cx="2152650" cy="37147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1D9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4fcf197f04c06"/>
          <a:srcRect xmlns:a="http://schemas.openxmlformats.org/drawingml/2006/main" l="11375" t="0" r="1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6950" y="1524000"/>
            <a:ext cx="1962150" cy="1428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78020-EE0A-4D6B-8E33-1F078766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6705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gaussian_blur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42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23703-16DA-4DB2-859A-0C4BA6BA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7665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 0.039934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delta MSE  0.000833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 0.040767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543DC-7AE7-4429-9591-E0A2ADEE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L_match = KL( μᵖᵒˢᵗₖ,ᵣ || p_Gᵗ⁺¹(x̃ₖ,ᵣ) ) + MSE( Δμₖ,ᵣ , p_Gᵗ⁺¹(x̃ₖ,ᵣ) − p_Gᵗ(x̃ₖ,ᵣ) 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C3DCB7-88C7-455C-8A62-D47A6BE9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163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M_Gᵗ = 連合集約前、M_Gᵗ⁺¹ = 連合集約後（今回は1 clientのため局所学習後surrogateと一致）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E7363C-BA39-45A3-B894-991EF8BC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67400"/>
            <a:ext cx="9791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9525">
            <a:solidFill>
              <a:srgbClr val="D95D4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30F232-C880-416D-A2A3-A7206B37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62650"/>
            <a:ext cx="937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λ_post=λ_Δ=1、L_reg・Qinv未導入。数値最小でも意味的に妥当とはまだ言えない。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E7DFC3-7B53-42A3-A88C-ECD05567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source seed 4b8432de81 / retrieval rank 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D5CCC8-5D86-4C68-8529-436BB38F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6958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0BE923-336C-41DD-B627-A78B5569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risk / normal両prototypeでproxy pairまで生成した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AA84C-6A6E-4DB7-BCC4-7D50C03B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E317B-6535-4574-B283-618A0B3D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65EBC-8DB0-462E-9ADE-8AC19DDE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risk prototype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9c818557543f7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e496ae9cc4c8b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9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c45f16f1643dd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2430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76FBB-F675-416B-8A8E-09AFB342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[0.404, 0.596]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[+0.090, -0.090]　π=3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3CA41-10F9-4AEF-8690-0CD8EFBF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4b8432de81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center_crop(0.85)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0.000109　delta MSE 0.000169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0.000279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DA9BD-2090-4DCE-91B8-60227D7D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normal prototype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c399bdba14ab7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713b7c405400f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6700" y="1695450"/>
            <a:ext cx="1562100" cy="12001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741d928c5439f"/>
          <a:srcRect xmlns:a="http://schemas.openxmlformats.org/drawingml/2006/main" l="13393" t="0" r="133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4050" y="1695450"/>
            <a:ext cx="156210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8383A-F8A8-4EA8-9177-F562DDCB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μᵖᵒˢᵗ = [0.799, 0.201]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Δμ = [+0.139, -0.139]　π=3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9CC55-A596-464B-BD4D-222F82E5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seed 17c2e0d437 / seed label=0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brightness(0.75)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post KL 0.000080　delta MSE 0.000389</a:t>
            </a:r>
          </a:p>
          <a:p xmlns:a="http://schemas.openxmlformats.org/drawingml/2006/main">
            <a:pPr algn="ctr">
              <a:lnSpc>
                <a:spcPct val="114000"/>
              </a:lnSpc>
              <a:buNone/>
              <a:def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0">
                <a:solidFill>
                  <a:srgbClr val="52667A"/>
                </a:solidFill>
                <a:latin typeface="BIZ UDPGothic"/>
                <a:ea typeface="BIZ UDPGothic"/>
                <a:cs typeface="BIZ UDPGothic"/>
              </a:rPr>
              <a:t>L_match 0.000468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43EF3-69CA-4BD2-979F-3DBEDA68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66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CCE"/>
          </a:solidFill>
          <a:ln xmlns:a="http://schemas.openxmlformats.org/drawingml/2006/main" w="9525">
            <a:solidFill>
              <a:srgbClr val="D28B2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21E4F-1162-450A-9955-78E6BA8A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defRPr>
            </a:pPr>
            <a:r>
              <a:rPr sz="1950" b="1">
                <a:solidFill>
                  <a:srgbClr val="7A4A00"/>
                </a:solidFill>
                <a:latin typeface="BIZ UDPGothic"/>
                <a:ea typeface="BIZ UDPGothic"/>
                <a:cs typeface="BIZ UDPGothic"/>
              </a:rPr>
              <a:t>Pₖ,ᵣ = ( x̃ₖ,ᵣ , μᵖᵒˢᵗₖ,ᵣ ) をLayer 3へ渡せる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1E3FA-0F0B-4464-A286-C9997A84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769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defRPr>
            </a:pPr>
            <a:r>
              <a:rPr sz="1350" b="1">
                <a:solidFill>
                  <a:srgbClr val="8C2F22"/>
                </a:solidFill>
                <a:latin typeface="BIZ UDPGothic"/>
                <a:ea typeface="BIZ UDPGothic"/>
                <a:cs typeface="BIZ UDPGothic"/>
              </a:rPr>
              <a:t>ただしrisk側の数値最小候補はnormalラベルseed。L_matchだけでは意味的妥当性を保証できない。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C40AC-DD94-44B5-BCB3-BB54DBF3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数値上のproxy candidate。foundation transferは未実施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D62FC-54C5-4F38-98C0-2D6EA0F1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015074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3F64C-9065-4887-8C97-6D8383B7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2700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実装上は経路が通った。研究上はStep I-Aの安定化が先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F7AF0-AE48-4360-BE74-9EA515B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572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2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3EC9F-3896-4CF4-9F09-CA716921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1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EC074-C19C-4C17-8AD3-84032CC2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1054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11430">
            <a:solidFill>
              <a:srgbClr val="168A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78AE9-09A4-4974-8FF6-E370AD6C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168A7A"/>
                </a:solidFill>
                <a:latin typeface="BIZ UDPGothic"/>
                <a:ea typeface="BIZ UDPGothic"/>
                <a:cs typeface="BIZ UDPGothic"/>
              </a:rPr>
              <a:t>確認できたこと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98A1E-B7BB-4C30-BCF8-F7753C3B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1　balanced private 6本でqᵖʳᵉ / qᵖᵒˢᵗ / Δqを保存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2　risk / normalの両prototypeをprivate raw dataなしで送信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3　8 seed × 10変換を全探索しproxy pairを生成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4　top-1固定の見落としを実測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56C8A-270A-4AB2-AB13-693BD594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55816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7E3DE"/>
          </a:solidFill>
          <a:ln xmlns:a="http://schemas.openxmlformats.org/drawingml/2006/main" w="11430">
            <a:solidFill>
              <a:srgbClr val="D95D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D721B-6466-49C9-A863-B84BEE61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62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D95D45"/>
                </a:solidFill>
                <a:latin typeface="BIZ UDPGothic"/>
                <a:ea typeface="BIZ UDPGothic"/>
                <a:cs typeface="BIZ UDPGothic"/>
              </a:rPr>
              <a:t>まだ解けていないこと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03246-46EA-4991-9C0D-985876C3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4953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batch size 1の局所更新は順序依存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未見動画のclass分離改善は一貫しない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数値最小proxyの意味的妥当性は未保証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• L_reg / Qinv / 2-client / Layer 3 / 3〜5 roundは未実施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86ABE-26D4-4971-86BA-9A672330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defRPr>
            </a:pPr>
            <a:r>
              <a:rPr sz="1800" b="1">
                <a:solidFill>
                  <a:srgbClr val="2F6FA5"/>
                </a:solidFill>
                <a:latin typeface="BIZ UDPGothic"/>
                <a:ea typeface="BIZ UDPGothic"/>
                <a:cs typeface="BIZ UDPGothic"/>
              </a:rPr>
              <a:t>次にやる実験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A9611-4334-4EBC-B856-DDBF333B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8365F-5396-4259-B0F7-DA117FD8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ED6DCC-CABA-4C78-9C85-76CC4923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更新parameter・head状態・各更新量・全runのqᵖʳᵉ一致を監査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736D1-3006-43B4-99E9-4913C9A2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BED96-6828-4185-8581-8CB89C39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0078E-98AF-45D7-B262-069184FE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optimizer step数とsample exposureを記録し、層化mini-batch / gradient accumulationを比較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FF122-FC17-4BB1-B950-B4866DE4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5"/>
          </a:solidFill>
          <a:ln xmlns:a="http://schemas.openxmlformats.org/drawingml/2006/main" w="0">
            <a:solidFill>
              <a:srgbClr val="2F6F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777DA-C3D4-4701-8FF2-261583FA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defRPr>
            </a:pPr>
            <a:r>
              <a:rPr sz="1275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94D8E-52AD-43DC-BE19-FBD86B61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defRPr>
            </a:pPr>
            <a:r>
              <a:rPr sz="1575" b="1">
                <a:solidFill>
                  <a:srgbClr val="102A43"/>
                </a:solidFill>
                <a:latin typeface="BIZ UDPGothic"/>
                <a:ea typeface="BIZ UDPGothic"/>
                <a:cs typeface="BIZ UDPGothic"/>
              </a:rPr>
              <a:t>order 101 / 202 / 303で安定性確認後、2-client → Layer 3 → 3〜5 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E006C-E59A-4070-B5CD-F76AF4BB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050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Layer 2は入力された局所挙動を追う。入力信号の質は別途保証が必要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E2C79-44AA-4A13-A1F2-6B6A922C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defRPr>
            </a:pPr>
            <a:r>
              <a:rPr sz="1125" b="0">
                <a:solidFill>
                  <a:srgbClr val="7D8A97"/>
                </a:solidFill>
                <a:latin typeface="BIZ UDPGothic"/>
                <a:ea typeface="BIZ UDPGothic"/>
                <a:cs typeface="BIZ UDP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7822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2026-09-13T14:38:59.3120000Z</dcterms:created>
  <dcterms:modified xsi:type="dcterms:W3CDTF">2026-09-13T14:38:59.3120000Z</dcterms:modified>
</coreProperties>
</file>