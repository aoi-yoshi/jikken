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4caaeaa19d4a19" /><Relationship Type="http://schemas.openxmlformats.org/officeDocument/2006/relationships/extended-properties" Target="/docProps/app.xml" Id="R91c047aa4eb148f6" /><Relationship Type="http://schemas.openxmlformats.org/officeDocument/2006/relationships/officeDocument" Target="/ppt/presentation.xml" Id="Ra10ae8c1fc484d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7dee3671a842ee"/>
  </p:sldMasterIdLst>
  <p:notesMasterIdLst>
    <p:notesMasterId xmlns:r="http://schemas.openxmlformats.org/officeDocument/2006/relationships" r:id="R7772ce5d02794e04"/>
  </p:notesMasterIdLst>
  <p:sldIdLst>
    <p:sldId xmlns:r="http://schemas.openxmlformats.org/officeDocument/2006/relationships" id="256" r:id="R044f8c6ea43d4aa0"/>
    <p:sldId xmlns:r="http://schemas.openxmlformats.org/officeDocument/2006/relationships" id="257" r:id="R6b95ec9786874a8b"/>
    <p:sldId xmlns:r="http://schemas.openxmlformats.org/officeDocument/2006/relationships" id="258" r:id="R8fe9ff52a97840c2"/>
    <p:sldId xmlns:r="http://schemas.openxmlformats.org/officeDocument/2006/relationships" id="259" r:id="Rb3c76fec1d6e4333"/>
    <p:sldId xmlns:r="http://schemas.openxmlformats.org/officeDocument/2006/relationships" id="260" r:id="Ra6bfdb6a7d0c40a4"/>
    <p:sldId xmlns:r="http://schemas.openxmlformats.org/officeDocument/2006/relationships" id="261" r:id="R496fc8d1ba8c48b8"/>
    <p:sldId xmlns:r="http://schemas.openxmlformats.org/officeDocument/2006/relationships" id="262" r:id="Rc814fc9ec4c646e9"/>
    <p:sldId xmlns:r="http://schemas.openxmlformats.org/officeDocument/2006/relationships" id="263" r:id="R04b3718dc6064ee4"/>
    <p:sldId xmlns:r="http://schemas.openxmlformats.org/officeDocument/2006/relationships" id="264" r:id="Rb93c8d99787243d2"/>
    <p:sldId xmlns:r="http://schemas.openxmlformats.org/officeDocument/2006/relationships" id="265" r:id="R7dfad1e3d6ed45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5cfa73d65946b5" /><Relationship Type="http://schemas.openxmlformats.org/officeDocument/2006/relationships/slideMaster" Target="/ppt/slideMasters/slideMaster1.xml" Id="Re87dee3671a842ee" /><Relationship Type="http://schemas.openxmlformats.org/officeDocument/2006/relationships/notesMaster" Target="/ppt/notesMasters/notesMaster1.xml" Id="R7772ce5d02794e04" /><Relationship Type="http://schemas.openxmlformats.org/officeDocument/2006/relationships/presProps" Target="/ppt/presProps.xml" Id="R50d0e314374b4786" /><Relationship Type="http://schemas.openxmlformats.org/officeDocument/2006/relationships/tableStyles" Target="/ppt/tableStyles.xml" Id="Rb99444dd13de4b80" /><Relationship Type="http://schemas.openxmlformats.org/officeDocument/2006/relationships/slide" Target="/ppt/slides/slide1.xml" Id="R044f8c6ea43d4aa0" /><Relationship Type="http://schemas.openxmlformats.org/officeDocument/2006/relationships/slide" Target="/ppt/slides/slide2.xml" Id="R6b95ec9786874a8b" /><Relationship Type="http://schemas.openxmlformats.org/officeDocument/2006/relationships/slide" Target="/ppt/slides/slide3.xml" Id="R8fe9ff52a97840c2" /><Relationship Type="http://schemas.openxmlformats.org/officeDocument/2006/relationships/slide" Target="/ppt/slides/slide4.xml" Id="Rb3c76fec1d6e4333" /><Relationship Type="http://schemas.openxmlformats.org/officeDocument/2006/relationships/slide" Target="/ppt/slides/slide5.xml" Id="Ra6bfdb6a7d0c40a4" /><Relationship Type="http://schemas.openxmlformats.org/officeDocument/2006/relationships/slide" Target="/ppt/slides/slide6.xml" Id="R496fc8d1ba8c48b8" /><Relationship Type="http://schemas.openxmlformats.org/officeDocument/2006/relationships/slide" Target="/ppt/slides/slide7.xml" Id="Rc814fc9ec4c646e9" /><Relationship Type="http://schemas.openxmlformats.org/officeDocument/2006/relationships/slide" Target="/ppt/slides/slide8.xml" Id="R04b3718dc6064ee4" /><Relationship Type="http://schemas.openxmlformats.org/officeDocument/2006/relationships/slide" Target="/ppt/slides/slide9.xml" Id="Rb93c8d99787243d2" /><Relationship Type="http://schemas.openxmlformats.org/officeDocument/2006/relationships/slide" Target="/ppt/slides/slide10.xml" Id="R7dfad1e3d6ed45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43d93b44ae4f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97ebc096de4fdf" /><Relationship Type="http://schemas.openxmlformats.org/officeDocument/2006/relationships/notesMaster" Target="/ppt/notesMasters/notesMaster1.xml" Id="R2a01c14c2b5f4c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f3f0c0143e464d" /><Relationship Type="http://schemas.openxmlformats.org/officeDocument/2006/relationships/notesMaster" Target="/ppt/notesMasters/notesMaster1.xml" Id="Rd5fbcf8aecc241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d04c99e0644960" /><Relationship Type="http://schemas.openxmlformats.org/officeDocument/2006/relationships/notesMaster" Target="/ppt/notesMasters/notesMaster1.xml" Id="R5cc7b7caaf7b43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7e2cd4cc3544a4" /><Relationship Type="http://schemas.openxmlformats.org/officeDocument/2006/relationships/notesMaster" Target="/ppt/notesMasters/notesMaster1.xml" Id="R431830eccfab42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d73224712f4bcf" /><Relationship Type="http://schemas.openxmlformats.org/officeDocument/2006/relationships/notesMaster" Target="/ppt/notesMasters/notesMaster1.xml" Id="R874d7afb414048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08e6012e6a4879" /><Relationship Type="http://schemas.openxmlformats.org/officeDocument/2006/relationships/notesMaster" Target="/ppt/notesMasters/notesMaster1.xml" Id="Rd45675de5a1b44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bb9791863e4084" /><Relationship Type="http://schemas.openxmlformats.org/officeDocument/2006/relationships/notesMaster" Target="/ppt/notesMasters/notesMaster1.xml" Id="R5ab2c34234f648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d273bdc55d4c85" /><Relationship Type="http://schemas.openxmlformats.org/officeDocument/2006/relationships/notesMaster" Target="/ppt/notesMasters/notesMaster1.xml" Id="Rfd58b40c89fd45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22906816ec4826" /><Relationship Type="http://schemas.openxmlformats.org/officeDocument/2006/relationships/notesMaster" Target="/ppt/notesMasters/notesMaster1.xml" Id="R05928fad384d4b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00b355c3ca4deb" /><Relationship Type="http://schemas.openxmlformats.org/officeDocument/2006/relationships/notesMaster" Target="/ppt/notesMasters/notesMaster1.xml" Id="R59b62e89ef9e49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つかみ：現場の生映像をcloudへ集めず、局所適応で得た挙動だけを代理データへ変換したい。</a:t>
            </a:r>
          </a:p>
          <a:p xmlns:a="http://schemas.openxmlformats.org/drawingml/2006/main">
            <a:r>
              <a:t>ただし、代理化の入力となる局所更新自体が不安定なら、Layer 2が忠実でも有用な知識転移にはならない。</a:t>
            </a:r>
          </a:p>
          <a:p xmlns:a="http://schemas.openxmlformats.org/drawingml/2006/main">
            <a:r>
              <a:t>今回はNEXARの具体的な動画と実測値を使い、Layer 2の経路と、その前段で見つかった問題を説明する。</a:t>
            </a:r>
          </a:p>
          <a:p xmlns:a="http://schemas.openxmlformats.org/drawingml/2006/main">
            <a:r>
              <a:t>Source: notes/advisor/CURRENT.md; docs/fedpact_nexar_concrete_case_20260913.md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左はpositiveラベルの評価用動画a8adfca63e、右はnegativeラベルの評価用動画1db89ecde7。どちらも局所学習、prototype作成、server検索には未使用。</a:t>
            </a:r>
          </a:p>
          <a:p xmlns:a="http://schemas.openxmlformats.org/drawingml/2006/main">
            <a:r>
              <a:t>左はq(risk) 0.725→0.613、右は0.270→0.156。</a:t>
            </a:r>
          </a:p>
          <a:p xmlns:a="http://schemas.openxmlformats.org/drawingml/2006/main">
            <a:r>
              <a:t>単一フレームの見た目から因果特徴を断定しない。ここで言えるのは出力確率の変化だけ。</a:t>
            </a:r>
          </a:p>
          <a:p xmlns:a="http://schemas.openxmlformats.org/drawingml/2006/main">
            <a:r>
              <a:t>Source: artifacts/runs/fedpact_nexar_example/run_20260913_balanced_order101_risk_fullgrid/client_local/eval_trace.json; artifacts/datasets/frames/train/&lt;sample_id&gt;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今回の該当範囲はFedPACT実験計画の第I段階、Step I-AとStep I-Bの縦切り確認。三層3〜5 round接続やLayer 3更新は未実施。</a:t>
            </a:r>
          </a:p>
          <a:p xmlns:a="http://schemas.openxmlformats.org/drawingml/2006/main">
            <a:r>
              <a:t>client学習用、client評価用、server seedは同一split seed 42で固定し、ID重複なし。評価用動画は局所学習、prototype作成、server検索に使わない。</a:t>
            </a:r>
          </a:p>
          <a:p xmlns:a="http://schemas.openxmlformats.org/drawingml/2006/main">
            <a:r>
              <a:t>今回のserver payloadにはtrainable update（client LoRA＋classification head）とclass-wise μ_post、Δμ、π、class_countを含める。private raw frameとsample IDは含めない。</a:t>
            </a:r>
          </a:p>
          <a:p xmlns:a="http://schemas.openxmlformats.org/drawingml/2006/main">
            <a:r>
              <a:t>PDFの基本protocolで用いる重みはπ。class_countは今回の実装schemaに併記した監査用fieldで、現runではπと同値。</a:t>
            </a:r>
          </a:p>
          <a:p xmlns:a="http://schemas.openxmlformats.org/drawingml/2006/main">
            <a:r>
              <a:t>Source: notes/advisor/sources/raw/2026-09-01/FedPACT実験計画260901.pdf pp.3-4; artifacts/runs/fedpact_nexar_example/run_20260913_balanced_order101_risk_fullgrid/client_local/data_splits.json; client_upload/server_payload.json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個別sampleをすべて表示し、平均だけの印象操作を避ける。order 101では学習用6本・評価用6本がすべてnormal方向へ移動した。</a:t>
            </a:r>
          </a:p>
          <a:p xmlns:a="http://schemas.openxmlformats.org/drawingml/2006/main">
            <a:r>
              <a:t>ただし、この1順序だけでクラス非選択性を断定しない。次slideで学習順を変えた結果を示す。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client_local/eval_trace.json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order 101は最初に詳細追跡用として固定し、202と303はその後に学習順感度を確認するため追加した。</a:t>
            </a:r>
          </a:p>
          <a:p xmlns:a="http://schemas.openxmlformats.org/drawingml/2006/main">
            <a:r>
              <a:t>batch size 1ではq_postとΔqの符号が学習順で反転。評価用動画のclass間差も改善・悪化が一貫しない。</a:t>
            </a:r>
          </a:p>
          <a:p xmlns:a="http://schemas.openxmlformats.org/drawingml/2006/main">
            <a:r>
              <a:t>batch size 1は6 optimizer steps、full-batch相当は6動画を同時に1 optimizer stepで更新した。総sample exposureは6に揃えたが、batch構成とoptimizer step数が交絡している。</a:t>
            </a:r>
          </a:p>
          <a:p xmlns:a="http://schemas.openxmlformats.org/drawingml/2006/main">
            <a:r>
              <a:t>共通方向shiftが小さくなった事実は示せるが、batch化が原因とはまだ言えない。次実験でoptimizer step数を記録・統制して切り分ける。</a:t>
            </a:r>
          </a:p>
          <a:p xmlns:a="http://schemas.openxmlformats.org/drawingml/2006/main">
            <a:r>
              <a:t>Source: run_20260913_balanced_order101_risk_fullgrid; run_20260913_balanced_order202_diagnostic; run_20260913_balanced_order303_diagnostic; run_20260913_balanced_fullbatch_diagnostic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3本それぞれのq_pre、q_post、Δqを先に示し、その平均がprototypeになることを明示する。</a:t>
            </a:r>
          </a:p>
          <a:p xmlns:a="http://schemas.openxmlformats.org/drawingml/2006/main">
            <a:r>
              <a:t>左からd626..., 95c3..., 06e2...。数値はriskクラス確率。μ_postとΔμは2クラス確率ベクトル。</a:t>
            </a:r>
          </a:p>
          <a:p xmlns:a="http://schemas.openxmlformats.org/drawingml/2006/main">
            <a:r>
              <a:t>π=3はrisk prototypeの平均に寄与したprivate sample数。−0.090だけを送るのではなく、確率和0を保つ2成分vector[+0.090,−0.090]として扱う。</a:t>
            </a:r>
          </a:p>
          <a:p xmlns:a="http://schemas.openxmlformats.org/drawingml/2006/main">
            <a:r>
              <a:t>実装payloadはtrainable updateにclient LoRAとclassification headを含み、prototypeにはπ（frequency）とclass_countを併記する。class_countはPDFの基本protocolにはない実装上の監査field。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client_upload/server_payload.json;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retrieval distanceはμ_postと連合集約後global surrogate M_G^{t+1}上のseed出力p_G^{t+1}(s)とのKL。画像空間の近さではなく、post behaviorの近さで順位付けする。</a:t>
            </a:r>
          </a:p>
          <a:p xmlns:a="http://schemas.openxmlformats.org/drawingml/2006/main">
            <a:r>
              <a:t>M_G^tは連合集約前、M_G^{t+1}は連合集約後のglobal surrogate。今回は1 clientなのでM_G^{t+1}は局所学習後surrogateと一致する。</a:t>
            </a:r>
          </a:p>
          <a:p xmlns:a="http://schemas.openxmlformats.org/drawingml/2006/main">
            <a:r>
              <a:t>全80候補を評価した結果、retrieval rank 6の4b8432de81 + center_crop(0.85)がL_match最小。</a:t>
            </a:r>
          </a:p>
          <a:p xmlns:a="http://schemas.openxmlformats.org/drawingml/2006/main">
            <a:r>
              <a:t>この結果はtop-1 retrievalを採用すべきでない可能性を示すが、seed数8の診断に限定される。大規模候補集合での効率評価は未実施。</a:t>
            </a:r>
          </a:p>
          <a:p xmlns:a="http://schemas.openxmlformats.org/drawingml/2006/main">
            <a:r>
              <a:t>Source: artifacts/runs/fedpact_nexar_example/run_20260913_balanced_order101_risk_fullgrid/server/layer2_trace.json;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各候補は同じseed動画の全8フレームへ同一変換を適用している。ここでは説明用に最終フレームを表示。</a:t>
            </a:r>
          </a:p>
          <a:p xmlns:a="http://schemas.openxmlformats.org/drawingml/2006/main">
            <a:r>
              <a:t>選択基準はλ_post=λ_delta=1のL_matchのみ。proxy側のdeltaはp_G^{t+1}(x_tilde)-p_G^t(x_tilde)であり、client側のq^{post}-q^{pre}とは記号を分ける。</a:t>
            </a:r>
          </a:p>
          <a:p xmlns:a="http://schemas.openxmlformats.org/drawingml/2006/main">
            <a:r>
              <a:t>seed逸脱、自然性、時間一貫性、多様性のL_regとQinvは未導入。</a:t>
            </a:r>
          </a:p>
          <a:p xmlns:a="http://schemas.openxmlformats.org/drawingml/2006/main">
            <a:r>
              <a:t>したがってcenter crop 0.85は、定義した数値目的に最も近い候補であって、意味的妥当性が保証された代理画像ではない。</a:t>
            </a:r>
          </a:p>
          <a:p xmlns:a="http://schemas.openxmlformats.org/drawingml/2006/main">
            <a:r>
              <a:t>Source: artifacts/runs/fedpact_nexar_example/run_20260913_balanced_order101_risk_fullgrid/server/transformation_candidates; server/layer2_trace.json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riskとnormalの双方でclass-wise prototypeと数値上の最小proxy候補を生成し、P=(x_tilde, μ_post)として保存した。</a:t>
            </a:r>
          </a:p>
          <a:p xmlns:a="http://schemas.openxmlformats.org/drawingml/2006/main">
            <a:r>
              <a:t>risk側ではnormalラベルseed 4b8432de81が全80候補中のL_match最小。これはL_matchが意味的ラベル整合性を含まないことを示す。</a:t>
            </a:r>
          </a:p>
          <a:p xmlns:a="http://schemas.openxmlformats.org/drawingml/2006/main">
            <a:r>
              <a:t>ここから、same-class retrieval制約やL_reg / quality screeningを今後検討する根拠が得られた。ただし具体方式は未確定。</a:t>
            </a:r>
          </a:p>
          <a:p xmlns:a="http://schemas.openxmlformats.org/drawingml/2006/main">
            <a:r>
              <a:t>Source: run_20260913_balanced_order101_risk_fullgrid/server/proxy_pair.json; run_20260913_balanced_order101_normal_fullgrid/server/proxy_pair.json; summaries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結論を実装上と研究上に分ける。Layer 2の処理経路は通ったが、有用な知識転移を示してはいない。</a:t>
            </a:r>
          </a:p>
          <a:p xmlns:a="http://schemas.openxmlformats.org/drawingml/2006/main">
            <a:r>
              <a:t>最初に更新parameter、classification headの状態、各parameterの更新量、全runのq_pre一致を監査する。</a:t>
            </a:r>
          </a:p>
          <a:p xmlns:a="http://schemas.openxmlformats.org/drawingml/2006/main">
            <a:r>
              <a:t>その後、optimizer step数と総sample exposureを記録しながら層化mini-batchとgradient accumulationをscreeningする。multiple epochを先に増やさない。</a:t>
            </a:r>
          </a:p>
          <a:p xmlns:a="http://schemas.openxmlformats.org/drawingml/2006/main">
            <a:r>
              <a:t>複数学習順で安定性を確認し、安定してから2-clientとLayer 3へ進む。</a:t>
            </a:r>
          </a:p>
          <a:p xmlns:a="http://schemas.openxmlformats.org/drawingml/2006/main">
            <a:r>
              <a:t>Source: docs/fedpact_nexar_concrete_case_20260913.md; notes/advisor/sources/raw/2026-09-01/FedPACT実験計画260901.pdf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947dde3684d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5a76e659324456" /><Relationship Type="http://schemas.openxmlformats.org/officeDocument/2006/relationships/slideLayout" Target="/ppt/slideLayouts/slideLayout1.xml" Id="R2de1fb55ef914f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e1fb55ef914f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02cee80084d1b" /><Relationship Type="http://schemas.openxmlformats.org/officeDocument/2006/relationships/image" Target="/ppt/media/image.jpeg" Id="Rf70dec2905cb4a3e" /><Relationship Type="http://schemas.openxmlformats.org/officeDocument/2006/relationships/notesSlide" Target="/ppt/notesSlides/notesSlide1.xml" Id="Rad0bd6534a9346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da29916da416a" /><Relationship Type="http://schemas.openxmlformats.org/officeDocument/2006/relationships/image" Target="/ppt/media/image2.jpeg" Id="R60b72d4d14964885" /><Relationship Type="http://schemas.openxmlformats.org/officeDocument/2006/relationships/image" Target="/ppt/media/image3.jpeg" Id="R3e8f843df10445f4" /><Relationship Type="http://schemas.openxmlformats.org/officeDocument/2006/relationships/image" Target="/ppt/media/image4.jpeg" Id="R7da3aa2c9a3c41d8" /><Relationship Type="http://schemas.openxmlformats.org/officeDocument/2006/relationships/image" Target="/ppt/media/image5.jpeg" Id="R2772de145ac04657" /><Relationship Type="http://schemas.openxmlformats.org/officeDocument/2006/relationships/image" Target="/ppt/media/image6.jpeg" Id="Rdefc80748d5c422a" /><Relationship Type="http://schemas.openxmlformats.org/officeDocument/2006/relationships/image" Target="/ppt/media/image7.jpeg" Id="R4bd5894f3fe04bb2" /><Relationship Type="http://schemas.openxmlformats.org/officeDocument/2006/relationships/image" Target="/ppt/media/image8.jpeg" Id="Rc2f180d0577d4597" /><Relationship Type="http://schemas.openxmlformats.org/officeDocument/2006/relationships/image" Target="/ppt/media/image9.jpeg" Id="R69113ee0bcd14f50" /><Relationship Type="http://schemas.openxmlformats.org/officeDocument/2006/relationships/notesSlide" Target="/ppt/notesSlides/notesSlide2.xml" Id="Rca376ee746d149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9f5e19e1242f1" /><Relationship Type="http://schemas.openxmlformats.org/officeDocument/2006/relationships/image" Target="/ppt/media/image10.jpeg" Id="R3471d5489f404e3b" /><Relationship Type="http://schemas.openxmlformats.org/officeDocument/2006/relationships/image" Target="/ppt/media/image11.jpeg" Id="Raeb6fb2412c3405d" /><Relationship Type="http://schemas.openxmlformats.org/officeDocument/2006/relationships/image" Target="/ppt/media/image12.jpeg" Id="Rf305cb0590234466" /><Relationship Type="http://schemas.openxmlformats.org/officeDocument/2006/relationships/image" Target="/ppt/media/image13.jpeg" Id="R6b2d3ceaef3246c8" /><Relationship Type="http://schemas.openxmlformats.org/officeDocument/2006/relationships/image" Target="/ppt/media/image14.jpeg" Id="Rbf68026e66094c2c" /><Relationship Type="http://schemas.openxmlformats.org/officeDocument/2006/relationships/image" Target="/ppt/media/image15.jpeg" Id="Rfb74f3776bef4579" /><Relationship Type="http://schemas.openxmlformats.org/officeDocument/2006/relationships/image" Target="/ppt/media/image16.jpeg" Id="R32c5abac45fb46bd" /><Relationship Type="http://schemas.openxmlformats.org/officeDocument/2006/relationships/image" Target="/ppt/media/image17.jpeg" Id="R013672c16ba84c8d" /><Relationship Type="http://schemas.openxmlformats.org/officeDocument/2006/relationships/image" Target="/ppt/media/image18.jpeg" Id="R2bf98106c77e4cc6" /><Relationship Type="http://schemas.openxmlformats.org/officeDocument/2006/relationships/image" Target="/ppt/media/image19.jpeg" Id="Rd7d0ac49781d4159" /><Relationship Type="http://schemas.openxmlformats.org/officeDocument/2006/relationships/image" Target="/ppt/media/image20.jpeg" Id="Rc6490fc70b3f4823" /><Relationship Type="http://schemas.openxmlformats.org/officeDocument/2006/relationships/image" Target="/ppt/media/image21.jpeg" Id="Rf185a1155c84472a" /><Relationship Type="http://schemas.openxmlformats.org/officeDocument/2006/relationships/notesSlide" Target="/ppt/notesSlides/notesSlide3.xml" Id="Rc3eca1a6736f48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407375d6d4510" /><Relationship Type="http://schemas.openxmlformats.org/officeDocument/2006/relationships/notesSlide" Target="/ppt/notesSlides/notesSlide4.xml" Id="R599920e8c05843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2c5b664e74c11" /><Relationship Type="http://schemas.openxmlformats.org/officeDocument/2006/relationships/notesSlide" Target="/ppt/notesSlides/notesSlide5.xml" Id="Rb9802a48b7244c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a47b749b742f6" /><Relationship Type="http://schemas.openxmlformats.org/officeDocument/2006/relationships/image" Target="/ppt/media/image22.jpeg" Id="Rc500961ba71a4ea1" /><Relationship Type="http://schemas.openxmlformats.org/officeDocument/2006/relationships/image" Target="/ppt/media/image23.jpeg" Id="R9e536e35368a49f6" /><Relationship Type="http://schemas.openxmlformats.org/officeDocument/2006/relationships/image" Target="/ppt/media/image24.jpeg" Id="Rfe222490583e43e3" /><Relationship Type="http://schemas.openxmlformats.org/officeDocument/2006/relationships/notesSlide" Target="/ppt/notesSlides/notesSlide6.xml" Id="R9d5879b1d32f40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ca84e1cc44e06" /><Relationship Type="http://schemas.openxmlformats.org/officeDocument/2006/relationships/image" Target="/ppt/media/image25.jpeg" Id="Rfd483c1f95bb4ad1" /><Relationship Type="http://schemas.openxmlformats.org/officeDocument/2006/relationships/image" Target="/ppt/media/image26.jpeg" Id="Rc78950ee384c47bc" /><Relationship Type="http://schemas.openxmlformats.org/officeDocument/2006/relationships/image" Target="/ppt/media/image27.jpeg" Id="R6b716404116648f5" /><Relationship Type="http://schemas.openxmlformats.org/officeDocument/2006/relationships/image" Target="/ppt/media/image28.jpeg" Id="R0d41b11385214fcd" /><Relationship Type="http://schemas.openxmlformats.org/officeDocument/2006/relationships/notesSlide" Target="/ppt/notesSlides/notesSlide7.xml" Id="R05f88e912fa347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961add3a84bde" /><Relationship Type="http://schemas.openxmlformats.org/officeDocument/2006/relationships/image" Target="/ppt/media/image.png" Id="R483aead79dd24604" /><Relationship Type="http://schemas.openxmlformats.org/officeDocument/2006/relationships/image" Target="/ppt/media/image2.png" Id="R497544fb7184471d" /><Relationship Type="http://schemas.openxmlformats.org/officeDocument/2006/relationships/image" Target="/ppt/media/image3.png" Id="R3441e00fc90d42dc" /><Relationship Type="http://schemas.openxmlformats.org/officeDocument/2006/relationships/image" Target="/ppt/media/image4.png" Id="Rebfae4ac962c4831" /><Relationship Type="http://schemas.openxmlformats.org/officeDocument/2006/relationships/image" Target="/ppt/media/image5.png" Id="R5b4cef8dcdcd4d91" /><Relationship Type="http://schemas.openxmlformats.org/officeDocument/2006/relationships/notesSlide" Target="/ppt/notesSlides/notesSlide8.xml" Id="R8a0aec6c0ac14b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edc7481664cc0" /><Relationship Type="http://schemas.openxmlformats.org/officeDocument/2006/relationships/image" Target="/ppt/media/image6.png" Id="Reb5efee5491d4454" /><Relationship Type="http://schemas.openxmlformats.org/officeDocument/2006/relationships/image" Target="/ppt/media/image7.png" Id="R9ceb689ee9d64f67" /><Relationship Type="http://schemas.openxmlformats.org/officeDocument/2006/relationships/image" Target="/ppt/media/image8.png" Id="Rc6b3ee6b06474980" /><Relationship Type="http://schemas.openxmlformats.org/officeDocument/2006/relationships/image" Target="/ppt/media/image9.png" Id="Rcc607397e7304528" /><Relationship Type="http://schemas.openxmlformats.org/officeDocument/2006/relationships/image" Target="/ppt/media/image10.png" Id="Re8c6dcbb0fee4c56" /><Relationship Type="http://schemas.openxmlformats.org/officeDocument/2006/relationships/image" Target="/ppt/media/image11.png" Id="Re8c5e32242b24097" /><Relationship Type="http://schemas.openxmlformats.org/officeDocument/2006/relationships/notesSlide" Target="/ppt/notesSlides/notesSlide9.xml" Id="R7075bbfd7abe4a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c467a4d3c420a" /><Relationship Type="http://schemas.openxmlformats.org/officeDocument/2006/relationships/notesSlide" Target="/ppt/notesSlides/notesSlide10.xml" Id="R6145dfe2c3b04f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dec2905cb4a3e"/>
          <a:srcRect xmlns:a="http://schemas.openxmlformats.org/drawingml/2006/main" l="25391" t="0" r="25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FD0DE-D7E2-4CFA-AE50-0261A4D8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F4C16-72FC-4112-8BA4-5BFFA650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168A7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D04A1-CC9C-425B-BBA4-60A143EC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rPr>
              <a:t>FedPACT / NEXAR concrete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6A8A6-2A22-43A7-8B91-6CCEC1C7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Layer 2 動作確認と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局所更新の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順序依存性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5501F-13DD-4239-8508-975234A0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実動画の反応変化から、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代理データ候補へ至る過程を追う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DBB2C-C056-475D-98B0-AB2854D2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rPr>
              <a:t>研究会説明用・診断実験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43192-1400-482D-84DC-7E0D2BB1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YOSHIMURA Aoi   2026.09.13</a:t>
            </a:r>
          </a:p>
        </p:txBody>
      </p:sp>
    </p:spTree>
    <p:extLst>
      <p:ext uri="{BB962C8B-B14F-4D97-AF65-F5344CB8AC3E}">
        <p14:creationId xmlns:p14="http://schemas.microsoft.com/office/powerpoint/2010/main" val="1999020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7963B9-0E97-4600-97B4-C2B7BF47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同じ局所学習で、risk動画もnormal動画もrisk確率が下がった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0B075-D8A7-4D32-BFF3-283F1CCD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AC83D-8A38-4FF3-8DAF-821C97B7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87B3C-6077-420A-B3F1-17CC5B1B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評価用動画6本のうちrisk／normal各1本を例示。映像内容の違いより、共通方向の出力移動が目立つ。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F4A72-0108-4074-9749-345EEF86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risk動画 / 評価用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72d4d14964885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f843df10445f4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547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3aa2c9a3c41d8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2de145ac04657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31CB2-F787-4CDB-9B02-17372772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9E3AD-9F5E-4110-972A-E1EF3E49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41600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243D5-BDB8-4AF8-B5CA-47434589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07" y="3600450"/>
            <a:ext cx="372749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4F1EB-61D8-42BC-B652-64DD43D7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0.275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06AA1-01F6-4206-B9AF-BC64FE1C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0.725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F19D8-24B0-4404-B01F-90612403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4455A-DE0C-41A2-AA31-1537AA22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341CF-6EC8-494A-A86A-FC12519C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99145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06047-24B7-4AE3-8DEE-AAE8448E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055" y="4352925"/>
            <a:ext cx="31520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0C263-FBB6-4A00-B732-F587A1C5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0.387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3D4796-31B2-4E37-A22E-CD312092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0.613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D20AF-6AC9-449D-893F-201504F4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F6F43-4BE3-4093-82C6-CCF3FA94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B9A3DB-37A2-4592-8A81-29DEDBCF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normal動画 / 評価用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c80748d5c422a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5894f3fe04bb2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180d0577d4597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13ee0bcd14f50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32C360-5105-4791-8258-27F9808A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F5F414-0719-45C7-9DCC-520EC6DC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3754954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8DACEA-B5E1-4FE7-AFA3-E3753DD3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204" y="3600450"/>
            <a:ext cx="1388546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8FB086-19F7-4536-A4E7-3AB1C328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0.730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A5C80B-05F8-4D36-851D-9B98D513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0.270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318439-6292-4012-AE59-5BCEA6FC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90D70C-7E5C-44F4-9E49-98B1574F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F3A8AB-E514-45A6-B4F6-3B42A3E6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434098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133BE2-2A35-4CDC-9D45-A5441362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233" y="4352925"/>
            <a:ext cx="80251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4EA380-7E99-4EE7-ABB1-25CD93DE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0.844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03ED3D-4F00-4238-A4CC-5E68D34B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0.156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B97350-71AA-4867-99BB-D4D65405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90659B-D263-4D5B-AB5A-CF872B5C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B6761A-3E52-4242-B7D2-36873ACB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725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48AD74-A644-4F67-89A5-B6655C64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30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この時点で「risk知識を学べた」とは言えない。まず局所更新の健全性を診断する必要がある。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29528A-FE89-4552-A259-A391E1D9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評価用動画の例 / order seed 101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E8AA2D-EC36-494D-A495-A55D3D91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04149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37F4BC-0B56-46FB-924A-C5470110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固定したデータ分割と、今回動かした範囲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06DC1-5DFB-425C-9946-277DCD3E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EA736-2181-432E-BF1A-974F8106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B6C0F-2E5C-4B15-B894-BDBD8CCD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5720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AF960-CDF7-4B04-9C2E-2C2DAEC9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CLIENT PRIVATE 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12B31-5A51-4056-BAF1-246B2B71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1CF8C-9868-4EE2-8AA3-F17FECF9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954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5EFF8"/>
          </a:solidFill>
          <a:ln xmlns:a="http://schemas.openxmlformats.org/drawingml/2006/main" w="11430">
            <a:solidFill>
              <a:srgbClr val="2F6F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70EF7-418F-43D2-A7D6-567659B4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66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CLIENT 評価用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2E3B3-3F26-4A5B-B388-EB749EE0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F59AF-D0D7-4B59-A8DA-7203C6B8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9540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C496F-DDE4-48C8-9DA7-F51DD0C2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668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SERVER SEED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D8A41-207F-4DC7-89BA-F9BCEF0E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8本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1d5489f404e3b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6fb2412c3405d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5cb0590234466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d3ceaef3246c8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8026e66094c2c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4f3776bef4579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3390900"/>
            <a:ext cx="1314450" cy="952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947AC-0303-4B2D-A0CD-9380801E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×3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E1455-E935-4C96-A9B9-49802B1D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×3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5abac45fb46bd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095500"/>
            <a:ext cx="1047750" cy="8572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672c16ba84c8d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2095500"/>
            <a:ext cx="1047750" cy="8572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12E11-7887-4EBE-BA36-E21BC03B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×3 / normal ×3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学習・prototype・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server検索に未使用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98106c77e4cc6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0ac49781d4159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90fc70b3f4823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32575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5a1155c84472a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3257550"/>
            <a:ext cx="1352550" cy="990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51E05-B50D-4A77-8870-08DFBB94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×4 / normal ×4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clientへ配布しないcloud-only pool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E7611B-6EDD-4E6E-AAD1-A7593DD7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059B8A-ABF4-43A5-BDBC-0E3BB8F4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Qwen2.5-VL-3B / fixed checkpoint  |  split seed 42  |  LoRA + classification head更新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B35364-A85E-4504-8588-90036C82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Step I-A → I-B  |  q・μᵖᵒˢᵗ = softmax確率、Δq・Δμ = その差  |  λ_post = λ_Δ = 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9FE57F-322D-49E5-AC30-DBF2ADCB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固定split・ID重複なし・private raw data非送信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60D5BF-683A-4370-8CA3-5F416CFA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4414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B1826A-E82C-4CD4-A4A5-F188E3E1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101では、12本すべてがnormal側へ移動した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4E1FC-51C7-47A6-A746-7F65F2C9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C8950-1DD9-4B24-95B2-068169F4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DDCB2-73D5-4A07-9A38-19C5F7F8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private train 6本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505A4-90DE-4656-A10F-0836F998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3D0A1-A4EB-4D5B-9E01-ADECC746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BA03A-80E2-45FF-A30D-663C5529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81878-CA6F-41AC-9995-CCD0332C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C3932-C8F8-42B5-8DD2-CF6AAA1B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CD2DC-0D4C-4632-BF12-5ADBEE6D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7DC38-E261-4526-979C-2C127C2B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B4D0D-9C0F-4AED-BDA6-A1ACBA3B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D772F-7F14-4352-91F0-D7DEA47E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C3B44-CCA3-4FD0-8B96-E4C8C18B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4678"/>
            <a:ext cx="3409950" cy="584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E5C32-65AF-4E11-AEAD-BF1F15A9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270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C6580-1B1F-4DD2-AA8D-7EBE7C04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855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D1EE9-05B9-4E14-90CD-9E95F37E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70447"/>
            <a:ext cx="3409950" cy="386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E8B8C-C3FE-4997-8377-0E7BBCAC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228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7F7E6-7D53-4FBC-A3DB-847D1AFE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089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86150-4ACC-40A6-A1FC-690DDAEA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89211"/>
            <a:ext cx="3409950" cy="3711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991AFB-A58F-488F-A35D-55997B9E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1415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39C9E0-C5C2-4363-9BEF-A118948A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127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891FD4-2413-434B-B69B-DA1893CA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27825"/>
            <a:ext cx="3409950" cy="303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E8127-0140-4F48-BF57-3085127D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48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4DD05-981A-48F3-B664-0AA0EF56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8343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69166F-CF81-4A67-AFEC-3FB3C19D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0635"/>
            <a:ext cx="3409950" cy="436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8966A-F047-4C07-AAD2-B1247BBA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730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0C58F0-D77F-4C46-A89F-48CF2C9A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096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F57288-F46C-44A8-902C-AF4FC08B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35232"/>
            <a:ext cx="3409950" cy="6949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5199BB-F207-433E-A5D8-8377335E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876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36C672-E64B-4950-BD31-A56A316E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8259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802C52-A202-4FAB-9FE9-4EE83519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評価用動画 6本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37C81B-440F-40D3-9911-46C012F9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725F38-BD96-43E9-9C78-22138108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294C69-7BD2-4350-9929-65D23720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850ED7-98AB-44B8-8B62-4F9F05A0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823CBB-A284-463D-B8AE-5639997F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0F9FA2-3A77-4038-86E4-0E4E9EA8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55B390-0F49-4B46-8447-9401E10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BA0989-BC23-48AB-88E2-1CFE0119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1167CC-E508-4412-8166-4AF4EC72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E40B1D-3964-4085-A83F-A203ED6D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26074"/>
            <a:ext cx="3409950" cy="366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748785-427E-459B-8050-2EEC9169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784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43528A-6694-4F7B-A9DF-D3696CBA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9450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B3C1A4-0684-43C1-A90E-C360AE2A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6070"/>
            <a:ext cx="3409950" cy="3733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5271DA-428D-4E99-97EE-F82D03F5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6844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8744F7-65E7-44D2-BCCA-500D47DC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4417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B08383-5FAC-45E0-A3A4-63C54A61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67616"/>
            <a:ext cx="3409950" cy="381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3E7720-DB3E-4860-82B0-122147C4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199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2B3D8C-0CF4-437F-9C16-479BFCEA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010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CAAE50-776E-4984-B5C1-C161ED94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34049"/>
            <a:ext cx="3409950" cy="2415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4D36C4-89FD-40BE-B40C-F0BF0858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864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75228F-0F7B-4F38-8DCC-1CEE645A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2800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72B93F-C0C3-46D1-815F-A15C11F9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00608"/>
            <a:ext cx="3409950" cy="511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5A15F1-5D9B-4BBA-94BD-4809AC95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5298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BFD2D8-9C4F-481A-A3ED-6CAE31C8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7646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12429D-6678-4594-805C-EB913B96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7488"/>
            <a:ext cx="3409950" cy="3964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EB8BDC-82CA-4BEC-B9A9-D2071085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698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246E6E-200F-44CE-9F5C-92DD4FBE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662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A2C230-4731-45CC-9751-16F3ECF6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896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4E1175-A29B-40B3-97FC-38909CD6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平均Δq(risk)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EDFB2C-DCBB-4865-8D0C-04AC32CF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626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train normal −0.139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train risk −0.090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ADED1D2-0E35-4188-8D16-F99040FE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62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評価用 normal −0.101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評価用 risk −0.130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4C9CBA-7D74-4EB9-A3C5-93D0EB58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239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label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8CB267-4AA6-4C48-A7D6-AD0A63BD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239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label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4AF66B-A3FE-414C-A9D0-C42EE2A0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赤=risk label　青=normal label　縦軸=q(risk)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BE3360-7233-4106-B62F-4B7873CF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239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6440695-201D-40CE-9A9C-249A0ABB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学習順だけでΔqの符号が反転した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E7EA0-EEBD-432D-8092-4BB8D40A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364B5-F8C3-4053-BE1D-0FF9DEB0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D5EE3-07DC-42CB-A0BB-25691903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0F140-74AF-4123-AD68-2A69942F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平均q(risk)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3DE4E-BB25-4217-9A18-E7DEF1E8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811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936C3-4A2F-4252-9BA7-698363BC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E35CD-3724-4262-AFAB-D47FF55D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13522-6354-4CB9-B7E4-A0A154C8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101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E6A42-3BB3-4D9B-B5B0-6AE96F30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1784A-E0E5-4C33-AF44-D880EBB3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94020-D605-44F9-9359-CBF1CE70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CCDA8-8EB5-4658-AEBB-55A8FA5D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303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DB33A-08D3-4416-A304-675734A5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811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20FFB-FB5D-44F5-9CC8-39A2FEB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382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633E9A-D789-45A3-8559-02152914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8F134-8DC3-4409-9A4F-9C113ACE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57EB1-E785-487D-815B-46F88743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0500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D45B9-9912-46A4-B4FE-3680B7C7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215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D9657D-8D99-4CCE-9EB7-2E0073D1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6EB86-6167-493C-ACFC-363E072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(-0.139)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99117-C85D-4488-A91B-F458AFC2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1E801-5200-41A8-9922-CF6B6C51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0.403 (+0.062)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CE791-2525-46E7-8DFE-160DBF3F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D1A425-C941-438B-BF85-520F26AD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0.150 (-0.191)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DD0758-B1BF-4EA9-8DF3-287D250F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3D4EF6-D560-40E5-9B0D-4AFE1532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621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0.300 (-0.041)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B3714F-568B-4011-A815-D60BA74F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D62506-08B3-4879-B48E-9B9B67B8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8CD7D9-F2B0-49F7-8363-EDE0192E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2887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CD448D-AFE3-4718-BB8F-AFC6E716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8602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0.685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3225F6-6C64-4750-92DC-541524F9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57930D-9B3D-4A52-8029-AF2E925A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 (-0.090)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41BC47-D739-4658-89DC-0CB9B487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356C9A-5859-48A8-89CA-62C9318A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0.845 (+0.160)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9C35AC-3FA0-4242-8959-E4F9C9FB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DE2059-F3EF-4135-9DB8-F670FA80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0.491 (-0.194)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B80239-6456-4A8B-BC8F-0406E45C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2887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23C379-DD9C-45C6-B877-A8B63922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860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0.698 (+0.013)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6C823F-CE1C-4E3A-A838-01CFBCAC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DC7BBF-110F-4DBC-B020-7DF4BBE4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評価用 normal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C27A83-CF91-4E3E-8FF3-811BDEC0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A77D69-F9F6-4792-BABF-D19D8879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95A7B4-3571-4C5E-9D48-2659240D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C017E6-BFED-4E03-8E2A-6F8DD567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0.121 (-0.101)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EF93E7-9CD5-4ED4-B235-34CC327C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DF8FE8-9CAB-4DC6-A6B4-248AF4BB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0.297 (+0.075)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EE541E-CEF1-4E0C-986E-B3AD6888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02B78F-5451-4FEF-8B16-6993D567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0.080 (-0.143)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7002C0-13AD-40C1-8686-573A1EFE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E93CF4-B4A5-4156-B3ED-DE365517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(-0.021)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876B15-E628-460A-A84F-17190909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A5FBA2-9FBB-4915-829C-D7A2AD09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評価用 risk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DE9EC6-6E14-480F-AD3C-CDB46B83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766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D2470F-EBE5-4D56-BBFC-692C80A8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337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6E3ADC-0274-4F2F-9AF9-E85E0AFD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A43195-1E4B-4D0A-B456-EC548B5D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0.466 (-0.130)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B52926-F5CA-4B0A-BFBF-3EEF63F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5A6669-4741-4A87-87D2-78C7E441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0.707 (+0.111)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1097EBB-1345-44AC-9E8B-0E44F05D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DEA4406-ABE9-4259-9CB9-987FF100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0.350 (-0.246)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80EC820-2A71-4B83-8300-202DFE07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98E307-A8F9-45BE-B30F-F7C992DA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7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0.576 (-0.020)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57740A-FEEE-454C-8ED1-A2FBC882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class間差 = mean q(risk | risk) − mean q(risk | normal)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6BF94A-FB24-4209-B871-7373971B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FEB6D2-1953-4006-BC1C-D0502878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class間差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ACE81F-FF50-47A3-8C11-4F3612F9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720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71F51D4-A8A0-477C-9F0D-837F23A2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54866CA-2C6C-48C2-B134-46E633A1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51227BE-FC1E-4E4F-AAF0-BFBE08DD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101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9A86D9B-4D66-4AE1-9930-5ABEC362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323C0E6-09D4-45CD-9D4A-A25F5251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0C60547-0031-4E10-A903-7428299D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316E250-4274-4E0C-9BB1-D6F1FB31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303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142D800-0326-447D-A949-2F7887B6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720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DE61EA6-FC4C-41C2-B179-4FD62DF6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291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B36C8DD-D210-45EF-B3C4-8B740C09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23BB762-727E-454F-BC4B-07398740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4683998-4DBC-40F0-ACD1-F7283C1E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720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F478C2B-BEF4-450D-8DB4-3ADBA3A3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5070B96-7D76-419B-888B-09C90C98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E678BA0-8A8C-446B-8B83-227B9E22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EC1BD9A-93E3-482C-9E08-C4C238C5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25BF698-E722-485C-A6C5-6F460ECB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0.442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DE2EC5E-5833-47DF-BC13-12596811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13B934C-41A8-4428-AA02-D2D40574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897A851-E3DA-4A06-89CA-A025883C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8AEF1F5-CE0D-4C61-9E3B-26C4DA2F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292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9E57C52-A172-4E86-9546-87A60BB7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FB59CB0-F84E-4E90-8A6E-9EB511AD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評価用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132B01B-6BCD-4B0B-875E-BA741575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721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337062E-AA97-4DC8-B828-FEDD4BDB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950CC0E-FFED-473E-A001-1E54C780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DDB28F2-3D54-46E5-A8EC-C462C747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6C2DED8-28D5-4A65-9209-73CAC5FF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3050F7E-45BE-41BA-84F2-AC1AB07B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0.409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AAC95BE-A368-470A-A254-DA71525A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EC87690-DF8A-48BE-B053-134E8EBF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0.271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1C09D89-E55B-4075-8EEC-7F220FC9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72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728B374-1228-4C7E-BB41-571EE4F0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292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82064A2-C9A9-41C7-889B-9A51881B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8765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8EC024C-6111-4C99-BE53-72F9F9BA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005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診断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81045A8-DEDA-4DFE-AADD-56F11191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95850"/>
            <a:ext cx="2457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batch 1：順序で符号反転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6本同時：shift縮小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原因は未分離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4CAAD27-7595-4F26-9E20-CE801BF5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同じsplit・checkpoint・sample exposure=6 / class間差は非丸め値から算出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C715EDF-24DF-46FB-96FB-E7CE5DBD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200970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F43898-F2B8-4680-A7BA-0E010BD1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3本の反応を平均し、送信prototypeを作る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9EF21-B261-412E-B14E-894E26AD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240B1-932E-46D0-AD2B-A208DBED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0961ba71a4ea1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2EB3A-CB53-4D84-8A66-3B5E6059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d626422e71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F6222-12D5-4F29-A134-609DEDF3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0.771 → 0.753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21BC3-AE01-40B8-8697-5FFB534A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-0.018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36e35368a49f6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7004E-C3A7-4672-93F8-719F435F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95c3bf1ba2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2CA4E-2A9F-486B-9197-C749B817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0.559 → 0.441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596A9-6400-45A7-B7DE-613CAC7C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-0.118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22490583e43e3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74B15-77CD-4A27-B430-1D758C0A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06e20a0fd0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669BD-94CF-428E-ACBA-DAA9110F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0.726 → 0.593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6903C-4049-437C-996B-0AA847B2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DC2EA-7FDC-40AC-8C3F-F2661EAC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71600"/>
            <a:ext cx="30861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1FDDD0-CDFB-4BC7-B406-3561C879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81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risk prototype / order 101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C8784-A90C-4BC4-90A1-6646A9ED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μᵖᵒˢᵗₖ,ᵣ = [0.404, 0.596]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E0233-4240-4BC3-8FFB-8731A98B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Δμₖ,ᵣ = [+0.090, −0.090]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E359C-FCCC-4886-B722-862D25F8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0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πₖ,ᵣ =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6254C-0BCC-436B-A809-6414AF06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57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πは平均に寄与したrisk動画数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3D4938-67CB-4EC5-BDB1-C3B73EC1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744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D36FE-072D-483D-8804-A0322B83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注意：risk prototypeでもrisk確率は平均0.090低下。Layer 2は、この局所挙動の有用性までは保証しない。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02EA6-5BAB-4525-AC6F-CECDFC0A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normal側も送信： μᵖᵒˢᵗ=[0.799, 0.201]　Δμ=[+0.139, -0.139]　π=3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ED7E66-32C5-43EF-916D-83218FEA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816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今回の送信：trainable update（client LoRA + classification head）+ μᵖᵒˢᵗ + Δμ + π + class count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非送信：raw video・frame・sample ID・独立したμᵖʳᵉ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80EF98-6F04-4DA5-8D31-C7562A68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成分順：[normal, risk] / q・μᵖᵒˢᵗはsoftmax確率、Δq・Δμはその差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E7B5EC-C60C-466D-9587-645DED61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41610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389AA6-73E9-4D12-8F4D-A32CD80B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μᵖᵒˢᵗの検索1位は、L_matchの全体最小ではなかった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92823-B1E3-4540-A71C-BCD610EB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3319F-C604-4FE7-8DDD-21DFE56E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363B5-0535-40A6-9E4E-35B54244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検索距離：Dₖₗ( μᵖᵒˢᵗₖ,ᵣ  ||  p_Gᵗ⁺¹(s) )　— seed画像そのものではなく、連合集約後モデルの反応を比較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B1E40-9C02-4384-90FE-07079E91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83c1f95bb4ad1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901C2-4041-4F6D-B273-FE93B8F1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8F7E8-B722-4694-9BBF-AEDB2275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0.000789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592F3-2088-4C23-A17F-9411BB0A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ADC83-6EE2-42AC-9BE5-C8C1B155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0.000697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45DAA-F60F-41E8-B721-AE121870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950ee384c47bc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80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8AFF0-926D-4109-A424-3CE6066B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DCBB0-7EF2-4E5D-ADF1-2F00D623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0.006646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8B784-6DAD-4502-8F92-794251E4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800F6-A0F5-44D8-BFA8-7F14380F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0.000774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4FB72-3BEF-4E49-81DB-FE0ABB63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16404116648f5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C52E8-B397-4797-A4F5-568E3BF0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61DAA-F318-48FB-8346-D40B8ED9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0.009779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90326-755B-4B89-BFA9-5C3F7986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E3A4A-B2BF-4094-8B30-7363D55D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0.005256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46C470-C123-42DF-B122-DB34AE56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1b11385214fcd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6A1011-B744-4DC5-AE88-3A39830C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retrieval rank 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8DE683-1C86-40D8-A560-7FF84E0F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0.061598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71E62-918F-46A3-ADE9-D9E14460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671644-68B6-4D55-942E-C78D9FC8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L_match(min)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0.000279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13F3F0-7401-4529-90DF-11619A4C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96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7D6B01-30A8-4976-8B87-F56CAEA8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top-1内の最小 0.000697　→　8×10全探索の最小 0.000279（rank 6 seed）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F49C4F-68A7-423B-94F4-EC1A64EF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小規模な8 seedだからこそ、top-N比較より先に全探索で見落としを確認できる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E23A7A-A2FC-4B3C-9610-ADA3EA1B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risk prototype / 8 seed × 10 transformations = 80 candidates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4EF536-8146-4DB5-A280-50E23C9D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025565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08B430-397E-44E2-B9D1-F6DAFBB5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rank 6 seedを変換し、postとdeltaの再現誤差を比較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06E1C-2789-432D-A42E-1EAADA81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3B04F-EF9F-4C52-8208-A9DF92C6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33770-6113-4B5C-8885-77995BCA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aead79dd24604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50EB0-4996-460F-B10E-5D9D26B5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DBC73-BEC0-461A-B2F6-D17BD12D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0.061598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0.000658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 0.062256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FFE0A-2C77-4967-AD48-A8AFE527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544fb7184471d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8607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5AA5A-B5EC-4652-B921-DF76567A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8B9B1-E9D0-476A-8252-1D95E5F0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0.088164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0.001812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 0.089976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04B0D-2C78-4AEB-84C1-AAC8A36D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1e00fc90d42dc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8559F-7197-4C5F-8E03-6964C305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contrast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BA144-43D7-444C-BBA6-3E723EC5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0.049697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0.003053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 0.052749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D43A3-A52C-49A6-ACD0-E622B11C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ae4ac962c4831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332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7B11D-FBA6-4341-8BEC-5F6B1705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center_crop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0.85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56C00A-9D28-4C6E-BF2C-1D66B958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0.000109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0.000169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 0.000279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B0714-8E6F-4653-B055-454D97BA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339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数値上の最小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BF4FD-934E-4FEB-91B5-AAF55414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cef8dcdcd4d91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69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FC6BF-0B61-4A8D-8280-2CE04DB7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gaussian_blur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C204D1-2977-4BAA-B59A-A50289F3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0.039934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0.000833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 0.040767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D534F-D13E-4B8F-ACF8-CAD2CF72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L_match = KL( μᵖᵒˢᵗₖ,ᵣ || p_Gᵗ⁺¹(x̃ₖ,ᵣ) ) + MSE( Δμₖ,ᵣ , p_Gᵗ⁺¹(x̃ₖ,ᵣ) − p_Gᵗ(x̃ₖ,ᵣ) 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1D4E4A-2885-4BC4-8A6D-96EBF163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M_Gᵗ = 連合集約前、M_Gᵗ⁺¹ = 連合集約後（今回は1 clientのため局所学習後surrogateと一致）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18822E-D5CA-4808-A6F7-48A587E4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67400"/>
            <a:ext cx="9791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3FE843-E766-4A08-9FE0-252026B8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62650"/>
            <a:ext cx="937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λ_post=λ_Δ=1、L_reg・Qinv未導入。数値最小でも意味的に妥当とはまだ言えない。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618FE8-2EF7-4BDC-BF65-4A3A18A2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source seed 4b8432de81 / retrieval rank 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87AAB-1B10-4159-A196-64BABE19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214963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2DEED-3599-46E7-AB5C-8A19F59A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/ normal両prototypeでproxy pairまで生成した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44F91-3B3D-42AF-B10C-2FB4FA5A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D60CA-1F2F-4F73-AF32-4FC25B94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ECB65-7BC4-47E5-8541-23479F22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prototype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efee5491d4454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b689ee9d64f67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69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3ee6b06474980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430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96B2B-23EC-438F-A07F-114ED31C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[0.404, 0.596]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[+0.090, -0.090]　π=3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8AA57-8A48-4318-A164-C2C8AD42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4b8432de81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center_crop(0.85)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0.000109　delta MSE 0.000169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0.000279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59442-488E-4D13-9CB1-05320422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prototype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07397e7304528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6dcbb0fee4c56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5e32242b24097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405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4DF30-899C-4C5C-B048-D56C904B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[0.799, 0.201]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[+0.139, -0.139]　π=3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98586-16B0-4BBB-AE1E-266C4A3B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17c2e0d437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brightness(0.75)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0.000080　delta MSE 0.000389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0.000468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F4167-B26D-4577-950A-0E582FFF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66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3761B-9F73-40CB-96F0-A61B0F70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Pₖ,ᵣ = ( x̃ₖ,ᵣ , μᵖᵒˢᵗₖ,ᵣ ) をLayer 3へ渡せる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A3A42-2607-4355-82E1-B9033A64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ただしrisk側の数値最小候補はnormalラベルseed。L_matchだけでは意味的妥当性を保証できない。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77C35-4CCB-4A4C-BC54-010D3F1A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数値上のproxy candidate。foundation transferは未実施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3B108-2002-436F-B873-2CD14613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143988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223E1A-03EA-4180-945A-506F98DB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実装上は経路が通った。研究上はStep I-Aの安定化が先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96C10-AC27-41EF-9C9E-E7F756F4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B55C2-02C6-4D3D-98CB-35634A89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06B50-8E8A-4927-A849-10C1D433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1054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EA3D5-7171-4C95-8930-7C7D1532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確認できたこと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BF2A4-7C9D-410C-AECC-DD32B58A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72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　balanced private 6本でqᵖʳᵉ / qᵖᵒˢᵗ / Δqを保存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2　risk / normalの両prototypeをprivate raw dataなしで送信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3　8 seed × 10変換を全探索しproxy pairを生成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4　top-1固定の見落としを実測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84301-A79E-40DD-A16C-7733A829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55816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11430">
            <a:solidFill>
              <a:srgbClr val="D95D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3DEB5-459D-4F86-95D4-88C7C3B8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62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まだ解けていないこと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7F27F-3D78-4CC1-A4A4-EC82C308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4953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batch size 1の局所更新は順序依存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未見動画のclass分離改善は一貫しない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数値最小proxyの意味的妥当性は未保証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L_reg / Qinv / 2-client / Layer 3 / 3〜5 roundは未実施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CC2E7-4B44-4589-92D6-8CD67AAF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次にやる実験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58340-E4D5-480A-9781-F6780A99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FC0B8-6DD2-4A18-8164-F333DE7B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408BC-FECD-4FCB-83C9-C3D81616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更新parameter・head状態・各更新量・全runのqᵖʳᵉ一致を監査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AB12E-EB4B-4073-A0F1-31F4DA4A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842C2-D608-4D6C-9619-7308CAB8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FF3AE-0BB9-4240-9953-047ACEB9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optimizer step数とsample exposureを記録し、層化mini-batch / gradient accumulationを比較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F7DFC-0C94-4C0F-9494-EF7EA699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5143A-33E4-4911-831C-5EAF2C40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CF869C-3FBB-4400-A8A1-97762280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 / 202 / 303で安定性確認後、2-client → Layer 3 → 3〜5 round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BF159-12A2-4636-9E64-5238186C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Layer 2は入力された局所挙動を追う。入力信号の質は別途保証が必要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63D2EF-DDF0-49C6-BB1C-C70C302E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4331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2026-09-13T23:11:29.3920000Z</dcterms:created>
  <dcterms:modified xsi:type="dcterms:W3CDTF">2026-09-13T23:11:29.3920000Z</dcterms:modified>
</coreProperties>
</file>